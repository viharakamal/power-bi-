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bin" ContentType="application/vnd.openxmlformats-officedocument.oleObject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>
  <p:sldMasterIdLst>
    <p:sldMasterId id="2147483653" r:id="rId1"/>
  </p:sldMasterIdLst>
  <p:notesMasterIdLst>
    <p:notesMasterId r:id="rId21"/>
  </p:notesMasterIdLst>
  <p:handoutMasterIdLst>
    <p:handoutMasterId r:id="rId22"/>
  </p:handoutMasterIdLst>
  <p:sldIdLst>
    <p:sldId id="320" r:id="rId2"/>
    <p:sldId id="297" r:id="rId3"/>
    <p:sldId id="321" r:id="rId4"/>
    <p:sldId id="322" r:id="rId5"/>
    <p:sldId id="304" r:id="rId6"/>
    <p:sldId id="323" r:id="rId7"/>
    <p:sldId id="264" r:id="rId8"/>
    <p:sldId id="265" r:id="rId9"/>
    <p:sldId id="305" r:id="rId10"/>
    <p:sldId id="306" r:id="rId11"/>
    <p:sldId id="307" r:id="rId12"/>
    <p:sldId id="325" r:id="rId13"/>
    <p:sldId id="326" r:id="rId14"/>
    <p:sldId id="327" r:id="rId15"/>
    <p:sldId id="328" r:id="rId16"/>
    <p:sldId id="329" r:id="rId17"/>
    <p:sldId id="330" r:id="rId18"/>
    <p:sldId id="331" r:id="rId19"/>
    <p:sldId id="319" r:id="rId20"/>
  </p:sldIdLst>
  <p:sldSz cx="9144000" cy="6858000" type="screen4x3"/>
  <p:notesSz cx="6858000" cy="91440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</p:showPr>
  <p:clrMru>
    <a:srgbClr val="FDE0BD"/>
    <a:srgbClr val="F983C1"/>
    <a:srgbClr val="C1BAF8"/>
    <a:srgbClr val="FF6600"/>
    <a:srgbClr val="E7F4F5"/>
    <a:srgbClr val="FBFE8A"/>
    <a:srgbClr val="D3CCF6"/>
    <a:srgbClr val="CBDDF7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vertBarState="minimized">
    <p:restoredLeft sz="21115" autoAdjust="0"/>
    <p:restoredTop sz="94698" autoAdjust="0"/>
  </p:normalViewPr>
  <p:slideViewPr>
    <p:cSldViewPr>
      <p:cViewPr varScale="1">
        <p:scale>
          <a:sx n="102" d="100"/>
          <a:sy n="102" d="100"/>
        </p:scale>
        <p:origin x="-696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>
        <p:scale>
          <a:sx n="75" d="100"/>
          <a:sy n="75" d="100"/>
        </p:scale>
        <p:origin x="-2130" y="-252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Rectangle 5"/>
          <p:cNvSpPr>
            <a:spLocks noChangeArrowheads="1"/>
          </p:cNvSpPr>
          <p:nvPr/>
        </p:nvSpPr>
        <p:spPr bwMode="auto">
          <a:xfrm>
            <a:off x="76200" y="8824913"/>
            <a:ext cx="6705600" cy="2730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latin typeface="Arial" pitchFamily="34" charset="0"/>
            </a:endParaRPr>
          </a:p>
        </p:txBody>
      </p:sp>
      <p:sp>
        <p:nvSpPr>
          <p:cNvPr id="3079" name="Line 7"/>
          <p:cNvSpPr>
            <a:spLocks noChangeShapeType="1"/>
          </p:cNvSpPr>
          <p:nvPr/>
        </p:nvSpPr>
        <p:spPr bwMode="auto">
          <a:xfrm>
            <a:off x="828675" y="8763000"/>
            <a:ext cx="56229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latin typeface="Arial" pitchFamily="34" charset="0"/>
            </a:endParaRPr>
          </a:p>
        </p:txBody>
      </p:sp>
      <p:sp>
        <p:nvSpPr>
          <p:cNvPr id="3080" name="Rectangle 8"/>
          <p:cNvSpPr>
            <a:spLocks noChangeArrowheads="1"/>
          </p:cNvSpPr>
          <p:nvPr/>
        </p:nvSpPr>
        <p:spPr bwMode="auto">
          <a:xfrm>
            <a:off x="71438" y="8818563"/>
            <a:ext cx="6715125" cy="2413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eaLnBrk="0" hangingPunct="0">
              <a:tabLst>
                <a:tab pos="285750" algn="l"/>
                <a:tab pos="6457950" algn="r"/>
              </a:tabLst>
              <a:defRPr/>
            </a:pPr>
            <a:r>
              <a:rPr lang="en-US" sz="1000">
                <a:latin typeface="Arial" pitchFamily="34" charset="0"/>
              </a:rPr>
              <a:t>Basic Business Statistics, 10/e	© 2006 Prentice Hall, Inc.</a:t>
            </a:r>
          </a:p>
        </p:txBody>
      </p:sp>
      <p:sp>
        <p:nvSpPr>
          <p:cNvPr id="3081" name="Rectangle 9"/>
          <p:cNvSpPr>
            <a:spLocks noChangeArrowheads="1"/>
          </p:cNvSpPr>
          <p:nvPr/>
        </p:nvSpPr>
        <p:spPr bwMode="auto">
          <a:xfrm>
            <a:off x="71438" y="55563"/>
            <a:ext cx="6715125" cy="2730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eaLnBrk="0" hangingPunct="0">
              <a:tabLst>
                <a:tab pos="285750" algn="l"/>
                <a:tab pos="3257550" algn="ctr"/>
                <a:tab pos="6457950" algn="r"/>
              </a:tabLst>
              <a:defRPr/>
            </a:pPr>
            <a:r>
              <a:rPr lang="en-US" sz="1200">
                <a:latin typeface="Arial" pitchFamily="34" charset="0"/>
              </a:rPr>
              <a:t>	Chapter 1		 1-</a:t>
            </a:r>
            <a:fld id="{7205669A-9BD3-4CE2-AD86-4955D013C842}" type="slidenum">
              <a:rPr lang="en-US" sz="1200">
                <a:latin typeface="Arial" pitchFamily="34" charset="0"/>
              </a:rPr>
              <a:pPr eaLnBrk="0" hangingPunct="0">
                <a:tabLst>
                  <a:tab pos="285750" algn="l"/>
                  <a:tab pos="3257550" algn="ctr"/>
                  <a:tab pos="6457950" algn="r"/>
                </a:tabLst>
                <a:defRPr/>
              </a:pPr>
              <a:t>‹#›</a:t>
            </a:fld>
            <a:endParaRPr lang="en-US" sz="1200">
              <a:latin typeface="Arial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3581400"/>
            <a:ext cx="5029200" cy="4876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notes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15363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371600" y="533400"/>
            <a:ext cx="4191000" cy="2971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2052" name="Line 4"/>
          <p:cNvSpPr>
            <a:spLocks noChangeShapeType="1"/>
          </p:cNvSpPr>
          <p:nvPr/>
        </p:nvSpPr>
        <p:spPr bwMode="auto">
          <a:xfrm>
            <a:off x="1120775" y="3581400"/>
            <a:ext cx="4657725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latin typeface="Arial" pitchFamily="34" charset="0"/>
            </a:endParaRPr>
          </a:p>
        </p:txBody>
      </p:sp>
      <p:sp>
        <p:nvSpPr>
          <p:cNvPr id="2053" name="Line 5"/>
          <p:cNvSpPr>
            <a:spLocks noChangeShapeType="1"/>
          </p:cNvSpPr>
          <p:nvPr/>
        </p:nvSpPr>
        <p:spPr bwMode="auto">
          <a:xfrm>
            <a:off x="1120775" y="3886200"/>
            <a:ext cx="4657725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latin typeface="Arial" pitchFamily="34" charset="0"/>
            </a:endParaRPr>
          </a:p>
        </p:txBody>
      </p:sp>
      <p:sp>
        <p:nvSpPr>
          <p:cNvPr id="2054" name="Line 6"/>
          <p:cNvSpPr>
            <a:spLocks noChangeShapeType="1"/>
          </p:cNvSpPr>
          <p:nvPr/>
        </p:nvSpPr>
        <p:spPr bwMode="auto">
          <a:xfrm>
            <a:off x="1120775" y="4191000"/>
            <a:ext cx="4657725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latin typeface="Arial" pitchFamily="34" charset="0"/>
            </a:endParaRPr>
          </a:p>
        </p:txBody>
      </p:sp>
      <p:sp>
        <p:nvSpPr>
          <p:cNvPr id="2055" name="Line 7"/>
          <p:cNvSpPr>
            <a:spLocks noChangeShapeType="1"/>
          </p:cNvSpPr>
          <p:nvPr/>
        </p:nvSpPr>
        <p:spPr bwMode="auto">
          <a:xfrm>
            <a:off x="1120775" y="4495800"/>
            <a:ext cx="4657725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latin typeface="Arial" pitchFamily="34" charset="0"/>
            </a:endParaRPr>
          </a:p>
        </p:txBody>
      </p:sp>
      <p:sp>
        <p:nvSpPr>
          <p:cNvPr id="2056" name="Line 8"/>
          <p:cNvSpPr>
            <a:spLocks noChangeShapeType="1"/>
          </p:cNvSpPr>
          <p:nvPr/>
        </p:nvSpPr>
        <p:spPr bwMode="auto">
          <a:xfrm>
            <a:off x="1120775" y="4800600"/>
            <a:ext cx="4657725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latin typeface="Arial" pitchFamily="34" charset="0"/>
            </a:endParaRPr>
          </a:p>
        </p:txBody>
      </p:sp>
      <p:sp>
        <p:nvSpPr>
          <p:cNvPr id="2057" name="Line 9"/>
          <p:cNvSpPr>
            <a:spLocks noChangeShapeType="1"/>
          </p:cNvSpPr>
          <p:nvPr/>
        </p:nvSpPr>
        <p:spPr bwMode="auto">
          <a:xfrm>
            <a:off x="1120775" y="5105400"/>
            <a:ext cx="4657725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latin typeface="Arial" pitchFamily="34" charset="0"/>
            </a:endParaRPr>
          </a:p>
        </p:txBody>
      </p:sp>
      <p:sp>
        <p:nvSpPr>
          <p:cNvPr id="2058" name="Line 10"/>
          <p:cNvSpPr>
            <a:spLocks noChangeShapeType="1"/>
          </p:cNvSpPr>
          <p:nvPr/>
        </p:nvSpPr>
        <p:spPr bwMode="auto">
          <a:xfrm>
            <a:off x="1120775" y="5105400"/>
            <a:ext cx="4657725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latin typeface="Arial" pitchFamily="34" charset="0"/>
            </a:endParaRPr>
          </a:p>
        </p:txBody>
      </p:sp>
      <p:sp>
        <p:nvSpPr>
          <p:cNvPr id="2059" name="Line 11"/>
          <p:cNvSpPr>
            <a:spLocks noChangeShapeType="1"/>
          </p:cNvSpPr>
          <p:nvPr/>
        </p:nvSpPr>
        <p:spPr bwMode="auto">
          <a:xfrm>
            <a:off x="1120775" y="5410200"/>
            <a:ext cx="4657725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latin typeface="Arial" pitchFamily="34" charset="0"/>
            </a:endParaRPr>
          </a:p>
        </p:txBody>
      </p:sp>
      <p:sp>
        <p:nvSpPr>
          <p:cNvPr id="2060" name="Line 12"/>
          <p:cNvSpPr>
            <a:spLocks noChangeShapeType="1"/>
          </p:cNvSpPr>
          <p:nvPr/>
        </p:nvSpPr>
        <p:spPr bwMode="auto">
          <a:xfrm>
            <a:off x="1120775" y="5715000"/>
            <a:ext cx="4657725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latin typeface="Arial" pitchFamily="34" charset="0"/>
            </a:endParaRPr>
          </a:p>
        </p:txBody>
      </p:sp>
      <p:sp>
        <p:nvSpPr>
          <p:cNvPr id="2061" name="Line 13"/>
          <p:cNvSpPr>
            <a:spLocks noChangeShapeType="1"/>
          </p:cNvSpPr>
          <p:nvPr/>
        </p:nvSpPr>
        <p:spPr bwMode="auto">
          <a:xfrm>
            <a:off x="1120775" y="6019800"/>
            <a:ext cx="4657725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latin typeface="Arial" pitchFamily="34" charset="0"/>
            </a:endParaRPr>
          </a:p>
        </p:txBody>
      </p:sp>
      <p:sp>
        <p:nvSpPr>
          <p:cNvPr id="2062" name="Line 14"/>
          <p:cNvSpPr>
            <a:spLocks noChangeShapeType="1"/>
          </p:cNvSpPr>
          <p:nvPr/>
        </p:nvSpPr>
        <p:spPr bwMode="auto">
          <a:xfrm>
            <a:off x="1120775" y="6324600"/>
            <a:ext cx="4657725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latin typeface="Arial" pitchFamily="34" charset="0"/>
            </a:endParaRPr>
          </a:p>
        </p:txBody>
      </p:sp>
      <p:sp>
        <p:nvSpPr>
          <p:cNvPr id="2063" name="Line 15"/>
          <p:cNvSpPr>
            <a:spLocks noChangeShapeType="1"/>
          </p:cNvSpPr>
          <p:nvPr/>
        </p:nvSpPr>
        <p:spPr bwMode="auto">
          <a:xfrm>
            <a:off x="1120775" y="6629400"/>
            <a:ext cx="4657725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latin typeface="Arial" pitchFamily="34" charset="0"/>
            </a:endParaRPr>
          </a:p>
        </p:txBody>
      </p:sp>
      <p:sp>
        <p:nvSpPr>
          <p:cNvPr id="2064" name="Line 16"/>
          <p:cNvSpPr>
            <a:spLocks noChangeShapeType="1"/>
          </p:cNvSpPr>
          <p:nvPr/>
        </p:nvSpPr>
        <p:spPr bwMode="auto">
          <a:xfrm>
            <a:off x="1120775" y="6934200"/>
            <a:ext cx="4657725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latin typeface="Arial" pitchFamily="34" charset="0"/>
            </a:endParaRPr>
          </a:p>
        </p:txBody>
      </p:sp>
      <p:sp>
        <p:nvSpPr>
          <p:cNvPr id="2065" name="Line 17"/>
          <p:cNvSpPr>
            <a:spLocks noChangeShapeType="1"/>
          </p:cNvSpPr>
          <p:nvPr/>
        </p:nvSpPr>
        <p:spPr bwMode="auto">
          <a:xfrm>
            <a:off x="1120775" y="7239000"/>
            <a:ext cx="4657725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latin typeface="Arial" pitchFamily="34" charset="0"/>
            </a:endParaRPr>
          </a:p>
        </p:txBody>
      </p:sp>
      <p:sp>
        <p:nvSpPr>
          <p:cNvPr id="2066" name="Line 18"/>
          <p:cNvSpPr>
            <a:spLocks noChangeShapeType="1"/>
          </p:cNvSpPr>
          <p:nvPr/>
        </p:nvSpPr>
        <p:spPr bwMode="auto">
          <a:xfrm>
            <a:off x="1120775" y="7543800"/>
            <a:ext cx="4657725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latin typeface="Arial" pitchFamily="34" charset="0"/>
            </a:endParaRPr>
          </a:p>
        </p:txBody>
      </p:sp>
      <p:sp>
        <p:nvSpPr>
          <p:cNvPr id="2067" name="Line 19"/>
          <p:cNvSpPr>
            <a:spLocks noChangeShapeType="1"/>
          </p:cNvSpPr>
          <p:nvPr/>
        </p:nvSpPr>
        <p:spPr bwMode="auto">
          <a:xfrm>
            <a:off x="1120775" y="7848600"/>
            <a:ext cx="4657725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latin typeface="Arial" pitchFamily="34" charset="0"/>
            </a:endParaRPr>
          </a:p>
        </p:txBody>
      </p:sp>
      <p:sp>
        <p:nvSpPr>
          <p:cNvPr id="2068" name="Line 20"/>
          <p:cNvSpPr>
            <a:spLocks noChangeShapeType="1"/>
          </p:cNvSpPr>
          <p:nvPr/>
        </p:nvSpPr>
        <p:spPr bwMode="auto">
          <a:xfrm>
            <a:off x="1120775" y="8153400"/>
            <a:ext cx="4657725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latin typeface="Arial" pitchFamily="34" charset="0"/>
            </a:endParaRPr>
          </a:p>
        </p:txBody>
      </p:sp>
      <p:sp>
        <p:nvSpPr>
          <p:cNvPr id="2069" name="Line 21"/>
          <p:cNvSpPr>
            <a:spLocks noChangeShapeType="1"/>
          </p:cNvSpPr>
          <p:nvPr/>
        </p:nvSpPr>
        <p:spPr bwMode="auto">
          <a:xfrm>
            <a:off x="1120775" y="8458200"/>
            <a:ext cx="4657725" cy="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latin typeface="Arial" pitchFamily="34" charset="0"/>
            </a:endParaRPr>
          </a:p>
        </p:txBody>
      </p:sp>
      <p:sp>
        <p:nvSpPr>
          <p:cNvPr id="2072" name="Line 24"/>
          <p:cNvSpPr>
            <a:spLocks noChangeShapeType="1"/>
          </p:cNvSpPr>
          <p:nvPr/>
        </p:nvSpPr>
        <p:spPr bwMode="auto">
          <a:xfrm>
            <a:off x="523875" y="8763000"/>
            <a:ext cx="58515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latin typeface="Arial" pitchFamily="34" charset="0"/>
            </a:endParaRPr>
          </a:p>
        </p:txBody>
      </p:sp>
      <p:sp>
        <p:nvSpPr>
          <p:cNvPr id="2073" name="Rectangle 25"/>
          <p:cNvSpPr>
            <a:spLocks noChangeArrowheads="1"/>
          </p:cNvSpPr>
          <p:nvPr/>
        </p:nvSpPr>
        <p:spPr bwMode="auto">
          <a:xfrm>
            <a:off x="77788" y="61913"/>
            <a:ext cx="6702425" cy="2730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eaLnBrk="0" hangingPunct="0">
              <a:tabLst>
                <a:tab pos="285750" algn="l"/>
                <a:tab pos="3257550" algn="ctr"/>
                <a:tab pos="6457950" algn="r"/>
              </a:tabLst>
              <a:defRPr/>
            </a:pPr>
            <a:r>
              <a:rPr lang="en-US" sz="1200">
                <a:latin typeface="Arial" pitchFamily="34" charset="0"/>
              </a:rPr>
              <a:t>	Chapter 1		1-</a:t>
            </a:r>
            <a:fld id="{3DE0D906-F43C-4118-8E58-61E6906B2A9B}" type="slidenum">
              <a:rPr lang="en-US" sz="1200">
                <a:latin typeface="Arial" pitchFamily="34" charset="0"/>
              </a:rPr>
              <a:pPr eaLnBrk="0" hangingPunct="0">
                <a:tabLst>
                  <a:tab pos="285750" algn="l"/>
                  <a:tab pos="3257550" algn="ctr"/>
                  <a:tab pos="6457950" algn="r"/>
                </a:tabLst>
                <a:defRPr/>
              </a:pPr>
              <a:t>‹#›</a:t>
            </a:fld>
            <a:endParaRPr lang="en-US" sz="1200">
              <a:latin typeface="Arial" pitchFamily="34" charset="0"/>
            </a:endParaRPr>
          </a:p>
        </p:txBody>
      </p:sp>
      <p:sp>
        <p:nvSpPr>
          <p:cNvPr id="2074" name="Rectangle 26"/>
          <p:cNvSpPr>
            <a:spLocks noChangeArrowheads="1"/>
          </p:cNvSpPr>
          <p:nvPr/>
        </p:nvSpPr>
        <p:spPr bwMode="auto">
          <a:xfrm>
            <a:off x="71438" y="8818563"/>
            <a:ext cx="6715125" cy="2413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eaLnBrk="0" hangingPunct="0">
              <a:tabLst>
                <a:tab pos="285750" algn="l"/>
                <a:tab pos="6457950" algn="r"/>
              </a:tabLst>
              <a:defRPr/>
            </a:pPr>
            <a:r>
              <a:rPr lang="en-US" sz="1000">
                <a:latin typeface="Arial" pitchFamily="34" charset="0"/>
              </a:rPr>
              <a:t>Basic Business Statistics, 10/e	© 2006 Prentice Hall, Inc.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064"/>
          <p:cNvGrpSpPr>
            <a:grpSpLocks/>
          </p:cNvGrpSpPr>
          <p:nvPr userDrawn="1"/>
        </p:nvGrpSpPr>
        <p:grpSpPr bwMode="auto">
          <a:xfrm>
            <a:off x="134938" y="2438400"/>
            <a:ext cx="9009062" cy="1181100"/>
            <a:chOff x="0" y="1536"/>
            <a:chExt cx="5675" cy="744"/>
          </a:xfrm>
        </p:grpSpPr>
        <p:grpSp>
          <p:nvGrpSpPr>
            <p:cNvPr id="5" name="Group 1065"/>
            <p:cNvGrpSpPr>
              <a:grpSpLocks/>
            </p:cNvGrpSpPr>
            <p:nvPr userDrawn="1"/>
          </p:nvGrpSpPr>
          <p:grpSpPr bwMode="auto">
            <a:xfrm>
              <a:off x="185" y="1604"/>
              <a:ext cx="449" cy="297"/>
              <a:chOff x="720" y="336"/>
              <a:chExt cx="624" cy="432"/>
            </a:xfrm>
          </p:grpSpPr>
          <p:sp>
            <p:nvSpPr>
              <p:cNvPr id="12" name="Rectangle 1066"/>
              <p:cNvSpPr>
                <a:spLocks noChangeArrowheads="1"/>
              </p:cNvSpPr>
              <p:nvPr userDrawn="1"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rgbClr val="FF00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en-US">
                  <a:latin typeface="Arial" pitchFamily="34" charset="0"/>
                </a:endParaRPr>
              </a:p>
            </p:txBody>
          </p:sp>
          <p:sp>
            <p:nvSpPr>
              <p:cNvPr id="13" name="Rectangle 1067"/>
              <p:cNvSpPr>
                <a:spLocks noChangeArrowheads="1"/>
              </p:cNvSpPr>
              <p:nvPr userDrawn="1"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1">
                <a:gsLst>
                  <a:gs pos="0">
                    <a:srgbClr val="FF0000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en-US">
                  <a:latin typeface="Arial" pitchFamily="34" charset="0"/>
                </a:endParaRPr>
              </a:p>
            </p:txBody>
          </p:sp>
        </p:grpSp>
        <p:sp>
          <p:nvSpPr>
            <p:cNvPr id="6" name="Rectangle 1068"/>
            <p:cNvSpPr>
              <a:spLocks noChangeArrowheads="1"/>
            </p:cNvSpPr>
            <p:nvPr userDrawn="1"/>
          </p:nvSpPr>
          <p:spPr bwMode="auto">
            <a:xfrm>
              <a:off x="432" y="1868"/>
              <a:ext cx="294" cy="298"/>
            </a:xfrm>
            <a:prstGeom prst="rect">
              <a:avLst/>
            </a:prstGeom>
            <a:gradFill rotWithShape="1">
              <a:gsLst>
                <a:gs pos="0">
                  <a:srgbClr val="339966"/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US">
                <a:latin typeface="Arial" pitchFamily="34" charset="0"/>
              </a:endParaRPr>
            </a:p>
          </p:txBody>
        </p:sp>
        <p:sp>
          <p:nvSpPr>
            <p:cNvPr id="7" name="Rectangle 1069"/>
            <p:cNvSpPr>
              <a:spLocks noChangeArrowheads="1"/>
            </p:cNvSpPr>
            <p:nvPr userDrawn="1"/>
          </p:nvSpPr>
          <p:spPr bwMode="auto">
            <a:xfrm>
              <a:off x="245" y="1868"/>
              <a:ext cx="187" cy="298"/>
            </a:xfrm>
            <a:prstGeom prst="rect">
              <a:avLst/>
            </a:prstGeom>
            <a:solidFill>
              <a:srgbClr val="339966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US">
                <a:latin typeface="Arial" pitchFamily="34" charset="0"/>
              </a:endParaRPr>
            </a:p>
          </p:txBody>
        </p:sp>
        <p:sp>
          <p:nvSpPr>
            <p:cNvPr id="8" name="Rectangle 1070"/>
            <p:cNvSpPr>
              <a:spLocks noChangeArrowheads="1"/>
            </p:cNvSpPr>
            <p:nvPr userDrawn="1"/>
          </p:nvSpPr>
          <p:spPr bwMode="auto">
            <a:xfrm>
              <a:off x="144" y="2016"/>
              <a:ext cx="353" cy="264"/>
            </a:xfrm>
            <a:prstGeom prst="rect">
              <a:avLst/>
            </a:prstGeom>
            <a:gradFill rotWithShape="1">
              <a:gsLst>
                <a:gs pos="0">
                  <a:srgbClr val="FFFF00"/>
                </a:gs>
                <a:gs pos="100000">
                  <a:srgbClr val="FFFFCC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US">
                <a:latin typeface="Arial" pitchFamily="34" charset="0"/>
              </a:endParaRPr>
            </a:p>
          </p:txBody>
        </p:sp>
        <p:sp>
          <p:nvSpPr>
            <p:cNvPr id="9" name="Rectangle 1071"/>
            <p:cNvSpPr>
              <a:spLocks noChangeArrowheads="1"/>
            </p:cNvSpPr>
            <p:nvPr userDrawn="1"/>
          </p:nvSpPr>
          <p:spPr bwMode="auto">
            <a:xfrm>
              <a:off x="0" y="1823"/>
              <a:ext cx="353" cy="264"/>
            </a:xfrm>
            <a:prstGeom prst="rect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0000FF"/>
                </a:gs>
              </a:gsLst>
              <a:lin ang="189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US">
                <a:latin typeface="Arial" pitchFamily="34" charset="0"/>
              </a:endParaRPr>
            </a:p>
          </p:txBody>
        </p:sp>
        <p:sp>
          <p:nvSpPr>
            <p:cNvPr id="10" name="Rectangle 1072"/>
            <p:cNvSpPr>
              <a:spLocks noChangeArrowheads="1"/>
            </p:cNvSpPr>
            <p:nvPr userDrawn="1"/>
          </p:nvSpPr>
          <p:spPr bwMode="auto">
            <a:xfrm>
              <a:off x="400" y="1536"/>
              <a:ext cx="20" cy="660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US">
                <a:latin typeface="Arial" pitchFamily="34" charset="0"/>
              </a:endParaRPr>
            </a:p>
          </p:txBody>
        </p:sp>
        <p:sp>
          <p:nvSpPr>
            <p:cNvPr id="11" name="Rectangle 1073"/>
            <p:cNvSpPr>
              <a:spLocks noChangeArrowheads="1"/>
            </p:cNvSpPr>
            <p:nvPr userDrawn="1"/>
          </p:nvSpPr>
          <p:spPr bwMode="auto">
            <a:xfrm flipV="1">
              <a:off x="199" y="2052"/>
              <a:ext cx="5476" cy="34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US">
                <a:latin typeface="Arial" pitchFamily="34" charset="0"/>
              </a:endParaRPr>
            </a:p>
          </p:txBody>
        </p:sp>
      </p:grpSp>
      <p:sp>
        <p:nvSpPr>
          <p:cNvPr id="93196" name="Rectangle 1036"/>
          <p:cNvSpPr>
            <a:spLocks noGrp="1" noChangeArrowheads="1"/>
          </p:cNvSpPr>
          <p:nvPr>
            <p:ph type="ctrTitle"/>
          </p:nvPr>
        </p:nvSpPr>
        <p:spPr>
          <a:xfrm>
            <a:off x="990600" y="1833563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3197" name="Rectangle 1037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1438"/>
            <a:ext cx="6400800" cy="17621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Rectangle 107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 1-</a:t>
            </a:r>
            <a:fld id="{12E37409-CDFA-490D-9403-0F9B4567E9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5" name="Footer Placeholder 17"/>
          <p:cNvSpPr>
            <a:spLocks noGrp="1" noChangeArrowheads="1"/>
          </p:cNvSpPr>
          <p:nvPr>
            <p:ph type="ftr" sz="quarter" idx="11"/>
          </p:nvPr>
        </p:nvSpPr>
        <p:spPr>
          <a:xfrm>
            <a:off x="0" y="6629400"/>
            <a:ext cx="5334000" cy="228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Copyright ©2012 Pearson Education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 1-</a:t>
            </a:r>
            <a:fld id="{381E4352-07CC-4286-A708-0963C0D1091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1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Copyright ©2012 Pearson Education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1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 1-</a:t>
            </a:r>
            <a:fld id="{D7805AAD-8751-475F-922D-6501FB6E770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1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Copyright ©2012 Pearson Education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828800"/>
            <a:ext cx="3962400" cy="45323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828800"/>
            <a:ext cx="3962400" cy="45323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1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 1-</a:t>
            </a:r>
            <a:fld id="{267B9604-5D03-42D8-A890-3D959B0A926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1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Copyright ©2012 Pearson Education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1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 1-</a:t>
            </a:r>
            <a:fld id="{552E28C1-730D-45EA-B6A7-D1FAAD8F8C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8" name="Rectangle 1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Copyright ©2012 Pearson Education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1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 1-</a:t>
            </a:r>
            <a:fld id="{23EEB496-BE0A-4549-B732-5C61FA8CD59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4" name="Rectangle 1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Copyright ©2012 Pearson Education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 1-</a:t>
            </a:r>
            <a:fld id="{17BC6A0C-024A-4157-8AEC-C7868FECE5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3" name="Rectangle 1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Copyright ©2012 Pearson Education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1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 1-</a:t>
            </a:r>
            <a:fld id="{A4E40A86-BF92-4883-8531-D976FC7D1E2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1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Copyright ©2012 Pearson Education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1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 1-</a:t>
            </a:r>
            <a:fld id="{CF1E8827-88CB-4383-B1CC-F51B74F3199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1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Copyright ©2012 Pearson Education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 1-</a:t>
            </a:r>
            <a:fld id="{7FC5F82E-1789-455C-99DC-455198257B7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1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Copyright ©2012 Pearson Education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67500" y="228600"/>
            <a:ext cx="2019300" cy="613251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28600"/>
            <a:ext cx="5905500" cy="613251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 1-</a:t>
            </a:r>
            <a:fld id="{2F27DB23-7140-4D9C-B5CB-609DD744DB7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1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Copyright ©2012 Pearson Education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228600"/>
            <a:ext cx="7383462" cy="990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09600" y="1828800"/>
            <a:ext cx="8077200" cy="4532313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Rectangle 1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 1-</a:t>
            </a:r>
            <a:fld id="{6AD8B09A-A275-41FD-A0E9-18FBDBBAFB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1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Copyright ©2012 Pearson Education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228600"/>
            <a:ext cx="7383462" cy="990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828800"/>
            <a:ext cx="3962400" cy="45323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828800"/>
            <a:ext cx="3962400" cy="45323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1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 1-</a:t>
            </a:r>
            <a:fld id="{EA56B7D0-B5C1-4D96-B9CC-AE25451599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1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Copyright ©2012 Pearson Education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28600"/>
            <a:ext cx="7383462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5342" tIns="42672" rIns="85342" bIns="42672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24579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828800"/>
            <a:ext cx="8077200" cy="4532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5342" tIns="42672" rIns="85342" bIns="4267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92174" name="Rectangle 1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5342" tIns="42672" rIns="85342" bIns="42672" numCol="1" anchor="b" anchorCtr="0" compatLnSpc="1">
            <a:prstTxWarp prst="textNoShape">
              <a:avLst/>
            </a:prstTxWarp>
          </a:bodyPr>
          <a:lstStyle>
            <a:lvl1pPr algn="r">
              <a:defRPr sz="1000">
                <a:latin typeface="Arial" pitchFamily="34" charset="0"/>
              </a:defRPr>
            </a:lvl1pPr>
          </a:lstStyle>
          <a:p>
            <a:pPr>
              <a:defRPr/>
            </a:pPr>
            <a:r>
              <a:rPr lang="en-US"/>
              <a:t>Chap 1-</a:t>
            </a:r>
            <a:fld id="{39D85D4D-3CD2-4693-A987-4B7FA2BAF2C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grpSp>
        <p:nvGrpSpPr>
          <p:cNvPr id="24581" name="Group 15"/>
          <p:cNvGrpSpPr>
            <a:grpSpLocks/>
          </p:cNvGrpSpPr>
          <p:nvPr userDrawn="1"/>
        </p:nvGrpSpPr>
        <p:grpSpPr bwMode="auto">
          <a:xfrm>
            <a:off x="0" y="609600"/>
            <a:ext cx="9009063" cy="1181100"/>
            <a:chOff x="0" y="1536"/>
            <a:chExt cx="5675" cy="744"/>
          </a:xfrm>
        </p:grpSpPr>
        <p:grpSp>
          <p:nvGrpSpPr>
            <p:cNvPr id="24583" name="Group 16"/>
            <p:cNvGrpSpPr>
              <a:grpSpLocks/>
            </p:cNvGrpSpPr>
            <p:nvPr userDrawn="1"/>
          </p:nvGrpSpPr>
          <p:grpSpPr bwMode="auto">
            <a:xfrm>
              <a:off x="183" y="1604"/>
              <a:ext cx="448" cy="297"/>
              <a:chOff x="720" y="336"/>
              <a:chExt cx="624" cy="432"/>
            </a:xfrm>
          </p:grpSpPr>
          <p:sp>
            <p:nvSpPr>
              <p:cNvPr id="92177" name="Rectangle 17"/>
              <p:cNvSpPr>
                <a:spLocks noChangeArrowheads="1"/>
              </p:cNvSpPr>
              <p:nvPr userDrawn="1"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rgbClr val="FF00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en-US">
                  <a:latin typeface="Arial" pitchFamily="34" charset="0"/>
                </a:endParaRPr>
              </a:p>
            </p:txBody>
          </p:sp>
          <p:sp>
            <p:nvSpPr>
              <p:cNvPr id="92178" name="Rectangle 18"/>
              <p:cNvSpPr>
                <a:spLocks noChangeArrowheads="1"/>
              </p:cNvSpPr>
              <p:nvPr userDrawn="1"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1">
                <a:gsLst>
                  <a:gs pos="0">
                    <a:srgbClr val="FF0000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en-US">
                  <a:latin typeface="Arial" pitchFamily="34" charset="0"/>
                </a:endParaRPr>
              </a:p>
            </p:txBody>
          </p:sp>
        </p:grpSp>
        <p:sp>
          <p:nvSpPr>
            <p:cNvPr id="92179" name="Rectangle 19"/>
            <p:cNvSpPr>
              <a:spLocks noChangeArrowheads="1"/>
            </p:cNvSpPr>
            <p:nvPr userDrawn="1"/>
          </p:nvSpPr>
          <p:spPr bwMode="auto">
            <a:xfrm>
              <a:off x="432" y="1868"/>
              <a:ext cx="294" cy="298"/>
            </a:xfrm>
            <a:prstGeom prst="rect">
              <a:avLst/>
            </a:prstGeom>
            <a:gradFill rotWithShape="1">
              <a:gsLst>
                <a:gs pos="0">
                  <a:srgbClr val="339966"/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US">
                <a:latin typeface="Arial" pitchFamily="34" charset="0"/>
              </a:endParaRPr>
            </a:p>
          </p:txBody>
        </p:sp>
        <p:sp>
          <p:nvSpPr>
            <p:cNvPr id="92180" name="Rectangle 20"/>
            <p:cNvSpPr>
              <a:spLocks noChangeArrowheads="1"/>
            </p:cNvSpPr>
            <p:nvPr userDrawn="1"/>
          </p:nvSpPr>
          <p:spPr bwMode="auto">
            <a:xfrm>
              <a:off x="245" y="1868"/>
              <a:ext cx="187" cy="298"/>
            </a:xfrm>
            <a:prstGeom prst="rect">
              <a:avLst/>
            </a:prstGeom>
            <a:solidFill>
              <a:srgbClr val="339966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US">
                <a:latin typeface="Arial" pitchFamily="34" charset="0"/>
              </a:endParaRPr>
            </a:p>
          </p:txBody>
        </p:sp>
        <p:sp>
          <p:nvSpPr>
            <p:cNvPr id="92181" name="Rectangle 21"/>
            <p:cNvSpPr>
              <a:spLocks noChangeArrowheads="1"/>
            </p:cNvSpPr>
            <p:nvPr userDrawn="1"/>
          </p:nvSpPr>
          <p:spPr bwMode="auto">
            <a:xfrm>
              <a:off x="144" y="2016"/>
              <a:ext cx="353" cy="264"/>
            </a:xfrm>
            <a:prstGeom prst="rect">
              <a:avLst/>
            </a:prstGeom>
            <a:gradFill rotWithShape="1">
              <a:gsLst>
                <a:gs pos="0">
                  <a:srgbClr val="FFFF00"/>
                </a:gs>
                <a:gs pos="100000">
                  <a:srgbClr val="FFFFCC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US">
                <a:latin typeface="Arial" pitchFamily="34" charset="0"/>
              </a:endParaRPr>
            </a:p>
          </p:txBody>
        </p:sp>
        <p:sp>
          <p:nvSpPr>
            <p:cNvPr id="92182" name="Rectangle 22"/>
            <p:cNvSpPr>
              <a:spLocks noChangeArrowheads="1"/>
            </p:cNvSpPr>
            <p:nvPr userDrawn="1"/>
          </p:nvSpPr>
          <p:spPr bwMode="auto">
            <a:xfrm>
              <a:off x="0" y="1823"/>
              <a:ext cx="353" cy="264"/>
            </a:xfrm>
            <a:prstGeom prst="rect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0000FF"/>
                </a:gs>
              </a:gsLst>
              <a:lin ang="189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US">
                <a:latin typeface="Arial" pitchFamily="34" charset="0"/>
              </a:endParaRPr>
            </a:p>
          </p:txBody>
        </p:sp>
        <p:sp>
          <p:nvSpPr>
            <p:cNvPr id="92183" name="Rectangle 23"/>
            <p:cNvSpPr>
              <a:spLocks noChangeArrowheads="1"/>
            </p:cNvSpPr>
            <p:nvPr userDrawn="1"/>
          </p:nvSpPr>
          <p:spPr bwMode="auto">
            <a:xfrm>
              <a:off x="400" y="1536"/>
              <a:ext cx="20" cy="660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US">
                <a:latin typeface="Arial" pitchFamily="34" charset="0"/>
              </a:endParaRPr>
            </a:p>
          </p:txBody>
        </p:sp>
        <p:sp>
          <p:nvSpPr>
            <p:cNvPr id="92184" name="Rectangle 24"/>
            <p:cNvSpPr>
              <a:spLocks noChangeArrowheads="1"/>
            </p:cNvSpPr>
            <p:nvPr userDrawn="1"/>
          </p:nvSpPr>
          <p:spPr bwMode="auto">
            <a:xfrm flipV="1">
              <a:off x="199" y="2052"/>
              <a:ext cx="5476" cy="34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US">
                <a:latin typeface="Arial" pitchFamily="34" charset="0"/>
              </a:endParaRPr>
            </a:p>
          </p:txBody>
        </p:sp>
      </p:grpSp>
      <p:sp>
        <p:nvSpPr>
          <p:cNvPr id="24593" name="Rectangle 1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629400"/>
            <a:ext cx="59436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800"/>
            </a:lvl1pPr>
          </a:lstStyle>
          <a:p>
            <a:r>
              <a:rPr lang="en-US"/>
              <a:t>Copyright ©2012 Pearson Education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6" r:id="rId2"/>
    <p:sldLayoutId id="2147483665" r:id="rId3"/>
    <p:sldLayoutId id="2147483664" r:id="rId4"/>
    <p:sldLayoutId id="2147483663" r:id="rId5"/>
    <p:sldLayoutId id="2147483662" r:id="rId6"/>
    <p:sldLayoutId id="2147483661" r:id="rId7"/>
    <p:sldLayoutId id="2147483660" r:id="rId8"/>
    <p:sldLayoutId id="2147483659" r:id="rId9"/>
    <p:sldLayoutId id="2147483658" r:id="rId10"/>
    <p:sldLayoutId id="2147483657" r:id="rId11"/>
    <p:sldLayoutId id="2147483656" r:id="rId12"/>
    <p:sldLayoutId id="2147483655" r:id="rId13"/>
  </p:sldLayoutIdLst>
  <p:timing>
    <p:tnLst>
      <p:par>
        <p:cTn id="1" dur="indefinite" restart="never" nodeType="tmRoot"/>
      </p:par>
    </p:tnLst>
  </p:timing>
  <p:hf hdr="0" dt="0"/>
  <p:txStyles>
    <p:titleStyle>
      <a:lvl1pPr algn="ctr" defTabSz="852488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defTabSz="852488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</a:defRPr>
      </a:lvl2pPr>
      <a:lvl3pPr algn="ctr" defTabSz="852488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</a:defRPr>
      </a:lvl3pPr>
      <a:lvl4pPr algn="ctr" defTabSz="852488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</a:defRPr>
      </a:lvl4pPr>
      <a:lvl5pPr algn="ctr" defTabSz="852488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</a:defRPr>
      </a:lvl5pPr>
      <a:lvl6pPr marL="457200" algn="ctr" defTabSz="852488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</a:defRPr>
      </a:lvl6pPr>
      <a:lvl7pPr marL="914400" algn="ctr" defTabSz="852488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</a:defRPr>
      </a:lvl7pPr>
      <a:lvl8pPr marL="1371600" algn="ctr" defTabSz="852488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</a:defRPr>
      </a:lvl8pPr>
      <a:lvl9pPr marL="1828800" algn="ctr" defTabSz="852488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</a:defRPr>
      </a:lvl9pPr>
    </p:titleStyle>
    <p:bodyStyle>
      <a:lvl1pPr marL="320675" indent="-320675" algn="l" defTabSz="852488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93738" indent="-268288" algn="l" defTabSz="852488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2pPr>
      <a:lvl3pPr marL="1068388" indent="-215900" algn="l" defTabSz="852488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3pPr>
      <a:lvl4pPr marL="1493838" indent="-212725" algn="l" defTabSz="852488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4pPr>
      <a:lvl5pPr marL="1919288" indent="-212725" algn="l" defTabSz="852488" rtl="0" eaLnBrk="0" fontAlgn="base" hangingPunct="0">
        <a:spcBef>
          <a:spcPct val="20000"/>
        </a:spcBef>
        <a:spcAft>
          <a:spcPct val="0"/>
        </a:spcAft>
        <a:buClr>
          <a:srgbClr val="FD2B4E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5pPr>
      <a:lvl6pPr marL="2376488" indent="-212725" algn="l" defTabSz="852488" rtl="0" fontAlgn="base">
        <a:spcBef>
          <a:spcPct val="20000"/>
        </a:spcBef>
        <a:spcAft>
          <a:spcPct val="0"/>
        </a:spcAft>
        <a:buClr>
          <a:srgbClr val="FD2B4E"/>
        </a:buClr>
        <a:buSzPct val="50000"/>
        <a:buFont typeface="Wingdings" pitchFamily="2" charset="2"/>
        <a:buChar char="n"/>
        <a:defRPr>
          <a:solidFill>
            <a:schemeClr val="tx1"/>
          </a:solidFill>
          <a:latin typeface="+mn-lt"/>
        </a:defRPr>
      </a:lvl6pPr>
      <a:lvl7pPr marL="2833688" indent="-212725" algn="l" defTabSz="852488" rtl="0" fontAlgn="base">
        <a:spcBef>
          <a:spcPct val="20000"/>
        </a:spcBef>
        <a:spcAft>
          <a:spcPct val="0"/>
        </a:spcAft>
        <a:buClr>
          <a:srgbClr val="FD2B4E"/>
        </a:buClr>
        <a:buSzPct val="50000"/>
        <a:buFont typeface="Wingdings" pitchFamily="2" charset="2"/>
        <a:buChar char="n"/>
        <a:defRPr>
          <a:solidFill>
            <a:schemeClr val="tx1"/>
          </a:solidFill>
          <a:latin typeface="+mn-lt"/>
        </a:defRPr>
      </a:lvl7pPr>
      <a:lvl8pPr marL="3290888" indent="-212725" algn="l" defTabSz="852488" rtl="0" fontAlgn="base">
        <a:spcBef>
          <a:spcPct val="20000"/>
        </a:spcBef>
        <a:spcAft>
          <a:spcPct val="0"/>
        </a:spcAft>
        <a:buClr>
          <a:srgbClr val="FD2B4E"/>
        </a:buClr>
        <a:buSzPct val="50000"/>
        <a:buFont typeface="Wingdings" pitchFamily="2" charset="2"/>
        <a:buChar char="n"/>
        <a:defRPr>
          <a:solidFill>
            <a:schemeClr val="tx1"/>
          </a:solidFill>
          <a:latin typeface="+mn-lt"/>
        </a:defRPr>
      </a:lvl8pPr>
      <a:lvl9pPr marL="3748088" indent="-212725" algn="l" defTabSz="852488" rtl="0" fontAlgn="base">
        <a:spcBef>
          <a:spcPct val="20000"/>
        </a:spcBef>
        <a:spcAft>
          <a:spcPct val="0"/>
        </a:spcAft>
        <a:buClr>
          <a:srgbClr val="FD2B4E"/>
        </a:buClr>
        <a:buSzPct val="50000"/>
        <a:buFont typeface="Wingdings" pitchFamily="2" charset="2"/>
        <a:buChar char="n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png"/><Relationship Id="rId4" Type="http://schemas.openxmlformats.org/officeDocument/2006/relationships/image" Target="../media/image2.gi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©2012 Pearson Education</a:t>
            </a:r>
          </a:p>
        </p:txBody>
      </p:sp>
      <p:sp>
        <p:nvSpPr>
          <p:cNvPr id="17409" name="Rectangle 107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1-</a:t>
            </a:r>
            <a:fld id="{CB9299BF-3117-47D3-8143-205469D42AE9}" type="slidenum">
              <a:rPr lang="en-US" smtClean="0">
                <a:latin typeface="Arial" charset="0"/>
              </a:rPr>
              <a:pPr/>
              <a:t>1</a:t>
            </a:fld>
            <a:endParaRPr lang="en-US" smtClean="0">
              <a:latin typeface="Arial" charset="0"/>
            </a:endParaRPr>
          </a:p>
        </p:txBody>
      </p:sp>
      <p:sp>
        <p:nvSpPr>
          <p:cNvPr id="17411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/>
            <a:r>
              <a:rPr lang="en-US" sz="1000"/>
              <a:t>Chap 1-</a:t>
            </a:r>
            <a:fld id="{1AFEF6C6-258F-4765-997B-78810F952833}" type="slidenum">
              <a:rPr lang="en-US" sz="1000"/>
              <a:pPr algn="r"/>
              <a:t>1</a:t>
            </a:fld>
            <a:endParaRPr lang="en-US" sz="1000"/>
          </a:p>
        </p:txBody>
      </p:sp>
      <p:sp>
        <p:nvSpPr>
          <p:cNvPr id="17412" name="Rectangle 9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i="1" smtClean="0">
                <a:solidFill>
                  <a:schemeClr val="folHlink"/>
                </a:solidFill>
              </a:rPr>
              <a:t>Basic Business Statistics</a:t>
            </a:r>
            <a:br>
              <a:rPr lang="en-US" i="1" smtClean="0">
                <a:solidFill>
                  <a:schemeClr val="folHlink"/>
                </a:solidFill>
              </a:rPr>
            </a:br>
            <a:r>
              <a:rPr lang="en-US" sz="3600" smtClean="0">
                <a:solidFill>
                  <a:schemeClr val="folHlink"/>
                </a:solidFill>
              </a:rPr>
              <a:t>12</a:t>
            </a:r>
            <a:r>
              <a:rPr lang="en-US" sz="3600" baseline="30000" smtClean="0">
                <a:solidFill>
                  <a:schemeClr val="folHlink"/>
                </a:solidFill>
              </a:rPr>
              <a:t>th</a:t>
            </a:r>
            <a:r>
              <a:rPr lang="en-US" sz="3600" smtClean="0">
                <a:solidFill>
                  <a:schemeClr val="folHlink"/>
                </a:solidFill>
              </a:rPr>
              <a:t> Edition</a:t>
            </a:r>
            <a:br>
              <a:rPr lang="en-US" sz="3600" smtClean="0">
                <a:solidFill>
                  <a:schemeClr val="folHlink"/>
                </a:solidFill>
              </a:rPr>
            </a:br>
            <a:r>
              <a:rPr lang="en-US" sz="3600" smtClean="0">
                <a:solidFill>
                  <a:schemeClr val="folHlink"/>
                </a:solidFill>
              </a:rPr>
              <a:t>Global Edition</a:t>
            </a:r>
          </a:p>
        </p:txBody>
      </p:sp>
      <p:sp>
        <p:nvSpPr>
          <p:cNvPr id="17413" name="Rectangle 7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sz="3500" b="1" smtClean="0"/>
              <a:t>Chapter 1</a:t>
            </a:r>
            <a:r>
              <a:rPr lang="en-US" sz="3500" smtClean="0"/>
              <a:t/>
            </a:r>
            <a:br>
              <a:rPr lang="en-US" sz="3500" smtClean="0"/>
            </a:br>
            <a:r>
              <a:rPr lang="en-US" sz="3500" smtClean="0"/>
              <a:t/>
            </a:r>
            <a:br>
              <a:rPr lang="en-US" sz="3500" smtClean="0"/>
            </a:br>
            <a:r>
              <a:rPr lang="en-US" sz="3500" smtClean="0"/>
              <a:t>Introduction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/>
          <a:p>
            <a:r>
              <a:rPr lang="en-US"/>
              <a:t>Copyright ©2012 Pearson Education</a:t>
            </a:r>
          </a:p>
        </p:txBody>
      </p:sp>
      <p:sp>
        <p:nvSpPr>
          <p:cNvPr id="18433" name="Rectangle 14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1-</a:t>
            </a:r>
            <a:fld id="{602A5BE5-90EA-40C4-A8F3-1CBA1740BD7B}" type="slidenum">
              <a:rPr lang="en-US" smtClean="0">
                <a:latin typeface="Arial" charset="0"/>
              </a:rPr>
              <a:pPr/>
              <a:t>2</a:t>
            </a:fld>
            <a:endParaRPr lang="en-US" smtClean="0">
              <a:latin typeface="Arial" charset="0"/>
            </a:endParaRPr>
          </a:p>
        </p:txBody>
      </p:sp>
      <p:sp>
        <p:nvSpPr>
          <p:cNvPr id="18435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1-</a:t>
            </a:r>
            <a:fld id="{BCA0459F-C72D-48BB-B17D-4D023B0CB763}" type="slidenum">
              <a:rPr lang="en-US" sz="1000"/>
              <a:pPr algn="r" defTabSz="852488"/>
              <a:t>2</a:t>
            </a:fld>
            <a:endParaRPr lang="en-US" sz="1000"/>
          </a:p>
        </p:txBody>
      </p:sp>
      <p:sp>
        <p:nvSpPr>
          <p:cNvPr id="18436" name="Rectangle 2"/>
          <p:cNvSpPr>
            <a:spLocks noGrp="1" noChangeArrowheads="1"/>
          </p:cNvSpPr>
          <p:nvPr>
            <p:ph type="title"/>
          </p:nvPr>
        </p:nvSpPr>
        <p:spPr>
          <a:xfrm>
            <a:off x="1216025" y="492125"/>
            <a:ext cx="6200775" cy="727075"/>
          </a:xfrm>
        </p:spPr>
        <p:txBody>
          <a:bodyPr/>
          <a:lstStyle/>
          <a:p>
            <a:pPr eaLnBrk="1" hangingPunct="1"/>
            <a:r>
              <a:rPr lang="en-US" smtClean="0"/>
              <a:t>Learning Objectives</a:t>
            </a:r>
          </a:p>
        </p:txBody>
      </p:sp>
      <p:sp>
        <p:nvSpPr>
          <p:cNvPr id="1843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43000" y="1905000"/>
            <a:ext cx="7162800" cy="41910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b="1" smtClean="0"/>
              <a:t>In this chapter you learn:</a:t>
            </a:r>
            <a:r>
              <a:rPr lang="en-US" smtClean="0"/>
              <a:t>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mtClean="0"/>
          </a:p>
          <a:p>
            <a:r>
              <a:rPr lang="en-US" smtClean="0"/>
              <a:t>How businesses use statistics</a:t>
            </a:r>
          </a:p>
          <a:p>
            <a:r>
              <a:rPr lang="en-US" smtClean="0"/>
              <a:t>The basic vocabulary of statistics</a:t>
            </a:r>
          </a:p>
          <a:p>
            <a:pPr eaLnBrk="1" hangingPunct="1">
              <a:lnSpc>
                <a:spcPct val="110000"/>
              </a:lnSpc>
            </a:pPr>
            <a:r>
              <a:rPr lang="en-US" smtClean="0"/>
              <a:t>The types of data used in business</a:t>
            </a:r>
          </a:p>
          <a:p>
            <a:pPr eaLnBrk="1" hangingPunct="1">
              <a:lnSpc>
                <a:spcPct val="110000"/>
              </a:lnSpc>
            </a:pPr>
            <a:r>
              <a:rPr lang="en-US" smtClean="0"/>
              <a:t>How to use Microsoft Excel and / or Minitab with this book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/>
          <a:p>
            <a:r>
              <a:rPr lang="en-US"/>
              <a:t>Copyright ©2012 Pearson Education</a:t>
            </a:r>
          </a:p>
        </p:txBody>
      </p:sp>
      <p:sp>
        <p:nvSpPr>
          <p:cNvPr id="19457" name="Rectangle 14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1-</a:t>
            </a:r>
            <a:fld id="{E1EC1BCD-BA6D-4B09-A5DC-4BC00D8A81EC}" type="slidenum">
              <a:rPr lang="en-US" smtClean="0">
                <a:latin typeface="Arial" charset="0"/>
              </a:rPr>
              <a:pPr/>
              <a:t>3</a:t>
            </a:fld>
            <a:endParaRPr lang="en-US" smtClean="0">
              <a:latin typeface="Arial" charset="0"/>
            </a:endParaRPr>
          </a:p>
        </p:txBody>
      </p:sp>
      <p:sp>
        <p:nvSpPr>
          <p:cNvPr id="19458" name="Rectangle 17"/>
          <p:cNvSpPr txBox="1">
            <a:spLocks noGrp="1" noChangeArrowheads="1"/>
          </p:cNvSpPr>
          <p:nvPr/>
        </p:nvSpPr>
        <p:spPr bwMode="auto">
          <a:xfrm>
            <a:off x="0" y="6629400"/>
            <a:ext cx="59436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r>
              <a:rPr lang="en-US" sz="800"/>
              <a:t>Copyright ©2012 Pearson Education</a:t>
            </a:r>
          </a:p>
        </p:txBody>
      </p:sp>
      <p:sp>
        <p:nvSpPr>
          <p:cNvPr id="19459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31838"/>
          </a:xfrm>
        </p:spPr>
        <p:txBody>
          <a:bodyPr/>
          <a:lstStyle/>
          <a:p>
            <a:r>
              <a:rPr lang="en-US" smtClean="0"/>
              <a:t>Why Learn Statistics</a:t>
            </a:r>
          </a:p>
        </p:txBody>
      </p:sp>
      <p:sp>
        <p:nvSpPr>
          <p:cNvPr id="19460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000" smtClean="0"/>
              <a:t>Make better sense of the world</a:t>
            </a:r>
          </a:p>
        </p:txBody>
      </p:sp>
      <p:sp>
        <p:nvSpPr>
          <p:cNvPr id="19461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mtClean="0"/>
              <a:t>Internet articles / reports</a:t>
            </a:r>
          </a:p>
          <a:p>
            <a:endParaRPr lang="en-US" smtClean="0"/>
          </a:p>
          <a:p>
            <a:r>
              <a:rPr lang="en-US" smtClean="0"/>
              <a:t>Magazine articles</a:t>
            </a:r>
          </a:p>
          <a:p>
            <a:endParaRPr lang="en-US" smtClean="0"/>
          </a:p>
          <a:p>
            <a:r>
              <a:rPr lang="en-US" smtClean="0"/>
              <a:t>Newspaper articles</a:t>
            </a:r>
          </a:p>
          <a:p>
            <a:endParaRPr lang="en-US" smtClean="0"/>
          </a:p>
          <a:p>
            <a:r>
              <a:rPr lang="en-US" smtClean="0"/>
              <a:t>Television &amp; radio reports</a:t>
            </a:r>
          </a:p>
        </p:txBody>
      </p:sp>
      <p:sp>
        <p:nvSpPr>
          <p:cNvPr id="19462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2000" smtClean="0"/>
              <a:t>Make better business decisions</a:t>
            </a:r>
          </a:p>
        </p:txBody>
      </p:sp>
      <p:sp>
        <p:nvSpPr>
          <p:cNvPr id="19463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smtClean="0"/>
              <a:t>Business memos</a:t>
            </a:r>
          </a:p>
          <a:p>
            <a:endParaRPr lang="en-US" smtClean="0"/>
          </a:p>
          <a:p>
            <a:r>
              <a:rPr lang="en-US" smtClean="0"/>
              <a:t>Business research</a:t>
            </a:r>
          </a:p>
          <a:p>
            <a:endParaRPr lang="en-US" smtClean="0"/>
          </a:p>
          <a:p>
            <a:r>
              <a:rPr lang="en-US" smtClean="0"/>
              <a:t>Technical journals</a:t>
            </a:r>
          </a:p>
          <a:p>
            <a:endParaRPr lang="en-US" smtClean="0"/>
          </a:p>
          <a:p>
            <a:r>
              <a:rPr lang="en-US" smtClean="0"/>
              <a:t>Technical reports</a:t>
            </a:r>
          </a:p>
        </p:txBody>
      </p:sp>
      <p:sp>
        <p:nvSpPr>
          <p:cNvPr id="19464" name="Slide Number Placeholder 7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/>
            <a:r>
              <a:rPr lang="en-US" sz="1000"/>
              <a:t>Chap 1-</a:t>
            </a:r>
            <a:fld id="{5D66462D-79D9-452D-95C5-2594B783A88D}" type="slidenum">
              <a:rPr lang="en-US" sz="1000"/>
              <a:pPr algn="r"/>
              <a:t>3</a:t>
            </a:fld>
            <a:endParaRPr lang="en-US"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/>
          <a:p>
            <a:r>
              <a:rPr lang="en-US"/>
              <a:t>Copyright ©2012 Pearson Education</a:t>
            </a:r>
          </a:p>
        </p:txBody>
      </p:sp>
      <p:sp>
        <p:nvSpPr>
          <p:cNvPr id="20481" name="Rectangle 14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1-</a:t>
            </a:r>
            <a:fld id="{C466685C-CC28-4C79-A9E2-E3CCA3E9D9AE}" type="slidenum">
              <a:rPr lang="en-US" smtClean="0">
                <a:latin typeface="Arial" charset="0"/>
              </a:rPr>
              <a:pPr/>
              <a:t>4</a:t>
            </a:fld>
            <a:endParaRPr lang="en-US" smtClean="0">
              <a:latin typeface="Arial" charset="0"/>
            </a:endParaRPr>
          </a:p>
        </p:txBody>
      </p:sp>
      <p:sp>
        <p:nvSpPr>
          <p:cNvPr id="20482" name="Rectangle 17"/>
          <p:cNvSpPr txBox="1">
            <a:spLocks noGrp="1" noChangeArrowheads="1"/>
          </p:cNvSpPr>
          <p:nvPr/>
        </p:nvSpPr>
        <p:spPr bwMode="auto">
          <a:xfrm>
            <a:off x="0" y="6629400"/>
            <a:ext cx="59436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r>
              <a:rPr lang="en-US" sz="800"/>
              <a:t>Copyright ©2012 Pearson Education</a:t>
            </a:r>
          </a:p>
        </p:txBody>
      </p:sp>
      <p:sp>
        <p:nvSpPr>
          <p:cNvPr id="20483" name="Title 1"/>
          <p:cNvSpPr>
            <a:spLocks noGrp="1"/>
          </p:cNvSpPr>
          <p:nvPr>
            <p:ph type="title"/>
          </p:nvPr>
        </p:nvSpPr>
        <p:spPr>
          <a:xfrm>
            <a:off x="1219200" y="381000"/>
            <a:ext cx="7383463" cy="990600"/>
          </a:xfrm>
        </p:spPr>
        <p:txBody>
          <a:bodyPr/>
          <a:lstStyle/>
          <a:p>
            <a:r>
              <a:rPr lang="en-US" smtClean="0"/>
              <a:t>In Business, Statistics Has Many Important Uses</a:t>
            </a:r>
          </a:p>
        </p:txBody>
      </p:sp>
      <p:sp>
        <p:nvSpPr>
          <p:cNvPr id="2048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To summarize business data</a:t>
            </a:r>
          </a:p>
          <a:p>
            <a:endParaRPr lang="en-US" smtClean="0"/>
          </a:p>
          <a:p>
            <a:r>
              <a:rPr lang="en-US" smtClean="0"/>
              <a:t>To draw conclusions from business data</a:t>
            </a:r>
          </a:p>
          <a:p>
            <a:endParaRPr lang="en-US" smtClean="0"/>
          </a:p>
          <a:p>
            <a:r>
              <a:rPr lang="en-US" smtClean="0"/>
              <a:t>To make reliable forecasts about business activities</a:t>
            </a:r>
          </a:p>
          <a:p>
            <a:endParaRPr lang="en-US" smtClean="0"/>
          </a:p>
          <a:p>
            <a:r>
              <a:rPr lang="en-US" smtClean="0"/>
              <a:t>To improve business processes</a:t>
            </a:r>
          </a:p>
        </p:txBody>
      </p:sp>
      <p:sp>
        <p:nvSpPr>
          <p:cNvPr id="20485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/>
            <a:r>
              <a:rPr lang="en-US" sz="1000"/>
              <a:t>Chap 1-</a:t>
            </a:r>
            <a:fld id="{4D5A7F75-818B-4405-B7FA-B2417377B302}" type="slidenum">
              <a:rPr lang="en-US" sz="1000"/>
              <a:pPr algn="r"/>
              <a:t>4</a:t>
            </a:fld>
            <a:endParaRPr lang="en-US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/>
          <a:p>
            <a:r>
              <a:rPr lang="en-US"/>
              <a:t>Copyright ©2012 Pearson Education</a:t>
            </a:r>
          </a:p>
        </p:txBody>
      </p:sp>
      <p:sp>
        <p:nvSpPr>
          <p:cNvPr id="21505" name="Rectangle 14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1-</a:t>
            </a:r>
            <a:fld id="{F572EAE4-C8DC-4E7D-AEC1-8795BC503BD5}" type="slidenum">
              <a:rPr lang="en-US" smtClean="0">
                <a:latin typeface="Arial" charset="0"/>
              </a:rPr>
              <a:pPr/>
              <a:t>5</a:t>
            </a:fld>
            <a:endParaRPr lang="en-US" smtClean="0">
              <a:latin typeface="Arial" charset="0"/>
            </a:endParaRPr>
          </a:p>
        </p:txBody>
      </p:sp>
      <p:sp>
        <p:nvSpPr>
          <p:cNvPr id="21506" name="Rectangle 17"/>
          <p:cNvSpPr txBox="1">
            <a:spLocks noGrp="1" noChangeArrowheads="1"/>
          </p:cNvSpPr>
          <p:nvPr/>
        </p:nvSpPr>
        <p:spPr bwMode="auto">
          <a:xfrm>
            <a:off x="0" y="6629400"/>
            <a:ext cx="59436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r>
              <a:rPr lang="en-US" sz="800"/>
              <a:t>Copyright ©2012 Pearson Education</a:t>
            </a:r>
          </a:p>
        </p:txBody>
      </p:sp>
      <p:sp>
        <p:nvSpPr>
          <p:cNvPr id="21507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1-</a:t>
            </a:r>
            <a:fld id="{08960ADC-38DA-461B-82CF-A60337D90525}" type="slidenum">
              <a:rPr lang="en-US" sz="1000"/>
              <a:pPr algn="r" defTabSz="852488"/>
              <a:t>5</a:t>
            </a:fld>
            <a:endParaRPr lang="en-US" sz="1000"/>
          </a:p>
        </p:txBody>
      </p:sp>
      <p:sp>
        <p:nvSpPr>
          <p:cNvPr id="21508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381000"/>
            <a:ext cx="7383463" cy="990600"/>
          </a:xfrm>
        </p:spPr>
        <p:txBody>
          <a:bodyPr/>
          <a:lstStyle/>
          <a:p>
            <a:pPr eaLnBrk="1" hangingPunct="1"/>
            <a:r>
              <a:rPr lang="en-US" smtClean="0"/>
              <a:t>Two Different Branches Of Statistics Are Used In Business</a:t>
            </a:r>
          </a:p>
        </p:txBody>
      </p:sp>
      <p:sp>
        <p:nvSpPr>
          <p:cNvPr id="2150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828800"/>
            <a:ext cx="7637463" cy="1343025"/>
          </a:xfrm>
        </p:spPr>
        <p:txBody>
          <a:bodyPr/>
          <a:lstStyle/>
          <a:p>
            <a:pPr algn="ctr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b="1" smtClean="0"/>
              <a:t>Statistics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400" smtClean="0">
                <a:latin typeface="Times New Roman" pitchFamily="18" charset="0"/>
              </a:rPr>
              <a:t>	The branch of mathematics that transforms data into useful information for decision makers. </a:t>
            </a:r>
          </a:p>
        </p:txBody>
      </p:sp>
      <p:sp>
        <p:nvSpPr>
          <p:cNvPr id="21510" name="Rectangle 4"/>
          <p:cNvSpPr>
            <a:spLocks noChangeArrowheads="1"/>
          </p:cNvSpPr>
          <p:nvPr/>
        </p:nvSpPr>
        <p:spPr bwMode="auto">
          <a:xfrm>
            <a:off x="914400" y="3810000"/>
            <a:ext cx="3352800" cy="17668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5000"/>
              <a:buFont typeface="Wingdings" pitchFamily="2" charset="2"/>
              <a:buNone/>
            </a:pPr>
            <a:r>
              <a:rPr lang="en-US" b="1"/>
              <a:t>Descriptive Statistics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5000"/>
              <a:buFont typeface="Wingdings" pitchFamily="2" charset="2"/>
              <a:buNone/>
            </a:pPr>
            <a:endParaRPr lang="en-US"/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5000"/>
              <a:buFont typeface="Wingdings" pitchFamily="2" charset="2"/>
              <a:buNone/>
            </a:pPr>
            <a:r>
              <a:rPr lang="en-US" sz="2000">
                <a:latin typeface="Times New Roman" pitchFamily="18" charset="0"/>
              </a:rPr>
              <a:t>Collecting, summarizing, presenting and analyzing data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5000"/>
              <a:buFont typeface="Wingdings" pitchFamily="2" charset="2"/>
              <a:buNone/>
            </a:pPr>
            <a:endParaRPr lang="en-US" sz="2000">
              <a:latin typeface="Times New Roman" pitchFamily="18" charset="0"/>
            </a:endParaRPr>
          </a:p>
        </p:txBody>
      </p:sp>
      <p:sp>
        <p:nvSpPr>
          <p:cNvPr id="21511" name="Rectangle 5"/>
          <p:cNvSpPr>
            <a:spLocks noChangeArrowheads="1"/>
          </p:cNvSpPr>
          <p:nvPr/>
        </p:nvSpPr>
        <p:spPr bwMode="auto">
          <a:xfrm>
            <a:off x="4953000" y="3810000"/>
            <a:ext cx="3581400" cy="17240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5000"/>
              <a:buFont typeface="Wingdings" pitchFamily="2" charset="2"/>
              <a:buNone/>
            </a:pPr>
            <a:r>
              <a:rPr lang="en-US" b="1"/>
              <a:t>Inferential Statistics</a:t>
            </a:r>
          </a:p>
          <a:p>
            <a:pPr algn="ctr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5000"/>
              <a:buFont typeface="Wingdings" pitchFamily="2" charset="2"/>
              <a:buNone/>
            </a:pPr>
            <a:endParaRPr lang="en-US" b="1"/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5000"/>
              <a:buFont typeface="Wingdings" pitchFamily="2" charset="2"/>
              <a:buNone/>
            </a:pPr>
            <a:r>
              <a:rPr lang="en-US" sz="2000">
                <a:latin typeface="Times New Roman" pitchFamily="18" charset="0"/>
              </a:rPr>
              <a:t>Using data collected from a small group to draw conclusions about a larger group</a:t>
            </a:r>
          </a:p>
        </p:txBody>
      </p:sp>
      <p:sp>
        <p:nvSpPr>
          <p:cNvPr id="21512" name="AutoShape 6"/>
          <p:cNvSpPr>
            <a:spLocks noChangeArrowheads="1"/>
          </p:cNvSpPr>
          <p:nvPr/>
        </p:nvSpPr>
        <p:spPr bwMode="auto">
          <a:xfrm>
            <a:off x="2438400" y="3200400"/>
            <a:ext cx="152400" cy="609600"/>
          </a:xfrm>
          <a:prstGeom prst="downArrow">
            <a:avLst>
              <a:gd name="adj1" fmla="val 50000"/>
              <a:gd name="adj2" fmla="val 10000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GB"/>
          </a:p>
        </p:txBody>
      </p:sp>
      <p:sp>
        <p:nvSpPr>
          <p:cNvPr id="21513" name="AutoShape 7"/>
          <p:cNvSpPr>
            <a:spLocks noChangeArrowheads="1"/>
          </p:cNvSpPr>
          <p:nvPr/>
        </p:nvSpPr>
        <p:spPr bwMode="auto">
          <a:xfrm>
            <a:off x="6553200" y="3200400"/>
            <a:ext cx="152400" cy="609600"/>
          </a:xfrm>
          <a:prstGeom prst="downArrow">
            <a:avLst>
              <a:gd name="adj1" fmla="val 50000"/>
              <a:gd name="adj2" fmla="val 10000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/>
          <a:p>
            <a:r>
              <a:rPr lang="en-US"/>
              <a:t>Copyright ©2012 Pearson Education</a:t>
            </a:r>
          </a:p>
        </p:txBody>
      </p:sp>
      <p:sp>
        <p:nvSpPr>
          <p:cNvPr id="22529" name="Rectangle 14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1-</a:t>
            </a:r>
            <a:fld id="{251546F2-B1DF-45E9-A98C-FFE16B3C7DDB}" type="slidenum">
              <a:rPr lang="en-US" smtClean="0">
                <a:latin typeface="Arial" charset="0"/>
              </a:rPr>
              <a:pPr/>
              <a:t>6</a:t>
            </a:fld>
            <a:endParaRPr lang="en-US" smtClean="0">
              <a:latin typeface="Arial" charset="0"/>
            </a:endParaRPr>
          </a:p>
        </p:txBody>
      </p:sp>
      <p:sp>
        <p:nvSpPr>
          <p:cNvPr id="22530" name="Rectangle 17"/>
          <p:cNvSpPr txBox="1">
            <a:spLocks noGrp="1" noChangeArrowheads="1"/>
          </p:cNvSpPr>
          <p:nvPr/>
        </p:nvSpPr>
        <p:spPr bwMode="auto">
          <a:xfrm>
            <a:off x="0" y="6629400"/>
            <a:ext cx="59436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r>
              <a:rPr lang="en-US" sz="800"/>
              <a:t>Copyright ©2012 Pearson Education</a:t>
            </a:r>
          </a:p>
        </p:txBody>
      </p:sp>
      <p:sp>
        <p:nvSpPr>
          <p:cNvPr id="22531" name="Title 1"/>
          <p:cNvSpPr>
            <a:spLocks noGrp="1"/>
          </p:cNvSpPr>
          <p:nvPr>
            <p:ph type="title"/>
          </p:nvPr>
        </p:nvSpPr>
        <p:spPr>
          <a:xfrm>
            <a:off x="1219200" y="381000"/>
            <a:ext cx="7383463" cy="990600"/>
          </a:xfrm>
        </p:spPr>
        <p:txBody>
          <a:bodyPr/>
          <a:lstStyle/>
          <a:p>
            <a:r>
              <a:rPr lang="en-US" smtClean="0"/>
              <a:t>These Two Branches Are Used In The Important Activities</a:t>
            </a:r>
          </a:p>
        </p:txBody>
      </p:sp>
      <p:sp>
        <p:nvSpPr>
          <p:cNvPr id="22532" name="Content Placeholder 2"/>
          <p:cNvSpPr>
            <a:spLocks noGrp="1"/>
          </p:cNvSpPr>
          <p:nvPr>
            <p:ph idx="1"/>
          </p:nvPr>
        </p:nvSpPr>
        <p:spPr>
          <a:xfrm>
            <a:off x="609600" y="1524000"/>
            <a:ext cx="8077200" cy="4532313"/>
          </a:xfrm>
        </p:spPr>
        <p:txBody>
          <a:bodyPr/>
          <a:lstStyle/>
          <a:p>
            <a:r>
              <a:rPr lang="en-US" smtClean="0"/>
              <a:t>To summarize business data</a:t>
            </a:r>
          </a:p>
          <a:p>
            <a:pPr lvl="1"/>
            <a:r>
              <a:rPr lang="en-US" smtClean="0">
                <a:solidFill>
                  <a:srgbClr val="0070C0"/>
                </a:solidFill>
              </a:rPr>
              <a:t>Descriptive methods used to create charts &amp; tables</a:t>
            </a:r>
          </a:p>
          <a:p>
            <a:r>
              <a:rPr lang="en-US" smtClean="0"/>
              <a:t>To draw conclusions from business data</a:t>
            </a:r>
          </a:p>
          <a:p>
            <a:pPr lvl="1"/>
            <a:r>
              <a:rPr lang="en-US" smtClean="0">
                <a:solidFill>
                  <a:srgbClr val="0070C0"/>
                </a:solidFill>
              </a:rPr>
              <a:t>Inferential methods used to reach conclusions about a large group based on data from a smaller group</a:t>
            </a:r>
          </a:p>
          <a:p>
            <a:r>
              <a:rPr lang="en-US" smtClean="0"/>
              <a:t>To make reliable forecasts about business activities</a:t>
            </a:r>
          </a:p>
          <a:p>
            <a:pPr lvl="1"/>
            <a:r>
              <a:rPr lang="en-US" smtClean="0">
                <a:solidFill>
                  <a:srgbClr val="0070C0"/>
                </a:solidFill>
              </a:rPr>
              <a:t>Inferential methods used to develop, quantify, and improve the accuracy of predictive models</a:t>
            </a:r>
          </a:p>
          <a:p>
            <a:r>
              <a:rPr lang="en-US" smtClean="0"/>
              <a:t>To improve business processes</a:t>
            </a:r>
          </a:p>
          <a:p>
            <a:pPr lvl="1"/>
            <a:r>
              <a:rPr lang="en-US" smtClean="0">
                <a:solidFill>
                  <a:srgbClr val="0070C0"/>
                </a:solidFill>
              </a:rPr>
              <a:t>Involves managerial approaches like Six Sigma</a:t>
            </a:r>
          </a:p>
        </p:txBody>
      </p:sp>
      <p:sp>
        <p:nvSpPr>
          <p:cNvPr id="22533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/>
            <a:r>
              <a:rPr lang="en-US" sz="1000"/>
              <a:t>Chap 1-</a:t>
            </a:r>
            <a:fld id="{98667D11-294E-43EA-9A4C-3DB88D6BC766}" type="slidenum">
              <a:rPr lang="en-US" sz="1000"/>
              <a:pPr algn="r"/>
              <a:t>6</a:t>
            </a:fld>
            <a:endParaRPr lang="en-US"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1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/>
          <a:p>
            <a:r>
              <a:rPr lang="en-US"/>
              <a:t>Copyright ©2012 Pearson Education</a:t>
            </a:r>
          </a:p>
        </p:txBody>
      </p:sp>
      <p:sp>
        <p:nvSpPr>
          <p:cNvPr id="1028" name="Rectangle 14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1-</a:t>
            </a:r>
            <a:fld id="{404DF07E-572F-4ADE-A028-688D0F576257}" type="slidenum">
              <a:rPr lang="en-US" smtClean="0">
                <a:latin typeface="Arial" charset="0"/>
              </a:rPr>
              <a:pPr/>
              <a:t>7</a:t>
            </a:fld>
            <a:endParaRPr lang="en-US" smtClean="0">
              <a:latin typeface="Arial" charset="0"/>
            </a:endParaRPr>
          </a:p>
        </p:txBody>
      </p:sp>
      <p:sp>
        <p:nvSpPr>
          <p:cNvPr id="1029" name="Rectangle 17"/>
          <p:cNvSpPr txBox="1">
            <a:spLocks noGrp="1" noChangeArrowheads="1"/>
          </p:cNvSpPr>
          <p:nvPr/>
        </p:nvSpPr>
        <p:spPr bwMode="auto">
          <a:xfrm>
            <a:off x="0" y="6629400"/>
            <a:ext cx="59436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r>
              <a:rPr lang="en-US" sz="800"/>
              <a:t>Copyright ©2012 Pearson Education</a:t>
            </a:r>
          </a:p>
        </p:txBody>
      </p:sp>
      <p:sp>
        <p:nvSpPr>
          <p:cNvPr id="1030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1-</a:t>
            </a:r>
            <a:fld id="{58E5C797-9DE5-48F8-BD91-2A54A757BFDC}" type="slidenum">
              <a:rPr lang="en-US" sz="1000"/>
              <a:pPr algn="r" defTabSz="852488"/>
              <a:t>7</a:t>
            </a:fld>
            <a:endParaRPr lang="en-US" sz="1000"/>
          </a:p>
        </p:txBody>
      </p:sp>
      <p:sp>
        <p:nvSpPr>
          <p:cNvPr id="1031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304800"/>
            <a:ext cx="6923088" cy="858838"/>
          </a:xfrm>
        </p:spPr>
        <p:txBody>
          <a:bodyPr/>
          <a:lstStyle/>
          <a:p>
            <a:pPr eaLnBrk="1" hangingPunct="1"/>
            <a:r>
              <a:rPr lang="en-US" smtClean="0"/>
              <a:t>Descriptive Statistics</a:t>
            </a:r>
          </a:p>
        </p:txBody>
      </p:sp>
      <p:sp>
        <p:nvSpPr>
          <p:cNvPr id="103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en-US" sz="3200" smtClean="0"/>
              <a:t>Collect data</a:t>
            </a:r>
          </a:p>
          <a:p>
            <a:pPr lvl="1" eaLnBrk="1" hangingPunct="1">
              <a:lnSpc>
                <a:spcPct val="130000"/>
              </a:lnSpc>
            </a:pPr>
            <a:r>
              <a:rPr lang="en-US" sz="2700" smtClean="0"/>
              <a:t>e.g., Survey</a:t>
            </a:r>
          </a:p>
          <a:p>
            <a:pPr eaLnBrk="1" hangingPunct="1">
              <a:lnSpc>
                <a:spcPct val="130000"/>
              </a:lnSpc>
            </a:pPr>
            <a:r>
              <a:rPr lang="en-US" sz="3200" smtClean="0"/>
              <a:t>Present data</a:t>
            </a:r>
          </a:p>
          <a:p>
            <a:pPr lvl="1" eaLnBrk="1" hangingPunct="1">
              <a:lnSpc>
                <a:spcPct val="130000"/>
              </a:lnSpc>
            </a:pPr>
            <a:r>
              <a:rPr lang="en-US" sz="2700" smtClean="0"/>
              <a:t>e.g., Tables and graphs</a:t>
            </a:r>
          </a:p>
          <a:p>
            <a:pPr eaLnBrk="1" hangingPunct="1">
              <a:lnSpc>
                <a:spcPct val="130000"/>
              </a:lnSpc>
            </a:pPr>
            <a:r>
              <a:rPr lang="en-US" sz="3200" smtClean="0"/>
              <a:t>Characterize data</a:t>
            </a:r>
          </a:p>
          <a:p>
            <a:pPr lvl="1" eaLnBrk="1" hangingPunct="1">
              <a:lnSpc>
                <a:spcPct val="130000"/>
              </a:lnSpc>
            </a:pPr>
            <a:r>
              <a:rPr lang="en-US" sz="2700" smtClean="0"/>
              <a:t>e.g., The sample mean</a:t>
            </a:r>
            <a:r>
              <a:rPr lang="en-US" sz="2800" smtClean="0"/>
              <a:t> </a:t>
            </a:r>
          </a:p>
        </p:txBody>
      </p:sp>
      <p:graphicFrame>
        <p:nvGraphicFramePr>
          <p:cNvPr id="1027" name="Object 6">
            <a:hlinkClick r:id="" action="ppaction://ole?verb=0"/>
          </p:cNvPr>
          <p:cNvGraphicFramePr>
            <a:graphicFrameLocks/>
          </p:cNvGraphicFramePr>
          <p:nvPr/>
        </p:nvGraphicFramePr>
        <p:xfrm>
          <a:off x="5334000" y="3906838"/>
          <a:ext cx="1803400" cy="1274762"/>
        </p:xfrm>
        <a:graphic>
          <a:graphicData uri="http://schemas.openxmlformats.org/presentationml/2006/ole">
            <p:oleObj spid="_x0000_s1027" name="Clip" r:id="rId3" imgW="1801800" imgH="1272960" progId="">
              <p:embed/>
            </p:oleObj>
          </a:graphicData>
        </a:graphic>
      </p:graphicFrame>
      <p:sp>
        <p:nvSpPr>
          <p:cNvPr id="1033" name="Line 7"/>
          <p:cNvSpPr>
            <a:spLocks noChangeShapeType="1"/>
          </p:cNvSpPr>
          <p:nvPr/>
        </p:nvSpPr>
        <p:spPr bwMode="auto">
          <a:xfrm>
            <a:off x="6705600" y="3678238"/>
            <a:ext cx="1588" cy="990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1034" name="Line 8"/>
          <p:cNvSpPr>
            <a:spLocks noChangeShapeType="1"/>
          </p:cNvSpPr>
          <p:nvPr/>
        </p:nvSpPr>
        <p:spPr bwMode="auto">
          <a:xfrm>
            <a:off x="6705600" y="4668838"/>
            <a:ext cx="1600200" cy="1587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1035" name="Rectangle 9"/>
          <p:cNvSpPr>
            <a:spLocks noChangeArrowheads="1"/>
          </p:cNvSpPr>
          <p:nvPr/>
        </p:nvSpPr>
        <p:spPr bwMode="auto">
          <a:xfrm>
            <a:off x="6934200" y="4211638"/>
            <a:ext cx="1524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GB"/>
          </a:p>
        </p:txBody>
      </p:sp>
      <p:sp>
        <p:nvSpPr>
          <p:cNvPr id="1036" name="Rectangle 10"/>
          <p:cNvSpPr>
            <a:spLocks noChangeArrowheads="1"/>
          </p:cNvSpPr>
          <p:nvPr/>
        </p:nvSpPr>
        <p:spPr bwMode="auto">
          <a:xfrm>
            <a:off x="7086600" y="4287838"/>
            <a:ext cx="152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GB"/>
          </a:p>
        </p:txBody>
      </p:sp>
      <p:sp>
        <p:nvSpPr>
          <p:cNvPr id="1037" name="Rectangle 11"/>
          <p:cNvSpPr>
            <a:spLocks noChangeArrowheads="1"/>
          </p:cNvSpPr>
          <p:nvPr/>
        </p:nvSpPr>
        <p:spPr bwMode="auto">
          <a:xfrm>
            <a:off x="7239000" y="3983038"/>
            <a:ext cx="152400" cy="685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GB"/>
          </a:p>
        </p:txBody>
      </p:sp>
      <p:sp>
        <p:nvSpPr>
          <p:cNvPr id="1038" name="Rectangle 12"/>
          <p:cNvSpPr>
            <a:spLocks noChangeArrowheads="1"/>
          </p:cNvSpPr>
          <p:nvPr/>
        </p:nvSpPr>
        <p:spPr bwMode="auto">
          <a:xfrm>
            <a:off x="7391400" y="4059238"/>
            <a:ext cx="152400" cy="609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GB"/>
          </a:p>
        </p:txBody>
      </p:sp>
      <p:sp>
        <p:nvSpPr>
          <p:cNvPr id="1039" name="Rectangle 13"/>
          <p:cNvSpPr>
            <a:spLocks noChangeArrowheads="1"/>
          </p:cNvSpPr>
          <p:nvPr/>
        </p:nvSpPr>
        <p:spPr bwMode="auto">
          <a:xfrm>
            <a:off x="7543800" y="4211638"/>
            <a:ext cx="1524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GB"/>
          </a:p>
        </p:txBody>
      </p:sp>
      <p:sp>
        <p:nvSpPr>
          <p:cNvPr id="1040" name="Rectangle 14"/>
          <p:cNvSpPr>
            <a:spLocks noChangeArrowheads="1"/>
          </p:cNvSpPr>
          <p:nvPr/>
        </p:nvSpPr>
        <p:spPr bwMode="auto">
          <a:xfrm>
            <a:off x="7696200" y="4440238"/>
            <a:ext cx="152400" cy="228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GB"/>
          </a:p>
        </p:txBody>
      </p:sp>
      <p:sp>
        <p:nvSpPr>
          <p:cNvPr id="1041" name="Rectangle 15"/>
          <p:cNvSpPr>
            <a:spLocks noChangeArrowheads="1"/>
          </p:cNvSpPr>
          <p:nvPr/>
        </p:nvSpPr>
        <p:spPr bwMode="auto">
          <a:xfrm>
            <a:off x="6781800" y="4440238"/>
            <a:ext cx="152400" cy="228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GB"/>
          </a:p>
        </p:txBody>
      </p:sp>
      <p:sp>
        <p:nvSpPr>
          <p:cNvPr id="1042" name="Rectangle 16"/>
          <p:cNvSpPr>
            <a:spLocks noChangeArrowheads="1"/>
          </p:cNvSpPr>
          <p:nvPr/>
        </p:nvSpPr>
        <p:spPr bwMode="auto">
          <a:xfrm>
            <a:off x="7848600" y="4516438"/>
            <a:ext cx="152400" cy="152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GB"/>
          </a:p>
        </p:txBody>
      </p:sp>
      <p:pic>
        <p:nvPicPr>
          <p:cNvPr id="1043" name="Picture 17" descr="j0283537"/>
          <p:cNvPicPr>
            <a:picLocks noChangeAspect="1" noChangeArrowheads="1" noCrop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810000" y="2209800"/>
            <a:ext cx="990600" cy="962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44" name="Picture 20" descr="check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343400" y="2743200"/>
            <a:ext cx="142875" cy="142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45" name="Picture 21" descr="check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419600" y="2895600"/>
            <a:ext cx="142875" cy="142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46" name="Picture 22" descr="check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267200" y="2590800"/>
            <a:ext cx="142875" cy="142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/>
          <a:p>
            <a:r>
              <a:rPr lang="en-US"/>
              <a:t>Copyright ©2012 Pearson Education</a:t>
            </a:r>
          </a:p>
        </p:txBody>
      </p:sp>
      <p:sp>
        <p:nvSpPr>
          <p:cNvPr id="25601" name="Rectangle 14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1-</a:t>
            </a:r>
            <a:fld id="{33657331-9AB2-4441-97CD-5CF89C24DC36}" type="slidenum">
              <a:rPr lang="en-US" smtClean="0">
                <a:latin typeface="Arial" charset="0"/>
              </a:rPr>
              <a:pPr/>
              <a:t>8</a:t>
            </a:fld>
            <a:endParaRPr lang="en-US" smtClean="0">
              <a:latin typeface="Arial" charset="0"/>
            </a:endParaRPr>
          </a:p>
        </p:txBody>
      </p:sp>
      <p:sp>
        <p:nvSpPr>
          <p:cNvPr id="25602" name="Rectangle 17"/>
          <p:cNvSpPr txBox="1">
            <a:spLocks noGrp="1" noChangeArrowheads="1"/>
          </p:cNvSpPr>
          <p:nvPr/>
        </p:nvSpPr>
        <p:spPr bwMode="auto">
          <a:xfrm>
            <a:off x="0" y="6629400"/>
            <a:ext cx="59436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r>
              <a:rPr lang="en-US" sz="800"/>
              <a:t>Copyright ©2012 Pearson Education</a:t>
            </a:r>
          </a:p>
        </p:txBody>
      </p:sp>
      <p:sp>
        <p:nvSpPr>
          <p:cNvPr id="25603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1-</a:t>
            </a:r>
            <a:fld id="{45FB6F55-5399-4352-81EB-DFA3529FE74C}" type="slidenum">
              <a:rPr lang="en-US" sz="1000"/>
              <a:pPr algn="r" defTabSz="852488"/>
              <a:t>8</a:t>
            </a:fld>
            <a:endParaRPr lang="en-US" sz="1000"/>
          </a:p>
        </p:txBody>
      </p:sp>
      <p:sp>
        <p:nvSpPr>
          <p:cNvPr id="25604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457200"/>
            <a:ext cx="6934200" cy="762000"/>
          </a:xfrm>
        </p:spPr>
        <p:txBody>
          <a:bodyPr/>
          <a:lstStyle/>
          <a:p>
            <a:pPr eaLnBrk="1" hangingPunct="1"/>
            <a:r>
              <a:rPr lang="en-US" smtClean="0"/>
              <a:t>Inferential Statistics</a:t>
            </a:r>
          </a:p>
        </p:txBody>
      </p:sp>
      <p:sp>
        <p:nvSpPr>
          <p:cNvPr id="2560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676400"/>
            <a:ext cx="5029200" cy="4532313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en-US" sz="2400" smtClean="0"/>
              <a:t>Estimation</a:t>
            </a:r>
          </a:p>
          <a:p>
            <a:pPr lvl="1" eaLnBrk="1" hangingPunct="1">
              <a:lnSpc>
                <a:spcPct val="110000"/>
              </a:lnSpc>
            </a:pPr>
            <a:r>
              <a:rPr lang="en-US" sz="2300" smtClean="0"/>
              <a:t>e.g., Estimate the population mean weight using the sample mean weight</a:t>
            </a:r>
          </a:p>
          <a:p>
            <a:pPr eaLnBrk="1" hangingPunct="1">
              <a:lnSpc>
                <a:spcPct val="110000"/>
              </a:lnSpc>
            </a:pPr>
            <a:r>
              <a:rPr lang="en-US" sz="2400" smtClean="0"/>
              <a:t>Hypothesis testing</a:t>
            </a:r>
          </a:p>
          <a:p>
            <a:pPr lvl="1" eaLnBrk="1" hangingPunct="1">
              <a:lnSpc>
                <a:spcPct val="110000"/>
              </a:lnSpc>
            </a:pPr>
            <a:r>
              <a:rPr lang="en-US" sz="2300" smtClean="0"/>
              <a:t>e.g., Test the claim that the population mean weight is 120 pounds</a:t>
            </a:r>
          </a:p>
        </p:txBody>
      </p:sp>
      <p:sp>
        <p:nvSpPr>
          <p:cNvPr id="25606" name="Rectangle 4"/>
          <p:cNvSpPr>
            <a:spLocks noChangeArrowheads="1"/>
          </p:cNvSpPr>
          <p:nvPr/>
        </p:nvSpPr>
        <p:spPr bwMode="auto">
          <a:xfrm>
            <a:off x="990600" y="5553075"/>
            <a:ext cx="7772400" cy="685800"/>
          </a:xfrm>
          <a:prstGeom prst="rect">
            <a:avLst/>
          </a:prstGeom>
          <a:solidFill>
            <a:srgbClr val="CBDDF7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ctr"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b="1">
                <a:solidFill>
                  <a:schemeClr val="tx2"/>
                </a:solidFill>
              </a:rPr>
              <a:t>Drawing conclusions about a large group of individuals based on a smaller group.</a:t>
            </a:r>
          </a:p>
        </p:txBody>
      </p:sp>
      <p:pic>
        <p:nvPicPr>
          <p:cNvPr id="25607" name="Picture 5"/>
          <p:cNvPicPr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10200" y="1905000"/>
            <a:ext cx="3124200" cy="3048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/>
          <a:p>
            <a:r>
              <a:rPr lang="en-US"/>
              <a:t>Copyright ©2012 Pearson Education</a:t>
            </a:r>
          </a:p>
        </p:txBody>
      </p:sp>
      <p:sp>
        <p:nvSpPr>
          <p:cNvPr id="26625" name="Rectangle 14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1-</a:t>
            </a:r>
            <a:fld id="{902578BA-24C8-460B-A512-88FCB607365E}" type="slidenum">
              <a:rPr lang="en-US" smtClean="0">
                <a:latin typeface="Arial" charset="0"/>
              </a:rPr>
              <a:pPr/>
              <a:t>9</a:t>
            </a:fld>
            <a:endParaRPr lang="en-US" smtClean="0">
              <a:latin typeface="Arial" charset="0"/>
            </a:endParaRPr>
          </a:p>
        </p:txBody>
      </p:sp>
      <p:sp>
        <p:nvSpPr>
          <p:cNvPr id="26626" name="Rectangle 17"/>
          <p:cNvSpPr txBox="1">
            <a:spLocks noGrp="1" noChangeArrowheads="1"/>
          </p:cNvSpPr>
          <p:nvPr/>
        </p:nvSpPr>
        <p:spPr bwMode="auto">
          <a:xfrm>
            <a:off x="0" y="6629400"/>
            <a:ext cx="59436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r>
              <a:rPr lang="en-US" sz="800"/>
              <a:t>Copyright ©2012 Pearson Education</a:t>
            </a:r>
          </a:p>
        </p:txBody>
      </p:sp>
      <p:sp>
        <p:nvSpPr>
          <p:cNvPr id="26627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1-</a:t>
            </a:r>
            <a:fld id="{4BB54FE6-FE10-4AC9-80FE-F5C95D1E0AAA}" type="slidenum">
              <a:rPr lang="en-US" sz="1000"/>
              <a:pPr algn="r" defTabSz="852488"/>
              <a:t>9</a:t>
            </a:fld>
            <a:endParaRPr lang="en-US" sz="1000"/>
          </a:p>
        </p:txBody>
      </p:sp>
      <p:sp>
        <p:nvSpPr>
          <p:cNvPr id="2662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Basic Vocabulary of Statistics</a:t>
            </a:r>
          </a:p>
        </p:txBody>
      </p:sp>
      <p:graphicFrame>
        <p:nvGraphicFramePr>
          <p:cNvPr id="140297" name="Group 9"/>
          <p:cNvGraphicFramePr>
            <a:graphicFrameLocks noGrp="1"/>
          </p:cNvGraphicFramePr>
          <p:nvPr>
            <p:ph idx="1"/>
          </p:nvPr>
        </p:nvGraphicFramePr>
        <p:xfrm>
          <a:off x="609600" y="1828800"/>
          <a:ext cx="8077200" cy="3733800"/>
        </p:xfrm>
        <a:graphic>
          <a:graphicData uri="http://schemas.openxmlformats.org/drawingml/2006/table">
            <a:tbl>
              <a:tblPr/>
              <a:tblGrid>
                <a:gridCol w="8077200"/>
              </a:tblGrid>
              <a:tr h="3733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53A6"/>
                          </a:solidFill>
                          <a:effectLst/>
                          <a:latin typeface="Arial" pitchFamily="34" charset="0"/>
                        </a:rPr>
                        <a:t>VARIABLES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Variables 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are characteristics of an item or individual and are what you analyze when you use a statistical method.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53A6"/>
                          </a:solidFill>
                          <a:effectLst/>
                          <a:latin typeface="Arial" pitchFamily="34" charset="0"/>
                        </a:rPr>
                        <a:t>DATA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Data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 are the different values associated with a variable.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53A6"/>
                          </a:solidFill>
                          <a:effectLst/>
                          <a:latin typeface="Arial" pitchFamily="34" charset="0"/>
                        </a:rPr>
                        <a:t>OPERATIONAL DEFINITIONS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Data values are meaningless unless their variables have </a:t>
                      </a: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operational definitions, 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universally accepted meanings that are clear to all associated with an analysis.</a:t>
                      </a: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 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/>
          <a:p>
            <a:r>
              <a:rPr lang="en-US"/>
              <a:t>Copyright ©2012 Pearson Education</a:t>
            </a:r>
          </a:p>
        </p:txBody>
      </p:sp>
      <p:sp>
        <p:nvSpPr>
          <p:cNvPr id="27649" name="Rectangle 14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1-</a:t>
            </a:r>
            <a:fld id="{60F6A553-FBBA-43C5-B0F0-E28F61C58EE9}" type="slidenum">
              <a:rPr lang="en-US" smtClean="0">
                <a:latin typeface="Arial" charset="0"/>
              </a:rPr>
              <a:pPr/>
              <a:t>10</a:t>
            </a:fld>
            <a:endParaRPr lang="en-US" smtClean="0">
              <a:latin typeface="Arial" charset="0"/>
            </a:endParaRPr>
          </a:p>
        </p:txBody>
      </p:sp>
      <p:sp>
        <p:nvSpPr>
          <p:cNvPr id="27650" name="Rectangle 17"/>
          <p:cNvSpPr txBox="1">
            <a:spLocks noGrp="1" noChangeArrowheads="1"/>
          </p:cNvSpPr>
          <p:nvPr/>
        </p:nvSpPr>
        <p:spPr bwMode="auto">
          <a:xfrm>
            <a:off x="0" y="6629400"/>
            <a:ext cx="59436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r>
              <a:rPr lang="en-US" sz="800"/>
              <a:t>Copyright ©2012 Pearson Education</a:t>
            </a:r>
          </a:p>
        </p:txBody>
      </p:sp>
      <p:sp>
        <p:nvSpPr>
          <p:cNvPr id="27651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1-</a:t>
            </a:r>
            <a:fld id="{CEAC3144-19D4-4C9C-8682-A893B2F019A1}" type="slidenum">
              <a:rPr lang="en-US" sz="1000"/>
              <a:pPr algn="r" defTabSz="852488"/>
              <a:t>10</a:t>
            </a:fld>
            <a:endParaRPr lang="en-US" sz="1000"/>
          </a:p>
        </p:txBody>
      </p:sp>
      <p:sp>
        <p:nvSpPr>
          <p:cNvPr id="2765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Basic Vocabulary of Statistics</a:t>
            </a:r>
          </a:p>
        </p:txBody>
      </p:sp>
      <p:graphicFrame>
        <p:nvGraphicFramePr>
          <p:cNvPr id="141315" name="Group 3"/>
          <p:cNvGraphicFramePr>
            <a:graphicFrameLocks noGrp="1"/>
          </p:cNvGraphicFramePr>
          <p:nvPr>
            <p:ph idx="1"/>
          </p:nvPr>
        </p:nvGraphicFramePr>
        <p:xfrm>
          <a:off x="1219200" y="1600200"/>
          <a:ext cx="7010400" cy="4968875"/>
        </p:xfrm>
        <a:graphic>
          <a:graphicData uri="http://schemas.openxmlformats.org/drawingml/2006/table">
            <a:tbl>
              <a:tblPr/>
              <a:tblGrid>
                <a:gridCol w="7010400"/>
              </a:tblGrid>
              <a:tr h="411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53A6"/>
                          </a:solidFill>
                          <a:effectLst/>
                          <a:latin typeface="Arial" pitchFamily="34" charset="0"/>
                        </a:rPr>
                        <a:t>POPULATION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A </a:t>
                      </a: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population 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consists of all the items or individuals about which you want to draw a conclusion.  The population is the “large group.”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53A6"/>
                          </a:solidFill>
                          <a:effectLst/>
                          <a:latin typeface="Arial" pitchFamily="34" charset="0"/>
                        </a:rPr>
                        <a:t>SAMPLE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A </a:t>
                      </a: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sample 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is the portion of a population selected for analysis.  The sample is the “small group.”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53A6"/>
                          </a:solidFill>
                          <a:effectLst/>
                          <a:latin typeface="Arial" pitchFamily="34" charset="0"/>
                        </a:rPr>
                        <a:t>PARAMETER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A </a:t>
                      </a: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parameter 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is a numerical measure that describes a characteristic of a population.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53A6"/>
                          </a:solidFill>
                          <a:effectLst/>
                          <a:latin typeface="Arial" pitchFamily="34" charset="0"/>
                        </a:rPr>
                        <a:t>STATISTIC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A </a:t>
                      </a: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statistic 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is a numerical measure that describes a characteristic of a sample.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/>
          <a:p>
            <a:r>
              <a:rPr lang="en-US"/>
              <a:t>Copyright ©2012 Pearson Education</a:t>
            </a:r>
          </a:p>
        </p:txBody>
      </p:sp>
      <p:sp>
        <p:nvSpPr>
          <p:cNvPr id="28673" name="Rectangle 14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1-</a:t>
            </a:r>
            <a:fld id="{467DD936-4EAC-4C6D-B94E-F61390738829}" type="slidenum">
              <a:rPr lang="en-US" smtClean="0">
                <a:latin typeface="Arial" charset="0"/>
              </a:rPr>
              <a:pPr/>
              <a:t>11</a:t>
            </a:fld>
            <a:endParaRPr lang="en-US" smtClean="0">
              <a:latin typeface="Arial" charset="0"/>
            </a:endParaRPr>
          </a:p>
        </p:txBody>
      </p:sp>
      <p:sp>
        <p:nvSpPr>
          <p:cNvPr id="28674" name="Rectangle 17"/>
          <p:cNvSpPr txBox="1">
            <a:spLocks noGrp="1" noChangeArrowheads="1"/>
          </p:cNvSpPr>
          <p:nvPr/>
        </p:nvSpPr>
        <p:spPr bwMode="auto">
          <a:xfrm>
            <a:off x="0" y="6629400"/>
            <a:ext cx="59436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r>
              <a:rPr lang="en-US" sz="800"/>
              <a:t>Copyright ©2012 Pearson Education</a:t>
            </a:r>
          </a:p>
        </p:txBody>
      </p:sp>
      <p:sp>
        <p:nvSpPr>
          <p:cNvPr id="28675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1-</a:t>
            </a:r>
            <a:fld id="{4F0193EB-08AD-4225-89CD-466F998EDC99}" type="slidenum">
              <a:rPr lang="en-US" sz="1000"/>
              <a:pPr algn="r" defTabSz="852488"/>
              <a:t>11</a:t>
            </a:fld>
            <a:endParaRPr lang="en-US" sz="1000"/>
          </a:p>
        </p:txBody>
      </p:sp>
      <p:sp>
        <p:nvSpPr>
          <p:cNvPr id="2867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solidFill>
                  <a:schemeClr val="tx1"/>
                </a:solidFill>
              </a:rPr>
              <a:t>Population vs. Sample</a:t>
            </a:r>
          </a:p>
        </p:txBody>
      </p:sp>
      <p:sp>
        <p:nvSpPr>
          <p:cNvPr id="28677" name="Oval 3"/>
          <p:cNvSpPr>
            <a:spLocks noChangeArrowheads="1"/>
          </p:cNvSpPr>
          <p:nvPr/>
        </p:nvSpPr>
        <p:spPr bwMode="auto">
          <a:xfrm>
            <a:off x="762000" y="2438400"/>
            <a:ext cx="3810000" cy="2819400"/>
          </a:xfrm>
          <a:prstGeom prst="ellipse">
            <a:avLst/>
          </a:prstGeom>
          <a:noFill/>
          <a:ln w="317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GB"/>
          </a:p>
        </p:txBody>
      </p:sp>
      <p:sp>
        <p:nvSpPr>
          <p:cNvPr id="28678" name="Oval 4"/>
          <p:cNvSpPr>
            <a:spLocks noChangeArrowheads="1"/>
          </p:cNvSpPr>
          <p:nvPr/>
        </p:nvSpPr>
        <p:spPr bwMode="auto">
          <a:xfrm>
            <a:off x="4724400" y="2362200"/>
            <a:ext cx="3810000" cy="2895600"/>
          </a:xfrm>
          <a:prstGeom prst="ellipse">
            <a:avLst/>
          </a:prstGeom>
          <a:noFill/>
          <a:ln w="31750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GB"/>
          </a:p>
        </p:txBody>
      </p:sp>
      <p:sp>
        <p:nvSpPr>
          <p:cNvPr id="28679" name="Text Box 5"/>
          <p:cNvSpPr txBox="1">
            <a:spLocks noChangeArrowheads="1"/>
          </p:cNvSpPr>
          <p:nvPr/>
        </p:nvSpPr>
        <p:spPr bwMode="auto">
          <a:xfrm>
            <a:off x="1905000" y="1905000"/>
            <a:ext cx="22098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 b="1">
                <a:latin typeface="Times New Roman" pitchFamily="18" charset="0"/>
              </a:rPr>
              <a:t>Population</a:t>
            </a:r>
          </a:p>
        </p:txBody>
      </p:sp>
      <p:sp>
        <p:nvSpPr>
          <p:cNvPr id="28680" name="Text Box 6"/>
          <p:cNvSpPr txBox="1">
            <a:spLocks noChangeArrowheads="1"/>
          </p:cNvSpPr>
          <p:nvPr/>
        </p:nvSpPr>
        <p:spPr bwMode="auto">
          <a:xfrm>
            <a:off x="6096000" y="1905000"/>
            <a:ext cx="19812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 b="1">
                <a:solidFill>
                  <a:schemeClr val="bg2"/>
                </a:solidFill>
                <a:latin typeface="Times New Roman" pitchFamily="18" charset="0"/>
              </a:rPr>
              <a:t>Sample</a:t>
            </a:r>
          </a:p>
        </p:txBody>
      </p:sp>
      <p:sp>
        <p:nvSpPr>
          <p:cNvPr id="28681" name="Text Box 7"/>
          <p:cNvSpPr txBox="1">
            <a:spLocks noChangeArrowheads="1"/>
          </p:cNvSpPr>
          <p:nvPr/>
        </p:nvSpPr>
        <p:spPr bwMode="auto">
          <a:xfrm>
            <a:off x="914400" y="5410200"/>
            <a:ext cx="37338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>
                <a:latin typeface="Times New Roman" pitchFamily="18" charset="0"/>
              </a:rPr>
              <a:t>Measures used to describe the population are called </a:t>
            </a:r>
            <a:r>
              <a:rPr lang="en-US" sz="2000" b="1">
                <a:latin typeface="Times New Roman" pitchFamily="18" charset="0"/>
              </a:rPr>
              <a:t>parameters</a:t>
            </a:r>
          </a:p>
        </p:txBody>
      </p:sp>
      <p:sp>
        <p:nvSpPr>
          <p:cNvPr id="28682" name="Text Box 8"/>
          <p:cNvSpPr txBox="1">
            <a:spLocks noChangeArrowheads="1"/>
          </p:cNvSpPr>
          <p:nvPr/>
        </p:nvSpPr>
        <p:spPr bwMode="auto">
          <a:xfrm>
            <a:off x="5334000" y="5410200"/>
            <a:ext cx="3505200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>
                <a:latin typeface="Times New Roman" pitchFamily="18" charset="0"/>
              </a:rPr>
              <a:t>Measures used to describe the sample are called </a:t>
            </a:r>
            <a:r>
              <a:rPr lang="en-US" sz="2000" b="1">
                <a:latin typeface="Times New Roman" pitchFamily="18" charset="0"/>
              </a:rPr>
              <a:t>statistics</a:t>
            </a:r>
          </a:p>
        </p:txBody>
      </p:sp>
      <p:pic>
        <p:nvPicPr>
          <p:cNvPr id="28683" name="Picture 9"/>
          <p:cNvPicPr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00200" y="2819400"/>
            <a:ext cx="2590800" cy="2438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28684" name="Picture 10"/>
          <p:cNvPicPr>
            <a:picLocks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486400" y="2743200"/>
            <a:ext cx="2590800" cy="2438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/>
          <a:p>
            <a:r>
              <a:rPr lang="en-US"/>
              <a:t>Copyright ©2012 Pearson Education</a:t>
            </a:r>
          </a:p>
        </p:txBody>
      </p:sp>
      <p:sp>
        <p:nvSpPr>
          <p:cNvPr id="29697" name="Rectangle 14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1-</a:t>
            </a:r>
            <a:fld id="{7835AEFF-2BDD-4434-9E04-FCD6EACB1AC5}" type="slidenum">
              <a:rPr lang="en-US" smtClean="0">
                <a:latin typeface="Arial" charset="0"/>
              </a:rPr>
              <a:pPr/>
              <a:t>12</a:t>
            </a:fld>
            <a:endParaRPr lang="en-US" smtClean="0">
              <a:latin typeface="Arial" charset="0"/>
            </a:endParaRPr>
          </a:p>
        </p:txBody>
      </p:sp>
      <p:sp>
        <p:nvSpPr>
          <p:cNvPr id="29698" name="Rectangle 17"/>
          <p:cNvSpPr txBox="1">
            <a:spLocks noGrp="1" noChangeArrowheads="1"/>
          </p:cNvSpPr>
          <p:nvPr/>
        </p:nvSpPr>
        <p:spPr bwMode="auto">
          <a:xfrm>
            <a:off x="0" y="6629400"/>
            <a:ext cx="59436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r>
              <a:rPr lang="en-US" sz="800"/>
              <a:t>Copyright ©2012 Pearson Education</a:t>
            </a:r>
          </a:p>
        </p:txBody>
      </p:sp>
      <p:sp>
        <p:nvSpPr>
          <p:cNvPr id="29699" name="Title 1"/>
          <p:cNvSpPr>
            <a:spLocks noGrp="1"/>
          </p:cNvSpPr>
          <p:nvPr>
            <p:ph type="title"/>
          </p:nvPr>
        </p:nvSpPr>
        <p:spPr>
          <a:xfrm>
            <a:off x="1219200" y="381000"/>
            <a:ext cx="7383463" cy="990600"/>
          </a:xfrm>
        </p:spPr>
        <p:txBody>
          <a:bodyPr/>
          <a:lstStyle/>
          <a:p>
            <a:r>
              <a:rPr lang="en-US" sz="3600" smtClean="0"/>
              <a:t>This Book Is Organized To Show The Four Uses Of Statistics</a:t>
            </a:r>
          </a:p>
        </p:txBody>
      </p:sp>
      <p:sp>
        <p:nvSpPr>
          <p:cNvPr id="2970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To summarize business data (Chapters 2 &amp; 3)</a:t>
            </a:r>
          </a:p>
          <a:p>
            <a:endParaRPr lang="en-US" smtClean="0"/>
          </a:p>
          <a:p>
            <a:r>
              <a:rPr lang="en-US" smtClean="0"/>
              <a:t>To draw conclusions from business data (Chapters 4 – 12)</a:t>
            </a:r>
          </a:p>
          <a:p>
            <a:endParaRPr lang="en-US" smtClean="0"/>
          </a:p>
          <a:p>
            <a:r>
              <a:rPr lang="en-US" smtClean="0"/>
              <a:t>To make reliable forecasts about business activities (Chapters 13 – 16)</a:t>
            </a:r>
          </a:p>
          <a:p>
            <a:endParaRPr lang="en-US" smtClean="0"/>
          </a:p>
          <a:p>
            <a:r>
              <a:rPr lang="en-US" smtClean="0"/>
              <a:t>To improve business processes (Chapter 18)</a:t>
            </a:r>
          </a:p>
        </p:txBody>
      </p:sp>
      <p:sp>
        <p:nvSpPr>
          <p:cNvPr id="29701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/>
            <a:r>
              <a:rPr lang="en-US" sz="1000"/>
              <a:t>Chap 1-</a:t>
            </a:r>
            <a:fld id="{BCD83B54-D623-4085-AC37-FB473305DA6F}" type="slidenum">
              <a:rPr lang="en-US" sz="1000"/>
              <a:pPr algn="r"/>
              <a:t>12</a:t>
            </a:fld>
            <a:endParaRPr lang="en-US" sz="1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/>
          <a:p>
            <a:r>
              <a:rPr lang="en-US"/>
              <a:t>Copyright ©2012 Pearson Education</a:t>
            </a:r>
          </a:p>
        </p:txBody>
      </p:sp>
      <p:sp>
        <p:nvSpPr>
          <p:cNvPr id="30721" name="Rectangle 14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1-</a:t>
            </a:r>
            <a:fld id="{8FA0A953-98EE-48DA-B3A8-EBC5EF09B14E}" type="slidenum">
              <a:rPr lang="en-US" smtClean="0">
                <a:latin typeface="Arial" charset="0"/>
              </a:rPr>
              <a:pPr/>
              <a:t>13</a:t>
            </a:fld>
            <a:endParaRPr lang="en-US" smtClean="0">
              <a:latin typeface="Arial" charset="0"/>
            </a:endParaRPr>
          </a:p>
        </p:txBody>
      </p:sp>
      <p:sp>
        <p:nvSpPr>
          <p:cNvPr id="30722" name="Rectangle 17"/>
          <p:cNvSpPr txBox="1">
            <a:spLocks noGrp="1" noChangeArrowheads="1"/>
          </p:cNvSpPr>
          <p:nvPr/>
        </p:nvSpPr>
        <p:spPr bwMode="auto">
          <a:xfrm>
            <a:off x="0" y="6629400"/>
            <a:ext cx="59436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r>
              <a:rPr lang="en-US" sz="800"/>
              <a:t>Copyright ©2012 Pearson Education</a:t>
            </a:r>
          </a:p>
        </p:txBody>
      </p:sp>
      <p:sp>
        <p:nvSpPr>
          <p:cNvPr id="3072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Types of Variables</a:t>
            </a:r>
          </a:p>
        </p:txBody>
      </p:sp>
      <p:sp>
        <p:nvSpPr>
          <p:cNvPr id="3072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Clr>
                <a:schemeClr val="tx1"/>
              </a:buClr>
              <a:buFont typeface="Wingdings" pitchFamily="2" charset="2"/>
              <a:buChar char="§"/>
            </a:pPr>
            <a:r>
              <a:rPr lang="en-US" b="1" smtClean="0">
                <a:latin typeface="Times New Roman" pitchFamily="18" charset="0"/>
              </a:rPr>
              <a:t>Categorical</a:t>
            </a:r>
            <a:r>
              <a:rPr lang="en-US" smtClean="0">
                <a:latin typeface="Times New Roman" pitchFamily="18" charset="0"/>
              </a:rPr>
              <a:t> (</a:t>
            </a:r>
            <a:r>
              <a:rPr lang="en-US" b="1" i="1" smtClean="0">
                <a:solidFill>
                  <a:srgbClr val="0070C0"/>
                </a:solidFill>
                <a:latin typeface="Times New Roman" pitchFamily="18" charset="0"/>
              </a:rPr>
              <a:t>qualitative</a:t>
            </a:r>
            <a:r>
              <a:rPr lang="en-US" smtClean="0">
                <a:latin typeface="Times New Roman" pitchFamily="18" charset="0"/>
              </a:rPr>
              <a:t>) variables have values that can only be placed into categories, such as “yes” and “no.” </a:t>
            </a:r>
          </a:p>
          <a:p>
            <a:pPr eaLnBrk="1" hangingPunct="1">
              <a:buClr>
                <a:schemeClr val="tx1"/>
              </a:buClr>
              <a:buFont typeface="Wingdings" pitchFamily="2" charset="2"/>
              <a:buNone/>
            </a:pPr>
            <a:endParaRPr lang="en-US" smtClean="0">
              <a:latin typeface="Times New Roman" pitchFamily="18" charset="0"/>
            </a:endParaRPr>
          </a:p>
          <a:p>
            <a:pPr eaLnBrk="1" hangingPunct="1">
              <a:buClr>
                <a:schemeClr val="tx1"/>
              </a:buClr>
              <a:buFont typeface="Wingdings" pitchFamily="2" charset="2"/>
              <a:buChar char="§"/>
            </a:pPr>
            <a:r>
              <a:rPr lang="en-US" b="1" smtClean="0">
                <a:latin typeface="Times New Roman" pitchFamily="18" charset="0"/>
              </a:rPr>
              <a:t>Numerical</a:t>
            </a:r>
            <a:r>
              <a:rPr lang="en-US" smtClean="0">
                <a:latin typeface="Times New Roman" pitchFamily="18" charset="0"/>
              </a:rPr>
              <a:t> (</a:t>
            </a:r>
            <a:r>
              <a:rPr lang="en-US" b="1" i="1" smtClean="0">
                <a:solidFill>
                  <a:srgbClr val="0070C0"/>
                </a:solidFill>
                <a:latin typeface="Times New Roman" pitchFamily="18" charset="0"/>
              </a:rPr>
              <a:t>quantitative</a:t>
            </a:r>
            <a:r>
              <a:rPr lang="en-US" smtClean="0">
                <a:latin typeface="Times New Roman" pitchFamily="18" charset="0"/>
              </a:rPr>
              <a:t>) variables have values that represent quantities.</a:t>
            </a:r>
          </a:p>
          <a:p>
            <a:pPr lvl="1" eaLnBrk="1" hangingPunct="1">
              <a:buClr>
                <a:schemeClr val="tx1"/>
              </a:buClr>
              <a:buFont typeface="Wingdings" pitchFamily="2" charset="2"/>
              <a:buChar char="§"/>
            </a:pPr>
            <a:r>
              <a:rPr lang="en-US" b="1" smtClean="0">
                <a:latin typeface="Times New Roman" pitchFamily="18" charset="0"/>
              </a:rPr>
              <a:t>Discrete</a:t>
            </a:r>
            <a:r>
              <a:rPr lang="en-US" smtClean="0">
                <a:latin typeface="Times New Roman" pitchFamily="18" charset="0"/>
              </a:rPr>
              <a:t> variables arise from a </a:t>
            </a:r>
            <a:r>
              <a:rPr lang="en-US" b="1" i="1" smtClean="0">
                <a:solidFill>
                  <a:srgbClr val="0070C0"/>
                </a:solidFill>
                <a:latin typeface="Times New Roman" pitchFamily="18" charset="0"/>
              </a:rPr>
              <a:t>counting process</a:t>
            </a:r>
          </a:p>
          <a:p>
            <a:pPr lvl="1" eaLnBrk="1" hangingPunct="1">
              <a:buClr>
                <a:schemeClr val="tx1"/>
              </a:buClr>
              <a:buFont typeface="Wingdings" pitchFamily="2" charset="2"/>
              <a:buChar char="§"/>
            </a:pPr>
            <a:r>
              <a:rPr lang="en-US" b="1" smtClean="0">
                <a:latin typeface="Times New Roman" pitchFamily="18" charset="0"/>
              </a:rPr>
              <a:t>Continuous</a:t>
            </a:r>
            <a:r>
              <a:rPr lang="en-US" smtClean="0">
                <a:latin typeface="Times New Roman" pitchFamily="18" charset="0"/>
              </a:rPr>
              <a:t> variables arise from a </a:t>
            </a:r>
            <a:r>
              <a:rPr lang="en-US" b="1" i="1" smtClean="0">
                <a:solidFill>
                  <a:srgbClr val="0070C0"/>
                </a:solidFill>
                <a:latin typeface="Times New Roman" pitchFamily="18" charset="0"/>
              </a:rPr>
              <a:t>measuring process </a:t>
            </a:r>
          </a:p>
        </p:txBody>
      </p:sp>
      <p:sp>
        <p:nvSpPr>
          <p:cNvPr id="30725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/>
            <a:r>
              <a:rPr lang="en-US" sz="1000"/>
              <a:t>Chap 1-</a:t>
            </a:r>
            <a:fld id="{DC1C31AE-C387-42D2-8F36-E84518BBE511}" type="slidenum">
              <a:rPr lang="en-US" sz="1000"/>
              <a:pPr algn="r"/>
              <a:t>13</a:t>
            </a:fld>
            <a:endParaRPr lang="en-US" sz="1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/>
          <a:p>
            <a:r>
              <a:rPr lang="en-US"/>
              <a:t>Copyright ©2012 Pearson Education</a:t>
            </a:r>
          </a:p>
        </p:txBody>
      </p:sp>
      <p:sp>
        <p:nvSpPr>
          <p:cNvPr id="31745" name="Rectangle 14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1-</a:t>
            </a:r>
            <a:fld id="{A07E1564-B256-43A2-AA19-FF23B2076313}" type="slidenum">
              <a:rPr lang="en-US" smtClean="0">
                <a:latin typeface="Arial" charset="0"/>
              </a:rPr>
              <a:pPr/>
              <a:t>14</a:t>
            </a:fld>
            <a:endParaRPr lang="en-US" smtClean="0">
              <a:latin typeface="Arial" charset="0"/>
            </a:endParaRPr>
          </a:p>
        </p:txBody>
      </p:sp>
      <p:sp>
        <p:nvSpPr>
          <p:cNvPr id="31746" name="Rectangle 17"/>
          <p:cNvSpPr txBox="1">
            <a:spLocks noGrp="1" noChangeArrowheads="1"/>
          </p:cNvSpPr>
          <p:nvPr/>
        </p:nvSpPr>
        <p:spPr bwMode="auto">
          <a:xfrm>
            <a:off x="0" y="6629400"/>
            <a:ext cx="59436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r>
              <a:rPr lang="en-US" sz="800"/>
              <a:t>Copyright ©2012 Pearson Education</a:t>
            </a:r>
          </a:p>
        </p:txBody>
      </p:sp>
      <p:sp>
        <p:nvSpPr>
          <p:cNvPr id="3174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Types of Variables</a:t>
            </a:r>
          </a:p>
        </p:txBody>
      </p:sp>
      <p:sp>
        <p:nvSpPr>
          <p:cNvPr id="31748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/>
            <a:r>
              <a:rPr lang="en-US" sz="1000"/>
              <a:t>Chap 1-</a:t>
            </a:r>
            <a:fld id="{0CA4ED17-9FB7-4C8F-90AB-E071B2AF4DD7}" type="slidenum">
              <a:rPr lang="en-US" sz="1000"/>
              <a:pPr algn="r"/>
              <a:t>14</a:t>
            </a:fld>
            <a:endParaRPr lang="en-US" sz="1000"/>
          </a:p>
        </p:txBody>
      </p:sp>
      <p:grpSp>
        <p:nvGrpSpPr>
          <p:cNvPr id="31749" name="Organization Chart 3"/>
          <p:cNvGrpSpPr>
            <a:grpSpLocks noChangeAspect="1"/>
          </p:cNvGrpSpPr>
          <p:nvPr/>
        </p:nvGrpSpPr>
        <p:grpSpPr bwMode="auto">
          <a:xfrm>
            <a:off x="533400" y="1447800"/>
            <a:ext cx="7315200" cy="3810000"/>
            <a:chOff x="672" y="1154"/>
            <a:chExt cx="4608" cy="2400"/>
          </a:xfrm>
        </p:grpSpPr>
        <p:cxnSp>
          <p:nvCxnSpPr>
            <p:cNvPr id="31753" name="_s60420"/>
            <p:cNvCxnSpPr>
              <a:cxnSpLocks noChangeShapeType="1"/>
              <a:stCxn id="31761" idx="0"/>
              <a:endCxn id="31759" idx="2"/>
            </p:cNvCxnSpPr>
            <p:nvPr/>
          </p:nvCxnSpPr>
          <p:spPr bwMode="auto">
            <a:xfrm rot="5400000" flipH="1">
              <a:off x="4248" y="2640"/>
              <a:ext cx="240" cy="720"/>
            </a:xfrm>
            <a:prstGeom prst="bentConnector3">
              <a:avLst>
                <a:gd name="adj1" fmla="val 30000"/>
              </a:avLst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</p:spPr>
        </p:cxnSp>
        <p:cxnSp>
          <p:nvCxnSpPr>
            <p:cNvPr id="31754" name="_s60421"/>
            <p:cNvCxnSpPr>
              <a:cxnSpLocks noChangeShapeType="1"/>
              <a:stCxn id="31760" idx="0"/>
              <a:endCxn id="31759" idx="2"/>
            </p:cNvCxnSpPr>
            <p:nvPr/>
          </p:nvCxnSpPr>
          <p:spPr bwMode="auto">
            <a:xfrm rot="-5400000">
              <a:off x="3591" y="2703"/>
              <a:ext cx="240" cy="594"/>
            </a:xfrm>
            <a:prstGeom prst="bentConnector3">
              <a:avLst>
                <a:gd name="adj1" fmla="val 30000"/>
              </a:avLst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</p:spPr>
        </p:cxnSp>
        <p:cxnSp>
          <p:nvCxnSpPr>
            <p:cNvPr id="31755" name="_s60422"/>
            <p:cNvCxnSpPr>
              <a:cxnSpLocks noChangeShapeType="1"/>
              <a:stCxn id="31759" idx="0"/>
              <a:endCxn id="31757" idx="2"/>
            </p:cNvCxnSpPr>
            <p:nvPr/>
          </p:nvCxnSpPr>
          <p:spPr bwMode="auto">
            <a:xfrm rot="5400000" flipH="1">
              <a:off x="3323" y="1622"/>
              <a:ext cx="409" cy="960"/>
            </a:xfrm>
            <a:prstGeom prst="bentConnector3">
              <a:avLst>
                <a:gd name="adj1" fmla="val 24690"/>
              </a:avLst>
            </a:prstGeom>
            <a:noFill/>
            <a:ln w="22225">
              <a:solidFill>
                <a:srgbClr val="000000"/>
              </a:solidFill>
              <a:miter lim="800000"/>
              <a:headEnd/>
              <a:tailEnd/>
            </a:ln>
          </p:spPr>
        </p:cxnSp>
        <p:cxnSp>
          <p:nvCxnSpPr>
            <p:cNvPr id="31756" name="_s60423"/>
            <p:cNvCxnSpPr>
              <a:cxnSpLocks noChangeShapeType="1"/>
            </p:cNvCxnSpPr>
            <p:nvPr/>
          </p:nvCxnSpPr>
          <p:spPr bwMode="auto">
            <a:xfrm flipV="1">
              <a:off x="2016" y="2210"/>
              <a:ext cx="1056" cy="121"/>
            </a:xfrm>
            <a:prstGeom prst="bentConnector3">
              <a:avLst>
                <a:gd name="adj1" fmla="val 6819"/>
              </a:avLst>
            </a:prstGeom>
            <a:noFill/>
            <a:ln w="22225">
              <a:solidFill>
                <a:srgbClr val="000000"/>
              </a:solidFill>
              <a:miter lim="800000"/>
              <a:headEnd/>
              <a:tailEnd/>
            </a:ln>
          </p:spPr>
        </p:cxnSp>
        <p:sp>
          <p:nvSpPr>
            <p:cNvPr id="31757" name="_s60424"/>
            <p:cNvSpPr>
              <a:spLocks noChangeArrowheads="1"/>
            </p:cNvSpPr>
            <p:nvPr/>
          </p:nvSpPr>
          <p:spPr bwMode="auto">
            <a:xfrm>
              <a:off x="2448" y="1296"/>
              <a:ext cx="1200" cy="601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 w="12700">
              <a:solidFill>
                <a:srgbClr val="474747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>
                  <a:solidFill>
                    <a:srgbClr val="000000"/>
                  </a:solidFill>
                </a:rPr>
                <a:t>Variables</a:t>
              </a:r>
              <a:endParaRPr lang="en-US"/>
            </a:p>
          </p:txBody>
        </p:sp>
        <p:sp>
          <p:nvSpPr>
            <p:cNvPr id="31758" name="_s60425"/>
            <p:cNvSpPr>
              <a:spLocks noChangeArrowheads="1"/>
            </p:cNvSpPr>
            <p:nvPr/>
          </p:nvSpPr>
          <p:spPr bwMode="auto">
            <a:xfrm>
              <a:off x="1392" y="2306"/>
              <a:ext cx="1265" cy="574"/>
            </a:xfrm>
            <a:prstGeom prst="rect">
              <a:avLst/>
            </a:prstGeom>
            <a:solidFill>
              <a:srgbClr val="FDE0BD"/>
            </a:solidFill>
            <a:ln w="12700">
              <a:solidFill>
                <a:srgbClr val="474747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1800" b="1">
                <a:solidFill>
                  <a:srgbClr val="000000"/>
                </a:solidFill>
              </a:endParaRPr>
            </a:p>
            <a:p>
              <a:pPr algn="ctr"/>
              <a:r>
                <a:rPr lang="en-US" b="1">
                  <a:solidFill>
                    <a:srgbClr val="000000"/>
                  </a:solidFill>
                </a:rPr>
                <a:t>Categorical</a:t>
              </a:r>
            </a:p>
            <a:p>
              <a:pPr algn="ctr"/>
              <a:endParaRPr lang="en-US" b="1">
                <a:solidFill>
                  <a:srgbClr val="000000"/>
                </a:solidFill>
              </a:endParaRPr>
            </a:p>
          </p:txBody>
        </p:sp>
        <p:sp>
          <p:nvSpPr>
            <p:cNvPr id="31759" name="_s60426"/>
            <p:cNvSpPr>
              <a:spLocks noChangeArrowheads="1"/>
            </p:cNvSpPr>
            <p:nvPr/>
          </p:nvSpPr>
          <p:spPr bwMode="auto">
            <a:xfrm>
              <a:off x="3360" y="2306"/>
              <a:ext cx="1296" cy="574"/>
            </a:xfrm>
            <a:prstGeom prst="rect">
              <a:avLst/>
            </a:prstGeom>
            <a:solidFill>
              <a:srgbClr val="CBDDF7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1800" b="1">
                <a:solidFill>
                  <a:srgbClr val="474747"/>
                </a:solidFill>
              </a:endParaRPr>
            </a:p>
            <a:p>
              <a:pPr algn="ctr"/>
              <a:r>
                <a:rPr lang="en-US" b="1">
                  <a:solidFill>
                    <a:srgbClr val="474747"/>
                  </a:solidFill>
                </a:rPr>
                <a:t>Numerical</a:t>
              </a:r>
              <a:r>
                <a:rPr lang="en-US" sz="1800" b="1">
                  <a:solidFill>
                    <a:srgbClr val="474747"/>
                  </a:solidFill>
                </a:rPr>
                <a:t> </a:t>
              </a:r>
            </a:p>
            <a:p>
              <a:pPr algn="ctr"/>
              <a:endParaRPr lang="en-US" sz="1800" b="1">
                <a:solidFill>
                  <a:srgbClr val="474747"/>
                </a:solidFill>
              </a:endParaRPr>
            </a:p>
          </p:txBody>
        </p:sp>
        <p:sp>
          <p:nvSpPr>
            <p:cNvPr id="31760" name="_s60427"/>
            <p:cNvSpPr>
              <a:spLocks noChangeArrowheads="1"/>
            </p:cNvSpPr>
            <p:nvPr/>
          </p:nvSpPr>
          <p:spPr bwMode="auto">
            <a:xfrm>
              <a:off x="2928" y="3120"/>
              <a:ext cx="972" cy="384"/>
            </a:xfrm>
            <a:prstGeom prst="rect">
              <a:avLst/>
            </a:prstGeom>
            <a:solidFill>
              <a:srgbClr val="CBDDF7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>
                  <a:solidFill>
                    <a:srgbClr val="474747"/>
                  </a:solidFill>
                </a:rPr>
                <a:t>Discrete</a:t>
              </a:r>
              <a:endParaRPr lang="en-US"/>
            </a:p>
          </p:txBody>
        </p:sp>
        <p:sp>
          <p:nvSpPr>
            <p:cNvPr id="31761" name="_s60428"/>
            <p:cNvSpPr>
              <a:spLocks noChangeArrowheads="1"/>
            </p:cNvSpPr>
            <p:nvPr/>
          </p:nvSpPr>
          <p:spPr bwMode="auto">
            <a:xfrm>
              <a:off x="4176" y="3120"/>
              <a:ext cx="1104" cy="384"/>
            </a:xfrm>
            <a:prstGeom prst="rect">
              <a:avLst/>
            </a:prstGeom>
            <a:solidFill>
              <a:srgbClr val="CBDDF7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>
                  <a:solidFill>
                    <a:srgbClr val="474747"/>
                  </a:solidFill>
                </a:rPr>
                <a:t>Continuous</a:t>
              </a:r>
              <a:endParaRPr lang="en-US"/>
            </a:p>
          </p:txBody>
        </p:sp>
      </p:grpSp>
      <p:sp>
        <p:nvSpPr>
          <p:cNvPr id="31750" name="Text Box 14"/>
          <p:cNvSpPr txBox="1">
            <a:spLocks noChangeArrowheads="1"/>
          </p:cNvSpPr>
          <p:nvPr/>
        </p:nvSpPr>
        <p:spPr bwMode="auto">
          <a:xfrm>
            <a:off x="1524000" y="4267200"/>
            <a:ext cx="2514600" cy="12969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85342" tIns="42672" rIns="85342" bIns="42672">
            <a:spAutoFit/>
          </a:bodyPr>
          <a:lstStyle/>
          <a:p>
            <a:pPr marL="342900" indent="-342900">
              <a:spcBef>
                <a:spcPct val="5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sz="1400" b="1">
                <a:solidFill>
                  <a:schemeClr val="folHlink"/>
                </a:solidFill>
              </a:rPr>
              <a:t>Examples:</a:t>
            </a:r>
          </a:p>
          <a:p>
            <a:pPr marL="342900" indent="-342900">
              <a:spcBef>
                <a:spcPct val="5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sz="1400" b="1">
                <a:solidFill>
                  <a:schemeClr val="folHlink"/>
                </a:solidFill>
              </a:rPr>
              <a:t>Marital Status</a:t>
            </a:r>
          </a:p>
          <a:p>
            <a:pPr marL="342900" indent="-342900">
              <a:spcBef>
                <a:spcPct val="1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sz="1400" b="1">
                <a:solidFill>
                  <a:schemeClr val="folHlink"/>
                </a:solidFill>
              </a:rPr>
              <a:t>Political Party</a:t>
            </a:r>
          </a:p>
          <a:p>
            <a:pPr marL="342900" indent="-342900"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sz="1400" b="1">
                <a:solidFill>
                  <a:schemeClr val="folHlink"/>
                </a:solidFill>
              </a:rPr>
              <a:t>Eye Color</a:t>
            </a:r>
          </a:p>
          <a:p>
            <a:pPr marL="342900" indent="-342900">
              <a:spcBef>
                <a:spcPct val="1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sz="1400" b="1">
                <a:solidFill>
                  <a:srgbClr val="00B283"/>
                </a:solidFill>
              </a:rPr>
              <a:t>      </a:t>
            </a:r>
            <a:r>
              <a:rPr lang="en-US" sz="1400" b="1"/>
              <a:t>(Defined categories)</a:t>
            </a:r>
          </a:p>
        </p:txBody>
      </p:sp>
      <p:sp>
        <p:nvSpPr>
          <p:cNvPr id="31751" name="Text Box 15"/>
          <p:cNvSpPr txBox="1">
            <a:spLocks noChangeArrowheads="1"/>
          </p:cNvSpPr>
          <p:nvPr/>
        </p:nvSpPr>
        <p:spPr bwMode="auto">
          <a:xfrm>
            <a:off x="3962400" y="5334000"/>
            <a:ext cx="2286000" cy="10842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85342" tIns="42672" rIns="85342" bIns="42672">
            <a:spAutoFit/>
          </a:bodyPr>
          <a:lstStyle/>
          <a:p>
            <a:pPr marL="342900" indent="-342900">
              <a:spcBef>
                <a:spcPct val="5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sz="1400" b="1">
                <a:solidFill>
                  <a:schemeClr val="folHlink"/>
                </a:solidFill>
              </a:rPr>
              <a:t>Examples:</a:t>
            </a:r>
          </a:p>
          <a:p>
            <a:pPr marL="342900" indent="-342900">
              <a:spcBef>
                <a:spcPct val="5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sz="1400" b="1">
                <a:solidFill>
                  <a:schemeClr val="folHlink"/>
                </a:solidFill>
              </a:rPr>
              <a:t>Number of Children</a:t>
            </a:r>
          </a:p>
          <a:p>
            <a:pPr marL="342900" indent="-342900">
              <a:spcBef>
                <a:spcPct val="1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sz="1400" b="1">
                <a:solidFill>
                  <a:schemeClr val="folHlink"/>
                </a:solidFill>
              </a:rPr>
              <a:t>Defects per hour</a:t>
            </a:r>
          </a:p>
          <a:p>
            <a:pPr marL="342900" indent="-342900">
              <a:spcBef>
                <a:spcPct val="1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sz="1400" b="1">
                <a:solidFill>
                  <a:srgbClr val="F983C1"/>
                </a:solidFill>
              </a:rPr>
              <a:t>      </a:t>
            </a:r>
            <a:r>
              <a:rPr lang="en-US" sz="1400" b="1"/>
              <a:t>(Counted items)</a:t>
            </a:r>
          </a:p>
        </p:txBody>
      </p:sp>
      <p:sp>
        <p:nvSpPr>
          <p:cNvPr id="31752" name="Text Box 16"/>
          <p:cNvSpPr txBox="1">
            <a:spLocks noChangeArrowheads="1"/>
          </p:cNvSpPr>
          <p:nvPr/>
        </p:nvSpPr>
        <p:spPr bwMode="auto">
          <a:xfrm>
            <a:off x="6400800" y="5334000"/>
            <a:ext cx="2743200" cy="10842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85342" tIns="42672" rIns="85342" bIns="42672">
            <a:spAutoFit/>
          </a:bodyPr>
          <a:lstStyle/>
          <a:p>
            <a:pPr marL="342900" indent="-342900">
              <a:spcBef>
                <a:spcPct val="5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sz="1400" b="1">
                <a:solidFill>
                  <a:schemeClr val="folHlink"/>
                </a:solidFill>
              </a:rPr>
              <a:t>Examples:</a:t>
            </a:r>
          </a:p>
          <a:p>
            <a:pPr marL="342900" indent="-342900">
              <a:spcBef>
                <a:spcPct val="5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sz="1400" b="1">
                <a:solidFill>
                  <a:schemeClr val="folHlink"/>
                </a:solidFill>
              </a:rPr>
              <a:t>Weight</a:t>
            </a:r>
          </a:p>
          <a:p>
            <a:pPr marL="342900" indent="-342900">
              <a:spcBef>
                <a:spcPct val="1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sz="1400" b="1">
                <a:solidFill>
                  <a:schemeClr val="folHlink"/>
                </a:solidFill>
              </a:rPr>
              <a:t>Voltage</a:t>
            </a:r>
          </a:p>
          <a:p>
            <a:pPr marL="342900" indent="-342900">
              <a:spcBef>
                <a:spcPct val="1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sz="1400" b="1">
                <a:solidFill>
                  <a:srgbClr val="F983C1"/>
                </a:solidFill>
              </a:rPr>
              <a:t>    </a:t>
            </a:r>
            <a:r>
              <a:rPr lang="en-US" sz="1400" b="1"/>
              <a:t>(Measured characteristics)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/>
          <a:p>
            <a:r>
              <a:rPr lang="en-US"/>
              <a:t>Copyright ©2012 Pearson Education</a:t>
            </a:r>
          </a:p>
        </p:txBody>
      </p:sp>
      <p:sp>
        <p:nvSpPr>
          <p:cNvPr id="32769" name="Rectangle 14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1-</a:t>
            </a:r>
            <a:fld id="{EB62571E-E30E-4E93-9C73-9A68E6DAFF4C}" type="slidenum">
              <a:rPr lang="en-US" smtClean="0">
                <a:latin typeface="Arial" charset="0"/>
              </a:rPr>
              <a:pPr/>
              <a:t>15</a:t>
            </a:fld>
            <a:endParaRPr lang="en-US" smtClean="0">
              <a:latin typeface="Arial" charset="0"/>
            </a:endParaRPr>
          </a:p>
        </p:txBody>
      </p:sp>
      <p:sp>
        <p:nvSpPr>
          <p:cNvPr id="32770" name="Rectangle 17"/>
          <p:cNvSpPr txBox="1">
            <a:spLocks noGrp="1" noChangeArrowheads="1"/>
          </p:cNvSpPr>
          <p:nvPr/>
        </p:nvSpPr>
        <p:spPr bwMode="auto">
          <a:xfrm>
            <a:off x="0" y="6629400"/>
            <a:ext cx="59436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r>
              <a:rPr lang="en-US" sz="800"/>
              <a:t>Copyright ©2012 Pearson Education</a:t>
            </a:r>
          </a:p>
        </p:txBody>
      </p:sp>
      <p:sp>
        <p:nvSpPr>
          <p:cNvPr id="3277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Levels of Measurement</a:t>
            </a:r>
          </a:p>
        </p:txBody>
      </p:sp>
      <p:sp>
        <p:nvSpPr>
          <p:cNvPr id="32772" name="Content Placeholder 2"/>
          <p:cNvSpPr>
            <a:spLocks noGrp="1"/>
          </p:cNvSpPr>
          <p:nvPr>
            <p:ph idx="1"/>
          </p:nvPr>
        </p:nvSpPr>
        <p:spPr>
          <a:xfrm>
            <a:off x="609600" y="1828800"/>
            <a:ext cx="8077200" cy="10668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smtClean="0">
                <a:latin typeface="Times New Roman" pitchFamily="18" charset="0"/>
              </a:rPr>
              <a:t>	A</a:t>
            </a:r>
            <a:r>
              <a:rPr lang="en-US" b="1" smtClean="0">
                <a:latin typeface="Times New Roman" pitchFamily="18" charset="0"/>
              </a:rPr>
              <a:t> nominal scale</a:t>
            </a:r>
            <a:r>
              <a:rPr lang="en-US" smtClean="0">
                <a:latin typeface="Times New Roman" pitchFamily="18" charset="0"/>
              </a:rPr>
              <a:t> classifies data into distinct categories in which no ranking is implied.</a:t>
            </a:r>
          </a:p>
          <a:p>
            <a:endParaRPr lang="en-US" smtClean="0"/>
          </a:p>
        </p:txBody>
      </p:sp>
      <p:sp>
        <p:nvSpPr>
          <p:cNvPr id="32773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/>
            <a:r>
              <a:rPr lang="en-US" sz="1000"/>
              <a:t>Chap 1-</a:t>
            </a:r>
            <a:fld id="{4142BE7C-2170-48D6-BDFF-38321C622303}" type="slidenum">
              <a:rPr lang="en-US" sz="1000"/>
              <a:pPr algn="r"/>
              <a:t>15</a:t>
            </a:fld>
            <a:endParaRPr lang="en-US" sz="1000"/>
          </a:p>
        </p:txBody>
      </p:sp>
      <p:sp>
        <p:nvSpPr>
          <p:cNvPr id="32774" name="Text Box 8"/>
          <p:cNvSpPr txBox="1">
            <a:spLocks noChangeArrowheads="1"/>
          </p:cNvSpPr>
          <p:nvPr/>
        </p:nvSpPr>
        <p:spPr bwMode="auto">
          <a:xfrm>
            <a:off x="990600" y="3235325"/>
            <a:ext cx="7315200" cy="2327275"/>
          </a:xfrm>
          <a:prstGeom prst="rect">
            <a:avLst/>
          </a:prstGeom>
          <a:solidFill>
            <a:srgbClr val="FEEEC6"/>
          </a:solidFill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ctr"/>
            <a:endParaRPr lang="en-GB"/>
          </a:p>
        </p:txBody>
      </p:sp>
      <p:sp>
        <p:nvSpPr>
          <p:cNvPr id="32775" name="Text Box 9"/>
          <p:cNvSpPr txBox="1">
            <a:spLocks noChangeArrowheads="1"/>
          </p:cNvSpPr>
          <p:nvPr/>
        </p:nvSpPr>
        <p:spPr bwMode="auto">
          <a:xfrm>
            <a:off x="1905000" y="3352800"/>
            <a:ext cx="5937250" cy="606425"/>
          </a:xfrm>
          <a:prstGeom prst="rect">
            <a:avLst/>
          </a:prstGeom>
          <a:solidFill>
            <a:srgbClr val="FEEEC6"/>
          </a:solidFill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>
              <a:tabLst>
                <a:tab pos="3989388" algn="l"/>
              </a:tabLst>
            </a:pPr>
            <a:r>
              <a:rPr lang="en-US" sz="1400" b="1" i="1">
                <a:solidFill>
                  <a:srgbClr val="000000"/>
                </a:solidFill>
              </a:rPr>
              <a:t>Categorical Variables                                          Categories</a:t>
            </a:r>
            <a:endParaRPr lang="en-US" sz="1400" b="1"/>
          </a:p>
        </p:txBody>
      </p:sp>
      <p:sp>
        <p:nvSpPr>
          <p:cNvPr id="32776" name="Text Box 10"/>
          <p:cNvSpPr txBox="1">
            <a:spLocks noChangeArrowheads="1"/>
          </p:cNvSpPr>
          <p:nvPr/>
        </p:nvSpPr>
        <p:spPr bwMode="auto">
          <a:xfrm>
            <a:off x="1865313" y="3838575"/>
            <a:ext cx="1920875" cy="1419225"/>
          </a:xfrm>
          <a:prstGeom prst="rect">
            <a:avLst/>
          </a:prstGeom>
          <a:solidFill>
            <a:srgbClr val="FEEEC6"/>
          </a:solidFill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r>
              <a:rPr lang="en-US" sz="1200">
                <a:solidFill>
                  <a:srgbClr val="000000"/>
                </a:solidFill>
              </a:rPr>
              <a:t>Personal Computer Ownership </a:t>
            </a:r>
          </a:p>
          <a:p>
            <a:endParaRPr lang="en-US" sz="1200">
              <a:solidFill>
                <a:srgbClr val="000000"/>
              </a:solidFill>
            </a:endParaRPr>
          </a:p>
          <a:p>
            <a:r>
              <a:rPr lang="en-US" sz="1200">
                <a:solidFill>
                  <a:srgbClr val="000000"/>
                </a:solidFill>
              </a:rPr>
              <a:t>Type of Stocks Owned</a:t>
            </a:r>
          </a:p>
          <a:p>
            <a:endParaRPr lang="en-US" sz="1200">
              <a:solidFill>
                <a:srgbClr val="000000"/>
              </a:solidFill>
            </a:endParaRPr>
          </a:p>
          <a:p>
            <a:r>
              <a:rPr lang="en-US" sz="1200">
                <a:solidFill>
                  <a:srgbClr val="000000"/>
                </a:solidFill>
              </a:rPr>
              <a:t>Internet Provider</a:t>
            </a:r>
          </a:p>
        </p:txBody>
      </p:sp>
      <p:sp>
        <p:nvSpPr>
          <p:cNvPr id="32777" name="Text Box 11"/>
          <p:cNvSpPr txBox="1">
            <a:spLocks noChangeArrowheads="1"/>
          </p:cNvSpPr>
          <p:nvPr/>
        </p:nvSpPr>
        <p:spPr bwMode="auto">
          <a:xfrm>
            <a:off x="5791200" y="3886200"/>
            <a:ext cx="889000" cy="260350"/>
          </a:xfrm>
          <a:prstGeom prst="rect">
            <a:avLst/>
          </a:prstGeom>
          <a:solidFill>
            <a:srgbClr val="FEEEC6"/>
          </a:solidFill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just"/>
            <a:r>
              <a:rPr lang="en-US" sz="1200">
                <a:solidFill>
                  <a:srgbClr val="000000"/>
                </a:solidFill>
              </a:rPr>
              <a:t>Yes / No </a:t>
            </a:r>
            <a:endParaRPr lang="en-US" sz="1200"/>
          </a:p>
        </p:txBody>
      </p:sp>
      <p:sp>
        <p:nvSpPr>
          <p:cNvPr id="32778" name="Text Box 12"/>
          <p:cNvSpPr txBox="1">
            <a:spLocks noChangeArrowheads="1"/>
          </p:cNvSpPr>
          <p:nvPr/>
        </p:nvSpPr>
        <p:spPr bwMode="auto">
          <a:xfrm>
            <a:off x="5791200" y="4800600"/>
            <a:ext cx="2286000" cy="222250"/>
          </a:xfrm>
          <a:prstGeom prst="rect">
            <a:avLst/>
          </a:prstGeom>
          <a:solidFill>
            <a:srgbClr val="FEEEC6"/>
          </a:solidFill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r>
              <a:rPr lang="en-US" sz="1200">
                <a:solidFill>
                  <a:srgbClr val="000000"/>
                </a:solidFill>
              </a:rPr>
              <a:t>Microsoft Network / AOL/ Other</a:t>
            </a:r>
            <a:endParaRPr lang="en-US" sz="1200"/>
          </a:p>
        </p:txBody>
      </p:sp>
      <p:sp>
        <p:nvSpPr>
          <p:cNvPr id="32779" name="Text Box 13"/>
          <p:cNvSpPr txBox="1">
            <a:spLocks noChangeArrowheads="1"/>
          </p:cNvSpPr>
          <p:nvPr/>
        </p:nvSpPr>
        <p:spPr bwMode="auto">
          <a:xfrm>
            <a:off x="5791200" y="4343400"/>
            <a:ext cx="1711325" cy="312738"/>
          </a:xfrm>
          <a:prstGeom prst="rect">
            <a:avLst/>
          </a:prstGeom>
          <a:solidFill>
            <a:srgbClr val="FEEEC6"/>
          </a:solidFill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>
              <a:tabLst>
                <a:tab pos="554038" algn="l"/>
                <a:tab pos="1039813" algn="l"/>
              </a:tabLst>
            </a:pPr>
            <a:r>
              <a:rPr lang="en-US" sz="1200">
                <a:solidFill>
                  <a:srgbClr val="000000"/>
                </a:solidFill>
              </a:rPr>
              <a:t>Growth	/ Value	/ Other</a:t>
            </a:r>
            <a:endParaRPr lang="en-US" sz="1200"/>
          </a:p>
        </p:txBody>
      </p:sp>
      <p:sp>
        <p:nvSpPr>
          <p:cNvPr id="32780" name="Text Box 15"/>
          <p:cNvSpPr txBox="1">
            <a:spLocks noChangeArrowheads="1"/>
          </p:cNvSpPr>
          <p:nvPr/>
        </p:nvSpPr>
        <p:spPr bwMode="auto">
          <a:xfrm>
            <a:off x="6515100" y="5029200"/>
            <a:ext cx="111125" cy="163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ctr"/>
            <a:endParaRPr lang="en-GB"/>
          </a:p>
        </p:txBody>
      </p:sp>
      <p:sp>
        <p:nvSpPr>
          <p:cNvPr id="32781" name="Text Box 16"/>
          <p:cNvSpPr txBox="1">
            <a:spLocks noChangeArrowheads="1"/>
          </p:cNvSpPr>
          <p:nvPr/>
        </p:nvSpPr>
        <p:spPr bwMode="auto">
          <a:xfrm>
            <a:off x="7096125" y="4554538"/>
            <a:ext cx="111125" cy="165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ctr"/>
            <a:endParaRPr lang="en-GB"/>
          </a:p>
        </p:txBody>
      </p:sp>
      <p:sp>
        <p:nvSpPr>
          <p:cNvPr id="32782" name="Line 18"/>
          <p:cNvSpPr>
            <a:spLocks noChangeShapeType="1"/>
          </p:cNvSpPr>
          <p:nvPr/>
        </p:nvSpPr>
        <p:spPr bwMode="auto">
          <a:xfrm>
            <a:off x="1905000" y="3657600"/>
            <a:ext cx="5716588" cy="0"/>
          </a:xfrm>
          <a:prstGeom prst="line">
            <a:avLst/>
          </a:prstGeom>
          <a:noFill/>
          <a:ln w="24130">
            <a:solidFill>
              <a:srgbClr val="F4846A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2783" name="Line 23"/>
          <p:cNvSpPr>
            <a:spLocks noChangeShapeType="1"/>
          </p:cNvSpPr>
          <p:nvPr/>
        </p:nvSpPr>
        <p:spPr bwMode="auto">
          <a:xfrm>
            <a:off x="3581400" y="4038600"/>
            <a:ext cx="1752600" cy="0"/>
          </a:xfrm>
          <a:prstGeom prst="line">
            <a:avLst/>
          </a:prstGeom>
          <a:noFill/>
          <a:ln w="24130">
            <a:solidFill>
              <a:srgbClr val="C66657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2784" name="Line 24"/>
          <p:cNvSpPr>
            <a:spLocks noChangeShapeType="1"/>
          </p:cNvSpPr>
          <p:nvPr/>
        </p:nvSpPr>
        <p:spPr bwMode="auto">
          <a:xfrm>
            <a:off x="3581400" y="4495800"/>
            <a:ext cx="1752600" cy="0"/>
          </a:xfrm>
          <a:prstGeom prst="line">
            <a:avLst/>
          </a:prstGeom>
          <a:noFill/>
          <a:ln w="24130">
            <a:solidFill>
              <a:srgbClr val="C66657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2785" name="Line 25"/>
          <p:cNvSpPr>
            <a:spLocks noChangeShapeType="1"/>
          </p:cNvSpPr>
          <p:nvPr/>
        </p:nvSpPr>
        <p:spPr bwMode="auto">
          <a:xfrm>
            <a:off x="3581400" y="4876800"/>
            <a:ext cx="1752600" cy="0"/>
          </a:xfrm>
          <a:prstGeom prst="line">
            <a:avLst/>
          </a:prstGeom>
          <a:noFill/>
          <a:ln w="24130">
            <a:solidFill>
              <a:srgbClr val="C66657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/>
          <a:p>
            <a:r>
              <a:rPr lang="en-US"/>
              <a:t>Copyright ©2012 Pearson Education</a:t>
            </a:r>
          </a:p>
        </p:txBody>
      </p:sp>
      <p:sp>
        <p:nvSpPr>
          <p:cNvPr id="33793" name="Rectangle 14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1-</a:t>
            </a:r>
            <a:fld id="{121060B7-9D58-49EC-8B88-5C5058102F08}" type="slidenum">
              <a:rPr lang="en-US" smtClean="0">
                <a:latin typeface="Arial" charset="0"/>
              </a:rPr>
              <a:pPr/>
              <a:t>16</a:t>
            </a:fld>
            <a:endParaRPr lang="en-US" smtClean="0">
              <a:latin typeface="Arial" charset="0"/>
            </a:endParaRPr>
          </a:p>
        </p:txBody>
      </p:sp>
      <p:sp>
        <p:nvSpPr>
          <p:cNvPr id="33794" name="Rectangle 17"/>
          <p:cNvSpPr txBox="1">
            <a:spLocks noGrp="1" noChangeArrowheads="1"/>
          </p:cNvSpPr>
          <p:nvPr/>
        </p:nvSpPr>
        <p:spPr bwMode="auto">
          <a:xfrm>
            <a:off x="0" y="6629400"/>
            <a:ext cx="59436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r>
              <a:rPr lang="en-US" sz="800"/>
              <a:t>Copyright ©2012 Pearson Education</a:t>
            </a:r>
          </a:p>
        </p:txBody>
      </p:sp>
      <p:sp>
        <p:nvSpPr>
          <p:cNvPr id="3379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Levels of Measurement (con’t.)</a:t>
            </a:r>
          </a:p>
        </p:txBody>
      </p:sp>
      <p:sp>
        <p:nvSpPr>
          <p:cNvPr id="3379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n-US" smtClean="0">
                <a:latin typeface="Times New Roman" pitchFamily="18" charset="0"/>
              </a:rPr>
              <a:t>	An </a:t>
            </a:r>
            <a:r>
              <a:rPr lang="en-US" b="1" smtClean="0">
                <a:latin typeface="Times New Roman" pitchFamily="18" charset="0"/>
              </a:rPr>
              <a:t>ordinal scale </a:t>
            </a:r>
            <a:r>
              <a:rPr lang="en-US" smtClean="0">
                <a:latin typeface="Times New Roman" pitchFamily="18" charset="0"/>
              </a:rPr>
              <a:t>classifies data into distinct categories in which ranking is implied</a:t>
            </a:r>
            <a:r>
              <a:rPr lang="en-US" smtClean="0"/>
              <a:t> </a:t>
            </a:r>
          </a:p>
          <a:p>
            <a:pPr>
              <a:buFont typeface="Wingdings" pitchFamily="2" charset="2"/>
              <a:buNone/>
            </a:pPr>
            <a:endParaRPr lang="en-US" smtClean="0"/>
          </a:p>
        </p:txBody>
      </p:sp>
      <p:sp>
        <p:nvSpPr>
          <p:cNvPr id="33797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/>
            <a:r>
              <a:rPr lang="en-US" sz="1000"/>
              <a:t>Chap 1-</a:t>
            </a:r>
            <a:fld id="{7117313B-A7E0-42DF-BEA1-8E476C1EB98C}" type="slidenum">
              <a:rPr lang="en-US" sz="1000"/>
              <a:pPr algn="r"/>
              <a:t>16</a:t>
            </a:fld>
            <a:endParaRPr lang="en-US" sz="100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609600" y="1828800"/>
            <a:ext cx="7375525" cy="1090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/>
          <a:lstStyle/>
          <a:p>
            <a:pPr marL="320675" indent="-320675" defTabSz="852488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§"/>
              <a:defRPr/>
            </a:pPr>
            <a:endParaRPr lang="en-US" kern="0" dirty="0">
              <a:latin typeface="+mn-lt"/>
            </a:endParaRPr>
          </a:p>
        </p:txBody>
      </p:sp>
      <p:pic>
        <p:nvPicPr>
          <p:cNvPr id="33799" name="Picture 5" descr="_Pic8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75000" y="4151313"/>
            <a:ext cx="560388" cy="125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3800" name="Text Box 6"/>
          <p:cNvSpPr txBox="1">
            <a:spLocks noChangeArrowheads="1"/>
          </p:cNvSpPr>
          <p:nvPr/>
        </p:nvSpPr>
        <p:spPr bwMode="auto">
          <a:xfrm>
            <a:off x="1066800" y="3048000"/>
            <a:ext cx="7315200" cy="3276600"/>
          </a:xfrm>
          <a:prstGeom prst="rect">
            <a:avLst/>
          </a:prstGeom>
          <a:solidFill>
            <a:srgbClr val="FEEEC6"/>
          </a:solidFill>
          <a:ln w="9525">
            <a:noFill/>
            <a:miter lim="800000"/>
            <a:headEnd/>
            <a:tailEnd/>
          </a:ln>
        </p:spPr>
        <p:txBody>
          <a:bodyPr lIns="36576" tIns="0" rIns="36576" bIns="0"/>
          <a:lstStyle/>
          <a:p>
            <a:endParaRPr lang="en-GB" sz="1800"/>
          </a:p>
        </p:txBody>
      </p:sp>
      <p:sp>
        <p:nvSpPr>
          <p:cNvPr id="33801" name="Line 7"/>
          <p:cNvSpPr>
            <a:spLocks noChangeShapeType="1"/>
          </p:cNvSpPr>
          <p:nvPr/>
        </p:nvSpPr>
        <p:spPr bwMode="auto">
          <a:xfrm>
            <a:off x="1371600" y="3581400"/>
            <a:ext cx="6788150" cy="0"/>
          </a:xfrm>
          <a:prstGeom prst="line">
            <a:avLst/>
          </a:prstGeom>
          <a:noFill/>
          <a:ln w="24130">
            <a:solidFill>
              <a:srgbClr val="ED1B28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802" name="Rectangle 8"/>
          <p:cNvSpPr>
            <a:spLocks noChangeArrowheads="1"/>
          </p:cNvSpPr>
          <p:nvPr/>
        </p:nvSpPr>
        <p:spPr bwMode="auto">
          <a:xfrm>
            <a:off x="1447800" y="3124200"/>
            <a:ext cx="6553200" cy="579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US" sz="1600" b="1" i="1">
                <a:solidFill>
                  <a:srgbClr val="000000"/>
                </a:solidFill>
                <a:cs typeface="Arial" charset="0"/>
              </a:rPr>
              <a:t>Categorical Variable            		Ordered Categories</a:t>
            </a:r>
            <a:endParaRPr lang="en-US" sz="1600" b="1">
              <a:solidFill>
                <a:schemeClr val="tx2"/>
              </a:solidFill>
            </a:endParaRPr>
          </a:p>
          <a:p>
            <a:pPr eaLnBrk="0" hangingPunct="0"/>
            <a:endParaRPr lang="en-US" sz="1600" b="1"/>
          </a:p>
        </p:txBody>
      </p:sp>
      <p:sp>
        <p:nvSpPr>
          <p:cNvPr id="33803" name="Rectangle 9"/>
          <p:cNvSpPr>
            <a:spLocks noChangeArrowheads="1"/>
          </p:cNvSpPr>
          <p:nvPr/>
        </p:nvSpPr>
        <p:spPr bwMode="auto">
          <a:xfrm>
            <a:off x="3200400" y="4003675"/>
            <a:ext cx="619125" cy="14208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endParaRPr lang="en-GB"/>
          </a:p>
        </p:txBody>
      </p:sp>
      <p:sp>
        <p:nvSpPr>
          <p:cNvPr id="33804" name="Line 10"/>
          <p:cNvSpPr>
            <a:spLocks noChangeShapeType="1"/>
          </p:cNvSpPr>
          <p:nvPr/>
        </p:nvSpPr>
        <p:spPr bwMode="auto">
          <a:xfrm>
            <a:off x="1341438" y="4003675"/>
            <a:ext cx="6919912" cy="0"/>
          </a:xfrm>
          <a:prstGeom prst="line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805" name="Line 11"/>
          <p:cNvSpPr>
            <a:spLocks noChangeShapeType="1"/>
          </p:cNvSpPr>
          <p:nvPr/>
        </p:nvSpPr>
        <p:spPr bwMode="auto">
          <a:xfrm>
            <a:off x="1341438" y="5424488"/>
            <a:ext cx="6919912" cy="0"/>
          </a:xfrm>
          <a:prstGeom prst="line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806" name="Line 12"/>
          <p:cNvSpPr>
            <a:spLocks noChangeShapeType="1"/>
          </p:cNvSpPr>
          <p:nvPr/>
        </p:nvSpPr>
        <p:spPr bwMode="auto">
          <a:xfrm>
            <a:off x="1341438" y="4003675"/>
            <a:ext cx="0" cy="1420813"/>
          </a:xfrm>
          <a:prstGeom prst="line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807" name="Line 13"/>
          <p:cNvSpPr>
            <a:spLocks noChangeShapeType="1"/>
          </p:cNvSpPr>
          <p:nvPr/>
        </p:nvSpPr>
        <p:spPr bwMode="auto">
          <a:xfrm>
            <a:off x="8261350" y="4003675"/>
            <a:ext cx="0" cy="1420813"/>
          </a:xfrm>
          <a:prstGeom prst="line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6" name="Group 14"/>
          <p:cNvGraphicFramePr>
            <a:graphicFrameLocks/>
          </p:cNvGraphicFramePr>
          <p:nvPr/>
        </p:nvGraphicFramePr>
        <p:xfrm>
          <a:off x="1295400" y="3733800"/>
          <a:ext cx="6934200" cy="2711450"/>
        </p:xfrm>
        <a:graphic>
          <a:graphicData uri="http://schemas.openxmlformats.org/drawingml/2006/table">
            <a:tbl>
              <a:tblPr/>
              <a:tblGrid>
                <a:gridCol w="3467100"/>
                <a:gridCol w="3467100"/>
              </a:tblGrid>
              <a:tr h="4111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Student class designation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Freshman, Sophomore, Junior, Senior</a:t>
                      </a: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7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Product satisfaction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Satisfied, Neutral, Unsatisfied</a:t>
                      </a: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8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Faculty rank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Professor, Associate Professor, Assistant Professor, Instructor</a:t>
                      </a: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7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Standard &amp; Poor’s bond ratings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AAA, AA, A, BBB, BB, B, CCC, CC, C, DDD, DD, D</a:t>
                      </a: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7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Student Grades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A, B, C, D, F</a:t>
                      </a: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/>
          <a:p>
            <a:r>
              <a:rPr lang="en-US"/>
              <a:t>Copyright ©2012 Pearson Education</a:t>
            </a:r>
          </a:p>
        </p:txBody>
      </p:sp>
      <p:sp>
        <p:nvSpPr>
          <p:cNvPr id="34817" name="Rectangle 14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1-</a:t>
            </a:r>
            <a:fld id="{8F8FA006-4B62-47D0-9F95-4810E730355C}" type="slidenum">
              <a:rPr lang="en-US" smtClean="0">
                <a:latin typeface="Arial" charset="0"/>
              </a:rPr>
              <a:pPr/>
              <a:t>17</a:t>
            </a:fld>
            <a:endParaRPr lang="en-US" smtClean="0">
              <a:latin typeface="Arial" charset="0"/>
            </a:endParaRPr>
          </a:p>
        </p:txBody>
      </p:sp>
      <p:sp>
        <p:nvSpPr>
          <p:cNvPr id="34818" name="Rectangle 17"/>
          <p:cNvSpPr txBox="1">
            <a:spLocks noGrp="1" noChangeArrowheads="1"/>
          </p:cNvSpPr>
          <p:nvPr/>
        </p:nvSpPr>
        <p:spPr bwMode="auto">
          <a:xfrm>
            <a:off x="0" y="6629400"/>
            <a:ext cx="59436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r>
              <a:rPr lang="en-US" sz="800"/>
              <a:t>Copyright ©2012 Pearson Education, Inc. publishing as Prentice Hall</a:t>
            </a:r>
          </a:p>
        </p:txBody>
      </p:sp>
      <p:sp>
        <p:nvSpPr>
          <p:cNvPr id="3481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Levels of Measurement (con’t.)</a:t>
            </a:r>
          </a:p>
        </p:txBody>
      </p:sp>
      <p:sp>
        <p:nvSpPr>
          <p:cNvPr id="3482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mtClean="0">
                <a:latin typeface="Times New Roman" pitchFamily="18" charset="0"/>
              </a:rPr>
              <a:t>An </a:t>
            </a:r>
            <a:r>
              <a:rPr lang="en-US" b="1" smtClean="0">
                <a:latin typeface="Times New Roman" pitchFamily="18" charset="0"/>
              </a:rPr>
              <a:t>interval scale</a:t>
            </a:r>
            <a:r>
              <a:rPr lang="en-US" smtClean="0">
                <a:latin typeface="Times New Roman" pitchFamily="18" charset="0"/>
              </a:rPr>
              <a:t> is an ordered scale in which the difference between measurements is a meaningful quantity but the measurements do not have a true zero point.</a:t>
            </a:r>
          </a:p>
          <a:p>
            <a:pPr eaLnBrk="1" hangingPunct="1"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§"/>
            </a:pPr>
            <a:endParaRPr lang="en-US" smtClean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§"/>
            </a:pPr>
            <a:r>
              <a:rPr lang="en-US" smtClean="0">
                <a:latin typeface="Times New Roman" pitchFamily="18" charset="0"/>
              </a:rPr>
              <a:t>A </a:t>
            </a:r>
            <a:r>
              <a:rPr lang="en-US" b="1" smtClean="0">
                <a:latin typeface="Times New Roman" pitchFamily="18" charset="0"/>
              </a:rPr>
              <a:t>ratio scale </a:t>
            </a:r>
            <a:r>
              <a:rPr lang="en-US" smtClean="0">
                <a:latin typeface="Times New Roman" pitchFamily="18" charset="0"/>
              </a:rPr>
              <a:t>is an ordered scale in which the difference between the measurements is a meaningful quantity and the measurements have a true zero point.</a:t>
            </a:r>
            <a:r>
              <a:rPr lang="en-US" smtClean="0"/>
              <a:t> </a:t>
            </a:r>
          </a:p>
          <a:p>
            <a:endParaRPr lang="en-US" smtClean="0"/>
          </a:p>
        </p:txBody>
      </p:sp>
      <p:sp>
        <p:nvSpPr>
          <p:cNvPr id="34821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/>
            <a:r>
              <a:rPr lang="en-US" sz="1000"/>
              <a:t>Chap 1-</a:t>
            </a:r>
            <a:fld id="{63DC2541-4943-46BF-8D54-2E14D813A555}" type="slidenum">
              <a:rPr lang="en-US" sz="1000"/>
              <a:pPr algn="r"/>
              <a:t>17</a:t>
            </a:fld>
            <a:endParaRPr lang="en-US" sz="1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/>
          <a:p>
            <a:r>
              <a:rPr lang="en-US"/>
              <a:t>Copyright ©2012 Pearson Education</a:t>
            </a:r>
          </a:p>
        </p:txBody>
      </p:sp>
      <p:sp>
        <p:nvSpPr>
          <p:cNvPr id="35841" name="Rectangle 14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1-</a:t>
            </a:r>
            <a:fld id="{4AB51434-C49E-41D1-9FB9-2C02A3926208}" type="slidenum">
              <a:rPr lang="en-US" smtClean="0">
                <a:latin typeface="Arial" charset="0"/>
              </a:rPr>
              <a:pPr/>
              <a:t>18</a:t>
            </a:fld>
            <a:endParaRPr lang="en-US" smtClean="0">
              <a:latin typeface="Arial" charset="0"/>
            </a:endParaRPr>
          </a:p>
        </p:txBody>
      </p:sp>
      <p:sp>
        <p:nvSpPr>
          <p:cNvPr id="35842" name="Rectangle 17"/>
          <p:cNvSpPr txBox="1">
            <a:spLocks noGrp="1" noChangeArrowheads="1"/>
          </p:cNvSpPr>
          <p:nvPr/>
        </p:nvSpPr>
        <p:spPr bwMode="auto">
          <a:xfrm>
            <a:off x="0" y="6629400"/>
            <a:ext cx="59436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r>
              <a:rPr lang="en-US" sz="800"/>
              <a:t>Copyright ©2012 Pearson Education</a:t>
            </a:r>
          </a:p>
        </p:txBody>
      </p:sp>
      <p:sp>
        <p:nvSpPr>
          <p:cNvPr id="3584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Interval and Ratio Scales</a:t>
            </a:r>
          </a:p>
        </p:txBody>
      </p:sp>
      <p:sp>
        <p:nvSpPr>
          <p:cNvPr id="35844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/>
            <a:r>
              <a:rPr lang="en-US" sz="1000"/>
              <a:t>Chap 1-</a:t>
            </a:r>
            <a:fld id="{603F4AB1-FF24-4F05-81B8-D7FEBB2E97B6}" type="slidenum">
              <a:rPr lang="en-US" sz="1000"/>
              <a:pPr algn="r"/>
              <a:t>18</a:t>
            </a:fld>
            <a:endParaRPr lang="en-US" sz="1000"/>
          </a:p>
        </p:txBody>
      </p:sp>
      <p:pic>
        <p:nvPicPr>
          <p:cNvPr id="35845" name="Picture 4" descr="_Pic9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1828800"/>
            <a:ext cx="8783638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/>
          <a:p>
            <a:r>
              <a:rPr lang="en-US"/>
              <a:t>Copyright ©2012 Pearson Education</a:t>
            </a:r>
          </a:p>
        </p:txBody>
      </p:sp>
      <p:sp>
        <p:nvSpPr>
          <p:cNvPr id="36865" name="Rectangle 14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Chap 1-</a:t>
            </a:r>
            <a:fld id="{AFD4E3B5-7A24-482D-8D32-F74D9BEBB09D}" type="slidenum">
              <a:rPr lang="en-US" smtClean="0">
                <a:latin typeface="Arial" charset="0"/>
              </a:rPr>
              <a:pPr/>
              <a:t>19</a:t>
            </a:fld>
            <a:endParaRPr lang="en-US" smtClean="0">
              <a:latin typeface="Arial" charset="0"/>
            </a:endParaRPr>
          </a:p>
        </p:txBody>
      </p:sp>
      <p:sp>
        <p:nvSpPr>
          <p:cNvPr id="36866" name="Rectangle 17"/>
          <p:cNvSpPr txBox="1">
            <a:spLocks noGrp="1" noChangeArrowheads="1"/>
          </p:cNvSpPr>
          <p:nvPr/>
        </p:nvSpPr>
        <p:spPr bwMode="auto">
          <a:xfrm>
            <a:off x="0" y="6629400"/>
            <a:ext cx="59436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r>
              <a:rPr lang="en-US" sz="800"/>
              <a:t>Copyright ©2012 Pearson Education</a:t>
            </a:r>
          </a:p>
        </p:txBody>
      </p:sp>
      <p:sp>
        <p:nvSpPr>
          <p:cNvPr id="36867" name="Slide Number Placeholder 4"/>
          <p:cNvSpPr txBox="1">
            <a:spLocks noGrp="1"/>
          </p:cNvSpPr>
          <p:nvPr/>
        </p:nvSpPr>
        <p:spPr bwMode="auto">
          <a:xfrm>
            <a:off x="6858000" y="653415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342" tIns="42672" rIns="85342" bIns="42672" anchor="b"/>
          <a:lstStyle/>
          <a:p>
            <a:pPr algn="r" defTabSz="852488"/>
            <a:r>
              <a:rPr lang="en-US" sz="1000"/>
              <a:t>Chap 1-</a:t>
            </a:r>
            <a:fld id="{D150C4D0-2235-4B3A-8F90-0B3DA1994D8A}" type="slidenum">
              <a:rPr lang="en-US" sz="1000"/>
              <a:pPr algn="r" defTabSz="852488"/>
              <a:t>19</a:t>
            </a:fld>
            <a:endParaRPr lang="en-US" sz="1000"/>
          </a:p>
        </p:txBody>
      </p:sp>
      <p:sp>
        <p:nvSpPr>
          <p:cNvPr id="368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Chapter Summary</a:t>
            </a:r>
          </a:p>
        </p:txBody>
      </p:sp>
      <p:sp>
        <p:nvSpPr>
          <p:cNvPr id="3686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2209800"/>
            <a:ext cx="8686800" cy="4267200"/>
          </a:xfrm>
        </p:spPr>
        <p:txBody>
          <a:bodyPr/>
          <a:lstStyle/>
          <a:p>
            <a:pPr eaLnBrk="1" hangingPunct="1">
              <a:lnSpc>
                <a:spcPct val="110000"/>
              </a:lnSpc>
              <a:buClr>
                <a:schemeClr val="tx1"/>
              </a:buClr>
              <a:buSzTx/>
              <a:buFont typeface="Wingdings" pitchFamily="2" charset="2"/>
              <a:buChar char="§"/>
            </a:pPr>
            <a:r>
              <a:rPr lang="en-US" sz="2400" smtClean="0">
                <a:latin typeface="Times New Roman" pitchFamily="18" charset="0"/>
              </a:rPr>
              <a:t>Introduced the basic vocabulary and definitions of statistics, and the role of statistics in turning data into information to facilitate decision making</a:t>
            </a:r>
          </a:p>
          <a:p>
            <a:pPr eaLnBrk="1" hangingPunct="1">
              <a:lnSpc>
                <a:spcPct val="110000"/>
              </a:lnSpc>
              <a:buClr>
                <a:schemeClr val="tx1"/>
              </a:buClr>
              <a:buSzTx/>
              <a:buFont typeface="Wingdings" pitchFamily="2" charset="2"/>
              <a:buChar char="§"/>
            </a:pPr>
            <a:r>
              <a:rPr lang="en-US" sz="2400" smtClean="0">
                <a:latin typeface="Times New Roman" pitchFamily="18" charset="0"/>
              </a:rPr>
              <a:t>Examined the use of statistics to:</a:t>
            </a:r>
          </a:p>
          <a:p>
            <a:pPr lvl="1" eaLnBrk="1" hangingPunct="1">
              <a:lnSpc>
                <a:spcPct val="110000"/>
              </a:lnSpc>
              <a:buClr>
                <a:schemeClr val="tx1"/>
              </a:buClr>
              <a:buSzTx/>
              <a:buFont typeface="Wingdings" pitchFamily="2" charset="2"/>
              <a:buChar char="§"/>
            </a:pPr>
            <a:r>
              <a:rPr lang="en-US" sz="2000" smtClean="0">
                <a:latin typeface="Times New Roman" pitchFamily="18" charset="0"/>
                <a:sym typeface="Symbol" pitchFamily="18" charset="2"/>
              </a:rPr>
              <a:t>Summarize data</a:t>
            </a:r>
          </a:p>
          <a:p>
            <a:pPr lvl="1" eaLnBrk="1" hangingPunct="1">
              <a:lnSpc>
                <a:spcPct val="110000"/>
              </a:lnSpc>
              <a:buClr>
                <a:schemeClr val="tx1"/>
              </a:buClr>
              <a:buSzTx/>
              <a:buFont typeface="Wingdings" pitchFamily="2" charset="2"/>
              <a:buChar char="§"/>
            </a:pPr>
            <a:r>
              <a:rPr lang="en-US" sz="2000" smtClean="0">
                <a:latin typeface="Times New Roman" pitchFamily="18" charset="0"/>
                <a:sym typeface="Symbol" pitchFamily="18" charset="2"/>
              </a:rPr>
              <a:t>Draw conclusions from data</a:t>
            </a:r>
          </a:p>
          <a:p>
            <a:pPr lvl="1" eaLnBrk="1" hangingPunct="1">
              <a:lnSpc>
                <a:spcPct val="110000"/>
              </a:lnSpc>
              <a:buClr>
                <a:schemeClr val="tx1"/>
              </a:buClr>
              <a:buSzTx/>
              <a:buFont typeface="Wingdings" pitchFamily="2" charset="2"/>
              <a:buChar char="§"/>
            </a:pPr>
            <a:r>
              <a:rPr lang="en-US" sz="2000" smtClean="0">
                <a:latin typeface="Times New Roman" pitchFamily="18" charset="0"/>
                <a:sym typeface="Symbol" pitchFamily="18" charset="2"/>
              </a:rPr>
              <a:t>Make reliable forecasts</a:t>
            </a:r>
          </a:p>
          <a:p>
            <a:pPr lvl="1" eaLnBrk="1" hangingPunct="1">
              <a:lnSpc>
                <a:spcPct val="110000"/>
              </a:lnSpc>
              <a:buClr>
                <a:schemeClr val="tx1"/>
              </a:buClr>
              <a:buSzTx/>
              <a:buFont typeface="Wingdings" pitchFamily="2" charset="2"/>
              <a:buChar char="§"/>
            </a:pPr>
            <a:r>
              <a:rPr lang="en-US" sz="2000" smtClean="0">
                <a:latin typeface="Times New Roman" pitchFamily="18" charset="0"/>
                <a:sym typeface="Symbol" pitchFamily="18" charset="2"/>
              </a:rPr>
              <a:t>Improve business processes</a:t>
            </a:r>
          </a:p>
          <a:p>
            <a:pPr eaLnBrk="1" hangingPunct="1">
              <a:lnSpc>
                <a:spcPct val="110000"/>
              </a:lnSpc>
              <a:buClr>
                <a:schemeClr val="tx1"/>
              </a:buClr>
              <a:buSzTx/>
              <a:buFont typeface="Wingdings" pitchFamily="2" charset="2"/>
              <a:buChar char="§"/>
            </a:pPr>
            <a:r>
              <a:rPr lang="en-US" sz="2400" smtClean="0">
                <a:latin typeface="Times New Roman" pitchFamily="18" charset="0"/>
              </a:rPr>
              <a:t>Examined descriptive vs. inferential statistics</a:t>
            </a:r>
          </a:p>
          <a:p>
            <a:pPr eaLnBrk="1" hangingPunct="1">
              <a:lnSpc>
                <a:spcPct val="110000"/>
              </a:lnSpc>
              <a:buClr>
                <a:schemeClr val="tx1"/>
              </a:buClr>
              <a:buSzTx/>
              <a:buFont typeface="Wingdings" pitchFamily="2" charset="2"/>
              <a:buChar char="§"/>
            </a:pPr>
            <a:r>
              <a:rPr lang="en-US" sz="2400" smtClean="0">
                <a:latin typeface="Times New Roman" pitchFamily="18" charset="0"/>
              </a:rPr>
              <a:t>Reviewed data types and measurement level</a:t>
            </a:r>
          </a:p>
        </p:txBody>
      </p:sp>
      <p:sp>
        <p:nvSpPr>
          <p:cNvPr id="36870" name="Text Box 4"/>
          <p:cNvSpPr txBox="1">
            <a:spLocks noChangeArrowheads="1"/>
          </p:cNvSpPr>
          <p:nvPr/>
        </p:nvSpPr>
        <p:spPr bwMode="auto">
          <a:xfrm>
            <a:off x="304800" y="1741488"/>
            <a:ext cx="3429000" cy="4254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50000"/>
              </a:spcBef>
              <a:buClr>
                <a:schemeClr val="accent1"/>
              </a:buClr>
              <a:buSzPct val="85000"/>
              <a:buFont typeface="Wingdings" pitchFamily="2" charset="2"/>
              <a:buNone/>
            </a:pPr>
            <a:r>
              <a:rPr lang="en-US">
                <a:solidFill>
                  <a:schemeClr val="tx2"/>
                </a:solidFill>
                <a:latin typeface="Times New Roman" pitchFamily="18" charset="0"/>
              </a:rPr>
              <a:t>In this chapter, we have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renHall1">
  <a:themeElements>
    <a:clrScheme name="PrenHall1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PrenHall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1750" cap="flat" cmpd="sng" algn="ctr">
          <a:solidFill>
            <a:schemeClr val="folHlink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1750" cap="flat" cmpd="sng" algn="ctr">
          <a:solidFill>
            <a:schemeClr val="folHlink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PrenHall1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enHall1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nHall1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nHall1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enHall1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nHall1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nHall1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Designs\PrenHall1.pot</Template>
  <TotalTime>1445</TotalTime>
  <Pages>20</Pages>
  <Words>923</Words>
  <Application>Microsoft Office PowerPoint</Application>
  <PresentationFormat>On-screen Show (4:3)</PresentationFormat>
  <Paragraphs>220</Paragraphs>
  <Slides>19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Design Template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Wingdings</vt:lpstr>
      <vt:lpstr>Times New Roman</vt:lpstr>
      <vt:lpstr>Symbol</vt:lpstr>
      <vt:lpstr>PrenHall1</vt:lpstr>
      <vt:lpstr>PrenHall1</vt:lpstr>
      <vt:lpstr>Clip</vt:lpstr>
      <vt:lpstr>Basic Business Statistics 12th Edition Global Edition</vt:lpstr>
      <vt:lpstr>Learning Objectives</vt:lpstr>
      <vt:lpstr>Why Learn Statistics</vt:lpstr>
      <vt:lpstr>In Business, Statistics Has Many Important Uses</vt:lpstr>
      <vt:lpstr>Two Different Branches Of Statistics Are Used In Business</vt:lpstr>
      <vt:lpstr>These Two Branches Are Used In The Important Activities</vt:lpstr>
      <vt:lpstr>Descriptive Statistics</vt:lpstr>
      <vt:lpstr>Inferential Statistics</vt:lpstr>
      <vt:lpstr>Basic Vocabulary of Statistics</vt:lpstr>
      <vt:lpstr>Basic Vocabulary of Statistics</vt:lpstr>
      <vt:lpstr>Population vs. Sample</vt:lpstr>
      <vt:lpstr>This Book Is Organized To Show The Four Uses Of Statistics</vt:lpstr>
      <vt:lpstr>Types of Variables</vt:lpstr>
      <vt:lpstr>Types of Variables</vt:lpstr>
      <vt:lpstr>Levels of Measurement</vt:lpstr>
      <vt:lpstr>Levels of Measurement (con’t.)</vt:lpstr>
      <vt:lpstr>Levels of Measurement (con’t.)</vt:lpstr>
      <vt:lpstr>Interval and Ratio Scales</vt:lpstr>
      <vt:lpstr>Chapter Summary</vt:lpstr>
    </vt:vector>
  </TitlesOfParts>
  <Company>University of San Diego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Business Statistics, 10/e</dc:title>
  <dc:subject>Chapter 1</dc:subject>
  <dc:creator>Pat Schur</dc:creator>
  <cp:lastModifiedBy>emiljone</cp:lastModifiedBy>
  <cp:revision>107</cp:revision>
  <cp:lastPrinted>1998-11-22T23:37:53Z</cp:lastPrinted>
  <dcterms:created xsi:type="dcterms:W3CDTF">2001-01-13T00:04:22Z</dcterms:created>
  <dcterms:modified xsi:type="dcterms:W3CDTF">2011-03-23T11:11:04Z</dcterms:modified>
</cp:coreProperties>
</file>