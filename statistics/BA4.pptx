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51" r:id="rId1"/>
  </p:sldMasterIdLst>
  <p:notesMasterIdLst>
    <p:notesMasterId r:id="rId43"/>
  </p:notesMasterIdLst>
  <p:handoutMasterIdLst>
    <p:handoutMasterId r:id="rId44"/>
  </p:handoutMasterIdLst>
  <p:sldIdLst>
    <p:sldId id="260" r:id="rId2"/>
    <p:sldId id="343" r:id="rId3"/>
    <p:sldId id="344" r:id="rId4"/>
    <p:sldId id="346" r:id="rId5"/>
    <p:sldId id="391" r:id="rId6"/>
    <p:sldId id="380" r:id="rId7"/>
    <p:sldId id="263" r:id="rId8"/>
    <p:sldId id="345" r:id="rId9"/>
    <p:sldId id="347" r:id="rId10"/>
    <p:sldId id="383" r:id="rId11"/>
    <p:sldId id="381" r:id="rId12"/>
    <p:sldId id="337" r:id="rId13"/>
    <p:sldId id="348" r:id="rId14"/>
    <p:sldId id="273" r:id="rId15"/>
    <p:sldId id="349" r:id="rId16"/>
    <p:sldId id="350" r:id="rId17"/>
    <p:sldId id="274" r:id="rId18"/>
    <p:sldId id="270" r:id="rId19"/>
    <p:sldId id="354" r:id="rId20"/>
    <p:sldId id="355" r:id="rId21"/>
    <p:sldId id="277" r:id="rId22"/>
    <p:sldId id="358" r:id="rId23"/>
    <p:sldId id="359" r:id="rId24"/>
    <p:sldId id="360" r:id="rId25"/>
    <p:sldId id="363" r:id="rId26"/>
    <p:sldId id="365" r:id="rId27"/>
    <p:sldId id="361" r:id="rId28"/>
    <p:sldId id="362" r:id="rId29"/>
    <p:sldId id="366" r:id="rId30"/>
    <p:sldId id="382" r:id="rId31"/>
    <p:sldId id="370" r:id="rId32"/>
    <p:sldId id="367" r:id="rId33"/>
    <p:sldId id="368" r:id="rId34"/>
    <p:sldId id="371" r:id="rId35"/>
    <p:sldId id="372" r:id="rId36"/>
    <p:sldId id="386" r:id="rId37"/>
    <p:sldId id="387" r:id="rId38"/>
    <p:sldId id="388" r:id="rId39"/>
    <p:sldId id="389" r:id="rId40"/>
    <p:sldId id="390" r:id="rId41"/>
    <p:sldId id="305" r:id="rId42"/>
  </p:sldIdLst>
  <p:sldSz cx="9144000" cy="6858000" type="screen4x3"/>
  <p:notesSz cx="6858000" cy="9144000"/>
  <p:embeddedFontLst>
    <p:embeddedFont>
      <p:font typeface="MT Extra" pitchFamily="18" charset="2"/>
      <p:regular r:id="rId45"/>
    </p:embeddedFont>
  </p:embeddedFont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C7DAF7"/>
    <a:srgbClr val="B2CDF4"/>
    <a:srgbClr val="96BAF0"/>
    <a:srgbClr val="92F4F2"/>
    <a:srgbClr val="C6A000"/>
    <a:srgbClr val="FDE0BD"/>
    <a:srgbClr val="FFCCFF"/>
    <a:srgbClr val="FDB6B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21090" autoAdjust="0"/>
    <p:restoredTop sz="95143" autoAdjust="0"/>
  </p:normalViewPr>
  <p:slideViewPr>
    <p:cSldViewPr>
      <p:cViewPr varScale="1">
        <p:scale>
          <a:sx n="103" d="100"/>
          <a:sy n="103" d="100"/>
        </p:scale>
        <p:origin x="-61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38"/>
    </p:cViewPr>
  </p:sorterViewPr>
  <p:notesViewPr>
    <p:cSldViewPr>
      <p:cViewPr>
        <p:scale>
          <a:sx n="75" d="100"/>
          <a:sy n="75" d="100"/>
        </p:scale>
        <p:origin x="-2130" y="-25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6200" y="8823325"/>
            <a:ext cx="670560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828675" y="8763000"/>
            <a:ext cx="5622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71438" y="55563"/>
            <a:ext cx="67151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/>
              <a:t>	Chapter 4		 4-</a:t>
            </a:r>
            <a:fld id="{9E525FC2-8073-4D7B-BAD0-BE98D9D3A233}" type="slidenum">
              <a:rPr lang="en-US" sz="1200"/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/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/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625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24000" y="609600"/>
            <a:ext cx="3962400" cy="2590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120775" y="3581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1120775" y="3886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1120775" y="4191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1120775" y="4495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1120775" y="4800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1120775" y="5410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1120775" y="5715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1120775" y="6019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1120775" y="6324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1120775" y="6629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1120775" y="6934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1120775" y="7239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1120775" y="7543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1120775" y="7848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120775" y="8153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120775" y="8458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523875" y="8763000"/>
            <a:ext cx="5851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77788" y="61913"/>
            <a:ext cx="670242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/>
              <a:t>	Chapter 4		4-</a:t>
            </a:r>
            <a:fld id="{2A84A060-FD25-471D-9094-18F541C49ABE}" type="slidenum">
              <a:rPr lang="en-US" sz="1200"/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/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/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5191125"/>
            <a:ext cx="5029200" cy="3267075"/>
          </a:xfrm>
          <a:noFill/>
          <a:ln w="9525"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78000" y="609600"/>
            <a:ext cx="3454400" cy="2590800"/>
          </a:xfrm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656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3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34938" y="2438400"/>
            <a:ext cx="9009062" cy="1181100"/>
            <a:chOff x="0" y="1536"/>
            <a:chExt cx="5675" cy="744"/>
          </a:xfrm>
        </p:grpSpPr>
        <p:grpSp>
          <p:nvGrpSpPr>
            <p:cNvPr id="5" name="Group 5"/>
            <p:cNvGrpSpPr>
              <a:grpSpLocks/>
            </p:cNvGrpSpPr>
            <p:nvPr userDrawn="1"/>
          </p:nvGrpSpPr>
          <p:grpSpPr bwMode="auto">
            <a:xfrm>
              <a:off x="185" y="1604"/>
              <a:ext cx="449" cy="297"/>
              <a:chOff x="720" y="336"/>
              <a:chExt cx="624" cy="432"/>
            </a:xfrm>
          </p:grpSpPr>
          <p:sp>
            <p:nvSpPr>
              <p:cNvPr id="12" name="Rectangle 6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7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6" name="Rectangle 8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9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" name="Footer Placeholder 3"/>
          <p:cNvSpPr txBox="1">
            <a:spLocks/>
          </p:cNvSpPr>
          <p:nvPr userDrawn="1"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5342" tIns="42672" rIns="85342" bIns="42672" anchor="b"/>
          <a:lstStyle/>
          <a:p>
            <a:pPr>
              <a:defRPr/>
            </a:pPr>
            <a:endParaRPr lang="en-US" sz="800"/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3356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1438"/>
            <a:ext cx="6400800" cy="1762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98F7F4B4-E26E-4435-8A13-27E280C5CF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629400"/>
            <a:ext cx="5715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D50405F2-561A-40AE-B719-1D7CA2338C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D3D3A3E5-7CAC-4A3A-B74D-58479848B2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7E923DB5-E8A2-4D78-A1B9-ADE936EA4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E9DC8692-377C-420C-8D07-A7ED4CB04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AECE6766-E63B-4E5B-B825-F9CB59FD11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2BF6C56E-7F4D-4622-86EA-81BAE31969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9954F36D-C285-4BD1-ADAF-4F45821A66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798A93C6-2C9A-4061-8EDE-81FB98847C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4EC121CD-1C59-4C1D-9807-53172DEBB0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19300" cy="6132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905500" cy="6132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AE234FEB-B4BA-46C0-B79E-8A04ED3688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828800"/>
            <a:ext cx="39624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4170363"/>
            <a:ext cx="3962400" cy="2190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4-</a:t>
            </a:r>
            <a:fld id="{BA1EBDC5-E551-4847-8134-86F76F8C4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7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28600"/>
            <a:ext cx="738346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8077200" cy="453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Chap 4-</a:t>
            </a:r>
            <a:fld id="{03C98A71-1040-4E06-AAD5-A561E5AC9E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1509" name="Group 6"/>
          <p:cNvGrpSpPr>
            <a:grpSpLocks/>
          </p:cNvGrpSpPr>
          <p:nvPr/>
        </p:nvGrpSpPr>
        <p:grpSpPr bwMode="auto">
          <a:xfrm>
            <a:off x="0" y="609600"/>
            <a:ext cx="9009063" cy="1181100"/>
            <a:chOff x="0" y="1536"/>
            <a:chExt cx="5675" cy="744"/>
          </a:xfrm>
        </p:grpSpPr>
        <p:grpSp>
          <p:nvGrpSpPr>
            <p:cNvPr id="21512" name="Group 7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7"/>
              <a:chOff x="720" y="336"/>
              <a:chExt cx="624" cy="432"/>
            </a:xfrm>
          </p:grpSpPr>
          <p:sp>
            <p:nvSpPr>
              <p:cNvPr id="267272" name="Rectangle 8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67273" name="Rectangle 9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67274" name="Rectangle 10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7275" name="Rectangle 11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7276" name="Rectangle 12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7277" name="Rectangle 13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7278" name="Rectangle 14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7279" name="Rectangle 15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Footer Placeholder 3"/>
          <p:cNvSpPr txBox="1">
            <a:spLocks/>
          </p:cNvSpPr>
          <p:nvPr/>
        </p:nvSpPr>
        <p:spPr bwMode="auto">
          <a:xfrm>
            <a:off x="0" y="6629400"/>
            <a:ext cx="5867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5342" tIns="42672" rIns="85342" bIns="42672" anchor="b"/>
          <a:lstStyle/>
          <a:p>
            <a:pPr>
              <a:defRPr/>
            </a:pPr>
            <a:endParaRPr lang="en-US" sz="800"/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29400"/>
            <a:ext cx="5867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en-US"/>
              <a:t>Copyright ©2012 Pearson Education, Inc. publishing as Prentice Hall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2" r:id="rId3"/>
    <p:sldLayoutId id="2147483661" r:id="rId4"/>
    <p:sldLayoutId id="2147483660" r:id="rId5"/>
    <p:sldLayoutId id="2147483659" r:id="rId6"/>
    <p:sldLayoutId id="2147483658" r:id="rId7"/>
    <p:sldLayoutId id="2147483657" r:id="rId8"/>
    <p:sldLayoutId id="2147483656" r:id="rId9"/>
    <p:sldLayoutId id="2147483655" r:id="rId10"/>
    <p:sldLayoutId id="2147483654" r:id="rId11"/>
    <p:sldLayoutId id="2147483653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20675" indent="-32067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1919288" indent="-212725" algn="l" defTabSz="852488" rtl="0" eaLnBrk="0" fontAlgn="base" hangingPunct="0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9.gi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3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oleObject" Target="../embeddings/oleObject34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0D4F194B-1F3B-4E2D-888B-AC657C36F924}" type="slidenum">
              <a:rPr lang="en-US" smtClean="0">
                <a:latin typeface="Arial" charset="0"/>
              </a:rPr>
              <a:pPr/>
              <a:t>1</a:t>
            </a:fld>
            <a:endParaRPr lang="en-US" smtClean="0">
              <a:latin typeface="Arial" charset="0"/>
            </a:endParaRPr>
          </a:p>
        </p:txBody>
      </p:sp>
      <p:sp>
        <p:nvSpPr>
          <p:cNvPr id="10035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0355" name="Rectangle 15"/>
          <p:cNvSpPr txBox="1">
            <a:spLocks noGrp="1" noChangeArrowheads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7AC0B708-5477-44AC-A957-53A30A1F8A36}" type="slidenum">
              <a:rPr lang="en-US" sz="1000"/>
              <a:pPr algn="r" defTabSz="852488"/>
              <a:t>1</a:t>
            </a:fld>
            <a:endParaRPr lang="en-US" sz="1000"/>
          </a:p>
        </p:txBody>
      </p:sp>
      <p:sp>
        <p:nvSpPr>
          <p:cNvPr id="100356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505200"/>
            <a:ext cx="6477000" cy="2443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500" b="1" smtClean="0"/>
              <a:t>Chapter 4</a:t>
            </a:r>
          </a:p>
          <a:p>
            <a:pPr eaLnBrk="1" hangingPunct="1">
              <a:lnSpc>
                <a:spcPct val="90000"/>
              </a:lnSpc>
            </a:pPr>
            <a:endParaRPr lang="en-US" sz="3500" smtClean="0"/>
          </a:p>
          <a:p>
            <a:pPr eaLnBrk="1" hangingPunct="1"/>
            <a:r>
              <a:rPr lang="en-US" sz="3500" smtClean="0"/>
              <a:t>Basic Probability</a:t>
            </a:r>
          </a:p>
        </p:txBody>
      </p:sp>
      <p:sp>
        <p:nvSpPr>
          <p:cNvPr id="100357" name="Rectangle 1030"/>
          <p:cNvSpPr>
            <a:spLocks noChangeArrowheads="1"/>
          </p:cNvSpPr>
          <p:nvPr/>
        </p:nvSpPr>
        <p:spPr bwMode="auto">
          <a:xfrm>
            <a:off x="1447800" y="838200"/>
            <a:ext cx="7010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ctr" defTabSz="852488"/>
            <a:r>
              <a:rPr lang="en-US" sz="4000" i="1">
                <a:solidFill>
                  <a:schemeClr val="folHlink"/>
                </a:solidFill>
              </a:rPr>
              <a:t>Basic Business Statistics</a:t>
            </a:r>
            <a:r>
              <a:rPr lang="en-US" sz="4100">
                <a:solidFill>
                  <a:schemeClr val="folHlink"/>
                </a:solidFill>
              </a:rPr>
              <a:t/>
            </a:r>
            <a:br>
              <a:rPr lang="en-US" sz="4100">
                <a:solidFill>
                  <a:schemeClr val="folHlink"/>
                </a:solidFill>
              </a:rPr>
            </a:br>
            <a:r>
              <a:rPr lang="en-US" sz="3600">
                <a:solidFill>
                  <a:schemeClr val="folHlink"/>
                </a:solidFill>
              </a:rPr>
              <a:t>12</a:t>
            </a:r>
            <a:r>
              <a:rPr lang="en-US" sz="3600" baseline="30000">
                <a:solidFill>
                  <a:schemeClr val="folHlink"/>
                </a:solidFill>
              </a:rPr>
              <a:t>th</a:t>
            </a:r>
            <a:r>
              <a:rPr lang="en-US" sz="3600">
                <a:solidFill>
                  <a:schemeClr val="folHlink"/>
                </a:solidFill>
              </a:rPr>
              <a:t> Edition</a:t>
            </a:r>
          </a:p>
          <a:p>
            <a:pPr algn="ctr" defTabSz="852488"/>
            <a:r>
              <a:rPr lang="en-US" sz="3600">
                <a:solidFill>
                  <a:schemeClr val="folHlink"/>
                </a:solidFill>
              </a:rPr>
              <a:t>Global 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CA8CE72F-FD9B-4FB5-B312-F737BECA5E03}" type="slidenum">
              <a:rPr lang="en-US" smtClean="0">
                <a:latin typeface="Arial" charset="0"/>
              </a:rPr>
              <a:pPr/>
              <a:t>2</a:t>
            </a:fld>
            <a:endParaRPr lang="en-US" smtClean="0">
              <a:latin typeface="Arial" charset="0"/>
            </a:endParaRPr>
          </a:p>
        </p:txBody>
      </p:sp>
      <p:sp>
        <p:nvSpPr>
          <p:cNvPr id="10342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342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AFC13C28-CE9C-4E09-8651-AC2138774F95}" type="slidenum">
              <a:rPr lang="en-US" sz="1000"/>
              <a:pPr algn="r" defTabSz="852488"/>
              <a:t>2</a:t>
            </a:fld>
            <a:endParaRPr lang="en-US" sz="1000"/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6931025" cy="990600"/>
          </a:xfrm>
        </p:spPr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034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001000" cy="4191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smtClean="0"/>
              <a:t>In this chapter, you learn:</a:t>
            </a:r>
            <a:r>
              <a:rPr lang="en-US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r>
              <a:rPr lang="en-US" smtClean="0"/>
              <a:t>Basic probability concepts</a:t>
            </a:r>
          </a:p>
          <a:p>
            <a:pPr eaLnBrk="1" hangingPunct="1"/>
            <a:r>
              <a:rPr lang="en-US" smtClean="0"/>
              <a:t>Conditional probability </a:t>
            </a:r>
          </a:p>
          <a:p>
            <a:pPr eaLnBrk="1" hangingPunct="1"/>
            <a:r>
              <a:rPr lang="en-US" smtClean="0"/>
              <a:t>To use Bayes’ Theorem to revise probabilities</a:t>
            </a:r>
          </a:p>
          <a:p>
            <a:pPr eaLnBrk="1" hangingPunct="1"/>
            <a:r>
              <a:rPr lang="en-US" smtClean="0"/>
              <a:t>Various counting rules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69FC3530-5B2B-4DFC-B1F2-5D0CA4ED4B62}" type="slidenum">
              <a:rPr lang="en-US" smtClean="0">
                <a:latin typeface="Arial" charset="0"/>
              </a:rPr>
              <a:pPr/>
              <a:t>3</a:t>
            </a:fld>
            <a:endParaRPr lang="en-US" smtClean="0">
              <a:latin typeface="Arial" charset="0"/>
            </a:endParaRPr>
          </a:p>
        </p:txBody>
      </p:sp>
      <p:sp>
        <p:nvSpPr>
          <p:cNvPr id="10752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752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E49EE69C-7663-4262-97FC-4A239A89C316}" type="slidenum">
              <a:rPr lang="en-US" sz="1000"/>
              <a:pPr algn="r" defTabSz="852488"/>
              <a:t>3</a:t>
            </a:fld>
            <a:endParaRPr lang="en-US" sz="1000"/>
          </a:p>
        </p:txBody>
      </p:sp>
      <p:sp>
        <p:nvSpPr>
          <p:cNvPr id="107524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863" y="228600"/>
            <a:ext cx="6424612" cy="914400"/>
          </a:xfrm>
        </p:spPr>
        <p:txBody>
          <a:bodyPr/>
          <a:lstStyle/>
          <a:p>
            <a:pPr defTabSz="914400" eaLnBrk="1" hangingPunct="1"/>
            <a:r>
              <a:rPr lang="en-US" smtClean="0"/>
              <a:t>Basic Probability Concepts</a:t>
            </a:r>
          </a:p>
        </p:txBody>
      </p:sp>
      <p:sp>
        <p:nvSpPr>
          <p:cNvPr id="1075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077200" cy="4495800"/>
          </a:xfrm>
        </p:spPr>
        <p:txBody>
          <a:bodyPr/>
          <a:lstStyle/>
          <a:p>
            <a:pPr marL="342900" indent="-342900" defTabSz="914400" eaLnBrk="1" hangingPunct="1"/>
            <a:r>
              <a:rPr lang="en-US" smtClean="0">
                <a:solidFill>
                  <a:schemeClr val="folHlink"/>
                </a:solidFill>
              </a:rPr>
              <a:t>Probability</a:t>
            </a:r>
            <a:r>
              <a:rPr lang="en-US" smtClean="0"/>
              <a:t> – the chance that an uncertain event will occur (always between 0 and 1)</a:t>
            </a:r>
          </a:p>
          <a:p>
            <a:pPr marL="342900" indent="-342900" defTabSz="914400" eaLnBrk="1" hangingPunct="1"/>
            <a:endParaRPr lang="en-US" smtClean="0"/>
          </a:p>
          <a:p>
            <a:pPr marL="342900" indent="-342900" defTabSz="914400" eaLnBrk="1" hangingPunct="1"/>
            <a:r>
              <a:rPr lang="en-US" smtClean="0">
                <a:solidFill>
                  <a:schemeClr val="folHlink"/>
                </a:solidFill>
              </a:rPr>
              <a:t>Impossible Event</a:t>
            </a:r>
            <a:r>
              <a:rPr lang="en-US" smtClean="0"/>
              <a:t> – an event that has no chance of occurring (probability = 0)</a:t>
            </a:r>
          </a:p>
          <a:p>
            <a:pPr marL="342900" indent="-342900" defTabSz="914400" eaLnBrk="1" hangingPunct="1"/>
            <a:endParaRPr lang="en-US" smtClean="0"/>
          </a:p>
          <a:p>
            <a:pPr marL="342900" indent="-342900" defTabSz="914400" eaLnBrk="1" hangingPunct="1"/>
            <a:r>
              <a:rPr lang="en-US" smtClean="0">
                <a:solidFill>
                  <a:schemeClr val="folHlink"/>
                </a:solidFill>
              </a:rPr>
              <a:t>Certain Event</a:t>
            </a:r>
            <a:r>
              <a:rPr lang="en-US" smtClean="0"/>
              <a:t> – an event that is sure to occur (probability = 1)</a:t>
            </a:r>
          </a:p>
          <a:p>
            <a:pPr marL="342900" indent="-342900" defTabSz="914400" eaLnBrk="1" hangingPunct="1"/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AA6B7116-BEA6-440B-BBE9-FAC786EDB553}" type="slidenum">
              <a:rPr lang="en-US" smtClean="0">
                <a:latin typeface="Arial" charset="0"/>
              </a:rPr>
              <a:pPr/>
              <a:t>4</a:t>
            </a:fld>
            <a:endParaRPr lang="en-US" smtClean="0">
              <a:latin typeface="Arial" charset="0"/>
            </a:endParaRPr>
          </a:p>
        </p:txBody>
      </p:sp>
      <p:sp>
        <p:nvSpPr>
          <p:cNvPr id="1029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3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2B9FFD2B-272F-4980-95C6-C47857C378BE}" type="slidenum">
              <a:rPr lang="en-US" sz="1000"/>
              <a:pPr algn="r" defTabSz="852488"/>
              <a:t>4</a:t>
            </a:fld>
            <a:endParaRPr lang="en-US" sz="100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Assessing Probability</a:t>
            </a: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82000" cy="47244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3200" smtClean="0"/>
              <a:t>There are three approaches to assessing the probability of an uncertain event: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3200" smtClean="0"/>
              <a:t>	</a:t>
            </a:r>
            <a:r>
              <a:rPr lang="en-US" sz="2000" smtClean="0"/>
              <a:t>1. </a:t>
            </a:r>
            <a:r>
              <a:rPr lang="en-US" sz="2000" i="1" smtClean="0">
                <a:solidFill>
                  <a:schemeClr val="folHlink"/>
                </a:solidFill>
              </a:rPr>
              <a:t>a priori  --  based on prior knowledge of the process</a:t>
            </a:r>
            <a:endParaRPr lang="en-US" sz="2000" smtClean="0">
              <a:solidFill>
                <a:schemeClr val="folHlink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sz="2000" smtClean="0">
              <a:solidFill>
                <a:schemeClr val="folHlink"/>
              </a:solidFill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sz="2000" smtClean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smtClean="0"/>
              <a:t>	2. </a:t>
            </a:r>
            <a:r>
              <a:rPr lang="en-US" sz="2000" smtClean="0">
                <a:solidFill>
                  <a:schemeClr val="folHlink"/>
                </a:solidFill>
              </a:rPr>
              <a:t>empirical probability  --  based on observed data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2000" smtClean="0"/>
          </a:p>
          <a:p>
            <a:pPr marL="0" indent="0" eaLnBrk="1" hangingPunct="1">
              <a:buFont typeface="Wingdings" pitchFamily="2" charset="2"/>
              <a:buNone/>
            </a:pPr>
            <a:endParaRPr lang="en-US" sz="2000" smtClean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smtClean="0"/>
              <a:t>	3. </a:t>
            </a:r>
            <a:r>
              <a:rPr lang="en-US" sz="2000" smtClean="0">
                <a:solidFill>
                  <a:schemeClr val="folHlink"/>
                </a:solidFill>
              </a:rPr>
              <a:t>subjective probability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2000" smtClean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343400" y="3276600"/>
          <a:ext cx="4491038" cy="668338"/>
        </p:xfrm>
        <a:graphic>
          <a:graphicData uri="http://schemas.openxmlformats.org/presentationml/2006/ole">
            <p:oleObj spid="_x0000_s1026" name="Equation" r:id="rId3" imgW="3314520" imgH="495000" progId="Equation.3">
              <p:embed/>
            </p:oleObj>
          </a:graphicData>
        </a:graphic>
      </p:graphicFrame>
      <p:sp>
        <p:nvSpPr>
          <p:cNvPr id="1033" name="Rectangle 11"/>
          <p:cNvSpPr>
            <a:spLocks noChangeArrowheads="1"/>
          </p:cNvSpPr>
          <p:nvPr/>
        </p:nvSpPr>
        <p:spPr bwMode="auto">
          <a:xfrm>
            <a:off x="1676400" y="3276600"/>
            <a:ext cx="7162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4" name="Rectangle 13"/>
          <p:cNvSpPr>
            <a:spLocks noChangeArrowheads="1"/>
          </p:cNvSpPr>
          <p:nvPr/>
        </p:nvSpPr>
        <p:spPr bwMode="auto">
          <a:xfrm>
            <a:off x="1676400" y="5638800"/>
            <a:ext cx="7086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5" name="Text Box 16"/>
          <p:cNvSpPr txBox="1">
            <a:spLocks noChangeArrowheads="1"/>
          </p:cNvSpPr>
          <p:nvPr/>
        </p:nvSpPr>
        <p:spPr bwMode="auto">
          <a:xfrm>
            <a:off x="1752600" y="5638800"/>
            <a:ext cx="685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Times New Roman" pitchFamily="18" charset="0"/>
              </a:rPr>
              <a:t>based on a combination of an individual’s past experience, personal opinion, and analysis of a particular situation </a:t>
            </a:r>
          </a:p>
        </p:txBody>
      </p:sp>
      <p:graphicFrame>
        <p:nvGraphicFramePr>
          <p:cNvPr id="1027" name="Object 22"/>
          <p:cNvGraphicFramePr>
            <a:graphicFrameLocks noChangeAspect="1"/>
          </p:cNvGraphicFramePr>
          <p:nvPr/>
        </p:nvGraphicFramePr>
        <p:xfrm>
          <a:off x="4343400" y="4419600"/>
          <a:ext cx="3922713" cy="668338"/>
        </p:xfrm>
        <a:graphic>
          <a:graphicData uri="http://schemas.openxmlformats.org/presentationml/2006/ole">
            <p:oleObj spid="_x0000_s1027" name="Equation" r:id="rId4" imgW="2895480" imgH="495000" progId="Equation.3">
              <p:embed/>
            </p:oleObj>
          </a:graphicData>
        </a:graphic>
      </p:graphicFrame>
      <p:sp>
        <p:nvSpPr>
          <p:cNvPr id="1036" name="Rectangle 23"/>
          <p:cNvSpPr>
            <a:spLocks noChangeArrowheads="1"/>
          </p:cNvSpPr>
          <p:nvPr/>
        </p:nvSpPr>
        <p:spPr bwMode="auto">
          <a:xfrm>
            <a:off x="1676400" y="4419600"/>
            <a:ext cx="7162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7" name="Text Box 24"/>
          <p:cNvSpPr txBox="1">
            <a:spLocks noChangeArrowheads="1"/>
          </p:cNvSpPr>
          <p:nvPr/>
        </p:nvSpPr>
        <p:spPr bwMode="auto">
          <a:xfrm>
            <a:off x="228600" y="3733800"/>
            <a:ext cx="930275" cy="1004888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Assuming all outcomes are equally likely</a:t>
            </a:r>
          </a:p>
        </p:txBody>
      </p:sp>
      <p:sp>
        <p:nvSpPr>
          <p:cNvPr id="1038" name="Line 25"/>
          <p:cNvSpPr>
            <a:spLocks noChangeShapeType="1"/>
          </p:cNvSpPr>
          <p:nvPr/>
        </p:nvSpPr>
        <p:spPr bwMode="auto">
          <a:xfrm>
            <a:off x="1143000" y="4724400"/>
            <a:ext cx="533400" cy="152400"/>
          </a:xfrm>
          <a:prstGeom prst="line">
            <a:avLst/>
          </a:prstGeom>
          <a:noFill/>
          <a:ln w="5715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39" name="Line 26"/>
          <p:cNvSpPr>
            <a:spLocks noChangeShapeType="1"/>
          </p:cNvSpPr>
          <p:nvPr/>
        </p:nvSpPr>
        <p:spPr bwMode="auto">
          <a:xfrm flipV="1">
            <a:off x="1143000" y="3581400"/>
            <a:ext cx="457200" cy="152400"/>
          </a:xfrm>
          <a:prstGeom prst="line">
            <a:avLst/>
          </a:prstGeom>
          <a:noFill/>
          <a:ln w="57150">
            <a:solidFill>
              <a:schemeClr val="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40" name="Rectangle 27"/>
          <p:cNvSpPr>
            <a:spLocks noChangeArrowheads="1"/>
          </p:cNvSpPr>
          <p:nvPr/>
        </p:nvSpPr>
        <p:spPr bwMode="auto">
          <a:xfrm>
            <a:off x="1676400" y="3276600"/>
            <a:ext cx="71628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probability of occurrence</a:t>
            </a:r>
          </a:p>
        </p:txBody>
      </p:sp>
      <p:sp>
        <p:nvSpPr>
          <p:cNvPr id="1041" name="Text Box 28"/>
          <p:cNvSpPr txBox="1">
            <a:spLocks noChangeArrowheads="1"/>
          </p:cNvSpPr>
          <p:nvPr/>
        </p:nvSpPr>
        <p:spPr bwMode="auto">
          <a:xfrm>
            <a:off x="1676400" y="4572000"/>
            <a:ext cx="2673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probability of occurrence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C81C4243-9DD8-4BA1-8204-A6752F56BAF1}" type="slidenum">
              <a:rPr lang="en-US" smtClean="0">
                <a:latin typeface="Arial" charset="0"/>
              </a:rPr>
              <a:pPr/>
              <a:t>5</a:t>
            </a:fld>
            <a:endParaRPr lang="en-US" smtClean="0">
              <a:latin typeface="Arial" charset="0"/>
            </a:endParaRPr>
          </a:p>
        </p:txBody>
      </p:sp>
      <p:sp>
        <p:nvSpPr>
          <p:cNvPr id="59397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9398" name="Slide Number Placeholder 6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17749023-5908-4A00-8646-FD5B7E09C5AF}" type="slidenum">
              <a:rPr lang="en-US" sz="1000"/>
              <a:pPr algn="r" defTabSz="852488"/>
              <a:t>5</a:t>
            </a:fld>
            <a:endParaRPr lang="en-US" sz="1000"/>
          </a:p>
        </p:txBody>
      </p:sp>
      <p:sp>
        <p:nvSpPr>
          <p:cNvPr id="593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Example of </a:t>
            </a:r>
            <a:r>
              <a:rPr lang="en-US" sz="3600" i="1" smtClean="0">
                <a:solidFill>
                  <a:schemeClr val="folHlink"/>
                </a:solidFill>
              </a:rPr>
              <a:t>a priori</a:t>
            </a:r>
            <a:r>
              <a:rPr lang="en-US" sz="3600" smtClean="0">
                <a:solidFill>
                  <a:schemeClr val="folHlink"/>
                </a:solidFill>
              </a:rPr>
              <a:t> probability</a:t>
            </a:r>
          </a:p>
        </p:txBody>
      </p:sp>
      <p:sp>
        <p:nvSpPr>
          <p:cNvPr id="594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9200" y="1981200"/>
            <a:ext cx="7239000" cy="1066800"/>
          </a:xfrm>
          <a:solidFill>
            <a:srgbClr val="FDE0BD"/>
          </a:solidFill>
        </p:spPr>
        <p:txBody>
          <a:bodyPr/>
          <a:lstStyle/>
          <a:p>
            <a:pPr marL="0" indent="0" defTabSz="914400" eaLnBrk="1" hangingPunct="1">
              <a:buFont typeface="Wingdings" pitchFamily="2" charset="2"/>
              <a:buNone/>
            </a:pPr>
            <a:r>
              <a:rPr lang="en-US" sz="2400" smtClean="0"/>
              <a:t>When randomly selecting a day from the year 2010 what is the probability the day is in January?</a:t>
            </a:r>
          </a:p>
        </p:txBody>
      </p:sp>
      <p:graphicFrame>
        <p:nvGraphicFramePr>
          <p:cNvPr id="59394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438150" y="3733800"/>
          <a:ext cx="8324850" cy="838200"/>
        </p:xfrm>
        <a:graphic>
          <a:graphicData uri="http://schemas.openxmlformats.org/presentationml/2006/ole">
            <p:oleObj spid="_x0000_s59394" name="Equation" r:id="rId4" imgW="4165560" imgH="419040" progId="Equation.3">
              <p:embed/>
            </p:oleObj>
          </a:graphicData>
        </a:graphic>
      </p:graphicFrame>
      <p:graphicFrame>
        <p:nvGraphicFramePr>
          <p:cNvPr id="59395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2133600" y="5257800"/>
          <a:ext cx="4743450" cy="1022350"/>
        </p:xfrm>
        <a:graphic>
          <a:graphicData uri="http://schemas.openxmlformats.org/presentationml/2006/ole">
            <p:oleObj spid="_x0000_s59395" name="Equation" r:id="rId5" imgW="194292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5FCB0311-A6D3-4DE9-AABA-6FD5FBCF9EB9}" type="slidenum">
              <a:rPr lang="en-US" smtClean="0">
                <a:latin typeface="Arial" charset="0"/>
              </a:rPr>
              <a:pPr/>
              <a:t>6</a:t>
            </a:fld>
            <a:endParaRPr lang="en-US" smtClean="0">
              <a:latin typeface="Arial" charset="0"/>
            </a:endParaRPr>
          </a:p>
        </p:txBody>
      </p:sp>
      <p:sp>
        <p:nvSpPr>
          <p:cNvPr id="307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3077" name="Slide Number Placeholder 5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FD0CC5A9-76C9-4675-AB07-412DCBBB9A76}" type="slidenum">
              <a:rPr lang="en-US" sz="1000"/>
              <a:pPr algn="r" defTabSz="852488"/>
              <a:t>6</a:t>
            </a:fld>
            <a:endParaRPr lang="en-US" sz="1000"/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Example of </a:t>
            </a:r>
            <a:r>
              <a:rPr lang="en-US" sz="3600" smtClean="0">
                <a:solidFill>
                  <a:schemeClr val="folHlink"/>
                </a:solidFill>
              </a:rPr>
              <a:t>empirical probability</a:t>
            </a:r>
          </a:p>
        </p:txBody>
      </p:sp>
      <p:graphicFrame>
        <p:nvGraphicFramePr>
          <p:cNvPr id="271392" name="Group 32"/>
          <p:cNvGraphicFramePr>
            <a:graphicFrameLocks noGrp="1"/>
          </p:cNvGraphicFramePr>
          <p:nvPr>
            <p:ph sz="half" idx="1"/>
          </p:nvPr>
        </p:nvGraphicFramePr>
        <p:xfrm>
          <a:off x="1049338" y="3087688"/>
          <a:ext cx="6057900" cy="1754187"/>
        </p:xfrm>
        <a:graphic>
          <a:graphicData uri="http://schemas.openxmlformats.org/drawingml/2006/table">
            <a:tbl>
              <a:tblPr/>
              <a:tblGrid>
                <a:gridCol w="1514475"/>
                <a:gridCol w="1514475"/>
                <a:gridCol w="1514475"/>
                <a:gridCol w="1514475"/>
              </a:tblGrid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Taking Stats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 Taking Stats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106" name="Text Box 30"/>
          <p:cNvSpPr txBox="1">
            <a:spLocks noChangeArrowheads="1"/>
          </p:cNvSpPr>
          <p:nvPr/>
        </p:nvSpPr>
        <p:spPr bwMode="auto">
          <a:xfrm>
            <a:off x="1295400" y="1905000"/>
            <a:ext cx="7086600" cy="82232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Find the probability of selecting a male taking statistics from the population described in the following table:</a:t>
            </a:r>
          </a:p>
        </p:txBody>
      </p:sp>
      <p:graphicFrame>
        <p:nvGraphicFramePr>
          <p:cNvPr id="3074" name="Object 31"/>
          <p:cNvGraphicFramePr>
            <a:graphicFrameLocks noChangeAspect="1"/>
          </p:cNvGraphicFramePr>
          <p:nvPr>
            <p:ph sz="half" idx="2"/>
          </p:nvPr>
        </p:nvGraphicFramePr>
        <p:xfrm>
          <a:off x="3733800" y="5181600"/>
          <a:ext cx="4487863" cy="663575"/>
        </p:xfrm>
        <a:graphic>
          <a:graphicData uri="http://schemas.openxmlformats.org/presentationml/2006/ole">
            <p:oleObj spid="_x0000_s3074" name="Equation" r:id="rId3" imgW="3263760" imgH="482400" progId="Equation.3">
              <p:embed/>
            </p:oleObj>
          </a:graphicData>
        </a:graphic>
      </p:graphicFrame>
      <p:sp>
        <p:nvSpPr>
          <p:cNvPr id="3107" name="Text Box 33"/>
          <p:cNvSpPr txBox="1">
            <a:spLocks noChangeArrowheads="1"/>
          </p:cNvSpPr>
          <p:nvPr/>
        </p:nvSpPr>
        <p:spPr bwMode="auto">
          <a:xfrm>
            <a:off x="381000" y="5329238"/>
            <a:ext cx="3282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Probability of male taking stats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CF827FE9-CECC-4D1E-B78C-462BD1F8F788}" type="slidenum">
              <a:rPr lang="en-US" smtClean="0">
                <a:latin typeface="Arial" charset="0"/>
              </a:rPr>
              <a:pPr/>
              <a:t>7</a:t>
            </a:fld>
            <a:endParaRPr lang="en-US" smtClean="0">
              <a:latin typeface="Arial" charset="0"/>
            </a:endParaRPr>
          </a:p>
        </p:txBody>
      </p:sp>
      <p:sp>
        <p:nvSpPr>
          <p:cNvPr id="6349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349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6DE3AE13-BF51-45AC-A799-0817CC3AEC01}" type="slidenum">
              <a:rPr lang="en-US" sz="1000"/>
              <a:pPr algn="r" defTabSz="852488"/>
              <a:t>7</a:t>
            </a:fld>
            <a:endParaRPr lang="en-US" sz="1000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6208712" cy="990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Events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610600" cy="4495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 smtClean="0"/>
              <a:t>Each possible outcome of a variable is an </a:t>
            </a:r>
            <a:r>
              <a:rPr lang="en-US" sz="2400" smtClean="0">
                <a:solidFill>
                  <a:schemeClr val="folHlink"/>
                </a:solidFill>
              </a:rPr>
              <a:t>event</a:t>
            </a:r>
            <a:r>
              <a:rPr lang="en-US" sz="2400" smtClean="0"/>
              <a:t>.</a:t>
            </a:r>
            <a:endParaRPr lang="en-US" sz="240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endParaRPr lang="en-US" sz="140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400" smtClean="0">
                <a:solidFill>
                  <a:schemeClr val="folHlink"/>
                </a:solidFill>
              </a:rPr>
              <a:t>Simple event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000" smtClean="0"/>
              <a:t>An event described by a single characteristic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000" smtClean="0"/>
              <a:t>e.g., A day in January from all days in 2010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400" smtClean="0">
                <a:solidFill>
                  <a:schemeClr val="folHlink"/>
                </a:solidFill>
              </a:rPr>
              <a:t>Joint event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000" smtClean="0"/>
              <a:t>An event described by two or more characteristics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000" smtClean="0"/>
              <a:t>e.g. A day in January that is also a Wednesday from all days in 2010</a:t>
            </a:r>
            <a:endParaRPr lang="en-US" sz="1800" smtClean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400" smtClean="0">
                <a:solidFill>
                  <a:schemeClr val="folHlink"/>
                </a:solidFill>
              </a:rPr>
              <a:t>Complement of an event A  (denoted A’)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000" smtClean="0"/>
              <a:t>All events that are not part of event A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sz="2000" smtClean="0"/>
              <a:t>e.g., All days from 2010 that are not in January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11296001-9C71-42D1-863B-748CC4A7D964}" type="slidenum">
              <a:rPr lang="en-US" smtClean="0">
                <a:latin typeface="Arial" charset="0"/>
              </a:rPr>
              <a:pPr/>
              <a:t>8</a:t>
            </a:fld>
            <a:endParaRPr lang="en-US" smtClean="0">
              <a:latin typeface="Arial" charset="0"/>
            </a:endParaRPr>
          </a:p>
        </p:txBody>
      </p:sp>
      <p:sp>
        <p:nvSpPr>
          <p:cNvPr id="410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4101" name="Slide Number Placeholder 2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A3CBF2EB-B1B4-4BAD-A62D-C7628DE9D960}" type="slidenum">
              <a:rPr lang="en-US" sz="1000"/>
              <a:pPr algn="r" defTabSz="852488"/>
              <a:t>8</a:t>
            </a:fld>
            <a:endParaRPr lang="en-US" sz="1000"/>
          </a:p>
        </p:txBody>
      </p:sp>
      <p:sp>
        <p:nvSpPr>
          <p:cNvPr id="4102" name="AutoShape 2"/>
          <p:cNvSpPr>
            <a:spLocks noChangeArrowheads="1"/>
          </p:cNvSpPr>
          <p:nvPr/>
        </p:nvSpPr>
        <p:spPr bwMode="auto">
          <a:xfrm rot="-2742492">
            <a:off x="5976144" y="5072856"/>
            <a:ext cx="685800" cy="151288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7391400" y="3200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4" name="Rectangle 4"/>
          <p:cNvSpPr>
            <a:spLocks noChangeArrowheads="1"/>
          </p:cNvSpPr>
          <p:nvPr/>
        </p:nvSpPr>
        <p:spPr bwMode="auto">
          <a:xfrm>
            <a:off x="8153400" y="3200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5" name="Rectangle 5"/>
          <p:cNvSpPr>
            <a:spLocks noChangeArrowheads="1"/>
          </p:cNvSpPr>
          <p:nvPr/>
        </p:nvSpPr>
        <p:spPr bwMode="auto">
          <a:xfrm>
            <a:off x="6629400" y="3200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6" name="Rectangle 6"/>
          <p:cNvSpPr>
            <a:spLocks noChangeArrowheads="1"/>
          </p:cNvSpPr>
          <p:nvPr/>
        </p:nvSpPr>
        <p:spPr bwMode="auto">
          <a:xfrm>
            <a:off x="5867400" y="3200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7" name="Rectangle 7"/>
          <p:cNvSpPr>
            <a:spLocks noChangeArrowheads="1"/>
          </p:cNvSpPr>
          <p:nvPr/>
        </p:nvSpPr>
        <p:spPr bwMode="auto">
          <a:xfrm>
            <a:off x="5105400" y="3200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8" name="Rectangle 8"/>
          <p:cNvSpPr>
            <a:spLocks noChangeArrowheads="1"/>
          </p:cNvSpPr>
          <p:nvPr/>
        </p:nvSpPr>
        <p:spPr bwMode="auto">
          <a:xfrm>
            <a:off x="457200" y="533400"/>
            <a:ext cx="8248650" cy="76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09" name="Rectangle 9"/>
          <p:cNvSpPr>
            <a:spLocks noChangeArrowheads="1"/>
          </p:cNvSpPr>
          <p:nvPr/>
        </p:nvSpPr>
        <p:spPr bwMode="auto">
          <a:xfrm>
            <a:off x="4343400" y="3200400"/>
            <a:ext cx="685800" cy="685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0" name="Oval 10"/>
          <p:cNvSpPr>
            <a:spLocks noChangeArrowheads="1"/>
          </p:cNvSpPr>
          <p:nvPr/>
        </p:nvSpPr>
        <p:spPr bwMode="auto">
          <a:xfrm>
            <a:off x="46482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1" name="Oval 11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2" name="Oval 12"/>
          <p:cNvSpPr>
            <a:spLocks noChangeArrowheads="1"/>
          </p:cNvSpPr>
          <p:nvPr/>
        </p:nvSpPr>
        <p:spPr bwMode="auto">
          <a:xfrm>
            <a:off x="5410200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3" name="Oval 13"/>
          <p:cNvSpPr>
            <a:spLocks noChangeArrowheads="1"/>
          </p:cNvSpPr>
          <p:nvPr/>
        </p:nvSpPr>
        <p:spPr bwMode="auto">
          <a:xfrm>
            <a:off x="7067550" y="33591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4" name="Oval 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5" name="Oval 15"/>
          <p:cNvSpPr>
            <a:spLocks noChangeArrowheads="1"/>
          </p:cNvSpPr>
          <p:nvPr/>
        </p:nvSpPr>
        <p:spPr bwMode="auto">
          <a:xfrm>
            <a:off x="6318250" y="334645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6" name="Oval 16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7" name="Oval 17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8" name="Oval 18"/>
          <p:cNvSpPr>
            <a:spLocks noChangeArrowheads="1"/>
          </p:cNvSpPr>
          <p:nvPr/>
        </p:nvSpPr>
        <p:spPr bwMode="auto">
          <a:xfrm>
            <a:off x="7080250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19" name="Oval 19"/>
          <p:cNvSpPr>
            <a:spLocks noChangeArrowheads="1"/>
          </p:cNvSpPr>
          <p:nvPr/>
        </p:nvSpPr>
        <p:spPr bwMode="auto">
          <a:xfrm>
            <a:off x="7543800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0" name="Oval 20"/>
          <p:cNvSpPr>
            <a:spLocks noChangeArrowheads="1"/>
          </p:cNvSpPr>
          <p:nvPr/>
        </p:nvSpPr>
        <p:spPr bwMode="auto">
          <a:xfrm>
            <a:off x="7839075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1" name="Oval 21"/>
          <p:cNvSpPr>
            <a:spLocks noChangeArrowheads="1"/>
          </p:cNvSpPr>
          <p:nvPr/>
        </p:nvSpPr>
        <p:spPr bwMode="auto">
          <a:xfrm>
            <a:off x="7820025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2" name="Oval 22"/>
          <p:cNvSpPr>
            <a:spLocks noChangeArrowheads="1"/>
          </p:cNvSpPr>
          <p:nvPr/>
        </p:nvSpPr>
        <p:spPr bwMode="auto">
          <a:xfrm>
            <a:off x="8315325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3" name="Oval 23"/>
          <p:cNvSpPr>
            <a:spLocks noChangeArrowheads="1"/>
          </p:cNvSpPr>
          <p:nvPr/>
        </p:nvSpPr>
        <p:spPr bwMode="auto">
          <a:xfrm>
            <a:off x="8610600" y="3352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4" name="Oval 24"/>
          <p:cNvSpPr>
            <a:spLocks noChangeArrowheads="1"/>
          </p:cNvSpPr>
          <p:nvPr/>
        </p:nvSpPr>
        <p:spPr bwMode="auto">
          <a:xfrm>
            <a:off x="8315325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5" name="Oval 25"/>
          <p:cNvSpPr>
            <a:spLocks noChangeArrowheads="1"/>
          </p:cNvSpPr>
          <p:nvPr/>
        </p:nvSpPr>
        <p:spPr bwMode="auto">
          <a:xfrm>
            <a:off x="86106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6" name="Oval 26"/>
          <p:cNvSpPr>
            <a:spLocks noChangeArrowheads="1"/>
          </p:cNvSpPr>
          <p:nvPr/>
        </p:nvSpPr>
        <p:spPr bwMode="auto">
          <a:xfrm>
            <a:off x="8315325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7" name="Oval 27"/>
          <p:cNvSpPr>
            <a:spLocks noChangeArrowheads="1"/>
          </p:cNvSpPr>
          <p:nvPr/>
        </p:nvSpPr>
        <p:spPr bwMode="auto">
          <a:xfrm>
            <a:off x="8610600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8" name="Oval 28"/>
          <p:cNvSpPr>
            <a:spLocks noChangeArrowheads="1"/>
          </p:cNvSpPr>
          <p:nvPr/>
        </p:nvSpPr>
        <p:spPr bwMode="auto">
          <a:xfrm>
            <a:off x="5410200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29" name="Oval 29"/>
          <p:cNvSpPr>
            <a:spLocks noChangeArrowheads="1"/>
          </p:cNvSpPr>
          <p:nvPr/>
        </p:nvSpPr>
        <p:spPr bwMode="auto">
          <a:xfrm>
            <a:off x="7543800" y="3657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30" name="Oval 30"/>
          <p:cNvSpPr>
            <a:spLocks noChangeArrowheads="1"/>
          </p:cNvSpPr>
          <p:nvPr/>
        </p:nvSpPr>
        <p:spPr bwMode="auto">
          <a:xfrm>
            <a:off x="76962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31" name="Rectangle 31"/>
          <p:cNvSpPr>
            <a:spLocks noChangeArrowheads="1"/>
          </p:cNvSpPr>
          <p:nvPr/>
        </p:nvSpPr>
        <p:spPr bwMode="auto">
          <a:xfrm>
            <a:off x="1447800" y="304800"/>
            <a:ext cx="6781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Sample Space</a:t>
            </a:r>
          </a:p>
        </p:txBody>
      </p:sp>
      <p:sp>
        <p:nvSpPr>
          <p:cNvPr id="4132" name="AutoShape 32"/>
          <p:cNvSpPr>
            <a:spLocks noChangeArrowheads="1"/>
          </p:cNvSpPr>
          <p:nvPr/>
        </p:nvSpPr>
        <p:spPr bwMode="auto">
          <a:xfrm rot="-2742492">
            <a:off x="6052344" y="4996656"/>
            <a:ext cx="685800" cy="15128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33" name="AutoShape 33"/>
          <p:cNvSpPr>
            <a:spLocks noChangeArrowheads="1"/>
          </p:cNvSpPr>
          <p:nvPr/>
        </p:nvSpPr>
        <p:spPr bwMode="auto">
          <a:xfrm rot="-2742492">
            <a:off x="6128544" y="4920456"/>
            <a:ext cx="685800" cy="15128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34" name="AutoShape 34"/>
          <p:cNvSpPr>
            <a:spLocks noChangeArrowheads="1"/>
          </p:cNvSpPr>
          <p:nvPr/>
        </p:nvSpPr>
        <p:spPr bwMode="auto">
          <a:xfrm rot="-2742492">
            <a:off x="6128544" y="4920456"/>
            <a:ext cx="685800" cy="15128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35" name="AutoShape 35"/>
          <p:cNvSpPr>
            <a:spLocks noChangeArrowheads="1"/>
          </p:cNvSpPr>
          <p:nvPr/>
        </p:nvSpPr>
        <p:spPr bwMode="auto">
          <a:xfrm rot="-2742492">
            <a:off x="6204744" y="4844256"/>
            <a:ext cx="685800" cy="15128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aphicFrame>
        <p:nvGraphicFramePr>
          <p:cNvPr id="4098" name="Object 36">
            <a:hlinkClick r:id="" action="ppaction://ole?verb=0"/>
          </p:cNvPr>
          <p:cNvGraphicFramePr>
            <a:graphicFrameLocks/>
          </p:cNvGraphicFramePr>
          <p:nvPr/>
        </p:nvGraphicFramePr>
        <p:xfrm>
          <a:off x="5867400" y="4495800"/>
          <a:ext cx="2679700" cy="2133600"/>
        </p:xfrm>
        <a:graphic>
          <a:graphicData uri="http://schemas.openxmlformats.org/presentationml/2006/ole">
            <p:oleObj spid="_x0000_s4098" name="Clip" r:id="rId4" imgW="3821040" imgH="2744640" progId="">
              <p:embed/>
            </p:oleObj>
          </a:graphicData>
        </a:graphic>
      </p:graphicFrame>
      <p:sp>
        <p:nvSpPr>
          <p:cNvPr id="4136" name="Rectangle 37"/>
          <p:cNvSpPr>
            <a:spLocks noChangeArrowheads="1"/>
          </p:cNvSpPr>
          <p:nvPr/>
        </p:nvSpPr>
        <p:spPr bwMode="auto">
          <a:xfrm>
            <a:off x="1143000" y="1600200"/>
            <a:ext cx="7772400" cy="30956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/>
              <a:t>The </a:t>
            </a:r>
            <a:r>
              <a:rPr lang="en-US" sz="2800">
                <a:solidFill>
                  <a:schemeClr val="folHlink"/>
                </a:solidFill>
              </a:rPr>
              <a:t>Sample Space</a:t>
            </a:r>
            <a:r>
              <a:rPr lang="en-US" sz="2800"/>
              <a:t> is the collection of all    possible events</a:t>
            </a:r>
          </a:p>
          <a:p>
            <a:pPr eaLnBrk="0" hangingPunct="0">
              <a:spcBef>
                <a:spcPct val="50000"/>
              </a:spcBef>
            </a:pPr>
            <a:r>
              <a:rPr lang="en-US" sz="2800"/>
              <a:t>e.g. All 6 faces of a die:</a:t>
            </a:r>
          </a:p>
          <a:p>
            <a:pPr eaLnBrk="0" hangingPunct="0">
              <a:spcBef>
                <a:spcPct val="50000"/>
              </a:spcBef>
            </a:pPr>
            <a:endParaRPr lang="en-US" sz="1000"/>
          </a:p>
          <a:p>
            <a:pPr eaLnBrk="0" hangingPunct="0">
              <a:spcBef>
                <a:spcPct val="50000"/>
              </a:spcBef>
            </a:pPr>
            <a:endParaRPr lang="en-US" sz="2800"/>
          </a:p>
          <a:p>
            <a:pPr eaLnBrk="0" hangingPunct="0">
              <a:spcBef>
                <a:spcPct val="50000"/>
              </a:spcBef>
            </a:pPr>
            <a:r>
              <a:rPr lang="en-US" sz="2800"/>
              <a:t>e.g. All 52 cards of a bridge deck: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E467998F-CE91-475E-92DB-708054BF6BE3}" type="slidenum">
              <a:rPr lang="en-US" smtClean="0">
                <a:latin typeface="Arial" charset="0"/>
              </a:rPr>
              <a:pPr/>
              <a:t>9</a:t>
            </a:fld>
            <a:endParaRPr lang="en-US" smtClean="0">
              <a:latin typeface="Arial" charset="0"/>
            </a:endParaRPr>
          </a:p>
        </p:txBody>
      </p:sp>
      <p:sp>
        <p:nvSpPr>
          <p:cNvPr id="6758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758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755B331F-18DD-4139-A5CF-84B1CF1F8F2F}" type="slidenum">
              <a:rPr lang="en-US" sz="1000"/>
              <a:pPr algn="r" defTabSz="852488"/>
              <a:t>9</a:t>
            </a:fld>
            <a:endParaRPr lang="en-US" sz="1000"/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 flipV="1">
            <a:off x="3095625" y="5181600"/>
            <a:ext cx="1628775" cy="379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3048000" y="5715000"/>
            <a:ext cx="1676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Visualizing Events</a:t>
            </a:r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8077200" cy="4532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>
                <a:solidFill>
                  <a:schemeClr val="folHlink"/>
                </a:solidFill>
              </a:rPr>
              <a:t>Contingency Tables  --  For All Days in 2010</a:t>
            </a:r>
          </a:p>
          <a:p>
            <a:pPr eaLnBrk="1" hangingPunct="1">
              <a:lnSpc>
                <a:spcPct val="110000"/>
              </a:lnSpc>
            </a:pPr>
            <a:endParaRPr lang="en-US" smtClean="0"/>
          </a:p>
          <a:p>
            <a:pPr eaLnBrk="1" hangingPunct="1">
              <a:lnSpc>
                <a:spcPct val="110000"/>
              </a:lnSpc>
            </a:pPr>
            <a:endParaRPr lang="en-US" smtClean="0"/>
          </a:p>
          <a:p>
            <a:pPr eaLnBrk="1" hangingPunct="1">
              <a:lnSpc>
                <a:spcPct val="110000"/>
              </a:lnSpc>
            </a:pPr>
            <a:endParaRPr lang="en-US" smtClean="0"/>
          </a:p>
          <a:p>
            <a:pPr eaLnBrk="1" hangingPunct="1">
              <a:lnSpc>
                <a:spcPct val="180000"/>
              </a:lnSpc>
            </a:pPr>
            <a:r>
              <a:rPr lang="en-US" smtClean="0">
                <a:solidFill>
                  <a:schemeClr val="folHlink"/>
                </a:solidFill>
              </a:rPr>
              <a:t>Decision Trees</a:t>
            </a:r>
          </a:p>
        </p:txBody>
      </p:sp>
      <p:sp>
        <p:nvSpPr>
          <p:cNvPr id="67592" name="Rectangle 15"/>
          <p:cNvSpPr>
            <a:spLocks noChangeArrowheads="1"/>
          </p:cNvSpPr>
          <p:nvPr/>
        </p:nvSpPr>
        <p:spPr bwMode="auto">
          <a:xfrm>
            <a:off x="1600200" y="5257800"/>
            <a:ext cx="1447800" cy="736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All Days 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 In 2010</a:t>
            </a:r>
          </a:p>
        </p:txBody>
      </p:sp>
      <p:sp>
        <p:nvSpPr>
          <p:cNvPr id="67593" name="Rectangle 16"/>
          <p:cNvSpPr>
            <a:spLocks noChangeArrowheads="1"/>
          </p:cNvSpPr>
          <p:nvPr/>
        </p:nvSpPr>
        <p:spPr bwMode="auto">
          <a:xfrm rot="663163">
            <a:off x="3276600" y="5938838"/>
            <a:ext cx="1447800" cy="311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000" b="1"/>
              <a:t>Not Jan.</a:t>
            </a:r>
          </a:p>
        </p:txBody>
      </p:sp>
      <p:sp>
        <p:nvSpPr>
          <p:cNvPr id="67594" name="Rectangle 17"/>
          <p:cNvSpPr>
            <a:spLocks noChangeArrowheads="1"/>
          </p:cNvSpPr>
          <p:nvPr/>
        </p:nvSpPr>
        <p:spPr bwMode="auto">
          <a:xfrm rot="-785611">
            <a:off x="3124200" y="5029200"/>
            <a:ext cx="1600200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1"/>
              <a:t>Jan.</a:t>
            </a:r>
          </a:p>
        </p:txBody>
      </p:sp>
      <p:sp>
        <p:nvSpPr>
          <p:cNvPr id="67595" name="Line 18"/>
          <p:cNvSpPr>
            <a:spLocks noChangeShapeType="1"/>
          </p:cNvSpPr>
          <p:nvPr/>
        </p:nvSpPr>
        <p:spPr bwMode="auto">
          <a:xfrm flipV="1">
            <a:off x="4953000" y="4724400"/>
            <a:ext cx="16002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Line 19"/>
          <p:cNvSpPr>
            <a:spLocks noChangeShapeType="1"/>
          </p:cNvSpPr>
          <p:nvPr/>
        </p:nvSpPr>
        <p:spPr bwMode="auto">
          <a:xfrm>
            <a:off x="4953000" y="5181600"/>
            <a:ext cx="1600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597" name="Rectangle 20"/>
          <p:cNvSpPr>
            <a:spLocks noChangeArrowheads="1"/>
          </p:cNvSpPr>
          <p:nvPr/>
        </p:nvSpPr>
        <p:spPr bwMode="auto">
          <a:xfrm rot="634449">
            <a:off x="4953000" y="6248400"/>
            <a:ext cx="16764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Not Wed.</a:t>
            </a:r>
          </a:p>
        </p:txBody>
      </p:sp>
      <p:sp>
        <p:nvSpPr>
          <p:cNvPr id="67598" name="Rectangle 21"/>
          <p:cNvSpPr>
            <a:spLocks noChangeArrowheads="1"/>
          </p:cNvSpPr>
          <p:nvPr/>
        </p:nvSpPr>
        <p:spPr bwMode="auto">
          <a:xfrm rot="-807475">
            <a:off x="5105400" y="4572000"/>
            <a:ext cx="8382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Wed.</a:t>
            </a:r>
          </a:p>
        </p:txBody>
      </p:sp>
      <p:sp>
        <p:nvSpPr>
          <p:cNvPr id="67599" name="Rectangle 22"/>
          <p:cNvSpPr>
            <a:spLocks noChangeArrowheads="1"/>
          </p:cNvSpPr>
          <p:nvPr/>
        </p:nvSpPr>
        <p:spPr bwMode="auto">
          <a:xfrm rot="-352424">
            <a:off x="5105400" y="5562600"/>
            <a:ext cx="9906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Wed.</a:t>
            </a:r>
          </a:p>
        </p:txBody>
      </p:sp>
      <p:sp>
        <p:nvSpPr>
          <p:cNvPr id="67600" name="Rectangle 23"/>
          <p:cNvSpPr>
            <a:spLocks noChangeArrowheads="1"/>
          </p:cNvSpPr>
          <p:nvPr/>
        </p:nvSpPr>
        <p:spPr bwMode="auto">
          <a:xfrm rot="291506">
            <a:off x="4932363" y="5194300"/>
            <a:ext cx="13017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Not Wed.</a:t>
            </a:r>
            <a:endParaRPr lang="en-US" b="1"/>
          </a:p>
        </p:txBody>
      </p:sp>
      <p:sp>
        <p:nvSpPr>
          <p:cNvPr id="67601" name="Line 24"/>
          <p:cNvSpPr>
            <a:spLocks noChangeShapeType="1"/>
          </p:cNvSpPr>
          <p:nvPr/>
        </p:nvSpPr>
        <p:spPr bwMode="auto">
          <a:xfrm flipV="1">
            <a:off x="4953000" y="5791200"/>
            <a:ext cx="16002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02" name="Line 25"/>
          <p:cNvSpPr>
            <a:spLocks noChangeShapeType="1"/>
          </p:cNvSpPr>
          <p:nvPr/>
        </p:nvSpPr>
        <p:spPr bwMode="auto">
          <a:xfrm>
            <a:off x="4953000" y="6096000"/>
            <a:ext cx="1600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03" name="Oval 26"/>
          <p:cNvSpPr>
            <a:spLocks noChangeArrowheads="1"/>
          </p:cNvSpPr>
          <p:nvPr/>
        </p:nvSpPr>
        <p:spPr bwMode="auto">
          <a:xfrm>
            <a:off x="4724400" y="50292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7604" name="Oval 27"/>
          <p:cNvSpPr>
            <a:spLocks noChangeArrowheads="1"/>
          </p:cNvSpPr>
          <p:nvPr/>
        </p:nvSpPr>
        <p:spPr bwMode="auto">
          <a:xfrm>
            <a:off x="4724400" y="59436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7605" name="Rectangle 31"/>
          <p:cNvSpPr>
            <a:spLocks noChangeArrowheads="1"/>
          </p:cNvSpPr>
          <p:nvPr/>
        </p:nvSpPr>
        <p:spPr bwMode="auto">
          <a:xfrm>
            <a:off x="304800" y="4800600"/>
            <a:ext cx="914400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/>
              <a:t>Sample Space</a:t>
            </a:r>
          </a:p>
        </p:txBody>
      </p:sp>
      <p:sp>
        <p:nvSpPr>
          <p:cNvPr id="67606" name="Line 32"/>
          <p:cNvSpPr>
            <a:spLocks noChangeShapeType="1"/>
          </p:cNvSpPr>
          <p:nvPr/>
        </p:nvSpPr>
        <p:spPr bwMode="auto">
          <a:xfrm>
            <a:off x="1066800" y="51054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7607" name="Rectangle 33"/>
          <p:cNvSpPr>
            <a:spLocks noChangeArrowheads="1"/>
          </p:cNvSpPr>
          <p:nvPr/>
        </p:nvSpPr>
        <p:spPr bwMode="auto">
          <a:xfrm>
            <a:off x="7848600" y="4343400"/>
            <a:ext cx="1143000" cy="1566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600"/>
              <a:t>Total</a:t>
            </a:r>
          </a:p>
          <a:p>
            <a:pPr eaLnBrk="0" hangingPunct="0"/>
            <a:r>
              <a:rPr lang="en-US" sz="1600"/>
              <a:t>Number</a:t>
            </a:r>
          </a:p>
          <a:p>
            <a:pPr eaLnBrk="0" hangingPunct="0"/>
            <a:r>
              <a:rPr lang="en-US" sz="1600"/>
              <a:t>Of</a:t>
            </a:r>
          </a:p>
          <a:p>
            <a:pPr eaLnBrk="0" hangingPunct="0"/>
            <a:r>
              <a:rPr lang="en-US" sz="1600"/>
              <a:t>Sample</a:t>
            </a:r>
          </a:p>
          <a:p>
            <a:pPr eaLnBrk="0" hangingPunct="0"/>
            <a:r>
              <a:rPr lang="en-US" sz="1600"/>
              <a:t>Space</a:t>
            </a:r>
          </a:p>
          <a:p>
            <a:pPr eaLnBrk="0" hangingPunct="0"/>
            <a:r>
              <a:rPr lang="en-US" sz="1600"/>
              <a:t>Outcomes</a:t>
            </a:r>
          </a:p>
        </p:txBody>
      </p:sp>
      <p:sp>
        <p:nvSpPr>
          <p:cNvPr id="67608" name="Line 35"/>
          <p:cNvSpPr>
            <a:spLocks noChangeShapeType="1"/>
          </p:cNvSpPr>
          <p:nvPr/>
        </p:nvSpPr>
        <p:spPr bwMode="auto">
          <a:xfrm flipH="1" flipV="1">
            <a:off x="7848600" y="4114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67609" name="Group 38"/>
          <p:cNvGrpSpPr>
            <a:grpSpLocks/>
          </p:cNvGrpSpPr>
          <p:nvPr/>
        </p:nvGrpSpPr>
        <p:grpSpPr bwMode="auto">
          <a:xfrm>
            <a:off x="3538538" y="2209800"/>
            <a:ext cx="5300662" cy="1906588"/>
            <a:chOff x="3537858" y="2209800"/>
            <a:chExt cx="5301342" cy="1906900"/>
          </a:xfrm>
        </p:grpSpPr>
        <p:sp>
          <p:nvSpPr>
            <p:cNvPr id="67611" name="Rectangle 2"/>
            <p:cNvSpPr>
              <a:spLocks noChangeArrowheads="1"/>
            </p:cNvSpPr>
            <p:nvPr/>
          </p:nvSpPr>
          <p:spPr bwMode="auto">
            <a:xfrm>
              <a:off x="4724400" y="2209800"/>
              <a:ext cx="2438400" cy="533400"/>
            </a:xfrm>
            <a:prstGeom prst="rect">
              <a:avLst/>
            </a:prstGeom>
            <a:solidFill>
              <a:srgbClr val="FDE0BD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67612" name="Rectangle 3"/>
            <p:cNvSpPr>
              <a:spLocks noChangeArrowheads="1"/>
            </p:cNvSpPr>
            <p:nvPr/>
          </p:nvSpPr>
          <p:spPr bwMode="auto">
            <a:xfrm>
              <a:off x="3581400" y="2743200"/>
              <a:ext cx="1143000" cy="914400"/>
            </a:xfrm>
            <a:prstGeom prst="rect">
              <a:avLst/>
            </a:prstGeom>
            <a:solidFill>
              <a:srgbClr val="CBDDF7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67613" name="Rectangle 8"/>
            <p:cNvSpPr>
              <a:spLocks noChangeArrowheads="1"/>
            </p:cNvSpPr>
            <p:nvPr/>
          </p:nvSpPr>
          <p:spPr bwMode="auto">
            <a:xfrm>
              <a:off x="3581400" y="2209800"/>
              <a:ext cx="5105400" cy="1905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7614" name="Rectangle 9"/>
            <p:cNvSpPr>
              <a:spLocks noChangeArrowheads="1"/>
            </p:cNvSpPr>
            <p:nvPr/>
          </p:nvSpPr>
          <p:spPr bwMode="auto">
            <a:xfrm>
              <a:off x="3537858" y="3117850"/>
              <a:ext cx="465455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Not Wed.</a:t>
              </a:r>
              <a:r>
                <a:rPr lang="en-US" sz="2000" b="1">
                  <a:solidFill>
                    <a:schemeClr val="hlink"/>
                  </a:solidFill>
                </a:rPr>
                <a:t>      </a:t>
              </a:r>
              <a:r>
                <a:rPr lang="en-US" sz="2000" b="1"/>
                <a:t>27          286               313</a:t>
              </a:r>
              <a:r>
                <a:rPr lang="en-US" b="1"/>
                <a:t>  </a:t>
              </a:r>
            </a:p>
          </p:txBody>
        </p:sp>
        <p:sp>
          <p:nvSpPr>
            <p:cNvPr id="67615" name="Rectangle 10"/>
            <p:cNvSpPr>
              <a:spLocks noChangeArrowheads="1"/>
            </p:cNvSpPr>
            <p:nvPr/>
          </p:nvSpPr>
          <p:spPr bwMode="auto">
            <a:xfrm>
              <a:off x="3651250" y="2736850"/>
              <a:ext cx="46609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Wed.             4            48                 52</a:t>
              </a:r>
            </a:p>
          </p:txBody>
        </p:sp>
        <p:sp>
          <p:nvSpPr>
            <p:cNvPr id="67616" name="Line 11"/>
            <p:cNvSpPr>
              <a:spLocks noChangeShapeType="1"/>
            </p:cNvSpPr>
            <p:nvPr/>
          </p:nvSpPr>
          <p:spPr bwMode="auto">
            <a:xfrm>
              <a:off x="3581400" y="27432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7" name="Line 12"/>
            <p:cNvSpPr>
              <a:spLocks noChangeShapeType="1"/>
            </p:cNvSpPr>
            <p:nvPr/>
          </p:nvSpPr>
          <p:spPr bwMode="auto">
            <a:xfrm>
              <a:off x="3581400" y="36576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8" name="Rectangle 13"/>
            <p:cNvSpPr>
              <a:spLocks noChangeArrowheads="1"/>
            </p:cNvSpPr>
            <p:nvPr/>
          </p:nvSpPr>
          <p:spPr bwMode="auto">
            <a:xfrm>
              <a:off x="3657600" y="3657600"/>
              <a:ext cx="48895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>
                  <a:solidFill>
                    <a:schemeClr val="tx2"/>
                  </a:solidFill>
                </a:rPr>
                <a:t>Total            31          334               365</a:t>
              </a:r>
              <a:r>
                <a:rPr lang="en-US" b="1">
                  <a:solidFill>
                    <a:schemeClr val="tx2"/>
                  </a:solidFill>
                </a:rPr>
                <a:t>           </a:t>
              </a:r>
              <a:r>
                <a:rPr lang="en-US" sz="2000" b="1">
                  <a:solidFill>
                    <a:schemeClr val="tx2"/>
                  </a:solidFill>
                </a:rPr>
                <a:t>             </a:t>
              </a:r>
            </a:p>
          </p:txBody>
        </p:sp>
        <p:sp>
          <p:nvSpPr>
            <p:cNvPr id="67619" name="Rectangle 14"/>
            <p:cNvSpPr>
              <a:spLocks noChangeArrowheads="1"/>
            </p:cNvSpPr>
            <p:nvPr/>
          </p:nvSpPr>
          <p:spPr bwMode="auto">
            <a:xfrm>
              <a:off x="3657600" y="2209800"/>
              <a:ext cx="51816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                  </a:t>
              </a:r>
              <a:r>
                <a:rPr lang="en-US" sz="2000" b="1">
                  <a:solidFill>
                    <a:schemeClr val="tx2"/>
                  </a:solidFill>
                </a:rPr>
                <a:t>Jan.        Not Jan.       Total</a:t>
              </a:r>
            </a:p>
          </p:txBody>
        </p:sp>
        <p:sp>
          <p:nvSpPr>
            <p:cNvPr id="67620" name="Line 28"/>
            <p:cNvSpPr>
              <a:spLocks noChangeShapeType="1"/>
            </p:cNvSpPr>
            <p:nvPr/>
          </p:nvSpPr>
          <p:spPr bwMode="auto">
            <a:xfrm>
              <a:off x="4724400" y="22098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621" name="Line 29"/>
            <p:cNvSpPr>
              <a:spLocks noChangeShapeType="1"/>
            </p:cNvSpPr>
            <p:nvPr/>
          </p:nvSpPr>
          <p:spPr bwMode="auto">
            <a:xfrm>
              <a:off x="5791200" y="2209800"/>
              <a:ext cx="0" cy="1905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622" name="Line 30"/>
            <p:cNvSpPr>
              <a:spLocks noChangeShapeType="1"/>
            </p:cNvSpPr>
            <p:nvPr/>
          </p:nvSpPr>
          <p:spPr bwMode="auto">
            <a:xfrm>
              <a:off x="7162800" y="22098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7623" name="Oval 34"/>
            <p:cNvSpPr>
              <a:spLocks noChangeArrowheads="1"/>
            </p:cNvSpPr>
            <p:nvPr/>
          </p:nvSpPr>
          <p:spPr bwMode="auto">
            <a:xfrm>
              <a:off x="7543800" y="35814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7624" name="Line 36"/>
            <p:cNvSpPr>
              <a:spLocks noChangeShapeType="1"/>
            </p:cNvSpPr>
            <p:nvPr/>
          </p:nvSpPr>
          <p:spPr bwMode="auto">
            <a:xfrm>
              <a:off x="3581400" y="3200400"/>
              <a:ext cx="510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7610" name="Text Box 37"/>
          <p:cNvSpPr txBox="1">
            <a:spLocks noChangeArrowheads="1"/>
          </p:cNvSpPr>
          <p:nvPr/>
        </p:nvSpPr>
        <p:spPr bwMode="auto">
          <a:xfrm>
            <a:off x="6477000" y="4419600"/>
            <a:ext cx="609600" cy="227488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140000"/>
              </a:lnSpc>
              <a:spcBef>
                <a:spcPct val="50000"/>
              </a:spcBef>
            </a:pPr>
            <a:r>
              <a:rPr lang="en-US" sz="2000"/>
              <a:t>  4</a:t>
            </a:r>
          </a:p>
          <a:p>
            <a:pPr algn="ctr" eaLnBrk="0" hangingPunct="0">
              <a:lnSpc>
                <a:spcPct val="140000"/>
              </a:lnSpc>
              <a:spcBef>
                <a:spcPct val="50000"/>
              </a:spcBef>
            </a:pPr>
            <a:r>
              <a:rPr lang="en-US" sz="2000"/>
              <a:t> 27</a:t>
            </a:r>
          </a:p>
          <a:p>
            <a:pPr algn="ctr" eaLnBrk="0" hangingPunct="0">
              <a:lnSpc>
                <a:spcPct val="140000"/>
              </a:lnSpc>
              <a:spcBef>
                <a:spcPct val="50000"/>
              </a:spcBef>
            </a:pPr>
            <a:r>
              <a:rPr lang="en-US" sz="2000"/>
              <a:t> 48</a:t>
            </a:r>
          </a:p>
          <a:p>
            <a:pPr algn="ctr" eaLnBrk="0" hangingPunct="0">
              <a:lnSpc>
                <a:spcPct val="140000"/>
              </a:lnSpc>
              <a:spcBef>
                <a:spcPct val="50000"/>
              </a:spcBef>
            </a:pPr>
            <a:r>
              <a:rPr lang="en-US" sz="2000"/>
              <a:t>286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63BF4347-BEE1-456C-B247-B19B79573FDD}" type="slidenum">
              <a:rPr lang="en-US" smtClean="0">
                <a:latin typeface="Arial" charset="0"/>
              </a:rPr>
              <a:pPr/>
              <a:t>10</a:t>
            </a:fld>
            <a:endParaRPr lang="en-US" smtClean="0">
              <a:latin typeface="Arial" charset="0"/>
            </a:endParaRPr>
          </a:p>
        </p:txBody>
      </p:sp>
      <p:sp>
        <p:nvSpPr>
          <p:cNvPr id="6861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861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776A40C8-3614-4E7A-B7AC-279E2661FBFB}" type="slidenum">
              <a:rPr lang="en-US" sz="1000"/>
              <a:pPr algn="r" defTabSz="852488"/>
              <a:t>10</a:t>
            </a:fld>
            <a:endParaRPr lang="en-US" sz="1000"/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Definition:  Simple Probability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077200" cy="1828800"/>
          </a:xfrm>
        </p:spPr>
        <p:txBody>
          <a:bodyPr/>
          <a:lstStyle/>
          <a:p>
            <a:pPr eaLnBrk="1" hangingPunct="1"/>
            <a:r>
              <a:rPr lang="en-US" smtClean="0"/>
              <a:t>Simple Probability refers to the probability of a simple event.</a:t>
            </a:r>
          </a:p>
          <a:p>
            <a:pPr lvl="1" eaLnBrk="1" hangingPunct="1"/>
            <a:r>
              <a:rPr lang="en-US" smtClean="0"/>
              <a:t>ex. P(Jan.)</a:t>
            </a:r>
          </a:p>
          <a:p>
            <a:pPr lvl="1" eaLnBrk="1" hangingPunct="1"/>
            <a:r>
              <a:rPr lang="en-US" smtClean="0"/>
              <a:t>ex. P(Wed.)</a:t>
            </a:r>
          </a:p>
        </p:txBody>
      </p:sp>
      <p:sp>
        <p:nvSpPr>
          <p:cNvPr id="68614" name="TextBox 19"/>
          <p:cNvSpPr txBox="1">
            <a:spLocks noChangeArrowheads="1"/>
          </p:cNvSpPr>
          <p:nvPr/>
        </p:nvSpPr>
        <p:spPr bwMode="auto">
          <a:xfrm>
            <a:off x="1828800" y="6019800"/>
            <a:ext cx="2638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P(Jan.) = 31 / 365</a:t>
            </a:r>
          </a:p>
        </p:txBody>
      </p:sp>
      <p:cxnSp>
        <p:nvCxnSpPr>
          <p:cNvPr id="68615" name="Straight Arrow Connector 21"/>
          <p:cNvCxnSpPr>
            <a:cxnSpLocks noChangeShapeType="1"/>
          </p:cNvCxnSpPr>
          <p:nvPr/>
        </p:nvCxnSpPr>
        <p:spPr bwMode="auto">
          <a:xfrm rot="10800000">
            <a:off x="1981200" y="5638800"/>
            <a:ext cx="1295400" cy="457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 type="triangle" w="med" len="med"/>
            <a:tailEnd/>
          </a:ln>
        </p:spPr>
      </p:cxnSp>
      <p:cxnSp>
        <p:nvCxnSpPr>
          <p:cNvPr id="68616" name="Straight Arrow Connector 22"/>
          <p:cNvCxnSpPr>
            <a:cxnSpLocks noChangeShapeType="1"/>
          </p:cNvCxnSpPr>
          <p:nvPr/>
        </p:nvCxnSpPr>
        <p:spPr bwMode="auto">
          <a:xfrm rot="5400000" flipH="1" flipV="1">
            <a:off x="4095750" y="5657850"/>
            <a:ext cx="457200" cy="4191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 type="triangle" w="med" len="med"/>
            <a:tailEnd/>
          </a:ln>
        </p:spPr>
      </p:cxnSp>
      <p:sp>
        <p:nvSpPr>
          <p:cNvPr id="68617" name="TextBox 26"/>
          <p:cNvSpPr txBox="1">
            <a:spLocks noChangeArrowheads="1"/>
          </p:cNvSpPr>
          <p:nvPr/>
        </p:nvSpPr>
        <p:spPr bwMode="auto">
          <a:xfrm>
            <a:off x="5867400" y="3810000"/>
            <a:ext cx="2770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P(Wed.) = 52 / 365</a:t>
            </a:r>
          </a:p>
        </p:txBody>
      </p:sp>
      <p:cxnSp>
        <p:nvCxnSpPr>
          <p:cNvPr id="68618" name="Elbow Connector 28"/>
          <p:cNvCxnSpPr>
            <a:cxnSpLocks noChangeShapeType="1"/>
          </p:cNvCxnSpPr>
          <p:nvPr/>
        </p:nvCxnSpPr>
        <p:spPr bwMode="auto">
          <a:xfrm rot="10800000" flipV="1">
            <a:off x="5029200" y="4267200"/>
            <a:ext cx="3200400" cy="1143000"/>
          </a:xfrm>
          <a:prstGeom prst="bentConnector3">
            <a:avLst>
              <a:gd name="adj1" fmla="val 338"/>
            </a:avLst>
          </a:prstGeom>
          <a:noFill/>
          <a:ln w="38100" algn="ctr">
            <a:solidFill>
              <a:srgbClr val="FF0000"/>
            </a:solidFill>
            <a:miter lim="800000"/>
            <a:headEnd type="triangle" w="med" len="med"/>
            <a:tailEnd/>
          </a:ln>
        </p:spPr>
      </p:cxnSp>
      <p:cxnSp>
        <p:nvCxnSpPr>
          <p:cNvPr id="68619" name="Elbow Connector 30"/>
          <p:cNvCxnSpPr>
            <a:cxnSpLocks noChangeShapeType="1"/>
          </p:cNvCxnSpPr>
          <p:nvPr/>
        </p:nvCxnSpPr>
        <p:spPr bwMode="auto">
          <a:xfrm rot="10800000" flipV="1">
            <a:off x="5105400" y="4191000"/>
            <a:ext cx="2514600" cy="381000"/>
          </a:xfrm>
          <a:prstGeom prst="bentConnector3">
            <a:avLst>
              <a:gd name="adj1" fmla="val 218"/>
            </a:avLst>
          </a:prstGeom>
          <a:noFill/>
          <a:ln w="38100" algn="ctr">
            <a:solidFill>
              <a:srgbClr val="FF0000"/>
            </a:solidFill>
            <a:miter lim="800000"/>
            <a:headEnd type="triangle" w="med" len="med"/>
            <a:tailEnd/>
          </a:ln>
        </p:spPr>
      </p:cxnSp>
      <p:sp>
        <p:nvSpPr>
          <p:cNvPr id="68620" name="Rectangle 2"/>
          <p:cNvSpPr>
            <a:spLocks noChangeArrowheads="1"/>
          </p:cNvSpPr>
          <p:nvPr/>
        </p:nvSpPr>
        <p:spPr bwMode="auto">
          <a:xfrm>
            <a:off x="1414463" y="3733800"/>
            <a:ext cx="2438400" cy="5334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68621" name="Rectangle 3"/>
          <p:cNvSpPr>
            <a:spLocks noChangeArrowheads="1"/>
          </p:cNvSpPr>
          <p:nvPr/>
        </p:nvSpPr>
        <p:spPr bwMode="auto">
          <a:xfrm>
            <a:off x="271463" y="4267200"/>
            <a:ext cx="1143000" cy="914400"/>
          </a:xfrm>
          <a:prstGeom prst="rect">
            <a:avLst/>
          </a:prstGeom>
          <a:solidFill>
            <a:srgbClr val="CBDDF7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68622" name="Rectangle 8"/>
          <p:cNvSpPr>
            <a:spLocks noChangeArrowheads="1"/>
          </p:cNvSpPr>
          <p:nvPr/>
        </p:nvSpPr>
        <p:spPr bwMode="auto">
          <a:xfrm>
            <a:off x="271463" y="3733800"/>
            <a:ext cx="5105400" cy="1905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8623" name="Rectangle 9"/>
          <p:cNvSpPr>
            <a:spLocks noChangeArrowheads="1"/>
          </p:cNvSpPr>
          <p:nvPr/>
        </p:nvSpPr>
        <p:spPr bwMode="auto">
          <a:xfrm>
            <a:off x="228600" y="4641850"/>
            <a:ext cx="46545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Not Wed.</a:t>
            </a:r>
            <a:r>
              <a:rPr lang="en-US" sz="2000" b="1">
                <a:solidFill>
                  <a:schemeClr val="hlink"/>
                </a:solidFill>
              </a:rPr>
              <a:t>      </a:t>
            </a:r>
            <a:r>
              <a:rPr lang="en-US" sz="2000" b="1"/>
              <a:t>27          286               313</a:t>
            </a:r>
            <a:r>
              <a:rPr lang="en-US" b="1"/>
              <a:t>  </a:t>
            </a:r>
          </a:p>
        </p:txBody>
      </p:sp>
      <p:sp>
        <p:nvSpPr>
          <p:cNvPr id="68624" name="Rectangle 10"/>
          <p:cNvSpPr>
            <a:spLocks noChangeArrowheads="1"/>
          </p:cNvSpPr>
          <p:nvPr/>
        </p:nvSpPr>
        <p:spPr bwMode="auto">
          <a:xfrm>
            <a:off x="341313" y="4260850"/>
            <a:ext cx="46609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Wed.             4            48                 52</a:t>
            </a:r>
          </a:p>
        </p:txBody>
      </p:sp>
      <p:sp>
        <p:nvSpPr>
          <p:cNvPr id="68625" name="Line 11"/>
          <p:cNvSpPr>
            <a:spLocks noChangeShapeType="1"/>
          </p:cNvSpPr>
          <p:nvPr/>
        </p:nvSpPr>
        <p:spPr bwMode="auto">
          <a:xfrm>
            <a:off x="271463" y="4267200"/>
            <a:ext cx="510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6" name="Line 12"/>
          <p:cNvSpPr>
            <a:spLocks noChangeShapeType="1"/>
          </p:cNvSpPr>
          <p:nvPr/>
        </p:nvSpPr>
        <p:spPr bwMode="auto">
          <a:xfrm>
            <a:off x="271463" y="5181600"/>
            <a:ext cx="510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7" name="Rectangle 13"/>
          <p:cNvSpPr>
            <a:spLocks noChangeArrowheads="1"/>
          </p:cNvSpPr>
          <p:nvPr/>
        </p:nvSpPr>
        <p:spPr bwMode="auto">
          <a:xfrm>
            <a:off x="347663" y="5181600"/>
            <a:ext cx="48895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Total            31          334               365</a:t>
            </a:r>
            <a:r>
              <a:rPr lang="en-US" b="1">
                <a:solidFill>
                  <a:schemeClr val="tx2"/>
                </a:solidFill>
              </a:rPr>
              <a:t>           </a:t>
            </a:r>
            <a:r>
              <a:rPr lang="en-US" sz="2000" b="1">
                <a:solidFill>
                  <a:schemeClr val="tx2"/>
                </a:solidFill>
              </a:rPr>
              <a:t>             </a:t>
            </a:r>
          </a:p>
        </p:txBody>
      </p:sp>
      <p:sp>
        <p:nvSpPr>
          <p:cNvPr id="68628" name="Rectangle 14"/>
          <p:cNvSpPr>
            <a:spLocks noChangeArrowheads="1"/>
          </p:cNvSpPr>
          <p:nvPr/>
        </p:nvSpPr>
        <p:spPr bwMode="auto">
          <a:xfrm>
            <a:off x="347663" y="3733800"/>
            <a:ext cx="51816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                  </a:t>
            </a:r>
            <a:r>
              <a:rPr lang="en-US" sz="2000" b="1">
                <a:solidFill>
                  <a:schemeClr val="tx2"/>
                </a:solidFill>
              </a:rPr>
              <a:t>Jan.        Not Jan.       Total</a:t>
            </a:r>
          </a:p>
        </p:txBody>
      </p:sp>
      <p:sp>
        <p:nvSpPr>
          <p:cNvPr id="68629" name="Line 28"/>
          <p:cNvSpPr>
            <a:spLocks noChangeShapeType="1"/>
          </p:cNvSpPr>
          <p:nvPr/>
        </p:nvSpPr>
        <p:spPr bwMode="auto">
          <a:xfrm>
            <a:off x="1414463" y="3733800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8630" name="Line 29"/>
          <p:cNvSpPr>
            <a:spLocks noChangeShapeType="1"/>
          </p:cNvSpPr>
          <p:nvPr/>
        </p:nvSpPr>
        <p:spPr bwMode="auto">
          <a:xfrm>
            <a:off x="2481263" y="37338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8631" name="Line 30"/>
          <p:cNvSpPr>
            <a:spLocks noChangeShapeType="1"/>
          </p:cNvSpPr>
          <p:nvPr/>
        </p:nvSpPr>
        <p:spPr bwMode="auto">
          <a:xfrm>
            <a:off x="3852863" y="3733800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8632" name="Line 36"/>
          <p:cNvSpPr>
            <a:spLocks noChangeShapeType="1"/>
          </p:cNvSpPr>
          <p:nvPr/>
        </p:nvSpPr>
        <p:spPr bwMode="auto">
          <a:xfrm>
            <a:off x="271463" y="4724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CAD79529-8983-4934-A051-D1D4AA36D503}" type="slidenum">
              <a:rPr lang="en-US" smtClean="0">
                <a:latin typeface="Arial" charset="0"/>
              </a:rPr>
              <a:pPr/>
              <a:t>11</a:t>
            </a:fld>
            <a:endParaRPr lang="en-US" smtClean="0">
              <a:latin typeface="Arial" charset="0"/>
            </a:endParaRPr>
          </a:p>
        </p:txBody>
      </p:sp>
      <p:sp>
        <p:nvSpPr>
          <p:cNvPr id="6963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96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52266391-49DE-406E-BB23-98E34CBC81D0}" type="slidenum">
              <a:rPr lang="en-US" sz="1000"/>
              <a:pPr algn="r" defTabSz="852488"/>
              <a:t>11</a:t>
            </a:fld>
            <a:endParaRPr lang="en-US" sz="1000"/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Definition:  Joint Probability</a:t>
            </a: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1905000"/>
          </a:xfrm>
        </p:spPr>
        <p:txBody>
          <a:bodyPr/>
          <a:lstStyle/>
          <a:p>
            <a:pPr eaLnBrk="1" hangingPunct="1"/>
            <a:r>
              <a:rPr lang="en-US" smtClean="0"/>
              <a:t>Joint Probability refers to the probability of an occurrence of two or more events (joint event).</a:t>
            </a:r>
          </a:p>
          <a:p>
            <a:pPr lvl="1" eaLnBrk="1" hangingPunct="1"/>
            <a:r>
              <a:rPr lang="en-US" smtClean="0"/>
              <a:t>ex. P(Jan. and Wed.)</a:t>
            </a:r>
          </a:p>
          <a:p>
            <a:pPr lvl="1" eaLnBrk="1" hangingPunct="1"/>
            <a:r>
              <a:rPr lang="en-US" smtClean="0"/>
              <a:t>ex. P(Not Jan. and Not Wed.)</a:t>
            </a:r>
          </a:p>
        </p:txBody>
      </p:sp>
      <p:sp>
        <p:nvSpPr>
          <p:cNvPr id="69638" name="TextBox 20"/>
          <p:cNvSpPr txBox="1">
            <a:spLocks noChangeArrowheads="1"/>
          </p:cNvSpPr>
          <p:nvPr/>
        </p:nvSpPr>
        <p:spPr bwMode="auto">
          <a:xfrm>
            <a:off x="762000" y="5867400"/>
            <a:ext cx="3863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P(Jan. and Wed.) = 4 / 365</a:t>
            </a:r>
          </a:p>
        </p:txBody>
      </p:sp>
      <p:sp>
        <p:nvSpPr>
          <p:cNvPr id="69639" name="TextBox 21"/>
          <p:cNvSpPr txBox="1">
            <a:spLocks noChangeArrowheads="1"/>
          </p:cNvSpPr>
          <p:nvPr/>
        </p:nvSpPr>
        <p:spPr bwMode="auto">
          <a:xfrm>
            <a:off x="5441950" y="3962400"/>
            <a:ext cx="37020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P(Not Jan. and Not Wed.)</a:t>
            </a:r>
          </a:p>
          <a:p>
            <a:r>
              <a:rPr lang="en-US"/>
              <a:t>= 286 / 365</a:t>
            </a:r>
          </a:p>
        </p:txBody>
      </p:sp>
      <p:cxnSp>
        <p:nvCxnSpPr>
          <p:cNvPr id="69640" name="Straight Arrow Connector 23"/>
          <p:cNvCxnSpPr>
            <a:cxnSpLocks noChangeShapeType="1"/>
          </p:cNvCxnSpPr>
          <p:nvPr/>
        </p:nvCxnSpPr>
        <p:spPr bwMode="auto">
          <a:xfrm flipV="1">
            <a:off x="3657600" y="4724400"/>
            <a:ext cx="2133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cxnSp>
        <p:nvCxnSpPr>
          <p:cNvPr id="69641" name="Straight Arrow Connector 24"/>
          <p:cNvCxnSpPr>
            <a:cxnSpLocks noChangeShapeType="1"/>
          </p:cNvCxnSpPr>
          <p:nvPr/>
        </p:nvCxnSpPr>
        <p:spPr bwMode="auto">
          <a:xfrm flipV="1">
            <a:off x="5105400" y="4724400"/>
            <a:ext cx="1524000" cy="609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cxnSp>
        <p:nvCxnSpPr>
          <p:cNvPr id="69642" name="Straight Arrow Connector 27"/>
          <p:cNvCxnSpPr>
            <a:cxnSpLocks noChangeShapeType="1"/>
          </p:cNvCxnSpPr>
          <p:nvPr/>
        </p:nvCxnSpPr>
        <p:spPr bwMode="auto">
          <a:xfrm>
            <a:off x="1981200" y="4572000"/>
            <a:ext cx="1524000" cy="1447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cxnSp>
        <p:nvCxnSpPr>
          <p:cNvPr id="69643" name="Straight Arrow Connector 30"/>
          <p:cNvCxnSpPr>
            <a:cxnSpLocks noChangeShapeType="1"/>
          </p:cNvCxnSpPr>
          <p:nvPr/>
        </p:nvCxnSpPr>
        <p:spPr bwMode="auto">
          <a:xfrm rot="5400000">
            <a:off x="4229100" y="5600700"/>
            <a:ext cx="4572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 type="arrow" w="med" len="med"/>
          </a:ln>
        </p:spPr>
      </p:cxnSp>
      <p:sp>
        <p:nvSpPr>
          <p:cNvPr id="69644" name="Rectangle 2"/>
          <p:cNvSpPr>
            <a:spLocks noChangeArrowheads="1"/>
          </p:cNvSpPr>
          <p:nvPr/>
        </p:nvSpPr>
        <p:spPr bwMode="auto">
          <a:xfrm>
            <a:off x="1414463" y="3657600"/>
            <a:ext cx="2438400" cy="5334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69645" name="Rectangle 3"/>
          <p:cNvSpPr>
            <a:spLocks noChangeArrowheads="1"/>
          </p:cNvSpPr>
          <p:nvPr/>
        </p:nvSpPr>
        <p:spPr bwMode="auto">
          <a:xfrm>
            <a:off x="271463" y="4191000"/>
            <a:ext cx="1143000" cy="914400"/>
          </a:xfrm>
          <a:prstGeom prst="rect">
            <a:avLst/>
          </a:prstGeom>
          <a:solidFill>
            <a:srgbClr val="CBDDF7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69646" name="Rectangle 8"/>
          <p:cNvSpPr>
            <a:spLocks noChangeArrowheads="1"/>
          </p:cNvSpPr>
          <p:nvPr/>
        </p:nvSpPr>
        <p:spPr bwMode="auto">
          <a:xfrm>
            <a:off x="271463" y="3657600"/>
            <a:ext cx="5105400" cy="1905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9647" name="Rectangle 9"/>
          <p:cNvSpPr>
            <a:spLocks noChangeArrowheads="1"/>
          </p:cNvSpPr>
          <p:nvPr/>
        </p:nvSpPr>
        <p:spPr bwMode="auto">
          <a:xfrm>
            <a:off x="228600" y="4565650"/>
            <a:ext cx="46545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Not Wed.</a:t>
            </a:r>
            <a:r>
              <a:rPr lang="en-US" sz="2000" b="1">
                <a:solidFill>
                  <a:schemeClr val="hlink"/>
                </a:solidFill>
              </a:rPr>
              <a:t>      </a:t>
            </a:r>
            <a:r>
              <a:rPr lang="en-US" sz="2000" b="1"/>
              <a:t>27          286               313</a:t>
            </a:r>
            <a:r>
              <a:rPr lang="en-US" b="1"/>
              <a:t>  </a:t>
            </a:r>
          </a:p>
        </p:txBody>
      </p:sp>
      <p:sp>
        <p:nvSpPr>
          <p:cNvPr id="69648" name="Rectangle 10"/>
          <p:cNvSpPr>
            <a:spLocks noChangeArrowheads="1"/>
          </p:cNvSpPr>
          <p:nvPr/>
        </p:nvSpPr>
        <p:spPr bwMode="auto">
          <a:xfrm>
            <a:off x="341313" y="4184650"/>
            <a:ext cx="46609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Wed.             4            48                 52</a:t>
            </a:r>
          </a:p>
        </p:txBody>
      </p:sp>
      <p:sp>
        <p:nvSpPr>
          <p:cNvPr id="69649" name="Line 11"/>
          <p:cNvSpPr>
            <a:spLocks noChangeShapeType="1"/>
          </p:cNvSpPr>
          <p:nvPr/>
        </p:nvSpPr>
        <p:spPr bwMode="auto">
          <a:xfrm>
            <a:off x="271463" y="4191000"/>
            <a:ext cx="510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50" name="Line 12"/>
          <p:cNvSpPr>
            <a:spLocks noChangeShapeType="1"/>
          </p:cNvSpPr>
          <p:nvPr/>
        </p:nvSpPr>
        <p:spPr bwMode="auto">
          <a:xfrm>
            <a:off x="271463" y="5105400"/>
            <a:ext cx="510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51" name="Rectangle 13"/>
          <p:cNvSpPr>
            <a:spLocks noChangeArrowheads="1"/>
          </p:cNvSpPr>
          <p:nvPr/>
        </p:nvSpPr>
        <p:spPr bwMode="auto">
          <a:xfrm>
            <a:off x="347663" y="5105400"/>
            <a:ext cx="48895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</a:rPr>
              <a:t>Total            31          334               365</a:t>
            </a:r>
            <a:r>
              <a:rPr lang="en-US" b="1">
                <a:solidFill>
                  <a:schemeClr val="tx2"/>
                </a:solidFill>
              </a:rPr>
              <a:t>           </a:t>
            </a:r>
            <a:r>
              <a:rPr lang="en-US" sz="2000" b="1">
                <a:solidFill>
                  <a:schemeClr val="tx2"/>
                </a:solidFill>
              </a:rPr>
              <a:t>             </a:t>
            </a:r>
          </a:p>
        </p:txBody>
      </p:sp>
      <p:sp>
        <p:nvSpPr>
          <p:cNvPr id="69652" name="Rectangle 14"/>
          <p:cNvSpPr>
            <a:spLocks noChangeArrowheads="1"/>
          </p:cNvSpPr>
          <p:nvPr/>
        </p:nvSpPr>
        <p:spPr bwMode="auto">
          <a:xfrm>
            <a:off x="347663" y="3657600"/>
            <a:ext cx="51816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                  </a:t>
            </a:r>
            <a:r>
              <a:rPr lang="en-US" sz="2000" b="1">
                <a:solidFill>
                  <a:schemeClr val="tx2"/>
                </a:solidFill>
              </a:rPr>
              <a:t>Jan.        Not Jan.       Total</a:t>
            </a:r>
          </a:p>
        </p:txBody>
      </p:sp>
      <p:sp>
        <p:nvSpPr>
          <p:cNvPr id="69653" name="Line 28"/>
          <p:cNvSpPr>
            <a:spLocks noChangeShapeType="1"/>
          </p:cNvSpPr>
          <p:nvPr/>
        </p:nvSpPr>
        <p:spPr bwMode="auto">
          <a:xfrm>
            <a:off x="1414463" y="3657600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54" name="Line 29"/>
          <p:cNvSpPr>
            <a:spLocks noChangeShapeType="1"/>
          </p:cNvSpPr>
          <p:nvPr/>
        </p:nvSpPr>
        <p:spPr bwMode="auto">
          <a:xfrm>
            <a:off x="2481263" y="3657600"/>
            <a:ext cx="0" cy="1905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55" name="Line 30"/>
          <p:cNvSpPr>
            <a:spLocks noChangeShapeType="1"/>
          </p:cNvSpPr>
          <p:nvPr/>
        </p:nvSpPr>
        <p:spPr bwMode="auto">
          <a:xfrm>
            <a:off x="3852863" y="3657600"/>
            <a:ext cx="0" cy="1905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9656" name="Line 36"/>
          <p:cNvSpPr>
            <a:spLocks noChangeShapeType="1"/>
          </p:cNvSpPr>
          <p:nvPr/>
        </p:nvSpPr>
        <p:spPr bwMode="auto">
          <a:xfrm>
            <a:off x="271463" y="46482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48107F23-F410-4C68-BA8F-A645713AE7FD}" type="slidenum">
              <a:rPr lang="en-US" smtClean="0">
                <a:latin typeface="Arial" charset="0"/>
              </a:rPr>
              <a:pPr/>
              <a:t>12</a:t>
            </a:fld>
            <a:endParaRPr lang="en-US" smtClean="0">
              <a:latin typeface="Arial" charset="0"/>
            </a:endParaRPr>
          </a:p>
        </p:txBody>
      </p:sp>
      <p:sp>
        <p:nvSpPr>
          <p:cNvPr id="7065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065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7240498C-4427-40A0-A63C-85F1A8F2AC91}" type="slidenum">
              <a:rPr lang="en-US" sz="1000"/>
              <a:pPr algn="r" defTabSz="852488"/>
              <a:t>12</a:t>
            </a:fld>
            <a:endParaRPr lang="en-US" sz="1000"/>
          </a:p>
        </p:txBody>
      </p:sp>
      <p:sp>
        <p:nvSpPr>
          <p:cNvPr id="70660" name="Rectangle 5"/>
          <p:cNvSpPr>
            <a:spLocks noChangeArrowheads="1"/>
          </p:cNvSpPr>
          <p:nvPr/>
        </p:nvSpPr>
        <p:spPr bwMode="auto">
          <a:xfrm>
            <a:off x="1447800" y="3962400"/>
            <a:ext cx="6248400" cy="6096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Mutually Exclusive Events</a:t>
            </a:r>
          </a:p>
        </p:txBody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696200" cy="46482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Mutually exclusive</a:t>
            </a:r>
            <a:r>
              <a:rPr lang="en-US" smtClean="0"/>
              <a:t> events</a:t>
            </a:r>
          </a:p>
          <a:p>
            <a:pPr lvl="1" eaLnBrk="1" hangingPunct="1"/>
            <a:r>
              <a:rPr lang="en-US" smtClean="0"/>
              <a:t>Events that cannot occur simultaneously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solidFill>
                  <a:schemeClr val="hlink"/>
                </a:solidFill>
              </a:rPr>
              <a:t>Example:  </a:t>
            </a:r>
            <a:r>
              <a:rPr lang="en-US" sz="2400" smtClean="0"/>
              <a:t>Randomly choosing a day from 2010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mtClean="0"/>
              <a:t>  A = day in January;  B = day in February</a:t>
            </a:r>
          </a:p>
          <a:p>
            <a:pPr lvl="1" eaLnBrk="1" hangingPunct="1">
              <a:buFont typeface="Wingdings" pitchFamily="2" charset="2"/>
              <a:buNone/>
            </a:pPr>
            <a:endParaRPr lang="en-US" smtClean="0"/>
          </a:p>
          <a:p>
            <a:pPr lvl="1" eaLnBrk="1" hangingPunct="1"/>
            <a:r>
              <a:rPr lang="en-US" smtClean="0"/>
              <a:t>Events A and B are mutually exclusive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3629AA25-0BCC-4F77-9E86-CE8D83408B43}" type="slidenum">
              <a:rPr lang="en-US" smtClean="0">
                <a:latin typeface="Arial" charset="0"/>
              </a:rPr>
              <a:pPr/>
              <a:t>13</a:t>
            </a:fld>
            <a:endParaRPr lang="en-US" smtClean="0">
              <a:latin typeface="Arial" charset="0"/>
            </a:endParaRPr>
          </a:p>
        </p:txBody>
      </p:sp>
      <p:sp>
        <p:nvSpPr>
          <p:cNvPr id="7168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168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F5408AA4-F413-4465-9465-B68020EB8C7F}" type="slidenum">
              <a:rPr lang="en-US" sz="1000"/>
              <a:pPr algn="r" defTabSz="852488"/>
              <a:t>13</a:t>
            </a:fld>
            <a:endParaRPr lang="en-US" sz="1000"/>
          </a:p>
        </p:txBody>
      </p:sp>
      <p:sp>
        <p:nvSpPr>
          <p:cNvPr id="71684" name="Rectangle 5"/>
          <p:cNvSpPr>
            <a:spLocks noChangeArrowheads="1"/>
          </p:cNvSpPr>
          <p:nvPr/>
        </p:nvSpPr>
        <p:spPr bwMode="auto">
          <a:xfrm>
            <a:off x="2514600" y="3733800"/>
            <a:ext cx="4114800" cy="914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Collectively Exhaustive Events</a:t>
            </a:r>
          </a:p>
        </p:txBody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6200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>
                <a:solidFill>
                  <a:schemeClr val="folHlink"/>
                </a:solidFill>
              </a:rPr>
              <a:t>Collectively exhaustive</a:t>
            </a:r>
            <a:r>
              <a:rPr lang="en-US" smtClean="0"/>
              <a:t> events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One of the events must occur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The set of events covers the entire sample space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200" smtClean="0">
              <a:solidFill>
                <a:schemeClr val="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>
                <a:solidFill>
                  <a:schemeClr val="hlink"/>
                </a:solidFill>
              </a:rPr>
              <a:t>Example:  Randomly choose a day from 2010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/>
              <a:t> 		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/>
              <a:t>			A = Weekday; B = Weekend;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smtClean="0"/>
              <a:t>			C = January; D = Spring;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Events A, B, C and D are collectively exhaustive (but not mutually exclusive – a weekday can be in January or in Spring)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Events A and B are collectively exhaustive and also mutually exclusive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509AD6A9-1968-417B-8C02-E056BA8AB60A}" type="slidenum">
              <a:rPr lang="en-US" smtClean="0">
                <a:latin typeface="Arial" charset="0"/>
              </a:rPr>
              <a:pPr/>
              <a:t>14</a:t>
            </a:fld>
            <a:endParaRPr lang="en-US" smtClean="0">
              <a:latin typeface="Arial" charset="0"/>
            </a:endParaRPr>
          </a:p>
        </p:txBody>
      </p:sp>
      <p:sp>
        <p:nvSpPr>
          <p:cNvPr id="5125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12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E3E8FFAE-552E-485B-8BFF-B4FFBCA56CFA}" type="slidenum">
              <a:rPr lang="en-US" sz="1000"/>
              <a:pPr algn="r" defTabSz="852488"/>
              <a:t>14</a:t>
            </a:fld>
            <a:endParaRPr lang="en-US" sz="1000"/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1371600" y="2511425"/>
            <a:ext cx="7391400" cy="917575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12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793038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smtClean="0"/>
              <a:t>Computing Joint and </a:t>
            </a:r>
            <a:br>
              <a:rPr lang="en-US" sz="3600" smtClean="0"/>
            </a:br>
            <a:r>
              <a:rPr lang="en-US" sz="3600" smtClean="0"/>
              <a:t>Marginal Probabilities</a:t>
            </a:r>
          </a:p>
        </p:txBody>
      </p:sp>
      <p:sp>
        <p:nvSpPr>
          <p:cNvPr id="51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68488"/>
            <a:ext cx="8077200" cy="4684712"/>
          </a:xfrm>
        </p:spPr>
        <p:txBody>
          <a:bodyPr/>
          <a:lstStyle/>
          <a:p>
            <a:pPr eaLnBrk="1" hangingPunct="1"/>
            <a:r>
              <a:rPr lang="en-US" smtClean="0"/>
              <a:t>The probability of a joint event, A and B: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>
              <a:lnSpc>
                <a:spcPct val="140000"/>
              </a:lnSpc>
            </a:pPr>
            <a:r>
              <a:rPr lang="en-US" smtClean="0"/>
              <a:t>Computing a marginal (or simple) probability: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Where B</a:t>
            </a:r>
            <a:r>
              <a:rPr lang="en-US" baseline="-25000" smtClean="0"/>
              <a:t>1</a:t>
            </a:r>
            <a:r>
              <a:rPr lang="en-US" smtClean="0"/>
              <a:t>, B</a:t>
            </a:r>
            <a:r>
              <a:rPr lang="en-US" baseline="-25000" smtClean="0"/>
              <a:t>2</a:t>
            </a:r>
            <a:r>
              <a:rPr lang="en-US" smtClean="0"/>
              <a:t>, …, B</a:t>
            </a:r>
            <a:r>
              <a:rPr lang="en-US" baseline="-25000" smtClean="0"/>
              <a:t>k</a:t>
            </a:r>
            <a:r>
              <a:rPr lang="en-US" smtClean="0"/>
              <a:t> are k mutually exclusive and collectively exhaustive events</a:t>
            </a:r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/>
        </p:nvGraphicFramePr>
        <p:xfrm>
          <a:off x="1524000" y="2590800"/>
          <a:ext cx="7050088" cy="811213"/>
        </p:xfrm>
        <a:graphic>
          <a:graphicData uri="http://schemas.openxmlformats.org/presentationml/2006/ole">
            <p:oleObj spid="_x0000_s5122" name="Equation" r:id="rId3" imgW="3632040" imgH="419040" progId="Equation.3">
              <p:embed/>
            </p:oleObj>
          </a:graphicData>
        </a:graphic>
      </p:graphicFrame>
      <p:graphicFrame>
        <p:nvGraphicFramePr>
          <p:cNvPr id="5123" name="Object 10"/>
          <p:cNvGraphicFramePr>
            <a:graphicFrameLocks noChangeAspect="1"/>
          </p:cNvGraphicFramePr>
          <p:nvPr/>
        </p:nvGraphicFramePr>
        <p:xfrm>
          <a:off x="1371600" y="4945063"/>
          <a:ext cx="7346950" cy="465137"/>
        </p:xfrm>
        <a:graphic>
          <a:graphicData uri="http://schemas.openxmlformats.org/presentationml/2006/ole">
            <p:oleObj spid="_x0000_s5123" name="Equation" r:id="rId4" imgW="341604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53AD6B76-73F7-4710-80F2-7DE267770EDF}" type="slidenum">
              <a:rPr lang="en-US" smtClean="0">
                <a:latin typeface="Arial" charset="0"/>
              </a:rPr>
              <a:pPr/>
              <a:t>15</a:t>
            </a:fld>
            <a:endParaRPr lang="en-US" smtClean="0">
              <a:latin typeface="Arial" charset="0"/>
            </a:endParaRPr>
          </a:p>
        </p:txBody>
      </p:sp>
      <p:sp>
        <p:nvSpPr>
          <p:cNvPr id="614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614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F513EEB1-D689-4957-881F-659657C8B235}" type="slidenum">
              <a:rPr lang="en-US" sz="1000"/>
              <a:pPr algn="r" defTabSz="852488"/>
              <a:t>15</a:t>
            </a:fld>
            <a:endParaRPr lang="en-US" sz="1000"/>
          </a:p>
        </p:txBody>
      </p:sp>
      <p:sp>
        <p:nvSpPr>
          <p:cNvPr id="6150" name="Rectangle 8"/>
          <p:cNvSpPr>
            <a:spLocks noGrp="1" noChangeArrowheads="1"/>
          </p:cNvSpPr>
          <p:nvPr>
            <p:ph type="title"/>
          </p:nvPr>
        </p:nvSpPr>
        <p:spPr>
          <a:xfrm>
            <a:off x="1222375" y="457200"/>
            <a:ext cx="7004050" cy="762000"/>
          </a:xfrm>
        </p:spPr>
        <p:txBody>
          <a:bodyPr/>
          <a:lstStyle/>
          <a:p>
            <a:pPr eaLnBrk="1" hangingPunct="1"/>
            <a:r>
              <a:rPr lang="en-US" smtClean="0"/>
              <a:t>Joint Probability Example</a:t>
            </a:r>
          </a:p>
        </p:txBody>
      </p:sp>
      <p:sp>
        <p:nvSpPr>
          <p:cNvPr id="6151" name="Rectangle 9"/>
          <p:cNvSpPr>
            <a:spLocks noChangeArrowheads="1"/>
          </p:cNvSpPr>
          <p:nvPr/>
        </p:nvSpPr>
        <p:spPr bwMode="auto">
          <a:xfrm>
            <a:off x="2895600" y="1828800"/>
            <a:ext cx="28194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P(Jan. and Wed.)</a:t>
            </a:r>
          </a:p>
        </p:txBody>
      </p:sp>
      <p:graphicFrame>
        <p:nvGraphicFramePr>
          <p:cNvPr id="6146" name="Object 43"/>
          <p:cNvGraphicFramePr>
            <a:graphicFrameLocks noChangeAspect="1"/>
          </p:cNvGraphicFramePr>
          <p:nvPr/>
        </p:nvGraphicFramePr>
        <p:xfrm>
          <a:off x="1306513" y="2441575"/>
          <a:ext cx="5846762" cy="758825"/>
        </p:xfrm>
        <a:graphic>
          <a:graphicData uri="http://schemas.openxmlformats.org/presentationml/2006/ole">
            <p:oleObj spid="_x0000_s6146" name="Equation" r:id="rId3" imgW="3238200" imgH="419040" progId="Equation.3">
              <p:embed/>
            </p:oleObj>
          </a:graphicData>
        </a:graphic>
      </p:graphicFrame>
      <p:sp>
        <p:nvSpPr>
          <p:cNvPr id="6152" name="Rectangle 44"/>
          <p:cNvSpPr>
            <a:spLocks noChangeArrowheads="1"/>
          </p:cNvSpPr>
          <p:nvPr/>
        </p:nvSpPr>
        <p:spPr bwMode="auto">
          <a:xfrm>
            <a:off x="1219200" y="1676400"/>
            <a:ext cx="60198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53" name="Group 56"/>
          <p:cNvGrpSpPr>
            <a:grpSpLocks/>
          </p:cNvGrpSpPr>
          <p:nvPr/>
        </p:nvGrpSpPr>
        <p:grpSpPr bwMode="auto">
          <a:xfrm>
            <a:off x="1676400" y="4038600"/>
            <a:ext cx="5300663" cy="1906588"/>
            <a:chOff x="1676400" y="4038600"/>
            <a:chExt cx="5301342" cy="1906900"/>
          </a:xfrm>
        </p:grpSpPr>
        <p:sp>
          <p:nvSpPr>
            <p:cNvPr id="6157" name="Rectangle 2"/>
            <p:cNvSpPr>
              <a:spLocks noChangeArrowheads="1"/>
            </p:cNvSpPr>
            <p:nvPr/>
          </p:nvSpPr>
          <p:spPr bwMode="auto">
            <a:xfrm>
              <a:off x="2862942" y="4038600"/>
              <a:ext cx="2438400" cy="533400"/>
            </a:xfrm>
            <a:prstGeom prst="rect">
              <a:avLst/>
            </a:prstGeom>
            <a:solidFill>
              <a:srgbClr val="FDE0BD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6158" name="Rectangle 3"/>
            <p:cNvSpPr>
              <a:spLocks noChangeArrowheads="1"/>
            </p:cNvSpPr>
            <p:nvPr/>
          </p:nvSpPr>
          <p:spPr bwMode="auto">
            <a:xfrm>
              <a:off x="1719942" y="4572000"/>
              <a:ext cx="1143000" cy="914400"/>
            </a:xfrm>
            <a:prstGeom prst="rect">
              <a:avLst/>
            </a:prstGeom>
            <a:solidFill>
              <a:srgbClr val="CBDDF7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6159" name="Rectangle 8"/>
            <p:cNvSpPr>
              <a:spLocks noChangeArrowheads="1"/>
            </p:cNvSpPr>
            <p:nvPr/>
          </p:nvSpPr>
          <p:spPr bwMode="auto">
            <a:xfrm>
              <a:off x="1719942" y="4038600"/>
              <a:ext cx="5105400" cy="1905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60" name="Rectangle 9"/>
            <p:cNvSpPr>
              <a:spLocks noChangeArrowheads="1"/>
            </p:cNvSpPr>
            <p:nvPr/>
          </p:nvSpPr>
          <p:spPr bwMode="auto">
            <a:xfrm>
              <a:off x="1676400" y="4946650"/>
              <a:ext cx="465455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Not Wed.</a:t>
              </a:r>
              <a:r>
                <a:rPr lang="en-US" sz="2000" b="1">
                  <a:solidFill>
                    <a:schemeClr val="hlink"/>
                  </a:solidFill>
                </a:rPr>
                <a:t>      </a:t>
              </a:r>
              <a:r>
                <a:rPr lang="en-US" sz="2000" b="1"/>
                <a:t>27          286               313</a:t>
              </a:r>
              <a:r>
                <a:rPr lang="en-US" b="1"/>
                <a:t>  </a:t>
              </a:r>
            </a:p>
          </p:txBody>
        </p:sp>
        <p:sp>
          <p:nvSpPr>
            <p:cNvPr id="6161" name="Rectangle 10"/>
            <p:cNvSpPr>
              <a:spLocks noChangeArrowheads="1"/>
            </p:cNvSpPr>
            <p:nvPr/>
          </p:nvSpPr>
          <p:spPr bwMode="auto">
            <a:xfrm>
              <a:off x="1789792" y="4565650"/>
              <a:ext cx="46609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Wed.             4            48                 52</a:t>
              </a:r>
            </a:p>
          </p:txBody>
        </p:sp>
        <p:sp>
          <p:nvSpPr>
            <p:cNvPr id="6162" name="Line 11"/>
            <p:cNvSpPr>
              <a:spLocks noChangeShapeType="1"/>
            </p:cNvSpPr>
            <p:nvPr/>
          </p:nvSpPr>
          <p:spPr bwMode="auto">
            <a:xfrm>
              <a:off x="1719942" y="45720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3" name="Line 12"/>
            <p:cNvSpPr>
              <a:spLocks noChangeShapeType="1"/>
            </p:cNvSpPr>
            <p:nvPr/>
          </p:nvSpPr>
          <p:spPr bwMode="auto">
            <a:xfrm>
              <a:off x="1719942" y="54864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13"/>
            <p:cNvSpPr>
              <a:spLocks noChangeArrowheads="1"/>
            </p:cNvSpPr>
            <p:nvPr/>
          </p:nvSpPr>
          <p:spPr bwMode="auto">
            <a:xfrm>
              <a:off x="1796142" y="5486400"/>
              <a:ext cx="48895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>
                  <a:solidFill>
                    <a:schemeClr val="tx2"/>
                  </a:solidFill>
                </a:rPr>
                <a:t>Total            31          334               365</a:t>
              </a:r>
              <a:r>
                <a:rPr lang="en-US" b="1">
                  <a:solidFill>
                    <a:schemeClr val="tx2"/>
                  </a:solidFill>
                </a:rPr>
                <a:t>           </a:t>
              </a:r>
              <a:r>
                <a:rPr lang="en-US" sz="2000" b="1">
                  <a:solidFill>
                    <a:schemeClr val="tx2"/>
                  </a:solidFill>
                </a:rPr>
                <a:t>             </a:t>
              </a:r>
            </a:p>
          </p:txBody>
        </p:sp>
        <p:sp>
          <p:nvSpPr>
            <p:cNvPr id="6165" name="Rectangle 14"/>
            <p:cNvSpPr>
              <a:spLocks noChangeArrowheads="1"/>
            </p:cNvSpPr>
            <p:nvPr/>
          </p:nvSpPr>
          <p:spPr bwMode="auto">
            <a:xfrm>
              <a:off x="1796142" y="4038600"/>
              <a:ext cx="51816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                  </a:t>
              </a:r>
              <a:r>
                <a:rPr lang="en-US" sz="2000" b="1">
                  <a:solidFill>
                    <a:schemeClr val="tx2"/>
                  </a:solidFill>
                </a:rPr>
                <a:t>Jan.        Not Jan.       Total</a:t>
              </a:r>
            </a:p>
          </p:txBody>
        </p:sp>
        <p:sp>
          <p:nvSpPr>
            <p:cNvPr id="6166" name="Line 28"/>
            <p:cNvSpPr>
              <a:spLocks noChangeShapeType="1"/>
            </p:cNvSpPr>
            <p:nvPr/>
          </p:nvSpPr>
          <p:spPr bwMode="auto">
            <a:xfrm>
              <a:off x="2862942" y="40386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67" name="Line 29"/>
            <p:cNvSpPr>
              <a:spLocks noChangeShapeType="1"/>
            </p:cNvSpPr>
            <p:nvPr/>
          </p:nvSpPr>
          <p:spPr bwMode="auto">
            <a:xfrm>
              <a:off x="3929742" y="4038600"/>
              <a:ext cx="0" cy="1905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68" name="Line 30"/>
            <p:cNvSpPr>
              <a:spLocks noChangeShapeType="1"/>
            </p:cNvSpPr>
            <p:nvPr/>
          </p:nvSpPr>
          <p:spPr bwMode="auto">
            <a:xfrm>
              <a:off x="5301342" y="40386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69" name="Oval 34"/>
            <p:cNvSpPr>
              <a:spLocks noChangeArrowheads="1"/>
            </p:cNvSpPr>
            <p:nvPr/>
          </p:nvSpPr>
          <p:spPr bwMode="auto">
            <a:xfrm>
              <a:off x="3167744" y="4528456"/>
              <a:ext cx="533400" cy="533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70" name="Line 36"/>
            <p:cNvSpPr>
              <a:spLocks noChangeShapeType="1"/>
            </p:cNvSpPr>
            <p:nvPr/>
          </p:nvSpPr>
          <p:spPr bwMode="auto">
            <a:xfrm>
              <a:off x="1719942" y="5029200"/>
              <a:ext cx="510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154" name="Line 6"/>
          <p:cNvSpPr>
            <a:spLocks noChangeShapeType="1"/>
          </p:cNvSpPr>
          <p:nvPr/>
        </p:nvSpPr>
        <p:spPr bwMode="auto">
          <a:xfrm flipH="1">
            <a:off x="3657600" y="2743200"/>
            <a:ext cx="3048000" cy="1905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6155" name="Line 6"/>
          <p:cNvSpPr>
            <a:spLocks noChangeShapeType="1"/>
          </p:cNvSpPr>
          <p:nvPr/>
        </p:nvSpPr>
        <p:spPr bwMode="auto">
          <a:xfrm flipH="1">
            <a:off x="6248400" y="3200400"/>
            <a:ext cx="685800" cy="2514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6156" name="Oval 34"/>
          <p:cNvSpPr>
            <a:spLocks noChangeArrowheads="1"/>
          </p:cNvSpPr>
          <p:nvPr/>
        </p:nvSpPr>
        <p:spPr bwMode="auto">
          <a:xfrm>
            <a:off x="5692775" y="5453063"/>
            <a:ext cx="5334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55DBAB33-ED62-4903-9371-4258940F2161}" type="slidenum">
              <a:rPr lang="en-US" smtClean="0">
                <a:latin typeface="Arial" charset="0"/>
              </a:rPr>
              <a:pPr/>
              <a:t>16</a:t>
            </a:fld>
            <a:endParaRPr lang="en-US" smtClean="0">
              <a:latin typeface="Arial" charset="0"/>
            </a:endParaRPr>
          </a:p>
        </p:txBody>
      </p:sp>
      <p:sp>
        <p:nvSpPr>
          <p:cNvPr id="717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17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D5CCCC7B-159A-4BE4-B740-DC2D854E21EA}" type="slidenum">
              <a:rPr lang="en-US" sz="1000"/>
              <a:pPr algn="r" defTabSz="852488"/>
              <a:t>16</a:t>
            </a:fld>
            <a:endParaRPr lang="en-US" sz="1000"/>
          </a:p>
        </p:txBody>
      </p:sp>
      <p:sp>
        <p:nvSpPr>
          <p:cNvPr id="7174" name="Line 5"/>
          <p:cNvSpPr>
            <a:spLocks noChangeShapeType="1"/>
          </p:cNvSpPr>
          <p:nvPr/>
        </p:nvSpPr>
        <p:spPr bwMode="auto">
          <a:xfrm flipH="1">
            <a:off x="6248400" y="3048000"/>
            <a:ext cx="1524000" cy="1752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7175" name="Rectangle 6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762000"/>
          </a:xfrm>
        </p:spPr>
        <p:txBody>
          <a:bodyPr/>
          <a:lstStyle/>
          <a:p>
            <a:pPr eaLnBrk="1" hangingPunct="1"/>
            <a:r>
              <a:rPr lang="en-US" smtClean="0"/>
              <a:t>Marginal Probability Example</a:t>
            </a: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1524000" y="1828800"/>
            <a:ext cx="25146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P(Wed.)</a:t>
            </a:r>
          </a:p>
        </p:txBody>
      </p:sp>
      <p:graphicFrame>
        <p:nvGraphicFramePr>
          <p:cNvPr id="7170" name="Object 37"/>
          <p:cNvGraphicFramePr>
            <a:graphicFrameLocks noChangeAspect="1"/>
          </p:cNvGraphicFramePr>
          <p:nvPr/>
        </p:nvGraphicFramePr>
        <p:xfrm>
          <a:off x="1231900" y="2341563"/>
          <a:ext cx="6843713" cy="712787"/>
        </p:xfrm>
        <a:graphic>
          <a:graphicData uri="http://schemas.openxmlformats.org/presentationml/2006/ole">
            <p:oleObj spid="_x0000_s7170" name="Equation" r:id="rId3" imgW="3835080" imgH="393480" progId="Equation.3">
              <p:embed/>
            </p:oleObj>
          </a:graphicData>
        </a:graphic>
      </p:graphicFrame>
      <p:sp>
        <p:nvSpPr>
          <p:cNvPr id="7177" name="Rectangle 38"/>
          <p:cNvSpPr>
            <a:spLocks noChangeArrowheads="1"/>
          </p:cNvSpPr>
          <p:nvPr/>
        </p:nvSpPr>
        <p:spPr bwMode="auto">
          <a:xfrm>
            <a:off x="990600" y="1676400"/>
            <a:ext cx="76200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178" name="Group 43"/>
          <p:cNvGrpSpPr>
            <a:grpSpLocks/>
          </p:cNvGrpSpPr>
          <p:nvPr/>
        </p:nvGrpSpPr>
        <p:grpSpPr bwMode="auto">
          <a:xfrm>
            <a:off x="1676400" y="4038600"/>
            <a:ext cx="5300663" cy="1906588"/>
            <a:chOff x="1676400" y="4038600"/>
            <a:chExt cx="5301342" cy="1906900"/>
          </a:xfrm>
        </p:grpSpPr>
        <p:sp>
          <p:nvSpPr>
            <p:cNvPr id="7183" name="Rectangle 2"/>
            <p:cNvSpPr>
              <a:spLocks noChangeArrowheads="1"/>
            </p:cNvSpPr>
            <p:nvPr/>
          </p:nvSpPr>
          <p:spPr bwMode="auto">
            <a:xfrm>
              <a:off x="2862942" y="4038600"/>
              <a:ext cx="2438400" cy="533400"/>
            </a:xfrm>
            <a:prstGeom prst="rect">
              <a:avLst/>
            </a:prstGeom>
            <a:solidFill>
              <a:srgbClr val="FDE0BD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7184" name="Rectangle 3"/>
            <p:cNvSpPr>
              <a:spLocks noChangeArrowheads="1"/>
            </p:cNvSpPr>
            <p:nvPr/>
          </p:nvSpPr>
          <p:spPr bwMode="auto">
            <a:xfrm>
              <a:off x="1719942" y="4572000"/>
              <a:ext cx="1143000" cy="914400"/>
            </a:xfrm>
            <a:prstGeom prst="rect">
              <a:avLst/>
            </a:prstGeom>
            <a:solidFill>
              <a:srgbClr val="CBDDF7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7185" name="Rectangle 8"/>
            <p:cNvSpPr>
              <a:spLocks noChangeArrowheads="1"/>
            </p:cNvSpPr>
            <p:nvPr/>
          </p:nvSpPr>
          <p:spPr bwMode="auto">
            <a:xfrm>
              <a:off x="1719942" y="4038600"/>
              <a:ext cx="5105400" cy="1905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86" name="Rectangle 9"/>
            <p:cNvSpPr>
              <a:spLocks noChangeArrowheads="1"/>
            </p:cNvSpPr>
            <p:nvPr/>
          </p:nvSpPr>
          <p:spPr bwMode="auto">
            <a:xfrm>
              <a:off x="1676400" y="4946650"/>
              <a:ext cx="465455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Not Wed.</a:t>
              </a:r>
              <a:r>
                <a:rPr lang="en-US" sz="2000" b="1">
                  <a:solidFill>
                    <a:schemeClr val="hlink"/>
                  </a:solidFill>
                </a:rPr>
                <a:t>      </a:t>
              </a:r>
              <a:r>
                <a:rPr lang="en-US" sz="2000" b="1"/>
                <a:t>27          286               313</a:t>
              </a:r>
              <a:r>
                <a:rPr lang="en-US" b="1"/>
                <a:t>  </a:t>
              </a:r>
            </a:p>
          </p:txBody>
        </p:sp>
        <p:sp>
          <p:nvSpPr>
            <p:cNvPr id="7187" name="Rectangle 10"/>
            <p:cNvSpPr>
              <a:spLocks noChangeArrowheads="1"/>
            </p:cNvSpPr>
            <p:nvPr/>
          </p:nvSpPr>
          <p:spPr bwMode="auto">
            <a:xfrm>
              <a:off x="1789792" y="4565650"/>
              <a:ext cx="46609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Wed.             4            48                 52</a:t>
              </a:r>
            </a:p>
          </p:txBody>
        </p:sp>
        <p:sp>
          <p:nvSpPr>
            <p:cNvPr id="7188" name="Line 11"/>
            <p:cNvSpPr>
              <a:spLocks noChangeShapeType="1"/>
            </p:cNvSpPr>
            <p:nvPr/>
          </p:nvSpPr>
          <p:spPr bwMode="auto">
            <a:xfrm>
              <a:off x="1719942" y="45720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12"/>
            <p:cNvSpPr>
              <a:spLocks noChangeShapeType="1"/>
            </p:cNvSpPr>
            <p:nvPr/>
          </p:nvSpPr>
          <p:spPr bwMode="auto">
            <a:xfrm>
              <a:off x="1719942" y="54864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Rectangle 13"/>
            <p:cNvSpPr>
              <a:spLocks noChangeArrowheads="1"/>
            </p:cNvSpPr>
            <p:nvPr/>
          </p:nvSpPr>
          <p:spPr bwMode="auto">
            <a:xfrm>
              <a:off x="1796142" y="5486400"/>
              <a:ext cx="48895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>
                  <a:solidFill>
                    <a:schemeClr val="tx2"/>
                  </a:solidFill>
                </a:rPr>
                <a:t>Total            31          334               365</a:t>
              </a:r>
              <a:r>
                <a:rPr lang="en-US" b="1">
                  <a:solidFill>
                    <a:schemeClr val="tx2"/>
                  </a:solidFill>
                </a:rPr>
                <a:t>           </a:t>
              </a:r>
              <a:r>
                <a:rPr lang="en-US" sz="2000" b="1">
                  <a:solidFill>
                    <a:schemeClr val="tx2"/>
                  </a:solidFill>
                </a:rPr>
                <a:t>             </a:t>
              </a:r>
            </a:p>
          </p:txBody>
        </p:sp>
        <p:sp>
          <p:nvSpPr>
            <p:cNvPr id="7191" name="Rectangle 14"/>
            <p:cNvSpPr>
              <a:spLocks noChangeArrowheads="1"/>
            </p:cNvSpPr>
            <p:nvPr/>
          </p:nvSpPr>
          <p:spPr bwMode="auto">
            <a:xfrm>
              <a:off x="1796142" y="4038600"/>
              <a:ext cx="51816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                  </a:t>
              </a:r>
              <a:r>
                <a:rPr lang="en-US" sz="2000" b="1">
                  <a:solidFill>
                    <a:schemeClr val="tx2"/>
                  </a:solidFill>
                </a:rPr>
                <a:t>Jan.        Not Jan.       Total</a:t>
              </a:r>
            </a:p>
          </p:txBody>
        </p:sp>
        <p:sp>
          <p:nvSpPr>
            <p:cNvPr id="7192" name="Line 28"/>
            <p:cNvSpPr>
              <a:spLocks noChangeShapeType="1"/>
            </p:cNvSpPr>
            <p:nvPr/>
          </p:nvSpPr>
          <p:spPr bwMode="auto">
            <a:xfrm>
              <a:off x="2862942" y="40386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93" name="Line 29"/>
            <p:cNvSpPr>
              <a:spLocks noChangeShapeType="1"/>
            </p:cNvSpPr>
            <p:nvPr/>
          </p:nvSpPr>
          <p:spPr bwMode="auto">
            <a:xfrm>
              <a:off x="3929742" y="4038600"/>
              <a:ext cx="0" cy="1905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94" name="Line 30"/>
            <p:cNvSpPr>
              <a:spLocks noChangeShapeType="1"/>
            </p:cNvSpPr>
            <p:nvPr/>
          </p:nvSpPr>
          <p:spPr bwMode="auto">
            <a:xfrm>
              <a:off x="5301342" y="40386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95" name="Oval 34"/>
            <p:cNvSpPr>
              <a:spLocks noChangeArrowheads="1"/>
            </p:cNvSpPr>
            <p:nvPr/>
          </p:nvSpPr>
          <p:spPr bwMode="auto">
            <a:xfrm>
              <a:off x="3167744" y="4528456"/>
              <a:ext cx="533400" cy="533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196" name="Line 36"/>
            <p:cNvSpPr>
              <a:spLocks noChangeShapeType="1"/>
            </p:cNvSpPr>
            <p:nvPr/>
          </p:nvSpPr>
          <p:spPr bwMode="auto">
            <a:xfrm>
              <a:off x="1719942" y="5029200"/>
              <a:ext cx="510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7179" name="Line 5"/>
          <p:cNvSpPr>
            <a:spLocks noChangeShapeType="1"/>
          </p:cNvSpPr>
          <p:nvPr/>
        </p:nvSpPr>
        <p:spPr bwMode="auto">
          <a:xfrm flipH="1">
            <a:off x="4876800" y="3048000"/>
            <a:ext cx="2209800" cy="1676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7180" name="Line 5"/>
          <p:cNvSpPr>
            <a:spLocks noChangeShapeType="1"/>
          </p:cNvSpPr>
          <p:nvPr/>
        </p:nvSpPr>
        <p:spPr bwMode="auto">
          <a:xfrm flipH="1">
            <a:off x="3657600" y="3124200"/>
            <a:ext cx="2743200" cy="1371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7181" name="Oval 34"/>
          <p:cNvSpPr>
            <a:spLocks noChangeArrowheads="1"/>
          </p:cNvSpPr>
          <p:nvPr/>
        </p:nvSpPr>
        <p:spPr bwMode="auto">
          <a:xfrm>
            <a:off x="4224338" y="4529138"/>
            <a:ext cx="5334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82" name="Oval 34"/>
          <p:cNvSpPr>
            <a:spLocks noChangeArrowheads="1"/>
          </p:cNvSpPr>
          <p:nvPr/>
        </p:nvSpPr>
        <p:spPr bwMode="auto">
          <a:xfrm>
            <a:off x="5715000" y="4495800"/>
            <a:ext cx="5334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774F4EF4-2097-49AC-8F39-05958AF89430}" type="slidenum">
              <a:rPr lang="en-US" smtClean="0">
                <a:latin typeface="Arial" charset="0"/>
              </a:rPr>
              <a:pPr/>
              <a:t>17</a:t>
            </a:fld>
            <a:endParaRPr lang="en-US" smtClean="0">
              <a:latin typeface="Arial" charset="0"/>
            </a:endParaRPr>
          </a:p>
        </p:txBody>
      </p:sp>
      <p:sp>
        <p:nvSpPr>
          <p:cNvPr id="7885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788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A7CE53AE-CE1A-4A05-BEAF-D8F0896B2779}" type="slidenum">
              <a:rPr lang="en-US" sz="1000"/>
              <a:pPr algn="r" defTabSz="852488"/>
              <a:t>17</a:t>
            </a:fld>
            <a:endParaRPr lang="en-US" sz="1000"/>
          </a:p>
        </p:txBody>
      </p:sp>
      <p:sp>
        <p:nvSpPr>
          <p:cNvPr id="78852" name="Rectangle 110"/>
          <p:cNvSpPr>
            <a:spLocks noChangeArrowheads="1"/>
          </p:cNvSpPr>
          <p:nvPr/>
        </p:nvSpPr>
        <p:spPr bwMode="auto">
          <a:xfrm>
            <a:off x="1524000" y="2133600"/>
            <a:ext cx="6172200" cy="2819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78853" name="Rectangle 124"/>
          <p:cNvSpPr>
            <a:spLocks noChangeArrowheads="1"/>
          </p:cNvSpPr>
          <p:nvPr/>
        </p:nvSpPr>
        <p:spPr bwMode="auto">
          <a:xfrm>
            <a:off x="2590800" y="4343400"/>
            <a:ext cx="3962400" cy="609600"/>
          </a:xfrm>
          <a:prstGeom prst="rect">
            <a:avLst/>
          </a:prstGeom>
          <a:solidFill>
            <a:srgbClr val="85E5C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8854" name="Rectangle 123"/>
          <p:cNvSpPr>
            <a:spLocks noChangeArrowheads="1"/>
          </p:cNvSpPr>
          <p:nvPr/>
        </p:nvSpPr>
        <p:spPr bwMode="auto">
          <a:xfrm>
            <a:off x="6553200" y="3048000"/>
            <a:ext cx="1143000" cy="1295400"/>
          </a:xfrm>
          <a:prstGeom prst="rect">
            <a:avLst/>
          </a:prstGeom>
          <a:solidFill>
            <a:srgbClr val="85E5C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8855" name="Rectangle 122"/>
          <p:cNvSpPr>
            <a:spLocks noChangeArrowheads="1"/>
          </p:cNvSpPr>
          <p:nvPr/>
        </p:nvSpPr>
        <p:spPr bwMode="auto">
          <a:xfrm>
            <a:off x="2590800" y="3048000"/>
            <a:ext cx="3962400" cy="1295400"/>
          </a:xfrm>
          <a:prstGeom prst="rect">
            <a:avLst/>
          </a:prstGeom>
          <a:solidFill>
            <a:srgbClr val="CBDD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        </a:t>
            </a:r>
          </a:p>
        </p:txBody>
      </p:sp>
      <p:sp>
        <p:nvSpPr>
          <p:cNvPr id="78856" name="Rectangle 101"/>
          <p:cNvSpPr>
            <a:spLocks noChangeArrowheads="1"/>
          </p:cNvSpPr>
          <p:nvPr/>
        </p:nvSpPr>
        <p:spPr bwMode="auto">
          <a:xfrm>
            <a:off x="4572000" y="3201988"/>
            <a:ext cx="2057400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P(A</a:t>
            </a:r>
            <a:r>
              <a:rPr lang="en-US" b="1" baseline="-25000"/>
              <a:t>1</a:t>
            </a:r>
            <a:r>
              <a:rPr lang="en-US" b="1"/>
              <a:t> and B</a:t>
            </a:r>
            <a:r>
              <a:rPr lang="en-US" b="1" baseline="-25000"/>
              <a:t>2</a:t>
            </a:r>
            <a:r>
              <a:rPr lang="en-US" b="1"/>
              <a:t>)</a:t>
            </a:r>
          </a:p>
        </p:txBody>
      </p:sp>
      <p:sp>
        <p:nvSpPr>
          <p:cNvPr id="78857" name="Rectangle 92"/>
          <p:cNvSpPr>
            <a:spLocks noChangeArrowheads="1"/>
          </p:cNvSpPr>
          <p:nvPr/>
        </p:nvSpPr>
        <p:spPr bwMode="auto">
          <a:xfrm>
            <a:off x="6705600" y="3201988"/>
            <a:ext cx="990600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P(A</a:t>
            </a:r>
            <a:r>
              <a:rPr lang="en-US" b="1" baseline="-25000"/>
              <a:t>1</a:t>
            </a:r>
            <a:r>
              <a:rPr lang="en-US" b="1"/>
              <a:t>)</a:t>
            </a:r>
          </a:p>
        </p:txBody>
      </p:sp>
      <p:sp>
        <p:nvSpPr>
          <p:cNvPr id="78858" name="Rectangle 35"/>
          <p:cNvSpPr>
            <a:spLocks noChangeArrowheads="1"/>
          </p:cNvSpPr>
          <p:nvPr/>
        </p:nvSpPr>
        <p:spPr bwMode="auto">
          <a:xfrm>
            <a:off x="6623050" y="2584450"/>
            <a:ext cx="1031875" cy="5159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Total</a:t>
            </a:r>
          </a:p>
        </p:txBody>
      </p:sp>
      <p:sp>
        <p:nvSpPr>
          <p:cNvPr id="78859" name="Rectangle 34"/>
          <p:cNvSpPr>
            <a:spLocks noChangeArrowheads="1"/>
          </p:cNvSpPr>
          <p:nvPr/>
        </p:nvSpPr>
        <p:spPr bwMode="auto">
          <a:xfrm>
            <a:off x="1550988" y="2611438"/>
            <a:ext cx="1044575" cy="469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500" b="1"/>
              <a:t>Event</a:t>
            </a:r>
          </a:p>
        </p:txBody>
      </p:sp>
      <p:sp>
        <p:nvSpPr>
          <p:cNvPr id="7886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793038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Marginal &amp; Joint Probabilities In A Contingency Table</a:t>
            </a:r>
          </a:p>
        </p:txBody>
      </p:sp>
      <p:sp>
        <p:nvSpPr>
          <p:cNvPr id="78861" name="Rectangle 4"/>
          <p:cNvSpPr>
            <a:spLocks noChangeArrowheads="1"/>
          </p:cNvSpPr>
          <p:nvPr/>
        </p:nvSpPr>
        <p:spPr bwMode="auto">
          <a:xfrm>
            <a:off x="2668588" y="3813175"/>
            <a:ext cx="2054225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P(A</a:t>
            </a:r>
            <a:r>
              <a:rPr lang="en-US" b="1" baseline="-25000"/>
              <a:t>2 </a:t>
            </a:r>
            <a:r>
              <a:rPr lang="en-US" b="1"/>
              <a:t>and B</a:t>
            </a:r>
            <a:r>
              <a:rPr lang="en-US" b="1" baseline="-25000"/>
              <a:t>1</a:t>
            </a:r>
            <a:r>
              <a:rPr lang="en-US" b="1"/>
              <a:t>)</a:t>
            </a:r>
          </a:p>
        </p:txBody>
      </p:sp>
      <p:sp>
        <p:nvSpPr>
          <p:cNvPr id="78862" name="Rectangle 5"/>
          <p:cNvSpPr>
            <a:spLocks noChangeArrowheads="1"/>
          </p:cNvSpPr>
          <p:nvPr/>
        </p:nvSpPr>
        <p:spPr bwMode="auto">
          <a:xfrm>
            <a:off x="2668588" y="3201988"/>
            <a:ext cx="2132012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P(A</a:t>
            </a:r>
            <a:r>
              <a:rPr lang="en-US" b="1" baseline="-25000"/>
              <a:t>1</a:t>
            </a:r>
            <a:r>
              <a:rPr lang="en-US" b="1"/>
              <a:t> and B</a:t>
            </a:r>
            <a:r>
              <a:rPr lang="en-US" b="1" baseline="-25000"/>
              <a:t>1</a:t>
            </a:r>
            <a:r>
              <a:rPr lang="en-US" b="1"/>
              <a:t>)</a:t>
            </a:r>
          </a:p>
        </p:txBody>
      </p:sp>
      <p:sp>
        <p:nvSpPr>
          <p:cNvPr id="78863" name="Rectangle 20"/>
          <p:cNvSpPr>
            <a:spLocks noChangeArrowheads="1"/>
          </p:cNvSpPr>
          <p:nvPr/>
        </p:nvSpPr>
        <p:spPr bwMode="auto">
          <a:xfrm>
            <a:off x="4002088" y="2143125"/>
            <a:ext cx="1150937" cy="5159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Event</a:t>
            </a:r>
          </a:p>
        </p:txBody>
      </p:sp>
      <p:sp>
        <p:nvSpPr>
          <p:cNvPr id="78864" name="Rectangle 86"/>
          <p:cNvSpPr>
            <a:spLocks noChangeArrowheads="1"/>
          </p:cNvSpPr>
          <p:nvPr/>
        </p:nvSpPr>
        <p:spPr bwMode="auto">
          <a:xfrm>
            <a:off x="1519238" y="4405313"/>
            <a:ext cx="1031875" cy="5159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Total</a:t>
            </a:r>
          </a:p>
        </p:txBody>
      </p:sp>
      <p:sp>
        <p:nvSpPr>
          <p:cNvPr id="78865" name="Rectangle 89"/>
          <p:cNvSpPr>
            <a:spLocks noChangeArrowheads="1"/>
          </p:cNvSpPr>
          <p:nvPr/>
        </p:nvSpPr>
        <p:spPr bwMode="auto">
          <a:xfrm>
            <a:off x="6899275" y="4394200"/>
            <a:ext cx="379413" cy="5159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800" b="1"/>
              <a:t>1</a:t>
            </a:r>
          </a:p>
        </p:txBody>
      </p:sp>
      <p:sp>
        <p:nvSpPr>
          <p:cNvPr id="78866" name="Rectangle 90"/>
          <p:cNvSpPr>
            <a:spLocks noChangeArrowheads="1"/>
          </p:cNvSpPr>
          <p:nvPr/>
        </p:nvSpPr>
        <p:spPr bwMode="auto">
          <a:xfrm>
            <a:off x="685800" y="5562600"/>
            <a:ext cx="2895600" cy="466725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Joint Probabilities</a:t>
            </a:r>
          </a:p>
        </p:txBody>
      </p:sp>
      <p:sp>
        <p:nvSpPr>
          <p:cNvPr id="78867" name="Rectangle 91"/>
          <p:cNvSpPr>
            <a:spLocks noChangeArrowheads="1"/>
          </p:cNvSpPr>
          <p:nvPr/>
        </p:nvSpPr>
        <p:spPr bwMode="auto">
          <a:xfrm>
            <a:off x="4157663" y="5480050"/>
            <a:ext cx="4760912" cy="466725"/>
          </a:xfrm>
          <a:prstGeom prst="rect">
            <a:avLst/>
          </a:prstGeom>
          <a:solidFill>
            <a:srgbClr val="85E5C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b="1"/>
              <a:t>Marginal (Simple) Probabilities</a:t>
            </a:r>
          </a:p>
        </p:txBody>
      </p:sp>
      <p:sp>
        <p:nvSpPr>
          <p:cNvPr id="78868" name="Rectangle 93"/>
          <p:cNvSpPr>
            <a:spLocks noChangeArrowheads="1"/>
          </p:cNvSpPr>
          <p:nvPr/>
        </p:nvSpPr>
        <p:spPr bwMode="auto">
          <a:xfrm>
            <a:off x="1601788" y="3201988"/>
            <a:ext cx="911225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 A</a:t>
            </a:r>
            <a:r>
              <a:rPr lang="en-US" b="1" baseline="-25000"/>
              <a:t>1</a:t>
            </a:r>
          </a:p>
        </p:txBody>
      </p:sp>
      <p:sp>
        <p:nvSpPr>
          <p:cNvPr id="78869" name="Rectangle 94"/>
          <p:cNvSpPr>
            <a:spLocks noChangeArrowheads="1"/>
          </p:cNvSpPr>
          <p:nvPr/>
        </p:nvSpPr>
        <p:spPr bwMode="auto">
          <a:xfrm>
            <a:off x="1601788" y="3811588"/>
            <a:ext cx="835025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 A</a:t>
            </a:r>
            <a:r>
              <a:rPr lang="en-US" b="1" baseline="-25000"/>
              <a:t>2</a:t>
            </a:r>
          </a:p>
        </p:txBody>
      </p:sp>
      <p:sp>
        <p:nvSpPr>
          <p:cNvPr id="78870" name="Rectangle 95"/>
          <p:cNvSpPr>
            <a:spLocks noChangeArrowheads="1"/>
          </p:cNvSpPr>
          <p:nvPr/>
        </p:nvSpPr>
        <p:spPr bwMode="auto">
          <a:xfrm>
            <a:off x="3352800" y="2590800"/>
            <a:ext cx="1139825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  <a:r>
              <a:rPr lang="en-US" b="1" baseline="-25000"/>
              <a:t>1</a:t>
            </a:r>
          </a:p>
        </p:txBody>
      </p:sp>
      <p:sp>
        <p:nvSpPr>
          <p:cNvPr id="78871" name="Rectangle 96"/>
          <p:cNvSpPr>
            <a:spLocks noChangeArrowheads="1"/>
          </p:cNvSpPr>
          <p:nvPr/>
        </p:nvSpPr>
        <p:spPr bwMode="auto">
          <a:xfrm>
            <a:off x="5335588" y="2592388"/>
            <a:ext cx="1139825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  <a:r>
              <a:rPr lang="en-US" b="1" baseline="-25000"/>
              <a:t>2</a:t>
            </a:r>
          </a:p>
        </p:txBody>
      </p:sp>
      <p:sp>
        <p:nvSpPr>
          <p:cNvPr id="78872" name="Rectangle 97"/>
          <p:cNvSpPr>
            <a:spLocks noChangeArrowheads="1"/>
          </p:cNvSpPr>
          <p:nvPr/>
        </p:nvSpPr>
        <p:spPr bwMode="auto">
          <a:xfrm>
            <a:off x="2743200" y="4421188"/>
            <a:ext cx="1903413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    P(B</a:t>
            </a:r>
            <a:r>
              <a:rPr lang="en-US" b="1" baseline="-25000"/>
              <a:t>1</a:t>
            </a:r>
            <a:r>
              <a:rPr lang="en-US" b="1"/>
              <a:t>)</a:t>
            </a:r>
          </a:p>
        </p:txBody>
      </p:sp>
      <p:sp>
        <p:nvSpPr>
          <p:cNvPr id="78873" name="Rectangle 98"/>
          <p:cNvSpPr>
            <a:spLocks noChangeArrowheads="1"/>
          </p:cNvSpPr>
          <p:nvPr/>
        </p:nvSpPr>
        <p:spPr bwMode="auto">
          <a:xfrm>
            <a:off x="4648200" y="4421188"/>
            <a:ext cx="1827213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     P(B</a:t>
            </a:r>
            <a:r>
              <a:rPr lang="en-US" b="1" baseline="-25000"/>
              <a:t>2</a:t>
            </a:r>
            <a:r>
              <a:rPr lang="en-US" b="1"/>
              <a:t>)</a:t>
            </a:r>
          </a:p>
        </p:txBody>
      </p:sp>
      <p:sp>
        <p:nvSpPr>
          <p:cNvPr id="78874" name="Rectangle 102"/>
          <p:cNvSpPr>
            <a:spLocks noChangeArrowheads="1"/>
          </p:cNvSpPr>
          <p:nvPr/>
        </p:nvSpPr>
        <p:spPr bwMode="auto">
          <a:xfrm>
            <a:off x="4649788" y="3810000"/>
            <a:ext cx="2284412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P(A</a:t>
            </a:r>
            <a:r>
              <a:rPr lang="en-US" b="1" baseline="-25000"/>
              <a:t>2</a:t>
            </a:r>
            <a:r>
              <a:rPr lang="en-US" b="1"/>
              <a:t> and B</a:t>
            </a:r>
            <a:r>
              <a:rPr lang="en-US" b="1" baseline="-25000"/>
              <a:t>2</a:t>
            </a:r>
            <a:r>
              <a:rPr lang="en-US" b="1"/>
              <a:t>)</a:t>
            </a:r>
          </a:p>
        </p:txBody>
      </p:sp>
      <p:sp>
        <p:nvSpPr>
          <p:cNvPr id="78875" name="Rectangle 104"/>
          <p:cNvSpPr>
            <a:spLocks noChangeArrowheads="1"/>
          </p:cNvSpPr>
          <p:nvPr/>
        </p:nvSpPr>
        <p:spPr bwMode="auto">
          <a:xfrm>
            <a:off x="6705600" y="3811588"/>
            <a:ext cx="1066800" cy="4540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P(A</a:t>
            </a:r>
            <a:r>
              <a:rPr lang="en-US" b="1" baseline="-25000"/>
              <a:t>2</a:t>
            </a:r>
            <a:r>
              <a:rPr lang="en-US" b="1"/>
              <a:t>)</a:t>
            </a:r>
          </a:p>
        </p:txBody>
      </p:sp>
      <p:sp>
        <p:nvSpPr>
          <p:cNvPr id="78876" name="Line 107"/>
          <p:cNvSpPr>
            <a:spLocks noChangeShapeType="1"/>
          </p:cNvSpPr>
          <p:nvPr/>
        </p:nvSpPr>
        <p:spPr bwMode="auto">
          <a:xfrm flipH="1">
            <a:off x="2133600" y="3581400"/>
            <a:ext cx="68580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77" name="Line 108"/>
          <p:cNvSpPr>
            <a:spLocks noChangeShapeType="1"/>
          </p:cNvSpPr>
          <p:nvPr/>
        </p:nvSpPr>
        <p:spPr bwMode="auto">
          <a:xfrm>
            <a:off x="4414838" y="4724400"/>
            <a:ext cx="614362" cy="309563"/>
          </a:xfrm>
          <a:prstGeom prst="line">
            <a:avLst/>
          </a:prstGeom>
          <a:noFill/>
          <a:ln w="19050">
            <a:noFill/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78" name="Line 109"/>
          <p:cNvSpPr>
            <a:spLocks noChangeShapeType="1"/>
          </p:cNvSpPr>
          <p:nvPr/>
        </p:nvSpPr>
        <p:spPr bwMode="auto">
          <a:xfrm>
            <a:off x="5410200" y="48006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879" name="Line 111"/>
          <p:cNvSpPr>
            <a:spLocks noChangeShapeType="1"/>
          </p:cNvSpPr>
          <p:nvPr/>
        </p:nvSpPr>
        <p:spPr bwMode="auto">
          <a:xfrm>
            <a:off x="1524000" y="2133600"/>
            <a:ext cx="6172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0" name="Line 112"/>
          <p:cNvSpPr>
            <a:spLocks noChangeShapeType="1"/>
          </p:cNvSpPr>
          <p:nvPr/>
        </p:nvSpPr>
        <p:spPr bwMode="auto">
          <a:xfrm>
            <a:off x="2590800" y="2590800"/>
            <a:ext cx="39624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1" name="Line 113"/>
          <p:cNvSpPr>
            <a:spLocks noChangeShapeType="1"/>
          </p:cNvSpPr>
          <p:nvPr/>
        </p:nvSpPr>
        <p:spPr bwMode="auto">
          <a:xfrm>
            <a:off x="1524000" y="4343400"/>
            <a:ext cx="6172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2" name="Line 114"/>
          <p:cNvSpPr>
            <a:spLocks noChangeShapeType="1"/>
          </p:cNvSpPr>
          <p:nvPr/>
        </p:nvSpPr>
        <p:spPr bwMode="auto">
          <a:xfrm>
            <a:off x="1524000" y="3733800"/>
            <a:ext cx="61722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3" name="Line 116"/>
          <p:cNvSpPr>
            <a:spLocks noChangeShapeType="1"/>
          </p:cNvSpPr>
          <p:nvPr/>
        </p:nvSpPr>
        <p:spPr bwMode="auto">
          <a:xfrm>
            <a:off x="1524000" y="3048000"/>
            <a:ext cx="6172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4" name="Line 117"/>
          <p:cNvSpPr>
            <a:spLocks noChangeShapeType="1"/>
          </p:cNvSpPr>
          <p:nvPr/>
        </p:nvSpPr>
        <p:spPr bwMode="auto">
          <a:xfrm>
            <a:off x="1524000" y="4953000"/>
            <a:ext cx="6172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5" name="Line 118"/>
          <p:cNvSpPr>
            <a:spLocks noChangeShapeType="1"/>
          </p:cNvSpPr>
          <p:nvPr/>
        </p:nvSpPr>
        <p:spPr bwMode="auto">
          <a:xfrm>
            <a:off x="1524000" y="2133600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6" name="Line 119"/>
          <p:cNvSpPr>
            <a:spLocks noChangeShapeType="1"/>
          </p:cNvSpPr>
          <p:nvPr/>
        </p:nvSpPr>
        <p:spPr bwMode="auto">
          <a:xfrm>
            <a:off x="2590800" y="2133600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7" name="Line 120"/>
          <p:cNvSpPr>
            <a:spLocks noChangeShapeType="1"/>
          </p:cNvSpPr>
          <p:nvPr/>
        </p:nvSpPr>
        <p:spPr bwMode="auto">
          <a:xfrm>
            <a:off x="6553200" y="2133600"/>
            <a:ext cx="0" cy="2819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8" name="Line 121"/>
          <p:cNvSpPr>
            <a:spLocks noChangeShapeType="1"/>
          </p:cNvSpPr>
          <p:nvPr/>
        </p:nvSpPr>
        <p:spPr bwMode="auto">
          <a:xfrm>
            <a:off x="4572000" y="2590800"/>
            <a:ext cx="0" cy="23622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89" name="Line 125"/>
          <p:cNvSpPr>
            <a:spLocks noChangeShapeType="1"/>
          </p:cNvSpPr>
          <p:nvPr/>
        </p:nvSpPr>
        <p:spPr bwMode="auto">
          <a:xfrm flipV="1">
            <a:off x="5410200" y="4191000"/>
            <a:ext cx="1371600" cy="1295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8890" name="Line 126"/>
          <p:cNvSpPr>
            <a:spLocks noChangeShapeType="1"/>
          </p:cNvSpPr>
          <p:nvPr/>
        </p:nvSpPr>
        <p:spPr bwMode="auto">
          <a:xfrm flipH="1">
            <a:off x="2133600" y="4114800"/>
            <a:ext cx="259080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CD42637C-E023-40FA-9D7D-FFCE6F8AFA79}" type="slidenum">
              <a:rPr lang="en-US" smtClean="0">
                <a:latin typeface="Arial" charset="0"/>
              </a:rPr>
              <a:pPr/>
              <a:t>18</a:t>
            </a:fld>
            <a:endParaRPr lang="en-US" smtClean="0">
              <a:latin typeface="Arial" charset="0"/>
            </a:endParaRPr>
          </a:p>
        </p:txBody>
      </p:sp>
      <p:sp>
        <p:nvSpPr>
          <p:cNvPr id="819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19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A2F4D4A6-FAD9-4B98-90A1-5838A8A98CFE}" type="slidenum">
              <a:rPr lang="en-US" sz="1000"/>
              <a:pPr algn="r" defTabSz="852488"/>
              <a:t>18</a:t>
            </a:fld>
            <a:endParaRPr lang="en-US" sz="1000"/>
          </a:p>
        </p:txBody>
      </p:sp>
      <p:sp>
        <p:nvSpPr>
          <p:cNvPr id="8198" name="Rectangle 111"/>
          <p:cNvSpPr>
            <a:spLocks noChangeArrowheads="1"/>
          </p:cNvSpPr>
          <p:nvPr/>
        </p:nvSpPr>
        <p:spPr bwMode="auto">
          <a:xfrm>
            <a:off x="1219200" y="5486400"/>
            <a:ext cx="4343400" cy="1066800"/>
          </a:xfrm>
          <a:prstGeom prst="rect">
            <a:avLst/>
          </a:prstGeom>
          <a:solidFill>
            <a:srgbClr val="CBDD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199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28600"/>
            <a:ext cx="6713537" cy="990600"/>
          </a:xfrm>
        </p:spPr>
        <p:txBody>
          <a:bodyPr/>
          <a:lstStyle/>
          <a:p>
            <a:pPr eaLnBrk="1" hangingPunct="1"/>
            <a:r>
              <a:rPr lang="en-US" smtClean="0"/>
              <a:t>Probability Summary So Far</a:t>
            </a:r>
          </a:p>
        </p:txBody>
      </p:sp>
      <p:sp>
        <p:nvSpPr>
          <p:cNvPr id="82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5562600" cy="4532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400" smtClean="0"/>
              <a:t>Probability is the numerical measure of the likelihood that an event will occur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The probability of any event must be between 0 and 1, inclusively</a:t>
            </a:r>
          </a:p>
          <a:p>
            <a:pPr eaLnBrk="1" hangingPunct="1">
              <a:lnSpc>
                <a:spcPct val="110000"/>
              </a:lnSpc>
            </a:pPr>
            <a:endParaRPr lang="en-US" sz="2400" smtClean="0"/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The sum of the probabilities of all mutually exclusive and collectively exhaustive events is 1</a:t>
            </a:r>
          </a:p>
        </p:txBody>
      </p:sp>
      <p:sp>
        <p:nvSpPr>
          <p:cNvPr id="8201" name="Rectangle 97"/>
          <p:cNvSpPr>
            <a:spLocks noChangeArrowheads="1"/>
          </p:cNvSpPr>
          <p:nvPr/>
        </p:nvSpPr>
        <p:spPr bwMode="auto">
          <a:xfrm>
            <a:off x="7543800" y="1976438"/>
            <a:ext cx="1076325" cy="393700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Certain</a:t>
            </a:r>
          </a:p>
        </p:txBody>
      </p:sp>
      <p:sp>
        <p:nvSpPr>
          <p:cNvPr id="8202" name="Rectangle 98"/>
          <p:cNvSpPr>
            <a:spLocks noChangeArrowheads="1"/>
          </p:cNvSpPr>
          <p:nvPr/>
        </p:nvSpPr>
        <p:spPr bwMode="auto">
          <a:xfrm>
            <a:off x="7543800" y="5786438"/>
            <a:ext cx="1524000" cy="393700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Impossible</a:t>
            </a:r>
          </a:p>
        </p:txBody>
      </p:sp>
      <p:sp>
        <p:nvSpPr>
          <p:cNvPr id="8203" name="Rectangle 99"/>
          <p:cNvSpPr>
            <a:spLocks noChangeArrowheads="1"/>
          </p:cNvSpPr>
          <p:nvPr/>
        </p:nvSpPr>
        <p:spPr bwMode="auto">
          <a:xfrm>
            <a:off x="6096000" y="3805238"/>
            <a:ext cx="619125" cy="454025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0.5</a:t>
            </a:r>
          </a:p>
        </p:txBody>
      </p:sp>
      <p:sp>
        <p:nvSpPr>
          <p:cNvPr id="8204" name="Rectangle 100"/>
          <p:cNvSpPr>
            <a:spLocks noChangeArrowheads="1"/>
          </p:cNvSpPr>
          <p:nvPr/>
        </p:nvSpPr>
        <p:spPr bwMode="auto">
          <a:xfrm>
            <a:off x="6324600" y="1976438"/>
            <a:ext cx="381000" cy="454025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1</a:t>
            </a:r>
          </a:p>
        </p:txBody>
      </p:sp>
      <p:sp>
        <p:nvSpPr>
          <p:cNvPr id="8205" name="Rectangle 101"/>
          <p:cNvSpPr>
            <a:spLocks noChangeArrowheads="1"/>
          </p:cNvSpPr>
          <p:nvPr/>
        </p:nvSpPr>
        <p:spPr bwMode="auto">
          <a:xfrm>
            <a:off x="6315075" y="5786438"/>
            <a:ext cx="390525" cy="454025"/>
          </a:xfrm>
          <a:prstGeom prst="rect">
            <a:avLst/>
          </a:prstGeom>
          <a:solidFill>
            <a:srgbClr val="FDE0BD"/>
          </a:solidFill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0</a:t>
            </a:r>
          </a:p>
        </p:txBody>
      </p:sp>
      <p:sp>
        <p:nvSpPr>
          <p:cNvPr id="8206" name="Line 102"/>
          <p:cNvSpPr>
            <a:spLocks noChangeShapeType="1"/>
          </p:cNvSpPr>
          <p:nvPr/>
        </p:nvSpPr>
        <p:spPr bwMode="auto">
          <a:xfrm>
            <a:off x="7162800" y="2209800"/>
            <a:ext cx="0" cy="38100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7" name="Line 103"/>
          <p:cNvSpPr>
            <a:spLocks noChangeShapeType="1"/>
          </p:cNvSpPr>
          <p:nvPr/>
        </p:nvSpPr>
        <p:spPr bwMode="auto">
          <a:xfrm>
            <a:off x="6877050" y="2209800"/>
            <a:ext cx="590550" cy="0"/>
          </a:xfrm>
          <a:prstGeom prst="line">
            <a:avLst/>
          </a:prstGeom>
          <a:noFill/>
          <a:ln w="38100">
            <a:solidFill>
              <a:srgbClr val="FFCC99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8" name="Line 104"/>
          <p:cNvSpPr>
            <a:spLocks noChangeShapeType="1"/>
          </p:cNvSpPr>
          <p:nvPr/>
        </p:nvSpPr>
        <p:spPr bwMode="auto">
          <a:xfrm>
            <a:off x="6858000" y="6019800"/>
            <a:ext cx="59055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09" name="Line 105"/>
          <p:cNvSpPr>
            <a:spLocks noChangeShapeType="1"/>
          </p:cNvSpPr>
          <p:nvPr/>
        </p:nvSpPr>
        <p:spPr bwMode="auto">
          <a:xfrm>
            <a:off x="6877050" y="4038600"/>
            <a:ext cx="590550" cy="0"/>
          </a:xfrm>
          <a:prstGeom prst="line">
            <a:avLst/>
          </a:prstGeom>
          <a:noFill/>
          <a:ln w="38100">
            <a:solidFill>
              <a:srgbClr val="C6A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66666" name="Rectangle 106"/>
          <p:cNvSpPr>
            <a:spLocks noChangeArrowheads="1"/>
          </p:cNvSpPr>
          <p:nvPr/>
        </p:nvSpPr>
        <p:spPr bwMode="auto">
          <a:xfrm>
            <a:off x="7010400" y="2209800"/>
            <a:ext cx="304800" cy="3810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211" name="Text Box 107"/>
          <p:cNvSpPr txBox="1">
            <a:spLocks noChangeArrowheads="1"/>
          </p:cNvSpPr>
          <p:nvPr/>
        </p:nvSpPr>
        <p:spPr bwMode="auto">
          <a:xfrm>
            <a:off x="1219200" y="3733800"/>
            <a:ext cx="4267200" cy="466725"/>
          </a:xfrm>
          <a:prstGeom prst="rect">
            <a:avLst/>
          </a:prstGeom>
          <a:solidFill>
            <a:srgbClr val="CBDD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0 </a:t>
            </a:r>
            <a:r>
              <a:rPr lang="en-US">
                <a:cs typeface="Arial" charset="0"/>
              </a:rPr>
              <a:t>≤ P(A) ≤ 1   </a:t>
            </a:r>
            <a:r>
              <a:rPr lang="en-US" sz="2000">
                <a:cs typeface="Arial" charset="0"/>
              </a:rPr>
              <a:t>For any event A</a:t>
            </a:r>
            <a:endParaRPr lang="en-US" sz="2000" baseline="-25000">
              <a:cs typeface="Arial" charset="0"/>
            </a:endParaRPr>
          </a:p>
        </p:txBody>
      </p:sp>
      <p:graphicFrame>
        <p:nvGraphicFramePr>
          <p:cNvPr id="8194" name="Object 109"/>
          <p:cNvGraphicFramePr>
            <a:graphicFrameLocks noChangeAspect="1"/>
          </p:cNvGraphicFramePr>
          <p:nvPr/>
        </p:nvGraphicFramePr>
        <p:xfrm>
          <a:off x="1306513" y="5562600"/>
          <a:ext cx="2808287" cy="395288"/>
        </p:xfrm>
        <a:graphic>
          <a:graphicData uri="http://schemas.openxmlformats.org/presentationml/2006/ole">
            <p:oleObj spid="_x0000_s8194" name="Equation" r:id="rId3" imgW="1434960" imgH="203040" progId="Equation.3">
              <p:embed/>
            </p:oleObj>
          </a:graphicData>
        </a:graphic>
      </p:graphicFrame>
      <p:sp>
        <p:nvSpPr>
          <p:cNvPr id="8212" name="Text Box 110"/>
          <p:cNvSpPr txBox="1">
            <a:spLocks noChangeArrowheads="1"/>
          </p:cNvSpPr>
          <p:nvPr/>
        </p:nvSpPr>
        <p:spPr bwMode="auto">
          <a:xfrm>
            <a:off x="1219200" y="5943600"/>
            <a:ext cx="4648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If A, B, and C are mutually exclusive and collectively exhaustive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1AA00ED2-CD6B-42F2-A1F0-F4040B72D1D7}" type="slidenum">
              <a:rPr lang="en-US" smtClean="0">
                <a:latin typeface="Arial" charset="0"/>
              </a:rPr>
              <a:pPr/>
              <a:t>19</a:t>
            </a:fld>
            <a:endParaRPr lang="en-US" smtClean="0">
              <a:latin typeface="Arial" charset="0"/>
            </a:endParaRPr>
          </a:p>
        </p:txBody>
      </p:sp>
      <p:sp>
        <p:nvSpPr>
          <p:cNvPr id="8192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192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10BE41BA-8C7A-408F-BD64-9E4D8CDD6BC9}" type="slidenum">
              <a:rPr lang="en-US" sz="1000"/>
              <a:pPr algn="r" defTabSz="852488"/>
              <a:t>19</a:t>
            </a:fld>
            <a:endParaRPr lang="en-US" sz="1000"/>
          </a:p>
        </p:txBody>
      </p:sp>
      <p:sp>
        <p:nvSpPr>
          <p:cNvPr id="81924" name="Rectangle 6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762000"/>
          </a:xfrm>
        </p:spPr>
        <p:txBody>
          <a:bodyPr/>
          <a:lstStyle/>
          <a:p>
            <a:pPr eaLnBrk="1" hangingPunct="1"/>
            <a:r>
              <a:rPr lang="en-US" smtClean="0"/>
              <a:t>General Addition Rule</a:t>
            </a:r>
          </a:p>
        </p:txBody>
      </p:sp>
      <p:sp>
        <p:nvSpPr>
          <p:cNvPr id="81925" name="Rectangle 39"/>
          <p:cNvSpPr>
            <a:spLocks noChangeArrowheads="1"/>
          </p:cNvSpPr>
          <p:nvPr/>
        </p:nvSpPr>
        <p:spPr bwMode="auto">
          <a:xfrm>
            <a:off x="1524000" y="2514600"/>
            <a:ext cx="6248400" cy="528638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800" b="1"/>
              <a:t>P(A or B) = P(A) + P(B) - P(A and B)</a:t>
            </a:r>
          </a:p>
        </p:txBody>
      </p:sp>
      <p:sp>
        <p:nvSpPr>
          <p:cNvPr id="81926" name="Text Box 82"/>
          <p:cNvSpPr txBox="1">
            <a:spLocks noChangeArrowheads="1"/>
          </p:cNvSpPr>
          <p:nvPr/>
        </p:nvSpPr>
        <p:spPr bwMode="auto">
          <a:xfrm>
            <a:off x="914400" y="1828800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folHlink"/>
                </a:solidFill>
              </a:rPr>
              <a:t>General Addition Rule:</a:t>
            </a:r>
          </a:p>
        </p:txBody>
      </p:sp>
      <p:sp>
        <p:nvSpPr>
          <p:cNvPr id="81927" name="Text Box 83"/>
          <p:cNvSpPr txBox="1">
            <a:spLocks noChangeArrowheads="1"/>
          </p:cNvSpPr>
          <p:nvPr/>
        </p:nvSpPr>
        <p:spPr bwMode="auto">
          <a:xfrm>
            <a:off x="838200" y="3706813"/>
            <a:ext cx="7239000" cy="90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2800">
                <a:solidFill>
                  <a:schemeClr val="hlink"/>
                </a:solidFill>
              </a:rPr>
              <a:t>If A and B are mutually exclusive</a:t>
            </a:r>
            <a:r>
              <a:rPr lang="en-US" sz="2800"/>
              <a:t>, then </a:t>
            </a:r>
          </a:p>
          <a:p>
            <a:pPr>
              <a:spcBef>
                <a:spcPct val="30000"/>
              </a:spcBef>
            </a:pPr>
            <a:r>
              <a:rPr lang="en-US" sz="2800"/>
              <a:t>P(A and B) = 0, so the rule can be simplified:</a:t>
            </a:r>
          </a:p>
        </p:txBody>
      </p:sp>
      <p:sp>
        <p:nvSpPr>
          <p:cNvPr id="81928" name="Rectangle 84"/>
          <p:cNvSpPr>
            <a:spLocks noChangeArrowheads="1"/>
          </p:cNvSpPr>
          <p:nvPr/>
        </p:nvSpPr>
        <p:spPr bwMode="auto">
          <a:xfrm>
            <a:off x="1524000" y="4926013"/>
            <a:ext cx="6248400" cy="1169987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800" b="1"/>
              <a:t>P(A or B) = P(A) + P(B) </a:t>
            </a:r>
          </a:p>
          <a:p>
            <a:pPr eaLnBrk="0" hangingPunct="0">
              <a:spcBef>
                <a:spcPct val="50000"/>
              </a:spcBef>
            </a:pPr>
            <a:r>
              <a:rPr lang="en-US" sz="2800"/>
              <a:t>For mutually exclusive events A and 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3E5D01BE-AB71-4BDD-957B-84C8E0E3FEE2}" type="slidenum">
              <a:rPr lang="en-US" smtClean="0">
                <a:latin typeface="Arial" charset="0"/>
              </a:rPr>
              <a:pPr/>
              <a:t>20</a:t>
            </a:fld>
            <a:endParaRPr lang="en-US" smtClean="0">
              <a:latin typeface="Arial" charset="0"/>
            </a:endParaRPr>
          </a:p>
        </p:txBody>
      </p:sp>
      <p:sp>
        <p:nvSpPr>
          <p:cNvPr id="8294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294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36686F74-187E-48FD-834D-F23A3E45720E}" type="slidenum">
              <a:rPr lang="en-US" sz="1000"/>
              <a:pPr algn="r" defTabSz="852488"/>
              <a:t>20</a:t>
            </a:fld>
            <a:endParaRPr lang="en-US" sz="1000"/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762000"/>
          </a:xfrm>
        </p:spPr>
        <p:txBody>
          <a:bodyPr/>
          <a:lstStyle/>
          <a:p>
            <a:pPr eaLnBrk="1" hangingPunct="1"/>
            <a:r>
              <a:rPr lang="en-US" smtClean="0"/>
              <a:t>General Addition Rule Example</a:t>
            </a:r>
          </a:p>
        </p:txBody>
      </p:sp>
      <p:sp>
        <p:nvSpPr>
          <p:cNvPr id="82949" name="Line 8"/>
          <p:cNvSpPr>
            <a:spLocks noChangeShapeType="1"/>
          </p:cNvSpPr>
          <p:nvPr/>
        </p:nvSpPr>
        <p:spPr bwMode="auto">
          <a:xfrm>
            <a:off x="2590800" y="2895600"/>
            <a:ext cx="533400" cy="2895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82950" name="Line 9"/>
          <p:cNvSpPr>
            <a:spLocks noChangeShapeType="1"/>
          </p:cNvSpPr>
          <p:nvPr/>
        </p:nvSpPr>
        <p:spPr bwMode="auto">
          <a:xfrm>
            <a:off x="3962400" y="2895600"/>
            <a:ext cx="1752600" cy="1828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82951" name="Rectangle 10"/>
          <p:cNvSpPr>
            <a:spLocks noChangeArrowheads="1"/>
          </p:cNvSpPr>
          <p:nvPr/>
        </p:nvSpPr>
        <p:spPr bwMode="auto">
          <a:xfrm>
            <a:off x="381000" y="1908175"/>
            <a:ext cx="82296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P(Jan. or Wed.) = P(Jan.) + P(Wed.) - P(Jan.</a:t>
            </a:r>
            <a:r>
              <a:rPr lang="en-US" b="1">
                <a:solidFill>
                  <a:srgbClr val="F8F8F8"/>
                </a:solidFill>
              </a:rPr>
              <a:t> </a:t>
            </a:r>
            <a:r>
              <a:rPr lang="en-US" b="1"/>
              <a:t>and Wed.)</a:t>
            </a:r>
          </a:p>
        </p:txBody>
      </p:sp>
      <p:sp>
        <p:nvSpPr>
          <p:cNvPr id="82952" name="Rectangle 11"/>
          <p:cNvSpPr>
            <a:spLocks noChangeArrowheads="1"/>
          </p:cNvSpPr>
          <p:nvPr/>
        </p:nvSpPr>
        <p:spPr bwMode="auto">
          <a:xfrm>
            <a:off x="2057400" y="2514600"/>
            <a:ext cx="541020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= 31/365 + 52/365 -  4/365  =  79/365</a:t>
            </a:r>
          </a:p>
        </p:txBody>
      </p:sp>
      <p:sp>
        <p:nvSpPr>
          <p:cNvPr id="82953" name="Rectangle 12"/>
          <p:cNvSpPr>
            <a:spLocks noChangeArrowheads="1"/>
          </p:cNvSpPr>
          <p:nvPr/>
        </p:nvSpPr>
        <p:spPr bwMode="auto">
          <a:xfrm>
            <a:off x="7086600" y="2971800"/>
            <a:ext cx="1752600" cy="16287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folHlink"/>
                </a:solidFill>
              </a:rPr>
              <a:t>Don’t count the four Wednesdays in January twice!</a:t>
            </a:r>
          </a:p>
        </p:txBody>
      </p:sp>
      <p:sp>
        <p:nvSpPr>
          <p:cNvPr id="82954" name="Rectangle 42"/>
          <p:cNvSpPr>
            <a:spLocks noChangeArrowheads="1"/>
          </p:cNvSpPr>
          <p:nvPr/>
        </p:nvSpPr>
        <p:spPr bwMode="auto">
          <a:xfrm>
            <a:off x="4876800" y="2514600"/>
            <a:ext cx="914400" cy="457200"/>
          </a:xfrm>
          <a:prstGeom prst="rect">
            <a:avLst/>
          </a:prstGeom>
          <a:noFill/>
          <a:ln w="19050" algn="ctr">
            <a:solidFill>
              <a:schemeClr val="folHlink"/>
            </a:solidFill>
            <a:prstDash val="sysDot"/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82955" name="Line 45"/>
          <p:cNvSpPr>
            <a:spLocks noChangeShapeType="1"/>
          </p:cNvSpPr>
          <p:nvPr/>
        </p:nvSpPr>
        <p:spPr bwMode="auto">
          <a:xfrm flipH="1" flipV="1">
            <a:off x="5791200" y="2971800"/>
            <a:ext cx="1219200" cy="228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82956" name="Group 44"/>
          <p:cNvGrpSpPr>
            <a:grpSpLocks/>
          </p:cNvGrpSpPr>
          <p:nvPr/>
        </p:nvGrpSpPr>
        <p:grpSpPr bwMode="auto">
          <a:xfrm>
            <a:off x="1676400" y="4114800"/>
            <a:ext cx="5300663" cy="1906588"/>
            <a:chOff x="1676400" y="4038600"/>
            <a:chExt cx="5301342" cy="1906900"/>
          </a:xfrm>
        </p:grpSpPr>
        <p:sp>
          <p:nvSpPr>
            <p:cNvPr id="82960" name="Rectangle 2"/>
            <p:cNvSpPr>
              <a:spLocks noChangeArrowheads="1"/>
            </p:cNvSpPr>
            <p:nvPr/>
          </p:nvSpPr>
          <p:spPr bwMode="auto">
            <a:xfrm>
              <a:off x="2862942" y="4038600"/>
              <a:ext cx="2438400" cy="533400"/>
            </a:xfrm>
            <a:prstGeom prst="rect">
              <a:avLst/>
            </a:prstGeom>
            <a:solidFill>
              <a:srgbClr val="FDE0BD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82961" name="Rectangle 3"/>
            <p:cNvSpPr>
              <a:spLocks noChangeArrowheads="1"/>
            </p:cNvSpPr>
            <p:nvPr/>
          </p:nvSpPr>
          <p:spPr bwMode="auto">
            <a:xfrm>
              <a:off x="1719942" y="4572000"/>
              <a:ext cx="1143000" cy="914400"/>
            </a:xfrm>
            <a:prstGeom prst="rect">
              <a:avLst/>
            </a:prstGeom>
            <a:solidFill>
              <a:srgbClr val="CBDDF7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82962" name="Rectangle 8"/>
            <p:cNvSpPr>
              <a:spLocks noChangeArrowheads="1"/>
            </p:cNvSpPr>
            <p:nvPr/>
          </p:nvSpPr>
          <p:spPr bwMode="auto">
            <a:xfrm>
              <a:off x="1719942" y="4038600"/>
              <a:ext cx="5105400" cy="1905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63" name="Rectangle 9"/>
            <p:cNvSpPr>
              <a:spLocks noChangeArrowheads="1"/>
            </p:cNvSpPr>
            <p:nvPr/>
          </p:nvSpPr>
          <p:spPr bwMode="auto">
            <a:xfrm>
              <a:off x="1676400" y="4946650"/>
              <a:ext cx="465455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Not Wed.</a:t>
              </a:r>
              <a:r>
                <a:rPr lang="en-US" sz="2000" b="1">
                  <a:solidFill>
                    <a:schemeClr val="hlink"/>
                  </a:solidFill>
                </a:rPr>
                <a:t>      </a:t>
              </a:r>
              <a:r>
                <a:rPr lang="en-US" sz="2000" b="1"/>
                <a:t>27          286               313</a:t>
              </a:r>
              <a:r>
                <a:rPr lang="en-US" b="1"/>
                <a:t>  </a:t>
              </a:r>
            </a:p>
          </p:txBody>
        </p:sp>
        <p:sp>
          <p:nvSpPr>
            <p:cNvPr id="82964" name="Rectangle 10"/>
            <p:cNvSpPr>
              <a:spLocks noChangeArrowheads="1"/>
            </p:cNvSpPr>
            <p:nvPr/>
          </p:nvSpPr>
          <p:spPr bwMode="auto">
            <a:xfrm>
              <a:off x="1789792" y="4565650"/>
              <a:ext cx="46609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Wed.             4            48                 52</a:t>
              </a:r>
            </a:p>
          </p:txBody>
        </p:sp>
        <p:sp>
          <p:nvSpPr>
            <p:cNvPr id="82965" name="Line 11"/>
            <p:cNvSpPr>
              <a:spLocks noChangeShapeType="1"/>
            </p:cNvSpPr>
            <p:nvPr/>
          </p:nvSpPr>
          <p:spPr bwMode="auto">
            <a:xfrm>
              <a:off x="1719942" y="45720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6" name="Line 12"/>
            <p:cNvSpPr>
              <a:spLocks noChangeShapeType="1"/>
            </p:cNvSpPr>
            <p:nvPr/>
          </p:nvSpPr>
          <p:spPr bwMode="auto">
            <a:xfrm>
              <a:off x="1719942" y="5486400"/>
              <a:ext cx="5105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7" name="Rectangle 13"/>
            <p:cNvSpPr>
              <a:spLocks noChangeArrowheads="1"/>
            </p:cNvSpPr>
            <p:nvPr/>
          </p:nvSpPr>
          <p:spPr bwMode="auto">
            <a:xfrm>
              <a:off x="1796142" y="5486400"/>
              <a:ext cx="488950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>
                  <a:solidFill>
                    <a:schemeClr val="tx2"/>
                  </a:solidFill>
                </a:rPr>
                <a:t>Total            31          334               365</a:t>
              </a:r>
              <a:r>
                <a:rPr lang="en-US" b="1">
                  <a:solidFill>
                    <a:schemeClr val="tx2"/>
                  </a:solidFill>
                </a:rPr>
                <a:t>           </a:t>
              </a:r>
              <a:r>
                <a:rPr lang="en-US" sz="2000" b="1">
                  <a:solidFill>
                    <a:schemeClr val="tx2"/>
                  </a:solidFill>
                </a:rPr>
                <a:t>             </a:t>
              </a:r>
            </a:p>
          </p:txBody>
        </p:sp>
        <p:sp>
          <p:nvSpPr>
            <p:cNvPr id="82968" name="Rectangle 14"/>
            <p:cNvSpPr>
              <a:spLocks noChangeArrowheads="1"/>
            </p:cNvSpPr>
            <p:nvPr/>
          </p:nvSpPr>
          <p:spPr bwMode="auto">
            <a:xfrm>
              <a:off x="1796142" y="4038600"/>
              <a:ext cx="5181600" cy="3937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b="1"/>
                <a:t>                  </a:t>
              </a:r>
              <a:r>
                <a:rPr lang="en-US" sz="2000" b="1">
                  <a:solidFill>
                    <a:schemeClr val="tx2"/>
                  </a:solidFill>
                </a:rPr>
                <a:t>Jan.        Not Jan.       Total</a:t>
              </a:r>
            </a:p>
          </p:txBody>
        </p:sp>
        <p:sp>
          <p:nvSpPr>
            <p:cNvPr id="82969" name="Line 28"/>
            <p:cNvSpPr>
              <a:spLocks noChangeShapeType="1"/>
            </p:cNvSpPr>
            <p:nvPr/>
          </p:nvSpPr>
          <p:spPr bwMode="auto">
            <a:xfrm>
              <a:off x="2862942" y="40386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70" name="Line 29"/>
            <p:cNvSpPr>
              <a:spLocks noChangeShapeType="1"/>
            </p:cNvSpPr>
            <p:nvPr/>
          </p:nvSpPr>
          <p:spPr bwMode="auto">
            <a:xfrm>
              <a:off x="3929742" y="4038600"/>
              <a:ext cx="0" cy="1905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71" name="Line 30"/>
            <p:cNvSpPr>
              <a:spLocks noChangeShapeType="1"/>
            </p:cNvSpPr>
            <p:nvPr/>
          </p:nvSpPr>
          <p:spPr bwMode="auto">
            <a:xfrm>
              <a:off x="5301342" y="4038600"/>
              <a:ext cx="0" cy="1905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2972" name="Oval 34"/>
            <p:cNvSpPr>
              <a:spLocks noChangeArrowheads="1"/>
            </p:cNvSpPr>
            <p:nvPr/>
          </p:nvSpPr>
          <p:spPr bwMode="auto">
            <a:xfrm>
              <a:off x="3167744" y="4528456"/>
              <a:ext cx="533400" cy="533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973" name="Line 36"/>
            <p:cNvSpPr>
              <a:spLocks noChangeShapeType="1"/>
            </p:cNvSpPr>
            <p:nvPr/>
          </p:nvSpPr>
          <p:spPr bwMode="auto">
            <a:xfrm>
              <a:off x="1719942" y="5029200"/>
              <a:ext cx="510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2957" name="Oval 34"/>
          <p:cNvSpPr>
            <a:spLocks noChangeArrowheads="1"/>
          </p:cNvSpPr>
          <p:nvPr/>
        </p:nvSpPr>
        <p:spPr bwMode="auto">
          <a:xfrm>
            <a:off x="3157538" y="5551488"/>
            <a:ext cx="5334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2958" name="Oval 34"/>
          <p:cNvSpPr>
            <a:spLocks noChangeArrowheads="1"/>
          </p:cNvSpPr>
          <p:nvPr/>
        </p:nvSpPr>
        <p:spPr bwMode="auto">
          <a:xfrm>
            <a:off x="5715000" y="4572000"/>
            <a:ext cx="5334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2959" name="Line 13"/>
          <p:cNvSpPr>
            <a:spLocks noChangeShapeType="1"/>
          </p:cNvSpPr>
          <p:nvPr/>
        </p:nvSpPr>
        <p:spPr bwMode="auto">
          <a:xfrm flipH="1">
            <a:off x="3657600" y="2895600"/>
            <a:ext cx="1447800" cy="1752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7C38BB1B-02A5-4B75-827F-53F737954BF1}" type="slidenum">
              <a:rPr lang="en-US" smtClean="0">
                <a:latin typeface="Arial" charset="0"/>
              </a:rPr>
              <a:pPr/>
              <a:t>21</a:t>
            </a:fld>
            <a:endParaRPr lang="en-US" smtClean="0">
              <a:latin typeface="Arial" charset="0"/>
            </a:endParaRPr>
          </a:p>
        </p:txBody>
      </p:sp>
      <p:sp>
        <p:nvSpPr>
          <p:cNvPr id="9221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9222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A4BE2649-BACD-4B16-98B5-D09A07D9F687}" type="slidenum">
              <a:rPr lang="en-US" sz="1000"/>
              <a:pPr algn="r" defTabSz="852488"/>
              <a:t>21</a:t>
            </a:fld>
            <a:endParaRPr lang="en-US" sz="1000"/>
          </a:p>
        </p:txBody>
      </p:sp>
      <p:sp>
        <p:nvSpPr>
          <p:cNvPr id="92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5438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Computing Conditional Probabilities</a:t>
            </a:r>
          </a:p>
        </p:txBody>
      </p:sp>
      <p:sp>
        <p:nvSpPr>
          <p:cNvPr id="92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532313"/>
          </a:xfrm>
        </p:spPr>
        <p:txBody>
          <a:bodyPr/>
          <a:lstStyle/>
          <a:p>
            <a:pPr eaLnBrk="1" hangingPunct="1"/>
            <a:r>
              <a:rPr lang="en-US" smtClean="0"/>
              <a:t>A </a:t>
            </a:r>
            <a:r>
              <a:rPr lang="en-US" smtClean="0">
                <a:solidFill>
                  <a:schemeClr val="folHlink"/>
                </a:solidFill>
              </a:rPr>
              <a:t>conditional probability</a:t>
            </a:r>
            <a:r>
              <a:rPr lang="en-US" smtClean="0"/>
              <a:t> is the probability of one event, given that another event has occurred:</a:t>
            </a:r>
          </a:p>
        </p:txBody>
      </p:sp>
      <p:graphicFrame>
        <p:nvGraphicFramePr>
          <p:cNvPr id="9218" name="Object 7"/>
          <p:cNvGraphicFramePr>
            <a:graphicFrameLocks noChangeAspect="1"/>
          </p:cNvGraphicFramePr>
          <p:nvPr/>
        </p:nvGraphicFramePr>
        <p:xfrm>
          <a:off x="1924050" y="2667000"/>
          <a:ext cx="3371850" cy="995363"/>
        </p:xfrm>
        <a:graphic>
          <a:graphicData uri="http://schemas.openxmlformats.org/presentationml/2006/ole">
            <p:oleObj spid="_x0000_s9218" name="Equation" r:id="rId3" imgW="1422360" imgH="419040" progId="Equation.3">
              <p:embed/>
            </p:oleObj>
          </a:graphicData>
        </a:graphic>
      </p:graphicFrame>
      <p:graphicFrame>
        <p:nvGraphicFramePr>
          <p:cNvPr id="9219" name="Object 8"/>
          <p:cNvGraphicFramePr>
            <a:graphicFrameLocks noChangeAspect="1"/>
          </p:cNvGraphicFramePr>
          <p:nvPr/>
        </p:nvGraphicFramePr>
        <p:xfrm>
          <a:off x="1905000" y="4038600"/>
          <a:ext cx="3371850" cy="995363"/>
        </p:xfrm>
        <a:graphic>
          <a:graphicData uri="http://schemas.openxmlformats.org/presentationml/2006/ole">
            <p:oleObj spid="_x0000_s9219" name="Equation" r:id="rId4" imgW="1422360" imgH="419040" progId="Equation.3">
              <p:embed/>
            </p:oleObj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676400" y="5334000"/>
            <a:ext cx="6553200" cy="112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/>
              <a:t>Where  P(A and B) = joint probability of A and B</a:t>
            </a:r>
          </a:p>
          <a:p>
            <a:pPr>
              <a:spcBef>
                <a:spcPct val="20000"/>
              </a:spcBef>
            </a:pPr>
            <a:r>
              <a:rPr lang="en-US" sz="2000"/>
              <a:t>  	P(A) = marginal or simple probability of A</a:t>
            </a:r>
          </a:p>
          <a:p>
            <a:pPr>
              <a:spcBef>
                <a:spcPct val="20000"/>
              </a:spcBef>
            </a:pPr>
            <a:r>
              <a:rPr lang="en-US" sz="2000"/>
              <a:t>	P(B) = marginal or simple probability of B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6324600" y="2743200"/>
            <a:ext cx="25146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The conditional probability of A given that B has occurred</a:t>
            </a:r>
          </a:p>
        </p:txBody>
      </p:sp>
      <p:sp>
        <p:nvSpPr>
          <p:cNvPr id="9227" name="AutoShape 11"/>
          <p:cNvSpPr>
            <a:spLocks noChangeArrowheads="1"/>
          </p:cNvSpPr>
          <p:nvPr/>
        </p:nvSpPr>
        <p:spPr bwMode="auto">
          <a:xfrm>
            <a:off x="5486400" y="31242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6324600" y="4037013"/>
            <a:ext cx="25146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The conditional probability of B given that A has occurred</a:t>
            </a:r>
          </a:p>
        </p:txBody>
      </p:sp>
      <p:sp>
        <p:nvSpPr>
          <p:cNvPr id="9229" name="AutoShape 13"/>
          <p:cNvSpPr>
            <a:spLocks noChangeArrowheads="1"/>
          </p:cNvSpPr>
          <p:nvPr/>
        </p:nvSpPr>
        <p:spPr bwMode="auto">
          <a:xfrm>
            <a:off x="5486400" y="4418013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AAF1D0DC-B292-4FF4-9692-4B9F24FB65AB}" type="slidenum">
              <a:rPr lang="en-US" smtClean="0">
                <a:latin typeface="Arial" charset="0"/>
              </a:rPr>
              <a:pPr/>
              <a:t>22</a:t>
            </a:fld>
            <a:endParaRPr lang="en-US" smtClean="0">
              <a:latin typeface="Arial" charset="0"/>
            </a:endParaRPr>
          </a:p>
        </p:txBody>
      </p:sp>
      <p:sp>
        <p:nvSpPr>
          <p:cNvPr id="8601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8601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AE139BE4-71E6-46EC-A826-4F6C2D5BE0D7}" type="slidenum">
              <a:rPr lang="en-US" sz="1000"/>
              <a:pPr algn="r" defTabSz="852488"/>
              <a:t>22</a:t>
            </a:fld>
            <a:endParaRPr lang="en-US" sz="1000"/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3581400"/>
            <a:ext cx="8077200" cy="1676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>
                <a:solidFill>
                  <a:schemeClr val="folHlink"/>
                </a:solidFill>
              </a:rPr>
              <a:t>What is the probability that a car has a GPS given that it has AC ?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mtClean="0"/>
              <a:t>		i.e., we want to find   </a:t>
            </a:r>
            <a:r>
              <a:rPr lang="en-US" smtClean="0">
                <a:solidFill>
                  <a:schemeClr val="folHlink"/>
                </a:solidFill>
              </a:rPr>
              <a:t>P(GPS | AC)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620000" cy="762000"/>
          </a:xfrm>
        </p:spPr>
        <p:txBody>
          <a:bodyPr/>
          <a:lstStyle/>
          <a:p>
            <a:pPr defTabSz="914400" eaLnBrk="1" hangingPunct="1"/>
            <a:r>
              <a:rPr lang="en-US" smtClean="0"/>
              <a:t>Conditional Probability Example</a:t>
            </a:r>
          </a:p>
        </p:txBody>
      </p:sp>
      <p:sp>
        <p:nvSpPr>
          <p:cNvPr id="86022" name="Rectangle 4"/>
          <p:cNvSpPr>
            <a:spLocks noChangeArrowheads="1"/>
          </p:cNvSpPr>
          <p:nvPr/>
        </p:nvSpPr>
        <p:spPr bwMode="auto">
          <a:xfrm>
            <a:off x="685800" y="1828800"/>
            <a:ext cx="8077200" cy="12954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800"/>
              <a:t>Of the cars on a used car lot, 90% have air conditioning (AC) and 40% have a GPS. 35% of the cars have both.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D99C4817-D657-4EC0-9933-C63E545E93C0}" type="slidenum">
              <a:rPr lang="en-US" smtClean="0">
                <a:latin typeface="Arial" charset="0"/>
              </a:rPr>
              <a:pPr/>
              <a:t>23</a:t>
            </a:fld>
            <a:endParaRPr lang="en-US" smtClean="0">
              <a:latin typeface="Arial" charset="0"/>
            </a:endParaRPr>
          </a:p>
        </p:txBody>
      </p:sp>
      <p:sp>
        <p:nvSpPr>
          <p:cNvPr id="1024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24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7DCC584F-BCDB-4A48-ABD7-5E8653699703}" type="slidenum">
              <a:rPr lang="en-US" sz="1000"/>
              <a:pPr algn="r" defTabSz="852488"/>
              <a:t>23</a:t>
            </a:fld>
            <a:endParaRPr lang="en-US" sz="1000"/>
          </a:p>
        </p:txBody>
      </p:sp>
      <p:sp>
        <p:nvSpPr>
          <p:cNvPr id="10246" name="Rectangle 5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620000" cy="762000"/>
          </a:xfrm>
        </p:spPr>
        <p:txBody>
          <a:bodyPr/>
          <a:lstStyle/>
          <a:p>
            <a:pPr defTabSz="914400" eaLnBrk="1" hangingPunct="1"/>
            <a:r>
              <a:rPr lang="en-US" smtClean="0"/>
              <a:t>Conditional Probability Example</a:t>
            </a:r>
          </a:p>
        </p:txBody>
      </p:sp>
      <p:sp>
        <p:nvSpPr>
          <p:cNvPr id="10247" name="Rectangle 31"/>
          <p:cNvSpPr>
            <a:spLocks noChangeArrowheads="1"/>
          </p:cNvSpPr>
          <p:nvPr/>
        </p:nvSpPr>
        <p:spPr bwMode="auto">
          <a:xfrm>
            <a:off x="914400" y="1524000"/>
            <a:ext cx="8077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/>
              <a:t>Of the cars on a used car lot, </a:t>
            </a:r>
            <a:r>
              <a:rPr lang="en-US" b="1">
                <a:solidFill>
                  <a:schemeClr val="folHlink"/>
                </a:solidFill>
              </a:rPr>
              <a:t>90%</a:t>
            </a:r>
            <a:r>
              <a:rPr lang="en-US"/>
              <a:t> have air conditioning (AC) and </a:t>
            </a:r>
            <a:r>
              <a:rPr lang="en-US" b="1">
                <a:solidFill>
                  <a:schemeClr val="folHlink"/>
                </a:solidFill>
              </a:rPr>
              <a:t>40%</a:t>
            </a:r>
            <a:r>
              <a:rPr lang="en-US"/>
              <a:t> have a GPS.  </a:t>
            </a:r>
          </a:p>
          <a:p>
            <a:pPr marL="320675" indent="-320675" defTabSz="852488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	</a:t>
            </a:r>
            <a:r>
              <a:rPr lang="en-US" b="1">
                <a:solidFill>
                  <a:schemeClr val="folHlink"/>
                </a:solidFill>
              </a:rPr>
              <a:t>35%</a:t>
            </a:r>
            <a:r>
              <a:rPr lang="en-US"/>
              <a:t> of the cars have both</a:t>
            </a:r>
            <a:r>
              <a:rPr lang="en-US" sz="1900"/>
              <a:t>.</a:t>
            </a:r>
          </a:p>
        </p:txBody>
      </p:sp>
      <p:grpSp>
        <p:nvGrpSpPr>
          <p:cNvPr id="10248" name="Group 37"/>
          <p:cNvGrpSpPr>
            <a:grpSpLocks/>
          </p:cNvGrpSpPr>
          <p:nvPr/>
        </p:nvGrpSpPr>
        <p:grpSpPr bwMode="auto">
          <a:xfrm>
            <a:off x="1828800" y="2590800"/>
            <a:ext cx="5427663" cy="2286000"/>
            <a:chOff x="1828800" y="2590800"/>
            <a:chExt cx="5428005" cy="2286000"/>
          </a:xfrm>
        </p:grpSpPr>
        <p:sp>
          <p:nvSpPr>
            <p:cNvPr id="10252" name="Rectangle 2"/>
            <p:cNvSpPr>
              <a:spLocks noChangeArrowheads="1"/>
            </p:cNvSpPr>
            <p:nvPr/>
          </p:nvSpPr>
          <p:spPr bwMode="auto">
            <a:xfrm>
              <a:off x="3581400" y="3200400"/>
              <a:ext cx="2514600" cy="1066800"/>
            </a:xfrm>
            <a:prstGeom prst="rect">
              <a:avLst/>
            </a:prstGeom>
            <a:solidFill>
              <a:srgbClr val="FDE0BD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10253" name="Rectangle 3"/>
            <p:cNvSpPr>
              <a:spLocks noChangeArrowheads="1"/>
            </p:cNvSpPr>
            <p:nvPr/>
          </p:nvSpPr>
          <p:spPr bwMode="auto">
            <a:xfrm>
              <a:off x="3581400" y="2743200"/>
              <a:ext cx="3581400" cy="457200"/>
            </a:xfrm>
            <a:prstGeom prst="rect">
              <a:avLst/>
            </a:prstGeom>
            <a:solidFill>
              <a:srgbClr val="CBDDF7"/>
            </a:solidFill>
            <a:ln w="19050" algn="ctr">
              <a:noFill/>
              <a:miter lim="800000"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10254" name="Rectangle 4"/>
            <p:cNvSpPr>
              <a:spLocks noChangeArrowheads="1"/>
            </p:cNvSpPr>
            <p:nvPr/>
          </p:nvSpPr>
          <p:spPr bwMode="auto">
            <a:xfrm>
              <a:off x="1828800" y="3200400"/>
              <a:ext cx="1752600" cy="1676400"/>
            </a:xfrm>
            <a:prstGeom prst="rect">
              <a:avLst/>
            </a:prstGeom>
            <a:solidFill>
              <a:srgbClr val="CBDDF7"/>
            </a:solidFill>
            <a:ln w="19050" algn="ctr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10255" name="Rectangle 6"/>
            <p:cNvSpPr>
              <a:spLocks noChangeArrowheads="1"/>
            </p:cNvSpPr>
            <p:nvPr/>
          </p:nvSpPr>
          <p:spPr bwMode="auto">
            <a:xfrm>
              <a:off x="4822370" y="2743200"/>
              <a:ext cx="1327287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No GPS</a:t>
              </a:r>
            </a:p>
          </p:txBody>
        </p:sp>
        <p:sp>
          <p:nvSpPr>
            <p:cNvPr id="10256" name="Rectangle 7"/>
            <p:cNvSpPr>
              <a:spLocks noChangeArrowheads="1"/>
            </p:cNvSpPr>
            <p:nvPr/>
          </p:nvSpPr>
          <p:spPr bwMode="auto">
            <a:xfrm>
              <a:off x="4800600" y="3733800"/>
              <a:ext cx="1206500" cy="498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57" name="Rectangle 8"/>
            <p:cNvSpPr>
              <a:spLocks noChangeArrowheads="1"/>
            </p:cNvSpPr>
            <p:nvPr/>
          </p:nvSpPr>
          <p:spPr bwMode="auto">
            <a:xfrm>
              <a:off x="3810000" y="2743200"/>
              <a:ext cx="831960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GPS</a:t>
              </a:r>
            </a:p>
          </p:txBody>
        </p:sp>
        <p:sp>
          <p:nvSpPr>
            <p:cNvPr id="10258" name="Rectangle 9"/>
            <p:cNvSpPr>
              <a:spLocks noChangeArrowheads="1"/>
            </p:cNvSpPr>
            <p:nvPr/>
          </p:nvSpPr>
          <p:spPr bwMode="auto">
            <a:xfrm>
              <a:off x="6172200" y="2743200"/>
              <a:ext cx="908050" cy="4540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b="1"/>
                <a:t>Total</a:t>
              </a:r>
            </a:p>
          </p:txBody>
        </p:sp>
        <p:sp>
          <p:nvSpPr>
            <p:cNvPr id="10259" name="Rectangle 10"/>
            <p:cNvSpPr>
              <a:spLocks noChangeArrowheads="1"/>
            </p:cNvSpPr>
            <p:nvPr/>
          </p:nvSpPr>
          <p:spPr bwMode="auto">
            <a:xfrm>
              <a:off x="1882775" y="3235325"/>
              <a:ext cx="676275" cy="5000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AC</a:t>
              </a:r>
            </a:p>
          </p:txBody>
        </p:sp>
        <p:sp>
          <p:nvSpPr>
            <p:cNvPr id="10260" name="Rectangle 11"/>
            <p:cNvSpPr>
              <a:spLocks noChangeArrowheads="1"/>
            </p:cNvSpPr>
            <p:nvPr/>
          </p:nvSpPr>
          <p:spPr bwMode="auto">
            <a:xfrm>
              <a:off x="3962400" y="3200400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>
                  <a:solidFill>
                    <a:schemeClr val="folHlink"/>
                  </a:solidFill>
                </a:rPr>
                <a:t>0.35</a:t>
              </a:r>
            </a:p>
          </p:txBody>
        </p:sp>
        <p:sp>
          <p:nvSpPr>
            <p:cNvPr id="10261" name="Rectangle 12"/>
            <p:cNvSpPr>
              <a:spLocks noChangeArrowheads="1"/>
            </p:cNvSpPr>
            <p:nvPr/>
          </p:nvSpPr>
          <p:spPr bwMode="auto">
            <a:xfrm>
              <a:off x="4837113" y="3206750"/>
              <a:ext cx="1206500" cy="498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62" name="Rectangle 13"/>
            <p:cNvSpPr>
              <a:spLocks noChangeArrowheads="1"/>
            </p:cNvSpPr>
            <p:nvPr/>
          </p:nvSpPr>
          <p:spPr bwMode="auto">
            <a:xfrm>
              <a:off x="5159828" y="3200400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0.55</a:t>
              </a:r>
            </a:p>
          </p:txBody>
        </p:sp>
        <p:sp>
          <p:nvSpPr>
            <p:cNvPr id="10263" name="Rectangle 14"/>
            <p:cNvSpPr>
              <a:spLocks noChangeArrowheads="1"/>
            </p:cNvSpPr>
            <p:nvPr/>
          </p:nvSpPr>
          <p:spPr bwMode="auto">
            <a:xfrm>
              <a:off x="6400800" y="3200400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>
                  <a:solidFill>
                    <a:schemeClr val="folHlink"/>
                  </a:solidFill>
                </a:rPr>
                <a:t>0.90</a:t>
              </a:r>
            </a:p>
          </p:txBody>
        </p:sp>
        <p:sp>
          <p:nvSpPr>
            <p:cNvPr id="10264" name="Rectangle 15"/>
            <p:cNvSpPr>
              <a:spLocks noChangeArrowheads="1"/>
            </p:cNvSpPr>
            <p:nvPr/>
          </p:nvSpPr>
          <p:spPr bwMode="auto">
            <a:xfrm>
              <a:off x="1882775" y="3792538"/>
              <a:ext cx="1228725" cy="5000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No AC</a:t>
              </a:r>
            </a:p>
          </p:txBody>
        </p:sp>
        <p:sp>
          <p:nvSpPr>
            <p:cNvPr id="10265" name="Rectangle 16"/>
            <p:cNvSpPr>
              <a:spLocks noChangeArrowheads="1"/>
            </p:cNvSpPr>
            <p:nvPr/>
          </p:nvSpPr>
          <p:spPr bwMode="auto">
            <a:xfrm>
              <a:off x="3925888" y="3781425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0.05</a:t>
              </a:r>
            </a:p>
          </p:txBody>
        </p:sp>
        <p:sp>
          <p:nvSpPr>
            <p:cNvPr id="10266" name="Rectangle 17"/>
            <p:cNvSpPr>
              <a:spLocks noChangeArrowheads="1"/>
            </p:cNvSpPr>
            <p:nvPr/>
          </p:nvSpPr>
          <p:spPr bwMode="auto">
            <a:xfrm>
              <a:off x="5156200" y="3781425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0.05</a:t>
              </a:r>
            </a:p>
          </p:txBody>
        </p:sp>
        <p:sp>
          <p:nvSpPr>
            <p:cNvPr id="10267" name="Rectangle 18"/>
            <p:cNvSpPr>
              <a:spLocks noChangeArrowheads="1"/>
            </p:cNvSpPr>
            <p:nvPr/>
          </p:nvSpPr>
          <p:spPr bwMode="auto">
            <a:xfrm>
              <a:off x="6400800" y="3810000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0.10</a:t>
              </a:r>
            </a:p>
          </p:txBody>
        </p:sp>
        <p:sp>
          <p:nvSpPr>
            <p:cNvPr id="10268" name="Rectangle 19"/>
            <p:cNvSpPr>
              <a:spLocks noChangeArrowheads="1"/>
            </p:cNvSpPr>
            <p:nvPr/>
          </p:nvSpPr>
          <p:spPr bwMode="auto">
            <a:xfrm>
              <a:off x="1882775" y="4351338"/>
              <a:ext cx="1000125" cy="5000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Total</a:t>
              </a:r>
            </a:p>
          </p:txBody>
        </p:sp>
        <p:sp>
          <p:nvSpPr>
            <p:cNvPr id="10269" name="Rectangle 20"/>
            <p:cNvSpPr>
              <a:spLocks noChangeArrowheads="1"/>
            </p:cNvSpPr>
            <p:nvPr/>
          </p:nvSpPr>
          <p:spPr bwMode="auto">
            <a:xfrm>
              <a:off x="3925888" y="4340225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>
                  <a:solidFill>
                    <a:schemeClr val="folHlink"/>
                  </a:solidFill>
                </a:rPr>
                <a:t>0.40</a:t>
              </a:r>
            </a:p>
          </p:txBody>
        </p:sp>
        <p:sp>
          <p:nvSpPr>
            <p:cNvPr id="10270" name="Rectangle 21"/>
            <p:cNvSpPr>
              <a:spLocks noChangeArrowheads="1"/>
            </p:cNvSpPr>
            <p:nvPr/>
          </p:nvSpPr>
          <p:spPr bwMode="auto">
            <a:xfrm>
              <a:off x="5156200" y="4340225"/>
              <a:ext cx="85600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0.60</a:t>
              </a:r>
            </a:p>
          </p:txBody>
        </p:sp>
        <p:sp>
          <p:nvSpPr>
            <p:cNvPr id="10271" name="Rectangle 22"/>
            <p:cNvSpPr>
              <a:spLocks noChangeArrowheads="1"/>
            </p:cNvSpPr>
            <p:nvPr/>
          </p:nvSpPr>
          <p:spPr bwMode="auto">
            <a:xfrm>
              <a:off x="6303963" y="4340225"/>
              <a:ext cx="952185" cy="5052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700" b="1"/>
                <a:t> 1.00</a:t>
              </a:r>
            </a:p>
          </p:txBody>
        </p:sp>
        <p:sp>
          <p:nvSpPr>
            <p:cNvPr id="10272" name="Line 23"/>
            <p:cNvSpPr>
              <a:spLocks noChangeShapeType="1"/>
            </p:cNvSpPr>
            <p:nvPr/>
          </p:nvSpPr>
          <p:spPr bwMode="auto">
            <a:xfrm>
              <a:off x="4800600" y="2743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Line 24"/>
            <p:cNvSpPr>
              <a:spLocks noChangeShapeType="1"/>
            </p:cNvSpPr>
            <p:nvPr/>
          </p:nvSpPr>
          <p:spPr bwMode="auto">
            <a:xfrm>
              <a:off x="1828800" y="3200400"/>
              <a:ext cx="53149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Line 25"/>
            <p:cNvSpPr>
              <a:spLocks noChangeShapeType="1"/>
            </p:cNvSpPr>
            <p:nvPr/>
          </p:nvSpPr>
          <p:spPr bwMode="auto">
            <a:xfrm>
              <a:off x="6096000" y="2743200"/>
              <a:ext cx="0" cy="2114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Line 26"/>
            <p:cNvSpPr>
              <a:spLocks noChangeShapeType="1"/>
            </p:cNvSpPr>
            <p:nvPr/>
          </p:nvSpPr>
          <p:spPr bwMode="auto">
            <a:xfrm>
              <a:off x="3581400" y="2743200"/>
              <a:ext cx="0" cy="2133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lIns="90487" tIns="44450" rIns="90487" bIns="44450"/>
            <a:lstStyle/>
            <a:p>
              <a:endParaRPr lang="en-US"/>
            </a:p>
          </p:txBody>
        </p:sp>
        <p:sp>
          <p:nvSpPr>
            <p:cNvPr id="10276" name="Line 27"/>
            <p:cNvSpPr>
              <a:spLocks noChangeShapeType="1"/>
            </p:cNvSpPr>
            <p:nvPr/>
          </p:nvSpPr>
          <p:spPr bwMode="auto">
            <a:xfrm>
              <a:off x="1828800" y="4267200"/>
              <a:ext cx="5334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Line 28"/>
            <p:cNvSpPr>
              <a:spLocks noChangeShapeType="1"/>
            </p:cNvSpPr>
            <p:nvPr/>
          </p:nvSpPr>
          <p:spPr bwMode="auto">
            <a:xfrm>
              <a:off x="1828800" y="3733800"/>
              <a:ext cx="533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0487" tIns="44450" rIns="90487" bIns="44450"/>
            <a:lstStyle/>
            <a:p>
              <a:endParaRPr lang="en-US"/>
            </a:p>
          </p:txBody>
        </p:sp>
        <p:sp>
          <p:nvSpPr>
            <p:cNvPr id="10278" name="Rectangle 29"/>
            <p:cNvSpPr>
              <a:spLocks noChangeArrowheads="1"/>
            </p:cNvSpPr>
            <p:nvPr/>
          </p:nvSpPr>
          <p:spPr bwMode="auto">
            <a:xfrm>
              <a:off x="1828800" y="2743200"/>
              <a:ext cx="5334000" cy="21336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79" name="Oval 30"/>
            <p:cNvSpPr>
              <a:spLocks noChangeArrowheads="1"/>
            </p:cNvSpPr>
            <p:nvPr/>
          </p:nvSpPr>
          <p:spPr bwMode="auto">
            <a:xfrm>
              <a:off x="3886200" y="4343400"/>
              <a:ext cx="609600" cy="533400"/>
            </a:xfrm>
            <a:prstGeom prst="ellipse">
              <a:avLst/>
            </a:prstGeom>
            <a:noFill/>
            <a:ln w="12700" algn="ctr">
              <a:noFill/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GB"/>
            </a:p>
          </p:txBody>
        </p:sp>
        <p:sp>
          <p:nvSpPr>
            <p:cNvPr id="10280" name="Line 34"/>
            <p:cNvSpPr>
              <a:spLocks noChangeShapeType="1"/>
            </p:cNvSpPr>
            <p:nvPr/>
          </p:nvSpPr>
          <p:spPr bwMode="auto">
            <a:xfrm>
              <a:off x="1905000" y="2590800"/>
              <a:ext cx="2133600" cy="83820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triangle" w="med" len="med"/>
            </a:ln>
          </p:spPr>
          <p:txBody>
            <a:bodyPr lIns="90488" tIns="44450" rIns="90488" bIns="4445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10242" name="Object 35"/>
          <p:cNvGraphicFramePr>
            <a:graphicFrameLocks noChangeAspect="1"/>
          </p:cNvGraphicFramePr>
          <p:nvPr/>
        </p:nvGraphicFramePr>
        <p:xfrm>
          <a:off x="768350" y="5181600"/>
          <a:ext cx="7534275" cy="1082675"/>
        </p:xfrm>
        <a:graphic>
          <a:graphicData uri="http://schemas.openxmlformats.org/presentationml/2006/ole">
            <p:oleObj spid="_x0000_s10242" name="Equation" r:id="rId3" imgW="2920680" imgH="419040" progId="Equation.3">
              <p:embed/>
            </p:oleObj>
          </a:graphicData>
        </a:graphic>
      </p:graphicFrame>
      <p:sp>
        <p:nvSpPr>
          <p:cNvPr id="10249" name="Text Box 36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10250" name="Line 32"/>
          <p:cNvSpPr>
            <a:spLocks noChangeShapeType="1"/>
          </p:cNvSpPr>
          <p:nvPr/>
        </p:nvSpPr>
        <p:spPr bwMode="auto">
          <a:xfrm>
            <a:off x="3200400" y="2209800"/>
            <a:ext cx="914400" cy="22098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0251" name="Line 33"/>
          <p:cNvSpPr>
            <a:spLocks noChangeShapeType="1"/>
          </p:cNvSpPr>
          <p:nvPr/>
        </p:nvSpPr>
        <p:spPr bwMode="auto">
          <a:xfrm>
            <a:off x="5638800" y="1905000"/>
            <a:ext cx="838200" cy="14478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38B55386-677C-4EFC-8712-A51368A1D3F6}" type="slidenum">
              <a:rPr lang="en-US" smtClean="0">
                <a:latin typeface="Arial" charset="0"/>
              </a:rPr>
              <a:pPr/>
              <a:t>24</a:t>
            </a:fld>
            <a:endParaRPr lang="en-US" smtClean="0">
              <a:latin typeface="Arial" charset="0"/>
            </a:endParaRPr>
          </a:p>
        </p:txBody>
      </p:sp>
      <p:sp>
        <p:nvSpPr>
          <p:cNvPr id="11269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27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B3F15CFB-5FC3-449F-A01F-C55FFD3F99B4}" type="slidenum">
              <a:rPr lang="en-US" sz="1000"/>
              <a:pPr algn="r" defTabSz="852488"/>
              <a:t>24</a:t>
            </a:fld>
            <a:endParaRPr lang="en-US" sz="1000"/>
          </a:p>
        </p:txBody>
      </p:sp>
      <p:sp>
        <p:nvSpPr>
          <p:cNvPr id="11271" name="Rectangle 3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620000" cy="762000"/>
          </a:xfrm>
        </p:spPr>
        <p:txBody>
          <a:bodyPr/>
          <a:lstStyle/>
          <a:p>
            <a:pPr defTabSz="914400" eaLnBrk="1" hangingPunct="1"/>
            <a:r>
              <a:rPr lang="en-US" smtClean="0"/>
              <a:t>Conditional Probability Example</a:t>
            </a:r>
          </a:p>
        </p:txBody>
      </p:sp>
      <p:sp>
        <p:nvSpPr>
          <p:cNvPr id="11272" name="Rectangle 29"/>
          <p:cNvSpPr>
            <a:spLocks noChangeArrowheads="1"/>
          </p:cNvSpPr>
          <p:nvPr/>
        </p:nvSpPr>
        <p:spPr bwMode="auto">
          <a:xfrm>
            <a:off x="762000" y="1676400"/>
            <a:ext cx="8382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000">
                <a:solidFill>
                  <a:schemeClr val="folHlink"/>
                </a:solidFill>
              </a:rPr>
              <a:t>Given AC</a:t>
            </a:r>
            <a:r>
              <a:rPr lang="en-US" sz="2000"/>
              <a:t>, we only consider the top row (90% of the cars). Of these, 35% have a GPS.  35% of 90% is about 38.89%.</a:t>
            </a:r>
          </a:p>
        </p:txBody>
      </p:sp>
      <p:sp>
        <p:nvSpPr>
          <p:cNvPr id="11273" name="Text Box 36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11274" name="Rectangle 2"/>
          <p:cNvSpPr>
            <a:spLocks noChangeArrowheads="1"/>
          </p:cNvSpPr>
          <p:nvPr/>
        </p:nvSpPr>
        <p:spPr bwMode="auto">
          <a:xfrm>
            <a:off x="1828800" y="3048000"/>
            <a:ext cx="5334000" cy="533400"/>
          </a:xfrm>
          <a:prstGeom prst="rect">
            <a:avLst/>
          </a:prstGeom>
          <a:solidFill>
            <a:srgbClr val="FDE0BD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1275" name="Rectangle 4"/>
          <p:cNvSpPr>
            <a:spLocks noChangeArrowheads="1"/>
          </p:cNvSpPr>
          <p:nvPr/>
        </p:nvSpPr>
        <p:spPr bwMode="auto">
          <a:xfrm>
            <a:off x="4876800" y="2590800"/>
            <a:ext cx="13271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/>
              <a:t>No GPS</a:t>
            </a:r>
          </a:p>
        </p:txBody>
      </p:sp>
      <p:sp>
        <p:nvSpPr>
          <p:cNvPr id="11276" name="Rectangle 5"/>
          <p:cNvSpPr>
            <a:spLocks noChangeArrowheads="1"/>
          </p:cNvSpPr>
          <p:nvPr/>
        </p:nvSpPr>
        <p:spPr bwMode="auto">
          <a:xfrm>
            <a:off x="4800600" y="3581400"/>
            <a:ext cx="1206500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77" name="Rectangle 6"/>
          <p:cNvSpPr>
            <a:spLocks noChangeArrowheads="1"/>
          </p:cNvSpPr>
          <p:nvPr/>
        </p:nvSpPr>
        <p:spPr bwMode="auto">
          <a:xfrm>
            <a:off x="3810000" y="2590800"/>
            <a:ext cx="831850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/>
              <a:t>GPS</a:t>
            </a:r>
          </a:p>
        </p:txBody>
      </p:sp>
      <p:sp>
        <p:nvSpPr>
          <p:cNvPr id="11278" name="Rectangle 7"/>
          <p:cNvSpPr>
            <a:spLocks noChangeArrowheads="1"/>
          </p:cNvSpPr>
          <p:nvPr/>
        </p:nvSpPr>
        <p:spPr bwMode="auto">
          <a:xfrm>
            <a:off x="6172200" y="2590800"/>
            <a:ext cx="90805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/>
              <a:t>Total</a:t>
            </a:r>
          </a:p>
        </p:txBody>
      </p:sp>
      <p:sp>
        <p:nvSpPr>
          <p:cNvPr id="11279" name="Rectangle 8"/>
          <p:cNvSpPr>
            <a:spLocks noChangeArrowheads="1"/>
          </p:cNvSpPr>
          <p:nvPr/>
        </p:nvSpPr>
        <p:spPr bwMode="auto">
          <a:xfrm>
            <a:off x="1882775" y="3082925"/>
            <a:ext cx="676275" cy="500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AC</a:t>
            </a:r>
          </a:p>
        </p:txBody>
      </p:sp>
      <p:sp>
        <p:nvSpPr>
          <p:cNvPr id="11280" name="Rectangle 9"/>
          <p:cNvSpPr>
            <a:spLocks noChangeArrowheads="1"/>
          </p:cNvSpPr>
          <p:nvPr/>
        </p:nvSpPr>
        <p:spPr bwMode="auto">
          <a:xfrm>
            <a:off x="3962400" y="3048000"/>
            <a:ext cx="855663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0.35</a:t>
            </a:r>
          </a:p>
        </p:txBody>
      </p:sp>
      <p:sp>
        <p:nvSpPr>
          <p:cNvPr id="11281" name="Rectangle 10"/>
          <p:cNvSpPr>
            <a:spLocks noChangeArrowheads="1"/>
          </p:cNvSpPr>
          <p:nvPr/>
        </p:nvSpPr>
        <p:spPr bwMode="auto">
          <a:xfrm>
            <a:off x="4837113" y="3054350"/>
            <a:ext cx="1206500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82" name="Rectangle 11"/>
          <p:cNvSpPr>
            <a:spLocks noChangeArrowheads="1"/>
          </p:cNvSpPr>
          <p:nvPr/>
        </p:nvSpPr>
        <p:spPr bwMode="auto">
          <a:xfrm>
            <a:off x="5181600" y="3048000"/>
            <a:ext cx="855663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0.55</a:t>
            </a:r>
          </a:p>
        </p:txBody>
      </p:sp>
      <p:sp>
        <p:nvSpPr>
          <p:cNvPr id="11283" name="Rectangle 12"/>
          <p:cNvSpPr>
            <a:spLocks noChangeArrowheads="1"/>
          </p:cNvSpPr>
          <p:nvPr/>
        </p:nvSpPr>
        <p:spPr bwMode="auto">
          <a:xfrm>
            <a:off x="6400800" y="3048000"/>
            <a:ext cx="855663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0.90</a:t>
            </a:r>
          </a:p>
        </p:txBody>
      </p:sp>
      <p:sp>
        <p:nvSpPr>
          <p:cNvPr id="11284" name="Rectangle 13"/>
          <p:cNvSpPr>
            <a:spLocks noChangeArrowheads="1"/>
          </p:cNvSpPr>
          <p:nvPr/>
        </p:nvSpPr>
        <p:spPr bwMode="auto">
          <a:xfrm>
            <a:off x="1882775" y="3640138"/>
            <a:ext cx="1228725" cy="500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No AC</a:t>
            </a:r>
          </a:p>
        </p:txBody>
      </p:sp>
      <p:sp>
        <p:nvSpPr>
          <p:cNvPr id="11285" name="Rectangle 14"/>
          <p:cNvSpPr>
            <a:spLocks noChangeArrowheads="1"/>
          </p:cNvSpPr>
          <p:nvPr/>
        </p:nvSpPr>
        <p:spPr bwMode="auto">
          <a:xfrm>
            <a:off x="3925888" y="3629025"/>
            <a:ext cx="855662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0.05</a:t>
            </a:r>
          </a:p>
        </p:txBody>
      </p:sp>
      <p:sp>
        <p:nvSpPr>
          <p:cNvPr id="11286" name="Rectangle 15"/>
          <p:cNvSpPr>
            <a:spLocks noChangeArrowheads="1"/>
          </p:cNvSpPr>
          <p:nvPr/>
        </p:nvSpPr>
        <p:spPr bwMode="auto">
          <a:xfrm>
            <a:off x="5156200" y="3629025"/>
            <a:ext cx="855663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0.05</a:t>
            </a:r>
          </a:p>
        </p:txBody>
      </p:sp>
      <p:sp>
        <p:nvSpPr>
          <p:cNvPr id="11287" name="Rectangle 16"/>
          <p:cNvSpPr>
            <a:spLocks noChangeArrowheads="1"/>
          </p:cNvSpPr>
          <p:nvPr/>
        </p:nvSpPr>
        <p:spPr bwMode="auto">
          <a:xfrm>
            <a:off x="6400800" y="3657600"/>
            <a:ext cx="855663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0.10</a:t>
            </a:r>
          </a:p>
        </p:txBody>
      </p:sp>
      <p:sp>
        <p:nvSpPr>
          <p:cNvPr id="11288" name="Rectangle 17"/>
          <p:cNvSpPr>
            <a:spLocks noChangeArrowheads="1"/>
          </p:cNvSpPr>
          <p:nvPr/>
        </p:nvSpPr>
        <p:spPr bwMode="auto">
          <a:xfrm>
            <a:off x="1882775" y="4198938"/>
            <a:ext cx="1000125" cy="500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Total</a:t>
            </a:r>
          </a:p>
        </p:txBody>
      </p:sp>
      <p:sp>
        <p:nvSpPr>
          <p:cNvPr id="11289" name="Rectangle 18"/>
          <p:cNvSpPr>
            <a:spLocks noChangeArrowheads="1"/>
          </p:cNvSpPr>
          <p:nvPr/>
        </p:nvSpPr>
        <p:spPr bwMode="auto">
          <a:xfrm>
            <a:off x="3925888" y="4187825"/>
            <a:ext cx="855662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0.40</a:t>
            </a:r>
          </a:p>
        </p:txBody>
      </p:sp>
      <p:sp>
        <p:nvSpPr>
          <p:cNvPr id="11290" name="Rectangle 19"/>
          <p:cNvSpPr>
            <a:spLocks noChangeArrowheads="1"/>
          </p:cNvSpPr>
          <p:nvPr/>
        </p:nvSpPr>
        <p:spPr bwMode="auto">
          <a:xfrm>
            <a:off x="5156200" y="4187825"/>
            <a:ext cx="855663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0.60</a:t>
            </a:r>
          </a:p>
        </p:txBody>
      </p:sp>
      <p:sp>
        <p:nvSpPr>
          <p:cNvPr id="11291" name="Rectangle 20"/>
          <p:cNvSpPr>
            <a:spLocks noChangeArrowheads="1"/>
          </p:cNvSpPr>
          <p:nvPr/>
        </p:nvSpPr>
        <p:spPr bwMode="auto">
          <a:xfrm>
            <a:off x="6324600" y="4191000"/>
            <a:ext cx="952500" cy="504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700" b="1"/>
              <a:t> 1.00</a:t>
            </a:r>
          </a:p>
        </p:txBody>
      </p:sp>
      <p:sp>
        <p:nvSpPr>
          <p:cNvPr id="11292" name="Line 21"/>
          <p:cNvSpPr>
            <a:spLocks noChangeShapeType="1"/>
          </p:cNvSpPr>
          <p:nvPr/>
        </p:nvSpPr>
        <p:spPr bwMode="auto">
          <a:xfrm>
            <a:off x="4800600" y="25908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3" name="Line 22"/>
          <p:cNvSpPr>
            <a:spLocks noChangeShapeType="1"/>
          </p:cNvSpPr>
          <p:nvPr/>
        </p:nvSpPr>
        <p:spPr bwMode="auto">
          <a:xfrm>
            <a:off x="1828800" y="3048000"/>
            <a:ext cx="5314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4" name="Line 23"/>
          <p:cNvSpPr>
            <a:spLocks noChangeShapeType="1"/>
          </p:cNvSpPr>
          <p:nvPr/>
        </p:nvSpPr>
        <p:spPr bwMode="auto">
          <a:xfrm>
            <a:off x="6096000" y="2590800"/>
            <a:ext cx="0" cy="2114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5" name="Line 24"/>
          <p:cNvSpPr>
            <a:spLocks noChangeShapeType="1"/>
          </p:cNvSpPr>
          <p:nvPr/>
        </p:nvSpPr>
        <p:spPr bwMode="auto">
          <a:xfrm>
            <a:off x="3581400" y="2590800"/>
            <a:ext cx="0" cy="213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487" tIns="44450" rIns="90487" bIns="44450"/>
          <a:lstStyle/>
          <a:p>
            <a:endParaRPr lang="en-US"/>
          </a:p>
        </p:txBody>
      </p:sp>
      <p:sp>
        <p:nvSpPr>
          <p:cNvPr id="11296" name="Line 25"/>
          <p:cNvSpPr>
            <a:spLocks noChangeShapeType="1"/>
          </p:cNvSpPr>
          <p:nvPr/>
        </p:nvSpPr>
        <p:spPr bwMode="auto">
          <a:xfrm>
            <a:off x="1828800" y="4114800"/>
            <a:ext cx="533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7" name="Line 26"/>
          <p:cNvSpPr>
            <a:spLocks noChangeShapeType="1"/>
          </p:cNvSpPr>
          <p:nvPr/>
        </p:nvSpPr>
        <p:spPr bwMode="auto">
          <a:xfrm>
            <a:off x="1828800" y="3581400"/>
            <a:ext cx="533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487" tIns="44450" rIns="90487" bIns="44450"/>
          <a:lstStyle/>
          <a:p>
            <a:endParaRPr lang="en-US"/>
          </a:p>
        </p:txBody>
      </p:sp>
      <p:sp>
        <p:nvSpPr>
          <p:cNvPr id="11298" name="Rectangle 27"/>
          <p:cNvSpPr>
            <a:spLocks noChangeArrowheads="1"/>
          </p:cNvSpPr>
          <p:nvPr/>
        </p:nvSpPr>
        <p:spPr bwMode="auto">
          <a:xfrm>
            <a:off x="1828800" y="2590800"/>
            <a:ext cx="5334000" cy="21336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299" name="Oval 28"/>
          <p:cNvSpPr>
            <a:spLocks noChangeArrowheads="1"/>
          </p:cNvSpPr>
          <p:nvPr/>
        </p:nvSpPr>
        <p:spPr bwMode="auto">
          <a:xfrm>
            <a:off x="3886200" y="4191000"/>
            <a:ext cx="609600" cy="533400"/>
          </a:xfrm>
          <a:prstGeom prst="ellipse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1300" name="Oval 31"/>
          <p:cNvSpPr>
            <a:spLocks noChangeArrowheads="1"/>
          </p:cNvSpPr>
          <p:nvPr/>
        </p:nvSpPr>
        <p:spPr bwMode="auto">
          <a:xfrm>
            <a:off x="3995738" y="3048000"/>
            <a:ext cx="762000" cy="533400"/>
          </a:xfrm>
          <a:prstGeom prst="ellipse">
            <a:avLst/>
          </a:prstGeom>
          <a:noFill/>
          <a:ln w="19050" algn="ctr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1301" name="Oval 32"/>
          <p:cNvSpPr>
            <a:spLocks noChangeArrowheads="1"/>
          </p:cNvSpPr>
          <p:nvPr/>
        </p:nvSpPr>
        <p:spPr bwMode="auto">
          <a:xfrm>
            <a:off x="6411913" y="3048000"/>
            <a:ext cx="762000" cy="533400"/>
          </a:xfrm>
          <a:prstGeom prst="ellipse">
            <a:avLst/>
          </a:prstGeom>
          <a:noFill/>
          <a:ln w="19050" algn="ctr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1302" name="Line 33"/>
          <p:cNvSpPr>
            <a:spLocks noChangeShapeType="1"/>
          </p:cNvSpPr>
          <p:nvPr/>
        </p:nvSpPr>
        <p:spPr bwMode="auto">
          <a:xfrm>
            <a:off x="4495800" y="3429000"/>
            <a:ext cx="1524000" cy="16002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1303" name="Line 34"/>
          <p:cNvSpPr>
            <a:spLocks noChangeShapeType="1"/>
          </p:cNvSpPr>
          <p:nvPr/>
        </p:nvSpPr>
        <p:spPr bwMode="auto">
          <a:xfrm>
            <a:off x="6477000" y="3581400"/>
            <a:ext cx="0" cy="14478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graphicFrame>
        <p:nvGraphicFramePr>
          <p:cNvPr id="11267" name="Object 35"/>
          <p:cNvGraphicFramePr>
            <a:graphicFrameLocks noChangeAspect="1"/>
          </p:cNvGraphicFramePr>
          <p:nvPr/>
        </p:nvGraphicFramePr>
        <p:xfrm>
          <a:off x="768350" y="5181600"/>
          <a:ext cx="7534275" cy="1082675"/>
        </p:xfrm>
        <a:graphic>
          <a:graphicData uri="http://schemas.openxmlformats.org/presentationml/2006/ole">
            <p:oleObj spid="_x0000_s11267" name="Equation" r:id="rId3" imgW="2920680" imgH="419040" progId="Equation.3">
              <p:embed/>
            </p:oleObj>
          </a:graphicData>
        </a:graphic>
      </p:graphicFrame>
      <p:sp>
        <p:nvSpPr>
          <p:cNvPr id="11304" name="Oval 35"/>
          <p:cNvSpPr>
            <a:spLocks noChangeArrowheads="1"/>
          </p:cNvSpPr>
          <p:nvPr/>
        </p:nvSpPr>
        <p:spPr bwMode="auto">
          <a:xfrm>
            <a:off x="5910263" y="5127625"/>
            <a:ext cx="990600" cy="1143000"/>
          </a:xfrm>
          <a:prstGeom prst="ellipse">
            <a:avLst/>
          </a:prstGeom>
          <a:noFill/>
          <a:ln w="19050" algn="ctr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B8B508AA-85B3-4D94-84BA-457DEBED9A50}" type="slidenum">
              <a:rPr lang="en-US" smtClean="0">
                <a:latin typeface="Arial" charset="0"/>
              </a:rPr>
              <a:pPr/>
              <a:t>25</a:t>
            </a:fld>
            <a:endParaRPr lang="en-US" smtClean="0">
              <a:latin typeface="Arial" charset="0"/>
            </a:endParaRPr>
          </a:p>
        </p:txBody>
      </p:sp>
      <p:sp>
        <p:nvSpPr>
          <p:cNvPr id="12295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2296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F1025354-F4B6-498F-B48B-A7449424CDC2}" type="slidenum">
              <a:rPr lang="en-US" sz="1000"/>
              <a:pPr algn="r" defTabSz="852488"/>
              <a:t>25</a:t>
            </a:fld>
            <a:endParaRPr lang="en-US" sz="1000"/>
          </a:p>
        </p:txBody>
      </p:sp>
      <p:sp>
        <p:nvSpPr>
          <p:cNvPr id="12297" name="Rectangle 31"/>
          <p:cNvSpPr>
            <a:spLocks noChangeArrowheads="1"/>
          </p:cNvSpPr>
          <p:nvPr/>
        </p:nvSpPr>
        <p:spPr bwMode="auto">
          <a:xfrm>
            <a:off x="5867400" y="2743200"/>
            <a:ext cx="2743200" cy="609600"/>
          </a:xfrm>
          <a:prstGeom prst="rect">
            <a:avLst/>
          </a:prstGeom>
          <a:solidFill>
            <a:srgbClr val="CBDD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8" name="Rectangle 32"/>
          <p:cNvSpPr>
            <a:spLocks noChangeArrowheads="1"/>
          </p:cNvSpPr>
          <p:nvPr/>
        </p:nvSpPr>
        <p:spPr bwMode="auto">
          <a:xfrm>
            <a:off x="5867400" y="4648200"/>
            <a:ext cx="2743200" cy="609600"/>
          </a:xfrm>
          <a:prstGeom prst="rect">
            <a:avLst/>
          </a:prstGeom>
          <a:solidFill>
            <a:srgbClr val="85E5C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9" name="Rectangle 33"/>
          <p:cNvSpPr>
            <a:spLocks noChangeArrowheads="1"/>
          </p:cNvSpPr>
          <p:nvPr/>
        </p:nvSpPr>
        <p:spPr bwMode="auto">
          <a:xfrm>
            <a:off x="5867400" y="5791200"/>
            <a:ext cx="2819400" cy="609600"/>
          </a:xfrm>
          <a:prstGeom prst="rect">
            <a:avLst/>
          </a:prstGeom>
          <a:solidFill>
            <a:srgbClr val="85E5C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0" name="Rectangle 30"/>
          <p:cNvSpPr>
            <a:spLocks noChangeArrowheads="1"/>
          </p:cNvSpPr>
          <p:nvPr/>
        </p:nvSpPr>
        <p:spPr bwMode="auto">
          <a:xfrm>
            <a:off x="5867400" y="1752600"/>
            <a:ext cx="2667000" cy="609600"/>
          </a:xfrm>
          <a:prstGeom prst="rect">
            <a:avLst/>
          </a:prstGeom>
          <a:solidFill>
            <a:srgbClr val="CBDD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Decision Trees</a:t>
            </a:r>
          </a:p>
        </p:txBody>
      </p:sp>
      <p:sp>
        <p:nvSpPr>
          <p:cNvPr id="12302" name="Line 4"/>
          <p:cNvSpPr>
            <a:spLocks noChangeShapeType="1"/>
          </p:cNvSpPr>
          <p:nvPr/>
        </p:nvSpPr>
        <p:spPr bwMode="auto">
          <a:xfrm flipV="1">
            <a:off x="762000" y="2590800"/>
            <a:ext cx="32766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3" name="Line 8"/>
          <p:cNvSpPr>
            <a:spLocks noChangeShapeType="1"/>
          </p:cNvSpPr>
          <p:nvPr/>
        </p:nvSpPr>
        <p:spPr bwMode="auto">
          <a:xfrm>
            <a:off x="762000" y="4038600"/>
            <a:ext cx="32766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4" name="Line 9"/>
          <p:cNvSpPr>
            <a:spLocks noChangeShapeType="1"/>
          </p:cNvSpPr>
          <p:nvPr/>
        </p:nvSpPr>
        <p:spPr bwMode="auto">
          <a:xfrm>
            <a:off x="4038600" y="2590800"/>
            <a:ext cx="1752600" cy="517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5" name="Line 10"/>
          <p:cNvSpPr>
            <a:spLocks noChangeShapeType="1"/>
          </p:cNvSpPr>
          <p:nvPr/>
        </p:nvSpPr>
        <p:spPr bwMode="auto">
          <a:xfrm>
            <a:off x="4038600" y="54864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6" name="Line 11"/>
          <p:cNvSpPr>
            <a:spLocks noChangeShapeType="1"/>
          </p:cNvSpPr>
          <p:nvPr/>
        </p:nvSpPr>
        <p:spPr bwMode="auto">
          <a:xfrm flipV="1">
            <a:off x="4038600" y="49530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7" name="Line 12"/>
          <p:cNvSpPr>
            <a:spLocks noChangeShapeType="1"/>
          </p:cNvSpPr>
          <p:nvPr/>
        </p:nvSpPr>
        <p:spPr bwMode="auto">
          <a:xfrm flipV="1">
            <a:off x="4038600" y="2041525"/>
            <a:ext cx="1752600" cy="5492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08" name="Text Box 13"/>
          <p:cNvSpPr txBox="1">
            <a:spLocks noChangeArrowheads="1"/>
          </p:cNvSpPr>
          <p:nvPr/>
        </p:nvSpPr>
        <p:spPr bwMode="auto">
          <a:xfrm rot="-1442522">
            <a:off x="1066800" y="3200400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Has AC</a:t>
            </a:r>
          </a:p>
        </p:txBody>
      </p:sp>
      <p:sp>
        <p:nvSpPr>
          <p:cNvPr id="12309" name="Text Box 14"/>
          <p:cNvSpPr txBox="1">
            <a:spLocks noChangeArrowheads="1"/>
          </p:cNvSpPr>
          <p:nvPr/>
        </p:nvSpPr>
        <p:spPr bwMode="auto">
          <a:xfrm rot="1382586">
            <a:off x="1066800" y="4495800"/>
            <a:ext cx="1219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Does not have AC</a:t>
            </a:r>
          </a:p>
        </p:txBody>
      </p:sp>
      <p:sp>
        <p:nvSpPr>
          <p:cNvPr id="12310" name="Text Box 15"/>
          <p:cNvSpPr txBox="1">
            <a:spLocks noChangeArrowheads="1"/>
          </p:cNvSpPr>
          <p:nvPr/>
        </p:nvSpPr>
        <p:spPr bwMode="auto">
          <a:xfrm rot="-1001955">
            <a:off x="4008438" y="1963738"/>
            <a:ext cx="1327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Has GPS</a:t>
            </a:r>
          </a:p>
        </p:txBody>
      </p:sp>
      <p:sp>
        <p:nvSpPr>
          <p:cNvPr id="12311" name="Text Box 16"/>
          <p:cNvSpPr txBox="1">
            <a:spLocks noChangeArrowheads="1"/>
          </p:cNvSpPr>
          <p:nvPr/>
        </p:nvSpPr>
        <p:spPr bwMode="auto">
          <a:xfrm rot="993021">
            <a:off x="3944938" y="2776538"/>
            <a:ext cx="1392237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Does not have GPS</a:t>
            </a:r>
          </a:p>
        </p:txBody>
      </p:sp>
      <p:sp>
        <p:nvSpPr>
          <p:cNvPr id="12312" name="Text Box 17"/>
          <p:cNvSpPr txBox="1">
            <a:spLocks noChangeArrowheads="1"/>
          </p:cNvSpPr>
          <p:nvPr/>
        </p:nvSpPr>
        <p:spPr bwMode="auto">
          <a:xfrm rot="-1001955">
            <a:off x="4008438" y="4859338"/>
            <a:ext cx="1327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Has GPS</a:t>
            </a:r>
          </a:p>
        </p:txBody>
      </p:sp>
      <p:sp>
        <p:nvSpPr>
          <p:cNvPr id="12313" name="Text Box 18"/>
          <p:cNvSpPr txBox="1">
            <a:spLocks noChangeArrowheads="1"/>
          </p:cNvSpPr>
          <p:nvPr/>
        </p:nvSpPr>
        <p:spPr bwMode="auto">
          <a:xfrm rot="993021">
            <a:off x="4000500" y="5668963"/>
            <a:ext cx="14144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Does not have GPS</a:t>
            </a:r>
          </a:p>
        </p:txBody>
      </p:sp>
      <p:sp>
        <p:nvSpPr>
          <p:cNvPr id="12314" name="Text Box 19"/>
          <p:cNvSpPr txBox="1">
            <a:spLocks noChangeArrowheads="1"/>
          </p:cNvSpPr>
          <p:nvPr/>
        </p:nvSpPr>
        <p:spPr bwMode="auto">
          <a:xfrm rot="-1439669">
            <a:off x="2130425" y="2578100"/>
            <a:ext cx="1462088" cy="39687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P(AC)= 0.9</a:t>
            </a:r>
          </a:p>
        </p:txBody>
      </p:sp>
      <p:sp>
        <p:nvSpPr>
          <p:cNvPr id="12315" name="Text Box 20"/>
          <p:cNvSpPr txBox="1">
            <a:spLocks noChangeArrowheads="1"/>
          </p:cNvSpPr>
          <p:nvPr/>
        </p:nvSpPr>
        <p:spPr bwMode="auto">
          <a:xfrm rot="1460793">
            <a:off x="2274888" y="5149850"/>
            <a:ext cx="1590675" cy="396875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P(AC’)= 0.1</a:t>
            </a:r>
          </a:p>
        </p:txBody>
      </p:sp>
      <p:sp>
        <p:nvSpPr>
          <p:cNvPr id="12316" name="Text Box 22"/>
          <p:cNvSpPr txBox="1">
            <a:spLocks noChangeArrowheads="1"/>
          </p:cNvSpPr>
          <p:nvPr/>
        </p:nvSpPr>
        <p:spPr bwMode="auto">
          <a:xfrm>
            <a:off x="5867400" y="1828800"/>
            <a:ext cx="2819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P(AC and GPS) = 0.35</a:t>
            </a:r>
          </a:p>
        </p:txBody>
      </p:sp>
      <p:sp>
        <p:nvSpPr>
          <p:cNvPr id="12317" name="Text Box 23"/>
          <p:cNvSpPr txBox="1">
            <a:spLocks noChangeArrowheads="1"/>
          </p:cNvSpPr>
          <p:nvPr/>
        </p:nvSpPr>
        <p:spPr bwMode="auto">
          <a:xfrm>
            <a:off x="5867400" y="2895600"/>
            <a:ext cx="2819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P(AC and GPS’) = 0.55</a:t>
            </a:r>
          </a:p>
        </p:txBody>
      </p:sp>
      <p:sp>
        <p:nvSpPr>
          <p:cNvPr id="12318" name="Text Box 24"/>
          <p:cNvSpPr txBox="1">
            <a:spLocks noChangeArrowheads="1"/>
          </p:cNvSpPr>
          <p:nvPr/>
        </p:nvSpPr>
        <p:spPr bwMode="auto">
          <a:xfrm>
            <a:off x="5867400" y="5851525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P(AC</a:t>
            </a:r>
            <a:r>
              <a:rPr lang="en-US"/>
              <a:t>’</a:t>
            </a:r>
            <a:r>
              <a:rPr lang="en-US" sz="2000"/>
              <a:t> and GPS</a:t>
            </a:r>
            <a:r>
              <a:rPr lang="en-US"/>
              <a:t>’</a:t>
            </a:r>
            <a:r>
              <a:rPr lang="en-US" sz="2000"/>
              <a:t>) = 0.05</a:t>
            </a:r>
          </a:p>
        </p:txBody>
      </p:sp>
      <p:sp>
        <p:nvSpPr>
          <p:cNvPr id="12319" name="Text Box 25"/>
          <p:cNvSpPr txBox="1">
            <a:spLocks noChangeArrowheads="1"/>
          </p:cNvSpPr>
          <p:nvPr/>
        </p:nvSpPr>
        <p:spPr bwMode="auto">
          <a:xfrm>
            <a:off x="5867400" y="4708525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P(AC</a:t>
            </a:r>
            <a:r>
              <a:rPr lang="en-US"/>
              <a:t>’</a:t>
            </a:r>
            <a:r>
              <a:rPr lang="en-US" sz="2000"/>
              <a:t> and GPS) = 0.05</a:t>
            </a:r>
          </a:p>
        </p:txBody>
      </p:sp>
      <p:graphicFrame>
        <p:nvGraphicFramePr>
          <p:cNvPr id="12290" name="Object 27"/>
          <p:cNvGraphicFramePr>
            <a:graphicFrameLocks noChangeAspect="1"/>
          </p:cNvGraphicFramePr>
          <p:nvPr/>
        </p:nvGraphicFramePr>
        <p:xfrm>
          <a:off x="5272088" y="3048000"/>
          <a:ext cx="493712" cy="762000"/>
        </p:xfrm>
        <a:graphic>
          <a:graphicData uri="http://schemas.openxmlformats.org/presentationml/2006/ole">
            <p:oleObj spid="_x0000_s12290" name="Equation" r:id="rId3" imgW="253800" imgH="393480" progId="Equation.3">
              <p:embed/>
            </p:oleObj>
          </a:graphicData>
        </a:graphic>
      </p:graphicFrame>
      <p:graphicFrame>
        <p:nvGraphicFramePr>
          <p:cNvPr id="12291" name="Object 28"/>
          <p:cNvGraphicFramePr>
            <a:graphicFrameLocks noChangeAspect="1"/>
          </p:cNvGraphicFramePr>
          <p:nvPr/>
        </p:nvGraphicFramePr>
        <p:xfrm>
          <a:off x="5272088" y="4267200"/>
          <a:ext cx="493712" cy="762000"/>
        </p:xfrm>
        <a:graphic>
          <a:graphicData uri="http://schemas.openxmlformats.org/presentationml/2006/ole">
            <p:oleObj spid="_x0000_s12291" name="Equation" r:id="rId4" imgW="253800" imgH="393480" progId="Equation.3">
              <p:embed/>
            </p:oleObj>
          </a:graphicData>
        </a:graphic>
      </p:graphicFrame>
      <p:graphicFrame>
        <p:nvGraphicFramePr>
          <p:cNvPr id="12292" name="Object 29"/>
          <p:cNvGraphicFramePr>
            <a:graphicFrameLocks noChangeAspect="1"/>
          </p:cNvGraphicFramePr>
          <p:nvPr/>
        </p:nvGraphicFramePr>
        <p:xfrm>
          <a:off x="5283200" y="5943600"/>
          <a:ext cx="493713" cy="762000"/>
        </p:xfrm>
        <a:graphic>
          <a:graphicData uri="http://schemas.openxmlformats.org/presentationml/2006/ole">
            <p:oleObj spid="_x0000_s12292" name="Equation" r:id="rId5" imgW="253800" imgH="393480" progId="Equation.3">
              <p:embed/>
            </p:oleObj>
          </a:graphicData>
        </a:graphic>
      </p:graphicFrame>
      <p:sp>
        <p:nvSpPr>
          <p:cNvPr id="12320" name="Text Box 34"/>
          <p:cNvSpPr txBox="1">
            <a:spLocks noChangeArrowheads="1"/>
          </p:cNvSpPr>
          <p:nvPr/>
        </p:nvSpPr>
        <p:spPr bwMode="auto">
          <a:xfrm>
            <a:off x="152400" y="3733800"/>
            <a:ext cx="7620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All</a:t>
            </a:r>
          </a:p>
          <a:p>
            <a:pPr>
              <a:spcBef>
                <a:spcPct val="10000"/>
              </a:spcBef>
            </a:pPr>
            <a:r>
              <a:rPr lang="en-US" sz="2000" b="1"/>
              <a:t>Cars</a:t>
            </a:r>
          </a:p>
        </p:txBody>
      </p:sp>
      <p:graphicFrame>
        <p:nvGraphicFramePr>
          <p:cNvPr id="12293" name="Object 35"/>
          <p:cNvGraphicFramePr>
            <a:graphicFrameLocks noChangeAspect="1"/>
          </p:cNvGraphicFramePr>
          <p:nvPr/>
        </p:nvGraphicFramePr>
        <p:xfrm>
          <a:off x="5283200" y="1370013"/>
          <a:ext cx="493713" cy="763587"/>
        </p:xfrm>
        <a:graphic>
          <a:graphicData uri="http://schemas.openxmlformats.org/presentationml/2006/ole">
            <p:oleObj spid="_x0000_s12293" name="Equation" r:id="rId6" imgW="253800" imgH="393480" progId="Equation.3">
              <p:embed/>
            </p:oleObj>
          </a:graphicData>
        </a:graphic>
      </p:graphicFrame>
      <p:sp>
        <p:nvSpPr>
          <p:cNvPr id="12321" name="Text Box 36"/>
          <p:cNvSpPr txBox="1">
            <a:spLocks noChangeArrowheads="1"/>
          </p:cNvSpPr>
          <p:nvPr/>
        </p:nvSpPr>
        <p:spPr bwMode="auto">
          <a:xfrm>
            <a:off x="228600" y="1905000"/>
            <a:ext cx="1981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folHlink"/>
                </a:solidFill>
              </a:rPr>
              <a:t>Given AC or no AC:</a:t>
            </a:r>
          </a:p>
        </p:txBody>
      </p:sp>
      <p:sp>
        <p:nvSpPr>
          <p:cNvPr id="12322" name="Text Box 37"/>
          <p:cNvSpPr txBox="1">
            <a:spLocks noChangeArrowheads="1"/>
          </p:cNvSpPr>
          <p:nvPr/>
        </p:nvSpPr>
        <p:spPr bwMode="auto">
          <a:xfrm>
            <a:off x="2667000" y="3733800"/>
            <a:ext cx="1150938" cy="51752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Conditional</a:t>
            </a:r>
          </a:p>
          <a:p>
            <a:r>
              <a:rPr lang="en-US" sz="1400"/>
              <a:t>Probabilities</a:t>
            </a:r>
          </a:p>
        </p:txBody>
      </p:sp>
      <p:sp>
        <p:nvSpPr>
          <p:cNvPr id="12323" name="Line 38"/>
          <p:cNvSpPr>
            <a:spLocks noChangeShapeType="1"/>
          </p:cNvSpPr>
          <p:nvPr/>
        </p:nvSpPr>
        <p:spPr bwMode="auto">
          <a:xfrm>
            <a:off x="4038600" y="6248400"/>
            <a:ext cx="1219200" cy="3048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24" name="Line 39"/>
          <p:cNvSpPr>
            <a:spLocks noChangeShapeType="1"/>
          </p:cNvSpPr>
          <p:nvPr/>
        </p:nvSpPr>
        <p:spPr bwMode="auto">
          <a:xfrm>
            <a:off x="3810000" y="4114800"/>
            <a:ext cx="1447800" cy="457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25" name="Line 40"/>
          <p:cNvSpPr>
            <a:spLocks noChangeShapeType="1"/>
          </p:cNvSpPr>
          <p:nvPr/>
        </p:nvSpPr>
        <p:spPr bwMode="auto">
          <a:xfrm flipV="1">
            <a:off x="3810000" y="3581400"/>
            <a:ext cx="1447800" cy="3810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26" name="Line 41"/>
          <p:cNvSpPr>
            <a:spLocks noChangeShapeType="1"/>
          </p:cNvSpPr>
          <p:nvPr/>
        </p:nvSpPr>
        <p:spPr bwMode="auto">
          <a:xfrm flipV="1">
            <a:off x="3581400" y="1752600"/>
            <a:ext cx="457200" cy="1981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27" name="Line 42"/>
          <p:cNvSpPr>
            <a:spLocks noChangeShapeType="1"/>
          </p:cNvSpPr>
          <p:nvPr/>
        </p:nvSpPr>
        <p:spPr bwMode="auto">
          <a:xfrm flipV="1">
            <a:off x="4038600" y="1676400"/>
            <a:ext cx="1219200" cy="76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2328" name="Line 43"/>
          <p:cNvSpPr>
            <a:spLocks noChangeShapeType="1"/>
          </p:cNvSpPr>
          <p:nvPr/>
        </p:nvSpPr>
        <p:spPr bwMode="auto">
          <a:xfrm>
            <a:off x="3581400" y="4267200"/>
            <a:ext cx="457200" cy="1981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579C9425-34A9-4C5D-BF48-8F30906B1A84}" type="slidenum">
              <a:rPr lang="en-US" smtClean="0">
                <a:latin typeface="Arial" charset="0"/>
              </a:rPr>
              <a:pPr/>
              <a:t>26</a:t>
            </a:fld>
            <a:endParaRPr lang="en-US" smtClean="0">
              <a:latin typeface="Arial" charset="0"/>
            </a:endParaRPr>
          </a:p>
        </p:txBody>
      </p:sp>
      <p:sp>
        <p:nvSpPr>
          <p:cNvPr id="13319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332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664C2E56-7168-4D98-9288-F918941F100B}" type="slidenum">
              <a:rPr lang="en-US" sz="1000"/>
              <a:pPr algn="r" defTabSz="852488"/>
              <a:t>26</a:t>
            </a:fld>
            <a:endParaRPr lang="en-US" sz="1000"/>
          </a:p>
        </p:txBody>
      </p:sp>
      <p:sp>
        <p:nvSpPr>
          <p:cNvPr id="13321" name="Rectangle 2"/>
          <p:cNvSpPr>
            <a:spLocks noChangeArrowheads="1"/>
          </p:cNvSpPr>
          <p:nvPr/>
        </p:nvSpPr>
        <p:spPr bwMode="auto">
          <a:xfrm>
            <a:off x="5867400" y="2743200"/>
            <a:ext cx="2743200" cy="609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322" name="Rectangle 3"/>
          <p:cNvSpPr>
            <a:spLocks noChangeArrowheads="1"/>
          </p:cNvSpPr>
          <p:nvPr/>
        </p:nvSpPr>
        <p:spPr bwMode="auto">
          <a:xfrm>
            <a:off x="5867400" y="4648200"/>
            <a:ext cx="2743200" cy="609600"/>
          </a:xfrm>
          <a:prstGeom prst="rect">
            <a:avLst/>
          </a:prstGeom>
          <a:solidFill>
            <a:srgbClr val="85E5C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323" name="Rectangle 4"/>
          <p:cNvSpPr>
            <a:spLocks noChangeArrowheads="1"/>
          </p:cNvSpPr>
          <p:nvPr/>
        </p:nvSpPr>
        <p:spPr bwMode="auto">
          <a:xfrm>
            <a:off x="5867400" y="5791200"/>
            <a:ext cx="2819400" cy="609600"/>
          </a:xfrm>
          <a:prstGeom prst="rect">
            <a:avLst/>
          </a:prstGeom>
          <a:solidFill>
            <a:srgbClr val="85E5C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324" name="Rectangle 5"/>
          <p:cNvSpPr>
            <a:spLocks noChangeArrowheads="1"/>
          </p:cNvSpPr>
          <p:nvPr/>
        </p:nvSpPr>
        <p:spPr bwMode="auto">
          <a:xfrm>
            <a:off x="5867400" y="1752600"/>
            <a:ext cx="2667000" cy="609600"/>
          </a:xfrm>
          <a:prstGeom prst="rect">
            <a:avLst/>
          </a:prstGeom>
          <a:solidFill>
            <a:srgbClr val="C7DAF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32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Decision Trees</a:t>
            </a:r>
          </a:p>
        </p:txBody>
      </p:sp>
      <p:sp>
        <p:nvSpPr>
          <p:cNvPr id="13326" name="Line 7"/>
          <p:cNvSpPr>
            <a:spLocks noChangeShapeType="1"/>
          </p:cNvSpPr>
          <p:nvPr/>
        </p:nvSpPr>
        <p:spPr bwMode="auto">
          <a:xfrm flipV="1">
            <a:off x="762000" y="2590800"/>
            <a:ext cx="32766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27" name="Line 8"/>
          <p:cNvSpPr>
            <a:spLocks noChangeShapeType="1"/>
          </p:cNvSpPr>
          <p:nvPr/>
        </p:nvSpPr>
        <p:spPr bwMode="auto">
          <a:xfrm>
            <a:off x="762000" y="4038600"/>
            <a:ext cx="3276600" cy="1447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28" name="Line 9"/>
          <p:cNvSpPr>
            <a:spLocks noChangeShapeType="1"/>
          </p:cNvSpPr>
          <p:nvPr/>
        </p:nvSpPr>
        <p:spPr bwMode="auto">
          <a:xfrm>
            <a:off x="4038600" y="2590800"/>
            <a:ext cx="1752600" cy="517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29" name="Line 10"/>
          <p:cNvSpPr>
            <a:spLocks noChangeShapeType="1"/>
          </p:cNvSpPr>
          <p:nvPr/>
        </p:nvSpPr>
        <p:spPr bwMode="auto">
          <a:xfrm>
            <a:off x="4038600" y="54864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30" name="Line 11"/>
          <p:cNvSpPr>
            <a:spLocks noChangeShapeType="1"/>
          </p:cNvSpPr>
          <p:nvPr/>
        </p:nvSpPr>
        <p:spPr bwMode="auto">
          <a:xfrm flipV="1">
            <a:off x="4038600" y="49530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31" name="Line 12"/>
          <p:cNvSpPr>
            <a:spLocks noChangeShapeType="1"/>
          </p:cNvSpPr>
          <p:nvPr/>
        </p:nvSpPr>
        <p:spPr bwMode="auto">
          <a:xfrm flipV="1">
            <a:off x="4038600" y="2041525"/>
            <a:ext cx="1752600" cy="5492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32" name="Text Box 13"/>
          <p:cNvSpPr txBox="1">
            <a:spLocks noChangeArrowheads="1"/>
          </p:cNvSpPr>
          <p:nvPr/>
        </p:nvSpPr>
        <p:spPr bwMode="auto">
          <a:xfrm rot="-1442522">
            <a:off x="920750" y="3230563"/>
            <a:ext cx="1371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Has GPS</a:t>
            </a:r>
          </a:p>
        </p:txBody>
      </p:sp>
      <p:sp>
        <p:nvSpPr>
          <p:cNvPr id="13333" name="Text Box 14"/>
          <p:cNvSpPr txBox="1">
            <a:spLocks noChangeArrowheads="1"/>
          </p:cNvSpPr>
          <p:nvPr/>
        </p:nvSpPr>
        <p:spPr bwMode="auto">
          <a:xfrm rot="1382586">
            <a:off x="942975" y="4467225"/>
            <a:ext cx="13477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Does not have GPS</a:t>
            </a:r>
          </a:p>
        </p:txBody>
      </p:sp>
      <p:sp>
        <p:nvSpPr>
          <p:cNvPr id="13334" name="Text Box 15"/>
          <p:cNvSpPr txBox="1">
            <a:spLocks noChangeArrowheads="1"/>
          </p:cNvSpPr>
          <p:nvPr/>
        </p:nvSpPr>
        <p:spPr bwMode="auto">
          <a:xfrm rot="-1001955">
            <a:off x="4114800" y="1949450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Has AC</a:t>
            </a:r>
          </a:p>
        </p:txBody>
      </p:sp>
      <p:sp>
        <p:nvSpPr>
          <p:cNvPr id="13335" name="Text Box 16"/>
          <p:cNvSpPr txBox="1">
            <a:spLocks noChangeArrowheads="1"/>
          </p:cNvSpPr>
          <p:nvPr/>
        </p:nvSpPr>
        <p:spPr bwMode="auto">
          <a:xfrm rot="993021">
            <a:off x="4114800" y="2803525"/>
            <a:ext cx="1219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Does not have AC</a:t>
            </a:r>
          </a:p>
        </p:txBody>
      </p:sp>
      <p:sp>
        <p:nvSpPr>
          <p:cNvPr id="13336" name="Text Box 17"/>
          <p:cNvSpPr txBox="1">
            <a:spLocks noChangeArrowheads="1"/>
          </p:cNvSpPr>
          <p:nvPr/>
        </p:nvSpPr>
        <p:spPr bwMode="auto">
          <a:xfrm rot="-1001955">
            <a:off x="4114800" y="4845050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Has AC</a:t>
            </a:r>
          </a:p>
        </p:txBody>
      </p:sp>
      <p:sp>
        <p:nvSpPr>
          <p:cNvPr id="13337" name="Text Box 18"/>
          <p:cNvSpPr txBox="1">
            <a:spLocks noChangeArrowheads="1"/>
          </p:cNvSpPr>
          <p:nvPr/>
        </p:nvSpPr>
        <p:spPr bwMode="auto">
          <a:xfrm rot="993021">
            <a:off x="4037013" y="5699125"/>
            <a:ext cx="1219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Does not have AC</a:t>
            </a:r>
          </a:p>
        </p:txBody>
      </p:sp>
      <p:sp>
        <p:nvSpPr>
          <p:cNvPr id="13338" name="Text Box 19"/>
          <p:cNvSpPr txBox="1">
            <a:spLocks noChangeArrowheads="1"/>
          </p:cNvSpPr>
          <p:nvPr/>
        </p:nvSpPr>
        <p:spPr bwMode="auto">
          <a:xfrm rot="-1439669">
            <a:off x="2120900" y="2528888"/>
            <a:ext cx="1695450" cy="400050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P(GPS)= 0.4</a:t>
            </a:r>
          </a:p>
        </p:txBody>
      </p:sp>
      <p:sp>
        <p:nvSpPr>
          <p:cNvPr id="13339" name="Text Box 20"/>
          <p:cNvSpPr txBox="1">
            <a:spLocks noChangeArrowheads="1"/>
          </p:cNvSpPr>
          <p:nvPr/>
        </p:nvSpPr>
        <p:spPr bwMode="auto">
          <a:xfrm rot="1460793">
            <a:off x="2265363" y="5195888"/>
            <a:ext cx="1820862" cy="400050"/>
          </a:xfrm>
          <a:prstGeom prst="rect">
            <a:avLst/>
          </a:prstGeom>
          <a:solidFill>
            <a:srgbClr val="FDE0B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P(GPS’)= 0.6</a:t>
            </a:r>
          </a:p>
        </p:txBody>
      </p:sp>
      <p:sp>
        <p:nvSpPr>
          <p:cNvPr id="13340" name="Text Box 21"/>
          <p:cNvSpPr txBox="1">
            <a:spLocks noChangeArrowheads="1"/>
          </p:cNvSpPr>
          <p:nvPr/>
        </p:nvSpPr>
        <p:spPr bwMode="auto">
          <a:xfrm>
            <a:off x="5867400" y="1828800"/>
            <a:ext cx="2819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P(GPS and AC) = 0.35</a:t>
            </a:r>
          </a:p>
        </p:txBody>
      </p:sp>
      <p:sp>
        <p:nvSpPr>
          <p:cNvPr id="13341" name="Text Box 22"/>
          <p:cNvSpPr txBox="1">
            <a:spLocks noChangeArrowheads="1"/>
          </p:cNvSpPr>
          <p:nvPr/>
        </p:nvSpPr>
        <p:spPr bwMode="auto">
          <a:xfrm>
            <a:off x="5867400" y="2895600"/>
            <a:ext cx="2819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P(GPS and AC’) = 0.05</a:t>
            </a:r>
          </a:p>
        </p:txBody>
      </p:sp>
      <p:sp>
        <p:nvSpPr>
          <p:cNvPr id="13342" name="Text Box 23"/>
          <p:cNvSpPr txBox="1">
            <a:spLocks noChangeArrowheads="1"/>
          </p:cNvSpPr>
          <p:nvPr/>
        </p:nvSpPr>
        <p:spPr bwMode="auto">
          <a:xfrm>
            <a:off x="5867400" y="5851525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P(GPS</a:t>
            </a:r>
            <a:r>
              <a:rPr lang="en-US"/>
              <a:t>’</a:t>
            </a:r>
            <a:r>
              <a:rPr lang="en-US" sz="2000"/>
              <a:t> and AC</a:t>
            </a:r>
            <a:r>
              <a:rPr lang="en-US"/>
              <a:t>’</a:t>
            </a:r>
            <a:r>
              <a:rPr lang="en-US" sz="2000"/>
              <a:t>) = 0.05</a:t>
            </a:r>
          </a:p>
        </p:txBody>
      </p:sp>
      <p:sp>
        <p:nvSpPr>
          <p:cNvPr id="13343" name="Text Box 24"/>
          <p:cNvSpPr txBox="1">
            <a:spLocks noChangeArrowheads="1"/>
          </p:cNvSpPr>
          <p:nvPr/>
        </p:nvSpPr>
        <p:spPr bwMode="auto">
          <a:xfrm>
            <a:off x="5867400" y="4708525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P(GPS</a:t>
            </a:r>
            <a:r>
              <a:rPr lang="en-US"/>
              <a:t>’</a:t>
            </a:r>
            <a:r>
              <a:rPr lang="en-US" sz="2000"/>
              <a:t> and AC) = 0.55</a:t>
            </a:r>
          </a:p>
        </p:txBody>
      </p:sp>
      <p:graphicFrame>
        <p:nvGraphicFramePr>
          <p:cNvPr id="13314" name="Object 25"/>
          <p:cNvGraphicFramePr>
            <a:graphicFrameLocks noChangeAspect="1"/>
          </p:cNvGraphicFramePr>
          <p:nvPr/>
        </p:nvGraphicFramePr>
        <p:xfrm>
          <a:off x="5272088" y="3048000"/>
          <a:ext cx="493712" cy="762000"/>
        </p:xfrm>
        <a:graphic>
          <a:graphicData uri="http://schemas.openxmlformats.org/presentationml/2006/ole">
            <p:oleObj spid="_x0000_s13314" name="Equation" r:id="rId3" imgW="253800" imgH="393480" progId="Equation.3">
              <p:embed/>
            </p:oleObj>
          </a:graphicData>
        </a:graphic>
      </p:graphicFrame>
      <p:graphicFrame>
        <p:nvGraphicFramePr>
          <p:cNvPr id="13315" name="Object 26"/>
          <p:cNvGraphicFramePr>
            <a:graphicFrameLocks noChangeAspect="1"/>
          </p:cNvGraphicFramePr>
          <p:nvPr/>
        </p:nvGraphicFramePr>
        <p:xfrm>
          <a:off x="5273675" y="4267200"/>
          <a:ext cx="492125" cy="762000"/>
        </p:xfrm>
        <a:graphic>
          <a:graphicData uri="http://schemas.openxmlformats.org/presentationml/2006/ole">
            <p:oleObj spid="_x0000_s13315" name="Equation" r:id="rId4" imgW="253800" imgH="393480" progId="Equation.3">
              <p:embed/>
            </p:oleObj>
          </a:graphicData>
        </a:graphic>
      </p:graphicFrame>
      <p:graphicFrame>
        <p:nvGraphicFramePr>
          <p:cNvPr id="13316" name="Object 27"/>
          <p:cNvGraphicFramePr>
            <a:graphicFrameLocks noChangeAspect="1"/>
          </p:cNvGraphicFramePr>
          <p:nvPr/>
        </p:nvGraphicFramePr>
        <p:xfrm>
          <a:off x="5283200" y="5943600"/>
          <a:ext cx="493713" cy="762000"/>
        </p:xfrm>
        <a:graphic>
          <a:graphicData uri="http://schemas.openxmlformats.org/presentationml/2006/ole">
            <p:oleObj spid="_x0000_s13316" name="Equation" r:id="rId5" imgW="253800" imgH="393480" progId="Equation.3">
              <p:embed/>
            </p:oleObj>
          </a:graphicData>
        </a:graphic>
      </p:graphicFrame>
      <p:sp>
        <p:nvSpPr>
          <p:cNvPr id="13344" name="Text Box 28"/>
          <p:cNvSpPr txBox="1">
            <a:spLocks noChangeArrowheads="1"/>
          </p:cNvSpPr>
          <p:nvPr/>
        </p:nvSpPr>
        <p:spPr bwMode="auto">
          <a:xfrm>
            <a:off x="152400" y="3733800"/>
            <a:ext cx="7620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/>
              <a:t>All</a:t>
            </a:r>
          </a:p>
          <a:p>
            <a:pPr>
              <a:spcBef>
                <a:spcPct val="10000"/>
              </a:spcBef>
            </a:pPr>
            <a:r>
              <a:rPr lang="en-US" sz="2000" b="1"/>
              <a:t>Cars</a:t>
            </a:r>
          </a:p>
        </p:txBody>
      </p:sp>
      <p:graphicFrame>
        <p:nvGraphicFramePr>
          <p:cNvPr id="13317" name="Object 29"/>
          <p:cNvGraphicFramePr>
            <a:graphicFrameLocks noChangeAspect="1"/>
          </p:cNvGraphicFramePr>
          <p:nvPr/>
        </p:nvGraphicFramePr>
        <p:xfrm>
          <a:off x="5283200" y="1371600"/>
          <a:ext cx="493713" cy="762000"/>
        </p:xfrm>
        <a:graphic>
          <a:graphicData uri="http://schemas.openxmlformats.org/presentationml/2006/ole">
            <p:oleObj spid="_x0000_s13317" name="Equation" r:id="rId6" imgW="253800" imgH="393480" progId="Equation.3">
              <p:embed/>
            </p:oleObj>
          </a:graphicData>
        </a:graphic>
      </p:graphicFrame>
      <p:sp>
        <p:nvSpPr>
          <p:cNvPr id="13345" name="Text Box 30"/>
          <p:cNvSpPr txBox="1">
            <a:spLocks noChangeArrowheads="1"/>
          </p:cNvSpPr>
          <p:nvPr/>
        </p:nvSpPr>
        <p:spPr bwMode="auto">
          <a:xfrm>
            <a:off x="228600" y="1905000"/>
            <a:ext cx="1981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Given GPS or no GPS:</a:t>
            </a:r>
          </a:p>
        </p:txBody>
      </p:sp>
      <p:sp>
        <p:nvSpPr>
          <p:cNvPr id="13346" name="Text Box 31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13347" name="Text Box 32"/>
          <p:cNvSpPr txBox="1">
            <a:spLocks noChangeArrowheads="1"/>
          </p:cNvSpPr>
          <p:nvPr/>
        </p:nvSpPr>
        <p:spPr bwMode="auto">
          <a:xfrm>
            <a:off x="2667000" y="3733800"/>
            <a:ext cx="1150938" cy="517525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Conditional</a:t>
            </a:r>
          </a:p>
          <a:p>
            <a:r>
              <a:rPr lang="en-US" sz="1400"/>
              <a:t>Probabilities</a:t>
            </a:r>
          </a:p>
        </p:txBody>
      </p:sp>
      <p:sp>
        <p:nvSpPr>
          <p:cNvPr id="13348" name="Line 33"/>
          <p:cNvSpPr>
            <a:spLocks noChangeShapeType="1"/>
          </p:cNvSpPr>
          <p:nvPr/>
        </p:nvSpPr>
        <p:spPr bwMode="auto">
          <a:xfrm>
            <a:off x="4038600" y="6248400"/>
            <a:ext cx="1219200" cy="3048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49" name="Line 34"/>
          <p:cNvSpPr>
            <a:spLocks noChangeShapeType="1"/>
          </p:cNvSpPr>
          <p:nvPr/>
        </p:nvSpPr>
        <p:spPr bwMode="auto">
          <a:xfrm>
            <a:off x="3810000" y="4114800"/>
            <a:ext cx="1447800" cy="457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50" name="Line 35"/>
          <p:cNvSpPr>
            <a:spLocks noChangeShapeType="1"/>
          </p:cNvSpPr>
          <p:nvPr/>
        </p:nvSpPr>
        <p:spPr bwMode="auto">
          <a:xfrm flipV="1">
            <a:off x="3810000" y="3581400"/>
            <a:ext cx="1447800" cy="3810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51" name="Line 36"/>
          <p:cNvSpPr>
            <a:spLocks noChangeShapeType="1"/>
          </p:cNvSpPr>
          <p:nvPr/>
        </p:nvSpPr>
        <p:spPr bwMode="auto">
          <a:xfrm flipV="1">
            <a:off x="3581400" y="1752600"/>
            <a:ext cx="457200" cy="1981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52" name="Line 37"/>
          <p:cNvSpPr>
            <a:spLocks noChangeShapeType="1"/>
          </p:cNvSpPr>
          <p:nvPr/>
        </p:nvSpPr>
        <p:spPr bwMode="auto">
          <a:xfrm flipV="1">
            <a:off x="4038600" y="1676400"/>
            <a:ext cx="1219200" cy="76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3353" name="Line 38"/>
          <p:cNvSpPr>
            <a:spLocks noChangeShapeType="1"/>
          </p:cNvSpPr>
          <p:nvPr/>
        </p:nvSpPr>
        <p:spPr bwMode="auto">
          <a:xfrm>
            <a:off x="3581400" y="4267200"/>
            <a:ext cx="457200" cy="1981200"/>
          </a:xfrm>
          <a:prstGeom prst="line">
            <a:avLst/>
          </a:prstGeom>
          <a:noFill/>
          <a:ln w="19050">
            <a:solidFill>
              <a:srgbClr val="FDB6B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16850C2B-B449-4C6E-ABCC-4B5BD53A87C7}" type="slidenum">
              <a:rPr lang="en-US" smtClean="0">
                <a:latin typeface="Arial" charset="0"/>
              </a:rPr>
              <a:pPr/>
              <a:t>27</a:t>
            </a:fld>
            <a:endParaRPr lang="en-US" smtClean="0">
              <a:latin typeface="Arial" charset="0"/>
            </a:endParaRPr>
          </a:p>
        </p:txBody>
      </p:sp>
      <p:sp>
        <p:nvSpPr>
          <p:cNvPr id="1434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434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BCBBA72F-2BF2-43DD-823C-7C5D5D5461AB}" type="slidenum">
              <a:rPr lang="en-US" sz="1000"/>
              <a:pPr algn="r" defTabSz="852488"/>
              <a:t>27</a:t>
            </a:fld>
            <a:endParaRPr lang="en-US" sz="1000"/>
          </a:p>
        </p:txBody>
      </p:sp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Independence</a:t>
            </a:r>
          </a:p>
        </p:txBody>
      </p:sp>
      <p:sp>
        <p:nvSpPr>
          <p:cNvPr id="143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7696200" cy="4800600"/>
          </a:xfrm>
        </p:spPr>
        <p:txBody>
          <a:bodyPr/>
          <a:lstStyle/>
          <a:p>
            <a:pPr eaLnBrk="1" hangingPunct="1"/>
            <a:r>
              <a:rPr lang="en-US" sz="3200" smtClean="0"/>
              <a:t>Two events are </a:t>
            </a:r>
            <a:r>
              <a:rPr lang="en-US" sz="3200" smtClean="0">
                <a:solidFill>
                  <a:schemeClr val="folHlink"/>
                </a:solidFill>
              </a:rPr>
              <a:t>independent</a:t>
            </a:r>
            <a:r>
              <a:rPr lang="en-US" sz="3200" smtClean="0"/>
              <a:t> if and only if:</a:t>
            </a:r>
          </a:p>
          <a:p>
            <a:pPr eaLnBrk="1" hangingPunct="1"/>
            <a:endParaRPr lang="en-US" sz="3200" smtClean="0"/>
          </a:p>
          <a:p>
            <a:pPr eaLnBrk="1" hangingPunct="1"/>
            <a:endParaRPr lang="en-US" sz="3200" smtClean="0"/>
          </a:p>
          <a:p>
            <a:pPr eaLnBrk="1" hangingPunct="1"/>
            <a:endParaRPr lang="en-US" sz="3200" smtClean="0"/>
          </a:p>
          <a:p>
            <a:pPr eaLnBrk="1" hangingPunct="1"/>
            <a:r>
              <a:rPr lang="en-US" sz="2400" smtClean="0"/>
              <a:t>Events A and B are independent when the probability of one event is not affected by the fact that the other event has occurred</a:t>
            </a: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2133600" y="2895600"/>
          <a:ext cx="4495800" cy="919163"/>
        </p:xfrm>
        <a:graphic>
          <a:graphicData uri="http://schemas.openxmlformats.org/presentationml/2006/ole">
            <p:oleObj spid="_x0000_s14338" name="Equation" r:id="rId3" imgW="99036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7C141028-11B3-40AF-A83E-EB30B9E3AB3A}" type="slidenum">
              <a:rPr lang="en-US" smtClean="0">
                <a:latin typeface="Arial" charset="0"/>
              </a:rPr>
              <a:pPr/>
              <a:t>28</a:t>
            </a:fld>
            <a:endParaRPr lang="en-US" smtClean="0">
              <a:latin typeface="Arial" charset="0"/>
            </a:endParaRPr>
          </a:p>
        </p:txBody>
      </p:sp>
      <p:sp>
        <p:nvSpPr>
          <p:cNvPr id="1536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536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7ECD3EAE-4094-45A5-AD67-9F6915A6FF43}" type="slidenum">
              <a:rPr lang="en-US" sz="1000"/>
              <a:pPr algn="r" defTabSz="852488"/>
              <a:t>28</a:t>
            </a:fld>
            <a:endParaRPr lang="en-US" sz="1000"/>
          </a:p>
        </p:txBody>
      </p:sp>
      <p:sp>
        <p:nvSpPr>
          <p:cNvPr id="15368" name="Rectangle 2"/>
          <p:cNvSpPr>
            <a:spLocks noChangeArrowheads="1"/>
          </p:cNvSpPr>
          <p:nvPr/>
        </p:nvSpPr>
        <p:spPr bwMode="auto">
          <a:xfrm>
            <a:off x="533400" y="4114800"/>
            <a:ext cx="8305800" cy="1828800"/>
          </a:xfrm>
          <a:prstGeom prst="rect">
            <a:avLst/>
          </a:prstGeom>
          <a:solidFill>
            <a:srgbClr val="CBDDF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536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Multiplication Rules</a:t>
            </a:r>
          </a:p>
        </p:txBody>
      </p:sp>
      <p:sp>
        <p:nvSpPr>
          <p:cNvPr id="1537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38200" y="2081213"/>
            <a:ext cx="7696200" cy="587375"/>
          </a:xfrm>
        </p:spPr>
        <p:txBody>
          <a:bodyPr/>
          <a:lstStyle/>
          <a:p>
            <a:pPr eaLnBrk="1" hangingPunct="1"/>
            <a:r>
              <a:rPr lang="en-US" smtClean="0"/>
              <a:t>Multiplication rule for two events A and B:</a:t>
            </a:r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1925638" y="2730500"/>
          <a:ext cx="5702300" cy="676275"/>
        </p:xfrm>
        <a:graphic>
          <a:graphicData uri="http://schemas.openxmlformats.org/presentationml/2006/ole">
            <p:oleObj spid="_x0000_s15362" name="Equation" r:id="rId3" imgW="1714320" imgH="203040" progId="Equation.3">
              <p:embed/>
            </p:oleObj>
          </a:graphicData>
        </a:graphic>
      </p:graphicFrame>
      <p:graphicFrame>
        <p:nvGraphicFramePr>
          <p:cNvPr id="15363" name="Object 6"/>
          <p:cNvGraphicFramePr>
            <a:graphicFrameLocks noChangeAspect="1"/>
          </p:cNvGraphicFramePr>
          <p:nvPr/>
        </p:nvGraphicFramePr>
        <p:xfrm>
          <a:off x="6034088" y="4276725"/>
          <a:ext cx="2181225" cy="447675"/>
        </p:xfrm>
        <a:graphic>
          <a:graphicData uri="http://schemas.openxmlformats.org/presentationml/2006/ole">
            <p:oleObj spid="_x0000_s15363" name="Equation" r:id="rId4" imgW="990360" imgH="203040" progId="Equation.3">
              <p:embed/>
            </p:oleObj>
          </a:graphicData>
        </a:graphic>
      </p:graphicFrame>
      <p:sp>
        <p:nvSpPr>
          <p:cNvPr id="15371" name="Rectangle 7"/>
          <p:cNvSpPr>
            <a:spLocks noChangeArrowheads="1"/>
          </p:cNvSpPr>
          <p:nvPr/>
        </p:nvSpPr>
        <p:spPr bwMode="auto">
          <a:xfrm>
            <a:off x="609600" y="4191000"/>
            <a:ext cx="769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b="1"/>
              <a:t>Note: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If A and B are independent</a:t>
            </a:r>
            <a:r>
              <a:rPr lang="en-US"/>
              <a:t>, then</a:t>
            </a:r>
          </a:p>
        </p:txBody>
      </p:sp>
      <p:sp>
        <p:nvSpPr>
          <p:cNvPr id="15372" name="Rectangle 8"/>
          <p:cNvSpPr>
            <a:spLocks noChangeArrowheads="1"/>
          </p:cNvSpPr>
          <p:nvPr/>
        </p:nvSpPr>
        <p:spPr bwMode="auto">
          <a:xfrm>
            <a:off x="685800" y="4572000"/>
            <a:ext cx="769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/>
              <a:t>and the multiplication rule simplifies to</a:t>
            </a:r>
          </a:p>
        </p:txBody>
      </p:sp>
      <p:graphicFrame>
        <p:nvGraphicFramePr>
          <p:cNvPr id="15364" name="Object 9"/>
          <p:cNvGraphicFramePr>
            <a:graphicFrameLocks noChangeAspect="1"/>
          </p:cNvGraphicFramePr>
          <p:nvPr/>
        </p:nvGraphicFramePr>
        <p:xfrm>
          <a:off x="2562225" y="5237163"/>
          <a:ext cx="4476750" cy="593725"/>
        </p:xfrm>
        <a:graphic>
          <a:graphicData uri="http://schemas.openxmlformats.org/presentationml/2006/ole">
            <p:oleObj spid="_x0000_s15364" name="Equation" r:id="rId5" imgW="15364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038C32F4-2F29-4C6E-906D-77D5073F02A4}" type="slidenum">
              <a:rPr lang="en-US" smtClean="0">
                <a:latin typeface="Arial" charset="0"/>
              </a:rPr>
              <a:pPr/>
              <a:t>29</a:t>
            </a:fld>
            <a:endParaRPr lang="en-US" smtClean="0">
              <a:latin typeface="Arial" charset="0"/>
            </a:endParaRPr>
          </a:p>
        </p:txBody>
      </p:sp>
      <p:sp>
        <p:nvSpPr>
          <p:cNvPr id="1638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638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69F6FBAF-182F-4C46-84DA-1A29A46ADDFC}" type="slidenum">
              <a:rPr lang="en-US" sz="1000"/>
              <a:pPr algn="r" defTabSz="852488"/>
              <a:t>29</a:t>
            </a:fld>
            <a:endParaRPr lang="en-US" sz="1000"/>
          </a:p>
        </p:txBody>
      </p:sp>
      <p:sp>
        <p:nvSpPr>
          <p:cNvPr id="163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Marginal Probability</a:t>
            </a:r>
          </a:p>
        </p:txBody>
      </p:sp>
      <p:sp>
        <p:nvSpPr>
          <p:cNvPr id="163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Marginal probability for event A:</a:t>
            </a:r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Where B</a:t>
            </a:r>
            <a:r>
              <a:rPr lang="en-US" baseline="-25000" smtClean="0"/>
              <a:t>1</a:t>
            </a:r>
            <a:r>
              <a:rPr lang="en-US" smtClean="0"/>
              <a:t>, B</a:t>
            </a:r>
            <a:r>
              <a:rPr lang="en-US" baseline="-25000" smtClean="0"/>
              <a:t>2</a:t>
            </a:r>
            <a:r>
              <a:rPr lang="en-US" smtClean="0"/>
              <a:t>, …, B</a:t>
            </a:r>
            <a:r>
              <a:rPr lang="en-US" baseline="-25000" smtClean="0"/>
              <a:t>k</a:t>
            </a:r>
            <a:r>
              <a:rPr lang="en-US" smtClean="0"/>
              <a:t> are k mutually exclusive and collectively exhaustive events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609600" y="2895600"/>
          <a:ext cx="8077200" cy="450850"/>
        </p:xfrm>
        <a:graphic>
          <a:graphicData uri="http://schemas.openxmlformats.org/presentationml/2006/ole">
            <p:oleObj spid="_x0000_s16386" name="Equation" r:id="rId3" imgW="3860640" imgH="215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1BD636BA-F5E2-4F67-A6D9-5257C8D0876E}" type="slidenum">
              <a:rPr lang="en-US" smtClean="0">
                <a:latin typeface="Arial" charset="0"/>
              </a:rPr>
              <a:pPr/>
              <a:t>30</a:t>
            </a:fld>
            <a:endParaRPr lang="en-US" smtClean="0">
              <a:latin typeface="Arial" charset="0"/>
            </a:endParaRPr>
          </a:p>
        </p:txBody>
      </p:sp>
      <p:sp>
        <p:nvSpPr>
          <p:cNvPr id="10137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1379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60167839-BD0B-46C4-BB9C-0E6FAFDD6380}" type="slidenum">
              <a:rPr lang="en-US" sz="1000"/>
              <a:pPr algn="r" defTabSz="852488"/>
              <a:t>30</a:t>
            </a:fld>
            <a:endParaRPr lang="en-US" sz="1000"/>
          </a:p>
        </p:txBody>
      </p:sp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Bayes’ Theorem</a:t>
            </a:r>
          </a:p>
        </p:txBody>
      </p:sp>
      <p:sp>
        <p:nvSpPr>
          <p:cNvPr id="1013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924800" cy="4343400"/>
          </a:xfrm>
        </p:spPr>
        <p:txBody>
          <a:bodyPr/>
          <a:lstStyle/>
          <a:p>
            <a:pPr eaLnBrk="1" hangingPunct="1"/>
            <a:r>
              <a:rPr lang="en-US" smtClean="0"/>
              <a:t>Bayes’ Theorem is used to revise previously calculated probabilities based on new information.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Developed by Thomas Bayes in the 18</a:t>
            </a:r>
            <a:r>
              <a:rPr lang="en-US" baseline="30000" smtClean="0"/>
              <a:t>th</a:t>
            </a:r>
            <a:r>
              <a:rPr lang="en-US" smtClean="0"/>
              <a:t> Century.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It is an extension of conditional probability.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68172F53-6D18-4AC6-A4D5-155CA0C5E05E}" type="slidenum">
              <a:rPr lang="en-US" smtClean="0">
                <a:latin typeface="Arial" charset="0"/>
              </a:rPr>
              <a:pPr/>
              <a:t>31</a:t>
            </a:fld>
            <a:endParaRPr lang="en-US" smtClean="0">
              <a:latin typeface="Arial" charset="0"/>
            </a:endParaRPr>
          </a:p>
        </p:txBody>
      </p:sp>
      <p:sp>
        <p:nvSpPr>
          <p:cNvPr id="17412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741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6C27B0B7-7DEE-4E82-B6C2-55F276892383}" type="slidenum">
              <a:rPr lang="en-US" sz="1000"/>
              <a:pPr algn="r" defTabSz="852488"/>
              <a:t>31</a:t>
            </a:fld>
            <a:endParaRPr lang="en-US" sz="1000"/>
          </a:p>
        </p:txBody>
      </p:sp>
      <p:sp>
        <p:nvSpPr>
          <p:cNvPr id="174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Bayes’ Theorem</a:t>
            </a:r>
          </a:p>
        </p:txBody>
      </p:sp>
      <p:sp>
        <p:nvSpPr>
          <p:cNvPr id="174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886200"/>
            <a:ext cx="8305800" cy="2362200"/>
          </a:xfrm>
        </p:spPr>
        <p:txBody>
          <a:bodyPr/>
          <a:lstStyle/>
          <a:p>
            <a:pPr eaLnBrk="1" hangingPunct="1"/>
            <a:r>
              <a:rPr lang="en-US" sz="2400" smtClean="0"/>
              <a:t>where:</a:t>
            </a:r>
            <a:endParaRPr lang="en-US" sz="2400" i="1" baseline="-250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		B</a:t>
            </a:r>
            <a:r>
              <a:rPr lang="en-US" sz="2400" baseline="-25000" smtClean="0"/>
              <a:t>i</a:t>
            </a:r>
            <a:r>
              <a:rPr lang="en-US" sz="2400" smtClean="0"/>
              <a:t> = i</a:t>
            </a:r>
            <a:r>
              <a:rPr lang="en-US" sz="2400" baseline="30000" smtClean="0"/>
              <a:t>th</a:t>
            </a:r>
            <a:r>
              <a:rPr lang="en-US" sz="2400" smtClean="0"/>
              <a:t> event of k mutually exclusive and collectively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/>
              <a:t>			exhaustive events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i="1" smtClean="0"/>
              <a:t>		</a:t>
            </a:r>
            <a:r>
              <a:rPr lang="en-US" sz="2400" smtClean="0"/>
              <a:t>A = new event that might impact P(B</a:t>
            </a:r>
            <a:r>
              <a:rPr lang="en-US" sz="2400" baseline="-25000" smtClean="0"/>
              <a:t>i</a:t>
            </a:r>
            <a:r>
              <a:rPr lang="en-US" sz="2400" smtClean="0"/>
              <a:t>)</a:t>
            </a:r>
            <a:endParaRPr lang="en-US" sz="2400" baseline="-25000" smtClean="0"/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406400" y="2133600"/>
          <a:ext cx="8429625" cy="952500"/>
        </p:xfrm>
        <a:graphic>
          <a:graphicData uri="http://schemas.openxmlformats.org/presentationml/2006/ole">
            <p:oleObj spid="_x0000_s17410" name="Equation" r:id="rId3" imgW="414000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1F963A68-6BCA-4C76-98B7-53E31414243C}" type="slidenum">
              <a:rPr lang="en-US" smtClean="0">
                <a:latin typeface="Arial" charset="0"/>
              </a:rPr>
              <a:pPr/>
              <a:t>32</a:t>
            </a:fld>
            <a:endParaRPr lang="en-US" smtClean="0">
              <a:latin typeface="Arial" charset="0"/>
            </a:endParaRPr>
          </a:p>
        </p:txBody>
      </p:sp>
      <p:sp>
        <p:nvSpPr>
          <p:cNvPr id="10445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44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F5D7281C-D722-4620-B11E-EE6197E9F37B}" type="slidenum">
              <a:rPr lang="en-US" sz="1000"/>
              <a:pPr algn="r" defTabSz="852488"/>
              <a:t>32</a:t>
            </a:fld>
            <a:endParaRPr lang="en-US" sz="1000"/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Bayes’ Theorem Example</a:t>
            </a:r>
          </a:p>
        </p:txBody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924800" cy="44958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A drilling company has estimated a 40% chance of striking oil for their new well. 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A detailed test has been scheduled for more information. Historically, 60% of successful wells have had detailed tests, and 20% of unsuccessful wells have had detailed tests.  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Given that this well has been scheduled for a detailed test, what is the probability </a:t>
            </a:r>
          </a:p>
          <a:p>
            <a:pPr eaLnBrk="1" hangingPunct="1">
              <a:lnSpc>
                <a:spcPct val="3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mtClean="0"/>
              <a:t>    that the well will be successful?</a:t>
            </a:r>
          </a:p>
        </p:txBody>
      </p:sp>
      <p:pic>
        <p:nvPicPr>
          <p:cNvPr id="104454" name="Picture 4" descr="j028322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5486400"/>
            <a:ext cx="13716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94793CF6-A62B-4A1A-87C1-4703152E038A}" type="slidenum">
              <a:rPr lang="en-US" smtClean="0">
                <a:latin typeface="Arial" charset="0"/>
              </a:rPr>
              <a:pPr/>
              <a:t>33</a:t>
            </a:fld>
            <a:endParaRPr lang="en-US" smtClean="0">
              <a:latin typeface="Arial" charset="0"/>
            </a:endParaRPr>
          </a:p>
        </p:txBody>
      </p:sp>
      <p:sp>
        <p:nvSpPr>
          <p:cNvPr id="10547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54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534499EE-4FDA-473E-87E0-516F543CD1FE}" type="slidenum">
              <a:rPr lang="en-US" sz="1000"/>
              <a:pPr algn="r" defTabSz="852488"/>
              <a:t>33</a:t>
            </a:fld>
            <a:endParaRPr lang="en-US" sz="1000"/>
          </a:p>
        </p:txBody>
      </p:sp>
      <p:sp>
        <p:nvSpPr>
          <p:cNvPr id="1054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1912938"/>
            <a:ext cx="7620000" cy="4295775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mtClean="0"/>
              <a:t>Let  </a:t>
            </a:r>
            <a:r>
              <a:rPr lang="en-US" sz="1000" smtClean="0"/>
              <a:t> </a:t>
            </a:r>
            <a:r>
              <a:rPr lang="en-US" smtClean="0">
                <a:solidFill>
                  <a:schemeClr val="folHlink"/>
                </a:solidFill>
              </a:rPr>
              <a:t>S = successful well</a:t>
            </a:r>
            <a:r>
              <a:rPr lang="en-US" smtClean="0"/>
              <a:t> 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mtClean="0">
                <a:solidFill>
                  <a:schemeClr val="folHlink"/>
                </a:solidFill>
              </a:rPr>
              <a:t>		  U = unsuccessful well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P(S) = 0.4 , P(U) = 0.6    </a:t>
            </a:r>
            <a:r>
              <a:rPr lang="en-US" sz="2400" smtClean="0"/>
              <a:t>(prior probabilities)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Define the detailed test event as  </a:t>
            </a:r>
            <a:r>
              <a:rPr lang="en-US" smtClean="0">
                <a:solidFill>
                  <a:schemeClr val="folHlink"/>
                </a:solidFill>
              </a:rPr>
              <a:t>D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/>
              <a:t>Conditional probabilities: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400" smtClean="0"/>
              <a:t>	</a:t>
            </a:r>
            <a:r>
              <a:rPr lang="en-US" sz="2800" smtClean="0"/>
              <a:t>P(D|S) = 0.6          P(D|U) = 0.2</a:t>
            </a:r>
          </a:p>
          <a:p>
            <a:pPr eaLnBrk="1" hangingPunct="1">
              <a:spcBef>
                <a:spcPct val="40000"/>
              </a:spcBef>
            </a:pPr>
            <a:r>
              <a:rPr lang="en-US" smtClean="0">
                <a:solidFill>
                  <a:schemeClr val="hlink"/>
                </a:solidFill>
              </a:rPr>
              <a:t>Goal is to find   P(S|D)</a:t>
            </a:r>
          </a:p>
        </p:txBody>
      </p:sp>
      <p:sp>
        <p:nvSpPr>
          <p:cNvPr id="105477" name="Rectangle 3"/>
          <p:cNvSpPr>
            <a:spLocks noChangeArrowheads="1"/>
          </p:cNvSpPr>
          <p:nvPr/>
        </p:nvSpPr>
        <p:spPr bwMode="auto">
          <a:xfrm>
            <a:off x="1143000" y="381000"/>
            <a:ext cx="77930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Bayes’ Theorem Example</a:t>
            </a:r>
          </a:p>
        </p:txBody>
      </p:sp>
      <p:sp>
        <p:nvSpPr>
          <p:cNvPr id="105478" name="Text Box 34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pic>
        <p:nvPicPr>
          <p:cNvPr id="105479" name="Picture 35" descr="j028322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0" y="1905000"/>
            <a:ext cx="1295400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D7FAD530-E7DA-4D35-B29E-B066CEF19425}" type="slidenum">
              <a:rPr lang="en-US" smtClean="0">
                <a:latin typeface="Arial" charset="0"/>
              </a:rPr>
              <a:pPr/>
              <a:t>34</a:t>
            </a:fld>
            <a:endParaRPr lang="en-US" smtClean="0">
              <a:latin typeface="Arial" charset="0"/>
            </a:endParaRPr>
          </a:p>
        </p:txBody>
      </p:sp>
      <p:sp>
        <p:nvSpPr>
          <p:cNvPr id="1843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843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1BBCAB14-F3A6-4D2F-813A-EEBA1DC65DFD}" type="slidenum">
              <a:rPr lang="en-US" sz="1000"/>
              <a:pPr algn="r" defTabSz="852488"/>
              <a:t>34</a:t>
            </a:fld>
            <a:endParaRPr lang="en-US" sz="1000"/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1981200" y="2286000"/>
          <a:ext cx="5561013" cy="2968625"/>
        </p:xfrm>
        <a:graphic>
          <a:graphicData uri="http://schemas.openxmlformats.org/presentationml/2006/ole">
            <p:oleObj spid="_x0000_s18434" name="Equation" r:id="rId3" imgW="2501640" imgH="1346040" progId="Equation.3">
              <p:embed/>
            </p:oleObj>
          </a:graphicData>
        </a:graphic>
      </p:graphicFrame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1143000" y="381000"/>
            <a:ext cx="77930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Bayes’ Theorem Example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914400" y="1744663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Apply Bayes’ Theorem: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838200" y="5638800"/>
            <a:ext cx="80772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2400" smtClean="0"/>
              <a:t>So the revised probability of success, given that this well has been scheduled for a detailed test, is 0.667</a:t>
            </a:r>
          </a:p>
        </p:txBody>
      </p:sp>
      <p:pic>
        <p:nvPicPr>
          <p:cNvPr id="18442" name="Picture 10" descr="j0283227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96200" y="1905000"/>
            <a:ext cx="121920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5334000" y="4419600"/>
            <a:ext cx="1143000" cy="762000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E5A1CE70-B2EA-44D5-90AA-877DD7350002}" type="slidenum">
              <a:rPr lang="en-US" smtClean="0">
                <a:latin typeface="Arial" charset="0"/>
              </a:rPr>
              <a:pPr/>
              <a:t>35</a:t>
            </a:fld>
            <a:endParaRPr lang="en-US" smtClean="0">
              <a:latin typeface="Arial" charset="0"/>
            </a:endParaRPr>
          </a:p>
        </p:txBody>
      </p:sp>
      <p:sp>
        <p:nvSpPr>
          <p:cNvPr id="108546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854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B061BE04-8F01-4997-A6E6-9413100652D5}" type="slidenum">
              <a:rPr lang="en-US" sz="1000"/>
              <a:pPr algn="r" defTabSz="852488"/>
              <a:t>35</a:t>
            </a:fld>
            <a:endParaRPr lang="en-US" sz="1000"/>
          </a:p>
        </p:txBody>
      </p:sp>
      <p:sp>
        <p:nvSpPr>
          <p:cNvPr id="1085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848600" cy="1846263"/>
          </a:xfrm>
        </p:spPr>
        <p:txBody>
          <a:bodyPr/>
          <a:lstStyle/>
          <a:p>
            <a:pPr eaLnBrk="1" hangingPunct="1"/>
            <a:r>
              <a:rPr lang="en-US" smtClean="0"/>
              <a:t>Given the detailed test, the revised probability of a successful well has risen to 0.667 from the original estimate of 0.4</a:t>
            </a:r>
          </a:p>
        </p:txBody>
      </p:sp>
      <p:sp>
        <p:nvSpPr>
          <p:cNvPr id="108549" name="Rectangle 3"/>
          <p:cNvSpPr>
            <a:spLocks noChangeArrowheads="1"/>
          </p:cNvSpPr>
          <p:nvPr/>
        </p:nvSpPr>
        <p:spPr bwMode="auto">
          <a:xfrm>
            <a:off x="1143000" y="381000"/>
            <a:ext cx="77930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r>
              <a:rPr lang="en-US" sz="4000">
                <a:solidFill>
                  <a:schemeClr val="tx2"/>
                </a:solidFill>
              </a:rPr>
              <a:t>Bayes’ Theorem Example</a:t>
            </a:r>
          </a:p>
        </p:txBody>
      </p:sp>
      <p:graphicFrame>
        <p:nvGraphicFramePr>
          <p:cNvPr id="259127" name="Group 55"/>
          <p:cNvGraphicFramePr>
            <a:graphicFrameLocks noGrp="1"/>
          </p:cNvGraphicFramePr>
          <p:nvPr/>
        </p:nvGraphicFramePr>
        <p:xfrm>
          <a:off x="152400" y="4038600"/>
          <a:ext cx="8686800" cy="1663700"/>
        </p:xfrm>
        <a:graphic>
          <a:graphicData uri="http://schemas.openxmlformats.org/drawingml/2006/table">
            <a:tbl>
              <a:tblPr/>
              <a:tblGrid>
                <a:gridCol w="1752600"/>
                <a:gridCol w="1143000"/>
                <a:gridCol w="1524000"/>
                <a:gridCol w="1955800"/>
                <a:gridCol w="2311400"/>
              </a:tblGrid>
              <a:tr h="53657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Event</a:t>
                      </a: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Prior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Prob.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Conditional Prob.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Joint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Prob.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Revised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Prob.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 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(successful)</a:t>
                      </a: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(0.4)(0.6) = 0.24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0.24/0.36 = 0.667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 </a:t>
                      </a:r>
                      <a:r>
                        <a:rPr kumimoji="0" lang="en-US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(unsuccessful)</a:t>
                      </a: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(0.6)(0.2) = 0.12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0.12/0.36 = 0.333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0BD"/>
                    </a:solidFill>
                  </a:tcPr>
                </a:tc>
              </a:tr>
            </a:tbl>
          </a:graphicData>
        </a:graphic>
      </p:graphicFrame>
      <p:sp>
        <p:nvSpPr>
          <p:cNvPr id="108576" name="Text Box 30"/>
          <p:cNvSpPr txBox="1">
            <a:spLocks noChangeArrowheads="1"/>
          </p:cNvSpPr>
          <p:nvPr/>
        </p:nvSpPr>
        <p:spPr bwMode="auto">
          <a:xfrm>
            <a:off x="5029200" y="5791200"/>
            <a:ext cx="1524000" cy="3937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>
                <a:cs typeface="Arial" charset="0"/>
              </a:rPr>
              <a:t>Sum = 0.36</a:t>
            </a:r>
          </a:p>
        </p:txBody>
      </p:sp>
      <p:sp>
        <p:nvSpPr>
          <p:cNvPr id="108577" name="Line 31"/>
          <p:cNvSpPr>
            <a:spLocks noChangeShapeType="1"/>
          </p:cNvSpPr>
          <p:nvPr/>
        </p:nvSpPr>
        <p:spPr bwMode="auto">
          <a:xfrm>
            <a:off x="5943600" y="57912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08578" name="Oval 32"/>
          <p:cNvSpPr>
            <a:spLocks noChangeArrowheads="1"/>
          </p:cNvSpPr>
          <p:nvPr/>
        </p:nvSpPr>
        <p:spPr bwMode="auto">
          <a:xfrm>
            <a:off x="8001000" y="4724400"/>
            <a:ext cx="762000" cy="457200"/>
          </a:xfrm>
          <a:prstGeom prst="ellipse">
            <a:avLst/>
          </a:prstGeom>
          <a:noFill/>
          <a:ln w="19050" algn="ctr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08579" name="Line 33"/>
          <p:cNvSpPr>
            <a:spLocks noChangeShapeType="1"/>
          </p:cNvSpPr>
          <p:nvPr/>
        </p:nvSpPr>
        <p:spPr bwMode="auto">
          <a:xfrm>
            <a:off x="6858000" y="2819400"/>
            <a:ext cx="1447800" cy="190500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lg" len="med"/>
          </a:ln>
        </p:spPr>
        <p:txBody>
          <a:bodyPr lIns="90488" tIns="44450" rIns="90488" bIns="44450">
            <a:spAutoFit/>
          </a:bodyPr>
          <a:lstStyle/>
          <a:p>
            <a:endParaRPr lang="en-US"/>
          </a:p>
        </p:txBody>
      </p:sp>
      <p:sp>
        <p:nvSpPr>
          <p:cNvPr id="108580" name="Oval 34"/>
          <p:cNvSpPr>
            <a:spLocks noChangeArrowheads="1"/>
          </p:cNvSpPr>
          <p:nvPr/>
        </p:nvSpPr>
        <p:spPr bwMode="auto">
          <a:xfrm>
            <a:off x="6172200" y="2209800"/>
            <a:ext cx="1066800" cy="609600"/>
          </a:xfrm>
          <a:prstGeom prst="ellipse">
            <a:avLst/>
          </a:prstGeom>
          <a:noFill/>
          <a:ln w="19050" algn="ctr">
            <a:solidFill>
              <a:schemeClr val="folHlink"/>
            </a:solidFill>
            <a:round/>
            <a:headEnd/>
            <a:tailEnd/>
          </a:ln>
        </p:spPr>
        <p:txBody>
          <a:bodyPr lIns="90488" tIns="44450" rIns="90488" bIns="44450" anchor="ctr">
            <a:spAutoFit/>
          </a:bodyPr>
          <a:lstStyle/>
          <a:p>
            <a:endParaRPr lang="en-GB"/>
          </a:p>
        </p:txBody>
      </p:sp>
      <p:sp>
        <p:nvSpPr>
          <p:cNvPr id="108581" name="Text Box 3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pic>
        <p:nvPicPr>
          <p:cNvPr id="108582" name="Picture 36" descr="j028322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96200" y="2844800"/>
            <a:ext cx="1295400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04194C7D-4E6D-4A9C-A787-8EB22E127121}" type="slidenum">
              <a:rPr lang="en-US" smtClean="0">
                <a:latin typeface="Arial" charset="0"/>
              </a:rPr>
              <a:pPr/>
              <a:t>36</a:t>
            </a:fld>
            <a:endParaRPr lang="en-US" smtClean="0">
              <a:latin typeface="Arial" charset="0"/>
            </a:endParaRPr>
          </a:p>
        </p:txBody>
      </p:sp>
      <p:sp>
        <p:nvSpPr>
          <p:cNvPr id="10957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383462" cy="762000"/>
          </a:xfrm>
        </p:spPr>
        <p:txBody>
          <a:bodyPr/>
          <a:lstStyle/>
          <a:p>
            <a:pPr eaLnBrk="1" hangingPunct="1"/>
            <a:r>
              <a:rPr lang="en-US" smtClean="0"/>
              <a:t>Counting Rules</a:t>
            </a:r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077200" cy="45323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Rules for counting the number of possible outcomes</a:t>
            </a:r>
          </a:p>
          <a:p>
            <a:pPr eaLnBrk="1" hangingPunct="1">
              <a:lnSpc>
                <a:spcPct val="90000"/>
              </a:lnSpc>
            </a:pPr>
            <a:endParaRPr lang="en-US" sz="1200" smtClean="0"/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chemeClr val="folHlink"/>
                </a:solidFill>
              </a:rPr>
              <a:t>Counting Rule 1</a:t>
            </a:r>
            <a:r>
              <a:rPr lang="en-US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If any one of  k  different mutually exclusive and collectively exhaustive events can occur on each of  n  trials, the number of possible outcomes is equal to</a:t>
            </a:r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Example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If you roll a fair die 3 times then there are 6</a:t>
            </a:r>
            <a:r>
              <a:rPr lang="en-US" baseline="30000" smtClean="0"/>
              <a:t>3</a:t>
            </a:r>
            <a:r>
              <a:rPr lang="en-US" smtClean="0"/>
              <a:t> = 216 possible outcomes</a:t>
            </a:r>
          </a:p>
        </p:txBody>
      </p:sp>
      <p:sp>
        <p:nvSpPr>
          <p:cNvPr id="109573" name="Text Box 4"/>
          <p:cNvSpPr txBox="1">
            <a:spLocks noChangeArrowheads="1"/>
          </p:cNvSpPr>
          <p:nvPr/>
        </p:nvSpPr>
        <p:spPr bwMode="auto">
          <a:xfrm>
            <a:off x="4191000" y="4419600"/>
            <a:ext cx="609600" cy="531813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k</a:t>
            </a:r>
            <a:r>
              <a:rPr lang="en-US" sz="2800" baseline="30000"/>
              <a:t>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75ABD0F3-B924-4910-8A8A-A93E4A3F2628}" type="slidenum">
              <a:rPr lang="en-US" smtClean="0">
                <a:latin typeface="Arial" charset="0"/>
              </a:rPr>
              <a:pPr/>
              <a:t>37</a:t>
            </a:fld>
            <a:endParaRPr lang="en-US" smtClean="0">
              <a:latin typeface="Arial" charset="0"/>
            </a:endParaRPr>
          </a:p>
        </p:txBody>
      </p:sp>
      <p:sp>
        <p:nvSpPr>
          <p:cNvPr id="110594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383462" cy="762000"/>
          </a:xfrm>
        </p:spPr>
        <p:txBody>
          <a:bodyPr/>
          <a:lstStyle/>
          <a:p>
            <a:pPr eaLnBrk="1" hangingPunct="1"/>
            <a:r>
              <a:rPr lang="en-US" smtClean="0"/>
              <a:t>Counting Rules</a:t>
            </a:r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68488"/>
            <a:ext cx="8077200" cy="4684712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Counting Rule 2</a:t>
            </a:r>
            <a:r>
              <a:rPr lang="en-US" smtClean="0"/>
              <a:t>:</a:t>
            </a:r>
          </a:p>
          <a:p>
            <a:pPr lvl="1" eaLnBrk="1" hangingPunct="1"/>
            <a:r>
              <a:rPr lang="en-US" smtClean="0"/>
              <a:t>If there are k</a:t>
            </a:r>
            <a:r>
              <a:rPr lang="en-US" baseline="-25000" smtClean="0"/>
              <a:t>1</a:t>
            </a:r>
            <a:r>
              <a:rPr lang="en-US" smtClean="0"/>
              <a:t> events on the first trial, k</a:t>
            </a:r>
            <a:r>
              <a:rPr lang="en-US" baseline="-25000" smtClean="0"/>
              <a:t>2</a:t>
            </a:r>
            <a:r>
              <a:rPr lang="en-US" smtClean="0"/>
              <a:t> events on the second trial, … and k</a:t>
            </a:r>
            <a:r>
              <a:rPr lang="en-US" baseline="-25000" smtClean="0"/>
              <a:t>n</a:t>
            </a:r>
            <a:r>
              <a:rPr lang="en-US" smtClean="0"/>
              <a:t> events on the n</a:t>
            </a:r>
            <a:r>
              <a:rPr lang="en-US" baseline="30000" smtClean="0"/>
              <a:t>th</a:t>
            </a:r>
            <a:r>
              <a:rPr lang="en-US" smtClean="0"/>
              <a:t> trial, the number of possible outcomes is</a:t>
            </a:r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r>
              <a:rPr lang="en-US" smtClean="0"/>
              <a:t>Example:</a:t>
            </a:r>
          </a:p>
          <a:p>
            <a:pPr lvl="2" eaLnBrk="1" hangingPunct="1"/>
            <a:r>
              <a:rPr lang="en-US" smtClean="0"/>
              <a:t>You want to go to a park, eat at a restaurant, and see a movie.  There are 3 parks, 4 restaurants, and 6 movie choices.  How many different possible combinations are there?</a:t>
            </a:r>
          </a:p>
          <a:p>
            <a:pPr lvl="2" eaLnBrk="1" hangingPunct="1"/>
            <a:r>
              <a:rPr lang="en-US" smtClean="0"/>
              <a:t>Answer:  (3)(4)(6) = 72 different possibilities</a:t>
            </a:r>
          </a:p>
        </p:txBody>
      </p:sp>
      <p:sp>
        <p:nvSpPr>
          <p:cNvPr id="110597" name="Text Box 4"/>
          <p:cNvSpPr txBox="1">
            <a:spLocks noChangeArrowheads="1"/>
          </p:cNvSpPr>
          <p:nvPr/>
        </p:nvSpPr>
        <p:spPr bwMode="auto">
          <a:xfrm>
            <a:off x="3581400" y="3657600"/>
            <a:ext cx="2209800" cy="531813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(k</a:t>
            </a:r>
            <a:r>
              <a:rPr lang="en-US" sz="2800" baseline="-25000"/>
              <a:t>1</a:t>
            </a:r>
            <a:r>
              <a:rPr lang="en-US" sz="2800"/>
              <a:t>)(k</a:t>
            </a:r>
            <a:r>
              <a:rPr lang="en-US" sz="2800" baseline="-25000"/>
              <a:t>2</a:t>
            </a:r>
            <a:r>
              <a:rPr lang="en-US" sz="2800"/>
              <a:t>)</a:t>
            </a:r>
            <a:r>
              <a:rPr lang="en-US" sz="2800" baseline="30000"/>
              <a:t>…</a:t>
            </a:r>
            <a:r>
              <a:rPr lang="en-US" sz="2800"/>
              <a:t>(k</a:t>
            </a:r>
            <a:r>
              <a:rPr lang="en-US" sz="2800" baseline="-25000"/>
              <a:t>n</a:t>
            </a:r>
            <a:r>
              <a:rPr lang="en-US" sz="2800"/>
              <a:t>)</a:t>
            </a:r>
          </a:p>
        </p:txBody>
      </p:sp>
      <p:sp>
        <p:nvSpPr>
          <p:cNvPr id="110598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F58D10E9-EA74-469C-A41D-A58660C61130}" type="slidenum">
              <a:rPr lang="en-US" smtClean="0">
                <a:latin typeface="Arial" charset="0"/>
              </a:rPr>
              <a:pPr/>
              <a:t>38</a:t>
            </a:fld>
            <a:endParaRPr lang="en-US" smtClean="0">
              <a:latin typeface="Arial" charset="0"/>
            </a:endParaRPr>
          </a:p>
        </p:txBody>
      </p:sp>
      <p:sp>
        <p:nvSpPr>
          <p:cNvPr id="111618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383462" cy="762000"/>
          </a:xfrm>
        </p:spPr>
        <p:txBody>
          <a:bodyPr/>
          <a:lstStyle/>
          <a:p>
            <a:pPr eaLnBrk="1" hangingPunct="1"/>
            <a:r>
              <a:rPr lang="en-US" smtClean="0"/>
              <a:t>Counting Rules</a:t>
            </a:r>
          </a:p>
        </p:txBody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Counting Rule 3</a:t>
            </a:r>
            <a:r>
              <a:rPr lang="en-US" smtClean="0"/>
              <a:t>:</a:t>
            </a:r>
          </a:p>
          <a:p>
            <a:pPr lvl="1" eaLnBrk="1" hangingPunct="1"/>
            <a:r>
              <a:rPr lang="en-US" smtClean="0"/>
              <a:t>The number of ways that n items can be arranged in order is</a:t>
            </a:r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r>
              <a:rPr lang="en-US" smtClean="0"/>
              <a:t>Example:</a:t>
            </a:r>
          </a:p>
          <a:p>
            <a:pPr lvl="2" eaLnBrk="1" hangingPunct="1"/>
            <a:r>
              <a:rPr lang="en-US" smtClean="0"/>
              <a:t>You have five books to put on a bookshelf.  How many different ways can these books be placed on the shelf?</a:t>
            </a:r>
          </a:p>
          <a:p>
            <a:pPr lvl="2" eaLnBrk="1" hangingPunct="1">
              <a:buFont typeface="Wingdings" pitchFamily="2" charset="2"/>
              <a:buNone/>
            </a:pPr>
            <a:endParaRPr lang="en-US" smtClean="0"/>
          </a:p>
          <a:p>
            <a:pPr lvl="2" eaLnBrk="1" hangingPunct="1"/>
            <a:r>
              <a:rPr lang="en-US" smtClean="0"/>
              <a:t>Answer:  5! = (5)(4)(3)(2)(1) = 120 different possibilities</a:t>
            </a:r>
          </a:p>
          <a:p>
            <a:pPr lvl="1" eaLnBrk="1" hangingPunct="1"/>
            <a:endParaRPr lang="en-US" smtClean="0"/>
          </a:p>
        </p:txBody>
      </p:sp>
      <p:sp>
        <p:nvSpPr>
          <p:cNvPr id="111621" name="Text Box 4"/>
          <p:cNvSpPr txBox="1">
            <a:spLocks noChangeArrowheads="1"/>
          </p:cNvSpPr>
          <p:nvPr/>
        </p:nvSpPr>
        <p:spPr bwMode="auto">
          <a:xfrm>
            <a:off x="2895600" y="3200400"/>
            <a:ext cx="3276600" cy="531813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n! = (n)(n </a:t>
            </a:r>
            <a:r>
              <a:rPr lang="en-US" sz="2800">
                <a:cs typeface="Arial" charset="0"/>
              </a:rPr>
              <a:t>–</a:t>
            </a:r>
            <a:r>
              <a:rPr lang="en-US" sz="2800"/>
              <a:t> 1)</a:t>
            </a:r>
            <a:r>
              <a:rPr lang="en-US" sz="2800" baseline="30000"/>
              <a:t>…</a:t>
            </a:r>
            <a:r>
              <a:rPr lang="en-US" sz="2800"/>
              <a:t>(1)</a:t>
            </a:r>
            <a:endParaRPr lang="en-US" sz="2800" baseline="30000"/>
          </a:p>
        </p:txBody>
      </p:sp>
      <p:sp>
        <p:nvSpPr>
          <p:cNvPr id="111622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F31CC81D-0AD6-4457-B6F2-058206558275}" type="slidenum">
              <a:rPr lang="en-US" smtClean="0">
                <a:latin typeface="Arial" charset="0"/>
              </a:rPr>
              <a:pPr/>
              <a:t>39</a:t>
            </a:fld>
            <a:endParaRPr lang="en-US" smtClean="0">
              <a:latin typeface="Arial" charset="0"/>
            </a:endParaRPr>
          </a:p>
        </p:txBody>
      </p:sp>
      <p:sp>
        <p:nvSpPr>
          <p:cNvPr id="53253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32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383462" cy="762000"/>
          </a:xfrm>
        </p:spPr>
        <p:txBody>
          <a:bodyPr/>
          <a:lstStyle/>
          <a:p>
            <a:pPr eaLnBrk="1" hangingPunct="1"/>
            <a:r>
              <a:rPr lang="en-US" smtClean="0"/>
              <a:t>Counting Rules</a:t>
            </a:r>
          </a:p>
        </p:txBody>
      </p:sp>
      <p:sp>
        <p:nvSpPr>
          <p:cNvPr id="532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684713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folHlink"/>
                </a:solidFill>
              </a:rPr>
              <a:t>Counting Rule 4</a:t>
            </a:r>
            <a:r>
              <a:rPr lang="en-US" smtClean="0"/>
              <a:t>:</a:t>
            </a:r>
          </a:p>
          <a:p>
            <a:pPr lvl="1" eaLnBrk="1" hangingPunct="1"/>
            <a:r>
              <a:rPr lang="en-US" smtClean="0">
                <a:solidFill>
                  <a:schemeClr val="hlink"/>
                </a:solidFill>
              </a:rPr>
              <a:t>Permutations</a:t>
            </a:r>
            <a:r>
              <a:rPr lang="en-US" smtClean="0"/>
              <a:t>: The number of ways of arranging X objects selected from n objects in order is</a:t>
            </a:r>
          </a:p>
          <a:p>
            <a:pPr lvl="1" eaLnBrk="1" hangingPunct="1"/>
            <a:endParaRPr lang="en-US" smtClean="0"/>
          </a:p>
          <a:p>
            <a:pPr lvl="1" eaLnBrk="1" hangingPunct="1"/>
            <a:endParaRPr lang="en-US" smtClean="0"/>
          </a:p>
          <a:p>
            <a:pPr lvl="1" eaLnBrk="1" hangingPunct="1"/>
            <a:endParaRPr lang="en-US" sz="1200" smtClean="0"/>
          </a:p>
          <a:p>
            <a:pPr lvl="1" eaLnBrk="1" hangingPunct="1"/>
            <a:r>
              <a:rPr lang="en-US" smtClean="0"/>
              <a:t>Example:</a:t>
            </a:r>
          </a:p>
          <a:p>
            <a:pPr lvl="2" eaLnBrk="1" hangingPunct="1"/>
            <a:r>
              <a:rPr lang="en-US" smtClean="0"/>
              <a:t>You have five books and are going to put three on a bookshelf.   How many different ways can the books be ordered on the bookshelf?</a:t>
            </a:r>
          </a:p>
          <a:p>
            <a:pPr lvl="2" eaLnBrk="1" hangingPunct="1"/>
            <a:endParaRPr lang="en-US" sz="1400" smtClean="0"/>
          </a:p>
          <a:p>
            <a:pPr lvl="2" eaLnBrk="1" hangingPunct="1">
              <a:lnSpc>
                <a:spcPct val="115000"/>
              </a:lnSpc>
            </a:pPr>
            <a:r>
              <a:rPr lang="en-US" smtClean="0"/>
              <a:t>Answer:  				          </a:t>
            </a:r>
            <a:r>
              <a:rPr lang="en-US" sz="1800" smtClean="0"/>
              <a:t>different possibilities</a:t>
            </a:r>
          </a:p>
          <a:p>
            <a:pPr lvl="1" eaLnBrk="1" hangingPunct="1"/>
            <a:endParaRPr lang="en-US" smtClean="0"/>
          </a:p>
        </p:txBody>
      </p:sp>
      <p:sp>
        <p:nvSpPr>
          <p:cNvPr id="53256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graphicFrame>
        <p:nvGraphicFramePr>
          <p:cNvPr id="53250" name="Object 6"/>
          <p:cNvGraphicFramePr>
            <a:graphicFrameLocks noChangeAspect="1"/>
          </p:cNvGraphicFramePr>
          <p:nvPr/>
        </p:nvGraphicFramePr>
        <p:xfrm>
          <a:off x="3632200" y="3276600"/>
          <a:ext cx="1814513" cy="855663"/>
        </p:xfrm>
        <a:graphic>
          <a:graphicData uri="http://schemas.openxmlformats.org/presentationml/2006/ole">
            <p:oleObj spid="_x0000_s53250" name="Equation" r:id="rId3" imgW="888840" imgH="419040" progId="Equation.3">
              <p:embed/>
            </p:oleObj>
          </a:graphicData>
        </a:graphic>
      </p:graphicFrame>
      <p:graphicFrame>
        <p:nvGraphicFramePr>
          <p:cNvPr id="53251" name="Object 7"/>
          <p:cNvGraphicFramePr>
            <a:graphicFrameLocks noChangeAspect="1"/>
          </p:cNvGraphicFramePr>
          <p:nvPr/>
        </p:nvGraphicFramePr>
        <p:xfrm>
          <a:off x="2895600" y="5867400"/>
          <a:ext cx="3779838" cy="704850"/>
        </p:xfrm>
        <a:graphic>
          <a:graphicData uri="http://schemas.openxmlformats.org/presentationml/2006/ole">
            <p:oleObj spid="_x0000_s53251" name="Equation" r:id="rId4" imgW="2590560" imgH="48240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FE370AAA-D0E6-4B38-BCC0-42D31EA7909B}" type="slidenum">
              <a:rPr lang="en-US" smtClean="0">
                <a:latin typeface="Arial" charset="0"/>
              </a:rPr>
              <a:pPr/>
              <a:t>40</a:t>
            </a:fld>
            <a:endParaRPr lang="en-US" smtClean="0">
              <a:latin typeface="Arial" charset="0"/>
            </a:endParaRPr>
          </a:p>
        </p:txBody>
      </p:sp>
      <p:sp>
        <p:nvSpPr>
          <p:cNvPr id="54277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542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81000"/>
            <a:ext cx="7383462" cy="762000"/>
          </a:xfrm>
        </p:spPr>
        <p:txBody>
          <a:bodyPr/>
          <a:lstStyle/>
          <a:p>
            <a:pPr eaLnBrk="1" hangingPunct="1"/>
            <a:r>
              <a:rPr lang="en-US" smtClean="0"/>
              <a:t>Counting Rules</a:t>
            </a:r>
          </a:p>
        </p:txBody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chemeClr val="folHlink"/>
                </a:solidFill>
              </a:rPr>
              <a:t>Counting Rule 5</a:t>
            </a:r>
            <a:r>
              <a:rPr lang="en-US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solidFill>
                  <a:schemeClr val="hlink"/>
                </a:solidFill>
              </a:rPr>
              <a:t>Combinations</a:t>
            </a:r>
            <a:r>
              <a:rPr lang="en-US" smtClean="0"/>
              <a:t>: The number of ways of selecting X objects from n objects, irrespective of order, is</a:t>
            </a:r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endParaRPr lang="en-US" smtClean="0"/>
          </a:p>
          <a:p>
            <a:pPr lvl="1" eaLnBrk="1" hangingPunct="1">
              <a:lnSpc>
                <a:spcPct val="90000"/>
              </a:lnSpc>
            </a:pPr>
            <a:endParaRPr lang="en-US" sz="1400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Example: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You have five books and are going to randomly select three to read.   How many different combinations of books might you select?</a:t>
            </a:r>
          </a:p>
          <a:p>
            <a:pPr lvl="2" eaLnBrk="1" hangingPunct="1">
              <a:lnSpc>
                <a:spcPct val="90000"/>
              </a:lnSpc>
            </a:pPr>
            <a:endParaRPr lang="en-US" smtClean="0"/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Answer: 				           </a:t>
            </a:r>
            <a:r>
              <a:rPr lang="en-US" sz="1600" smtClean="0"/>
              <a:t>different possibilities</a:t>
            </a:r>
          </a:p>
        </p:txBody>
      </p:sp>
      <p:sp>
        <p:nvSpPr>
          <p:cNvPr id="54280" name="Text Box 5"/>
          <p:cNvSpPr txBox="1">
            <a:spLocks noChangeArrowheads="1"/>
          </p:cNvSpPr>
          <p:nvPr/>
        </p:nvSpPr>
        <p:spPr bwMode="auto">
          <a:xfrm>
            <a:off x="7543800" y="1203325"/>
            <a:ext cx="1600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>
                <a:solidFill>
                  <a:srgbClr val="000099"/>
                </a:solidFill>
              </a:rPr>
              <a:t>(continued)</a:t>
            </a:r>
          </a:p>
        </p:txBody>
      </p:sp>
      <p:graphicFrame>
        <p:nvGraphicFramePr>
          <p:cNvPr id="54274" name="Object 6"/>
          <p:cNvGraphicFramePr>
            <a:graphicFrameLocks noChangeAspect="1"/>
          </p:cNvGraphicFramePr>
          <p:nvPr/>
        </p:nvGraphicFramePr>
        <p:xfrm>
          <a:off x="3530600" y="3124200"/>
          <a:ext cx="2205038" cy="855663"/>
        </p:xfrm>
        <a:graphic>
          <a:graphicData uri="http://schemas.openxmlformats.org/presentationml/2006/ole">
            <p:oleObj spid="_x0000_s54274" name="Equation" r:id="rId3" imgW="1079280" imgH="419040" progId="Equation.3">
              <p:embed/>
            </p:oleObj>
          </a:graphicData>
        </a:graphic>
      </p:graphicFrame>
      <p:graphicFrame>
        <p:nvGraphicFramePr>
          <p:cNvPr id="54275" name="Object 7"/>
          <p:cNvGraphicFramePr>
            <a:graphicFrameLocks noChangeAspect="1"/>
          </p:cNvGraphicFramePr>
          <p:nvPr/>
        </p:nvGraphicFramePr>
        <p:xfrm>
          <a:off x="2895600" y="5562600"/>
          <a:ext cx="3455988" cy="544513"/>
        </p:xfrm>
        <a:graphic>
          <a:graphicData uri="http://schemas.openxmlformats.org/presentationml/2006/ole">
            <p:oleObj spid="_x0000_s54275" name="Equation" r:id="rId4" imgW="26668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4-</a:t>
            </a:r>
            <a:fld id="{987F63F7-CAD7-4E0A-BF3B-7885F4AADBDD}" type="slidenum">
              <a:rPr lang="en-US" smtClean="0">
                <a:latin typeface="Arial" charset="0"/>
              </a:rPr>
              <a:pPr/>
              <a:t>41</a:t>
            </a:fld>
            <a:endParaRPr lang="en-US" smtClean="0">
              <a:latin typeface="Arial" charset="0"/>
            </a:endParaRPr>
          </a:p>
        </p:txBody>
      </p:sp>
      <p:sp>
        <p:nvSpPr>
          <p:cNvPr id="114690" name="Rectangle 16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Copyright ©2012 Pearson Education</a:t>
            </a:r>
          </a:p>
        </p:txBody>
      </p:sp>
      <p:sp>
        <p:nvSpPr>
          <p:cNvPr id="11469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4-</a:t>
            </a:r>
            <a:fld id="{17F9F9D2-6E81-4912-A61B-3D762D5655DA}" type="slidenum">
              <a:rPr lang="en-US" sz="1000"/>
              <a:pPr algn="r" defTabSz="852488"/>
              <a:t>41</a:t>
            </a:fld>
            <a:endParaRPr lang="en-US" sz="1000"/>
          </a:p>
        </p:txBody>
      </p:sp>
      <p:sp>
        <p:nvSpPr>
          <p:cNvPr id="1146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mtClean="0"/>
              <a:t>Chapter Summary</a:t>
            </a:r>
          </a:p>
        </p:txBody>
      </p:sp>
      <p:sp>
        <p:nvSpPr>
          <p:cNvPr id="1146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153400" cy="4800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400" smtClean="0"/>
              <a:t>Discussed basic probability concepts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 smtClean="0"/>
              <a:t>Sample spaces and events, contingency tables, simple probability, and joint probability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Examined basic probability rules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 smtClean="0"/>
              <a:t>General addition rule, addition rule for mutually exclusive events, rule for collectively exhaustive events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Defined conditional probability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 smtClean="0"/>
              <a:t>Statistical independence, marginal probability, decision trees, and the multiplication rule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Discussed Bayes’ theorem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Discussed various counting rules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nHall1">
  <a:themeElements>
    <a:clrScheme name="PrenHall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renHall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2340</TotalTime>
  <Pages>20</Pages>
  <Words>2100</Words>
  <Application>Microsoft Office PowerPoint</Application>
  <PresentationFormat>On-screen Show (4:3)</PresentationFormat>
  <Paragraphs>544</Paragraphs>
  <Slides>41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Design Template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Wingdings</vt:lpstr>
      <vt:lpstr>Times New Roman</vt:lpstr>
      <vt:lpstr>Symbol</vt:lpstr>
      <vt:lpstr>System</vt:lpstr>
      <vt:lpstr>MT Extra</vt:lpstr>
      <vt:lpstr>PrenHall1</vt:lpstr>
      <vt:lpstr>PrenHall1</vt:lpstr>
      <vt:lpstr>Equation</vt:lpstr>
      <vt:lpstr>Clip</vt:lpstr>
      <vt:lpstr>Slide 1</vt:lpstr>
      <vt:lpstr>Learning Objectives</vt:lpstr>
      <vt:lpstr>Basic Probability Concepts</vt:lpstr>
      <vt:lpstr>Assessing Probability</vt:lpstr>
      <vt:lpstr>Example of a priori probability</vt:lpstr>
      <vt:lpstr>Example of empirical probability</vt:lpstr>
      <vt:lpstr>Events</vt:lpstr>
      <vt:lpstr>Slide 8</vt:lpstr>
      <vt:lpstr>Visualizing Events</vt:lpstr>
      <vt:lpstr>Definition:  Simple Probability</vt:lpstr>
      <vt:lpstr>Definition:  Joint Probability</vt:lpstr>
      <vt:lpstr>Mutually Exclusive Events</vt:lpstr>
      <vt:lpstr>Collectively Exhaustive Events</vt:lpstr>
      <vt:lpstr>Computing Joint and  Marginal Probabilities</vt:lpstr>
      <vt:lpstr>Joint Probability Example</vt:lpstr>
      <vt:lpstr>Marginal Probability Example</vt:lpstr>
      <vt:lpstr>Marginal &amp; Joint Probabilities In A Contingency Table</vt:lpstr>
      <vt:lpstr>Probability Summary So Far</vt:lpstr>
      <vt:lpstr>General Addition Rule</vt:lpstr>
      <vt:lpstr>General Addition Rule Example</vt:lpstr>
      <vt:lpstr>Computing Conditional Probabilities</vt:lpstr>
      <vt:lpstr>Conditional Probability Example</vt:lpstr>
      <vt:lpstr>Conditional Probability Example</vt:lpstr>
      <vt:lpstr>Conditional Probability Example</vt:lpstr>
      <vt:lpstr>Using Decision Trees</vt:lpstr>
      <vt:lpstr>Using Decision Trees</vt:lpstr>
      <vt:lpstr>Independence</vt:lpstr>
      <vt:lpstr>Multiplication Rules</vt:lpstr>
      <vt:lpstr>Marginal Probability</vt:lpstr>
      <vt:lpstr>Bayes’ Theorem</vt:lpstr>
      <vt:lpstr>Bayes’ Theorem</vt:lpstr>
      <vt:lpstr>Bayes’ Theorem Example</vt:lpstr>
      <vt:lpstr>Slide 33</vt:lpstr>
      <vt:lpstr>Slide 34</vt:lpstr>
      <vt:lpstr>Slide 35</vt:lpstr>
      <vt:lpstr>Counting Rules</vt:lpstr>
      <vt:lpstr>Counting Rules</vt:lpstr>
      <vt:lpstr>Counting Rules</vt:lpstr>
      <vt:lpstr>Counting Rules</vt:lpstr>
      <vt:lpstr>Counting Rules</vt:lpstr>
      <vt:lpstr>Chapter Summary</vt:lpstr>
    </vt:vector>
  </TitlesOfParts>
  <Company>University of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Business Statistics, 10/e</dc:title>
  <dc:subject>Chapter 4</dc:subject>
  <dc:creator>Dirk Yandell</dc:creator>
  <cp:lastModifiedBy>emiljone</cp:lastModifiedBy>
  <cp:revision>152</cp:revision>
  <cp:lastPrinted>1998-11-22T23:37:53Z</cp:lastPrinted>
  <dcterms:created xsi:type="dcterms:W3CDTF">2001-01-23T16:24:06Z</dcterms:created>
  <dcterms:modified xsi:type="dcterms:W3CDTF">2011-03-23T11:35:46Z</dcterms:modified>
</cp:coreProperties>
</file>