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51" r:id="rId1"/>
  </p:sldMasterIdLst>
  <p:notesMasterIdLst>
    <p:notesMasterId r:id="rId62"/>
  </p:notesMasterIdLst>
  <p:handoutMasterIdLst>
    <p:handoutMasterId r:id="rId63"/>
  </p:handoutMasterIdLst>
  <p:sldIdLst>
    <p:sldId id="260" r:id="rId2"/>
    <p:sldId id="369" r:id="rId3"/>
    <p:sldId id="434" r:id="rId4"/>
    <p:sldId id="370" r:id="rId5"/>
    <p:sldId id="371" r:id="rId6"/>
    <p:sldId id="435" r:id="rId7"/>
    <p:sldId id="372" r:id="rId8"/>
    <p:sldId id="374" r:id="rId9"/>
    <p:sldId id="375" r:id="rId10"/>
    <p:sldId id="376" r:id="rId11"/>
    <p:sldId id="436" r:id="rId12"/>
    <p:sldId id="377" r:id="rId13"/>
    <p:sldId id="437" r:id="rId14"/>
    <p:sldId id="438" r:id="rId15"/>
    <p:sldId id="439" r:id="rId16"/>
    <p:sldId id="440" r:id="rId17"/>
    <p:sldId id="381" r:id="rId18"/>
    <p:sldId id="441" r:id="rId19"/>
    <p:sldId id="382" r:id="rId20"/>
    <p:sldId id="383" r:id="rId21"/>
    <p:sldId id="385" r:id="rId22"/>
    <p:sldId id="387" r:id="rId23"/>
    <p:sldId id="355" r:id="rId24"/>
    <p:sldId id="388" r:id="rId25"/>
    <p:sldId id="442" r:id="rId26"/>
    <p:sldId id="389" r:id="rId27"/>
    <p:sldId id="443" r:id="rId28"/>
    <p:sldId id="390" r:id="rId29"/>
    <p:sldId id="395" r:id="rId30"/>
    <p:sldId id="444" r:id="rId31"/>
    <p:sldId id="445" r:id="rId32"/>
    <p:sldId id="446" r:id="rId33"/>
    <p:sldId id="392" r:id="rId34"/>
    <p:sldId id="447" r:id="rId35"/>
    <p:sldId id="448" r:id="rId36"/>
    <p:sldId id="453" r:id="rId37"/>
    <p:sldId id="449" r:id="rId38"/>
    <p:sldId id="426" r:id="rId39"/>
    <p:sldId id="418" r:id="rId40"/>
    <p:sldId id="419" r:id="rId41"/>
    <p:sldId id="420" r:id="rId42"/>
    <p:sldId id="450" r:id="rId43"/>
    <p:sldId id="454" r:id="rId44"/>
    <p:sldId id="421" r:id="rId45"/>
    <p:sldId id="422" r:id="rId46"/>
    <p:sldId id="451" r:id="rId47"/>
    <p:sldId id="430" r:id="rId48"/>
    <p:sldId id="431" r:id="rId49"/>
    <p:sldId id="432" r:id="rId50"/>
    <p:sldId id="433" r:id="rId51"/>
    <p:sldId id="452" r:id="rId52"/>
    <p:sldId id="455" r:id="rId53"/>
    <p:sldId id="424" r:id="rId54"/>
    <p:sldId id="456" r:id="rId55"/>
    <p:sldId id="457" r:id="rId56"/>
    <p:sldId id="458" r:id="rId57"/>
    <p:sldId id="459" r:id="rId58"/>
    <p:sldId id="460" r:id="rId59"/>
    <p:sldId id="461" r:id="rId60"/>
    <p:sldId id="462" r:id="rId61"/>
  </p:sldIdLst>
  <p:sldSz cx="9144000" cy="6858000" type="screen4x3"/>
  <p:notesSz cx="6858000" cy="91440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4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4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4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40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</p:showPr>
  <p:clrMru>
    <a:srgbClr val="FFCC99"/>
    <a:srgbClr val="FDE0BD"/>
    <a:srgbClr val="FFFF99"/>
    <a:srgbClr val="FF6600"/>
    <a:srgbClr val="C7DAF7"/>
    <a:srgbClr val="CCECFF"/>
    <a:srgbClr val="FFD7AF"/>
    <a:srgbClr val="FFFF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inimized">
    <p:restoredLeft sz="21011" autoAdjust="0"/>
    <p:restoredTop sz="94647" autoAdjust="0"/>
  </p:normalViewPr>
  <p:slideViewPr>
    <p:cSldViewPr>
      <p:cViewPr varScale="1">
        <p:scale>
          <a:sx n="102" d="100"/>
          <a:sy n="102" d="100"/>
        </p:scale>
        <p:origin x="-64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3538"/>
    </p:cViewPr>
  </p:sorterViewPr>
  <p:notesViewPr>
    <p:cSldViewPr>
      <p:cViewPr>
        <p:scale>
          <a:sx n="75" d="100"/>
          <a:sy n="75" d="100"/>
        </p:scale>
        <p:origin x="-2130" y="-25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4" Type="http://schemas.openxmlformats.org/officeDocument/2006/relationships/image" Target="../media/image28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png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76200" y="8823325"/>
            <a:ext cx="6705600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3079" name="Line 7"/>
          <p:cNvSpPr>
            <a:spLocks noChangeShapeType="1"/>
          </p:cNvSpPr>
          <p:nvPr/>
        </p:nvSpPr>
        <p:spPr bwMode="auto">
          <a:xfrm>
            <a:off x="828675" y="8763000"/>
            <a:ext cx="56229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71438" y="55563"/>
            <a:ext cx="6715125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tabLst>
                <a:tab pos="285750" algn="l"/>
                <a:tab pos="3257550" algn="ctr"/>
                <a:tab pos="6457950" algn="r"/>
              </a:tabLst>
              <a:defRPr/>
            </a:pPr>
            <a:r>
              <a:rPr lang="en-US" sz="1200">
                <a:latin typeface="Arial" pitchFamily="34" charset="0"/>
              </a:rPr>
              <a:t>	Chapter 5		 5-</a:t>
            </a:r>
            <a:fld id="{6FFE8DA0-A4E3-4D51-B19B-644E6067EBEB}" type="slidenum">
              <a:rPr lang="en-US" sz="1200">
                <a:latin typeface="Arial" pitchFamily="34" charset="0"/>
              </a:rPr>
              <a:pPr eaLnBrk="0" hangingPunct="0">
                <a:tabLst>
                  <a:tab pos="285750" algn="l"/>
                  <a:tab pos="3257550" algn="ctr"/>
                  <a:tab pos="6457950" algn="r"/>
                </a:tabLst>
                <a:defRPr/>
              </a:pPr>
              <a:t>‹#›</a:t>
            </a:fld>
            <a:endParaRPr lang="en-US" sz="1200">
              <a:latin typeface="Arial" pitchFamily="34" charset="0"/>
            </a:endParaRPr>
          </a:p>
        </p:txBody>
      </p:sp>
      <p:sp>
        <p:nvSpPr>
          <p:cNvPr id="3082" name="Rectangle 10"/>
          <p:cNvSpPr>
            <a:spLocks noChangeArrowheads="1"/>
          </p:cNvSpPr>
          <p:nvPr/>
        </p:nvSpPr>
        <p:spPr bwMode="auto">
          <a:xfrm>
            <a:off x="71438" y="8818563"/>
            <a:ext cx="6715125" cy="241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tabLst>
                <a:tab pos="285750" algn="l"/>
                <a:tab pos="6457950" algn="r"/>
              </a:tabLst>
              <a:defRPr/>
            </a:pPr>
            <a:r>
              <a:rPr lang="en-US" sz="1000">
                <a:latin typeface="Arial" pitchFamily="34" charset="0"/>
              </a:rPr>
              <a:t>Basic Business Statistics, 10/e	© 2006 Prentice Hall, Inc.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76600"/>
            <a:ext cx="5029200" cy="5181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notes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6387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24000" y="609600"/>
            <a:ext cx="3962400" cy="2590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120775" y="35814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1120775" y="38862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1120775" y="41910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1120775" y="44958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1120775" y="48006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1120775" y="51054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58" name="Line 10"/>
          <p:cNvSpPr>
            <a:spLocks noChangeShapeType="1"/>
          </p:cNvSpPr>
          <p:nvPr/>
        </p:nvSpPr>
        <p:spPr bwMode="auto">
          <a:xfrm>
            <a:off x="1120775" y="51054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59" name="Line 11"/>
          <p:cNvSpPr>
            <a:spLocks noChangeShapeType="1"/>
          </p:cNvSpPr>
          <p:nvPr/>
        </p:nvSpPr>
        <p:spPr bwMode="auto">
          <a:xfrm>
            <a:off x="1120775" y="54102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60" name="Line 12"/>
          <p:cNvSpPr>
            <a:spLocks noChangeShapeType="1"/>
          </p:cNvSpPr>
          <p:nvPr/>
        </p:nvSpPr>
        <p:spPr bwMode="auto">
          <a:xfrm>
            <a:off x="1120775" y="57150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61" name="Line 13"/>
          <p:cNvSpPr>
            <a:spLocks noChangeShapeType="1"/>
          </p:cNvSpPr>
          <p:nvPr/>
        </p:nvSpPr>
        <p:spPr bwMode="auto">
          <a:xfrm>
            <a:off x="1120775" y="60198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62" name="Line 14"/>
          <p:cNvSpPr>
            <a:spLocks noChangeShapeType="1"/>
          </p:cNvSpPr>
          <p:nvPr/>
        </p:nvSpPr>
        <p:spPr bwMode="auto">
          <a:xfrm>
            <a:off x="1120775" y="63246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63" name="Line 15"/>
          <p:cNvSpPr>
            <a:spLocks noChangeShapeType="1"/>
          </p:cNvSpPr>
          <p:nvPr/>
        </p:nvSpPr>
        <p:spPr bwMode="auto">
          <a:xfrm>
            <a:off x="1120775" y="66294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64" name="Line 16"/>
          <p:cNvSpPr>
            <a:spLocks noChangeShapeType="1"/>
          </p:cNvSpPr>
          <p:nvPr/>
        </p:nvSpPr>
        <p:spPr bwMode="auto">
          <a:xfrm>
            <a:off x="1120775" y="69342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65" name="Line 17"/>
          <p:cNvSpPr>
            <a:spLocks noChangeShapeType="1"/>
          </p:cNvSpPr>
          <p:nvPr/>
        </p:nvSpPr>
        <p:spPr bwMode="auto">
          <a:xfrm>
            <a:off x="1120775" y="72390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66" name="Line 18"/>
          <p:cNvSpPr>
            <a:spLocks noChangeShapeType="1"/>
          </p:cNvSpPr>
          <p:nvPr/>
        </p:nvSpPr>
        <p:spPr bwMode="auto">
          <a:xfrm>
            <a:off x="1120775" y="75438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67" name="Line 19"/>
          <p:cNvSpPr>
            <a:spLocks noChangeShapeType="1"/>
          </p:cNvSpPr>
          <p:nvPr/>
        </p:nvSpPr>
        <p:spPr bwMode="auto">
          <a:xfrm>
            <a:off x="1120775" y="78486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68" name="Line 20"/>
          <p:cNvSpPr>
            <a:spLocks noChangeShapeType="1"/>
          </p:cNvSpPr>
          <p:nvPr/>
        </p:nvSpPr>
        <p:spPr bwMode="auto">
          <a:xfrm>
            <a:off x="1120775" y="81534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69" name="Line 21"/>
          <p:cNvSpPr>
            <a:spLocks noChangeShapeType="1"/>
          </p:cNvSpPr>
          <p:nvPr/>
        </p:nvSpPr>
        <p:spPr bwMode="auto">
          <a:xfrm>
            <a:off x="1120775" y="84582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72" name="Line 24"/>
          <p:cNvSpPr>
            <a:spLocks noChangeShapeType="1"/>
          </p:cNvSpPr>
          <p:nvPr/>
        </p:nvSpPr>
        <p:spPr bwMode="auto">
          <a:xfrm>
            <a:off x="523875" y="8763000"/>
            <a:ext cx="58515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73" name="Rectangle 25"/>
          <p:cNvSpPr>
            <a:spLocks noChangeArrowheads="1"/>
          </p:cNvSpPr>
          <p:nvPr/>
        </p:nvSpPr>
        <p:spPr bwMode="auto">
          <a:xfrm>
            <a:off x="77788" y="61913"/>
            <a:ext cx="6702425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tabLst>
                <a:tab pos="285750" algn="l"/>
                <a:tab pos="3257550" algn="ctr"/>
                <a:tab pos="6457950" algn="r"/>
              </a:tabLst>
              <a:defRPr/>
            </a:pPr>
            <a:r>
              <a:rPr lang="en-US" sz="1200">
                <a:latin typeface="Arial" pitchFamily="34" charset="0"/>
              </a:rPr>
              <a:t>	Chapter 5		5-</a:t>
            </a:r>
            <a:fld id="{262CE16F-AA9E-4FC1-8407-A38371173558}" type="slidenum">
              <a:rPr lang="en-US" sz="1200">
                <a:latin typeface="Arial" pitchFamily="34" charset="0"/>
              </a:rPr>
              <a:pPr eaLnBrk="0" hangingPunct="0">
                <a:tabLst>
                  <a:tab pos="285750" algn="l"/>
                  <a:tab pos="3257550" algn="ctr"/>
                  <a:tab pos="6457950" algn="r"/>
                </a:tabLst>
                <a:defRPr/>
              </a:pPr>
              <a:t>‹#›</a:t>
            </a:fld>
            <a:endParaRPr lang="en-US" sz="1200">
              <a:latin typeface="Arial" pitchFamily="34" charset="0"/>
            </a:endParaRPr>
          </a:p>
        </p:txBody>
      </p:sp>
      <p:sp>
        <p:nvSpPr>
          <p:cNvPr id="2074" name="Rectangle 26"/>
          <p:cNvSpPr>
            <a:spLocks noChangeArrowheads="1"/>
          </p:cNvSpPr>
          <p:nvPr/>
        </p:nvSpPr>
        <p:spPr bwMode="auto">
          <a:xfrm>
            <a:off x="71438" y="8818563"/>
            <a:ext cx="6715125" cy="241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tabLst>
                <a:tab pos="285750" algn="l"/>
                <a:tab pos="6457950" algn="r"/>
              </a:tabLst>
              <a:defRPr/>
            </a:pPr>
            <a:r>
              <a:rPr lang="en-US" sz="1000">
                <a:latin typeface="Arial" pitchFamily="34" charset="0"/>
              </a:rPr>
              <a:t>Basic Business Statistics, 10/e	© 2006 Prentice Hall, Inc.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GB" smtClean="0">
              <a:latin typeface="Arial" charset="0"/>
            </a:endParaRPr>
          </a:p>
        </p:txBody>
      </p:sp>
      <p:sp>
        <p:nvSpPr>
          <p:cNvPr id="25602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7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82978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82979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GB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5" name="Rectangle 2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GB" smtClean="0">
              <a:latin typeface="Arial" charset="0"/>
            </a:endParaRPr>
          </a:p>
        </p:txBody>
      </p:sp>
      <p:sp>
        <p:nvSpPr>
          <p:cNvPr id="374786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3" name="Rectangle 2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GB" smtClean="0">
              <a:latin typeface="Arial" charset="0"/>
            </a:endParaRPr>
          </a:p>
        </p:txBody>
      </p:sp>
      <p:sp>
        <p:nvSpPr>
          <p:cNvPr id="376834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/>
          </p:cNvGrpSpPr>
          <p:nvPr userDrawn="1"/>
        </p:nvGrpSpPr>
        <p:grpSpPr bwMode="auto">
          <a:xfrm>
            <a:off x="134938" y="2438400"/>
            <a:ext cx="9009062" cy="1181100"/>
            <a:chOff x="0" y="1536"/>
            <a:chExt cx="5675" cy="744"/>
          </a:xfrm>
        </p:grpSpPr>
        <p:grpSp>
          <p:nvGrpSpPr>
            <p:cNvPr id="5" name="Group 5"/>
            <p:cNvGrpSpPr>
              <a:grpSpLocks/>
            </p:cNvGrpSpPr>
            <p:nvPr userDrawn="1"/>
          </p:nvGrpSpPr>
          <p:grpSpPr bwMode="auto">
            <a:xfrm>
              <a:off x="185" y="1604"/>
              <a:ext cx="449" cy="297"/>
              <a:chOff x="720" y="336"/>
              <a:chExt cx="624" cy="432"/>
            </a:xfrm>
          </p:grpSpPr>
          <p:sp>
            <p:nvSpPr>
              <p:cNvPr id="12" name="Rectangle 6"/>
              <p:cNvSpPr>
                <a:spLocks noChangeArrowheads="1"/>
              </p:cNvSpPr>
              <p:nvPr userDrawn="1"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Arial" pitchFamily="34" charset="0"/>
                </a:endParaRPr>
              </a:p>
            </p:txBody>
          </p:sp>
          <p:sp>
            <p:nvSpPr>
              <p:cNvPr id="13" name="Rectangle 7"/>
              <p:cNvSpPr>
                <a:spLocks noChangeArrowheads="1"/>
              </p:cNvSpPr>
              <p:nvPr userDrawn="1"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Arial" pitchFamily="34" charset="0"/>
                </a:endParaRPr>
              </a:p>
            </p:txBody>
          </p:sp>
        </p:grpSp>
        <p:sp>
          <p:nvSpPr>
            <p:cNvPr id="6" name="Rectangle 8"/>
            <p:cNvSpPr>
              <a:spLocks noChangeArrowheads="1"/>
            </p:cNvSpPr>
            <p:nvPr userDrawn="1"/>
          </p:nvSpPr>
          <p:spPr bwMode="auto">
            <a:xfrm>
              <a:off x="432" y="1868"/>
              <a:ext cx="294" cy="298"/>
            </a:xfrm>
            <a:prstGeom prst="rect">
              <a:avLst/>
            </a:prstGeom>
            <a:gradFill rotWithShape="1">
              <a:gsLst>
                <a:gs pos="0">
                  <a:srgbClr val="339966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7" name="Rectangle 9"/>
            <p:cNvSpPr>
              <a:spLocks noChangeArrowheads="1"/>
            </p:cNvSpPr>
            <p:nvPr userDrawn="1"/>
          </p:nvSpPr>
          <p:spPr bwMode="auto">
            <a:xfrm>
              <a:off x="245" y="1868"/>
              <a:ext cx="187" cy="298"/>
            </a:xfrm>
            <a:prstGeom prst="rect">
              <a:avLst/>
            </a:prstGeom>
            <a:solidFill>
              <a:srgbClr val="3399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 userDrawn="1"/>
          </p:nvSpPr>
          <p:spPr bwMode="auto">
            <a:xfrm>
              <a:off x="144" y="2016"/>
              <a:ext cx="353" cy="264"/>
            </a:xfrm>
            <a:prstGeom prst="rect">
              <a:avLst/>
            </a:prstGeom>
            <a:gradFill rotWithShape="1">
              <a:gsLst>
                <a:gs pos="0">
                  <a:srgbClr val="FFFF00"/>
                </a:gs>
                <a:gs pos="100000">
                  <a:srgbClr val="FFFFCC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 userDrawn="1"/>
          </p:nvSpPr>
          <p:spPr bwMode="auto">
            <a:xfrm>
              <a:off x="0" y="1823"/>
              <a:ext cx="353" cy="26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00FF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10" name="Rectangle 12"/>
            <p:cNvSpPr>
              <a:spLocks noChangeArrowheads="1"/>
            </p:cNvSpPr>
            <p:nvPr userDrawn="1"/>
          </p:nvSpPr>
          <p:spPr bwMode="auto">
            <a:xfrm>
              <a:off x="400" y="1536"/>
              <a:ext cx="20" cy="660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11" name="Rectangle 13"/>
            <p:cNvSpPr>
              <a:spLocks noChangeArrowheads="1"/>
            </p:cNvSpPr>
            <p:nvPr userDrawn="1"/>
          </p:nvSpPr>
          <p:spPr bwMode="auto">
            <a:xfrm flipV="1">
              <a:off x="199" y="2052"/>
              <a:ext cx="5476" cy="3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</a:endParaRPr>
            </a:p>
          </p:txBody>
        </p:sp>
      </p:grpSp>
      <p:sp>
        <p:nvSpPr>
          <p:cNvPr id="3491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1833563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491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1438"/>
            <a:ext cx="6400800" cy="1762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5-</a:t>
            </a:r>
            <a:fld id="{CA12ED2A-166E-492F-B5EB-E29B25EC46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5" name="Rectangle 16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629400"/>
            <a:ext cx="5638800" cy="2286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5-</a:t>
            </a:r>
            <a:fld id="{1E3361F0-D58F-42A1-A404-88D167C25D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5-</a:t>
            </a:r>
            <a:fld id="{789490C8-C89D-4825-885C-149FE73155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828800"/>
            <a:ext cx="3962400" cy="45323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828800"/>
            <a:ext cx="3962400" cy="45323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5-</a:t>
            </a:r>
            <a:fld id="{CA8A4D45-203E-4453-803F-03CEEEF6A9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5-</a:t>
            </a:r>
            <a:fld id="{407CE77B-D4B2-42F8-A082-1521474556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5-</a:t>
            </a:r>
            <a:fld id="{9F52A584-04A1-44F0-B201-4F2DE54A8F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5-</a:t>
            </a:r>
            <a:fld id="{7DE6E999-9310-404C-9DE1-BD93E1F481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5-</a:t>
            </a:r>
            <a:fld id="{B7E30E19-4B55-44B7-9CFB-474804034F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5-</a:t>
            </a:r>
            <a:fld id="{EC3FB176-C44A-4E30-9910-C22592CB90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5-</a:t>
            </a:r>
            <a:fld id="{AF95A12F-73E1-4D63-A351-45612B8AF0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28600"/>
            <a:ext cx="2019300" cy="61325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5905500" cy="61325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5-</a:t>
            </a:r>
            <a:fld id="{485A0831-0011-4EAD-8DBF-7DCD380A72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28600"/>
            <a:ext cx="7383462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828800"/>
            <a:ext cx="3962400" cy="453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828800"/>
            <a:ext cx="3962400" cy="453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5-</a:t>
            </a:r>
            <a:fld id="{6B1B6636-CE5C-44AF-AFAE-595E261A53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28600"/>
            <a:ext cx="7383462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828800"/>
            <a:ext cx="3962400" cy="453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724400" y="1828800"/>
            <a:ext cx="3962400" cy="453231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5-</a:t>
            </a:r>
            <a:fld id="{0A25CD68-1ACC-46ED-805C-6560AE286E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28600"/>
            <a:ext cx="7383462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828800"/>
            <a:ext cx="8077200" cy="453231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5-</a:t>
            </a:r>
            <a:fld id="{5ABFC1AB-2D98-46C2-854E-9A5D8CB820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7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28600"/>
            <a:ext cx="7383462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5342" tIns="42672" rIns="85342" bIns="42672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828800"/>
            <a:ext cx="8077200" cy="4532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5342" tIns="42672" rIns="85342" bIns="4267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4816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5342" tIns="42672" rIns="85342" bIns="42672" numCol="1" anchor="b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pPr>
              <a:defRPr/>
            </a:pPr>
            <a:r>
              <a:rPr lang="en-US"/>
              <a:t>Chap 5-</a:t>
            </a:r>
            <a:fld id="{F05DB052-6686-49C0-93DF-6EBA382448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29" name="Group 6"/>
          <p:cNvGrpSpPr>
            <a:grpSpLocks/>
          </p:cNvGrpSpPr>
          <p:nvPr userDrawn="1"/>
        </p:nvGrpSpPr>
        <p:grpSpPr bwMode="auto">
          <a:xfrm>
            <a:off x="0" y="609600"/>
            <a:ext cx="9009063" cy="1181100"/>
            <a:chOff x="0" y="1536"/>
            <a:chExt cx="5675" cy="744"/>
          </a:xfrm>
        </p:grpSpPr>
        <p:grpSp>
          <p:nvGrpSpPr>
            <p:cNvPr id="1031" name="Group 7"/>
            <p:cNvGrpSpPr>
              <a:grpSpLocks/>
            </p:cNvGrpSpPr>
            <p:nvPr userDrawn="1"/>
          </p:nvGrpSpPr>
          <p:grpSpPr bwMode="auto">
            <a:xfrm>
              <a:off x="183" y="1604"/>
              <a:ext cx="448" cy="297"/>
              <a:chOff x="720" y="336"/>
              <a:chExt cx="624" cy="432"/>
            </a:xfrm>
          </p:grpSpPr>
          <p:sp>
            <p:nvSpPr>
              <p:cNvPr id="348168" name="Rectangle 8"/>
              <p:cNvSpPr>
                <a:spLocks noChangeArrowheads="1"/>
              </p:cNvSpPr>
              <p:nvPr userDrawn="1"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Arial" pitchFamily="34" charset="0"/>
                </a:endParaRPr>
              </a:p>
            </p:txBody>
          </p:sp>
          <p:sp>
            <p:nvSpPr>
              <p:cNvPr id="348169" name="Rectangle 9"/>
              <p:cNvSpPr>
                <a:spLocks noChangeArrowheads="1"/>
              </p:cNvSpPr>
              <p:nvPr userDrawn="1"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Arial" pitchFamily="34" charset="0"/>
                </a:endParaRPr>
              </a:p>
            </p:txBody>
          </p:sp>
        </p:grpSp>
        <p:sp>
          <p:nvSpPr>
            <p:cNvPr id="348170" name="Rectangle 10"/>
            <p:cNvSpPr>
              <a:spLocks noChangeArrowheads="1"/>
            </p:cNvSpPr>
            <p:nvPr userDrawn="1"/>
          </p:nvSpPr>
          <p:spPr bwMode="auto">
            <a:xfrm>
              <a:off x="432" y="1868"/>
              <a:ext cx="294" cy="298"/>
            </a:xfrm>
            <a:prstGeom prst="rect">
              <a:avLst/>
            </a:prstGeom>
            <a:gradFill rotWithShape="1">
              <a:gsLst>
                <a:gs pos="0">
                  <a:srgbClr val="339966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348171" name="Rectangle 11"/>
            <p:cNvSpPr>
              <a:spLocks noChangeArrowheads="1"/>
            </p:cNvSpPr>
            <p:nvPr userDrawn="1"/>
          </p:nvSpPr>
          <p:spPr bwMode="auto">
            <a:xfrm>
              <a:off x="245" y="1868"/>
              <a:ext cx="187" cy="298"/>
            </a:xfrm>
            <a:prstGeom prst="rect">
              <a:avLst/>
            </a:prstGeom>
            <a:solidFill>
              <a:srgbClr val="3399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348172" name="Rectangle 12"/>
            <p:cNvSpPr>
              <a:spLocks noChangeArrowheads="1"/>
            </p:cNvSpPr>
            <p:nvPr userDrawn="1"/>
          </p:nvSpPr>
          <p:spPr bwMode="auto">
            <a:xfrm>
              <a:off x="144" y="2016"/>
              <a:ext cx="353" cy="264"/>
            </a:xfrm>
            <a:prstGeom prst="rect">
              <a:avLst/>
            </a:prstGeom>
            <a:gradFill rotWithShape="1">
              <a:gsLst>
                <a:gs pos="0">
                  <a:srgbClr val="FFFF00"/>
                </a:gs>
                <a:gs pos="100000">
                  <a:srgbClr val="FFFFCC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348173" name="Rectangle 13"/>
            <p:cNvSpPr>
              <a:spLocks noChangeArrowheads="1"/>
            </p:cNvSpPr>
            <p:nvPr userDrawn="1"/>
          </p:nvSpPr>
          <p:spPr bwMode="auto">
            <a:xfrm>
              <a:off x="0" y="1823"/>
              <a:ext cx="353" cy="26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00FF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348174" name="Rectangle 14"/>
            <p:cNvSpPr>
              <a:spLocks noChangeArrowheads="1"/>
            </p:cNvSpPr>
            <p:nvPr userDrawn="1"/>
          </p:nvSpPr>
          <p:spPr bwMode="auto">
            <a:xfrm>
              <a:off x="400" y="1536"/>
              <a:ext cx="20" cy="660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348175" name="Rectangle 15"/>
            <p:cNvSpPr>
              <a:spLocks noChangeArrowheads="1"/>
            </p:cNvSpPr>
            <p:nvPr userDrawn="1"/>
          </p:nvSpPr>
          <p:spPr bwMode="auto">
            <a:xfrm flipV="1">
              <a:off x="199" y="2052"/>
              <a:ext cx="5476" cy="3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</a:endParaRPr>
            </a:p>
          </p:txBody>
        </p:sp>
      </p:grpSp>
      <p:sp>
        <p:nvSpPr>
          <p:cNvPr id="104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629400"/>
            <a:ext cx="6096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800"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5" r:id="rId2"/>
    <p:sldLayoutId id="2147483664" r:id="rId3"/>
    <p:sldLayoutId id="2147483663" r:id="rId4"/>
    <p:sldLayoutId id="2147483662" r:id="rId5"/>
    <p:sldLayoutId id="2147483661" r:id="rId6"/>
    <p:sldLayoutId id="2147483660" r:id="rId7"/>
    <p:sldLayoutId id="2147483659" r:id="rId8"/>
    <p:sldLayoutId id="2147483658" r:id="rId9"/>
    <p:sldLayoutId id="2147483657" r:id="rId10"/>
    <p:sldLayoutId id="2147483656" r:id="rId11"/>
    <p:sldLayoutId id="2147483655" r:id="rId12"/>
    <p:sldLayoutId id="2147483654" r:id="rId13"/>
    <p:sldLayoutId id="2147483653" r:id="rId14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852488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852488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2pPr>
      <a:lvl3pPr algn="ctr" defTabSz="852488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3pPr>
      <a:lvl4pPr algn="ctr" defTabSz="852488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4pPr>
      <a:lvl5pPr algn="ctr" defTabSz="852488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5pPr>
      <a:lvl6pPr marL="457200" algn="ctr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6pPr>
      <a:lvl7pPr marL="914400" algn="ctr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7pPr>
      <a:lvl8pPr marL="1371600" algn="ctr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8pPr>
      <a:lvl9pPr marL="1828800" algn="ctr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9pPr>
    </p:titleStyle>
    <p:bodyStyle>
      <a:lvl1pPr marL="320675" indent="-320675" algn="l" defTabSz="852488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93738" indent="-268288" algn="l" defTabSz="852488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2pPr>
      <a:lvl3pPr marL="1068388" indent="-215900" algn="l" defTabSz="852488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3pPr>
      <a:lvl4pPr marL="1493838" indent="-212725" algn="l" defTabSz="852488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4pPr>
      <a:lvl5pPr marL="1919288" indent="-212725" algn="l" defTabSz="852488" rtl="0" eaLnBrk="0" fontAlgn="base" hangingPunct="0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5pPr>
      <a:lvl6pPr marL="2376488" indent="-212725" algn="l" defTabSz="852488" rtl="0" fontAlgn="base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6pPr>
      <a:lvl7pPr marL="2833688" indent="-212725" algn="l" defTabSz="852488" rtl="0" fontAlgn="base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7pPr>
      <a:lvl8pPr marL="3290888" indent="-212725" algn="l" defTabSz="852488" rtl="0" fontAlgn="base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8pPr>
      <a:lvl9pPr marL="3748088" indent="-212725" algn="l" defTabSz="852488" rtl="0" fontAlgn="base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oleObject8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oleObject" Target="../embeddings/oleObject12.bin"/><Relationship Id="rId4" Type="http://schemas.openxmlformats.org/officeDocument/2006/relationships/oleObject" Target="../embeddings/oleObject11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oleObject" Target="../embeddings/oleObject14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oleObject" Target="../embeddings/oleObject16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1.v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oleObject" Target="../embeddings/oleObject19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oleObject" Target="../embeddings/oleObject23.bin"/><Relationship Id="rId4" Type="http://schemas.openxmlformats.org/officeDocument/2006/relationships/oleObject" Target="../embeddings/oleObject22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7.bin"/><Relationship Id="rId5" Type="http://schemas.openxmlformats.org/officeDocument/2006/relationships/oleObject" Target="../embeddings/oleObject26.bin"/><Relationship Id="rId4" Type="http://schemas.openxmlformats.org/officeDocument/2006/relationships/oleObject" Target="../embeddings/oleObject25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oleObject" Target="../embeddings/oleObject31.bin"/><Relationship Id="rId4" Type="http://schemas.openxmlformats.org/officeDocument/2006/relationships/oleObject" Target="../embeddings/oleObject30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oleObject" Target="../embeddings/oleObject35.bin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5" Type="http://schemas.openxmlformats.org/officeDocument/2006/relationships/oleObject" Target="../embeddings/oleObject39.bin"/><Relationship Id="rId4" Type="http://schemas.openxmlformats.org/officeDocument/2006/relationships/oleObject" Target="../embeddings/oleObject38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53E51EEC-20B1-4C3A-91FA-8B00A1F3DD8F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18434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8435" name="Rectangle 15"/>
          <p:cNvSpPr txBox="1">
            <a:spLocks noGrp="1" noChangeArrowheads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94758B1F-AB17-41ED-8D51-02858A93831F}" type="slidenum">
              <a:rPr lang="en-US" sz="1000"/>
              <a:pPr algn="r" defTabSz="852488"/>
              <a:t>1</a:t>
            </a:fld>
            <a:endParaRPr lang="en-US" sz="1000"/>
          </a:p>
        </p:txBody>
      </p:sp>
      <p:sp>
        <p:nvSpPr>
          <p:cNvPr id="18436" name="Rectangle 2051"/>
          <p:cNvSpPr>
            <a:spLocks noGrp="1" noChangeArrowheads="1"/>
          </p:cNvSpPr>
          <p:nvPr>
            <p:ph type="subTitle" idx="1"/>
          </p:nvPr>
        </p:nvSpPr>
        <p:spPr>
          <a:xfrm>
            <a:off x="1600200" y="3505200"/>
            <a:ext cx="6477000" cy="24431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500" b="1" smtClean="0"/>
              <a:t>Chapter 5</a:t>
            </a:r>
          </a:p>
          <a:p>
            <a:pPr eaLnBrk="1" hangingPunct="1"/>
            <a:endParaRPr lang="en-US" sz="3500" smtClean="0"/>
          </a:p>
          <a:p>
            <a:pPr eaLnBrk="1" hangingPunct="1"/>
            <a:r>
              <a:rPr lang="en-US" sz="3500" smtClean="0"/>
              <a:t>Discrete Probability Distributions</a:t>
            </a:r>
          </a:p>
        </p:txBody>
      </p:sp>
      <p:sp>
        <p:nvSpPr>
          <p:cNvPr id="18437" name="Rectangle 2054"/>
          <p:cNvSpPr>
            <a:spLocks noChangeArrowheads="1"/>
          </p:cNvSpPr>
          <p:nvPr/>
        </p:nvSpPr>
        <p:spPr bwMode="auto">
          <a:xfrm>
            <a:off x="1447800" y="838200"/>
            <a:ext cx="7010400" cy="206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ctr" defTabSz="852488"/>
            <a:r>
              <a:rPr lang="en-US" i="1">
                <a:solidFill>
                  <a:schemeClr val="folHlink"/>
                </a:solidFill>
              </a:rPr>
              <a:t>Basic Business Statistics</a:t>
            </a:r>
            <a:r>
              <a:rPr lang="en-US" sz="4100">
                <a:solidFill>
                  <a:schemeClr val="folHlink"/>
                </a:solidFill>
              </a:rPr>
              <a:t/>
            </a:r>
            <a:br>
              <a:rPr lang="en-US" sz="4100">
                <a:solidFill>
                  <a:schemeClr val="folHlink"/>
                </a:solidFill>
              </a:rPr>
            </a:br>
            <a:r>
              <a:rPr lang="en-US" sz="3600">
                <a:solidFill>
                  <a:schemeClr val="folHlink"/>
                </a:solidFill>
              </a:rPr>
              <a:t>12</a:t>
            </a:r>
            <a:r>
              <a:rPr lang="en-US" sz="3600" baseline="30000">
                <a:solidFill>
                  <a:schemeClr val="folHlink"/>
                </a:solidFill>
              </a:rPr>
              <a:t>th</a:t>
            </a:r>
            <a:r>
              <a:rPr lang="en-US" sz="3600">
                <a:solidFill>
                  <a:schemeClr val="folHlink"/>
                </a:solidFill>
              </a:rPr>
              <a:t> Edition</a:t>
            </a:r>
          </a:p>
          <a:p>
            <a:pPr algn="ctr" defTabSz="852488"/>
            <a:r>
              <a:rPr lang="en-US" sz="3600">
                <a:solidFill>
                  <a:schemeClr val="folHlink"/>
                </a:solidFill>
              </a:rPr>
              <a:t>Global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AD216D66-4955-4295-97DC-0BC8A4E8D21C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19458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945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F1353A76-0B6D-4B8B-AF6B-93F1380A6691}" type="slidenum">
              <a:rPr lang="en-US" sz="1000"/>
              <a:pPr algn="r" defTabSz="852488"/>
              <a:t>2</a:t>
            </a:fld>
            <a:endParaRPr lang="en-US" sz="1000"/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Learning Objectives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b="1" smtClean="0"/>
              <a:t>In this chapter, you learn:</a:t>
            </a:r>
            <a:r>
              <a:rPr lang="en-US" smtClean="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The properties of a probability distribution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To compute the expected value and variance of a probability distribution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To calculate the covariance and understand its use in finance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To compute probabilities from binomial, hypergeometric, and Poisson distributions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How to use the binomial, hypergeometric, and Poisson distributions to solve business problems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41407A64-7EA0-4F0A-A4C8-98F589ECB7DD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20482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048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C2ECBDE5-14D3-411C-A3DD-5C3F65B0D4C0}" type="slidenum">
              <a:rPr lang="en-US" sz="1000"/>
              <a:pPr algn="r" defTabSz="852488"/>
              <a:t>3</a:t>
            </a:fld>
            <a:endParaRPr lang="en-US" sz="1000"/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Definitions</a:t>
            </a:r>
            <a:br>
              <a:rPr lang="en-US" smtClean="0"/>
            </a:br>
            <a:r>
              <a:rPr lang="en-US" smtClean="0"/>
              <a:t>Random Variables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8077200" cy="42799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A </a:t>
            </a:r>
            <a:r>
              <a:rPr lang="en-US" b="1" smtClean="0">
                <a:solidFill>
                  <a:schemeClr val="folHlink"/>
                </a:solidFill>
              </a:rPr>
              <a:t>random variable</a:t>
            </a:r>
            <a:r>
              <a:rPr lang="en-US" smtClean="0"/>
              <a:t> represents a possible numerical value from an uncertain event.</a:t>
            </a:r>
          </a:p>
          <a:p>
            <a:pPr eaLnBrk="1" hangingPunct="1">
              <a:lnSpc>
                <a:spcPct val="90000"/>
              </a:lnSpc>
            </a:pPr>
            <a:endParaRPr lang="en-US" smtClean="0"/>
          </a:p>
          <a:p>
            <a:pPr eaLnBrk="1" hangingPunct="1">
              <a:lnSpc>
                <a:spcPct val="90000"/>
              </a:lnSpc>
            </a:pPr>
            <a:r>
              <a:rPr lang="en-US" b="1" smtClean="0">
                <a:solidFill>
                  <a:schemeClr val="folHlink"/>
                </a:solidFill>
              </a:rPr>
              <a:t>Discrete</a:t>
            </a:r>
            <a:r>
              <a:rPr lang="en-US" smtClean="0"/>
              <a:t> random variables produce outcomes that come from a counting process (e.g. number of classes you are taking).</a:t>
            </a:r>
          </a:p>
          <a:p>
            <a:pPr eaLnBrk="1" hangingPunct="1">
              <a:lnSpc>
                <a:spcPct val="90000"/>
              </a:lnSpc>
            </a:pPr>
            <a:endParaRPr lang="en-US" smtClean="0"/>
          </a:p>
          <a:p>
            <a:pPr eaLnBrk="1" hangingPunct="1">
              <a:lnSpc>
                <a:spcPct val="90000"/>
              </a:lnSpc>
            </a:pPr>
            <a:r>
              <a:rPr lang="en-US" b="1" smtClean="0">
                <a:solidFill>
                  <a:schemeClr val="folHlink"/>
                </a:solidFill>
              </a:rPr>
              <a:t>Continuous</a:t>
            </a:r>
            <a:r>
              <a:rPr lang="en-US" smtClean="0"/>
              <a:t> random variables produce outcomes that come from a measurement (e.g. your annual salary, or your weight).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EE0776FE-1971-4371-A456-4705E4288369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21506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150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B30DBFA3-CEC5-449D-8700-001810E14E20}" type="slidenum">
              <a:rPr lang="en-US" sz="1000"/>
              <a:pPr algn="r" defTabSz="852488"/>
              <a:t>4</a:t>
            </a:fld>
            <a:endParaRPr lang="en-US" sz="1000"/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793038" cy="114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3600" smtClean="0"/>
              <a:t>Definitions</a:t>
            </a:r>
            <a:br>
              <a:rPr lang="en-US" sz="3600" smtClean="0"/>
            </a:br>
            <a:r>
              <a:rPr lang="en-US" sz="3600" smtClean="0"/>
              <a:t>Random Variables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8077200" cy="1600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sz="3200" smtClean="0"/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</p:txBody>
      </p:sp>
      <p:sp>
        <p:nvSpPr>
          <p:cNvPr id="21510" name="Rectangle 4"/>
          <p:cNvSpPr>
            <a:spLocks noChangeArrowheads="1"/>
          </p:cNvSpPr>
          <p:nvPr/>
        </p:nvSpPr>
        <p:spPr bwMode="auto">
          <a:xfrm>
            <a:off x="3352800" y="2057400"/>
            <a:ext cx="2332038" cy="874713"/>
          </a:xfrm>
          <a:prstGeom prst="rect">
            <a:avLst/>
          </a:prstGeom>
          <a:solidFill>
            <a:srgbClr val="FDE0BD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400" b="1"/>
              <a:t>Random </a:t>
            </a:r>
          </a:p>
          <a:p>
            <a:pPr algn="ctr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2400" b="1"/>
              <a:t>Variables</a:t>
            </a:r>
          </a:p>
        </p:txBody>
      </p:sp>
      <p:sp>
        <p:nvSpPr>
          <p:cNvPr id="21511" name="Rectangle 5"/>
          <p:cNvSpPr>
            <a:spLocks noChangeArrowheads="1"/>
          </p:cNvSpPr>
          <p:nvPr/>
        </p:nvSpPr>
        <p:spPr bwMode="auto">
          <a:xfrm>
            <a:off x="1417638" y="3373438"/>
            <a:ext cx="2514600" cy="687387"/>
          </a:xfrm>
          <a:prstGeom prst="rect">
            <a:avLst/>
          </a:prstGeom>
          <a:solidFill>
            <a:srgbClr val="FDE0BD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 anchor="ctr">
            <a:spAutoFit/>
          </a:bodyPr>
          <a:lstStyle/>
          <a:p>
            <a:pPr algn="ctr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2000" b="1"/>
              <a:t>Discrete </a:t>
            </a:r>
          </a:p>
          <a:p>
            <a:pPr algn="ctr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2000" b="1"/>
              <a:t>Random Variable</a:t>
            </a:r>
          </a:p>
        </p:txBody>
      </p:sp>
      <p:sp>
        <p:nvSpPr>
          <p:cNvPr id="21512" name="Rectangle 6"/>
          <p:cNvSpPr>
            <a:spLocks noChangeArrowheads="1"/>
          </p:cNvSpPr>
          <p:nvPr/>
        </p:nvSpPr>
        <p:spPr bwMode="auto">
          <a:xfrm>
            <a:off x="5227638" y="3373438"/>
            <a:ext cx="2374900" cy="687387"/>
          </a:xfrm>
          <a:prstGeom prst="rect">
            <a:avLst/>
          </a:prstGeom>
          <a:solidFill>
            <a:srgbClr val="FDE0BD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 anchor="ctr">
            <a:spAutoFit/>
          </a:bodyPr>
          <a:lstStyle/>
          <a:p>
            <a:pPr algn="ctr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2000" b="1"/>
              <a:t>Continuous</a:t>
            </a:r>
          </a:p>
          <a:p>
            <a:pPr algn="ctr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2000" b="1"/>
              <a:t>Random Variable</a:t>
            </a:r>
          </a:p>
        </p:txBody>
      </p:sp>
      <p:cxnSp>
        <p:nvCxnSpPr>
          <p:cNvPr id="21513" name="AutoShape 7"/>
          <p:cNvCxnSpPr>
            <a:cxnSpLocks noChangeShapeType="1"/>
            <a:stCxn id="21510" idx="2"/>
            <a:endCxn id="21511" idx="0"/>
          </p:cNvCxnSpPr>
          <p:nvPr/>
        </p:nvCxnSpPr>
        <p:spPr bwMode="auto">
          <a:xfrm rot="5400000">
            <a:off x="3386138" y="2230438"/>
            <a:ext cx="422275" cy="184467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1514" name="AutoShape 8"/>
          <p:cNvCxnSpPr>
            <a:cxnSpLocks noChangeShapeType="1"/>
            <a:stCxn id="21510" idx="2"/>
            <a:endCxn id="21512" idx="0"/>
          </p:cNvCxnSpPr>
          <p:nvPr/>
        </p:nvCxnSpPr>
        <p:spPr bwMode="auto">
          <a:xfrm rot="16200000" flipH="1">
            <a:off x="5256213" y="2205038"/>
            <a:ext cx="422275" cy="189547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21515" name="Line 9"/>
          <p:cNvSpPr>
            <a:spLocks noChangeShapeType="1"/>
          </p:cNvSpPr>
          <p:nvPr/>
        </p:nvSpPr>
        <p:spPr bwMode="auto">
          <a:xfrm>
            <a:off x="3794125" y="3208338"/>
            <a:ext cx="1588" cy="1587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6" name="Line 10"/>
          <p:cNvSpPr>
            <a:spLocks noChangeShapeType="1"/>
          </p:cNvSpPr>
          <p:nvPr/>
        </p:nvSpPr>
        <p:spPr bwMode="auto">
          <a:xfrm>
            <a:off x="4953000" y="5105400"/>
            <a:ext cx="2901950" cy="1588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1517" name="Freeform 11"/>
          <p:cNvSpPr>
            <a:spLocks/>
          </p:cNvSpPr>
          <p:nvPr/>
        </p:nvSpPr>
        <p:spPr bwMode="auto">
          <a:xfrm>
            <a:off x="6400800" y="4267200"/>
            <a:ext cx="1390650" cy="766763"/>
          </a:xfrm>
          <a:custGeom>
            <a:avLst/>
            <a:gdLst>
              <a:gd name="T0" fmla="*/ 1389300 w 1030"/>
              <a:gd name="T1" fmla="*/ 765989 h 991"/>
              <a:gd name="T2" fmla="*/ 1243484 w 1030"/>
              <a:gd name="T3" fmla="*/ 758252 h 991"/>
              <a:gd name="T4" fmla="*/ 1169226 w 1030"/>
              <a:gd name="T5" fmla="*/ 748194 h 991"/>
              <a:gd name="T6" fmla="*/ 1097668 w 1030"/>
              <a:gd name="T7" fmla="*/ 736588 h 991"/>
              <a:gd name="T8" fmla="*/ 1023410 w 1030"/>
              <a:gd name="T9" fmla="*/ 718792 h 991"/>
              <a:gd name="T10" fmla="*/ 949152 w 1030"/>
              <a:gd name="T11" fmla="*/ 694033 h 991"/>
              <a:gd name="T12" fmla="*/ 878945 w 1030"/>
              <a:gd name="T13" fmla="*/ 663084 h 991"/>
              <a:gd name="T14" fmla="*/ 730429 w 1030"/>
              <a:gd name="T15" fmla="*/ 574879 h 991"/>
              <a:gd name="T16" fmla="*/ 584613 w 1030"/>
              <a:gd name="T17" fmla="*/ 449535 h 991"/>
              <a:gd name="T18" fmla="*/ 438797 w 1030"/>
              <a:gd name="T19" fmla="*/ 298658 h 991"/>
              <a:gd name="T20" fmla="*/ 364539 w 1030"/>
              <a:gd name="T21" fmla="*/ 222060 h 991"/>
              <a:gd name="T22" fmla="*/ 290281 w 1030"/>
              <a:gd name="T23" fmla="*/ 151650 h 991"/>
              <a:gd name="T24" fmla="*/ 220074 w 1030"/>
              <a:gd name="T25" fmla="*/ 89752 h 991"/>
              <a:gd name="T26" fmla="*/ 145816 w 1030"/>
              <a:gd name="T27" fmla="*/ 41008 h 991"/>
              <a:gd name="T28" fmla="*/ 71558 w 1030"/>
              <a:gd name="T29" fmla="*/ 10058 h 991"/>
              <a:gd name="T30" fmla="*/ 0 w 1030"/>
              <a:gd name="T31" fmla="*/ 0 h 99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030"/>
              <a:gd name="T49" fmla="*/ 0 h 991"/>
              <a:gd name="T50" fmla="*/ 1030 w 1030"/>
              <a:gd name="T51" fmla="*/ 991 h 99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030" h="991">
                <a:moveTo>
                  <a:pt x="1029" y="990"/>
                </a:moveTo>
                <a:lnTo>
                  <a:pt x="921" y="980"/>
                </a:lnTo>
                <a:lnTo>
                  <a:pt x="866" y="967"/>
                </a:lnTo>
                <a:lnTo>
                  <a:pt x="813" y="952"/>
                </a:lnTo>
                <a:lnTo>
                  <a:pt x="758" y="929"/>
                </a:lnTo>
                <a:lnTo>
                  <a:pt x="703" y="897"/>
                </a:lnTo>
                <a:lnTo>
                  <a:pt x="651" y="857"/>
                </a:lnTo>
                <a:lnTo>
                  <a:pt x="541" y="743"/>
                </a:lnTo>
                <a:lnTo>
                  <a:pt x="433" y="581"/>
                </a:lnTo>
                <a:lnTo>
                  <a:pt x="325" y="386"/>
                </a:lnTo>
                <a:lnTo>
                  <a:pt x="270" y="287"/>
                </a:lnTo>
                <a:lnTo>
                  <a:pt x="215" y="196"/>
                </a:lnTo>
                <a:lnTo>
                  <a:pt x="163" y="116"/>
                </a:lnTo>
                <a:lnTo>
                  <a:pt x="108" y="53"/>
                </a:lnTo>
                <a:lnTo>
                  <a:pt x="53" y="13"/>
                </a:lnTo>
                <a:lnTo>
                  <a:pt x="0" y="0"/>
                </a:lnTo>
              </a:path>
            </a:pathLst>
          </a:custGeom>
          <a:noFill/>
          <a:ln w="50800" cap="rnd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1518" name="Freeform 12"/>
          <p:cNvSpPr>
            <a:spLocks/>
          </p:cNvSpPr>
          <p:nvPr/>
        </p:nvSpPr>
        <p:spPr bwMode="auto">
          <a:xfrm>
            <a:off x="5029200" y="4267200"/>
            <a:ext cx="1393825" cy="766763"/>
          </a:xfrm>
          <a:custGeom>
            <a:avLst/>
            <a:gdLst>
              <a:gd name="T0" fmla="*/ 0 w 1032"/>
              <a:gd name="T1" fmla="*/ 765989 h 991"/>
              <a:gd name="T2" fmla="*/ 145865 w 1032"/>
              <a:gd name="T3" fmla="*/ 758252 h 991"/>
              <a:gd name="T4" fmla="*/ 220149 w 1032"/>
              <a:gd name="T5" fmla="*/ 748194 h 991"/>
              <a:gd name="T6" fmla="*/ 294432 w 1032"/>
              <a:gd name="T7" fmla="*/ 736588 h 991"/>
              <a:gd name="T8" fmla="*/ 366014 w 1032"/>
              <a:gd name="T9" fmla="*/ 718792 h 991"/>
              <a:gd name="T10" fmla="*/ 440297 w 1032"/>
              <a:gd name="T11" fmla="*/ 694033 h 991"/>
              <a:gd name="T12" fmla="*/ 514581 w 1032"/>
              <a:gd name="T13" fmla="*/ 663084 h 991"/>
              <a:gd name="T14" fmla="*/ 659095 w 1032"/>
              <a:gd name="T15" fmla="*/ 574879 h 991"/>
              <a:gd name="T16" fmla="*/ 804961 w 1032"/>
              <a:gd name="T17" fmla="*/ 449535 h 991"/>
              <a:gd name="T18" fmla="*/ 953527 w 1032"/>
              <a:gd name="T19" fmla="*/ 298658 h 991"/>
              <a:gd name="T20" fmla="*/ 1025110 w 1032"/>
              <a:gd name="T21" fmla="*/ 222060 h 991"/>
              <a:gd name="T22" fmla="*/ 1099393 w 1032"/>
              <a:gd name="T23" fmla="*/ 151650 h 991"/>
              <a:gd name="T24" fmla="*/ 1172325 w 1032"/>
              <a:gd name="T25" fmla="*/ 89752 h 991"/>
              <a:gd name="T26" fmla="*/ 1243908 w 1032"/>
              <a:gd name="T27" fmla="*/ 41008 h 991"/>
              <a:gd name="T28" fmla="*/ 1318191 w 1032"/>
              <a:gd name="T29" fmla="*/ 10058 h 991"/>
              <a:gd name="T30" fmla="*/ 1392474 w 1032"/>
              <a:gd name="T31" fmla="*/ 0 h 99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032"/>
              <a:gd name="T49" fmla="*/ 0 h 991"/>
              <a:gd name="T50" fmla="*/ 1032 w 1032"/>
              <a:gd name="T51" fmla="*/ 991 h 99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032" h="991">
                <a:moveTo>
                  <a:pt x="0" y="990"/>
                </a:moveTo>
                <a:lnTo>
                  <a:pt x="108" y="980"/>
                </a:lnTo>
                <a:lnTo>
                  <a:pt x="163" y="967"/>
                </a:lnTo>
                <a:lnTo>
                  <a:pt x="218" y="952"/>
                </a:lnTo>
                <a:lnTo>
                  <a:pt x="271" y="929"/>
                </a:lnTo>
                <a:lnTo>
                  <a:pt x="326" y="897"/>
                </a:lnTo>
                <a:lnTo>
                  <a:pt x="381" y="857"/>
                </a:lnTo>
                <a:lnTo>
                  <a:pt x="488" y="743"/>
                </a:lnTo>
                <a:lnTo>
                  <a:pt x="596" y="581"/>
                </a:lnTo>
                <a:lnTo>
                  <a:pt x="706" y="386"/>
                </a:lnTo>
                <a:lnTo>
                  <a:pt x="759" y="287"/>
                </a:lnTo>
                <a:lnTo>
                  <a:pt x="814" y="196"/>
                </a:lnTo>
                <a:lnTo>
                  <a:pt x="868" y="116"/>
                </a:lnTo>
                <a:lnTo>
                  <a:pt x="921" y="53"/>
                </a:lnTo>
                <a:lnTo>
                  <a:pt x="976" y="13"/>
                </a:lnTo>
                <a:lnTo>
                  <a:pt x="1031" y="0"/>
                </a:lnTo>
              </a:path>
            </a:pathLst>
          </a:custGeom>
          <a:noFill/>
          <a:ln w="50800" cap="rnd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1519" name="Line 13"/>
          <p:cNvSpPr>
            <a:spLocks noChangeShapeType="1"/>
          </p:cNvSpPr>
          <p:nvPr/>
        </p:nvSpPr>
        <p:spPr bwMode="auto">
          <a:xfrm>
            <a:off x="1219200" y="5105400"/>
            <a:ext cx="2901950" cy="1588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1520" name="Line 14"/>
          <p:cNvSpPr>
            <a:spLocks noChangeShapeType="1"/>
          </p:cNvSpPr>
          <p:nvPr/>
        </p:nvSpPr>
        <p:spPr bwMode="auto">
          <a:xfrm>
            <a:off x="1524000" y="4800600"/>
            <a:ext cx="0" cy="3048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21" name="Line 15"/>
          <p:cNvSpPr>
            <a:spLocks noChangeShapeType="1"/>
          </p:cNvSpPr>
          <p:nvPr/>
        </p:nvSpPr>
        <p:spPr bwMode="auto">
          <a:xfrm>
            <a:off x="1676400" y="4648200"/>
            <a:ext cx="0" cy="4572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22" name="Line 16"/>
          <p:cNvSpPr>
            <a:spLocks noChangeShapeType="1"/>
          </p:cNvSpPr>
          <p:nvPr/>
        </p:nvSpPr>
        <p:spPr bwMode="auto">
          <a:xfrm>
            <a:off x="1828800" y="4191000"/>
            <a:ext cx="0" cy="9144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23" name="Line 17"/>
          <p:cNvSpPr>
            <a:spLocks noChangeShapeType="1"/>
          </p:cNvSpPr>
          <p:nvPr/>
        </p:nvSpPr>
        <p:spPr bwMode="auto">
          <a:xfrm>
            <a:off x="1981200" y="4419600"/>
            <a:ext cx="0" cy="6858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24" name="Line 18"/>
          <p:cNvSpPr>
            <a:spLocks noChangeShapeType="1"/>
          </p:cNvSpPr>
          <p:nvPr/>
        </p:nvSpPr>
        <p:spPr bwMode="auto">
          <a:xfrm>
            <a:off x="2133600" y="4267200"/>
            <a:ext cx="0" cy="8382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25" name="Line 19"/>
          <p:cNvSpPr>
            <a:spLocks noChangeShapeType="1"/>
          </p:cNvSpPr>
          <p:nvPr/>
        </p:nvSpPr>
        <p:spPr bwMode="auto">
          <a:xfrm>
            <a:off x="2286000" y="4495800"/>
            <a:ext cx="0" cy="6096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26" name="Line 20"/>
          <p:cNvSpPr>
            <a:spLocks noChangeShapeType="1"/>
          </p:cNvSpPr>
          <p:nvPr/>
        </p:nvSpPr>
        <p:spPr bwMode="auto">
          <a:xfrm>
            <a:off x="2438400" y="4648200"/>
            <a:ext cx="0" cy="4572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27" name="Line 21"/>
          <p:cNvSpPr>
            <a:spLocks noChangeShapeType="1"/>
          </p:cNvSpPr>
          <p:nvPr/>
        </p:nvSpPr>
        <p:spPr bwMode="auto">
          <a:xfrm>
            <a:off x="2590800" y="4724400"/>
            <a:ext cx="0" cy="3810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28" name="Line 22"/>
          <p:cNvSpPr>
            <a:spLocks noChangeShapeType="1"/>
          </p:cNvSpPr>
          <p:nvPr/>
        </p:nvSpPr>
        <p:spPr bwMode="auto">
          <a:xfrm>
            <a:off x="3352800" y="4876800"/>
            <a:ext cx="0" cy="2286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29" name="Line 23"/>
          <p:cNvSpPr>
            <a:spLocks noChangeShapeType="1"/>
          </p:cNvSpPr>
          <p:nvPr/>
        </p:nvSpPr>
        <p:spPr bwMode="auto">
          <a:xfrm>
            <a:off x="3581400" y="4953000"/>
            <a:ext cx="0" cy="1524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30" name="Line 24"/>
          <p:cNvSpPr>
            <a:spLocks noChangeShapeType="1"/>
          </p:cNvSpPr>
          <p:nvPr/>
        </p:nvSpPr>
        <p:spPr bwMode="auto">
          <a:xfrm>
            <a:off x="3048000" y="4876800"/>
            <a:ext cx="0" cy="2286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31" name="Line 25"/>
          <p:cNvSpPr>
            <a:spLocks noChangeShapeType="1"/>
          </p:cNvSpPr>
          <p:nvPr/>
        </p:nvSpPr>
        <p:spPr bwMode="auto">
          <a:xfrm>
            <a:off x="2743200" y="4724400"/>
            <a:ext cx="0" cy="3810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32" name="Text Box 26"/>
          <p:cNvSpPr txBox="1">
            <a:spLocks noChangeArrowheads="1"/>
          </p:cNvSpPr>
          <p:nvPr/>
        </p:nvSpPr>
        <p:spPr bwMode="auto">
          <a:xfrm>
            <a:off x="457200" y="3354388"/>
            <a:ext cx="912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hlink"/>
                </a:solidFill>
              </a:rPr>
              <a:t>Ch. 5</a:t>
            </a:r>
          </a:p>
        </p:txBody>
      </p:sp>
      <p:sp>
        <p:nvSpPr>
          <p:cNvPr id="21533" name="Text Box 27"/>
          <p:cNvSpPr txBox="1">
            <a:spLocks noChangeArrowheads="1"/>
          </p:cNvSpPr>
          <p:nvPr/>
        </p:nvSpPr>
        <p:spPr bwMode="auto">
          <a:xfrm>
            <a:off x="7621588" y="3354388"/>
            <a:ext cx="912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hlink"/>
                </a:solidFill>
              </a:rPr>
              <a:t>Ch. 6</a:t>
            </a:r>
          </a:p>
        </p:txBody>
      </p:sp>
      <p:sp>
        <p:nvSpPr>
          <p:cNvPr id="21534" name="Rectangle 28"/>
          <p:cNvSpPr>
            <a:spLocks noChangeArrowheads="1"/>
          </p:cNvSpPr>
          <p:nvPr/>
        </p:nvSpPr>
        <p:spPr bwMode="auto">
          <a:xfrm>
            <a:off x="990600" y="152400"/>
            <a:ext cx="779303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ctr" defTabSz="852488">
              <a:lnSpc>
                <a:spcPct val="80000"/>
              </a:lnSpc>
            </a:pPr>
            <a:r>
              <a:rPr lang="en-US" sz="3600">
                <a:solidFill>
                  <a:schemeClr val="tx2"/>
                </a:solidFill>
              </a:rPr>
              <a:t>Definitions</a:t>
            </a:r>
            <a:br>
              <a:rPr lang="en-US" sz="3600">
                <a:solidFill>
                  <a:schemeClr val="tx2"/>
                </a:solidFill>
              </a:rPr>
            </a:br>
            <a:r>
              <a:rPr lang="en-US" sz="3600">
                <a:solidFill>
                  <a:schemeClr val="tx2"/>
                </a:solidFill>
              </a:rPr>
              <a:t>Random Variables</a:t>
            </a:r>
          </a:p>
        </p:txBody>
      </p:sp>
      <p:sp>
        <p:nvSpPr>
          <p:cNvPr id="21535" name="Rectangle 29"/>
          <p:cNvSpPr>
            <a:spLocks noChangeArrowheads="1"/>
          </p:cNvSpPr>
          <p:nvPr/>
        </p:nvSpPr>
        <p:spPr bwMode="auto">
          <a:xfrm>
            <a:off x="838200" y="1676400"/>
            <a:ext cx="80772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/>
          <a:lstStyle/>
          <a:p>
            <a:pPr marL="320675" indent="-320675" defTabSz="852488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en-US" sz="3200"/>
          </a:p>
          <a:p>
            <a:pPr marL="320675" indent="-320675" defTabSz="852488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en-US" sz="2800"/>
          </a:p>
        </p:txBody>
      </p:sp>
      <p:sp>
        <p:nvSpPr>
          <p:cNvPr id="21536" name="Rectangle 30"/>
          <p:cNvSpPr>
            <a:spLocks noChangeArrowheads="1"/>
          </p:cNvSpPr>
          <p:nvPr/>
        </p:nvSpPr>
        <p:spPr bwMode="auto">
          <a:xfrm>
            <a:off x="3352800" y="2057400"/>
            <a:ext cx="2332038" cy="874713"/>
          </a:xfrm>
          <a:prstGeom prst="rect">
            <a:avLst/>
          </a:prstGeom>
          <a:solidFill>
            <a:srgbClr val="FDE0BD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400" b="1"/>
              <a:t>Random </a:t>
            </a:r>
          </a:p>
          <a:p>
            <a:pPr algn="ctr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2400" b="1"/>
              <a:t>Variables</a:t>
            </a:r>
          </a:p>
        </p:txBody>
      </p:sp>
      <p:sp>
        <p:nvSpPr>
          <p:cNvPr id="21537" name="Rectangle 31"/>
          <p:cNvSpPr>
            <a:spLocks noChangeArrowheads="1"/>
          </p:cNvSpPr>
          <p:nvPr/>
        </p:nvSpPr>
        <p:spPr bwMode="auto">
          <a:xfrm>
            <a:off x="1417638" y="3373438"/>
            <a:ext cx="2514600" cy="687387"/>
          </a:xfrm>
          <a:prstGeom prst="rect">
            <a:avLst/>
          </a:prstGeom>
          <a:solidFill>
            <a:srgbClr val="FDE0BD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 anchor="ctr">
            <a:spAutoFit/>
          </a:bodyPr>
          <a:lstStyle/>
          <a:p>
            <a:pPr algn="ctr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2000" b="1"/>
              <a:t>Discrete </a:t>
            </a:r>
          </a:p>
          <a:p>
            <a:pPr algn="ctr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2000" b="1"/>
              <a:t>Random Variable</a:t>
            </a:r>
          </a:p>
        </p:txBody>
      </p:sp>
      <p:sp>
        <p:nvSpPr>
          <p:cNvPr id="21538" name="Rectangle 32"/>
          <p:cNvSpPr>
            <a:spLocks noChangeArrowheads="1"/>
          </p:cNvSpPr>
          <p:nvPr/>
        </p:nvSpPr>
        <p:spPr bwMode="auto">
          <a:xfrm>
            <a:off x="5227638" y="3373438"/>
            <a:ext cx="2374900" cy="687387"/>
          </a:xfrm>
          <a:prstGeom prst="rect">
            <a:avLst/>
          </a:prstGeom>
          <a:solidFill>
            <a:srgbClr val="FDE0BD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 anchor="ctr">
            <a:spAutoFit/>
          </a:bodyPr>
          <a:lstStyle/>
          <a:p>
            <a:pPr algn="ctr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2000" b="1"/>
              <a:t>Continuous</a:t>
            </a:r>
          </a:p>
          <a:p>
            <a:pPr algn="ctr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2000" b="1"/>
              <a:t>Random Variable</a:t>
            </a:r>
          </a:p>
        </p:txBody>
      </p:sp>
      <p:cxnSp>
        <p:nvCxnSpPr>
          <p:cNvPr id="21539" name="AutoShape 33"/>
          <p:cNvCxnSpPr>
            <a:cxnSpLocks noChangeShapeType="1"/>
            <a:stCxn id="21536" idx="2"/>
            <a:endCxn id="21537" idx="0"/>
          </p:cNvCxnSpPr>
          <p:nvPr/>
        </p:nvCxnSpPr>
        <p:spPr bwMode="auto">
          <a:xfrm rot="5400000">
            <a:off x="3386138" y="2230438"/>
            <a:ext cx="422275" cy="184467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1540" name="AutoShape 34"/>
          <p:cNvCxnSpPr>
            <a:cxnSpLocks noChangeShapeType="1"/>
            <a:stCxn id="21536" idx="2"/>
            <a:endCxn id="21538" idx="0"/>
          </p:cNvCxnSpPr>
          <p:nvPr/>
        </p:nvCxnSpPr>
        <p:spPr bwMode="auto">
          <a:xfrm rot="16200000" flipH="1">
            <a:off x="5256213" y="2205038"/>
            <a:ext cx="422275" cy="189547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21541" name="Line 35"/>
          <p:cNvSpPr>
            <a:spLocks noChangeShapeType="1"/>
          </p:cNvSpPr>
          <p:nvPr/>
        </p:nvSpPr>
        <p:spPr bwMode="auto">
          <a:xfrm>
            <a:off x="3794125" y="3208338"/>
            <a:ext cx="1588" cy="1587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42" name="Line 36"/>
          <p:cNvSpPr>
            <a:spLocks noChangeShapeType="1"/>
          </p:cNvSpPr>
          <p:nvPr/>
        </p:nvSpPr>
        <p:spPr bwMode="auto">
          <a:xfrm>
            <a:off x="4953000" y="5105400"/>
            <a:ext cx="2901950" cy="1588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1543" name="Freeform 37"/>
          <p:cNvSpPr>
            <a:spLocks/>
          </p:cNvSpPr>
          <p:nvPr/>
        </p:nvSpPr>
        <p:spPr bwMode="auto">
          <a:xfrm>
            <a:off x="6400800" y="4267200"/>
            <a:ext cx="1390650" cy="766763"/>
          </a:xfrm>
          <a:custGeom>
            <a:avLst/>
            <a:gdLst>
              <a:gd name="T0" fmla="*/ 1389300 w 1030"/>
              <a:gd name="T1" fmla="*/ 765989 h 991"/>
              <a:gd name="T2" fmla="*/ 1243484 w 1030"/>
              <a:gd name="T3" fmla="*/ 758252 h 991"/>
              <a:gd name="T4" fmla="*/ 1169226 w 1030"/>
              <a:gd name="T5" fmla="*/ 748194 h 991"/>
              <a:gd name="T6" fmla="*/ 1097668 w 1030"/>
              <a:gd name="T7" fmla="*/ 736588 h 991"/>
              <a:gd name="T8" fmla="*/ 1023410 w 1030"/>
              <a:gd name="T9" fmla="*/ 718792 h 991"/>
              <a:gd name="T10" fmla="*/ 949152 w 1030"/>
              <a:gd name="T11" fmla="*/ 694033 h 991"/>
              <a:gd name="T12" fmla="*/ 878945 w 1030"/>
              <a:gd name="T13" fmla="*/ 663084 h 991"/>
              <a:gd name="T14" fmla="*/ 730429 w 1030"/>
              <a:gd name="T15" fmla="*/ 574879 h 991"/>
              <a:gd name="T16" fmla="*/ 584613 w 1030"/>
              <a:gd name="T17" fmla="*/ 449535 h 991"/>
              <a:gd name="T18" fmla="*/ 438797 w 1030"/>
              <a:gd name="T19" fmla="*/ 298658 h 991"/>
              <a:gd name="T20" fmla="*/ 364539 w 1030"/>
              <a:gd name="T21" fmla="*/ 222060 h 991"/>
              <a:gd name="T22" fmla="*/ 290281 w 1030"/>
              <a:gd name="T23" fmla="*/ 151650 h 991"/>
              <a:gd name="T24" fmla="*/ 220074 w 1030"/>
              <a:gd name="T25" fmla="*/ 89752 h 991"/>
              <a:gd name="T26" fmla="*/ 145816 w 1030"/>
              <a:gd name="T27" fmla="*/ 41008 h 991"/>
              <a:gd name="T28" fmla="*/ 71558 w 1030"/>
              <a:gd name="T29" fmla="*/ 10058 h 991"/>
              <a:gd name="T30" fmla="*/ 0 w 1030"/>
              <a:gd name="T31" fmla="*/ 0 h 99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030"/>
              <a:gd name="T49" fmla="*/ 0 h 991"/>
              <a:gd name="T50" fmla="*/ 1030 w 1030"/>
              <a:gd name="T51" fmla="*/ 991 h 99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030" h="991">
                <a:moveTo>
                  <a:pt x="1029" y="990"/>
                </a:moveTo>
                <a:lnTo>
                  <a:pt x="921" y="980"/>
                </a:lnTo>
                <a:lnTo>
                  <a:pt x="866" y="967"/>
                </a:lnTo>
                <a:lnTo>
                  <a:pt x="813" y="952"/>
                </a:lnTo>
                <a:lnTo>
                  <a:pt x="758" y="929"/>
                </a:lnTo>
                <a:lnTo>
                  <a:pt x="703" y="897"/>
                </a:lnTo>
                <a:lnTo>
                  <a:pt x="651" y="857"/>
                </a:lnTo>
                <a:lnTo>
                  <a:pt x="541" y="743"/>
                </a:lnTo>
                <a:lnTo>
                  <a:pt x="433" y="581"/>
                </a:lnTo>
                <a:lnTo>
                  <a:pt x="325" y="386"/>
                </a:lnTo>
                <a:lnTo>
                  <a:pt x="270" y="287"/>
                </a:lnTo>
                <a:lnTo>
                  <a:pt x="215" y="196"/>
                </a:lnTo>
                <a:lnTo>
                  <a:pt x="163" y="116"/>
                </a:lnTo>
                <a:lnTo>
                  <a:pt x="108" y="53"/>
                </a:lnTo>
                <a:lnTo>
                  <a:pt x="53" y="13"/>
                </a:lnTo>
                <a:lnTo>
                  <a:pt x="0" y="0"/>
                </a:lnTo>
              </a:path>
            </a:pathLst>
          </a:custGeom>
          <a:noFill/>
          <a:ln w="50800" cap="rnd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1544" name="Freeform 38"/>
          <p:cNvSpPr>
            <a:spLocks/>
          </p:cNvSpPr>
          <p:nvPr/>
        </p:nvSpPr>
        <p:spPr bwMode="auto">
          <a:xfrm>
            <a:off x="5029200" y="4267200"/>
            <a:ext cx="1393825" cy="766763"/>
          </a:xfrm>
          <a:custGeom>
            <a:avLst/>
            <a:gdLst>
              <a:gd name="T0" fmla="*/ 0 w 1032"/>
              <a:gd name="T1" fmla="*/ 765989 h 991"/>
              <a:gd name="T2" fmla="*/ 145865 w 1032"/>
              <a:gd name="T3" fmla="*/ 758252 h 991"/>
              <a:gd name="T4" fmla="*/ 220149 w 1032"/>
              <a:gd name="T5" fmla="*/ 748194 h 991"/>
              <a:gd name="T6" fmla="*/ 294432 w 1032"/>
              <a:gd name="T7" fmla="*/ 736588 h 991"/>
              <a:gd name="T8" fmla="*/ 366014 w 1032"/>
              <a:gd name="T9" fmla="*/ 718792 h 991"/>
              <a:gd name="T10" fmla="*/ 440297 w 1032"/>
              <a:gd name="T11" fmla="*/ 694033 h 991"/>
              <a:gd name="T12" fmla="*/ 514581 w 1032"/>
              <a:gd name="T13" fmla="*/ 663084 h 991"/>
              <a:gd name="T14" fmla="*/ 659095 w 1032"/>
              <a:gd name="T15" fmla="*/ 574879 h 991"/>
              <a:gd name="T16" fmla="*/ 804961 w 1032"/>
              <a:gd name="T17" fmla="*/ 449535 h 991"/>
              <a:gd name="T18" fmla="*/ 953527 w 1032"/>
              <a:gd name="T19" fmla="*/ 298658 h 991"/>
              <a:gd name="T20" fmla="*/ 1025110 w 1032"/>
              <a:gd name="T21" fmla="*/ 222060 h 991"/>
              <a:gd name="T22" fmla="*/ 1099393 w 1032"/>
              <a:gd name="T23" fmla="*/ 151650 h 991"/>
              <a:gd name="T24" fmla="*/ 1172325 w 1032"/>
              <a:gd name="T25" fmla="*/ 89752 h 991"/>
              <a:gd name="T26" fmla="*/ 1243908 w 1032"/>
              <a:gd name="T27" fmla="*/ 41008 h 991"/>
              <a:gd name="T28" fmla="*/ 1318191 w 1032"/>
              <a:gd name="T29" fmla="*/ 10058 h 991"/>
              <a:gd name="T30" fmla="*/ 1392474 w 1032"/>
              <a:gd name="T31" fmla="*/ 0 h 99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032"/>
              <a:gd name="T49" fmla="*/ 0 h 991"/>
              <a:gd name="T50" fmla="*/ 1032 w 1032"/>
              <a:gd name="T51" fmla="*/ 991 h 99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032" h="991">
                <a:moveTo>
                  <a:pt x="0" y="990"/>
                </a:moveTo>
                <a:lnTo>
                  <a:pt x="108" y="980"/>
                </a:lnTo>
                <a:lnTo>
                  <a:pt x="163" y="967"/>
                </a:lnTo>
                <a:lnTo>
                  <a:pt x="218" y="952"/>
                </a:lnTo>
                <a:lnTo>
                  <a:pt x="271" y="929"/>
                </a:lnTo>
                <a:lnTo>
                  <a:pt x="326" y="897"/>
                </a:lnTo>
                <a:lnTo>
                  <a:pt x="381" y="857"/>
                </a:lnTo>
                <a:lnTo>
                  <a:pt x="488" y="743"/>
                </a:lnTo>
                <a:lnTo>
                  <a:pt x="596" y="581"/>
                </a:lnTo>
                <a:lnTo>
                  <a:pt x="706" y="386"/>
                </a:lnTo>
                <a:lnTo>
                  <a:pt x="759" y="287"/>
                </a:lnTo>
                <a:lnTo>
                  <a:pt x="814" y="196"/>
                </a:lnTo>
                <a:lnTo>
                  <a:pt x="868" y="116"/>
                </a:lnTo>
                <a:lnTo>
                  <a:pt x="921" y="53"/>
                </a:lnTo>
                <a:lnTo>
                  <a:pt x="976" y="13"/>
                </a:lnTo>
                <a:lnTo>
                  <a:pt x="1031" y="0"/>
                </a:lnTo>
              </a:path>
            </a:pathLst>
          </a:custGeom>
          <a:noFill/>
          <a:ln w="50800" cap="rnd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1545" name="Line 39"/>
          <p:cNvSpPr>
            <a:spLocks noChangeShapeType="1"/>
          </p:cNvSpPr>
          <p:nvPr/>
        </p:nvSpPr>
        <p:spPr bwMode="auto">
          <a:xfrm>
            <a:off x="1219200" y="5105400"/>
            <a:ext cx="2901950" cy="1588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1546" name="Line 40"/>
          <p:cNvSpPr>
            <a:spLocks noChangeShapeType="1"/>
          </p:cNvSpPr>
          <p:nvPr/>
        </p:nvSpPr>
        <p:spPr bwMode="auto">
          <a:xfrm>
            <a:off x="1524000" y="4800600"/>
            <a:ext cx="0" cy="3048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47" name="Line 41"/>
          <p:cNvSpPr>
            <a:spLocks noChangeShapeType="1"/>
          </p:cNvSpPr>
          <p:nvPr/>
        </p:nvSpPr>
        <p:spPr bwMode="auto">
          <a:xfrm>
            <a:off x="1676400" y="4648200"/>
            <a:ext cx="0" cy="4572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48" name="Line 42"/>
          <p:cNvSpPr>
            <a:spLocks noChangeShapeType="1"/>
          </p:cNvSpPr>
          <p:nvPr/>
        </p:nvSpPr>
        <p:spPr bwMode="auto">
          <a:xfrm>
            <a:off x="1828800" y="4191000"/>
            <a:ext cx="0" cy="9144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49" name="Line 43"/>
          <p:cNvSpPr>
            <a:spLocks noChangeShapeType="1"/>
          </p:cNvSpPr>
          <p:nvPr/>
        </p:nvSpPr>
        <p:spPr bwMode="auto">
          <a:xfrm>
            <a:off x="1981200" y="4419600"/>
            <a:ext cx="0" cy="6858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50" name="Line 44"/>
          <p:cNvSpPr>
            <a:spLocks noChangeShapeType="1"/>
          </p:cNvSpPr>
          <p:nvPr/>
        </p:nvSpPr>
        <p:spPr bwMode="auto">
          <a:xfrm>
            <a:off x="2133600" y="4267200"/>
            <a:ext cx="0" cy="8382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51" name="Line 45"/>
          <p:cNvSpPr>
            <a:spLocks noChangeShapeType="1"/>
          </p:cNvSpPr>
          <p:nvPr/>
        </p:nvSpPr>
        <p:spPr bwMode="auto">
          <a:xfrm>
            <a:off x="2286000" y="4495800"/>
            <a:ext cx="0" cy="6096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52" name="Line 46"/>
          <p:cNvSpPr>
            <a:spLocks noChangeShapeType="1"/>
          </p:cNvSpPr>
          <p:nvPr/>
        </p:nvSpPr>
        <p:spPr bwMode="auto">
          <a:xfrm>
            <a:off x="2438400" y="4648200"/>
            <a:ext cx="0" cy="4572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53" name="Line 47"/>
          <p:cNvSpPr>
            <a:spLocks noChangeShapeType="1"/>
          </p:cNvSpPr>
          <p:nvPr/>
        </p:nvSpPr>
        <p:spPr bwMode="auto">
          <a:xfrm>
            <a:off x="2590800" y="4724400"/>
            <a:ext cx="0" cy="3810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54" name="Line 48"/>
          <p:cNvSpPr>
            <a:spLocks noChangeShapeType="1"/>
          </p:cNvSpPr>
          <p:nvPr/>
        </p:nvSpPr>
        <p:spPr bwMode="auto">
          <a:xfrm>
            <a:off x="3352800" y="4876800"/>
            <a:ext cx="0" cy="2286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55" name="Line 49"/>
          <p:cNvSpPr>
            <a:spLocks noChangeShapeType="1"/>
          </p:cNvSpPr>
          <p:nvPr/>
        </p:nvSpPr>
        <p:spPr bwMode="auto">
          <a:xfrm>
            <a:off x="3581400" y="4953000"/>
            <a:ext cx="0" cy="1524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56" name="Line 50"/>
          <p:cNvSpPr>
            <a:spLocks noChangeShapeType="1"/>
          </p:cNvSpPr>
          <p:nvPr/>
        </p:nvSpPr>
        <p:spPr bwMode="auto">
          <a:xfrm>
            <a:off x="3048000" y="4876800"/>
            <a:ext cx="0" cy="2286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57" name="Line 51"/>
          <p:cNvSpPr>
            <a:spLocks noChangeShapeType="1"/>
          </p:cNvSpPr>
          <p:nvPr/>
        </p:nvSpPr>
        <p:spPr bwMode="auto">
          <a:xfrm>
            <a:off x="2743200" y="4724400"/>
            <a:ext cx="0" cy="3810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58" name="Text Box 52"/>
          <p:cNvSpPr txBox="1">
            <a:spLocks noChangeArrowheads="1"/>
          </p:cNvSpPr>
          <p:nvPr/>
        </p:nvSpPr>
        <p:spPr bwMode="auto">
          <a:xfrm>
            <a:off x="457200" y="3354388"/>
            <a:ext cx="912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hlink"/>
                </a:solidFill>
              </a:rPr>
              <a:t>Ch. 5</a:t>
            </a:r>
          </a:p>
        </p:txBody>
      </p:sp>
      <p:sp>
        <p:nvSpPr>
          <p:cNvPr id="21559" name="Text Box 53"/>
          <p:cNvSpPr txBox="1">
            <a:spLocks noChangeArrowheads="1"/>
          </p:cNvSpPr>
          <p:nvPr/>
        </p:nvSpPr>
        <p:spPr bwMode="auto">
          <a:xfrm>
            <a:off x="7621588" y="3354388"/>
            <a:ext cx="912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hlink"/>
                </a:solidFill>
              </a:rPr>
              <a:t>Ch. 6</a:t>
            </a:r>
          </a:p>
        </p:txBody>
      </p:sp>
      <p:sp>
        <p:nvSpPr>
          <p:cNvPr id="21560" name="Rectangle 54"/>
          <p:cNvSpPr>
            <a:spLocks noChangeArrowheads="1"/>
          </p:cNvSpPr>
          <p:nvPr/>
        </p:nvSpPr>
        <p:spPr bwMode="auto">
          <a:xfrm>
            <a:off x="990600" y="152400"/>
            <a:ext cx="779303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ctr" defTabSz="852488">
              <a:lnSpc>
                <a:spcPct val="80000"/>
              </a:lnSpc>
            </a:pPr>
            <a:r>
              <a:rPr lang="en-US" sz="3600">
                <a:solidFill>
                  <a:schemeClr val="tx2"/>
                </a:solidFill>
              </a:rPr>
              <a:t>Definitions</a:t>
            </a:r>
            <a:br>
              <a:rPr lang="en-US" sz="3600">
                <a:solidFill>
                  <a:schemeClr val="tx2"/>
                </a:solidFill>
              </a:rPr>
            </a:br>
            <a:r>
              <a:rPr lang="en-US" sz="3600">
                <a:solidFill>
                  <a:schemeClr val="tx2"/>
                </a:solidFill>
              </a:rPr>
              <a:t>Random Variables</a:t>
            </a:r>
          </a:p>
        </p:txBody>
      </p:sp>
      <p:sp>
        <p:nvSpPr>
          <p:cNvPr id="21561" name="Rectangle 55"/>
          <p:cNvSpPr>
            <a:spLocks noChangeArrowheads="1"/>
          </p:cNvSpPr>
          <p:nvPr/>
        </p:nvSpPr>
        <p:spPr bwMode="auto">
          <a:xfrm>
            <a:off x="838200" y="1676400"/>
            <a:ext cx="80772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/>
          <a:lstStyle/>
          <a:p>
            <a:pPr marL="320675" indent="-320675" defTabSz="852488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en-US" sz="3200"/>
          </a:p>
          <a:p>
            <a:pPr marL="320675" indent="-320675" defTabSz="852488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en-US" sz="2800"/>
          </a:p>
        </p:txBody>
      </p:sp>
      <p:sp>
        <p:nvSpPr>
          <p:cNvPr id="21562" name="Rectangle 56"/>
          <p:cNvSpPr>
            <a:spLocks noChangeArrowheads="1"/>
          </p:cNvSpPr>
          <p:nvPr/>
        </p:nvSpPr>
        <p:spPr bwMode="auto">
          <a:xfrm>
            <a:off x="3352800" y="2057400"/>
            <a:ext cx="2332038" cy="874713"/>
          </a:xfrm>
          <a:prstGeom prst="rect">
            <a:avLst/>
          </a:prstGeom>
          <a:solidFill>
            <a:srgbClr val="FDE0BD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400" b="1"/>
              <a:t>Random </a:t>
            </a:r>
          </a:p>
          <a:p>
            <a:pPr algn="ctr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2400" b="1"/>
              <a:t>Variables</a:t>
            </a:r>
          </a:p>
        </p:txBody>
      </p:sp>
      <p:sp>
        <p:nvSpPr>
          <p:cNvPr id="21563" name="Rectangle 57"/>
          <p:cNvSpPr>
            <a:spLocks noChangeArrowheads="1"/>
          </p:cNvSpPr>
          <p:nvPr/>
        </p:nvSpPr>
        <p:spPr bwMode="auto">
          <a:xfrm>
            <a:off x="1417638" y="3373438"/>
            <a:ext cx="2514600" cy="687387"/>
          </a:xfrm>
          <a:prstGeom prst="rect">
            <a:avLst/>
          </a:prstGeom>
          <a:solidFill>
            <a:srgbClr val="FDE0BD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 anchor="ctr">
            <a:spAutoFit/>
          </a:bodyPr>
          <a:lstStyle/>
          <a:p>
            <a:pPr algn="ctr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2000" b="1"/>
              <a:t>Discrete </a:t>
            </a:r>
          </a:p>
          <a:p>
            <a:pPr algn="ctr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2000" b="1"/>
              <a:t>Random Variable</a:t>
            </a:r>
          </a:p>
        </p:txBody>
      </p:sp>
      <p:sp>
        <p:nvSpPr>
          <p:cNvPr id="21564" name="Rectangle 58"/>
          <p:cNvSpPr>
            <a:spLocks noChangeArrowheads="1"/>
          </p:cNvSpPr>
          <p:nvPr/>
        </p:nvSpPr>
        <p:spPr bwMode="auto">
          <a:xfrm>
            <a:off x="5227638" y="3373438"/>
            <a:ext cx="2374900" cy="687387"/>
          </a:xfrm>
          <a:prstGeom prst="rect">
            <a:avLst/>
          </a:prstGeom>
          <a:solidFill>
            <a:srgbClr val="FDE0BD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 anchor="ctr">
            <a:spAutoFit/>
          </a:bodyPr>
          <a:lstStyle/>
          <a:p>
            <a:pPr algn="ctr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2000" b="1"/>
              <a:t>Continuous</a:t>
            </a:r>
          </a:p>
          <a:p>
            <a:pPr algn="ctr"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2000" b="1"/>
              <a:t>Random Variable</a:t>
            </a:r>
          </a:p>
        </p:txBody>
      </p:sp>
      <p:cxnSp>
        <p:nvCxnSpPr>
          <p:cNvPr id="21565" name="AutoShape 59"/>
          <p:cNvCxnSpPr>
            <a:cxnSpLocks noChangeShapeType="1"/>
            <a:stCxn id="21562" idx="2"/>
            <a:endCxn id="21563" idx="0"/>
          </p:cNvCxnSpPr>
          <p:nvPr/>
        </p:nvCxnSpPr>
        <p:spPr bwMode="auto">
          <a:xfrm rot="5400000">
            <a:off x="3386138" y="2230438"/>
            <a:ext cx="422275" cy="184467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21566" name="AutoShape 60"/>
          <p:cNvCxnSpPr>
            <a:cxnSpLocks noChangeShapeType="1"/>
            <a:stCxn id="21562" idx="2"/>
            <a:endCxn id="21564" idx="0"/>
          </p:cNvCxnSpPr>
          <p:nvPr/>
        </p:nvCxnSpPr>
        <p:spPr bwMode="auto">
          <a:xfrm rot="16200000" flipH="1">
            <a:off x="5256213" y="2205038"/>
            <a:ext cx="422275" cy="189547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21567" name="Line 61"/>
          <p:cNvSpPr>
            <a:spLocks noChangeShapeType="1"/>
          </p:cNvSpPr>
          <p:nvPr/>
        </p:nvSpPr>
        <p:spPr bwMode="auto">
          <a:xfrm>
            <a:off x="3794125" y="3208338"/>
            <a:ext cx="1588" cy="1587"/>
          </a:xfrm>
          <a:prstGeom prst="line">
            <a:avLst/>
          </a:prstGeom>
          <a:noFill/>
          <a:ln w="25400">
            <a:solidFill>
              <a:srgbClr val="CDCDCD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68" name="Line 62"/>
          <p:cNvSpPr>
            <a:spLocks noChangeShapeType="1"/>
          </p:cNvSpPr>
          <p:nvPr/>
        </p:nvSpPr>
        <p:spPr bwMode="auto">
          <a:xfrm>
            <a:off x="4953000" y="5105400"/>
            <a:ext cx="2901950" cy="1588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1569" name="Freeform 63"/>
          <p:cNvSpPr>
            <a:spLocks/>
          </p:cNvSpPr>
          <p:nvPr/>
        </p:nvSpPr>
        <p:spPr bwMode="auto">
          <a:xfrm>
            <a:off x="6400800" y="4267200"/>
            <a:ext cx="1390650" cy="766763"/>
          </a:xfrm>
          <a:custGeom>
            <a:avLst/>
            <a:gdLst>
              <a:gd name="T0" fmla="*/ 1389300 w 1030"/>
              <a:gd name="T1" fmla="*/ 765989 h 991"/>
              <a:gd name="T2" fmla="*/ 1243484 w 1030"/>
              <a:gd name="T3" fmla="*/ 758252 h 991"/>
              <a:gd name="T4" fmla="*/ 1169226 w 1030"/>
              <a:gd name="T5" fmla="*/ 748194 h 991"/>
              <a:gd name="T6" fmla="*/ 1097668 w 1030"/>
              <a:gd name="T7" fmla="*/ 736588 h 991"/>
              <a:gd name="T8" fmla="*/ 1023410 w 1030"/>
              <a:gd name="T9" fmla="*/ 718792 h 991"/>
              <a:gd name="T10" fmla="*/ 949152 w 1030"/>
              <a:gd name="T11" fmla="*/ 694033 h 991"/>
              <a:gd name="T12" fmla="*/ 878945 w 1030"/>
              <a:gd name="T13" fmla="*/ 663084 h 991"/>
              <a:gd name="T14" fmla="*/ 730429 w 1030"/>
              <a:gd name="T15" fmla="*/ 574879 h 991"/>
              <a:gd name="T16" fmla="*/ 584613 w 1030"/>
              <a:gd name="T17" fmla="*/ 449535 h 991"/>
              <a:gd name="T18" fmla="*/ 438797 w 1030"/>
              <a:gd name="T19" fmla="*/ 298658 h 991"/>
              <a:gd name="T20" fmla="*/ 364539 w 1030"/>
              <a:gd name="T21" fmla="*/ 222060 h 991"/>
              <a:gd name="T22" fmla="*/ 290281 w 1030"/>
              <a:gd name="T23" fmla="*/ 151650 h 991"/>
              <a:gd name="T24" fmla="*/ 220074 w 1030"/>
              <a:gd name="T25" fmla="*/ 89752 h 991"/>
              <a:gd name="T26" fmla="*/ 145816 w 1030"/>
              <a:gd name="T27" fmla="*/ 41008 h 991"/>
              <a:gd name="T28" fmla="*/ 71558 w 1030"/>
              <a:gd name="T29" fmla="*/ 10058 h 991"/>
              <a:gd name="T30" fmla="*/ 0 w 1030"/>
              <a:gd name="T31" fmla="*/ 0 h 99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030"/>
              <a:gd name="T49" fmla="*/ 0 h 991"/>
              <a:gd name="T50" fmla="*/ 1030 w 1030"/>
              <a:gd name="T51" fmla="*/ 991 h 99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030" h="991">
                <a:moveTo>
                  <a:pt x="1029" y="990"/>
                </a:moveTo>
                <a:lnTo>
                  <a:pt x="921" y="980"/>
                </a:lnTo>
                <a:lnTo>
                  <a:pt x="866" y="967"/>
                </a:lnTo>
                <a:lnTo>
                  <a:pt x="813" y="952"/>
                </a:lnTo>
                <a:lnTo>
                  <a:pt x="758" y="929"/>
                </a:lnTo>
                <a:lnTo>
                  <a:pt x="703" y="897"/>
                </a:lnTo>
                <a:lnTo>
                  <a:pt x="651" y="857"/>
                </a:lnTo>
                <a:lnTo>
                  <a:pt x="541" y="743"/>
                </a:lnTo>
                <a:lnTo>
                  <a:pt x="433" y="581"/>
                </a:lnTo>
                <a:lnTo>
                  <a:pt x="325" y="386"/>
                </a:lnTo>
                <a:lnTo>
                  <a:pt x="270" y="287"/>
                </a:lnTo>
                <a:lnTo>
                  <a:pt x="215" y="196"/>
                </a:lnTo>
                <a:lnTo>
                  <a:pt x="163" y="116"/>
                </a:lnTo>
                <a:lnTo>
                  <a:pt x="108" y="53"/>
                </a:lnTo>
                <a:lnTo>
                  <a:pt x="53" y="13"/>
                </a:lnTo>
                <a:lnTo>
                  <a:pt x="0" y="0"/>
                </a:lnTo>
              </a:path>
            </a:pathLst>
          </a:custGeom>
          <a:noFill/>
          <a:ln w="50800" cap="rnd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1570" name="Freeform 64"/>
          <p:cNvSpPr>
            <a:spLocks/>
          </p:cNvSpPr>
          <p:nvPr/>
        </p:nvSpPr>
        <p:spPr bwMode="auto">
          <a:xfrm>
            <a:off x="5029200" y="4267200"/>
            <a:ext cx="1393825" cy="766763"/>
          </a:xfrm>
          <a:custGeom>
            <a:avLst/>
            <a:gdLst>
              <a:gd name="T0" fmla="*/ 0 w 1032"/>
              <a:gd name="T1" fmla="*/ 765989 h 991"/>
              <a:gd name="T2" fmla="*/ 145865 w 1032"/>
              <a:gd name="T3" fmla="*/ 758252 h 991"/>
              <a:gd name="T4" fmla="*/ 220149 w 1032"/>
              <a:gd name="T5" fmla="*/ 748194 h 991"/>
              <a:gd name="T6" fmla="*/ 294432 w 1032"/>
              <a:gd name="T7" fmla="*/ 736588 h 991"/>
              <a:gd name="T8" fmla="*/ 366014 w 1032"/>
              <a:gd name="T9" fmla="*/ 718792 h 991"/>
              <a:gd name="T10" fmla="*/ 440297 w 1032"/>
              <a:gd name="T11" fmla="*/ 694033 h 991"/>
              <a:gd name="T12" fmla="*/ 514581 w 1032"/>
              <a:gd name="T13" fmla="*/ 663084 h 991"/>
              <a:gd name="T14" fmla="*/ 659095 w 1032"/>
              <a:gd name="T15" fmla="*/ 574879 h 991"/>
              <a:gd name="T16" fmla="*/ 804961 w 1032"/>
              <a:gd name="T17" fmla="*/ 449535 h 991"/>
              <a:gd name="T18" fmla="*/ 953527 w 1032"/>
              <a:gd name="T19" fmla="*/ 298658 h 991"/>
              <a:gd name="T20" fmla="*/ 1025110 w 1032"/>
              <a:gd name="T21" fmla="*/ 222060 h 991"/>
              <a:gd name="T22" fmla="*/ 1099393 w 1032"/>
              <a:gd name="T23" fmla="*/ 151650 h 991"/>
              <a:gd name="T24" fmla="*/ 1172325 w 1032"/>
              <a:gd name="T25" fmla="*/ 89752 h 991"/>
              <a:gd name="T26" fmla="*/ 1243908 w 1032"/>
              <a:gd name="T27" fmla="*/ 41008 h 991"/>
              <a:gd name="T28" fmla="*/ 1318191 w 1032"/>
              <a:gd name="T29" fmla="*/ 10058 h 991"/>
              <a:gd name="T30" fmla="*/ 1392474 w 1032"/>
              <a:gd name="T31" fmla="*/ 0 h 99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032"/>
              <a:gd name="T49" fmla="*/ 0 h 991"/>
              <a:gd name="T50" fmla="*/ 1032 w 1032"/>
              <a:gd name="T51" fmla="*/ 991 h 99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032" h="991">
                <a:moveTo>
                  <a:pt x="0" y="990"/>
                </a:moveTo>
                <a:lnTo>
                  <a:pt x="108" y="980"/>
                </a:lnTo>
                <a:lnTo>
                  <a:pt x="163" y="967"/>
                </a:lnTo>
                <a:lnTo>
                  <a:pt x="218" y="952"/>
                </a:lnTo>
                <a:lnTo>
                  <a:pt x="271" y="929"/>
                </a:lnTo>
                <a:lnTo>
                  <a:pt x="326" y="897"/>
                </a:lnTo>
                <a:lnTo>
                  <a:pt x="381" y="857"/>
                </a:lnTo>
                <a:lnTo>
                  <a:pt x="488" y="743"/>
                </a:lnTo>
                <a:lnTo>
                  <a:pt x="596" y="581"/>
                </a:lnTo>
                <a:lnTo>
                  <a:pt x="706" y="386"/>
                </a:lnTo>
                <a:lnTo>
                  <a:pt x="759" y="287"/>
                </a:lnTo>
                <a:lnTo>
                  <a:pt x="814" y="196"/>
                </a:lnTo>
                <a:lnTo>
                  <a:pt x="868" y="116"/>
                </a:lnTo>
                <a:lnTo>
                  <a:pt x="921" y="53"/>
                </a:lnTo>
                <a:lnTo>
                  <a:pt x="976" y="13"/>
                </a:lnTo>
                <a:lnTo>
                  <a:pt x="1031" y="0"/>
                </a:lnTo>
              </a:path>
            </a:pathLst>
          </a:custGeom>
          <a:noFill/>
          <a:ln w="50800" cap="rnd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1571" name="Line 65"/>
          <p:cNvSpPr>
            <a:spLocks noChangeShapeType="1"/>
          </p:cNvSpPr>
          <p:nvPr/>
        </p:nvSpPr>
        <p:spPr bwMode="auto">
          <a:xfrm>
            <a:off x="1219200" y="5105400"/>
            <a:ext cx="2901950" cy="1588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1572" name="Line 66"/>
          <p:cNvSpPr>
            <a:spLocks noChangeShapeType="1"/>
          </p:cNvSpPr>
          <p:nvPr/>
        </p:nvSpPr>
        <p:spPr bwMode="auto">
          <a:xfrm>
            <a:off x="1524000" y="4800600"/>
            <a:ext cx="0" cy="3048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73" name="Line 67"/>
          <p:cNvSpPr>
            <a:spLocks noChangeShapeType="1"/>
          </p:cNvSpPr>
          <p:nvPr/>
        </p:nvSpPr>
        <p:spPr bwMode="auto">
          <a:xfrm>
            <a:off x="1676400" y="4648200"/>
            <a:ext cx="0" cy="4572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74" name="Line 68"/>
          <p:cNvSpPr>
            <a:spLocks noChangeShapeType="1"/>
          </p:cNvSpPr>
          <p:nvPr/>
        </p:nvSpPr>
        <p:spPr bwMode="auto">
          <a:xfrm>
            <a:off x="1828800" y="4191000"/>
            <a:ext cx="0" cy="9144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75" name="Line 69"/>
          <p:cNvSpPr>
            <a:spLocks noChangeShapeType="1"/>
          </p:cNvSpPr>
          <p:nvPr/>
        </p:nvSpPr>
        <p:spPr bwMode="auto">
          <a:xfrm>
            <a:off x="1981200" y="4419600"/>
            <a:ext cx="0" cy="6858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76" name="Line 70"/>
          <p:cNvSpPr>
            <a:spLocks noChangeShapeType="1"/>
          </p:cNvSpPr>
          <p:nvPr/>
        </p:nvSpPr>
        <p:spPr bwMode="auto">
          <a:xfrm>
            <a:off x="2133600" y="4267200"/>
            <a:ext cx="0" cy="8382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77" name="Line 71"/>
          <p:cNvSpPr>
            <a:spLocks noChangeShapeType="1"/>
          </p:cNvSpPr>
          <p:nvPr/>
        </p:nvSpPr>
        <p:spPr bwMode="auto">
          <a:xfrm>
            <a:off x="2286000" y="4495800"/>
            <a:ext cx="0" cy="6096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78" name="Line 72"/>
          <p:cNvSpPr>
            <a:spLocks noChangeShapeType="1"/>
          </p:cNvSpPr>
          <p:nvPr/>
        </p:nvSpPr>
        <p:spPr bwMode="auto">
          <a:xfrm>
            <a:off x="2438400" y="4648200"/>
            <a:ext cx="0" cy="4572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79" name="Line 73"/>
          <p:cNvSpPr>
            <a:spLocks noChangeShapeType="1"/>
          </p:cNvSpPr>
          <p:nvPr/>
        </p:nvSpPr>
        <p:spPr bwMode="auto">
          <a:xfrm>
            <a:off x="2590800" y="4724400"/>
            <a:ext cx="0" cy="3810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80" name="Line 74"/>
          <p:cNvSpPr>
            <a:spLocks noChangeShapeType="1"/>
          </p:cNvSpPr>
          <p:nvPr/>
        </p:nvSpPr>
        <p:spPr bwMode="auto">
          <a:xfrm>
            <a:off x="3352800" y="4876800"/>
            <a:ext cx="0" cy="2286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81" name="Line 75"/>
          <p:cNvSpPr>
            <a:spLocks noChangeShapeType="1"/>
          </p:cNvSpPr>
          <p:nvPr/>
        </p:nvSpPr>
        <p:spPr bwMode="auto">
          <a:xfrm>
            <a:off x="3581400" y="4953000"/>
            <a:ext cx="0" cy="1524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82" name="Line 76"/>
          <p:cNvSpPr>
            <a:spLocks noChangeShapeType="1"/>
          </p:cNvSpPr>
          <p:nvPr/>
        </p:nvSpPr>
        <p:spPr bwMode="auto">
          <a:xfrm>
            <a:off x="3048000" y="4876800"/>
            <a:ext cx="0" cy="2286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83" name="Line 77"/>
          <p:cNvSpPr>
            <a:spLocks noChangeShapeType="1"/>
          </p:cNvSpPr>
          <p:nvPr/>
        </p:nvSpPr>
        <p:spPr bwMode="auto">
          <a:xfrm>
            <a:off x="2743200" y="4724400"/>
            <a:ext cx="0" cy="3810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1584" name="Text Box 78"/>
          <p:cNvSpPr txBox="1">
            <a:spLocks noChangeArrowheads="1"/>
          </p:cNvSpPr>
          <p:nvPr/>
        </p:nvSpPr>
        <p:spPr bwMode="auto">
          <a:xfrm>
            <a:off x="457200" y="3354388"/>
            <a:ext cx="912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hlink"/>
                </a:solidFill>
              </a:rPr>
              <a:t>Ch. 5</a:t>
            </a:r>
          </a:p>
        </p:txBody>
      </p:sp>
      <p:sp>
        <p:nvSpPr>
          <p:cNvPr id="21585" name="Text Box 79"/>
          <p:cNvSpPr txBox="1">
            <a:spLocks noChangeArrowheads="1"/>
          </p:cNvSpPr>
          <p:nvPr/>
        </p:nvSpPr>
        <p:spPr bwMode="auto">
          <a:xfrm>
            <a:off x="7621588" y="3354388"/>
            <a:ext cx="912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hlink"/>
                </a:solidFill>
              </a:rPr>
              <a:t>Ch. 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D547E126-0FA7-458F-8B2F-F33A7DBC6B14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22530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253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1EC55935-450F-4412-AD9E-4378BCE0E870}" type="slidenum">
              <a:rPr lang="en-US" sz="1000"/>
              <a:pPr algn="r" defTabSz="852488"/>
              <a:t>5</a:t>
            </a:fld>
            <a:endParaRPr lang="en-US" sz="1000"/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>
          <a:xfrm>
            <a:off x="1582738" y="228600"/>
            <a:ext cx="6859587" cy="990600"/>
          </a:xfrm>
        </p:spPr>
        <p:txBody>
          <a:bodyPr/>
          <a:lstStyle/>
          <a:p>
            <a:pPr eaLnBrk="1" hangingPunct="1"/>
            <a:r>
              <a:rPr lang="en-US" smtClean="0"/>
              <a:t>Discrete Random Variables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00200"/>
            <a:ext cx="8077200" cy="4724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mtClean="0"/>
              <a:t>Can only assume a countable number of values</a:t>
            </a:r>
          </a:p>
          <a:p>
            <a:pPr lvl="1" eaLnBrk="1" hangingPunct="1">
              <a:lnSpc>
                <a:spcPct val="80000"/>
              </a:lnSpc>
            </a:pPr>
            <a:endParaRPr lang="en-US" sz="1900" smtClean="0"/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mtClean="0"/>
              <a:t>Examples: </a:t>
            </a:r>
          </a:p>
          <a:p>
            <a:pPr lvl="1" eaLnBrk="1" hangingPunct="1">
              <a:lnSpc>
                <a:spcPct val="80000"/>
              </a:lnSpc>
            </a:pPr>
            <a:endParaRPr lang="en-US" smtClean="0"/>
          </a:p>
          <a:p>
            <a:pPr lvl="1" eaLnBrk="1" hangingPunct="1">
              <a:lnSpc>
                <a:spcPct val="80000"/>
              </a:lnSpc>
            </a:pPr>
            <a:r>
              <a:rPr lang="en-US" b="1" smtClean="0">
                <a:solidFill>
                  <a:schemeClr val="folHlink"/>
                </a:solidFill>
              </a:rPr>
              <a:t>Roll a die twice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smtClean="0">
                <a:solidFill>
                  <a:schemeClr val="folHlink"/>
                </a:solidFill>
              </a:rPr>
              <a:t>		Let  X  be the number of times 4 occurs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smtClean="0">
                <a:solidFill>
                  <a:schemeClr val="folHlink"/>
                </a:solidFill>
              </a:rPr>
              <a:t>		(then  X  could be 0, 1, or 2 times)</a:t>
            </a:r>
          </a:p>
          <a:p>
            <a:pPr lvl="1" eaLnBrk="1" hangingPunct="1">
              <a:lnSpc>
                <a:spcPct val="80000"/>
              </a:lnSpc>
            </a:pPr>
            <a:endParaRPr lang="en-US" b="1" smtClean="0">
              <a:solidFill>
                <a:schemeClr val="folHlink"/>
              </a:solidFill>
            </a:endParaRPr>
          </a:p>
          <a:p>
            <a:pPr lvl="1" eaLnBrk="1" hangingPunct="1">
              <a:lnSpc>
                <a:spcPct val="80000"/>
              </a:lnSpc>
            </a:pPr>
            <a:endParaRPr lang="en-US" b="1" smtClean="0">
              <a:solidFill>
                <a:schemeClr val="folHlink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b="1" smtClean="0">
                <a:solidFill>
                  <a:schemeClr val="folHlink"/>
                </a:solidFill>
              </a:rPr>
              <a:t>Toss a coin 5 times. 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b="1" smtClean="0">
                <a:solidFill>
                  <a:schemeClr val="folHlink"/>
                </a:solidFill>
              </a:rPr>
              <a:t>	   Let  X  be the number of heads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b="1" smtClean="0">
                <a:solidFill>
                  <a:schemeClr val="folHlink"/>
                </a:solidFill>
              </a:rPr>
              <a:t>      (then  X  = 0, 1, 2, 3, 4, or 5)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Pct val="100000"/>
              <a:buFontTx/>
              <a:buNone/>
            </a:pPr>
            <a:endParaRPr lang="en-US" sz="2400" smtClean="0"/>
          </a:p>
        </p:txBody>
      </p:sp>
      <p:sp>
        <p:nvSpPr>
          <p:cNvPr id="22534" name="Rectangle 4"/>
          <p:cNvSpPr>
            <a:spLocks noChangeArrowheads="1"/>
          </p:cNvSpPr>
          <p:nvPr/>
        </p:nvSpPr>
        <p:spPr bwMode="auto">
          <a:xfrm>
            <a:off x="7239000" y="2438400"/>
            <a:ext cx="685800" cy="6858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35" name="Rectangle 5"/>
          <p:cNvSpPr>
            <a:spLocks noChangeArrowheads="1"/>
          </p:cNvSpPr>
          <p:nvPr/>
        </p:nvSpPr>
        <p:spPr bwMode="auto">
          <a:xfrm>
            <a:off x="8001000" y="2438400"/>
            <a:ext cx="685800" cy="6858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36" name="Rectangle 6"/>
          <p:cNvSpPr>
            <a:spLocks noChangeArrowheads="1"/>
          </p:cNvSpPr>
          <p:nvPr/>
        </p:nvSpPr>
        <p:spPr bwMode="auto">
          <a:xfrm>
            <a:off x="6477000" y="2438400"/>
            <a:ext cx="685800" cy="685800"/>
          </a:xfrm>
          <a:prstGeom prst="rect">
            <a:avLst/>
          </a:prstGeom>
          <a:solidFill>
            <a:srgbClr val="FFFF66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37" name="Rectangle 7"/>
          <p:cNvSpPr>
            <a:spLocks noChangeArrowheads="1"/>
          </p:cNvSpPr>
          <p:nvPr/>
        </p:nvSpPr>
        <p:spPr bwMode="auto">
          <a:xfrm>
            <a:off x="5715000" y="2438400"/>
            <a:ext cx="685800" cy="6858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38" name="Rectangle 8"/>
          <p:cNvSpPr>
            <a:spLocks noChangeArrowheads="1"/>
          </p:cNvSpPr>
          <p:nvPr/>
        </p:nvSpPr>
        <p:spPr bwMode="auto">
          <a:xfrm>
            <a:off x="4953000" y="2438400"/>
            <a:ext cx="685800" cy="6858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39" name="Rectangle 9"/>
          <p:cNvSpPr>
            <a:spLocks noChangeArrowheads="1"/>
          </p:cNvSpPr>
          <p:nvPr/>
        </p:nvSpPr>
        <p:spPr bwMode="auto">
          <a:xfrm>
            <a:off x="4191000" y="2438400"/>
            <a:ext cx="685800" cy="6858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40" name="Oval 10"/>
          <p:cNvSpPr>
            <a:spLocks noChangeArrowheads="1"/>
          </p:cNvSpPr>
          <p:nvPr/>
        </p:nvSpPr>
        <p:spPr bwMode="auto">
          <a:xfrm>
            <a:off x="4495800" y="2743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41" name="Oval 11"/>
          <p:cNvSpPr>
            <a:spLocks noChangeArrowheads="1"/>
          </p:cNvSpPr>
          <p:nvPr/>
        </p:nvSpPr>
        <p:spPr bwMode="auto">
          <a:xfrm>
            <a:off x="6629400" y="2590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42" name="Oval 12"/>
          <p:cNvSpPr>
            <a:spLocks noChangeArrowheads="1"/>
          </p:cNvSpPr>
          <p:nvPr/>
        </p:nvSpPr>
        <p:spPr bwMode="auto">
          <a:xfrm>
            <a:off x="5257800" y="2590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43" name="Oval 13"/>
          <p:cNvSpPr>
            <a:spLocks noChangeArrowheads="1"/>
          </p:cNvSpPr>
          <p:nvPr/>
        </p:nvSpPr>
        <p:spPr bwMode="auto">
          <a:xfrm>
            <a:off x="6915150" y="259715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44" name="Oval 14"/>
          <p:cNvSpPr>
            <a:spLocks noChangeArrowheads="1"/>
          </p:cNvSpPr>
          <p:nvPr/>
        </p:nvSpPr>
        <p:spPr bwMode="auto">
          <a:xfrm>
            <a:off x="5867400" y="2895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45" name="Oval 15"/>
          <p:cNvSpPr>
            <a:spLocks noChangeArrowheads="1"/>
          </p:cNvSpPr>
          <p:nvPr/>
        </p:nvSpPr>
        <p:spPr bwMode="auto">
          <a:xfrm>
            <a:off x="6165850" y="258445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46" name="Oval 16"/>
          <p:cNvSpPr>
            <a:spLocks noChangeArrowheads="1"/>
          </p:cNvSpPr>
          <p:nvPr/>
        </p:nvSpPr>
        <p:spPr bwMode="auto">
          <a:xfrm>
            <a:off x="6019800" y="2743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47" name="Oval 17"/>
          <p:cNvSpPr>
            <a:spLocks noChangeArrowheads="1"/>
          </p:cNvSpPr>
          <p:nvPr/>
        </p:nvSpPr>
        <p:spPr bwMode="auto">
          <a:xfrm>
            <a:off x="6629400" y="2895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48" name="Oval 18"/>
          <p:cNvSpPr>
            <a:spLocks noChangeArrowheads="1"/>
          </p:cNvSpPr>
          <p:nvPr/>
        </p:nvSpPr>
        <p:spPr bwMode="auto">
          <a:xfrm>
            <a:off x="6927850" y="2895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49" name="Oval 19"/>
          <p:cNvSpPr>
            <a:spLocks noChangeArrowheads="1"/>
          </p:cNvSpPr>
          <p:nvPr/>
        </p:nvSpPr>
        <p:spPr bwMode="auto">
          <a:xfrm>
            <a:off x="7391400" y="2590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50" name="Oval 20"/>
          <p:cNvSpPr>
            <a:spLocks noChangeArrowheads="1"/>
          </p:cNvSpPr>
          <p:nvPr/>
        </p:nvSpPr>
        <p:spPr bwMode="auto">
          <a:xfrm>
            <a:off x="7686675" y="2895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51" name="Oval 21"/>
          <p:cNvSpPr>
            <a:spLocks noChangeArrowheads="1"/>
          </p:cNvSpPr>
          <p:nvPr/>
        </p:nvSpPr>
        <p:spPr bwMode="auto">
          <a:xfrm>
            <a:off x="7667625" y="2590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52" name="Oval 22"/>
          <p:cNvSpPr>
            <a:spLocks noChangeArrowheads="1"/>
          </p:cNvSpPr>
          <p:nvPr/>
        </p:nvSpPr>
        <p:spPr bwMode="auto">
          <a:xfrm>
            <a:off x="8162925" y="2590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53" name="Oval 23"/>
          <p:cNvSpPr>
            <a:spLocks noChangeArrowheads="1"/>
          </p:cNvSpPr>
          <p:nvPr/>
        </p:nvSpPr>
        <p:spPr bwMode="auto">
          <a:xfrm>
            <a:off x="8458200" y="2590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54" name="Oval 24"/>
          <p:cNvSpPr>
            <a:spLocks noChangeArrowheads="1"/>
          </p:cNvSpPr>
          <p:nvPr/>
        </p:nvSpPr>
        <p:spPr bwMode="auto">
          <a:xfrm>
            <a:off x="8162925" y="2743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55" name="Oval 25"/>
          <p:cNvSpPr>
            <a:spLocks noChangeArrowheads="1"/>
          </p:cNvSpPr>
          <p:nvPr/>
        </p:nvSpPr>
        <p:spPr bwMode="auto">
          <a:xfrm>
            <a:off x="8458200" y="2743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56" name="Oval 26"/>
          <p:cNvSpPr>
            <a:spLocks noChangeArrowheads="1"/>
          </p:cNvSpPr>
          <p:nvPr/>
        </p:nvSpPr>
        <p:spPr bwMode="auto">
          <a:xfrm>
            <a:off x="8162925" y="2895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57" name="Oval 27"/>
          <p:cNvSpPr>
            <a:spLocks noChangeArrowheads="1"/>
          </p:cNvSpPr>
          <p:nvPr/>
        </p:nvSpPr>
        <p:spPr bwMode="auto">
          <a:xfrm>
            <a:off x="8458200" y="2895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58" name="Oval 28"/>
          <p:cNvSpPr>
            <a:spLocks noChangeArrowheads="1"/>
          </p:cNvSpPr>
          <p:nvPr/>
        </p:nvSpPr>
        <p:spPr bwMode="auto">
          <a:xfrm>
            <a:off x="5257800" y="2895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59" name="Oval 29"/>
          <p:cNvSpPr>
            <a:spLocks noChangeArrowheads="1"/>
          </p:cNvSpPr>
          <p:nvPr/>
        </p:nvSpPr>
        <p:spPr bwMode="auto">
          <a:xfrm>
            <a:off x="7391400" y="2895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60" name="Oval 30"/>
          <p:cNvSpPr>
            <a:spLocks noChangeArrowheads="1"/>
          </p:cNvSpPr>
          <p:nvPr/>
        </p:nvSpPr>
        <p:spPr bwMode="auto">
          <a:xfrm>
            <a:off x="7543800" y="2743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pic>
        <p:nvPicPr>
          <p:cNvPr id="22561" name="Picture 31" descr="BS00590_[1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02400" y="4800600"/>
            <a:ext cx="9017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3B1134A1-6B19-4670-BBA6-6510066652F1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23554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3555" name="Slide Number Placeholder 5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A412C7C7-6C41-429B-AFDC-02E9A245DBA7}" type="slidenum">
              <a:rPr lang="en-US" sz="1000"/>
              <a:pPr algn="r" defTabSz="852488"/>
              <a:t>6</a:t>
            </a:fld>
            <a:endParaRPr lang="en-US" sz="1000"/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04800"/>
            <a:ext cx="7383463" cy="990600"/>
          </a:xfrm>
        </p:spPr>
        <p:txBody>
          <a:bodyPr/>
          <a:lstStyle/>
          <a:p>
            <a:pPr eaLnBrk="1" hangingPunct="1"/>
            <a:r>
              <a:rPr lang="en-US" smtClean="0"/>
              <a:t>Probability Distribution For A Discrete Random Variable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66800" y="1600200"/>
            <a:ext cx="7391400" cy="1600200"/>
          </a:xfrm>
        </p:spPr>
        <p:txBody>
          <a:bodyPr/>
          <a:lstStyle/>
          <a:p>
            <a:pPr eaLnBrk="1" hangingPunct="1"/>
            <a:r>
              <a:rPr lang="en-US" sz="2400" smtClean="0"/>
              <a:t>A </a:t>
            </a:r>
            <a:r>
              <a:rPr lang="en-US" sz="2400" b="1" smtClean="0"/>
              <a:t>probability distribution for a discrete random variable</a:t>
            </a:r>
            <a:r>
              <a:rPr lang="en-US" sz="2400" smtClean="0"/>
              <a:t> is a mutually exclusive listing of all possible numerical outcomes for that variable and a probability of occurrence associated with each outcome.</a:t>
            </a:r>
          </a:p>
        </p:txBody>
      </p:sp>
      <p:graphicFrame>
        <p:nvGraphicFramePr>
          <p:cNvPr id="351236" name="Group 4"/>
          <p:cNvGraphicFramePr>
            <a:graphicFrameLocks noGrp="1"/>
          </p:cNvGraphicFramePr>
          <p:nvPr>
            <p:ph sz="half" idx="2"/>
          </p:nvPr>
        </p:nvGraphicFramePr>
        <p:xfrm>
          <a:off x="873125" y="3675063"/>
          <a:ext cx="6584950" cy="2225675"/>
        </p:xfrm>
        <a:graphic>
          <a:graphicData uri="http://schemas.openxmlformats.org/drawingml/2006/table">
            <a:tbl>
              <a:tblPr/>
              <a:tblGrid>
                <a:gridCol w="3687763"/>
                <a:gridCol w="2897187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Number of Classes Taken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Probability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821A8DFB-B25D-4216-AFED-8C308FFFA82F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24578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4579" name="Slide Number Placeholder 5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FF8F6899-A487-4D18-8688-034E95ECD477}" type="slidenum">
              <a:rPr lang="en-US" sz="1000"/>
              <a:pPr algn="r" defTabSz="852488"/>
              <a:t>7</a:t>
            </a:fld>
            <a:endParaRPr lang="en-US" sz="1000"/>
          </a:p>
        </p:txBody>
      </p:sp>
      <p:sp>
        <p:nvSpPr>
          <p:cNvPr id="24580" name="Rectangle 2"/>
          <p:cNvSpPr>
            <a:spLocks noChangeArrowheads="1"/>
          </p:cNvSpPr>
          <p:nvPr/>
        </p:nvSpPr>
        <p:spPr bwMode="auto">
          <a:xfrm>
            <a:off x="4191000" y="2971800"/>
            <a:ext cx="2819400" cy="1905000"/>
          </a:xfrm>
          <a:prstGeom prst="rect">
            <a:avLst/>
          </a:prstGeom>
          <a:solidFill>
            <a:srgbClr val="FDE0BD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 anchor="ctr">
            <a:spAutoFit/>
          </a:bodyPr>
          <a:lstStyle/>
          <a:p>
            <a:endParaRPr lang="en-GB"/>
          </a:p>
        </p:txBody>
      </p:sp>
      <p:sp>
        <p:nvSpPr>
          <p:cNvPr id="24581" name="Rectangle 3"/>
          <p:cNvSpPr>
            <a:spLocks noChangeArrowheads="1"/>
          </p:cNvSpPr>
          <p:nvPr/>
        </p:nvSpPr>
        <p:spPr bwMode="auto">
          <a:xfrm>
            <a:off x="685800" y="1752600"/>
            <a:ext cx="7934325" cy="5159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20000"/>
              </a:spcBef>
              <a:tabLst>
                <a:tab pos="8229600" algn="r"/>
              </a:tabLst>
            </a:pPr>
            <a:r>
              <a:rPr lang="en-US" sz="2800">
                <a:solidFill>
                  <a:schemeClr val="folHlink"/>
                </a:solidFill>
              </a:rPr>
              <a:t>Experiment:  Toss 2 Coins.    Let  X = # heads.</a:t>
            </a:r>
          </a:p>
        </p:txBody>
      </p:sp>
      <p:sp>
        <p:nvSpPr>
          <p:cNvPr id="24582" name="Line 4"/>
          <p:cNvSpPr>
            <a:spLocks noChangeShapeType="1"/>
          </p:cNvSpPr>
          <p:nvPr/>
        </p:nvSpPr>
        <p:spPr bwMode="auto">
          <a:xfrm>
            <a:off x="2819400" y="3200400"/>
            <a:ext cx="1752600" cy="38100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583" name="Line 5"/>
          <p:cNvSpPr>
            <a:spLocks noChangeShapeType="1"/>
          </p:cNvSpPr>
          <p:nvPr/>
        </p:nvSpPr>
        <p:spPr bwMode="auto">
          <a:xfrm>
            <a:off x="2819400" y="4114800"/>
            <a:ext cx="1752600" cy="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584" name="Line 6"/>
          <p:cNvSpPr>
            <a:spLocks noChangeShapeType="1"/>
          </p:cNvSpPr>
          <p:nvPr/>
        </p:nvSpPr>
        <p:spPr bwMode="auto">
          <a:xfrm flipV="1">
            <a:off x="2819400" y="4191000"/>
            <a:ext cx="1752600" cy="76200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585" name="Line 7"/>
          <p:cNvSpPr>
            <a:spLocks noChangeShapeType="1"/>
          </p:cNvSpPr>
          <p:nvPr/>
        </p:nvSpPr>
        <p:spPr bwMode="auto">
          <a:xfrm flipV="1">
            <a:off x="2819400" y="4648200"/>
            <a:ext cx="1752600" cy="121920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586" name="Freeform 8"/>
          <p:cNvSpPr>
            <a:spLocks/>
          </p:cNvSpPr>
          <p:nvPr/>
        </p:nvSpPr>
        <p:spPr bwMode="auto">
          <a:xfrm>
            <a:off x="1322388" y="3005138"/>
            <a:ext cx="7937" cy="1587"/>
          </a:xfrm>
          <a:custGeom>
            <a:avLst/>
            <a:gdLst>
              <a:gd name="T0" fmla="*/ 4762 w 5"/>
              <a:gd name="T1" fmla="*/ 0 h 1"/>
              <a:gd name="T2" fmla="*/ 3175 w 5"/>
              <a:gd name="T3" fmla="*/ 0 h 1"/>
              <a:gd name="T4" fmla="*/ 1587 w 5"/>
              <a:gd name="T5" fmla="*/ 0 h 1"/>
              <a:gd name="T6" fmla="*/ 0 w 5"/>
              <a:gd name="T7" fmla="*/ 0 h 1"/>
              <a:gd name="T8" fmla="*/ 1587 w 5"/>
              <a:gd name="T9" fmla="*/ 0 h 1"/>
              <a:gd name="T10" fmla="*/ 3175 w 5"/>
              <a:gd name="T11" fmla="*/ 0 h 1"/>
              <a:gd name="T12" fmla="*/ 4762 w 5"/>
              <a:gd name="T13" fmla="*/ 0 h 1"/>
              <a:gd name="T14" fmla="*/ 6350 w 5"/>
              <a:gd name="T15" fmla="*/ 0 h 1"/>
              <a:gd name="T16" fmla="*/ 4762 w 5"/>
              <a:gd name="T17" fmla="*/ 0 h 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5"/>
              <a:gd name="T28" fmla="*/ 0 h 1"/>
              <a:gd name="T29" fmla="*/ 5 w 5"/>
              <a:gd name="T30" fmla="*/ 1 h 1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5" h="1">
                <a:moveTo>
                  <a:pt x="3" y="0"/>
                </a:move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3" y="0"/>
                </a:lnTo>
              </a:path>
            </a:pathLst>
          </a:custGeom>
          <a:solidFill>
            <a:srgbClr val="000000"/>
          </a:solidFill>
          <a:ln w="12700" cap="rnd">
            <a:noFill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4587" name="Oval 9"/>
          <p:cNvSpPr>
            <a:spLocks noChangeArrowheads="1"/>
          </p:cNvSpPr>
          <p:nvPr/>
        </p:nvSpPr>
        <p:spPr bwMode="auto">
          <a:xfrm>
            <a:off x="766763" y="3662363"/>
            <a:ext cx="762000" cy="685800"/>
          </a:xfrm>
          <a:prstGeom prst="ellipse">
            <a:avLst/>
          </a:prstGeom>
          <a:solidFill>
            <a:srgbClr val="996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4588" name="Oval 10"/>
          <p:cNvSpPr>
            <a:spLocks noChangeArrowheads="1"/>
          </p:cNvSpPr>
          <p:nvPr/>
        </p:nvSpPr>
        <p:spPr bwMode="auto">
          <a:xfrm>
            <a:off x="762000" y="2819400"/>
            <a:ext cx="762000" cy="685800"/>
          </a:xfrm>
          <a:prstGeom prst="ellipse">
            <a:avLst/>
          </a:prstGeom>
          <a:solidFill>
            <a:srgbClr val="996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4589" name="Oval 11"/>
          <p:cNvSpPr>
            <a:spLocks noChangeArrowheads="1"/>
          </p:cNvSpPr>
          <p:nvPr/>
        </p:nvSpPr>
        <p:spPr bwMode="auto">
          <a:xfrm>
            <a:off x="1905000" y="2819400"/>
            <a:ext cx="762000" cy="685800"/>
          </a:xfrm>
          <a:prstGeom prst="ellipse">
            <a:avLst/>
          </a:prstGeom>
          <a:solidFill>
            <a:srgbClr val="996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4590" name="Rectangle 12"/>
          <p:cNvSpPr>
            <a:spLocks noChangeArrowheads="1"/>
          </p:cNvSpPr>
          <p:nvPr/>
        </p:nvSpPr>
        <p:spPr bwMode="auto">
          <a:xfrm>
            <a:off x="914400" y="3733800"/>
            <a:ext cx="466725" cy="5762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3200" b="1"/>
              <a:t>T</a:t>
            </a:r>
          </a:p>
        </p:txBody>
      </p:sp>
      <p:sp>
        <p:nvSpPr>
          <p:cNvPr id="24591" name="Rectangle 13"/>
          <p:cNvSpPr>
            <a:spLocks noChangeArrowheads="1"/>
          </p:cNvSpPr>
          <p:nvPr/>
        </p:nvSpPr>
        <p:spPr bwMode="auto">
          <a:xfrm>
            <a:off x="914400" y="2895600"/>
            <a:ext cx="466725" cy="5762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3200" b="1"/>
              <a:t>T</a:t>
            </a:r>
          </a:p>
        </p:txBody>
      </p:sp>
      <p:sp>
        <p:nvSpPr>
          <p:cNvPr id="24592" name="Rectangle 14"/>
          <p:cNvSpPr>
            <a:spLocks noGrp="1" noChangeArrowheads="1"/>
          </p:cNvSpPr>
          <p:nvPr>
            <p:ph type="title"/>
          </p:nvPr>
        </p:nvSpPr>
        <p:spPr>
          <a:xfrm>
            <a:off x="1143000" y="381000"/>
            <a:ext cx="7793038" cy="762000"/>
          </a:xfrm>
        </p:spPr>
        <p:txBody>
          <a:bodyPr/>
          <a:lstStyle/>
          <a:p>
            <a:pPr defTabSz="914400" eaLnBrk="1" hangingPunct="1"/>
            <a:r>
              <a:rPr lang="en-US" sz="3600" smtClean="0"/>
              <a:t>Example of  a Discrete Random Variable Probability Distribution</a:t>
            </a:r>
          </a:p>
        </p:txBody>
      </p:sp>
      <p:pic>
        <p:nvPicPr>
          <p:cNvPr id="24593" name="Picture 15" descr="BS00590_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00" y="5486400"/>
            <a:ext cx="7508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94" name="Picture 16" descr="BS00590_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5486400"/>
            <a:ext cx="7508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95" name="Picture 17" descr="BS00590_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4572000"/>
            <a:ext cx="7508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96" name="Picture 18" descr="BS00590_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00" y="3657600"/>
            <a:ext cx="7508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97" name="Rectangle 19"/>
          <p:cNvSpPr>
            <a:spLocks noChangeArrowheads="1"/>
          </p:cNvSpPr>
          <p:nvPr/>
        </p:nvSpPr>
        <p:spPr bwMode="auto">
          <a:xfrm>
            <a:off x="304800" y="2362200"/>
            <a:ext cx="289560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20000"/>
              </a:spcBef>
              <a:tabLst>
                <a:tab pos="8229600" algn="r"/>
              </a:tabLst>
            </a:pPr>
            <a:r>
              <a:rPr lang="en-US" sz="2000" b="1"/>
              <a:t>4 possible outcomes</a:t>
            </a:r>
          </a:p>
        </p:txBody>
      </p:sp>
      <p:sp>
        <p:nvSpPr>
          <p:cNvPr id="24598" name="Rectangle 20"/>
          <p:cNvSpPr>
            <a:spLocks noChangeArrowheads="1"/>
          </p:cNvSpPr>
          <p:nvPr/>
        </p:nvSpPr>
        <p:spPr bwMode="auto">
          <a:xfrm>
            <a:off x="457200" y="2819400"/>
            <a:ext cx="2362200" cy="685800"/>
          </a:xfrm>
          <a:prstGeom prst="rect">
            <a:avLst/>
          </a:prstGeom>
          <a:noFill/>
          <a:ln w="19050" algn="ctr">
            <a:solidFill>
              <a:schemeClr val="folHlink"/>
            </a:solidFill>
            <a:miter lim="800000"/>
            <a:headEnd/>
            <a:tailEnd/>
          </a:ln>
        </p:spPr>
        <p:txBody>
          <a:bodyPr lIns="90488" tIns="44450" rIns="90488" bIns="44450" anchor="ctr">
            <a:spAutoFit/>
          </a:bodyPr>
          <a:lstStyle/>
          <a:p>
            <a:endParaRPr lang="en-GB"/>
          </a:p>
        </p:txBody>
      </p:sp>
      <p:sp>
        <p:nvSpPr>
          <p:cNvPr id="24599" name="Rectangle 21"/>
          <p:cNvSpPr>
            <a:spLocks noChangeArrowheads="1"/>
          </p:cNvSpPr>
          <p:nvPr/>
        </p:nvSpPr>
        <p:spPr bwMode="auto">
          <a:xfrm>
            <a:off x="457200" y="3657600"/>
            <a:ext cx="2362200" cy="1676400"/>
          </a:xfrm>
          <a:prstGeom prst="rect">
            <a:avLst/>
          </a:prstGeom>
          <a:noFill/>
          <a:ln w="19050" algn="ctr">
            <a:solidFill>
              <a:schemeClr val="folHlink"/>
            </a:solidFill>
            <a:miter lim="800000"/>
            <a:headEnd/>
            <a:tailEnd/>
          </a:ln>
        </p:spPr>
        <p:txBody>
          <a:bodyPr lIns="90488" tIns="44450" rIns="90488" bIns="44450" anchor="ctr">
            <a:spAutoFit/>
          </a:bodyPr>
          <a:lstStyle/>
          <a:p>
            <a:endParaRPr lang="en-GB"/>
          </a:p>
        </p:txBody>
      </p:sp>
      <p:sp>
        <p:nvSpPr>
          <p:cNvPr id="24600" name="Rectangle 22"/>
          <p:cNvSpPr>
            <a:spLocks noChangeArrowheads="1"/>
          </p:cNvSpPr>
          <p:nvPr/>
        </p:nvSpPr>
        <p:spPr bwMode="auto">
          <a:xfrm>
            <a:off x="457200" y="5486400"/>
            <a:ext cx="2362200" cy="762000"/>
          </a:xfrm>
          <a:prstGeom prst="rect">
            <a:avLst/>
          </a:prstGeom>
          <a:noFill/>
          <a:ln w="19050" algn="ctr">
            <a:solidFill>
              <a:schemeClr val="folHlink"/>
            </a:solidFill>
            <a:miter lim="800000"/>
            <a:headEnd/>
            <a:tailEnd/>
          </a:ln>
        </p:spPr>
        <p:txBody>
          <a:bodyPr wrap="none" lIns="90488" tIns="44450" rIns="90488" bIns="44450" anchor="ctr">
            <a:spAutoFit/>
          </a:bodyPr>
          <a:lstStyle/>
          <a:p>
            <a:endParaRPr lang="en-GB"/>
          </a:p>
        </p:txBody>
      </p:sp>
      <p:sp>
        <p:nvSpPr>
          <p:cNvPr id="24601" name="Oval 23"/>
          <p:cNvSpPr>
            <a:spLocks noChangeArrowheads="1"/>
          </p:cNvSpPr>
          <p:nvPr/>
        </p:nvSpPr>
        <p:spPr bwMode="auto">
          <a:xfrm>
            <a:off x="1909763" y="4652963"/>
            <a:ext cx="762000" cy="685800"/>
          </a:xfrm>
          <a:prstGeom prst="ellipse">
            <a:avLst/>
          </a:prstGeom>
          <a:solidFill>
            <a:srgbClr val="996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4602" name="Rectangle 24"/>
          <p:cNvSpPr>
            <a:spLocks noChangeArrowheads="1"/>
          </p:cNvSpPr>
          <p:nvPr/>
        </p:nvSpPr>
        <p:spPr bwMode="auto">
          <a:xfrm>
            <a:off x="2057400" y="4724400"/>
            <a:ext cx="466725" cy="5762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3200" b="1"/>
              <a:t>T</a:t>
            </a:r>
          </a:p>
        </p:txBody>
      </p:sp>
      <p:sp>
        <p:nvSpPr>
          <p:cNvPr id="24603" name="Rectangle 25"/>
          <p:cNvSpPr>
            <a:spLocks noChangeArrowheads="1"/>
          </p:cNvSpPr>
          <p:nvPr/>
        </p:nvSpPr>
        <p:spPr bwMode="auto">
          <a:xfrm>
            <a:off x="2057400" y="2895600"/>
            <a:ext cx="466725" cy="5762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3200" b="1"/>
              <a:t>T</a:t>
            </a:r>
          </a:p>
        </p:txBody>
      </p:sp>
      <p:sp>
        <p:nvSpPr>
          <p:cNvPr id="24604" name="Rectangle 26"/>
          <p:cNvSpPr>
            <a:spLocks noChangeArrowheads="1"/>
          </p:cNvSpPr>
          <p:nvPr/>
        </p:nvSpPr>
        <p:spPr bwMode="auto">
          <a:xfrm>
            <a:off x="2057400" y="3733800"/>
            <a:ext cx="466725" cy="5762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3200" b="1">
                <a:solidFill>
                  <a:srgbClr val="DDD9FB"/>
                </a:solidFill>
              </a:rPr>
              <a:t>H</a:t>
            </a:r>
          </a:p>
        </p:txBody>
      </p:sp>
      <p:sp>
        <p:nvSpPr>
          <p:cNvPr id="24605" name="Rectangle 27"/>
          <p:cNvSpPr>
            <a:spLocks noChangeArrowheads="1"/>
          </p:cNvSpPr>
          <p:nvPr/>
        </p:nvSpPr>
        <p:spPr bwMode="auto">
          <a:xfrm>
            <a:off x="914400" y="4648200"/>
            <a:ext cx="466725" cy="5762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3200" b="1">
                <a:solidFill>
                  <a:srgbClr val="DDD9FB"/>
                </a:solidFill>
              </a:rPr>
              <a:t>H</a:t>
            </a:r>
          </a:p>
        </p:txBody>
      </p:sp>
      <p:sp>
        <p:nvSpPr>
          <p:cNvPr id="24606" name="Rectangle 28"/>
          <p:cNvSpPr>
            <a:spLocks noChangeArrowheads="1"/>
          </p:cNvSpPr>
          <p:nvPr/>
        </p:nvSpPr>
        <p:spPr bwMode="auto">
          <a:xfrm>
            <a:off x="914400" y="5562600"/>
            <a:ext cx="466725" cy="5762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3200" b="1">
                <a:solidFill>
                  <a:srgbClr val="DDD9FB"/>
                </a:solidFill>
              </a:rPr>
              <a:t>H</a:t>
            </a:r>
          </a:p>
        </p:txBody>
      </p:sp>
      <p:sp>
        <p:nvSpPr>
          <p:cNvPr id="24607" name="Rectangle 29"/>
          <p:cNvSpPr>
            <a:spLocks noChangeArrowheads="1"/>
          </p:cNvSpPr>
          <p:nvPr/>
        </p:nvSpPr>
        <p:spPr bwMode="auto">
          <a:xfrm>
            <a:off x="2057400" y="5562600"/>
            <a:ext cx="466725" cy="5762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3200" b="1">
                <a:solidFill>
                  <a:srgbClr val="DDD9FB"/>
                </a:solidFill>
              </a:rPr>
              <a:t>H</a:t>
            </a:r>
          </a:p>
        </p:txBody>
      </p:sp>
      <p:sp>
        <p:nvSpPr>
          <p:cNvPr id="24608" name="Rectangle 30"/>
          <p:cNvSpPr>
            <a:spLocks noChangeArrowheads="1"/>
          </p:cNvSpPr>
          <p:nvPr/>
        </p:nvSpPr>
        <p:spPr bwMode="auto">
          <a:xfrm>
            <a:off x="3505200" y="2438400"/>
            <a:ext cx="4114800" cy="515938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800" b="1"/>
              <a:t>Probability Distribution</a:t>
            </a:r>
          </a:p>
        </p:txBody>
      </p:sp>
      <p:sp>
        <p:nvSpPr>
          <p:cNvPr id="24609" name="Line 31"/>
          <p:cNvSpPr>
            <a:spLocks noChangeShapeType="1"/>
          </p:cNvSpPr>
          <p:nvPr/>
        </p:nvSpPr>
        <p:spPr bwMode="auto">
          <a:xfrm>
            <a:off x="3581400" y="2895600"/>
            <a:ext cx="3886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4610" name="Line 32"/>
          <p:cNvSpPr>
            <a:spLocks noChangeShapeType="1"/>
          </p:cNvSpPr>
          <p:nvPr/>
        </p:nvSpPr>
        <p:spPr bwMode="auto">
          <a:xfrm>
            <a:off x="5334000" y="6213475"/>
            <a:ext cx="2286000" cy="0"/>
          </a:xfrm>
          <a:prstGeom prst="line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4611" name="Line 33"/>
          <p:cNvSpPr>
            <a:spLocks noChangeShapeType="1"/>
          </p:cNvSpPr>
          <p:nvPr/>
        </p:nvSpPr>
        <p:spPr bwMode="auto">
          <a:xfrm>
            <a:off x="5791200" y="5756275"/>
            <a:ext cx="0" cy="45720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4612" name="Line 34"/>
          <p:cNvSpPr>
            <a:spLocks noChangeShapeType="1"/>
          </p:cNvSpPr>
          <p:nvPr/>
        </p:nvSpPr>
        <p:spPr bwMode="auto">
          <a:xfrm>
            <a:off x="6324600" y="5299075"/>
            <a:ext cx="0" cy="91440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4613" name="Line 35"/>
          <p:cNvSpPr>
            <a:spLocks noChangeShapeType="1"/>
          </p:cNvSpPr>
          <p:nvPr/>
        </p:nvSpPr>
        <p:spPr bwMode="auto">
          <a:xfrm>
            <a:off x="6858000" y="5756275"/>
            <a:ext cx="0" cy="45720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4614" name="Rectangle 36"/>
          <p:cNvSpPr>
            <a:spLocks noChangeArrowheads="1"/>
          </p:cNvSpPr>
          <p:nvPr/>
        </p:nvSpPr>
        <p:spPr bwMode="auto">
          <a:xfrm>
            <a:off x="5457825" y="6248400"/>
            <a:ext cx="2695575" cy="3937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>
                <a:solidFill>
                  <a:schemeClr val="folHlink"/>
                </a:solidFill>
              </a:rPr>
              <a:t>  0      1      2         X     </a:t>
            </a:r>
          </a:p>
        </p:txBody>
      </p:sp>
      <p:sp>
        <p:nvSpPr>
          <p:cNvPr id="24615" name="Rectangle 37"/>
          <p:cNvSpPr>
            <a:spLocks noGrp="1" noChangeArrowheads="1"/>
          </p:cNvSpPr>
          <p:nvPr>
            <p:ph type="body" sz="half" idx="1"/>
          </p:nvPr>
        </p:nvSpPr>
        <p:spPr>
          <a:xfrm>
            <a:off x="3429000" y="2932113"/>
            <a:ext cx="3962400" cy="2181225"/>
          </a:xfrm>
        </p:spPr>
        <p:txBody>
          <a:bodyPr/>
          <a:lstStyle/>
          <a:p>
            <a:pPr algn="ctr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sz="1900" b="1" u="sng" smtClean="0"/>
              <a:t>X Value</a:t>
            </a:r>
            <a:r>
              <a:rPr lang="en-US" sz="1900" b="1" smtClean="0"/>
              <a:t>    </a:t>
            </a:r>
            <a:r>
              <a:rPr lang="en-US" sz="1900" b="1" u="sng" smtClean="0"/>
              <a:t>Probability </a:t>
            </a:r>
            <a:endParaRPr lang="en-US" sz="1900" b="1" smtClean="0"/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900" b="1" smtClean="0"/>
              <a:t>               0            1/4 = 0.25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900" b="1" smtClean="0"/>
              <a:t>               1            2/4 = 0.50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900" b="1" smtClean="0"/>
              <a:t>               2            1/4 = 0.25</a:t>
            </a:r>
          </a:p>
        </p:txBody>
      </p:sp>
      <p:sp>
        <p:nvSpPr>
          <p:cNvPr id="24616" name="Line 38"/>
          <p:cNvSpPr>
            <a:spLocks noChangeShapeType="1"/>
          </p:cNvSpPr>
          <p:nvPr/>
        </p:nvSpPr>
        <p:spPr bwMode="auto">
          <a:xfrm>
            <a:off x="5334000" y="5222875"/>
            <a:ext cx="0" cy="99060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4617" name="Rectangle 39"/>
          <p:cNvSpPr>
            <a:spLocks noChangeArrowheads="1"/>
          </p:cNvSpPr>
          <p:nvPr/>
        </p:nvSpPr>
        <p:spPr bwMode="auto">
          <a:xfrm>
            <a:off x="4800600" y="5146675"/>
            <a:ext cx="609600" cy="7905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600" b="1">
                <a:solidFill>
                  <a:schemeClr val="folHlink"/>
                </a:solidFill>
              </a:rPr>
              <a:t>0.50</a:t>
            </a:r>
          </a:p>
          <a:p>
            <a:pPr eaLnBrk="0" hangingPunct="0">
              <a:spcBef>
                <a:spcPct val="50000"/>
              </a:spcBef>
            </a:pPr>
            <a:r>
              <a:rPr lang="en-US" sz="1600" b="1">
                <a:solidFill>
                  <a:schemeClr val="folHlink"/>
                </a:solidFill>
              </a:rPr>
              <a:t>0.25</a:t>
            </a:r>
            <a:r>
              <a:rPr lang="en-US" sz="2000" b="1">
                <a:solidFill>
                  <a:schemeClr val="folHlink"/>
                </a:solidFill>
              </a:rPr>
              <a:t> </a:t>
            </a:r>
          </a:p>
        </p:txBody>
      </p:sp>
      <p:sp>
        <p:nvSpPr>
          <p:cNvPr id="24618" name="Line 40"/>
          <p:cNvSpPr>
            <a:spLocks noChangeShapeType="1"/>
          </p:cNvSpPr>
          <p:nvPr/>
        </p:nvSpPr>
        <p:spPr bwMode="auto">
          <a:xfrm>
            <a:off x="5334000" y="5756275"/>
            <a:ext cx="1981200" cy="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sysDot"/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4619" name="Line 41"/>
          <p:cNvSpPr>
            <a:spLocks noChangeShapeType="1"/>
          </p:cNvSpPr>
          <p:nvPr/>
        </p:nvSpPr>
        <p:spPr bwMode="auto">
          <a:xfrm>
            <a:off x="5334000" y="5299075"/>
            <a:ext cx="1981200" cy="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sysDot"/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4620" name="Rectangle 42"/>
          <p:cNvSpPr>
            <a:spLocks noChangeArrowheads="1"/>
          </p:cNvSpPr>
          <p:nvPr/>
        </p:nvSpPr>
        <p:spPr bwMode="auto">
          <a:xfrm rot="-5400000">
            <a:off x="4045743" y="5368132"/>
            <a:ext cx="1293813" cy="3937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600" b="1">
                <a:solidFill>
                  <a:schemeClr val="folHlink"/>
                </a:solidFill>
              </a:rPr>
              <a:t>Probability</a:t>
            </a:r>
            <a:r>
              <a:rPr lang="en-US" sz="2000" b="1">
                <a:solidFill>
                  <a:schemeClr val="folHlink"/>
                </a:solidFill>
              </a:rPr>
              <a:t>     </a:t>
            </a:r>
          </a:p>
        </p:txBody>
      </p:sp>
      <p:sp>
        <p:nvSpPr>
          <p:cNvPr id="24621" name="Line 43"/>
          <p:cNvSpPr>
            <a:spLocks noChangeShapeType="1"/>
          </p:cNvSpPr>
          <p:nvPr/>
        </p:nvSpPr>
        <p:spPr bwMode="auto">
          <a:xfrm>
            <a:off x="5334000" y="2971800"/>
            <a:ext cx="0" cy="1905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90488" tIns="44450" rIns="90488" bIns="44450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10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16503B18-DE97-4FD5-89D5-0CF492AB2873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260108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6010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40E70747-E6CF-490A-A956-35FFFA3FF3AF}" type="slidenum">
              <a:rPr lang="en-US" sz="1000"/>
              <a:pPr algn="r" defTabSz="852488"/>
              <a:t>8</a:t>
            </a:fld>
            <a:endParaRPr lang="en-US" sz="1000"/>
          </a:p>
        </p:txBody>
      </p:sp>
      <p:sp>
        <p:nvSpPr>
          <p:cNvPr id="260110" name="Rectangle 2"/>
          <p:cNvSpPr>
            <a:spLocks noChangeArrowheads="1"/>
          </p:cNvSpPr>
          <p:nvPr/>
        </p:nvSpPr>
        <p:spPr bwMode="auto">
          <a:xfrm>
            <a:off x="1447800" y="5486400"/>
            <a:ext cx="5029200" cy="762000"/>
          </a:xfrm>
          <a:prstGeom prst="rect">
            <a:avLst/>
          </a:prstGeom>
          <a:solidFill>
            <a:srgbClr val="C7DAF7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 anchor="ctr">
            <a:spAutoFit/>
          </a:bodyPr>
          <a:lstStyle/>
          <a:p>
            <a:endParaRPr lang="en-GB"/>
          </a:p>
        </p:txBody>
      </p:sp>
      <p:sp>
        <p:nvSpPr>
          <p:cNvPr id="260111" name="Rectangle 3"/>
          <p:cNvSpPr>
            <a:spLocks noChangeArrowheads="1"/>
          </p:cNvSpPr>
          <p:nvPr/>
        </p:nvSpPr>
        <p:spPr bwMode="auto">
          <a:xfrm>
            <a:off x="6553200" y="3810000"/>
            <a:ext cx="1676400" cy="1676400"/>
          </a:xfrm>
          <a:prstGeom prst="rect">
            <a:avLst/>
          </a:prstGeom>
          <a:solidFill>
            <a:srgbClr val="FDE0BD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 anchor="ctr">
            <a:spAutoFit/>
          </a:bodyPr>
          <a:lstStyle/>
          <a:p>
            <a:endParaRPr lang="en-GB"/>
          </a:p>
        </p:txBody>
      </p:sp>
      <p:sp>
        <p:nvSpPr>
          <p:cNvPr id="260112" name="Rectangle 4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793038" cy="114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3600" smtClean="0"/>
              <a:t>Discrete Random Variables</a:t>
            </a:r>
            <a:br>
              <a:rPr lang="en-US" sz="3600" smtClean="0"/>
            </a:br>
            <a:r>
              <a:rPr lang="en-US" sz="3600" smtClean="0"/>
              <a:t>Expected Value (Measuring Center)</a:t>
            </a:r>
          </a:p>
        </p:txBody>
      </p:sp>
      <p:sp>
        <p:nvSpPr>
          <p:cNvPr id="26011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077200" cy="4876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3200" smtClean="0"/>
              <a:t> </a:t>
            </a:r>
            <a:r>
              <a:rPr lang="en-US" smtClean="0">
                <a:solidFill>
                  <a:schemeClr val="folHlink"/>
                </a:solidFill>
              </a:rPr>
              <a:t>Expected Value (or mean)</a:t>
            </a:r>
            <a:r>
              <a:rPr lang="en-US" smtClean="0"/>
              <a:t> of a discrete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mtClean="0"/>
              <a:t>      random variable </a:t>
            </a:r>
            <a:r>
              <a:rPr lang="en-US" sz="1900" smtClean="0"/>
              <a:t>(Weighted Average)</a:t>
            </a:r>
          </a:p>
          <a:p>
            <a:pPr eaLnBrk="1" hangingPunct="1">
              <a:lnSpc>
                <a:spcPct val="80000"/>
              </a:lnSpc>
            </a:pPr>
            <a:endParaRPr lang="en-US" sz="190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mtClean="0"/>
              <a:t>			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3600" smtClean="0"/>
          </a:p>
          <a:p>
            <a:pPr eaLnBrk="1" hangingPunct="1">
              <a:lnSpc>
                <a:spcPct val="80000"/>
              </a:lnSpc>
            </a:pPr>
            <a:endParaRPr lang="en-US" smtClean="0"/>
          </a:p>
          <a:p>
            <a:pPr lvl="1" eaLnBrk="1" hangingPunct="1">
              <a:lnSpc>
                <a:spcPct val="80000"/>
              </a:lnSpc>
            </a:pPr>
            <a:r>
              <a:rPr lang="en-US" sz="2800" smtClean="0">
                <a:solidFill>
                  <a:schemeClr val="hlink"/>
                </a:solidFill>
              </a:rPr>
              <a:t>Example:</a:t>
            </a:r>
            <a:r>
              <a:rPr lang="en-US" sz="2800" smtClean="0"/>
              <a:t> Toss 2 coins, 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800" smtClean="0"/>
              <a:t>	     	      X</a:t>
            </a:r>
            <a:r>
              <a:rPr lang="en-US" sz="2800" smtClean="0">
                <a:solidFill>
                  <a:schemeClr val="folHlink"/>
                </a:solidFill>
              </a:rPr>
              <a:t> = # of heads</a:t>
            </a:r>
            <a:r>
              <a:rPr lang="en-US" sz="2800" smtClean="0"/>
              <a:t>, 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800" smtClean="0"/>
              <a:t>	compute expected value of X:</a:t>
            </a:r>
            <a:endParaRPr lang="en-US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mtClean="0"/>
              <a:t>        </a:t>
            </a:r>
            <a:r>
              <a:rPr lang="en-US" sz="2100" b="1" smtClean="0"/>
              <a:t>E(X) = ((0)(0.25) + (1)(0.50) + (2)(0.25))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100" b="1" smtClean="0"/>
              <a:t>                   = 1.0</a:t>
            </a:r>
          </a:p>
        </p:txBody>
      </p:sp>
      <p:sp>
        <p:nvSpPr>
          <p:cNvPr id="260114" name="Rectangle 6"/>
          <p:cNvSpPr>
            <a:spLocks noChangeArrowheads="1"/>
          </p:cNvSpPr>
          <p:nvPr/>
        </p:nvSpPr>
        <p:spPr bwMode="auto">
          <a:xfrm>
            <a:off x="5867400" y="3886200"/>
            <a:ext cx="27432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/>
          <a:lstStyle/>
          <a:p>
            <a:pPr marL="342900" indent="-342900"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700" b="1"/>
              <a:t>     X          P(X=x</a:t>
            </a:r>
            <a:r>
              <a:rPr lang="en-US" sz="1700" b="1" baseline="-25000"/>
              <a:t>i</a:t>
            </a:r>
            <a:r>
              <a:rPr lang="en-US" sz="1700" b="1"/>
              <a:t>)</a:t>
            </a:r>
          </a:p>
          <a:p>
            <a:pPr marL="342900" indent="-342900">
              <a:spcBef>
                <a:spcPct val="5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700" b="1"/>
              <a:t>               0          0.25</a:t>
            </a:r>
          </a:p>
          <a:p>
            <a:pPr marL="342900" indent="-342900">
              <a:spcBef>
                <a:spcPct val="5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700" b="1"/>
              <a:t>               1          0.50</a:t>
            </a:r>
          </a:p>
          <a:p>
            <a:pPr marL="342900" indent="-342900">
              <a:spcBef>
                <a:spcPct val="5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700" b="1"/>
              <a:t>               2          0.25</a:t>
            </a:r>
          </a:p>
        </p:txBody>
      </p:sp>
      <p:sp>
        <p:nvSpPr>
          <p:cNvPr id="260115" name="Line 7"/>
          <p:cNvSpPr>
            <a:spLocks noChangeShapeType="1"/>
          </p:cNvSpPr>
          <p:nvPr/>
        </p:nvSpPr>
        <p:spPr bwMode="auto">
          <a:xfrm>
            <a:off x="7315200" y="3810000"/>
            <a:ext cx="0" cy="1676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60116" name="Line 8"/>
          <p:cNvSpPr>
            <a:spLocks noChangeShapeType="1"/>
          </p:cNvSpPr>
          <p:nvPr/>
        </p:nvSpPr>
        <p:spPr bwMode="auto">
          <a:xfrm>
            <a:off x="6553200" y="4267200"/>
            <a:ext cx="1676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260117" name="Rectangle 9"/>
          <p:cNvSpPr>
            <a:spLocks noChangeArrowheads="1"/>
          </p:cNvSpPr>
          <p:nvPr/>
        </p:nvSpPr>
        <p:spPr bwMode="auto">
          <a:xfrm>
            <a:off x="1066800" y="3657600"/>
            <a:ext cx="7467600" cy="2743200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 anchor="ctr">
            <a:spAutoFit/>
          </a:bodyPr>
          <a:lstStyle/>
          <a:p>
            <a:endParaRPr lang="en-GB"/>
          </a:p>
        </p:txBody>
      </p:sp>
      <p:graphicFrame>
        <p:nvGraphicFramePr>
          <p:cNvPr id="260106" name="Object 10"/>
          <p:cNvGraphicFramePr>
            <a:graphicFrameLocks noChangeAspect="1"/>
          </p:cNvGraphicFramePr>
          <p:nvPr/>
        </p:nvGraphicFramePr>
        <p:xfrm>
          <a:off x="2373313" y="2438400"/>
          <a:ext cx="3817937" cy="998538"/>
        </p:xfrm>
        <a:graphic>
          <a:graphicData uri="http://schemas.openxmlformats.org/presentationml/2006/ole">
            <p:oleObj spid="_x0000_s260106" name="Equation" r:id="rId3" imgW="1650960" imgH="4316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58EC1DC5-A424-4F5E-934B-0077FA028F90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261128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6112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890CFF74-C6ED-4F05-BE1E-CE85A30B4F63}" type="slidenum">
              <a:rPr lang="en-US" sz="1000"/>
              <a:pPr algn="r" defTabSz="852488"/>
              <a:t>9</a:t>
            </a:fld>
            <a:endParaRPr lang="en-US" sz="1000"/>
          </a:p>
        </p:txBody>
      </p:sp>
      <p:sp>
        <p:nvSpPr>
          <p:cNvPr id="2611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8229600" cy="5105400"/>
          </a:xfrm>
        </p:spPr>
        <p:txBody>
          <a:bodyPr/>
          <a:lstStyle/>
          <a:p>
            <a:pPr eaLnBrk="1" hangingPunct="1"/>
            <a:r>
              <a:rPr lang="en-US" sz="2400" smtClean="0">
                <a:solidFill>
                  <a:schemeClr val="folHlink"/>
                </a:solidFill>
              </a:rPr>
              <a:t>Variance</a:t>
            </a:r>
            <a:r>
              <a:rPr lang="en-US" sz="2400" smtClean="0"/>
              <a:t> of a discrete random variable</a:t>
            </a:r>
          </a:p>
          <a:p>
            <a:pPr eaLnBrk="1" hangingPunct="1"/>
            <a:endParaRPr lang="en-US" sz="2000" smtClean="0"/>
          </a:p>
          <a:p>
            <a:pPr eaLnBrk="1" hangingPunct="1"/>
            <a:endParaRPr lang="en-US" sz="2000" smtClean="0"/>
          </a:p>
          <a:p>
            <a:pPr eaLnBrk="1" hangingPunct="1"/>
            <a:endParaRPr lang="en-US" sz="2000" smtClean="0"/>
          </a:p>
          <a:p>
            <a:pPr eaLnBrk="1" hangingPunct="1"/>
            <a:endParaRPr lang="en-US" sz="2400" smtClean="0">
              <a:solidFill>
                <a:schemeClr val="folHlink"/>
              </a:solidFill>
            </a:endParaRPr>
          </a:p>
          <a:p>
            <a:pPr eaLnBrk="1" hangingPunct="1"/>
            <a:r>
              <a:rPr lang="en-US" sz="2400" smtClean="0">
                <a:solidFill>
                  <a:schemeClr val="folHlink"/>
                </a:solidFill>
              </a:rPr>
              <a:t>Standard Deviation</a:t>
            </a:r>
            <a:r>
              <a:rPr lang="en-US" sz="2400" smtClean="0"/>
              <a:t> of a discrete random variable</a:t>
            </a:r>
            <a:endParaRPr lang="en-US" sz="200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00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00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00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00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00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/>
              <a:t>	where:</a:t>
            </a:r>
            <a:endParaRPr lang="en-US" sz="1600" i="1" baseline="-2500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baseline="-25000" smtClean="0"/>
              <a:t>		</a:t>
            </a:r>
            <a:r>
              <a:rPr lang="en-US" sz="1600" smtClean="0"/>
              <a:t>E(X) = Expected value of the discrete random variable X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/>
              <a:t>	    	   x</a:t>
            </a:r>
            <a:r>
              <a:rPr lang="en-US" sz="1600" baseline="-25000" smtClean="0"/>
              <a:t>i </a:t>
            </a:r>
            <a:r>
              <a:rPr lang="en-US" sz="1600" smtClean="0"/>
              <a:t> = the i</a:t>
            </a:r>
            <a:r>
              <a:rPr lang="en-US" sz="1600" baseline="30000" smtClean="0"/>
              <a:t>th</a:t>
            </a:r>
            <a:r>
              <a:rPr lang="en-US" sz="1600" smtClean="0"/>
              <a:t> outcome of X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smtClean="0"/>
              <a:t>		P(X=x</a:t>
            </a:r>
            <a:r>
              <a:rPr lang="en-US" sz="1600" baseline="-25000" smtClean="0"/>
              <a:t>i</a:t>
            </a:r>
            <a:r>
              <a:rPr lang="en-US" sz="1600" smtClean="0"/>
              <a:t>) = Probability of the i</a:t>
            </a:r>
            <a:r>
              <a:rPr lang="en-US" sz="1600" baseline="30000" smtClean="0"/>
              <a:t>th</a:t>
            </a:r>
            <a:r>
              <a:rPr lang="en-US" sz="1600" smtClean="0"/>
              <a:t> occurrence of X</a:t>
            </a:r>
          </a:p>
        </p:txBody>
      </p:sp>
      <p:sp>
        <p:nvSpPr>
          <p:cNvPr id="261131" name="Rectangle 3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793038" cy="114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3600" smtClean="0"/>
              <a:t>Discrete Random Variables </a:t>
            </a:r>
            <a:br>
              <a:rPr lang="en-US" sz="3600" smtClean="0"/>
            </a:br>
            <a:r>
              <a:rPr lang="en-US" sz="3600" smtClean="0"/>
              <a:t>Measuring Dispersion</a:t>
            </a:r>
          </a:p>
        </p:txBody>
      </p:sp>
      <p:graphicFrame>
        <p:nvGraphicFramePr>
          <p:cNvPr id="261124" name="Object 4"/>
          <p:cNvGraphicFramePr>
            <a:graphicFrameLocks noChangeAspect="1"/>
          </p:cNvGraphicFramePr>
          <p:nvPr/>
        </p:nvGraphicFramePr>
        <p:xfrm>
          <a:off x="2386013" y="2057400"/>
          <a:ext cx="4519612" cy="1055688"/>
        </p:xfrm>
        <a:graphic>
          <a:graphicData uri="http://schemas.openxmlformats.org/presentationml/2006/ole">
            <p:oleObj spid="_x0000_s261124" name="Equation" r:id="rId3" imgW="1841400" imgH="431640" progId="Equation.3">
              <p:embed/>
            </p:oleObj>
          </a:graphicData>
        </a:graphic>
      </p:graphicFrame>
      <p:graphicFrame>
        <p:nvGraphicFramePr>
          <p:cNvPr id="261126" name="Object 6"/>
          <p:cNvGraphicFramePr>
            <a:graphicFrameLocks noChangeAspect="1"/>
          </p:cNvGraphicFramePr>
          <p:nvPr/>
        </p:nvGraphicFramePr>
        <p:xfrm>
          <a:off x="1806575" y="4038600"/>
          <a:ext cx="5759450" cy="1179513"/>
        </p:xfrm>
        <a:graphic>
          <a:graphicData uri="http://schemas.openxmlformats.org/presentationml/2006/ole">
            <p:oleObj spid="_x0000_s261126" name="Equation" r:id="rId4" imgW="2336760" imgH="482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5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EDF2DBD9-846E-4752-A349-064882130BAF}" type="slidenum">
              <a:rPr lang="en-US" smtClean="0"/>
              <a:pPr/>
              <a:t>10</a:t>
            </a:fld>
            <a:endParaRPr lang="en-US" smtClean="0"/>
          </a:p>
        </p:txBody>
      </p:sp>
      <p:sp>
        <p:nvSpPr>
          <p:cNvPr id="262154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6215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DD2EC9BB-CADE-4ACC-8D78-FCF8DB4A9808}" type="slidenum">
              <a:rPr lang="en-US" sz="1000"/>
              <a:pPr algn="r" defTabSz="852488"/>
              <a:t>10</a:t>
            </a:fld>
            <a:endParaRPr lang="en-US" sz="1000"/>
          </a:p>
        </p:txBody>
      </p:sp>
      <p:sp>
        <p:nvSpPr>
          <p:cNvPr id="262156" name="Line 2"/>
          <p:cNvSpPr>
            <a:spLocks noChangeShapeType="1"/>
          </p:cNvSpPr>
          <p:nvPr/>
        </p:nvSpPr>
        <p:spPr bwMode="auto">
          <a:xfrm flipH="1" flipV="1">
            <a:off x="1219200" y="4648200"/>
            <a:ext cx="1752600" cy="609600"/>
          </a:xfrm>
          <a:prstGeom prst="line">
            <a:avLst/>
          </a:prstGeom>
          <a:noFill/>
          <a:ln w="25400">
            <a:solidFill>
              <a:srgbClr val="96969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2157" name="Line 3"/>
          <p:cNvSpPr>
            <a:spLocks noChangeShapeType="1"/>
          </p:cNvSpPr>
          <p:nvPr/>
        </p:nvSpPr>
        <p:spPr bwMode="auto">
          <a:xfrm flipV="1">
            <a:off x="3200400" y="4648200"/>
            <a:ext cx="0" cy="685800"/>
          </a:xfrm>
          <a:prstGeom prst="line">
            <a:avLst/>
          </a:prstGeom>
          <a:noFill/>
          <a:ln w="25400">
            <a:solidFill>
              <a:srgbClr val="96969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2158" name="Line 4"/>
          <p:cNvSpPr>
            <a:spLocks noChangeShapeType="1"/>
          </p:cNvSpPr>
          <p:nvPr/>
        </p:nvSpPr>
        <p:spPr bwMode="auto">
          <a:xfrm flipV="1">
            <a:off x="3352800" y="4648200"/>
            <a:ext cx="1752600" cy="685800"/>
          </a:xfrm>
          <a:prstGeom prst="line">
            <a:avLst/>
          </a:prstGeom>
          <a:noFill/>
          <a:ln w="25400">
            <a:solidFill>
              <a:srgbClr val="96969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215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8077200" cy="3944938"/>
          </a:xfrm>
        </p:spPr>
        <p:txBody>
          <a:bodyPr/>
          <a:lstStyle/>
          <a:p>
            <a:pPr lvl="1" eaLnBrk="1" hangingPunct="1"/>
            <a:r>
              <a:rPr lang="en-US" sz="2800" smtClean="0">
                <a:solidFill>
                  <a:schemeClr val="hlink"/>
                </a:solidFill>
              </a:rPr>
              <a:t>Example:</a:t>
            </a:r>
            <a:r>
              <a:rPr lang="en-US" sz="2800" smtClean="0"/>
              <a:t> Toss 2 coins, X = # heads, </a:t>
            </a:r>
          </a:p>
          <a:p>
            <a:pPr lvl="1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sz="2800" smtClean="0"/>
              <a:t>	compute standard deviation (recall E(X) = 1)</a:t>
            </a:r>
          </a:p>
        </p:txBody>
      </p:sp>
      <p:sp>
        <p:nvSpPr>
          <p:cNvPr id="262160" name="Rectangle 6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793038" cy="114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3600" smtClean="0"/>
              <a:t>Discrete Random Variables </a:t>
            </a:r>
            <a:br>
              <a:rPr lang="en-US" sz="3600" smtClean="0"/>
            </a:br>
            <a:r>
              <a:rPr lang="en-US" sz="3600" smtClean="0"/>
              <a:t>Measuring Dispersion</a:t>
            </a:r>
          </a:p>
        </p:txBody>
      </p:sp>
      <p:graphicFrame>
        <p:nvGraphicFramePr>
          <p:cNvPr id="262151" name="Object 7"/>
          <p:cNvGraphicFramePr>
            <a:graphicFrameLocks noChangeAspect="1"/>
          </p:cNvGraphicFramePr>
          <p:nvPr/>
        </p:nvGraphicFramePr>
        <p:xfrm>
          <a:off x="1903413" y="2990850"/>
          <a:ext cx="5064125" cy="890588"/>
        </p:xfrm>
        <a:graphic>
          <a:graphicData uri="http://schemas.openxmlformats.org/presentationml/2006/ole">
            <p:oleObj spid="_x0000_s262151" name="Equation" r:id="rId3" imgW="1650960" imgH="291960" progId="Equation.3">
              <p:embed/>
            </p:oleObj>
          </a:graphicData>
        </a:graphic>
      </p:graphicFrame>
      <p:graphicFrame>
        <p:nvGraphicFramePr>
          <p:cNvPr id="262152" name="Object 8"/>
          <p:cNvGraphicFramePr>
            <a:graphicFrameLocks noChangeAspect="1"/>
          </p:cNvGraphicFramePr>
          <p:nvPr/>
        </p:nvGraphicFramePr>
        <p:xfrm>
          <a:off x="273050" y="4191000"/>
          <a:ext cx="8712200" cy="563563"/>
        </p:xfrm>
        <a:graphic>
          <a:graphicData uri="http://schemas.openxmlformats.org/presentationml/2006/ole">
            <p:oleObj spid="_x0000_s262152" name="Equation" r:id="rId4" imgW="4292280" imgH="279360" progId="Equation.3">
              <p:embed/>
            </p:oleObj>
          </a:graphicData>
        </a:graphic>
      </p:graphicFrame>
      <p:sp>
        <p:nvSpPr>
          <p:cNvPr id="262161" name="Text Box 9"/>
          <p:cNvSpPr txBox="1">
            <a:spLocks noChangeArrowheads="1"/>
          </p:cNvSpPr>
          <p:nvPr/>
        </p:nvSpPr>
        <p:spPr bwMode="auto">
          <a:xfrm>
            <a:off x="7543800" y="1203325"/>
            <a:ext cx="1600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>
                <a:solidFill>
                  <a:srgbClr val="000099"/>
                </a:solidFill>
              </a:rPr>
              <a:t>(continued)</a:t>
            </a:r>
          </a:p>
        </p:txBody>
      </p:sp>
      <p:sp>
        <p:nvSpPr>
          <p:cNvPr id="262162" name="Rectangle 10"/>
          <p:cNvSpPr>
            <a:spLocks noChangeArrowheads="1"/>
          </p:cNvSpPr>
          <p:nvPr/>
        </p:nvSpPr>
        <p:spPr bwMode="auto">
          <a:xfrm>
            <a:off x="2971800" y="5257800"/>
            <a:ext cx="2819400" cy="5778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600" b="1"/>
              <a:t>Possible number of heads = 0, 1, or 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6DD4B5C9-B959-4F70-B36D-787D49BC5B28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265218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6521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D1890E2C-D799-41C3-8BA2-12931FEA94E5}" type="slidenum">
              <a:rPr lang="en-US" sz="1000"/>
              <a:pPr algn="r" defTabSz="852488"/>
              <a:t>11</a:t>
            </a:fld>
            <a:endParaRPr lang="en-US" sz="1000"/>
          </a:p>
        </p:txBody>
      </p:sp>
      <p:sp>
        <p:nvSpPr>
          <p:cNvPr id="265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Covariance</a:t>
            </a:r>
          </a:p>
        </p:txBody>
      </p:sp>
      <p:sp>
        <p:nvSpPr>
          <p:cNvPr id="2652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8077200" cy="4419600"/>
          </a:xfrm>
        </p:spPr>
        <p:txBody>
          <a:bodyPr/>
          <a:lstStyle/>
          <a:p>
            <a:pPr eaLnBrk="1" hangingPunct="1"/>
            <a:r>
              <a:rPr lang="en-US" smtClean="0"/>
              <a:t>The covariance measures the strength of the linear relationship between two discrete random variables X and Y.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A positive covariance indicates a positive relationship.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  <a:p>
            <a:pPr eaLnBrk="1" hangingPunct="1"/>
            <a:r>
              <a:rPr lang="en-US" smtClean="0"/>
              <a:t>A negative covariance indicates a negative relationship.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A94A95AB-B0C1-425D-AA41-17C59A620B2B}" type="slidenum">
              <a:rPr lang="en-US" smtClean="0"/>
              <a:pPr/>
              <a:t>12</a:t>
            </a:fld>
            <a:endParaRPr lang="en-US" smtClean="0"/>
          </a:p>
        </p:txBody>
      </p:sp>
      <p:sp>
        <p:nvSpPr>
          <p:cNvPr id="263174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6317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474AD093-2E5C-4C19-B48C-56118D464E51}" type="slidenum">
              <a:rPr lang="en-US" sz="1000"/>
              <a:pPr algn="r" defTabSz="852488"/>
              <a:t>12</a:t>
            </a:fld>
            <a:endParaRPr lang="en-US" sz="1000"/>
          </a:p>
        </p:txBody>
      </p:sp>
      <p:sp>
        <p:nvSpPr>
          <p:cNvPr id="2631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Covariance Formula</a:t>
            </a:r>
          </a:p>
        </p:txBody>
      </p:sp>
      <p:sp>
        <p:nvSpPr>
          <p:cNvPr id="2631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8077200" cy="4760913"/>
          </a:xfrm>
        </p:spPr>
        <p:txBody>
          <a:bodyPr/>
          <a:lstStyle/>
          <a:p>
            <a:pPr eaLnBrk="1" hangingPunct="1"/>
            <a:r>
              <a:rPr lang="en-US" sz="2400" smtClean="0"/>
              <a:t>The </a:t>
            </a:r>
            <a:r>
              <a:rPr lang="en-US" sz="2400" smtClean="0">
                <a:solidFill>
                  <a:schemeClr val="folHlink"/>
                </a:solidFill>
              </a:rPr>
              <a:t>covariance </a:t>
            </a:r>
            <a:r>
              <a:rPr lang="en-US" sz="2400" smtClean="0"/>
              <a:t>formula:</a:t>
            </a:r>
          </a:p>
          <a:p>
            <a:pPr eaLnBrk="1" hangingPunct="1"/>
            <a:endParaRPr lang="en-US" sz="2400" smtClean="0"/>
          </a:p>
          <a:p>
            <a:pPr eaLnBrk="1" hangingPunct="1"/>
            <a:endParaRPr lang="en-US" sz="2400" smtClean="0"/>
          </a:p>
          <a:p>
            <a:pPr eaLnBrk="1" hangingPunct="1"/>
            <a:endParaRPr lang="en-US" sz="2400" smtClean="0"/>
          </a:p>
          <a:p>
            <a:pPr eaLnBrk="1" hangingPunct="1"/>
            <a:endParaRPr lang="en-US" sz="2400" smtClean="0"/>
          </a:p>
          <a:p>
            <a:pPr eaLnBrk="1" hangingPunct="1"/>
            <a:endParaRPr lang="en-US" sz="2400" smtClean="0"/>
          </a:p>
        </p:txBody>
      </p:sp>
      <p:graphicFrame>
        <p:nvGraphicFramePr>
          <p:cNvPr id="263172" name="Object 4"/>
          <p:cNvGraphicFramePr>
            <a:graphicFrameLocks noChangeAspect="1"/>
          </p:cNvGraphicFramePr>
          <p:nvPr/>
        </p:nvGraphicFramePr>
        <p:xfrm>
          <a:off x="1477963" y="2590800"/>
          <a:ext cx="5937250" cy="1027113"/>
        </p:xfrm>
        <a:graphic>
          <a:graphicData uri="http://schemas.openxmlformats.org/presentationml/2006/ole">
            <p:oleObj spid="_x0000_s263172" name="Equation" r:id="rId3" imgW="2489040" imgH="431640" progId="Equation.3">
              <p:embed/>
            </p:oleObj>
          </a:graphicData>
        </a:graphic>
      </p:graphicFrame>
      <p:sp>
        <p:nvSpPr>
          <p:cNvPr id="263178" name="Text Box 5"/>
          <p:cNvSpPr txBox="1">
            <a:spLocks noChangeArrowheads="1"/>
          </p:cNvSpPr>
          <p:nvPr/>
        </p:nvSpPr>
        <p:spPr bwMode="auto">
          <a:xfrm>
            <a:off x="762000" y="3962400"/>
            <a:ext cx="7543800" cy="215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where:	X = discrete random variable X</a:t>
            </a:r>
          </a:p>
          <a:p>
            <a:r>
              <a:rPr lang="en-US" sz="1800"/>
              <a:t>	X</a:t>
            </a:r>
            <a:r>
              <a:rPr lang="en-US" sz="1800" baseline="-25000"/>
              <a:t>i</a:t>
            </a:r>
            <a:r>
              <a:rPr lang="en-US" sz="1800"/>
              <a:t>  = the i</a:t>
            </a:r>
            <a:r>
              <a:rPr lang="en-US" sz="1800" baseline="30000"/>
              <a:t>th</a:t>
            </a:r>
            <a:r>
              <a:rPr lang="en-US" sz="1800"/>
              <a:t> outcome of X</a:t>
            </a:r>
          </a:p>
          <a:p>
            <a:r>
              <a:rPr lang="en-US" sz="1800"/>
              <a:t>	Y = discrete random variable Y</a:t>
            </a:r>
          </a:p>
          <a:p>
            <a:r>
              <a:rPr lang="en-US" sz="1800"/>
              <a:t>	Y</a:t>
            </a:r>
            <a:r>
              <a:rPr lang="en-US" sz="1800" baseline="-25000"/>
              <a:t>i</a:t>
            </a:r>
            <a:r>
              <a:rPr lang="en-US" sz="1800"/>
              <a:t>  = the i</a:t>
            </a:r>
            <a:r>
              <a:rPr lang="en-US" sz="1800" baseline="30000"/>
              <a:t>th</a:t>
            </a:r>
            <a:r>
              <a:rPr lang="en-US" sz="1800"/>
              <a:t> outcome of Y</a:t>
            </a:r>
          </a:p>
          <a:p>
            <a:r>
              <a:rPr lang="en-US" sz="1800"/>
              <a:t>	P(X</a:t>
            </a:r>
            <a:r>
              <a:rPr lang="en-US" sz="1800" baseline="-25000"/>
              <a:t>i</a:t>
            </a:r>
            <a:r>
              <a:rPr lang="en-US" sz="1800"/>
              <a:t>Y</a:t>
            </a:r>
            <a:r>
              <a:rPr lang="en-US" sz="1800" baseline="-25000"/>
              <a:t>i</a:t>
            </a:r>
            <a:r>
              <a:rPr lang="en-US" sz="1800"/>
              <a:t>) = probability of occurrence of the </a:t>
            </a:r>
          </a:p>
          <a:p>
            <a:r>
              <a:rPr lang="en-US" sz="1800"/>
              <a:t>		i</a:t>
            </a:r>
            <a:r>
              <a:rPr lang="en-US" sz="1800" baseline="30000"/>
              <a:t>th</a:t>
            </a:r>
            <a:r>
              <a:rPr lang="en-US" sz="1800"/>
              <a:t> outcome of X and the i</a:t>
            </a:r>
            <a:r>
              <a:rPr lang="en-US" sz="1800" baseline="30000"/>
              <a:t>th</a:t>
            </a:r>
            <a:r>
              <a:rPr lang="en-US" sz="1800"/>
              <a:t> outcome of Y</a:t>
            </a:r>
          </a:p>
          <a:p>
            <a:pPr>
              <a:spcBef>
                <a:spcPct val="50000"/>
              </a:spcBef>
            </a:pPr>
            <a:endParaRPr 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4748718F-408C-4E69-BA57-024965D47313}" type="slidenum">
              <a:rPr lang="en-US" smtClean="0"/>
              <a:pPr/>
              <a:t>13</a:t>
            </a:fld>
            <a:endParaRPr lang="en-US" smtClean="0"/>
          </a:p>
        </p:txBody>
      </p:sp>
      <p:sp>
        <p:nvSpPr>
          <p:cNvPr id="266242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6624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3EFDB717-B778-4C13-A008-4BF27911469A}" type="slidenum">
              <a:rPr lang="en-US" sz="1000"/>
              <a:pPr algn="r" defTabSz="852488"/>
              <a:t>13</a:t>
            </a:fld>
            <a:endParaRPr lang="en-US" sz="1000"/>
          </a:p>
        </p:txBody>
      </p:sp>
      <p:sp>
        <p:nvSpPr>
          <p:cNvPr id="26624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7383463" cy="990600"/>
          </a:xfrm>
        </p:spPr>
        <p:txBody>
          <a:bodyPr/>
          <a:lstStyle/>
          <a:p>
            <a:pPr eaLnBrk="1" hangingPunct="1"/>
            <a:r>
              <a:rPr lang="en-US" smtClean="0">
                <a:solidFill>
                  <a:srgbClr val="FF0000"/>
                </a:solidFill>
              </a:rPr>
              <a:t>Investment Returns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The Mean</a:t>
            </a:r>
          </a:p>
        </p:txBody>
      </p:sp>
      <p:sp>
        <p:nvSpPr>
          <p:cNvPr id="266245" name="Rectangle 3"/>
          <p:cNvSpPr>
            <a:spLocks noChangeArrowheads="1"/>
          </p:cNvSpPr>
          <p:nvPr/>
        </p:nvSpPr>
        <p:spPr bwMode="auto">
          <a:xfrm>
            <a:off x="1828800" y="1905000"/>
            <a:ext cx="64008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Consider the return per $1000 for two types of investments.</a:t>
            </a:r>
          </a:p>
        </p:txBody>
      </p:sp>
      <p:graphicFrame>
        <p:nvGraphicFramePr>
          <p:cNvPr id="355359" name="Group 31"/>
          <p:cNvGraphicFramePr>
            <a:graphicFrameLocks noGrp="1"/>
          </p:cNvGraphicFramePr>
          <p:nvPr>
            <p:ph idx="1"/>
          </p:nvPr>
        </p:nvGraphicFramePr>
        <p:xfrm>
          <a:off x="457200" y="2819400"/>
          <a:ext cx="8229600" cy="3352800"/>
        </p:xfrm>
        <a:graphic>
          <a:graphicData uri="http://schemas.openxmlformats.org/drawingml/2006/table">
            <a:tbl>
              <a:tblPr/>
              <a:tblGrid>
                <a:gridCol w="3667125"/>
                <a:gridCol w="2057400"/>
                <a:gridCol w="2505075"/>
              </a:tblGrid>
              <a:tr h="66198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           Economic Condition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Prob.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Investment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7064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Passive Fund 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Aggressive Fund 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0.2      Recession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 - $25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- $200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1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0.5      Stable Economy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+ $50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+ $60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1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0.3      Expanding Economy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+ $100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+ $350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6270" name="Line 32"/>
          <p:cNvSpPr>
            <a:spLocks noChangeShapeType="1"/>
          </p:cNvSpPr>
          <p:nvPr/>
        </p:nvSpPr>
        <p:spPr bwMode="auto">
          <a:xfrm>
            <a:off x="1219200" y="2819400"/>
            <a:ext cx="0" cy="3352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4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FD077C84-D6C9-4422-8190-11766620E171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360450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6045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3F4AFF03-747F-4540-8D60-86D7BEF0E454}" type="slidenum">
              <a:rPr lang="en-US" sz="1000"/>
              <a:pPr algn="r" defTabSz="852488"/>
              <a:t>14</a:t>
            </a:fld>
            <a:endParaRPr lang="en-US" sz="1000"/>
          </a:p>
        </p:txBody>
      </p:sp>
      <p:sp>
        <p:nvSpPr>
          <p:cNvPr id="360452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81000"/>
            <a:ext cx="7383463" cy="990600"/>
          </a:xfrm>
        </p:spPr>
        <p:txBody>
          <a:bodyPr/>
          <a:lstStyle/>
          <a:p>
            <a:pPr eaLnBrk="1" hangingPunct="1"/>
            <a:r>
              <a:rPr lang="en-US" smtClean="0">
                <a:solidFill>
                  <a:srgbClr val="FF0000"/>
                </a:solidFill>
              </a:rPr>
              <a:t>Investment Returns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The Mean</a:t>
            </a:r>
          </a:p>
        </p:txBody>
      </p:sp>
      <p:sp>
        <p:nvSpPr>
          <p:cNvPr id="360453" name="Rectangle 3"/>
          <p:cNvSpPr>
            <a:spLocks noChangeArrowheads="1"/>
          </p:cNvSpPr>
          <p:nvPr/>
        </p:nvSpPr>
        <p:spPr bwMode="auto">
          <a:xfrm>
            <a:off x="990600" y="2286000"/>
            <a:ext cx="7159625" cy="454025"/>
          </a:xfrm>
          <a:prstGeom prst="rect">
            <a:avLst/>
          </a:prstGeom>
          <a:solidFill>
            <a:srgbClr val="FFCC99"/>
          </a:solidFill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400"/>
              <a:t>E(X) = </a:t>
            </a:r>
            <a:r>
              <a:rPr lang="el-GR" sz="2400"/>
              <a:t>μ</a:t>
            </a:r>
            <a:r>
              <a:rPr lang="en-US" sz="2400" baseline="-25000"/>
              <a:t>X</a:t>
            </a:r>
            <a:r>
              <a:rPr lang="en-US" sz="2400"/>
              <a:t> = (-25)(.2) +(50)(.5) + (100)(.3) = 50</a:t>
            </a:r>
            <a:endParaRPr lang="el-GR" sz="2400"/>
          </a:p>
        </p:txBody>
      </p:sp>
      <p:sp>
        <p:nvSpPr>
          <p:cNvPr id="360454" name="Rectangle 4"/>
          <p:cNvSpPr>
            <a:spLocks noChangeArrowheads="1"/>
          </p:cNvSpPr>
          <p:nvPr/>
        </p:nvSpPr>
        <p:spPr bwMode="auto">
          <a:xfrm>
            <a:off x="990600" y="3276600"/>
            <a:ext cx="7159625" cy="454025"/>
          </a:xfrm>
          <a:prstGeom prst="rect">
            <a:avLst/>
          </a:prstGeom>
          <a:solidFill>
            <a:srgbClr val="FFCC99"/>
          </a:solidFill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400"/>
              <a:t>E(Y) = </a:t>
            </a:r>
            <a:r>
              <a:rPr lang="el-GR" sz="2400"/>
              <a:t>μ</a:t>
            </a:r>
            <a:r>
              <a:rPr lang="en-US" sz="2400" baseline="-25000"/>
              <a:t>Y</a:t>
            </a:r>
            <a:r>
              <a:rPr lang="en-US" sz="2400"/>
              <a:t> = (-200)(.2) +(60)(.5) + (350)(.3) = 95</a:t>
            </a:r>
            <a:endParaRPr lang="el-GR" sz="2400"/>
          </a:p>
        </p:txBody>
      </p:sp>
      <p:sp>
        <p:nvSpPr>
          <p:cNvPr id="360455" name="Text Box 5"/>
          <p:cNvSpPr txBox="1">
            <a:spLocks noChangeArrowheads="1"/>
          </p:cNvSpPr>
          <p:nvPr/>
        </p:nvSpPr>
        <p:spPr bwMode="auto">
          <a:xfrm>
            <a:off x="1295400" y="4191000"/>
            <a:ext cx="67818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Interpretation: Fund X is averaging a $50.00 return  and fund Y is averaging a $95.00 return per $1000 invested.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8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87AB657A-C13D-46CF-9860-2412164A2B18}" type="slidenum">
              <a:rPr lang="en-US" smtClean="0"/>
              <a:pPr/>
              <a:t>15</a:t>
            </a:fld>
            <a:endParaRPr lang="en-US" smtClean="0"/>
          </a:p>
        </p:txBody>
      </p:sp>
      <p:sp>
        <p:nvSpPr>
          <p:cNvPr id="357382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5738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8226C63F-CB99-43DA-80D1-CBB67132A860}" type="slidenum">
              <a:rPr lang="en-US" sz="1000"/>
              <a:pPr algn="r" defTabSz="852488"/>
              <a:t>15</a:t>
            </a:fld>
            <a:endParaRPr lang="en-US" sz="1000"/>
          </a:p>
        </p:txBody>
      </p:sp>
      <p:sp>
        <p:nvSpPr>
          <p:cNvPr id="357384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457200"/>
            <a:ext cx="7383463" cy="990600"/>
          </a:xfrm>
        </p:spPr>
        <p:txBody>
          <a:bodyPr/>
          <a:lstStyle/>
          <a:p>
            <a:pPr eaLnBrk="1" hangingPunct="1"/>
            <a:r>
              <a:rPr lang="en-US" smtClean="0">
                <a:solidFill>
                  <a:srgbClr val="FF0000"/>
                </a:solidFill>
              </a:rPr>
              <a:t>Investment Returns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Standard Deviation</a:t>
            </a:r>
          </a:p>
        </p:txBody>
      </p:sp>
      <p:graphicFrame>
        <p:nvGraphicFramePr>
          <p:cNvPr id="357379" name="Object 3"/>
          <p:cNvGraphicFramePr>
            <a:graphicFrameLocks noChangeAspect="1"/>
          </p:cNvGraphicFramePr>
          <p:nvPr/>
        </p:nvGraphicFramePr>
        <p:xfrm>
          <a:off x="1482725" y="2030413"/>
          <a:ext cx="6607175" cy="1000125"/>
        </p:xfrm>
        <a:graphic>
          <a:graphicData uri="http://schemas.openxmlformats.org/presentationml/2006/ole">
            <p:oleObj spid="_x0000_s357379" name="Equation" r:id="rId3" imgW="3340080" imgH="507960" progId="Equation.3">
              <p:embed/>
            </p:oleObj>
          </a:graphicData>
        </a:graphic>
      </p:graphicFrame>
      <p:graphicFrame>
        <p:nvGraphicFramePr>
          <p:cNvPr id="357380" name="Object 4"/>
          <p:cNvGraphicFramePr>
            <a:graphicFrameLocks noChangeAspect="1"/>
          </p:cNvGraphicFramePr>
          <p:nvPr/>
        </p:nvGraphicFramePr>
        <p:xfrm>
          <a:off x="1479550" y="3262313"/>
          <a:ext cx="6677025" cy="989012"/>
        </p:xfrm>
        <a:graphic>
          <a:graphicData uri="http://schemas.openxmlformats.org/presentationml/2006/ole">
            <p:oleObj spid="_x0000_s357380" name="Equation" r:id="rId4" imgW="3416040" imgH="507960" progId="Equation.3">
              <p:embed/>
            </p:oleObj>
          </a:graphicData>
        </a:graphic>
      </p:graphicFrame>
      <p:sp>
        <p:nvSpPr>
          <p:cNvPr id="357385" name="Text Box 5"/>
          <p:cNvSpPr txBox="1">
            <a:spLocks noChangeArrowheads="1"/>
          </p:cNvSpPr>
          <p:nvPr/>
        </p:nvSpPr>
        <p:spPr bwMode="auto">
          <a:xfrm>
            <a:off x="1447800" y="4572000"/>
            <a:ext cx="67818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Interpretation: Even though fund Y has a higher average return, it is subject to much more variability and the probability of loss is higher.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4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9137801C-B16C-4BB2-8D8E-FFD6CA086D98}" type="slidenum">
              <a:rPr lang="en-US" smtClean="0"/>
              <a:pPr/>
              <a:t>16</a:t>
            </a:fld>
            <a:endParaRPr lang="en-US" smtClean="0"/>
          </a:p>
        </p:txBody>
      </p:sp>
      <p:sp>
        <p:nvSpPr>
          <p:cNvPr id="358405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58406" name="Slide Number Placeholder 5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FFD4A941-1578-49F0-8D57-A1BCCF45D776}" type="slidenum">
              <a:rPr lang="en-US" sz="1000"/>
              <a:pPr algn="r" defTabSz="852488"/>
              <a:t>16</a:t>
            </a:fld>
            <a:endParaRPr lang="en-US" sz="1000"/>
          </a:p>
        </p:txBody>
      </p:sp>
      <p:sp>
        <p:nvSpPr>
          <p:cNvPr id="358407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457200"/>
            <a:ext cx="7383463" cy="990600"/>
          </a:xfrm>
        </p:spPr>
        <p:txBody>
          <a:bodyPr/>
          <a:lstStyle/>
          <a:p>
            <a:pPr eaLnBrk="1" hangingPunct="1"/>
            <a:r>
              <a:rPr lang="en-US" smtClean="0">
                <a:solidFill>
                  <a:srgbClr val="FF0000"/>
                </a:solidFill>
              </a:rPr>
              <a:t>Investment Returns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Covariance</a:t>
            </a:r>
          </a:p>
        </p:txBody>
      </p:sp>
      <p:graphicFrame>
        <p:nvGraphicFramePr>
          <p:cNvPr id="358403" name="Object 3"/>
          <p:cNvGraphicFramePr>
            <a:graphicFrameLocks noChangeAspect="1"/>
          </p:cNvGraphicFramePr>
          <p:nvPr>
            <p:ph sz="half" idx="2"/>
          </p:nvPr>
        </p:nvGraphicFramePr>
        <p:xfrm>
          <a:off x="1066800" y="2298700"/>
          <a:ext cx="7010400" cy="1412875"/>
        </p:xfrm>
        <a:graphic>
          <a:graphicData uri="http://schemas.openxmlformats.org/presentationml/2006/ole">
            <p:oleObj spid="_x0000_s358403" name="Equation" r:id="rId3" imgW="3340080" imgH="672840" progId="Equation.3">
              <p:embed/>
            </p:oleObj>
          </a:graphicData>
        </a:graphic>
      </p:graphicFrame>
      <p:sp>
        <p:nvSpPr>
          <p:cNvPr id="358408" name="Text Box 4"/>
          <p:cNvSpPr txBox="1">
            <a:spLocks noChangeArrowheads="1"/>
          </p:cNvSpPr>
          <p:nvPr/>
        </p:nvSpPr>
        <p:spPr bwMode="auto">
          <a:xfrm>
            <a:off x="1219200" y="4114800"/>
            <a:ext cx="6781800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Interpretation: Since the covariance is large and positive, there is a positive relationship between the two investment funds, meaning that they will likely rise and fall together.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7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F55F3CEE-64F5-492A-896F-2D66A0EE6E07}" type="slidenum">
              <a:rPr lang="en-US" smtClean="0"/>
              <a:pPr/>
              <a:t>17</a:t>
            </a:fld>
            <a:endParaRPr lang="en-US" smtClean="0"/>
          </a:p>
        </p:txBody>
      </p:sp>
      <p:sp>
        <p:nvSpPr>
          <p:cNvPr id="267272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6727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05CD787E-58E8-4940-85BE-6909CE882AB8}" type="slidenum">
              <a:rPr lang="en-US" sz="1000"/>
              <a:pPr algn="r" defTabSz="852488"/>
              <a:t>17</a:t>
            </a:fld>
            <a:endParaRPr lang="en-US" sz="1000"/>
          </a:p>
        </p:txBody>
      </p:sp>
      <p:sp>
        <p:nvSpPr>
          <p:cNvPr id="267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381000"/>
            <a:ext cx="7535862" cy="990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mtClean="0"/>
              <a:t>The Sum of </a:t>
            </a:r>
            <a:br>
              <a:rPr lang="en-US" smtClean="0"/>
            </a:br>
            <a:r>
              <a:rPr lang="en-US" smtClean="0"/>
              <a:t>Two Random Variables</a:t>
            </a:r>
          </a:p>
        </p:txBody>
      </p:sp>
      <p:sp>
        <p:nvSpPr>
          <p:cNvPr id="267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8077200" cy="4532313"/>
          </a:xfrm>
        </p:spPr>
        <p:txBody>
          <a:bodyPr/>
          <a:lstStyle/>
          <a:p>
            <a:pPr eaLnBrk="1" hangingPunct="1"/>
            <a:r>
              <a:rPr lang="en-US" sz="2400" smtClean="0">
                <a:solidFill>
                  <a:schemeClr val="folHlink"/>
                </a:solidFill>
              </a:rPr>
              <a:t>Expected Value</a:t>
            </a:r>
            <a:r>
              <a:rPr lang="en-US" sz="2400" smtClean="0"/>
              <a:t> of the sum of two random variables:</a:t>
            </a:r>
          </a:p>
          <a:p>
            <a:pPr eaLnBrk="1" hangingPunct="1"/>
            <a:endParaRPr lang="en-US" sz="2400" smtClean="0"/>
          </a:p>
          <a:p>
            <a:pPr eaLnBrk="1" hangingPunct="1"/>
            <a:endParaRPr lang="en-US" sz="2400" smtClean="0"/>
          </a:p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>
                <a:solidFill>
                  <a:schemeClr val="folHlink"/>
                </a:solidFill>
              </a:rPr>
              <a:t>Variance</a:t>
            </a:r>
            <a:r>
              <a:rPr lang="en-US" sz="2400" smtClean="0"/>
              <a:t> of the sum of two random variables:</a:t>
            </a:r>
          </a:p>
          <a:p>
            <a:pPr eaLnBrk="1" hangingPunct="1"/>
            <a:endParaRPr lang="en-US" sz="2400" smtClean="0"/>
          </a:p>
          <a:p>
            <a:pPr eaLnBrk="1" hangingPunct="1"/>
            <a:endParaRPr lang="en-US" sz="2400" smtClean="0"/>
          </a:p>
          <a:p>
            <a:pPr eaLnBrk="1" hangingPunct="1">
              <a:buFont typeface="Wingdings" pitchFamily="2" charset="2"/>
              <a:buNone/>
            </a:pPr>
            <a:endParaRPr lang="en-US" sz="2400" smtClean="0"/>
          </a:p>
          <a:p>
            <a:pPr eaLnBrk="1" hangingPunct="1"/>
            <a:r>
              <a:rPr lang="en-US" sz="2400" smtClean="0">
                <a:solidFill>
                  <a:schemeClr val="folHlink"/>
                </a:solidFill>
              </a:rPr>
              <a:t>Standard deviation</a:t>
            </a:r>
            <a:r>
              <a:rPr lang="en-US" sz="2400" smtClean="0"/>
              <a:t> of the sum of two random variables:</a:t>
            </a:r>
          </a:p>
        </p:txBody>
      </p:sp>
      <p:graphicFrame>
        <p:nvGraphicFramePr>
          <p:cNvPr id="267268" name="Object 4"/>
          <p:cNvGraphicFramePr>
            <a:graphicFrameLocks noChangeAspect="1"/>
          </p:cNvGraphicFramePr>
          <p:nvPr/>
        </p:nvGraphicFramePr>
        <p:xfrm>
          <a:off x="2178050" y="4038600"/>
          <a:ext cx="5543550" cy="542925"/>
        </p:xfrm>
        <a:graphic>
          <a:graphicData uri="http://schemas.openxmlformats.org/presentationml/2006/ole">
            <p:oleObj spid="_x0000_s267268" name="Equation" r:id="rId3" imgW="2323800" imgH="228600" progId="Equation.3">
              <p:embed/>
            </p:oleObj>
          </a:graphicData>
        </a:graphic>
      </p:graphicFrame>
      <p:graphicFrame>
        <p:nvGraphicFramePr>
          <p:cNvPr id="267269" name="Object 5"/>
          <p:cNvGraphicFramePr>
            <a:graphicFrameLocks noChangeAspect="1"/>
          </p:cNvGraphicFramePr>
          <p:nvPr/>
        </p:nvGraphicFramePr>
        <p:xfrm>
          <a:off x="2979738" y="2336800"/>
          <a:ext cx="3573462" cy="482600"/>
        </p:xfrm>
        <a:graphic>
          <a:graphicData uri="http://schemas.openxmlformats.org/presentationml/2006/ole">
            <p:oleObj spid="_x0000_s267269" name="Equation" r:id="rId4" imgW="1498320" imgH="203040" progId="Equation.3">
              <p:embed/>
            </p:oleObj>
          </a:graphicData>
        </a:graphic>
      </p:graphicFrame>
      <p:graphicFrame>
        <p:nvGraphicFramePr>
          <p:cNvPr id="267270" name="Object 6"/>
          <p:cNvGraphicFramePr>
            <a:graphicFrameLocks noChangeAspect="1"/>
          </p:cNvGraphicFramePr>
          <p:nvPr/>
        </p:nvGraphicFramePr>
        <p:xfrm>
          <a:off x="3656013" y="5776913"/>
          <a:ext cx="2211387" cy="663575"/>
        </p:xfrm>
        <a:graphic>
          <a:graphicData uri="http://schemas.openxmlformats.org/presentationml/2006/ole">
            <p:oleObj spid="_x0000_s267270" name="Equation" r:id="rId5" imgW="927000" imgH="27936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121D7F3E-96A6-4665-8DAA-4B3D037C2FC7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372738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7273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E500BCA5-C668-4F1C-B824-31470CC03C62}" type="slidenum">
              <a:rPr lang="en-US" sz="1000"/>
              <a:pPr algn="r" defTabSz="852488"/>
              <a:t>18</a:t>
            </a:fld>
            <a:endParaRPr lang="en-US" sz="1000"/>
          </a:p>
        </p:txBody>
      </p:sp>
      <p:sp>
        <p:nvSpPr>
          <p:cNvPr id="3727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Portfolio Expected Return and Expected Risk</a:t>
            </a:r>
          </a:p>
        </p:txBody>
      </p:sp>
      <p:sp>
        <p:nvSpPr>
          <p:cNvPr id="3727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8077200" cy="4197350"/>
          </a:xfrm>
        </p:spPr>
        <p:txBody>
          <a:bodyPr/>
          <a:lstStyle/>
          <a:p>
            <a:pPr eaLnBrk="1" hangingPunct="1"/>
            <a:r>
              <a:rPr lang="en-US" smtClean="0"/>
              <a:t>Investment portfolios usually contain several different funds (random variables)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The expected return and standard deviation of two funds together can now be calculated.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Investment Objective: Maximize return (mean) while minimizing risk (standard deviation).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4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16A5A59A-5990-4CEC-8335-5C7A146A41DA}" type="slidenum">
              <a:rPr lang="en-US" smtClean="0"/>
              <a:pPr/>
              <a:t>19</a:t>
            </a:fld>
            <a:endParaRPr lang="en-US" smtClean="0"/>
          </a:p>
        </p:txBody>
      </p:sp>
      <p:sp>
        <p:nvSpPr>
          <p:cNvPr id="268295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68296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90044E78-B517-4AEF-8B4D-508C75DFC246}" type="slidenum">
              <a:rPr lang="en-US" sz="1000"/>
              <a:pPr algn="r" defTabSz="852488"/>
              <a:t>19</a:t>
            </a:fld>
            <a:endParaRPr lang="en-US" sz="1000"/>
          </a:p>
        </p:txBody>
      </p:sp>
      <p:sp>
        <p:nvSpPr>
          <p:cNvPr id="268297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304800"/>
            <a:ext cx="7535862" cy="1066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mtClean="0"/>
              <a:t>Portfolio Expected Return </a:t>
            </a:r>
            <a:br>
              <a:rPr lang="en-US" smtClean="0"/>
            </a:br>
            <a:r>
              <a:rPr lang="en-US" smtClean="0"/>
              <a:t>and Portfolio Risk</a:t>
            </a:r>
          </a:p>
        </p:txBody>
      </p:sp>
      <p:sp>
        <p:nvSpPr>
          <p:cNvPr id="2682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868488"/>
            <a:ext cx="8077200" cy="4837112"/>
          </a:xfrm>
        </p:spPr>
        <p:txBody>
          <a:bodyPr/>
          <a:lstStyle/>
          <a:p>
            <a:pPr eaLnBrk="1" hangingPunct="1"/>
            <a:r>
              <a:rPr lang="en-US" smtClean="0"/>
              <a:t>Portfolio expected return (weighted average return):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>
              <a:lnSpc>
                <a:spcPct val="120000"/>
              </a:lnSpc>
            </a:pPr>
            <a:r>
              <a:rPr lang="en-US" smtClean="0"/>
              <a:t>Portfolio risk (weighted variability)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endParaRPr lang="en-US" sz="1000" smtClean="0"/>
          </a:p>
          <a:p>
            <a:pPr eaLnBrk="1" hangingPunct="1">
              <a:buFont typeface="Wingdings" pitchFamily="2" charset="2"/>
              <a:buNone/>
            </a:pPr>
            <a:r>
              <a:rPr lang="en-US" sz="1800" smtClean="0"/>
              <a:t>Where           w = proportion of portfolio value in asset X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1800" smtClean="0"/>
              <a:t>        (1 - w) = proportion of portfolio value in asset Y</a:t>
            </a:r>
          </a:p>
        </p:txBody>
      </p:sp>
      <p:graphicFrame>
        <p:nvGraphicFramePr>
          <p:cNvPr id="268292" name="Object 4"/>
          <p:cNvGraphicFramePr>
            <a:graphicFrameLocks noChangeAspect="1"/>
          </p:cNvGraphicFramePr>
          <p:nvPr/>
        </p:nvGraphicFramePr>
        <p:xfrm>
          <a:off x="2425700" y="2971800"/>
          <a:ext cx="4360863" cy="482600"/>
        </p:xfrm>
        <a:graphic>
          <a:graphicData uri="http://schemas.openxmlformats.org/presentationml/2006/ole">
            <p:oleObj spid="_x0000_s268292" name="Equation" r:id="rId3" imgW="1828800" imgH="203040" progId="Equation.3">
              <p:embed/>
            </p:oleObj>
          </a:graphicData>
        </a:graphic>
      </p:graphicFrame>
      <p:graphicFrame>
        <p:nvGraphicFramePr>
          <p:cNvPr id="268293" name="Object 5"/>
          <p:cNvGraphicFramePr>
            <a:graphicFrameLocks noChangeAspect="1"/>
          </p:cNvGraphicFramePr>
          <p:nvPr/>
        </p:nvGraphicFramePr>
        <p:xfrm>
          <a:off x="1700213" y="4518025"/>
          <a:ext cx="6300787" cy="663575"/>
        </p:xfrm>
        <a:graphic>
          <a:graphicData uri="http://schemas.openxmlformats.org/presentationml/2006/ole">
            <p:oleObj spid="_x0000_s268293" name="Equation" r:id="rId4" imgW="2641320" imgH="27936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8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CC6CA8BF-9BBE-4A8F-9E2F-DFCF06F146E4}" type="slidenum">
              <a:rPr lang="en-US" smtClean="0"/>
              <a:pPr/>
              <a:t>20</a:t>
            </a:fld>
            <a:endParaRPr lang="en-US" smtClean="0"/>
          </a:p>
        </p:txBody>
      </p:sp>
      <p:sp>
        <p:nvSpPr>
          <p:cNvPr id="269319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69320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A908C1BC-1D37-470E-9444-F8A7DB7B37D2}" type="slidenum">
              <a:rPr lang="en-US" sz="1000"/>
              <a:pPr algn="r" defTabSz="852488"/>
              <a:t>20</a:t>
            </a:fld>
            <a:endParaRPr lang="en-US" sz="1000"/>
          </a:p>
        </p:txBody>
      </p:sp>
      <p:sp>
        <p:nvSpPr>
          <p:cNvPr id="269321" name="Rectangle 6"/>
          <p:cNvSpPr>
            <a:spLocks noChangeArrowheads="1"/>
          </p:cNvSpPr>
          <p:nvPr/>
        </p:nvSpPr>
        <p:spPr bwMode="auto">
          <a:xfrm>
            <a:off x="1676400" y="1524000"/>
            <a:ext cx="6324600" cy="1371600"/>
          </a:xfrm>
          <a:prstGeom prst="rect">
            <a:avLst/>
          </a:prstGeom>
          <a:solidFill>
            <a:srgbClr val="C7DAF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69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Portfolio Example</a:t>
            </a:r>
          </a:p>
        </p:txBody>
      </p:sp>
      <p:sp>
        <p:nvSpPr>
          <p:cNvPr id="269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848600" cy="50292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mtClean="0">
                <a:cs typeface="Arial" charset="0"/>
              </a:rPr>
              <a:t>	      </a:t>
            </a:r>
            <a:r>
              <a:rPr lang="en-US" sz="2400" smtClean="0">
                <a:cs typeface="Arial" charset="0"/>
              </a:rPr>
              <a:t>Investment X:      </a:t>
            </a:r>
            <a:r>
              <a:rPr lang="el-GR" sz="2400" smtClean="0">
                <a:cs typeface="Arial" charset="0"/>
              </a:rPr>
              <a:t>μ</a:t>
            </a:r>
            <a:r>
              <a:rPr lang="en-US" sz="2400" baseline="-25000" smtClean="0">
                <a:cs typeface="Arial" charset="0"/>
              </a:rPr>
              <a:t>X</a:t>
            </a:r>
            <a:r>
              <a:rPr lang="en-US" sz="2400" smtClean="0">
                <a:cs typeface="Arial" charset="0"/>
              </a:rPr>
              <a:t> = 50 	</a:t>
            </a:r>
            <a:r>
              <a:rPr lang="el-GR" sz="2400" smtClean="0">
                <a:cs typeface="Arial" charset="0"/>
              </a:rPr>
              <a:t>σ</a:t>
            </a:r>
            <a:r>
              <a:rPr lang="en-US" sz="2400" baseline="-25000" smtClean="0">
                <a:cs typeface="Arial" charset="0"/>
              </a:rPr>
              <a:t>X</a:t>
            </a:r>
            <a:r>
              <a:rPr lang="en-US" sz="2400" smtClean="0">
                <a:cs typeface="Arial" charset="0"/>
              </a:rPr>
              <a:t> = 43.30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smtClean="0">
                <a:cs typeface="Arial" charset="0"/>
              </a:rPr>
              <a:t>	       Investment Y:      </a:t>
            </a:r>
            <a:r>
              <a:rPr lang="el-GR" sz="2400" smtClean="0">
                <a:cs typeface="Arial" charset="0"/>
              </a:rPr>
              <a:t>μ</a:t>
            </a:r>
            <a:r>
              <a:rPr lang="en-US" sz="2400" baseline="-25000" smtClean="0">
                <a:cs typeface="Arial" charset="0"/>
              </a:rPr>
              <a:t>Y</a:t>
            </a:r>
            <a:r>
              <a:rPr lang="en-US" sz="2400" smtClean="0">
                <a:cs typeface="Arial" charset="0"/>
              </a:rPr>
              <a:t> = 95 	</a:t>
            </a:r>
            <a:r>
              <a:rPr lang="el-GR" sz="2400" smtClean="0">
                <a:cs typeface="Arial" charset="0"/>
              </a:rPr>
              <a:t>σ</a:t>
            </a:r>
            <a:r>
              <a:rPr lang="en-US" sz="2400" baseline="-25000" smtClean="0">
                <a:cs typeface="Arial" charset="0"/>
              </a:rPr>
              <a:t>Y</a:t>
            </a:r>
            <a:r>
              <a:rPr lang="en-US" sz="2400" smtClean="0">
                <a:cs typeface="Arial" charset="0"/>
              </a:rPr>
              <a:t> = 193.21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smtClean="0">
                <a:cs typeface="Arial" charset="0"/>
              </a:rPr>
              <a:t>					     </a:t>
            </a:r>
            <a:r>
              <a:rPr lang="el-GR" sz="2400" smtClean="0">
                <a:cs typeface="Arial" charset="0"/>
              </a:rPr>
              <a:t>σ</a:t>
            </a:r>
            <a:r>
              <a:rPr lang="en-US" sz="2400" baseline="-25000" smtClean="0">
                <a:cs typeface="Arial" charset="0"/>
              </a:rPr>
              <a:t>XY</a:t>
            </a:r>
            <a:r>
              <a:rPr lang="en-US" sz="2400" smtClean="0">
                <a:cs typeface="Arial" charset="0"/>
              </a:rPr>
              <a:t> = 8250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000" smtClean="0">
              <a:cs typeface="Arial" charset="0"/>
            </a:endParaRP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smtClean="0">
                <a:cs typeface="Arial" charset="0"/>
              </a:rPr>
              <a:t>Suppose 40% of the portfolio is in Investment X and 60% is in Investment Y: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000" smtClean="0">
              <a:cs typeface="Arial" charset="0"/>
            </a:endParaRP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000" smtClean="0">
              <a:cs typeface="Arial" charset="0"/>
            </a:endParaRP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000" smtClean="0">
              <a:cs typeface="Arial" charset="0"/>
            </a:endParaRP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000" smtClean="0">
              <a:cs typeface="Arial" charset="0"/>
            </a:endParaRP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000" smtClean="0">
              <a:cs typeface="Arial" charset="0"/>
            </a:endParaRP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1400" smtClean="0">
              <a:cs typeface="Arial" charset="0"/>
            </a:endParaRP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smtClean="0">
                <a:solidFill>
                  <a:schemeClr val="folHlink"/>
                </a:solidFill>
                <a:cs typeface="Arial" charset="0"/>
              </a:rPr>
              <a:t>The portfolio return and portfolio variability are between the values for investments X and Y considered individually</a:t>
            </a:r>
            <a:endParaRPr lang="en-US" sz="2000" smtClean="0">
              <a:solidFill>
                <a:schemeClr val="folHlink"/>
              </a:solidFill>
            </a:endParaRPr>
          </a:p>
        </p:txBody>
      </p:sp>
      <p:graphicFrame>
        <p:nvGraphicFramePr>
          <p:cNvPr id="269316" name="Object 4"/>
          <p:cNvGraphicFramePr>
            <a:graphicFrameLocks noChangeAspect="1"/>
          </p:cNvGraphicFramePr>
          <p:nvPr/>
        </p:nvGraphicFramePr>
        <p:xfrm>
          <a:off x="1125538" y="4062413"/>
          <a:ext cx="3490912" cy="349250"/>
        </p:xfrm>
        <a:graphic>
          <a:graphicData uri="http://schemas.openxmlformats.org/presentationml/2006/ole">
            <p:oleObj spid="_x0000_s269316" name="Equation" r:id="rId3" imgW="2019240" imgH="203040" progId="Equation.3">
              <p:embed/>
            </p:oleObj>
          </a:graphicData>
        </a:graphic>
      </p:graphicFrame>
      <p:graphicFrame>
        <p:nvGraphicFramePr>
          <p:cNvPr id="269317" name="Object 5"/>
          <p:cNvGraphicFramePr>
            <a:graphicFrameLocks noChangeAspect="1"/>
          </p:cNvGraphicFramePr>
          <p:nvPr/>
        </p:nvGraphicFramePr>
        <p:xfrm>
          <a:off x="1082675" y="4692650"/>
          <a:ext cx="6673850" cy="952500"/>
        </p:xfrm>
        <a:graphic>
          <a:graphicData uri="http://schemas.openxmlformats.org/presentationml/2006/ole">
            <p:oleObj spid="_x0000_s269317" name="Equation" r:id="rId4" imgW="3720960" imgH="53316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601A6E88-7E49-4A6E-8C42-5A5797DBBEC0}" type="slidenum">
              <a:rPr lang="en-US" smtClean="0"/>
              <a:pPr/>
              <a:t>21</a:t>
            </a:fld>
            <a:endParaRPr lang="en-US" smtClean="0"/>
          </a:p>
        </p:txBody>
      </p:sp>
      <p:sp>
        <p:nvSpPr>
          <p:cNvPr id="364546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64547" name="Slide Number Placeholder 2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1911653E-E485-463E-8495-635583BE37D0}" type="slidenum">
              <a:rPr lang="en-US" sz="1000"/>
              <a:pPr algn="r" defTabSz="852488"/>
              <a:t>21</a:t>
            </a:fld>
            <a:endParaRPr lang="en-US" sz="1000"/>
          </a:p>
        </p:txBody>
      </p:sp>
      <p:sp>
        <p:nvSpPr>
          <p:cNvPr id="364548" name="Line 2"/>
          <p:cNvSpPr>
            <a:spLocks noChangeShapeType="1"/>
          </p:cNvSpPr>
          <p:nvPr/>
        </p:nvSpPr>
        <p:spPr bwMode="auto">
          <a:xfrm>
            <a:off x="5257800" y="3810000"/>
            <a:ext cx="0" cy="2133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4549" name="Line 3"/>
          <p:cNvSpPr>
            <a:spLocks noChangeShapeType="1"/>
          </p:cNvSpPr>
          <p:nvPr/>
        </p:nvSpPr>
        <p:spPr bwMode="auto">
          <a:xfrm flipH="1">
            <a:off x="5257800" y="5257800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4550" name="Line 4"/>
          <p:cNvSpPr>
            <a:spLocks noChangeShapeType="1"/>
          </p:cNvSpPr>
          <p:nvPr/>
        </p:nvSpPr>
        <p:spPr bwMode="auto">
          <a:xfrm flipH="1">
            <a:off x="5257800" y="5943600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4551" name="Line 5"/>
          <p:cNvSpPr>
            <a:spLocks noChangeShapeType="1"/>
          </p:cNvSpPr>
          <p:nvPr/>
        </p:nvSpPr>
        <p:spPr bwMode="auto">
          <a:xfrm flipH="1">
            <a:off x="1600200" y="5257800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4552" name="Line 7"/>
          <p:cNvSpPr>
            <a:spLocks noChangeShapeType="1"/>
          </p:cNvSpPr>
          <p:nvPr/>
        </p:nvSpPr>
        <p:spPr bwMode="auto">
          <a:xfrm flipH="1">
            <a:off x="1600200" y="5943600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4553" name="Line 9"/>
          <p:cNvSpPr>
            <a:spLocks noChangeShapeType="1"/>
          </p:cNvSpPr>
          <p:nvPr/>
        </p:nvSpPr>
        <p:spPr bwMode="auto">
          <a:xfrm flipH="1">
            <a:off x="1600200" y="4572000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4554" name="Line 10"/>
          <p:cNvSpPr>
            <a:spLocks noChangeShapeType="1"/>
          </p:cNvSpPr>
          <p:nvPr/>
        </p:nvSpPr>
        <p:spPr bwMode="auto">
          <a:xfrm>
            <a:off x="2438400" y="25908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4555" name="Line 11"/>
          <p:cNvSpPr>
            <a:spLocks noChangeShapeType="1"/>
          </p:cNvSpPr>
          <p:nvPr/>
        </p:nvSpPr>
        <p:spPr bwMode="auto">
          <a:xfrm>
            <a:off x="6248400" y="25908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4556" name="Rectangle 12"/>
          <p:cNvSpPr>
            <a:spLocks noChangeArrowheads="1"/>
          </p:cNvSpPr>
          <p:nvPr/>
        </p:nvSpPr>
        <p:spPr bwMode="auto">
          <a:xfrm>
            <a:off x="457200" y="533400"/>
            <a:ext cx="8248650" cy="76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64557" name="Rectangle 13"/>
          <p:cNvSpPr>
            <a:spLocks noChangeArrowheads="1"/>
          </p:cNvSpPr>
          <p:nvPr/>
        </p:nvSpPr>
        <p:spPr bwMode="auto">
          <a:xfrm>
            <a:off x="1524000" y="457200"/>
            <a:ext cx="7045325" cy="698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</a:rPr>
              <a:t>Probability Distributions</a:t>
            </a:r>
          </a:p>
        </p:txBody>
      </p:sp>
      <p:sp>
        <p:nvSpPr>
          <p:cNvPr id="364558" name="Rectangle 14"/>
          <p:cNvSpPr>
            <a:spLocks noChangeArrowheads="1"/>
          </p:cNvSpPr>
          <p:nvPr/>
        </p:nvSpPr>
        <p:spPr bwMode="auto">
          <a:xfrm>
            <a:off x="5105400" y="2743200"/>
            <a:ext cx="2209800" cy="1196975"/>
          </a:xfrm>
          <a:prstGeom prst="rect">
            <a:avLst/>
          </a:prstGeom>
          <a:solidFill>
            <a:schemeClr val="bg1"/>
          </a:solidFill>
          <a:ln w="12700">
            <a:solidFill>
              <a:srgbClr val="000066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2400" b="1"/>
              <a:t>Continuous</a:t>
            </a:r>
            <a:r>
              <a:rPr lang="en-US" sz="2400"/>
              <a:t> </a:t>
            </a:r>
          </a:p>
          <a:p>
            <a:pPr algn="ctr" eaLnBrk="0" hangingPunct="0"/>
            <a:r>
              <a:rPr lang="en-US" sz="2400"/>
              <a:t>Probability Distributions</a:t>
            </a:r>
          </a:p>
        </p:txBody>
      </p:sp>
      <p:sp>
        <p:nvSpPr>
          <p:cNvPr id="364559" name="Line 15"/>
          <p:cNvSpPr>
            <a:spLocks noChangeShapeType="1"/>
          </p:cNvSpPr>
          <p:nvPr/>
        </p:nvSpPr>
        <p:spPr bwMode="auto">
          <a:xfrm>
            <a:off x="2438400" y="2590800"/>
            <a:ext cx="3810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4560" name="Line 16"/>
          <p:cNvSpPr>
            <a:spLocks noChangeShapeType="1"/>
          </p:cNvSpPr>
          <p:nvPr/>
        </p:nvSpPr>
        <p:spPr bwMode="auto">
          <a:xfrm>
            <a:off x="1600200" y="3810000"/>
            <a:ext cx="0" cy="2133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4561" name="Line 17"/>
          <p:cNvSpPr>
            <a:spLocks noChangeShapeType="1"/>
          </p:cNvSpPr>
          <p:nvPr/>
        </p:nvSpPr>
        <p:spPr bwMode="auto">
          <a:xfrm>
            <a:off x="4343400" y="2438400"/>
            <a:ext cx="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4562" name="Rectangle 18"/>
          <p:cNvSpPr>
            <a:spLocks noChangeArrowheads="1"/>
          </p:cNvSpPr>
          <p:nvPr/>
        </p:nvSpPr>
        <p:spPr bwMode="auto">
          <a:xfrm>
            <a:off x="1828800" y="4343400"/>
            <a:ext cx="1676400" cy="466725"/>
          </a:xfrm>
          <a:prstGeom prst="rect">
            <a:avLst/>
          </a:prstGeom>
          <a:solidFill>
            <a:srgbClr val="C7DAF7"/>
          </a:solidFill>
          <a:ln w="12700">
            <a:solidFill>
              <a:srgbClr val="000066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solidFill>
                  <a:srgbClr val="000066"/>
                </a:solidFill>
              </a:rPr>
              <a:t>Binomial</a:t>
            </a:r>
          </a:p>
        </p:txBody>
      </p:sp>
      <p:sp>
        <p:nvSpPr>
          <p:cNvPr id="364563" name="Rectangle 19"/>
          <p:cNvSpPr>
            <a:spLocks noChangeArrowheads="1"/>
          </p:cNvSpPr>
          <p:nvPr/>
        </p:nvSpPr>
        <p:spPr bwMode="auto">
          <a:xfrm>
            <a:off x="1828800" y="5715000"/>
            <a:ext cx="2590800" cy="466725"/>
          </a:xfrm>
          <a:prstGeom prst="rect">
            <a:avLst/>
          </a:prstGeom>
          <a:solidFill>
            <a:srgbClr val="C7DAF7"/>
          </a:solidFill>
          <a:ln w="12700">
            <a:solidFill>
              <a:srgbClr val="000066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Hypergeometric</a:t>
            </a:r>
          </a:p>
        </p:txBody>
      </p:sp>
      <p:sp>
        <p:nvSpPr>
          <p:cNvPr id="364564" name="Rectangle 20"/>
          <p:cNvSpPr>
            <a:spLocks noChangeArrowheads="1"/>
          </p:cNvSpPr>
          <p:nvPr/>
        </p:nvSpPr>
        <p:spPr bwMode="auto">
          <a:xfrm>
            <a:off x="1828800" y="5029200"/>
            <a:ext cx="1447800" cy="466725"/>
          </a:xfrm>
          <a:prstGeom prst="rect">
            <a:avLst/>
          </a:prstGeom>
          <a:solidFill>
            <a:srgbClr val="C7DAF7"/>
          </a:solidFill>
          <a:ln w="12700">
            <a:solidFill>
              <a:srgbClr val="000066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Poisson</a:t>
            </a:r>
          </a:p>
        </p:txBody>
      </p:sp>
      <p:sp>
        <p:nvSpPr>
          <p:cNvPr id="364565" name="Rectangle 21"/>
          <p:cNvSpPr>
            <a:spLocks noChangeArrowheads="1"/>
          </p:cNvSpPr>
          <p:nvPr/>
        </p:nvSpPr>
        <p:spPr bwMode="auto">
          <a:xfrm>
            <a:off x="3276600" y="1600200"/>
            <a:ext cx="2286000" cy="831850"/>
          </a:xfrm>
          <a:prstGeom prst="rect">
            <a:avLst/>
          </a:prstGeom>
          <a:solidFill>
            <a:srgbClr val="FDE0BD"/>
          </a:solidFill>
          <a:ln w="12700">
            <a:solidFill>
              <a:srgbClr val="000066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400" b="1"/>
              <a:t>Probability Distributions</a:t>
            </a:r>
          </a:p>
        </p:txBody>
      </p:sp>
      <p:sp>
        <p:nvSpPr>
          <p:cNvPr id="364566" name="Rectangle 22"/>
          <p:cNvSpPr>
            <a:spLocks noChangeArrowheads="1"/>
          </p:cNvSpPr>
          <p:nvPr/>
        </p:nvSpPr>
        <p:spPr bwMode="auto">
          <a:xfrm>
            <a:off x="1447800" y="2743200"/>
            <a:ext cx="2209800" cy="1196975"/>
          </a:xfrm>
          <a:prstGeom prst="rect">
            <a:avLst/>
          </a:prstGeom>
          <a:solidFill>
            <a:srgbClr val="C7DAF7"/>
          </a:solidFill>
          <a:ln w="12700">
            <a:solidFill>
              <a:srgbClr val="000066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2400" b="1"/>
              <a:t>Discrete</a:t>
            </a:r>
            <a:r>
              <a:rPr lang="en-US" sz="2400"/>
              <a:t> </a:t>
            </a:r>
          </a:p>
          <a:p>
            <a:pPr algn="ctr" eaLnBrk="0" hangingPunct="0"/>
            <a:r>
              <a:rPr lang="en-US" sz="2400"/>
              <a:t>Probability Distributions</a:t>
            </a:r>
          </a:p>
        </p:txBody>
      </p:sp>
      <p:sp>
        <p:nvSpPr>
          <p:cNvPr id="364567" name="Line 23"/>
          <p:cNvSpPr>
            <a:spLocks noChangeShapeType="1"/>
          </p:cNvSpPr>
          <p:nvPr/>
        </p:nvSpPr>
        <p:spPr bwMode="auto">
          <a:xfrm flipH="1">
            <a:off x="5257800" y="4572000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4568" name="Rectangle 25"/>
          <p:cNvSpPr>
            <a:spLocks noChangeArrowheads="1"/>
          </p:cNvSpPr>
          <p:nvPr/>
        </p:nvSpPr>
        <p:spPr bwMode="auto">
          <a:xfrm>
            <a:off x="5486400" y="4343400"/>
            <a:ext cx="1676400" cy="466725"/>
          </a:xfrm>
          <a:prstGeom prst="rect">
            <a:avLst/>
          </a:prstGeom>
          <a:solidFill>
            <a:schemeClr val="bg1"/>
          </a:solidFill>
          <a:ln w="12700">
            <a:solidFill>
              <a:srgbClr val="000066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2400"/>
              <a:t>Normal</a:t>
            </a:r>
          </a:p>
        </p:txBody>
      </p:sp>
      <p:sp>
        <p:nvSpPr>
          <p:cNvPr id="364569" name="Rectangle 26"/>
          <p:cNvSpPr>
            <a:spLocks noChangeArrowheads="1"/>
          </p:cNvSpPr>
          <p:nvPr/>
        </p:nvSpPr>
        <p:spPr bwMode="auto">
          <a:xfrm>
            <a:off x="5486400" y="5029200"/>
            <a:ext cx="1676400" cy="466725"/>
          </a:xfrm>
          <a:prstGeom prst="rect">
            <a:avLst/>
          </a:prstGeom>
          <a:solidFill>
            <a:schemeClr val="bg1"/>
          </a:solidFill>
          <a:ln w="12700">
            <a:solidFill>
              <a:srgbClr val="000066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2400"/>
              <a:t>Uniform</a:t>
            </a:r>
          </a:p>
        </p:txBody>
      </p:sp>
      <p:sp>
        <p:nvSpPr>
          <p:cNvPr id="364570" name="Rectangle 27"/>
          <p:cNvSpPr>
            <a:spLocks noChangeArrowheads="1"/>
          </p:cNvSpPr>
          <p:nvPr/>
        </p:nvSpPr>
        <p:spPr bwMode="auto">
          <a:xfrm>
            <a:off x="5486400" y="5715000"/>
            <a:ext cx="1981200" cy="466725"/>
          </a:xfrm>
          <a:prstGeom prst="rect">
            <a:avLst/>
          </a:prstGeom>
          <a:solidFill>
            <a:schemeClr val="bg1"/>
          </a:solidFill>
          <a:ln w="12700">
            <a:solidFill>
              <a:srgbClr val="000066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2400"/>
              <a:t>Exponential</a:t>
            </a:r>
          </a:p>
        </p:txBody>
      </p:sp>
      <p:sp>
        <p:nvSpPr>
          <p:cNvPr id="364571" name="Rectangle 28"/>
          <p:cNvSpPr>
            <a:spLocks noChangeArrowheads="1"/>
          </p:cNvSpPr>
          <p:nvPr/>
        </p:nvSpPr>
        <p:spPr bwMode="auto">
          <a:xfrm>
            <a:off x="228600" y="2743200"/>
            <a:ext cx="990600" cy="466725"/>
          </a:xfrm>
          <a:prstGeom prst="rect">
            <a:avLst/>
          </a:prstGeom>
          <a:solidFill>
            <a:srgbClr val="C7DAF7"/>
          </a:solidFill>
          <a:ln w="12700">
            <a:solidFill>
              <a:srgbClr val="000066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solidFill>
                  <a:srgbClr val="000066"/>
                </a:solidFill>
              </a:rPr>
              <a:t>Ch. 5</a:t>
            </a:r>
          </a:p>
        </p:txBody>
      </p:sp>
      <p:sp>
        <p:nvSpPr>
          <p:cNvPr id="364572" name="Rectangle 29"/>
          <p:cNvSpPr>
            <a:spLocks noChangeArrowheads="1"/>
          </p:cNvSpPr>
          <p:nvPr/>
        </p:nvSpPr>
        <p:spPr bwMode="auto">
          <a:xfrm>
            <a:off x="7467600" y="2743200"/>
            <a:ext cx="990600" cy="466725"/>
          </a:xfrm>
          <a:prstGeom prst="rect">
            <a:avLst/>
          </a:prstGeom>
          <a:solidFill>
            <a:schemeClr val="bg1"/>
          </a:solidFill>
          <a:ln w="12700">
            <a:solidFill>
              <a:srgbClr val="000066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2400"/>
              <a:t>Ch. 6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BDDD28A0-5E43-460F-AF65-F4D51F17347D}" type="slidenum">
              <a:rPr lang="en-US" smtClean="0"/>
              <a:pPr/>
              <a:t>22</a:t>
            </a:fld>
            <a:endParaRPr lang="en-US" smtClean="0"/>
          </a:p>
        </p:txBody>
      </p:sp>
      <p:sp>
        <p:nvSpPr>
          <p:cNvPr id="366594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6659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9961613F-2CDE-459C-A8CC-4D2240950F3F}" type="slidenum">
              <a:rPr lang="en-US" sz="1000"/>
              <a:pPr algn="r" defTabSz="852488"/>
              <a:t>22</a:t>
            </a:fld>
            <a:endParaRPr lang="en-US" sz="1000"/>
          </a:p>
        </p:txBody>
      </p:sp>
      <p:sp>
        <p:nvSpPr>
          <p:cNvPr id="3665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Binomial Probability Distribution</a:t>
            </a:r>
          </a:p>
        </p:txBody>
      </p:sp>
      <p:sp>
        <p:nvSpPr>
          <p:cNvPr id="366597" name="Rectangle 4"/>
          <p:cNvSpPr>
            <a:spLocks noChangeArrowheads="1"/>
          </p:cNvSpPr>
          <p:nvPr/>
        </p:nvSpPr>
        <p:spPr bwMode="auto">
          <a:xfrm>
            <a:off x="685800" y="1600200"/>
            <a:ext cx="81534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/>
          <a:lstStyle/>
          <a:p>
            <a:pPr marL="320675" indent="-320675" defTabSz="852488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400"/>
              <a:t>A fixed number of observations, n</a:t>
            </a:r>
          </a:p>
          <a:p>
            <a:pPr marL="693738" lvl="1" indent="-268288" defTabSz="852488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2000"/>
              <a:t>e.g., 15 tosses of a coin; ten light bulbs taken from a warehouse</a:t>
            </a:r>
          </a:p>
          <a:p>
            <a:pPr marL="320675" indent="-320675" defTabSz="852488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400"/>
              <a:t>Each observation is categorized as to whether or not the “event of interest” occurred</a:t>
            </a:r>
          </a:p>
          <a:p>
            <a:pPr marL="693738" lvl="1" indent="-268288" defTabSz="852488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2000"/>
              <a:t>e.g., head or tail in each toss of a coin; defective or not defective light bulb</a:t>
            </a:r>
          </a:p>
          <a:p>
            <a:pPr marL="693738" lvl="1" indent="-268288" defTabSz="852488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2000"/>
              <a:t>Since these two categories are mutually exclusive and collectively exhaustive</a:t>
            </a:r>
          </a:p>
          <a:p>
            <a:pPr marL="1068388" lvl="2" indent="-215900" defTabSz="852488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50000"/>
              <a:buFont typeface="Wingdings" pitchFamily="2" charset="2"/>
              <a:buChar char="n"/>
            </a:pPr>
            <a:r>
              <a:rPr lang="en-US" sz="1800"/>
              <a:t>When the probability of the event of interest is represented as </a:t>
            </a:r>
            <a:r>
              <a:rPr lang="el-GR" sz="1800">
                <a:cs typeface="Arial" charset="0"/>
              </a:rPr>
              <a:t>π</a:t>
            </a:r>
            <a:r>
              <a:rPr lang="en-US" sz="1800">
                <a:cs typeface="Arial" charset="0"/>
              </a:rPr>
              <a:t>, then</a:t>
            </a:r>
            <a:r>
              <a:rPr lang="en-US" sz="1800"/>
              <a:t> the probability of the event of interest not occurring is 1 - </a:t>
            </a:r>
            <a:r>
              <a:rPr lang="el-GR" sz="1800">
                <a:cs typeface="Arial" charset="0"/>
              </a:rPr>
              <a:t>π</a:t>
            </a:r>
            <a:endParaRPr lang="en-US" sz="1800"/>
          </a:p>
          <a:p>
            <a:pPr marL="320675" indent="-320675" defTabSz="852488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400"/>
              <a:t>Constant probability for the event of interest occurring (</a:t>
            </a:r>
            <a:r>
              <a:rPr lang="el-GR" sz="2400">
                <a:cs typeface="Arial" charset="0"/>
              </a:rPr>
              <a:t>π</a:t>
            </a:r>
            <a:r>
              <a:rPr lang="en-US" sz="2400">
                <a:cs typeface="Arial" charset="0"/>
              </a:rPr>
              <a:t>) </a:t>
            </a:r>
            <a:r>
              <a:rPr lang="en-US" sz="2400"/>
              <a:t>for each observation</a:t>
            </a:r>
          </a:p>
          <a:p>
            <a:pPr marL="693738" lvl="1" indent="-268288" defTabSz="852488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2000"/>
              <a:t>Probability of getting a tail is the same each time we toss the coin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0E1E467D-6472-4E03-80E4-4DD828EA4594}" type="slidenum">
              <a:rPr lang="en-US" smtClean="0"/>
              <a:pPr/>
              <a:t>23</a:t>
            </a:fld>
            <a:endParaRPr lang="en-US" smtClean="0"/>
          </a:p>
        </p:txBody>
      </p:sp>
      <p:sp>
        <p:nvSpPr>
          <p:cNvPr id="367618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6761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ABFB7C6F-973F-44CB-9E17-F804EE56640C}" type="slidenum">
              <a:rPr lang="en-US" sz="1000"/>
              <a:pPr algn="r" defTabSz="852488"/>
              <a:t>23</a:t>
            </a:fld>
            <a:endParaRPr lang="en-US" sz="1000"/>
          </a:p>
        </p:txBody>
      </p:sp>
      <p:sp>
        <p:nvSpPr>
          <p:cNvPr id="3676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Binomial Probability Distribution</a:t>
            </a:r>
          </a:p>
        </p:txBody>
      </p:sp>
      <p:sp>
        <p:nvSpPr>
          <p:cNvPr id="367621" name="Text Box 4"/>
          <p:cNvSpPr txBox="1">
            <a:spLocks noChangeArrowheads="1"/>
          </p:cNvSpPr>
          <p:nvPr/>
        </p:nvSpPr>
        <p:spPr bwMode="auto">
          <a:xfrm>
            <a:off x="7543800" y="1203325"/>
            <a:ext cx="1600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>
                <a:solidFill>
                  <a:srgbClr val="000099"/>
                </a:solidFill>
              </a:rPr>
              <a:t>(continued)</a:t>
            </a:r>
          </a:p>
        </p:txBody>
      </p:sp>
      <p:sp>
        <p:nvSpPr>
          <p:cNvPr id="367622" name="Rectangle 5"/>
          <p:cNvSpPr>
            <a:spLocks noChangeArrowheads="1"/>
          </p:cNvSpPr>
          <p:nvPr/>
        </p:nvSpPr>
        <p:spPr bwMode="auto">
          <a:xfrm>
            <a:off x="838200" y="1828800"/>
            <a:ext cx="78486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/>
          <a:lstStyle/>
          <a:p>
            <a:pPr marL="320675" indent="-320675" defTabSz="852488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800"/>
              <a:t>Observations are independent</a:t>
            </a:r>
          </a:p>
          <a:p>
            <a:pPr marL="693738" lvl="1" indent="-268288" defTabSz="852488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2400"/>
              <a:t>The outcome of one observation does not affect the outcome of the other</a:t>
            </a:r>
          </a:p>
          <a:p>
            <a:pPr marL="693738" lvl="1" indent="-268288" defTabSz="852488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2400"/>
              <a:t>Two sampling methods deliver independence</a:t>
            </a:r>
          </a:p>
          <a:p>
            <a:pPr marL="1068388" lvl="2" indent="-215900" defTabSz="852488">
              <a:spcBef>
                <a:spcPct val="20000"/>
              </a:spcBef>
              <a:buClr>
                <a:schemeClr val="accent2"/>
              </a:buClr>
              <a:buSzPct val="50000"/>
              <a:buFont typeface="Wingdings" pitchFamily="2" charset="2"/>
              <a:buChar char="n"/>
            </a:pPr>
            <a:r>
              <a:rPr lang="en-US" sz="2000"/>
              <a:t>Infinite population without replacement</a:t>
            </a:r>
          </a:p>
          <a:p>
            <a:pPr marL="1068388" lvl="2" indent="-215900" defTabSz="852488">
              <a:spcBef>
                <a:spcPct val="20000"/>
              </a:spcBef>
              <a:buClr>
                <a:schemeClr val="accent2"/>
              </a:buClr>
              <a:buSzPct val="50000"/>
              <a:buFont typeface="Wingdings" pitchFamily="2" charset="2"/>
              <a:buChar char="n"/>
            </a:pPr>
            <a:r>
              <a:rPr lang="en-US" sz="2000"/>
              <a:t>Finite population with replacement</a:t>
            </a:r>
          </a:p>
          <a:p>
            <a:pPr marL="320675" indent="-320675" defTabSz="852488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B05FCDCB-223B-45FE-915F-EA938EA8A902}" type="slidenum">
              <a:rPr lang="en-US" smtClean="0"/>
              <a:pPr/>
              <a:t>24</a:t>
            </a:fld>
            <a:endParaRPr lang="en-US" smtClean="0"/>
          </a:p>
        </p:txBody>
      </p:sp>
      <p:sp>
        <p:nvSpPr>
          <p:cNvPr id="368642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6864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FA919ADC-C895-43D7-A27E-1713A87286FF}" type="slidenum">
              <a:rPr lang="en-US" sz="1000"/>
              <a:pPr algn="r" defTabSz="852488"/>
              <a:t>24</a:t>
            </a:fld>
            <a:endParaRPr lang="en-US" sz="1000"/>
          </a:p>
        </p:txBody>
      </p:sp>
      <p:sp>
        <p:nvSpPr>
          <p:cNvPr id="368644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81000"/>
            <a:ext cx="7148513" cy="990600"/>
          </a:xfrm>
        </p:spPr>
        <p:txBody>
          <a:bodyPr/>
          <a:lstStyle/>
          <a:p>
            <a:pPr defTabSz="914400" eaLnBrk="1" hangingPunct="1">
              <a:lnSpc>
                <a:spcPct val="80000"/>
              </a:lnSpc>
            </a:pPr>
            <a:r>
              <a:rPr lang="en-US" sz="3600" smtClean="0"/>
              <a:t>Possible Applications for the Binomial Distribution</a:t>
            </a:r>
          </a:p>
        </p:txBody>
      </p:sp>
      <p:sp>
        <p:nvSpPr>
          <p:cNvPr id="3686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828800"/>
            <a:ext cx="7391400" cy="4343400"/>
          </a:xfrm>
        </p:spPr>
        <p:txBody>
          <a:bodyPr/>
          <a:lstStyle/>
          <a:p>
            <a:pPr marL="342900" indent="-342900" defTabSz="914400" eaLnBrk="1" hangingPunct="1">
              <a:spcBef>
                <a:spcPct val="40000"/>
              </a:spcBef>
            </a:pPr>
            <a:r>
              <a:rPr lang="en-US" smtClean="0">
                <a:solidFill>
                  <a:schemeClr val="bg2"/>
                </a:solidFill>
              </a:rPr>
              <a:t>A manufacturing plant labels items as either defective or acceptable</a:t>
            </a:r>
          </a:p>
          <a:p>
            <a:pPr marL="342900" indent="-342900" defTabSz="914400" eaLnBrk="1" hangingPunct="1">
              <a:spcBef>
                <a:spcPct val="40000"/>
              </a:spcBef>
            </a:pPr>
            <a:r>
              <a:rPr lang="en-US" smtClean="0">
                <a:solidFill>
                  <a:schemeClr val="bg2"/>
                </a:solidFill>
              </a:rPr>
              <a:t>A firm bidding for contracts will either get a contract or not</a:t>
            </a:r>
          </a:p>
          <a:p>
            <a:pPr marL="342900" indent="-342900" defTabSz="914400" eaLnBrk="1" hangingPunct="1">
              <a:spcBef>
                <a:spcPct val="40000"/>
              </a:spcBef>
            </a:pPr>
            <a:r>
              <a:rPr lang="en-US" smtClean="0">
                <a:solidFill>
                  <a:schemeClr val="bg2"/>
                </a:solidFill>
              </a:rPr>
              <a:t>A marketing research firm receives survey responses of “yes I will buy” or “no I will not”</a:t>
            </a:r>
          </a:p>
          <a:p>
            <a:pPr marL="342900" indent="-342900" defTabSz="914400" eaLnBrk="1" hangingPunct="1">
              <a:spcBef>
                <a:spcPct val="40000"/>
              </a:spcBef>
            </a:pPr>
            <a:r>
              <a:rPr lang="en-US" smtClean="0">
                <a:solidFill>
                  <a:schemeClr val="bg2"/>
                </a:solidFill>
              </a:rPr>
              <a:t>New job applicants either accept the offer or reject it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88AA661C-18E5-4518-B370-525053A8F02B}" type="slidenum">
              <a:rPr lang="en-US" smtClean="0"/>
              <a:pPr/>
              <a:t>25</a:t>
            </a:fld>
            <a:endParaRPr lang="en-US" smtClean="0"/>
          </a:p>
        </p:txBody>
      </p:sp>
      <p:sp>
        <p:nvSpPr>
          <p:cNvPr id="369666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6966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1C600BE4-EBAA-4FD3-A75C-8DCCF6CAAE95}" type="slidenum">
              <a:rPr lang="en-US" sz="1000"/>
              <a:pPr algn="r" defTabSz="852488"/>
              <a:t>25</a:t>
            </a:fld>
            <a:endParaRPr lang="en-US" sz="1000"/>
          </a:p>
        </p:txBody>
      </p:sp>
      <p:sp>
        <p:nvSpPr>
          <p:cNvPr id="3696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Binomial Distribution</a:t>
            </a:r>
            <a:br>
              <a:rPr lang="en-US" smtClean="0"/>
            </a:br>
            <a:r>
              <a:rPr lang="en-US" smtClean="0"/>
              <a:t>Counting Techniques</a:t>
            </a:r>
          </a:p>
        </p:txBody>
      </p:sp>
      <p:sp>
        <p:nvSpPr>
          <p:cNvPr id="3696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8077200" cy="4113213"/>
          </a:xfrm>
        </p:spPr>
        <p:txBody>
          <a:bodyPr/>
          <a:lstStyle/>
          <a:p>
            <a:pPr eaLnBrk="1" hangingPunct="1"/>
            <a:r>
              <a:rPr lang="en-US" sz="2400" smtClean="0"/>
              <a:t>Suppose the event of interest is obtaining heads on the toss of a fair coin.  You are to toss the coin three times.  In how many ways can you get two heads?</a:t>
            </a:r>
          </a:p>
          <a:p>
            <a:pPr eaLnBrk="1" hangingPunct="1"/>
            <a:endParaRPr lang="en-US" sz="1400" smtClean="0"/>
          </a:p>
          <a:p>
            <a:pPr eaLnBrk="1" hangingPunct="1"/>
            <a:r>
              <a:rPr lang="en-US" sz="2400" smtClean="0"/>
              <a:t>Possible ways: HHT, HTH, THH, so there are three ways you can getting two heads.</a:t>
            </a:r>
          </a:p>
          <a:p>
            <a:pPr eaLnBrk="1" hangingPunct="1"/>
            <a:endParaRPr lang="en-US" sz="1200" smtClean="0"/>
          </a:p>
          <a:p>
            <a:pPr eaLnBrk="1" hangingPunct="1"/>
            <a:r>
              <a:rPr lang="en-US" sz="2400" smtClean="0"/>
              <a:t>This situation is fairly simple.  We need to be able to count the number of ways for more complicated situations.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48CFB06D-7AEC-4585-BB7A-F2206AFBEB54}" type="slidenum">
              <a:rPr lang="en-US" smtClean="0"/>
              <a:pPr/>
              <a:t>26</a:t>
            </a:fld>
            <a:endParaRPr lang="en-US" smtClean="0"/>
          </a:p>
        </p:txBody>
      </p:sp>
      <p:sp>
        <p:nvSpPr>
          <p:cNvPr id="278534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7853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A5CA4964-D7EF-4F71-9898-8792153B2D35}" type="slidenum">
              <a:rPr lang="en-US" sz="1000"/>
              <a:pPr algn="r" defTabSz="852488"/>
              <a:t>26</a:t>
            </a:fld>
            <a:endParaRPr lang="en-US" sz="1000"/>
          </a:p>
        </p:txBody>
      </p:sp>
      <p:sp>
        <p:nvSpPr>
          <p:cNvPr id="27853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457200"/>
            <a:ext cx="7793038" cy="762000"/>
          </a:xfrm>
        </p:spPr>
        <p:txBody>
          <a:bodyPr/>
          <a:lstStyle/>
          <a:p>
            <a:pPr eaLnBrk="1" hangingPunct="1"/>
            <a:r>
              <a:rPr lang="en-US" sz="3600" smtClean="0"/>
              <a:t>Counting Techniques</a:t>
            </a:r>
            <a:br>
              <a:rPr lang="en-US" sz="3600" smtClean="0"/>
            </a:br>
            <a:r>
              <a:rPr lang="en-US" sz="3600" smtClean="0"/>
              <a:t>Rule of Combinations</a:t>
            </a:r>
          </a:p>
        </p:txBody>
      </p:sp>
      <p:sp>
        <p:nvSpPr>
          <p:cNvPr id="2785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8077200" cy="1511300"/>
          </a:xfrm>
        </p:spPr>
        <p:txBody>
          <a:bodyPr/>
          <a:lstStyle/>
          <a:p>
            <a:pPr eaLnBrk="1" hangingPunct="1"/>
            <a:r>
              <a:rPr lang="en-US" sz="2700" smtClean="0"/>
              <a:t>The number of </a:t>
            </a:r>
            <a:r>
              <a:rPr lang="en-US" sz="2700" smtClean="0">
                <a:solidFill>
                  <a:schemeClr val="folHlink"/>
                </a:solidFill>
              </a:rPr>
              <a:t>combinations</a:t>
            </a:r>
            <a:r>
              <a:rPr lang="en-US" sz="2700" smtClean="0"/>
              <a:t> of selecting X objects out of n objects is</a:t>
            </a:r>
          </a:p>
        </p:txBody>
      </p:sp>
      <p:graphicFrame>
        <p:nvGraphicFramePr>
          <p:cNvPr id="278532" name="Object 4"/>
          <p:cNvGraphicFramePr>
            <a:graphicFrameLocks noChangeAspect="1"/>
          </p:cNvGraphicFramePr>
          <p:nvPr/>
        </p:nvGraphicFramePr>
        <p:xfrm>
          <a:off x="2992438" y="3249613"/>
          <a:ext cx="2673350" cy="1090612"/>
        </p:xfrm>
        <a:graphic>
          <a:graphicData uri="http://schemas.openxmlformats.org/presentationml/2006/ole">
            <p:oleObj spid="_x0000_s278532" name="Equation" r:id="rId3" imgW="1028520" imgH="419040" progId="Equation.3">
              <p:embed/>
            </p:oleObj>
          </a:graphicData>
        </a:graphic>
      </p:graphicFrame>
      <p:sp>
        <p:nvSpPr>
          <p:cNvPr id="278538" name="Rectangle 5"/>
          <p:cNvSpPr>
            <a:spLocks noChangeArrowheads="1"/>
          </p:cNvSpPr>
          <p:nvPr/>
        </p:nvSpPr>
        <p:spPr bwMode="auto">
          <a:xfrm>
            <a:off x="1447800" y="4572000"/>
            <a:ext cx="5638800" cy="1525588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40000"/>
              </a:spcBef>
            </a:pPr>
            <a:r>
              <a:rPr lang="en-US" sz="2000"/>
              <a:t>          where:</a:t>
            </a:r>
            <a:endParaRPr lang="en-US" sz="2000" i="1"/>
          </a:p>
          <a:p>
            <a:pPr>
              <a:lnSpc>
                <a:spcPct val="50000"/>
              </a:lnSpc>
              <a:spcBef>
                <a:spcPct val="40000"/>
              </a:spcBef>
            </a:pPr>
            <a:r>
              <a:rPr lang="en-US" sz="2000"/>
              <a:t>		n! =(n)(n - 1)(n - 2) </a:t>
            </a:r>
            <a:r>
              <a:rPr lang="en-US" sz="2000" baseline="30000"/>
              <a:t>. . .</a:t>
            </a:r>
            <a:r>
              <a:rPr lang="en-US" sz="2000"/>
              <a:t> (2)(1)</a:t>
            </a:r>
          </a:p>
          <a:p>
            <a:pPr>
              <a:spcBef>
                <a:spcPct val="40000"/>
              </a:spcBef>
            </a:pPr>
            <a:r>
              <a:rPr lang="en-US" sz="2000"/>
              <a:t>		X! = (X)(X - 1)(X - 2) </a:t>
            </a:r>
            <a:r>
              <a:rPr lang="en-US" sz="2000" baseline="30000"/>
              <a:t>. . .</a:t>
            </a:r>
            <a:r>
              <a:rPr lang="en-US" sz="2000"/>
              <a:t> (2)(1)</a:t>
            </a:r>
          </a:p>
          <a:p>
            <a:pPr>
              <a:spcBef>
                <a:spcPct val="40000"/>
              </a:spcBef>
            </a:pPr>
            <a:r>
              <a:rPr lang="en-US" sz="2000"/>
              <a:t>	 	0! = 1  </a:t>
            </a:r>
            <a:r>
              <a:rPr lang="en-US" sz="1600"/>
              <a:t>(by definition)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64EAD4FA-E7DA-483A-B9ED-3473FECAB278}" type="slidenum">
              <a:rPr lang="en-US" smtClean="0"/>
              <a:pPr/>
              <a:t>27</a:t>
            </a:fld>
            <a:endParaRPr lang="en-US" smtClean="0"/>
          </a:p>
        </p:txBody>
      </p:sp>
      <p:sp>
        <p:nvSpPr>
          <p:cNvPr id="361478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61479" name="Slide Number Placeholder 5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2E882A0A-DF21-4B0B-9767-2F9CA8CA7032}" type="slidenum">
              <a:rPr lang="en-US" sz="1000"/>
              <a:pPr algn="r" defTabSz="852488"/>
              <a:t>27</a:t>
            </a:fld>
            <a:endParaRPr lang="en-US" sz="1000"/>
          </a:p>
        </p:txBody>
      </p:sp>
      <p:sp>
        <p:nvSpPr>
          <p:cNvPr id="3614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Counting Techniques</a:t>
            </a:r>
            <a:br>
              <a:rPr lang="en-US" smtClean="0"/>
            </a:br>
            <a:r>
              <a:rPr lang="en-US" smtClean="0"/>
              <a:t>Rule of Combinations</a:t>
            </a:r>
          </a:p>
        </p:txBody>
      </p:sp>
      <p:sp>
        <p:nvSpPr>
          <p:cNvPr id="36148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828800"/>
            <a:ext cx="8077200" cy="2098675"/>
          </a:xfrm>
        </p:spPr>
        <p:txBody>
          <a:bodyPr/>
          <a:lstStyle/>
          <a:p>
            <a:pPr eaLnBrk="1" hangingPunct="1"/>
            <a:r>
              <a:rPr lang="en-US" sz="2400" smtClean="0"/>
              <a:t>How many possible 3 scoop combinations could you create at an ice cream parlor if you have 31 flavors to select from?</a:t>
            </a:r>
          </a:p>
          <a:p>
            <a:pPr eaLnBrk="1" hangingPunct="1"/>
            <a:r>
              <a:rPr lang="en-US" sz="2400" smtClean="0"/>
              <a:t>The total choices is n = 31, and we select X = 3.</a:t>
            </a:r>
          </a:p>
        </p:txBody>
      </p:sp>
      <p:graphicFrame>
        <p:nvGraphicFramePr>
          <p:cNvPr id="361476" name="Object 4"/>
          <p:cNvGraphicFramePr>
            <a:graphicFrameLocks noChangeAspect="1"/>
          </p:cNvGraphicFramePr>
          <p:nvPr>
            <p:ph sz="half" idx="2"/>
          </p:nvPr>
        </p:nvGraphicFramePr>
        <p:xfrm>
          <a:off x="736600" y="3944938"/>
          <a:ext cx="7745413" cy="841375"/>
        </p:xfrm>
        <a:graphic>
          <a:graphicData uri="http://schemas.openxmlformats.org/presentationml/2006/ole">
            <p:oleObj spid="_x0000_s361476" name="Equation" r:id="rId3" imgW="3974760" imgH="4316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1D405F9B-4039-44A5-9EC3-4A59D2641512}" type="slidenum">
              <a:rPr lang="en-US" smtClean="0"/>
              <a:pPr/>
              <a:t>28</a:t>
            </a:fld>
            <a:endParaRPr lang="en-US" smtClean="0"/>
          </a:p>
        </p:txBody>
      </p:sp>
      <p:sp>
        <p:nvSpPr>
          <p:cNvPr id="373762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7376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06F04CA5-ABFA-49A8-9450-B51E819F793C}" type="slidenum">
              <a:rPr lang="en-US" sz="1000"/>
              <a:pPr algn="r" defTabSz="852488"/>
              <a:t>28</a:t>
            </a:fld>
            <a:endParaRPr lang="en-US" sz="1000"/>
          </a:p>
        </p:txBody>
      </p:sp>
      <p:sp>
        <p:nvSpPr>
          <p:cNvPr id="373764" name="Rectangle 2"/>
          <p:cNvSpPr>
            <a:spLocks noChangeArrowheads="1"/>
          </p:cNvSpPr>
          <p:nvPr/>
        </p:nvSpPr>
        <p:spPr bwMode="auto">
          <a:xfrm>
            <a:off x="914400" y="1676400"/>
            <a:ext cx="7162800" cy="1371600"/>
          </a:xfrm>
          <a:prstGeom prst="rect">
            <a:avLst/>
          </a:prstGeom>
          <a:solidFill>
            <a:srgbClr val="FDE0BD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73765" name="Rectangle 3"/>
          <p:cNvSpPr>
            <a:spLocks noChangeArrowheads="1"/>
          </p:cNvSpPr>
          <p:nvPr/>
        </p:nvSpPr>
        <p:spPr bwMode="auto">
          <a:xfrm>
            <a:off x="228600" y="3276600"/>
            <a:ext cx="5638800" cy="3200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/>
          <a:lstStyle/>
          <a:p>
            <a:pPr marL="795338" indent="-795338" defTabSz="51435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sz="2000"/>
              <a:t>P(X=x|n,</a:t>
            </a:r>
            <a:r>
              <a:rPr lang="el-GR" sz="2000"/>
              <a:t>π</a:t>
            </a:r>
            <a:r>
              <a:rPr lang="en-US" sz="2000"/>
              <a:t>) = probability of </a:t>
            </a:r>
            <a:r>
              <a:rPr lang="en-US" sz="2000" b="1"/>
              <a:t>x</a:t>
            </a:r>
            <a:r>
              <a:rPr lang="en-US" sz="2000"/>
              <a:t> events of interest  		in </a:t>
            </a:r>
            <a:r>
              <a:rPr lang="en-US" sz="2000" b="1">
                <a:solidFill>
                  <a:srgbClr val="FF3300"/>
                </a:solidFill>
              </a:rPr>
              <a:t>n</a:t>
            </a:r>
            <a:r>
              <a:rPr lang="en-US" sz="2000"/>
              <a:t> trials, with the probability of an 		“event of interest” being </a:t>
            </a:r>
            <a:r>
              <a:rPr lang="el-GR" sz="2000" b="1">
                <a:solidFill>
                  <a:schemeClr val="folHlink"/>
                </a:solidFill>
                <a:cs typeface="Arial" charset="0"/>
              </a:rPr>
              <a:t>π</a:t>
            </a:r>
            <a:r>
              <a:rPr lang="en-US" sz="2000">
                <a:solidFill>
                  <a:schemeClr val="folHlink"/>
                </a:solidFill>
              </a:rPr>
              <a:t> </a:t>
            </a:r>
            <a:r>
              <a:rPr lang="en-US" sz="2000"/>
              <a:t>for 			each trial</a:t>
            </a:r>
          </a:p>
          <a:p>
            <a:pPr marL="795338" indent="-795338" defTabSz="514350" eaLnBrk="0" hangingPunct="0">
              <a:lnSpc>
                <a:spcPct val="90000"/>
              </a:lnSpc>
              <a:spcBef>
                <a:spcPct val="20000"/>
              </a:spcBef>
            </a:pPr>
            <a:endParaRPr lang="en-US" sz="1200"/>
          </a:p>
          <a:p>
            <a:pPr marL="795338" indent="-795338" defTabSz="514350" eaLnBrk="0" hangingPunct="0">
              <a:lnSpc>
                <a:spcPct val="80000"/>
              </a:lnSpc>
              <a:spcBef>
                <a:spcPct val="20000"/>
              </a:spcBef>
            </a:pPr>
            <a:r>
              <a:rPr lang="en-US" sz="2000"/>
              <a:t>   x   =  number of “events of interest” in sample, </a:t>
            </a:r>
          </a:p>
          <a:p>
            <a:pPr marL="795338" indent="-795338" defTabSz="514350" eaLnBrk="0" hangingPunct="0">
              <a:lnSpc>
                <a:spcPct val="80000"/>
              </a:lnSpc>
              <a:spcBef>
                <a:spcPct val="20000"/>
              </a:spcBef>
            </a:pPr>
            <a:r>
              <a:rPr lang="en-US" sz="2000"/>
              <a:t>             (x = 0, 1, 2, ..., </a:t>
            </a:r>
            <a:r>
              <a:rPr lang="en-US" sz="2000">
                <a:solidFill>
                  <a:schemeClr val="hlink"/>
                </a:solidFill>
              </a:rPr>
              <a:t>n</a:t>
            </a:r>
            <a:r>
              <a:rPr lang="en-US" sz="2000"/>
              <a:t>)</a:t>
            </a:r>
            <a:endParaRPr lang="en-US" sz="2000">
              <a:solidFill>
                <a:schemeClr val="folHlink"/>
              </a:solidFill>
            </a:endParaRPr>
          </a:p>
          <a:p>
            <a:pPr marL="795338" indent="-795338" defTabSz="514350" eaLnBrk="0" hangingPunct="0">
              <a:lnSpc>
                <a:spcPct val="130000"/>
              </a:lnSpc>
              <a:spcBef>
                <a:spcPct val="20000"/>
              </a:spcBef>
            </a:pPr>
            <a:r>
              <a:rPr lang="en-US" sz="2000">
                <a:solidFill>
                  <a:srgbClr val="FF3300"/>
                </a:solidFill>
              </a:rPr>
              <a:t>   n    = sample size (number of trials </a:t>
            </a:r>
          </a:p>
          <a:p>
            <a:pPr marL="795338" indent="-795338" defTabSz="514350" eaLnBrk="0" hangingPunct="0">
              <a:lnSpc>
                <a:spcPct val="70000"/>
              </a:lnSpc>
              <a:spcBef>
                <a:spcPct val="20000"/>
              </a:spcBef>
            </a:pPr>
            <a:r>
              <a:rPr lang="en-US" sz="2000">
                <a:solidFill>
                  <a:srgbClr val="FF3300"/>
                </a:solidFill>
              </a:rPr>
              <a:t>				   or observations)</a:t>
            </a:r>
          </a:p>
          <a:p>
            <a:pPr marL="795338" indent="-795338" defTabSz="514350" eaLnBrk="0" hangingPunct="0">
              <a:spcBef>
                <a:spcPct val="20000"/>
              </a:spcBef>
            </a:pPr>
            <a:r>
              <a:rPr lang="en-US" sz="2000">
                <a:solidFill>
                  <a:srgbClr val="FF3300"/>
                </a:solidFill>
              </a:rPr>
              <a:t>   </a:t>
            </a:r>
            <a:r>
              <a:rPr lang="el-GR" sz="2000">
                <a:solidFill>
                  <a:schemeClr val="folHlink"/>
                </a:solidFill>
                <a:cs typeface="Arial" charset="0"/>
              </a:rPr>
              <a:t>π</a:t>
            </a:r>
            <a:r>
              <a:rPr lang="en-US" sz="2000">
                <a:solidFill>
                  <a:schemeClr val="folHlink"/>
                </a:solidFill>
              </a:rPr>
              <a:t>    =   probability of “event of interest” </a:t>
            </a:r>
          </a:p>
        </p:txBody>
      </p:sp>
      <p:sp>
        <p:nvSpPr>
          <p:cNvPr id="373766" name="Line 4"/>
          <p:cNvSpPr>
            <a:spLocks noChangeShapeType="1"/>
          </p:cNvSpPr>
          <p:nvPr/>
        </p:nvSpPr>
        <p:spPr bwMode="auto">
          <a:xfrm>
            <a:off x="3941763" y="2279650"/>
            <a:ext cx="15303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3767" name="Rectangle 5"/>
          <p:cNvSpPr>
            <a:spLocks noChangeArrowheads="1"/>
          </p:cNvSpPr>
          <p:nvPr/>
        </p:nvSpPr>
        <p:spPr bwMode="auto">
          <a:xfrm>
            <a:off x="1066800" y="1981200"/>
            <a:ext cx="2295525" cy="582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3200"/>
              <a:t>P(X=x |n,</a:t>
            </a:r>
            <a:r>
              <a:rPr lang="el-GR" sz="3200"/>
              <a:t>π</a:t>
            </a:r>
            <a:r>
              <a:rPr lang="en-US" sz="3200"/>
              <a:t>)</a:t>
            </a:r>
          </a:p>
        </p:txBody>
      </p:sp>
      <p:sp>
        <p:nvSpPr>
          <p:cNvPr id="373768" name="Rectangle 6"/>
          <p:cNvSpPr>
            <a:spLocks noChangeArrowheads="1"/>
          </p:cNvSpPr>
          <p:nvPr/>
        </p:nvSpPr>
        <p:spPr bwMode="auto">
          <a:xfrm>
            <a:off x="4495800" y="1676400"/>
            <a:ext cx="406400" cy="5762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3200">
                <a:solidFill>
                  <a:srgbClr val="FF3300"/>
                </a:solidFill>
              </a:rPr>
              <a:t>n</a:t>
            </a:r>
          </a:p>
        </p:txBody>
      </p:sp>
      <p:sp>
        <p:nvSpPr>
          <p:cNvPr id="373769" name="Rectangle 7"/>
          <p:cNvSpPr>
            <a:spLocks noChangeArrowheads="1"/>
          </p:cNvSpPr>
          <p:nvPr/>
        </p:nvSpPr>
        <p:spPr bwMode="auto">
          <a:xfrm>
            <a:off x="3706813" y="2279650"/>
            <a:ext cx="501650" cy="582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3200"/>
              <a:t>x!</a:t>
            </a:r>
          </a:p>
        </p:txBody>
      </p:sp>
      <p:sp>
        <p:nvSpPr>
          <p:cNvPr id="373770" name="Rectangle 8"/>
          <p:cNvSpPr>
            <a:spLocks noChangeArrowheads="1"/>
          </p:cNvSpPr>
          <p:nvPr/>
        </p:nvSpPr>
        <p:spPr bwMode="auto">
          <a:xfrm>
            <a:off x="4379913" y="2295525"/>
            <a:ext cx="406400" cy="5762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3200">
                <a:solidFill>
                  <a:srgbClr val="FF3300"/>
                </a:solidFill>
              </a:rPr>
              <a:t>n</a:t>
            </a:r>
          </a:p>
        </p:txBody>
      </p:sp>
      <p:sp>
        <p:nvSpPr>
          <p:cNvPr id="373771" name="Rectangle 9"/>
          <p:cNvSpPr>
            <a:spLocks noChangeArrowheads="1"/>
          </p:cNvSpPr>
          <p:nvPr/>
        </p:nvSpPr>
        <p:spPr bwMode="auto">
          <a:xfrm>
            <a:off x="5032375" y="2295525"/>
            <a:ext cx="387350" cy="582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3200"/>
              <a:t>x</a:t>
            </a:r>
          </a:p>
        </p:txBody>
      </p:sp>
      <p:sp>
        <p:nvSpPr>
          <p:cNvPr id="373772" name="Rectangle 10"/>
          <p:cNvSpPr>
            <a:spLocks noChangeArrowheads="1"/>
          </p:cNvSpPr>
          <p:nvPr/>
        </p:nvSpPr>
        <p:spPr bwMode="auto">
          <a:xfrm>
            <a:off x="5638800" y="1981200"/>
            <a:ext cx="461963" cy="5762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l-GR" sz="3200">
                <a:solidFill>
                  <a:schemeClr val="folHlink"/>
                </a:solidFill>
                <a:cs typeface="Arial" charset="0"/>
              </a:rPr>
              <a:t>π</a:t>
            </a:r>
          </a:p>
        </p:txBody>
      </p:sp>
      <p:sp>
        <p:nvSpPr>
          <p:cNvPr id="373773" name="Rectangle 11"/>
          <p:cNvSpPr>
            <a:spLocks noChangeArrowheads="1"/>
          </p:cNvSpPr>
          <p:nvPr/>
        </p:nvSpPr>
        <p:spPr bwMode="auto">
          <a:xfrm>
            <a:off x="6172200" y="1981200"/>
            <a:ext cx="1092200" cy="5762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3200"/>
              <a:t>(1-</a:t>
            </a:r>
            <a:r>
              <a:rPr lang="el-GR" sz="3200">
                <a:solidFill>
                  <a:schemeClr val="folHlink"/>
                </a:solidFill>
                <a:cs typeface="Arial" charset="0"/>
              </a:rPr>
              <a:t>π</a:t>
            </a:r>
            <a:r>
              <a:rPr lang="en-US" sz="3200"/>
              <a:t>)</a:t>
            </a:r>
          </a:p>
        </p:txBody>
      </p:sp>
      <p:sp>
        <p:nvSpPr>
          <p:cNvPr id="373774" name="Rectangle 12"/>
          <p:cNvSpPr>
            <a:spLocks noChangeArrowheads="1"/>
          </p:cNvSpPr>
          <p:nvPr/>
        </p:nvSpPr>
        <p:spPr bwMode="auto">
          <a:xfrm>
            <a:off x="5905500" y="1889125"/>
            <a:ext cx="369888" cy="4286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sz="2200" b="1"/>
              <a:t>x</a:t>
            </a:r>
          </a:p>
        </p:txBody>
      </p:sp>
      <p:sp>
        <p:nvSpPr>
          <p:cNvPr id="373775" name="Rectangle 13"/>
          <p:cNvSpPr>
            <a:spLocks noChangeArrowheads="1"/>
          </p:cNvSpPr>
          <p:nvPr/>
        </p:nvSpPr>
        <p:spPr bwMode="auto">
          <a:xfrm>
            <a:off x="7023100" y="1905000"/>
            <a:ext cx="352425" cy="4238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200" b="1">
                <a:solidFill>
                  <a:srgbClr val="FF3300"/>
                </a:solidFill>
              </a:rPr>
              <a:t>n</a:t>
            </a:r>
          </a:p>
        </p:txBody>
      </p:sp>
      <p:sp>
        <p:nvSpPr>
          <p:cNvPr id="373776" name="Rectangle 14"/>
          <p:cNvSpPr>
            <a:spLocks noChangeArrowheads="1"/>
          </p:cNvSpPr>
          <p:nvPr/>
        </p:nvSpPr>
        <p:spPr bwMode="auto">
          <a:xfrm>
            <a:off x="7481888" y="1882775"/>
            <a:ext cx="339725" cy="4286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200" b="1"/>
              <a:t>x</a:t>
            </a:r>
          </a:p>
        </p:txBody>
      </p:sp>
      <p:sp>
        <p:nvSpPr>
          <p:cNvPr id="373777" name="Rectangle 15"/>
          <p:cNvSpPr>
            <a:spLocks noChangeArrowheads="1"/>
          </p:cNvSpPr>
          <p:nvPr/>
        </p:nvSpPr>
        <p:spPr bwMode="auto">
          <a:xfrm>
            <a:off x="4751388" y="1676400"/>
            <a:ext cx="293687" cy="5762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3200">
                <a:solidFill>
                  <a:srgbClr val="FF9900"/>
                </a:solidFill>
              </a:rPr>
              <a:t>!</a:t>
            </a:r>
          </a:p>
        </p:txBody>
      </p:sp>
      <p:sp>
        <p:nvSpPr>
          <p:cNvPr id="373778" name="Rectangle 16"/>
          <p:cNvSpPr>
            <a:spLocks noChangeArrowheads="1"/>
          </p:cNvSpPr>
          <p:nvPr/>
        </p:nvSpPr>
        <p:spPr bwMode="auto">
          <a:xfrm>
            <a:off x="4240213" y="2279650"/>
            <a:ext cx="315912" cy="5762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3200"/>
              <a:t>(</a:t>
            </a:r>
          </a:p>
        </p:txBody>
      </p:sp>
      <p:sp>
        <p:nvSpPr>
          <p:cNvPr id="373779" name="Rectangle 17"/>
          <p:cNvSpPr>
            <a:spLocks noChangeArrowheads="1"/>
          </p:cNvSpPr>
          <p:nvPr/>
        </p:nvSpPr>
        <p:spPr bwMode="auto">
          <a:xfrm>
            <a:off x="5307013" y="2279650"/>
            <a:ext cx="315912" cy="5762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3200"/>
              <a:t>)</a:t>
            </a:r>
          </a:p>
        </p:txBody>
      </p:sp>
      <p:sp>
        <p:nvSpPr>
          <p:cNvPr id="373780" name="Rectangle 18"/>
          <p:cNvSpPr>
            <a:spLocks noChangeArrowheads="1"/>
          </p:cNvSpPr>
          <p:nvPr/>
        </p:nvSpPr>
        <p:spPr bwMode="auto">
          <a:xfrm>
            <a:off x="5383213" y="2279650"/>
            <a:ext cx="293687" cy="5762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3200"/>
              <a:t>!</a:t>
            </a:r>
          </a:p>
        </p:txBody>
      </p:sp>
      <p:sp>
        <p:nvSpPr>
          <p:cNvPr id="373781" name="Rectangle 19"/>
          <p:cNvSpPr>
            <a:spLocks noChangeArrowheads="1"/>
          </p:cNvSpPr>
          <p:nvPr/>
        </p:nvSpPr>
        <p:spPr bwMode="auto">
          <a:xfrm>
            <a:off x="3200400" y="1981200"/>
            <a:ext cx="404813" cy="5762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3200" b="1">
                <a:latin typeface="Symbol" pitchFamily="18" charset="2"/>
              </a:rPr>
              <a:t>=</a:t>
            </a:r>
          </a:p>
        </p:txBody>
      </p:sp>
      <p:sp>
        <p:nvSpPr>
          <p:cNvPr id="373782" name="Rectangle 20"/>
          <p:cNvSpPr>
            <a:spLocks noChangeArrowheads="1"/>
          </p:cNvSpPr>
          <p:nvPr/>
        </p:nvSpPr>
        <p:spPr bwMode="auto">
          <a:xfrm>
            <a:off x="4697413" y="2279650"/>
            <a:ext cx="404812" cy="5762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3200">
                <a:latin typeface="Symbol" pitchFamily="18" charset="2"/>
              </a:rPr>
              <a:t>-</a:t>
            </a:r>
          </a:p>
        </p:txBody>
      </p:sp>
      <p:sp>
        <p:nvSpPr>
          <p:cNvPr id="373783" name="Rectangle 21"/>
          <p:cNvSpPr>
            <a:spLocks noChangeArrowheads="1"/>
          </p:cNvSpPr>
          <p:nvPr/>
        </p:nvSpPr>
        <p:spPr bwMode="auto">
          <a:xfrm>
            <a:off x="7253288" y="1882775"/>
            <a:ext cx="381000" cy="4238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sz="2200" b="1">
                <a:latin typeface="Symbol" pitchFamily="18" charset="2"/>
              </a:rPr>
              <a:t>-</a:t>
            </a:r>
          </a:p>
        </p:txBody>
      </p:sp>
      <p:sp>
        <p:nvSpPr>
          <p:cNvPr id="373784" name="Line 22"/>
          <p:cNvSpPr>
            <a:spLocks noChangeShapeType="1"/>
          </p:cNvSpPr>
          <p:nvPr/>
        </p:nvSpPr>
        <p:spPr bwMode="auto">
          <a:xfrm>
            <a:off x="8610600" y="4651375"/>
            <a:ext cx="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3785" name="Rectangle 23"/>
          <p:cNvSpPr>
            <a:spLocks noChangeArrowheads="1"/>
          </p:cNvSpPr>
          <p:nvPr/>
        </p:nvSpPr>
        <p:spPr bwMode="auto">
          <a:xfrm>
            <a:off x="6019800" y="3733800"/>
            <a:ext cx="2971800" cy="2362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73786" name="Text Box 24"/>
          <p:cNvSpPr txBox="1">
            <a:spLocks noChangeArrowheads="1"/>
          </p:cNvSpPr>
          <p:nvPr/>
        </p:nvSpPr>
        <p:spPr bwMode="auto">
          <a:xfrm>
            <a:off x="6019800" y="3733800"/>
            <a:ext cx="2895600" cy="229235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 b="1"/>
              <a:t>Example:</a:t>
            </a:r>
            <a:r>
              <a:rPr lang="en-US" sz="1800"/>
              <a:t>  Flip a coin four times, let  x = # heads:</a:t>
            </a:r>
          </a:p>
          <a:p>
            <a:pPr algn="ctr">
              <a:spcBef>
                <a:spcPct val="50000"/>
              </a:spcBef>
            </a:pPr>
            <a:r>
              <a:rPr lang="en-US" sz="1800">
                <a:solidFill>
                  <a:schemeClr val="hlink"/>
                </a:solidFill>
              </a:rPr>
              <a:t>n</a:t>
            </a:r>
            <a:r>
              <a:rPr lang="en-US" sz="1800"/>
              <a:t> = 4</a:t>
            </a:r>
          </a:p>
          <a:p>
            <a:pPr algn="ctr">
              <a:spcBef>
                <a:spcPct val="50000"/>
              </a:spcBef>
            </a:pPr>
            <a:r>
              <a:rPr lang="el-GR" sz="1800">
                <a:solidFill>
                  <a:schemeClr val="folHlink"/>
                </a:solidFill>
                <a:cs typeface="Arial" charset="0"/>
              </a:rPr>
              <a:t>π</a:t>
            </a:r>
            <a:r>
              <a:rPr lang="en-US" sz="1800"/>
              <a:t> = 0.5</a:t>
            </a:r>
          </a:p>
          <a:p>
            <a:pPr algn="ctr">
              <a:spcBef>
                <a:spcPct val="50000"/>
              </a:spcBef>
            </a:pPr>
            <a:r>
              <a:rPr lang="en-US" sz="1800"/>
              <a:t>1 - </a:t>
            </a:r>
            <a:r>
              <a:rPr lang="el-GR" sz="1800">
                <a:solidFill>
                  <a:schemeClr val="folHlink"/>
                </a:solidFill>
                <a:cs typeface="Arial" charset="0"/>
              </a:rPr>
              <a:t>π</a:t>
            </a:r>
            <a:r>
              <a:rPr lang="en-US" sz="1800"/>
              <a:t> = (1 - 0.5) = 0.5</a:t>
            </a:r>
          </a:p>
          <a:p>
            <a:pPr algn="ctr">
              <a:spcBef>
                <a:spcPct val="50000"/>
              </a:spcBef>
            </a:pPr>
            <a:r>
              <a:rPr lang="en-US" sz="1800"/>
              <a:t>X = 0, 1, 2, 3, 4</a:t>
            </a:r>
          </a:p>
        </p:txBody>
      </p:sp>
      <p:sp>
        <p:nvSpPr>
          <p:cNvPr id="373787" name="Rectangle 2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 eaLnBrk="1" hangingPunct="1"/>
            <a:r>
              <a:rPr lang="en-US" smtClean="0"/>
              <a:t>Binomial Distribution Formula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7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0CFC3123-1143-416B-A4FF-24EFC8B54A9E}" type="slidenum">
              <a:rPr lang="en-US" smtClean="0"/>
              <a:pPr/>
              <a:t>29</a:t>
            </a:fld>
            <a:endParaRPr lang="en-US" smtClean="0"/>
          </a:p>
        </p:txBody>
      </p:sp>
      <p:sp>
        <p:nvSpPr>
          <p:cNvPr id="287774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8777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1AFD8F43-5040-4FE8-A87A-DA5D727C9F57}" type="slidenum">
              <a:rPr lang="en-US" sz="1000"/>
              <a:pPr algn="r" defTabSz="852488"/>
              <a:t>29</a:t>
            </a:fld>
            <a:endParaRPr lang="en-US" sz="1000"/>
          </a:p>
        </p:txBody>
      </p:sp>
      <p:sp>
        <p:nvSpPr>
          <p:cNvPr id="287776" name="Rectangle 27"/>
          <p:cNvSpPr>
            <a:spLocks noChangeArrowheads="1"/>
          </p:cNvSpPr>
          <p:nvPr/>
        </p:nvSpPr>
        <p:spPr bwMode="auto">
          <a:xfrm>
            <a:off x="3048000" y="2667000"/>
            <a:ext cx="3505200" cy="533400"/>
          </a:xfrm>
          <a:prstGeom prst="rect">
            <a:avLst/>
          </a:prstGeom>
          <a:solidFill>
            <a:srgbClr val="C7DAF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87777" name="Line 22"/>
          <p:cNvSpPr>
            <a:spLocks noChangeShapeType="1"/>
          </p:cNvSpPr>
          <p:nvPr/>
        </p:nvSpPr>
        <p:spPr bwMode="auto">
          <a:xfrm>
            <a:off x="8610600" y="4651375"/>
            <a:ext cx="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7778" name="Rectangle 25"/>
          <p:cNvSpPr>
            <a:spLocks noGrp="1" noChangeArrowheads="1"/>
          </p:cNvSpPr>
          <p:nvPr>
            <p:ph type="title"/>
          </p:nvPr>
        </p:nvSpPr>
        <p:spPr>
          <a:xfrm>
            <a:off x="1143000" y="381000"/>
            <a:ext cx="7848600" cy="990600"/>
          </a:xfrm>
        </p:spPr>
        <p:txBody>
          <a:bodyPr/>
          <a:lstStyle/>
          <a:p>
            <a:pPr defTabSz="914400" eaLnBrk="1" hangingPunct="1">
              <a:lnSpc>
                <a:spcPct val="80000"/>
              </a:lnSpc>
            </a:pPr>
            <a:r>
              <a:rPr lang="en-US" smtClean="0"/>
              <a:t>Example: </a:t>
            </a:r>
            <a:br>
              <a:rPr lang="en-US" smtClean="0"/>
            </a:br>
            <a:r>
              <a:rPr lang="en-US" smtClean="0"/>
              <a:t>Calculating a Binomial Probability</a:t>
            </a:r>
          </a:p>
        </p:txBody>
      </p:sp>
      <p:sp>
        <p:nvSpPr>
          <p:cNvPr id="287779" name="Text Box 26"/>
          <p:cNvSpPr txBox="1">
            <a:spLocks noChangeArrowheads="1"/>
          </p:cNvSpPr>
          <p:nvPr/>
        </p:nvSpPr>
        <p:spPr bwMode="auto">
          <a:xfrm>
            <a:off x="1295400" y="1524000"/>
            <a:ext cx="6858000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What is the probability of one success in five observations if the probability of an event of interest is 0.1?</a:t>
            </a:r>
          </a:p>
          <a:p>
            <a:pPr>
              <a:spcBef>
                <a:spcPct val="50000"/>
              </a:spcBef>
            </a:pPr>
            <a:r>
              <a:rPr lang="en-US" sz="2400"/>
              <a:t> 		x = 1, n = 5, and </a:t>
            </a:r>
            <a:r>
              <a:rPr lang="el-GR" sz="2400">
                <a:cs typeface="Arial" charset="0"/>
              </a:rPr>
              <a:t>π</a:t>
            </a:r>
            <a:r>
              <a:rPr lang="en-US" sz="2400"/>
              <a:t> = 0.1</a:t>
            </a:r>
          </a:p>
        </p:txBody>
      </p:sp>
      <p:graphicFrame>
        <p:nvGraphicFramePr>
          <p:cNvPr id="287772" name="Object 28"/>
          <p:cNvGraphicFramePr>
            <a:graphicFrameLocks noChangeAspect="1"/>
          </p:cNvGraphicFramePr>
          <p:nvPr/>
        </p:nvGraphicFramePr>
        <p:xfrm>
          <a:off x="2209800" y="3505200"/>
          <a:ext cx="5343525" cy="2738438"/>
        </p:xfrm>
        <a:graphic>
          <a:graphicData uri="http://schemas.openxmlformats.org/presentationml/2006/ole">
            <p:oleObj spid="_x0000_s287772" name="Equation" r:id="rId4" imgW="2628720" imgH="1346040" progId="Equation.3">
              <p:embed/>
            </p:oleObj>
          </a:graphicData>
        </a:graphic>
      </p:graphicFrame>
      <p:sp>
        <p:nvSpPr>
          <p:cNvPr id="287780" name="Oval 29"/>
          <p:cNvSpPr>
            <a:spLocks noChangeArrowheads="1"/>
          </p:cNvSpPr>
          <p:nvPr/>
        </p:nvSpPr>
        <p:spPr bwMode="auto">
          <a:xfrm>
            <a:off x="4114800" y="5715000"/>
            <a:ext cx="1371600" cy="685800"/>
          </a:xfrm>
          <a:prstGeom prst="ellipse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50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2F3DB2B9-4AE6-405C-93BE-47B539C10BAD}" type="slidenum">
              <a:rPr lang="en-US" smtClean="0"/>
              <a:pPr/>
              <a:t>30</a:t>
            </a:fld>
            <a:endParaRPr lang="en-US" smtClean="0"/>
          </a:p>
        </p:txBody>
      </p:sp>
      <p:sp>
        <p:nvSpPr>
          <p:cNvPr id="362502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6250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8767CF05-D73D-48C0-80FD-DA3B6618056B}" type="slidenum">
              <a:rPr lang="en-US" sz="1000"/>
              <a:pPr algn="r" defTabSz="852488"/>
              <a:t>30</a:t>
            </a:fld>
            <a:endParaRPr lang="en-US" sz="1000"/>
          </a:p>
        </p:txBody>
      </p:sp>
      <p:sp>
        <p:nvSpPr>
          <p:cNvPr id="3625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Binomial Distribution</a:t>
            </a:r>
            <a:br>
              <a:rPr lang="en-US" smtClean="0"/>
            </a:br>
            <a:r>
              <a:rPr lang="en-US" smtClean="0"/>
              <a:t>Example</a:t>
            </a:r>
          </a:p>
        </p:txBody>
      </p:sp>
      <p:sp>
        <p:nvSpPr>
          <p:cNvPr id="362505" name="Text Box 3"/>
          <p:cNvSpPr txBox="1">
            <a:spLocks noChangeArrowheads="1"/>
          </p:cNvSpPr>
          <p:nvPr/>
        </p:nvSpPr>
        <p:spPr bwMode="auto">
          <a:xfrm>
            <a:off x="1600200" y="1524000"/>
            <a:ext cx="6858000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Suppose the probability of purchasing a defective computer is 0.02.  What is the probability of purchasing 2 defective computers in a group of 10?</a:t>
            </a:r>
          </a:p>
          <a:p>
            <a:pPr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 		x = 2, n = 10, and </a:t>
            </a:r>
            <a:r>
              <a:rPr lang="el-GR" sz="2400">
                <a:cs typeface="Arial" charset="0"/>
              </a:rPr>
              <a:t>π</a:t>
            </a:r>
            <a:r>
              <a:rPr lang="en-US" sz="2400">
                <a:latin typeface="Times New Roman" pitchFamily="18" charset="0"/>
              </a:rPr>
              <a:t> = 0.02</a:t>
            </a:r>
          </a:p>
        </p:txBody>
      </p:sp>
      <p:graphicFrame>
        <p:nvGraphicFramePr>
          <p:cNvPr id="362500" name="Object 4"/>
          <p:cNvGraphicFramePr>
            <a:graphicFrameLocks noChangeAspect="1"/>
          </p:cNvGraphicFramePr>
          <p:nvPr>
            <p:ph idx="1"/>
          </p:nvPr>
        </p:nvGraphicFramePr>
        <p:xfrm>
          <a:off x="1905000" y="3841750"/>
          <a:ext cx="5156200" cy="2274888"/>
        </p:xfrm>
        <a:graphic>
          <a:graphicData uri="http://schemas.openxmlformats.org/presentationml/2006/ole">
            <p:oleObj spid="_x0000_s362500" name="Equation" r:id="rId3" imgW="3022560" imgH="1333440" progId="Equation.3">
              <p:embed/>
            </p:oleObj>
          </a:graphicData>
        </a:graphic>
      </p:graphicFrame>
      <p:sp>
        <p:nvSpPr>
          <p:cNvPr id="362506" name="Oval 5"/>
          <p:cNvSpPr>
            <a:spLocks noChangeArrowheads="1"/>
          </p:cNvSpPr>
          <p:nvPr/>
        </p:nvSpPr>
        <p:spPr bwMode="auto">
          <a:xfrm>
            <a:off x="3657600" y="5638800"/>
            <a:ext cx="1371600" cy="685800"/>
          </a:xfrm>
          <a:prstGeom prst="ellipse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884B706A-8577-49C8-B610-B57ECD14DE7A}" type="slidenum">
              <a:rPr lang="en-US" smtClean="0"/>
              <a:pPr/>
              <a:t>31</a:t>
            </a:fld>
            <a:endParaRPr lang="en-US" smtClean="0"/>
          </a:p>
        </p:txBody>
      </p:sp>
      <p:sp>
        <p:nvSpPr>
          <p:cNvPr id="378882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7888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D102633A-7FC1-47DF-BA01-F93CD7656D31}" type="slidenum">
              <a:rPr lang="en-US" sz="1000"/>
              <a:pPr algn="r" defTabSz="852488"/>
              <a:t>31</a:t>
            </a:fld>
            <a:endParaRPr lang="en-US" sz="1000"/>
          </a:p>
        </p:txBody>
      </p:sp>
      <p:sp>
        <p:nvSpPr>
          <p:cNvPr id="3788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Binomial Distribution</a:t>
            </a:r>
            <a:br>
              <a:rPr lang="en-US" smtClean="0"/>
            </a:br>
            <a:r>
              <a:rPr lang="en-US" smtClean="0"/>
              <a:t>Shape</a:t>
            </a:r>
          </a:p>
        </p:txBody>
      </p:sp>
      <p:sp>
        <p:nvSpPr>
          <p:cNvPr id="378885" name="Rectangle 3"/>
          <p:cNvSpPr>
            <a:spLocks noChangeArrowheads="1"/>
          </p:cNvSpPr>
          <p:nvPr/>
        </p:nvSpPr>
        <p:spPr bwMode="auto">
          <a:xfrm>
            <a:off x="4572000" y="1981200"/>
            <a:ext cx="3886200" cy="1981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GB" sz="2400"/>
          </a:p>
        </p:txBody>
      </p:sp>
      <p:sp>
        <p:nvSpPr>
          <p:cNvPr id="378886" name="Line 5"/>
          <p:cNvSpPr>
            <a:spLocks noChangeShapeType="1"/>
          </p:cNvSpPr>
          <p:nvPr/>
        </p:nvSpPr>
        <p:spPr bwMode="auto">
          <a:xfrm>
            <a:off x="5230813" y="3114675"/>
            <a:ext cx="25892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887" name="Line 6"/>
          <p:cNvSpPr>
            <a:spLocks noChangeShapeType="1"/>
          </p:cNvSpPr>
          <p:nvPr/>
        </p:nvSpPr>
        <p:spPr bwMode="auto">
          <a:xfrm>
            <a:off x="5230813" y="2809875"/>
            <a:ext cx="25892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888" name="Line 7"/>
          <p:cNvSpPr>
            <a:spLocks noChangeShapeType="1"/>
          </p:cNvSpPr>
          <p:nvPr/>
        </p:nvSpPr>
        <p:spPr bwMode="auto">
          <a:xfrm>
            <a:off x="5230813" y="2508250"/>
            <a:ext cx="25892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889" name="Freeform 8"/>
          <p:cNvSpPr>
            <a:spLocks/>
          </p:cNvSpPr>
          <p:nvPr/>
        </p:nvSpPr>
        <p:spPr bwMode="auto">
          <a:xfrm>
            <a:off x="5181600" y="2538413"/>
            <a:ext cx="152400" cy="890587"/>
          </a:xfrm>
          <a:custGeom>
            <a:avLst/>
            <a:gdLst>
              <a:gd name="T0" fmla="*/ 0 w 308"/>
              <a:gd name="T1" fmla="*/ 0 h 554"/>
              <a:gd name="T2" fmla="*/ 151905 w 308"/>
              <a:gd name="T3" fmla="*/ 0 h 554"/>
              <a:gd name="T4" fmla="*/ 151905 w 308"/>
              <a:gd name="T5" fmla="*/ 888979 h 554"/>
              <a:gd name="T6" fmla="*/ 0 w 308"/>
              <a:gd name="T7" fmla="*/ 888979 h 554"/>
              <a:gd name="T8" fmla="*/ 0 w 308"/>
              <a:gd name="T9" fmla="*/ 0 h 5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554"/>
              <a:gd name="T17" fmla="*/ 308 w 308"/>
              <a:gd name="T18" fmla="*/ 554 h 55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554">
                <a:moveTo>
                  <a:pt x="0" y="0"/>
                </a:moveTo>
                <a:lnTo>
                  <a:pt x="307" y="0"/>
                </a:lnTo>
                <a:lnTo>
                  <a:pt x="307" y="553"/>
                </a:lnTo>
                <a:lnTo>
                  <a:pt x="0" y="553"/>
                </a:lnTo>
                <a:lnTo>
                  <a:pt x="0" y="0"/>
                </a:lnTo>
              </a:path>
            </a:pathLst>
          </a:custGeom>
          <a:solidFill>
            <a:schemeClr val="bg2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78890" name="Freeform 9"/>
          <p:cNvSpPr>
            <a:spLocks/>
          </p:cNvSpPr>
          <p:nvPr/>
        </p:nvSpPr>
        <p:spPr bwMode="auto">
          <a:xfrm>
            <a:off x="5715000" y="2895600"/>
            <a:ext cx="152400" cy="533400"/>
          </a:xfrm>
          <a:custGeom>
            <a:avLst/>
            <a:gdLst>
              <a:gd name="T0" fmla="*/ 0 w 306"/>
              <a:gd name="T1" fmla="*/ 0 h 306"/>
              <a:gd name="T2" fmla="*/ 151902 w 306"/>
              <a:gd name="T3" fmla="*/ 0 h 306"/>
              <a:gd name="T4" fmla="*/ 151902 w 306"/>
              <a:gd name="T5" fmla="*/ 531657 h 306"/>
              <a:gd name="T6" fmla="*/ 0 w 306"/>
              <a:gd name="T7" fmla="*/ 531657 h 306"/>
              <a:gd name="T8" fmla="*/ 0 w 306"/>
              <a:gd name="T9" fmla="*/ 0 h 3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306"/>
              <a:gd name="T17" fmla="*/ 306 w 306"/>
              <a:gd name="T18" fmla="*/ 306 h 3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306">
                <a:moveTo>
                  <a:pt x="0" y="0"/>
                </a:moveTo>
                <a:lnTo>
                  <a:pt x="305" y="0"/>
                </a:lnTo>
                <a:lnTo>
                  <a:pt x="305" y="305"/>
                </a:lnTo>
                <a:lnTo>
                  <a:pt x="0" y="305"/>
                </a:lnTo>
                <a:lnTo>
                  <a:pt x="0" y="0"/>
                </a:lnTo>
              </a:path>
            </a:pathLst>
          </a:custGeom>
          <a:solidFill>
            <a:schemeClr val="bg2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78891" name="Freeform 10"/>
          <p:cNvSpPr>
            <a:spLocks/>
          </p:cNvSpPr>
          <p:nvPr/>
        </p:nvSpPr>
        <p:spPr bwMode="auto">
          <a:xfrm>
            <a:off x="6172200" y="3276600"/>
            <a:ext cx="152400" cy="152400"/>
          </a:xfrm>
          <a:custGeom>
            <a:avLst/>
            <a:gdLst>
              <a:gd name="T0" fmla="*/ 0 w 308"/>
              <a:gd name="T1" fmla="*/ 0 h 78"/>
              <a:gd name="T2" fmla="*/ 151905 w 308"/>
              <a:gd name="T3" fmla="*/ 0 h 78"/>
              <a:gd name="T4" fmla="*/ 151905 w 308"/>
              <a:gd name="T5" fmla="*/ 150446 h 78"/>
              <a:gd name="T6" fmla="*/ 0 w 308"/>
              <a:gd name="T7" fmla="*/ 150446 h 78"/>
              <a:gd name="T8" fmla="*/ 0 w 308"/>
              <a:gd name="T9" fmla="*/ 0 h 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78"/>
              <a:gd name="T17" fmla="*/ 308 w 308"/>
              <a:gd name="T18" fmla="*/ 78 h 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78">
                <a:moveTo>
                  <a:pt x="0" y="0"/>
                </a:moveTo>
                <a:lnTo>
                  <a:pt x="307" y="0"/>
                </a:lnTo>
                <a:lnTo>
                  <a:pt x="307" y="77"/>
                </a:lnTo>
                <a:lnTo>
                  <a:pt x="0" y="77"/>
                </a:lnTo>
                <a:lnTo>
                  <a:pt x="0" y="0"/>
                </a:lnTo>
              </a:path>
            </a:pathLst>
          </a:custGeom>
          <a:solidFill>
            <a:schemeClr val="bg2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78892" name="Freeform 11"/>
          <p:cNvSpPr>
            <a:spLocks/>
          </p:cNvSpPr>
          <p:nvPr/>
        </p:nvSpPr>
        <p:spPr bwMode="auto">
          <a:xfrm>
            <a:off x="6705600" y="3352800"/>
            <a:ext cx="152400" cy="74613"/>
          </a:xfrm>
          <a:custGeom>
            <a:avLst/>
            <a:gdLst>
              <a:gd name="T0" fmla="*/ 0 w 308"/>
              <a:gd name="T1" fmla="*/ 0 h 20"/>
              <a:gd name="T2" fmla="*/ 151905 w 308"/>
              <a:gd name="T3" fmla="*/ 0 h 20"/>
              <a:gd name="T4" fmla="*/ 151905 w 308"/>
              <a:gd name="T5" fmla="*/ 70882 h 20"/>
              <a:gd name="T6" fmla="*/ 0 w 308"/>
              <a:gd name="T7" fmla="*/ 70882 h 20"/>
              <a:gd name="T8" fmla="*/ 0 w 308"/>
              <a:gd name="T9" fmla="*/ 0 h 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0"/>
              <a:gd name="T17" fmla="*/ 308 w 308"/>
              <a:gd name="T18" fmla="*/ 20 h 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0">
                <a:moveTo>
                  <a:pt x="0" y="0"/>
                </a:moveTo>
                <a:lnTo>
                  <a:pt x="307" y="0"/>
                </a:lnTo>
                <a:lnTo>
                  <a:pt x="307" y="19"/>
                </a:lnTo>
                <a:lnTo>
                  <a:pt x="0" y="19"/>
                </a:lnTo>
                <a:lnTo>
                  <a:pt x="0" y="0"/>
                </a:lnTo>
              </a:path>
            </a:pathLst>
          </a:custGeom>
          <a:solidFill>
            <a:schemeClr val="bg2"/>
          </a:solidFill>
          <a:ln w="12700" cap="rnd">
            <a:noFill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78893" name="Line 12"/>
          <p:cNvSpPr>
            <a:spLocks noChangeShapeType="1"/>
          </p:cNvSpPr>
          <p:nvPr/>
        </p:nvSpPr>
        <p:spPr bwMode="auto">
          <a:xfrm>
            <a:off x="5048250" y="2690813"/>
            <a:ext cx="0" cy="5794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894" name="Line 13"/>
          <p:cNvSpPr>
            <a:spLocks noChangeShapeType="1"/>
          </p:cNvSpPr>
          <p:nvPr/>
        </p:nvSpPr>
        <p:spPr bwMode="auto">
          <a:xfrm>
            <a:off x="5014913" y="3416300"/>
            <a:ext cx="1587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895" name="Line 14"/>
          <p:cNvSpPr>
            <a:spLocks noChangeShapeType="1"/>
          </p:cNvSpPr>
          <p:nvPr/>
        </p:nvSpPr>
        <p:spPr bwMode="auto">
          <a:xfrm>
            <a:off x="5014913" y="3114675"/>
            <a:ext cx="1587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896" name="Line 15"/>
          <p:cNvSpPr>
            <a:spLocks noChangeShapeType="1"/>
          </p:cNvSpPr>
          <p:nvPr/>
        </p:nvSpPr>
        <p:spPr bwMode="auto">
          <a:xfrm>
            <a:off x="5014913" y="2809875"/>
            <a:ext cx="1587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897" name="Line 16"/>
          <p:cNvSpPr>
            <a:spLocks noChangeShapeType="1"/>
          </p:cNvSpPr>
          <p:nvPr/>
        </p:nvSpPr>
        <p:spPr bwMode="auto">
          <a:xfrm>
            <a:off x="5014913" y="2508250"/>
            <a:ext cx="1587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898" name="Line 17"/>
          <p:cNvSpPr>
            <a:spLocks noChangeShapeType="1"/>
          </p:cNvSpPr>
          <p:nvPr/>
        </p:nvSpPr>
        <p:spPr bwMode="auto">
          <a:xfrm>
            <a:off x="5257800" y="3429000"/>
            <a:ext cx="2589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899" name="Line 18"/>
          <p:cNvSpPr>
            <a:spLocks noChangeShapeType="1"/>
          </p:cNvSpPr>
          <p:nvPr/>
        </p:nvSpPr>
        <p:spPr bwMode="auto">
          <a:xfrm flipV="1">
            <a:off x="5048250" y="3289300"/>
            <a:ext cx="0" cy="328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00" name="Line 19"/>
          <p:cNvSpPr>
            <a:spLocks noChangeShapeType="1"/>
          </p:cNvSpPr>
          <p:nvPr/>
        </p:nvSpPr>
        <p:spPr bwMode="auto">
          <a:xfrm flipV="1">
            <a:off x="5535613" y="3289300"/>
            <a:ext cx="0" cy="328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01" name="Line 20"/>
          <p:cNvSpPr>
            <a:spLocks noChangeShapeType="1"/>
          </p:cNvSpPr>
          <p:nvPr/>
        </p:nvSpPr>
        <p:spPr bwMode="auto">
          <a:xfrm flipV="1">
            <a:off x="6019800" y="3289300"/>
            <a:ext cx="0" cy="328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02" name="Line 21"/>
          <p:cNvSpPr>
            <a:spLocks noChangeShapeType="1"/>
          </p:cNvSpPr>
          <p:nvPr/>
        </p:nvSpPr>
        <p:spPr bwMode="auto">
          <a:xfrm flipV="1">
            <a:off x="6507163" y="3289300"/>
            <a:ext cx="0" cy="328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03" name="Line 22"/>
          <p:cNvSpPr>
            <a:spLocks noChangeShapeType="1"/>
          </p:cNvSpPr>
          <p:nvPr/>
        </p:nvSpPr>
        <p:spPr bwMode="auto">
          <a:xfrm flipV="1">
            <a:off x="6994525" y="3289300"/>
            <a:ext cx="0" cy="328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04" name="Line 23"/>
          <p:cNvSpPr>
            <a:spLocks noChangeShapeType="1"/>
          </p:cNvSpPr>
          <p:nvPr/>
        </p:nvSpPr>
        <p:spPr bwMode="auto">
          <a:xfrm flipV="1">
            <a:off x="7478713" y="3289300"/>
            <a:ext cx="0" cy="328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05" name="Rectangle 24"/>
          <p:cNvSpPr>
            <a:spLocks noChangeArrowheads="1"/>
          </p:cNvSpPr>
          <p:nvPr/>
        </p:nvSpPr>
        <p:spPr bwMode="auto">
          <a:xfrm>
            <a:off x="4586288" y="3241675"/>
            <a:ext cx="3714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 0</a:t>
            </a:r>
          </a:p>
        </p:txBody>
      </p:sp>
      <p:sp>
        <p:nvSpPr>
          <p:cNvPr id="378906" name="Rectangle 25"/>
          <p:cNvSpPr>
            <a:spLocks noChangeArrowheads="1"/>
          </p:cNvSpPr>
          <p:nvPr/>
        </p:nvSpPr>
        <p:spPr bwMode="auto">
          <a:xfrm>
            <a:off x="4586288" y="2940050"/>
            <a:ext cx="3714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.2</a:t>
            </a:r>
          </a:p>
        </p:txBody>
      </p:sp>
      <p:sp>
        <p:nvSpPr>
          <p:cNvPr id="378907" name="Rectangle 26"/>
          <p:cNvSpPr>
            <a:spLocks noChangeArrowheads="1"/>
          </p:cNvSpPr>
          <p:nvPr/>
        </p:nvSpPr>
        <p:spPr bwMode="auto">
          <a:xfrm>
            <a:off x="4586288" y="2635250"/>
            <a:ext cx="3714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.4</a:t>
            </a:r>
          </a:p>
        </p:txBody>
      </p:sp>
      <p:sp>
        <p:nvSpPr>
          <p:cNvPr id="378908" name="Rectangle 27"/>
          <p:cNvSpPr>
            <a:spLocks noChangeArrowheads="1"/>
          </p:cNvSpPr>
          <p:nvPr/>
        </p:nvSpPr>
        <p:spPr bwMode="auto">
          <a:xfrm>
            <a:off x="4586288" y="2333625"/>
            <a:ext cx="3714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.6</a:t>
            </a:r>
          </a:p>
        </p:txBody>
      </p:sp>
      <p:sp>
        <p:nvSpPr>
          <p:cNvPr id="378909" name="Rectangle 28"/>
          <p:cNvSpPr>
            <a:spLocks noChangeArrowheads="1"/>
          </p:cNvSpPr>
          <p:nvPr/>
        </p:nvSpPr>
        <p:spPr bwMode="auto">
          <a:xfrm>
            <a:off x="5137150" y="3584575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0</a:t>
            </a:r>
          </a:p>
        </p:txBody>
      </p:sp>
      <p:sp>
        <p:nvSpPr>
          <p:cNvPr id="378910" name="Rectangle 29"/>
          <p:cNvSpPr>
            <a:spLocks noChangeArrowheads="1"/>
          </p:cNvSpPr>
          <p:nvPr/>
        </p:nvSpPr>
        <p:spPr bwMode="auto">
          <a:xfrm>
            <a:off x="5638800" y="3581400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1</a:t>
            </a:r>
          </a:p>
        </p:txBody>
      </p:sp>
      <p:sp>
        <p:nvSpPr>
          <p:cNvPr id="378911" name="Rectangle 30"/>
          <p:cNvSpPr>
            <a:spLocks noChangeArrowheads="1"/>
          </p:cNvSpPr>
          <p:nvPr/>
        </p:nvSpPr>
        <p:spPr bwMode="auto">
          <a:xfrm>
            <a:off x="6108700" y="3584575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2</a:t>
            </a:r>
          </a:p>
        </p:txBody>
      </p:sp>
      <p:sp>
        <p:nvSpPr>
          <p:cNvPr id="378912" name="Rectangle 31"/>
          <p:cNvSpPr>
            <a:spLocks noChangeArrowheads="1"/>
          </p:cNvSpPr>
          <p:nvPr/>
        </p:nvSpPr>
        <p:spPr bwMode="auto">
          <a:xfrm>
            <a:off x="6596063" y="3584575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3</a:t>
            </a:r>
          </a:p>
        </p:txBody>
      </p:sp>
      <p:sp>
        <p:nvSpPr>
          <p:cNvPr id="378913" name="Rectangle 32"/>
          <p:cNvSpPr>
            <a:spLocks noChangeArrowheads="1"/>
          </p:cNvSpPr>
          <p:nvPr/>
        </p:nvSpPr>
        <p:spPr bwMode="auto">
          <a:xfrm>
            <a:off x="7083425" y="3584575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4</a:t>
            </a:r>
          </a:p>
        </p:txBody>
      </p:sp>
      <p:sp>
        <p:nvSpPr>
          <p:cNvPr id="378914" name="Rectangle 33"/>
          <p:cNvSpPr>
            <a:spLocks noChangeArrowheads="1"/>
          </p:cNvSpPr>
          <p:nvPr/>
        </p:nvSpPr>
        <p:spPr bwMode="auto">
          <a:xfrm>
            <a:off x="7569200" y="3584575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5</a:t>
            </a:r>
          </a:p>
        </p:txBody>
      </p:sp>
      <p:sp>
        <p:nvSpPr>
          <p:cNvPr id="378915" name="Rectangle 34"/>
          <p:cNvSpPr>
            <a:spLocks noChangeArrowheads="1"/>
          </p:cNvSpPr>
          <p:nvPr/>
        </p:nvSpPr>
        <p:spPr bwMode="auto">
          <a:xfrm>
            <a:off x="8001000" y="3581400"/>
            <a:ext cx="3111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x</a:t>
            </a:r>
          </a:p>
        </p:txBody>
      </p:sp>
      <p:sp>
        <p:nvSpPr>
          <p:cNvPr id="378916" name="Rectangle 35"/>
          <p:cNvSpPr>
            <a:spLocks noChangeArrowheads="1"/>
          </p:cNvSpPr>
          <p:nvPr/>
        </p:nvSpPr>
        <p:spPr bwMode="auto">
          <a:xfrm>
            <a:off x="4914900" y="2057400"/>
            <a:ext cx="1462088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>
                <a:latin typeface="Times New Roman" pitchFamily="18" charset="0"/>
              </a:rPr>
              <a:t>P(X=x|5, 0.1)</a:t>
            </a:r>
          </a:p>
        </p:txBody>
      </p:sp>
      <p:sp>
        <p:nvSpPr>
          <p:cNvPr id="378917" name="Rectangle 36"/>
          <p:cNvSpPr>
            <a:spLocks noChangeArrowheads="1"/>
          </p:cNvSpPr>
          <p:nvPr/>
        </p:nvSpPr>
        <p:spPr bwMode="auto">
          <a:xfrm>
            <a:off x="4572000" y="4267200"/>
            <a:ext cx="3841750" cy="1981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78918" name="Line 38"/>
          <p:cNvSpPr>
            <a:spLocks noChangeShapeType="1"/>
          </p:cNvSpPr>
          <p:nvPr/>
        </p:nvSpPr>
        <p:spPr bwMode="auto">
          <a:xfrm>
            <a:off x="5229225" y="5387975"/>
            <a:ext cx="25923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19" name="Line 39"/>
          <p:cNvSpPr>
            <a:spLocks noChangeShapeType="1"/>
          </p:cNvSpPr>
          <p:nvPr/>
        </p:nvSpPr>
        <p:spPr bwMode="auto">
          <a:xfrm>
            <a:off x="5229225" y="5083175"/>
            <a:ext cx="25923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20" name="Line 40"/>
          <p:cNvSpPr>
            <a:spLocks noChangeShapeType="1"/>
          </p:cNvSpPr>
          <p:nvPr/>
        </p:nvSpPr>
        <p:spPr bwMode="auto">
          <a:xfrm>
            <a:off x="5229225" y="4779963"/>
            <a:ext cx="25923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21" name="Freeform 41"/>
          <p:cNvSpPr>
            <a:spLocks/>
          </p:cNvSpPr>
          <p:nvPr/>
        </p:nvSpPr>
        <p:spPr bwMode="auto">
          <a:xfrm>
            <a:off x="5257800" y="5638800"/>
            <a:ext cx="152400" cy="74613"/>
          </a:xfrm>
          <a:custGeom>
            <a:avLst/>
            <a:gdLst>
              <a:gd name="T0" fmla="*/ 0 w 308"/>
              <a:gd name="T1" fmla="*/ 0 h 30"/>
              <a:gd name="T2" fmla="*/ 151905 w 308"/>
              <a:gd name="T3" fmla="*/ 0 h 30"/>
              <a:gd name="T4" fmla="*/ 151905 w 308"/>
              <a:gd name="T5" fmla="*/ 72126 h 30"/>
              <a:gd name="T6" fmla="*/ 0 w 308"/>
              <a:gd name="T7" fmla="*/ 72126 h 30"/>
              <a:gd name="T8" fmla="*/ 0 w 308"/>
              <a:gd name="T9" fmla="*/ 0 h 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30"/>
              <a:gd name="T17" fmla="*/ 308 w 308"/>
              <a:gd name="T18" fmla="*/ 30 h 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30">
                <a:moveTo>
                  <a:pt x="0" y="0"/>
                </a:moveTo>
                <a:lnTo>
                  <a:pt x="307" y="0"/>
                </a:lnTo>
                <a:lnTo>
                  <a:pt x="307" y="29"/>
                </a:lnTo>
                <a:lnTo>
                  <a:pt x="0" y="29"/>
                </a:lnTo>
                <a:lnTo>
                  <a:pt x="0" y="0"/>
                </a:lnTo>
              </a:path>
            </a:pathLst>
          </a:custGeom>
          <a:solidFill>
            <a:schemeClr val="bg2"/>
          </a:solidFill>
          <a:ln w="12700" cap="rnd">
            <a:noFill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78922" name="Freeform 42"/>
          <p:cNvSpPr>
            <a:spLocks/>
          </p:cNvSpPr>
          <p:nvPr/>
        </p:nvSpPr>
        <p:spPr bwMode="auto">
          <a:xfrm>
            <a:off x="5715000" y="5486400"/>
            <a:ext cx="152400" cy="228600"/>
          </a:xfrm>
          <a:custGeom>
            <a:avLst/>
            <a:gdLst>
              <a:gd name="T0" fmla="*/ 0 w 307"/>
              <a:gd name="T1" fmla="*/ 0 h 151"/>
              <a:gd name="T2" fmla="*/ 151904 w 307"/>
              <a:gd name="T3" fmla="*/ 0 h 151"/>
              <a:gd name="T4" fmla="*/ 151904 w 307"/>
              <a:gd name="T5" fmla="*/ 227086 h 151"/>
              <a:gd name="T6" fmla="*/ 0 w 307"/>
              <a:gd name="T7" fmla="*/ 227086 h 151"/>
              <a:gd name="T8" fmla="*/ 0 w 307"/>
              <a:gd name="T9" fmla="*/ 0 h 1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151"/>
              <a:gd name="T17" fmla="*/ 307 w 307"/>
              <a:gd name="T18" fmla="*/ 151 h 1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151">
                <a:moveTo>
                  <a:pt x="0" y="0"/>
                </a:moveTo>
                <a:lnTo>
                  <a:pt x="306" y="0"/>
                </a:lnTo>
                <a:lnTo>
                  <a:pt x="306" y="150"/>
                </a:lnTo>
                <a:lnTo>
                  <a:pt x="0" y="150"/>
                </a:lnTo>
                <a:lnTo>
                  <a:pt x="0" y="0"/>
                </a:lnTo>
              </a:path>
            </a:pathLst>
          </a:custGeom>
          <a:solidFill>
            <a:schemeClr val="bg2"/>
          </a:solidFill>
          <a:ln w="12700" cap="rnd">
            <a:noFill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78923" name="Freeform 43"/>
          <p:cNvSpPr>
            <a:spLocks/>
          </p:cNvSpPr>
          <p:nvPr/>
        </p:nvSpPr>
        <p:spPr bwMode="auto">
          <a:xfrm>
            <a:off x="6172200" y="5257800"/>
            <a:ext cx="152400" cy="457200"/>
          </a:xfrm>
          <a:custGeom>
            <a:avLst/>
            <a:gdLst>
              <a:gd name="T0" fmla="*/ 0 w 308"/>
              <a:gd name="T1" fmla="*/ 0 h 299"/>
              <a:gd name="T2" fmla="*/ 151905 w 308"/>
              <a:gd name="T3" fmla="*/ 0 h 299"/>
              <a:gd name="T4" fmla="*/ 151905 w 308"/>
              <a:gd name="T5" fmla="*/ 455671 h 299"/>
              <a:gd name="T6" fmla="*/ 0 w 308"/>
              <a:gd name="T7" fmla="*/ 455671 h 299"/>
              <a:gd name="T8" fmla="*/ 0 w 308"/>
              <a:gd name="T9" fmla="*/ 0 h 2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99"/>
              <a:gd name="T17" fmla="*/ 308 w 308"/>
              <a:gd name="T18" fmla="*/ 299 h 29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99">
                <a:moveTo>
                  <a:pt x="0" y="0"/>
                </a:moveTo>
                <a:lnTo>
                  <a:pt x="307" y="0"/>
                </a:lnTo>
                <a:lnTo>
                  <a:pt x="307" y="298"/>
                </a:lnTo>
                <a:lnTo>
                  <a:pt x="0" y="298"/>
                </a:lnTo>
                <a:lnTo>
                  <a:pt x="0" y="0"/>
                </a:lnTo>
              </a:path>
            </a:pathLst>
          </a:custGeom>
          <a:solidFill>
            <a:schemeClr val="bg2"/>
          </a:solidFill>
          <a:ln w="12700" cap="rnd">
            <a:noFill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78924" name="Freeform 44"/>
          <p:cNvSpPr>
            <a:spLocks/>
          </p:cNvSpPr>
          <p:nvPr/>
        </p:nvSpPr>
        <p:spPr bwMode="auto">
          <a:xfrm>
            <a:off x="6705600" y="5257800"/>
            <a:ext cx="152400" cy="457200"/>
          </a:xfrm>
          <a:custGeom>
            <a:avLst/>
            <a:gdLst>
              <a:gd name="T0" fmla="*/ 0 w 309"/>
              <a:gd name="T1" fmla="*/ 0 h 299"/>
              <a:gd name="T2" fmla="*/ 151907 w 309"/>
              <a:gd name="T3" fmla="*/ 0 h 299"/>
              <a:gd name="T4" fmla="*/ 151907 w 309"/>
              <a:gd name="T5" fmla="*/ 455671 h 299"/>
              <a:gd name="T6" fmla="*/ 0 w 309"/>
              <a:gd name="T7" fmla="*/ 455671 h 299"/>
              <a:gd name="T8" fmla="*/ 0 w 309"/>
              <a:gd name="T9" fmla="*/ 0 h 2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9"/>
              <a:gd name="T16" fmla="*/ 0 h 299"/>
              <a:gd name="T17" fmla="*/ 309 w 309"/>
              <a:gd name="T18" fmla="*/ 299 h 29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9" h="299">
                <a:moveTo>
                  <a:pt x="0" y="0"/>
                </a:moveTo>
                <a:lnTo>
                  <a:pt x="308" y="0"/>
                </a:lnTo>
                <a:lnTo>
                  <a:pt x="308" y="298"/>
                </a:lnTo>
                <a:lnTo>
                  <a:pt x="0" y="298"/>
                </a:lnTo>
                <a:lnTo>
                  <a:pt x="0" y="0"/>
                </a:lnTo>
              </a:path>
            </a:pathLst>
          </a:custGeom>
          <a:solidFill>
            <a:schemeClr val="bg2"/>
          </a:solidFill>
          <a:ln w="12700" cap="rnd">
            <a:noFill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78925" name="Freeform 45"/>
          <p:cNvSpPr>
            <a:spLocks/>
          </p:cNvSpPr>
          <p:nvPr/>
        </p:nvSpPr>
        <p:spPr bwMode="auto">
          <a:xfrm>
            <a:off x="7162800" y="5410200"/>
            <a:ext cx="152400" cy="304800"/>
          </a:xfrm>
          <a:custGeom>
            <a:avLst/>
            <a:gdLst>
              <a:gd name="T0" fmla="*/ 0 w 306"/>
              <a:gd name="T1" fmla="*/ 0 h 151"/>
              <a:gd name="T2" fmla="*/ 151902 w 306"/>
              <a:gd name="T3" fmla="*/ 0 h 151"/>
              <a:gd name="T4" fmla="*/ 151902 w 306"/>
              <a:gd name="T5" fmla="*/ 302781 h 151"/>
              <a:gd name="T6" fmla="*/ 0 w 306"/>
              <a:gd name="T7" fmla="*/ 302781 h 151"/>
              <a:gd name="T8" fmla="*/ 0 w 306"/>
              <a:gd name="T9" fmla="*/ 0 h 1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151"/>
              <a:gd name="T17" fmla="*/ 306 w 306"/>
              <a:gd name="T18" fmla="*/ 151 h 1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151">
                <a:moveTo>
                  <a:pt x="0" y="0"/>
                </a:moveTo>
                <a:lnTo>
                  <a:pt x="305" y="0"/>
                </a:lnTo>
                <a:lnTo>
                  <a:pt x="305" y="150"/>
                </a:lnTo>
                <a:lnTo>
                  <a:pt x="0" y="150"/>
                </a:lnTo>
                <a:lnTo>
                  <a:pt x="0" y="0"/>
                </a:lnTo>
              </a:path>
            </a:pathLst>
          </a:custGeom>
          <a:solidFill>
            <a:schemeClr val="bg2"/>
          </a:solidFill>
          <a:ln w="12700" cap="rnd">
            <a:noFill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78926" name="Freeform 46"/>
          <p:cNvSpPr>
            <a:spLocks/>
          </p:cNvSpPr>
          <p:nvPr/>
        </p:nvSpPr>
        <p:spPr bwMode="auto">
          <a:xfrm>
            <a:off x="7620000" y="5562600"/>
            <a:ext cx="152400" cy="155575"/>
          </a:xfrm>
          <a:custGeom>
            <a:avLst/>
            <a:gdLst>
              <a:gd name="T0" fmla="*/ 0 w 308"/>
              <a:gd name="T1" fmla="*/ 0 h 30"/>
              <a:gd name="T2" fmla="*/ 151905 w 308"/>
              <a:gd name="T3" fmla="*/ 0 h 30"/>
              <a:gd name="T4" fmla="*/ 151905 w 308"/>
              <a:gd name="T5" fmla="*/ 150389 h 30"/>
              <a:gd name="T6" fmla="*/ 0 w 308"/>
              <a:gd name="T7" fmla="*/ 150389 h 30"/>
              <a:gd name="T8" fmla="*/ 0 w 308"/>
              <a:gd name="T9" fmla="*/ 0 h 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30"/>
              <a:gd name="T17" fmla="*/ 308 w 308"/>
              <a:gd name="T18" fmla="*/ 30 h 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30">
                <a:moveTo>
                  <a:pt x="0" y="0"/>
                </a:moveTo>
                <a:lnTo>
                  <a:pt x="307" y="0"/>
                </a:lnTo>
                <a:lnTo>
                  <a:pt x="307" y="29"/>
                </a:lnTo>
                <a:lnTo>
                  <a:pt x="0" y="29"/>
                </a:lnTo>
                <a:lnTo>
                  <a:pt x="0" y="0"/>
                </a:lnTo>
              </a:path>
            </a:pathLst>
          </a:custGeom>
          <a:solidFill>
            <a:schemeClr val="bg2"/>
          </a:solidFill>
          <a:ln w="12700" cap="rnd">
            <a:noFill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78927" name="Line 47"/>
          <p:cNvSpPr>
            <a:spLocks noChangeShapeType="1"/>
          </p:cNvSpPr>
          <p:nvPr/>
        </p:nvSpPr>
        <p:spPr bwMode="auto">
          <a:xfrm>
            <a:off x="5046663" y="4962525"/>
            <a:ext cx="0" cy="581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28" name="Line 48"/>
          <p:cNvSpPr>
            <a:spLocks noChangeShapeType="1"/>
          </p:cNvSpPr>
          <p:nvPr/>
        </p:nvSpPr>
        <p:spPr bwMode="auto">
          <a:xfrm>
            <a:off x="5013325" y="5689600"/>
            <a:ext cx="1588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29" name="Line 49"/>
          <p:cNvSpPr>
            <a:spLocks noChangeShapeType="1"/>
          </p:cNvSpPr>
          <p:nvPr/>
        </p:nvSpPr>
        <p:spPr bwMode="auto">
          <a:xfrm>
            <a:off x="5013325" y="5387975"/>
            <a:ext cx="1588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30" name="Line 50"/>
          <p:cNvSpPr>
            <a:spLocks noChangeShapeType="1"/>
          </p:cNvSpPr>
          <p:nvPr/>
        </p:nvSpPr>
        <p:spPr bwMode="auto">
          <a:xfrm>
            <a:off x="5013325" y="5083175"/>
            <a:ext cx="1588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31" name="Line 51"/>
          <p:cNvSpPr>
            <a:spLocks noChangeShapeType="1"/>
          </p:cNvSpPr>
          <p:nvPr/>
        </p:nvSpPr>
        <p:spPr bwMode="auto">
          <a:xfrm>
            <a:off x="5013325" y="4779963"/>
            <a:ext cx="1588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32" name="Line 52"/>
          <p:cNvSpPr>
            <a:spLocks noChangeShapeType="1"/>
          </p:cNvSpPr>
          <p:nvPr/>
        </p:nvSpPr>
        <p:spPr bwMode="auto">
          <a:xfrm>
            <a:off x="5257800" y="5715000"/>
            <a:ext cx="2590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33" name="Line 53"/>
          <p:cNvSpPr>
            <a:spLocks noChangeShapeType="1"/>
          </p:cNvSpPr>
          <p:nvPr/>
        </p:nvSpPr>
        <p:spPr bwMode="auto">
          <a:xfrm flipV="1">
            <a:off x="5046663" y="5562600"/>
            <a:ext cx="0" cy="328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34" name="Line 54"/>
          <p:cNvSpPr>
            <a:spLocks noChangeShapeType="1"/>
          </p:cNvSpPr>
          <p:nvPr/>
        </p:nvSpPr>
        <p:spPr bwMode="auto">
          <a:xfrm flipV="1">
            <a:off x="5534025" y="5562600"/>
            <a:ext cx="0" cy="328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35" name="Line 55"/>
          <p:cNvSpPr>
            <a:spLocks noChangeShapeType="1"/>
          </p:cNvSpPr>
          <p:nvPr/>
        </p:nvSpPr>
        <p:spPr bwMode="auto">
          <a:xfrm flipV="1">
            <a:off x="6019800" y="5562600"/>
            <a:ext cx="0" cy="328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36" name="Line 56"/>
          <p:cNvSpPr>
            <a:spLocks noChangeShapeType="1"/>
          </p:cNvSpPr>
          <p:nvPr/>
        </p:nvSpPr>
        <p:spPr bwMode="auto">
          <a:xfrm flipV="1">
            <a:off x="6507163" y="5562600"/>
            <a:ext cx="0" cy="328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37" name="Line 57"/>
          <p:cNvSpPr>
            <a:spLocks noChangeShapeType="1"/>
          </p:cNvSpPr>
          <p:nvPr/>
        </p:nvSpPr>
        <p:spPr bwMode="auto">
          <a:xfrm flipV="1">
            <a:off x="6996113" y="5562600"/>
            <a:ext cx="0" cy="328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38" name="Line 58"/>
          <p:cNvSpPr>
            <a:spLocks noChangeShapeType="1"/>
          </p:cNvSpPr>
          <p:nvPr/>
        </p:nvSpPr>
        <p:spPr bwMode="auto">
          <a:xfrm flipV="1">
            <a:off x="7480300" y="5562600"/>
            <a:ext cx="0" cy="328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39" name="Rectangle 59"/>
          <p:cNvSpPr>
            <a:spLocks noChangeArrowheads="1"/>
          </p:cNvSpPr>
          <p:nvPr/>
        </p:nvSpPr>
        <p:spPr bwMode="auto">
          <a:xfrm>
            <a:off x="4584700" y="5211763"/>
            <a:ext cx="3714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.2</a:t>
            </a:r>
          </a:p>
        </p:txBody>
      </p:sp>
      <p:sp>
        <p:nvSpPr>
          <p:cNvPr id="378940" name="Rectangle 60"/>
          <p:cNvSpPr>
            <a:spLocks noChangeArrowheads="1"/>
          </p:cNvSpPr>
          <p:nvPr/>
        </p:nvSpPr>
        <p:spPr bwMode="auto">
          <a:xfrm>
            <a:off x="4584700" y="4906963"/>
            <a:ext cx="3714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.4</a:t>
            </a:r>
          </a:p>
        </p:txBody>
      </p:sp>
      <p:sp>
        <p:nvSpPr>
          <p:cNvPr id="378941" name="Rectangle 61"/>
          <p:cNvSpPr>
            <a:spLocks noChangeArrowheads="1"/>
          </p:cNvSpPr>
          <p:nvPr/>
        </p:nvSpPr>
        <p:spPr bwMode="auto">
          <a:xfrm>
            <a:off x="4584700" y="4605338"/>
            <a:ext cx="3714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.6</a:t>
            </a:r>
          </a:p>
        </p:txBody>
      </p:sp>
      <p:sp>
        <p:nvSpPr>
          <p:cNvPr id="378942" name="Rectangle 62"/>
          <p:cNvSpPr>
            <a:spLocks noChangeArrowheads="1"/>
          </p:cNvSpPr>
          <p:nvPr/>
        </p:nvSpPr>
        <p:spPr bwMode="auto">
          <a:xfrm>
            <a:off x="5135563" y="5857875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0</a:t>
            </a:r>
          </a:p>
        </p:txBody>
      </p:sp>
      <p:sp>
        <p:nvSpPr>
          <p:cNvPr id="378943" name="Rectangle 63"/>
          <p:cNvSpPr>
            <a:spLocks noChangeArrowheads="1"/>
          </p:cNvSpPr>
          <p:nvPr/>
        </p:nvSpPr>
        <p:spPr bwMode="auto">
          <a:xfrm>
            <a:off x="5624513" y="5857875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1</a:t>
            </a:r>
          </a:p>
        </p:txBody>
      </p:sp>
      <p:sp>
        <p:nvSpPr>
          <p:cNvPr id="378944" name="Rectangle 64"/>
          <p:cNvSpPr>
            <a:spLocks noChangeArrowheads="1"/>
          </p:cNvSpPr>
          <p:nvPr/>
        </p:nvSpPr>
        <p:spPr bwMode="auto">
          <a:xfrm>
            <a:off x="6108700" y="5857875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2</a:t>
            </a:r>
          </a:p>
        </p:txBody>
      </p:sp>
      <p:sp>
        <p:nvSpPr>
          <p:cNvPr id="378945" name="Rectangle 65"/>
          <p:cNvSpPr>
            <a:spLocks noChangeArrowheads="1"/>
          </p:cNvSpPr>
          <p:nvPr/>
        </p:nvSpPr>
        <p:spPr bwMode="auto">
          <a:xfrm>
            <a:off x="6597650" y="5857875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3</a:t>
            </a:r>
          </a:p>
        </p:txBody>
      </p:sp>
      <p:sp>
        <p:nvSpPr>
          <p:cNvPr id="378946" name="Rectangle 66"/>
          <p:cNvSpPr>
            <a:spLocks noChangeArrowheads="1"/>
          </p:cNvSpPr>
          <p:nvPr/>
        </p:nvSpPr>
        <p:spPr bwMode="auto">
          <a:xfrm>
            <a:off x="7085013" y="5857875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4</a:t>
            </a:r>
          </a:p>
        </p:txBody>
      </p:sp>
      <p:sp>
        <p:nvSpPr>
          <p:cNvPr id="378947" name="Rectangle 67"/>
          <p:cNvSpPr>
            <a:spLocks noChangeArrowheads="1"/>
          </p:cNvSpPr>
          <p:nvPr/>
        </p:nvSpPr>
        <p:spPr bwMode="auto">
          <a:xfrm>
            <a:off x="7543800" y="5867400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5</a:t>
            </a:r>
          </a:p>
        </p:txBody>
      </p:sp>
      <p:sp>
        <p:nvSpPr>
          <p:cNvPr id="378948" name="Rectangle 68"/>
          <p:cNvSpPr>
            <a:spLocks noChangeArrowheads="1"/>
          </p:cNvSpPr>
          <p:nvPr/>
        </p:nvSpPr>
        <p:spPr bwMode="auto">
          <a:xfrm>
            <a:off x="8001000" y="5867400"/>
            <a:ext cx="3111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x</a:t>
            </a:r>
          </a:p>
        </p:txBody>
      </p:sp>
      <p:sp>
        <p:nvSpPr>
          <p:cNvPr id="378949" name="Rectangle 69"/>
          <p:cNvSpPr>
            <a:spLocks noChangeArrowheads="1"/>
          </p:cNvSpPr>
          <p:nvPr/>
        </p:nvSpPr>
        <p:spPr bwMode="auto">
          <a:xfrm>
            <a:off x="4838700" y="4329113"/>
            <a:ext cx="1462088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>
                <a:latin typeface="Times New Roman" pitchFamily="18" charset="0"/>
              </a:rPr>
              <a:t>P(X=x|5, 0.5)</a:t>
            </a:r>
          </a:p>
        </p:txBody>
      </p:sp>
      <p:sp>
        <p:nvSpPr>
          <p:cNvPr id="378950" name="Rectangle 70"/>
          <p:cNvSpPr>
            <a:spLocks noChangeArrowheads="1"/>
          </p:cNvSpPr>
          <p:nvPr/>
        </p:nvSpPr>
        <p:spPr bwMode="auto">
          <a:xfrm>
            <a:off x="4638675" y="5530850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0</a:t>
            </a:r>
          </a:p>
        </p:txBody>
      </p:sp>
      <p:sp>
        <p:nvSpPr>
          <p:cNvPr id="378951" name="Rectangle 71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828800"/>
            <a:ext cx="3886200" cy="114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smtClean="0"/>
              <a:t>The shape of the binomial distribution depends on the values of </a:t>
            </a:r>
            <a:r>
              <a:rPr lang="el-GR" sz="2400" smtClean="0">
                <a:cs typeface="Arial" charset="0"/>
              </a:rPr>
              <a:t>π</a:t>
            </a:r>
            <a:r>
              <a:rPr lang="en-US" sz="2400" smtClean="0"/>
              <a:t> and n</a:t>
            </a:r>
          </a:p>
        </p:txBody>
      </p:sp>
      <p:sp>
        <p:nvSpPr>
          <p:cNvPr id="378952" name="Rectangle 72"/>
          <p:cNvSpPr>
            <a:spLocks noChangeArrowheads="1"/>
          </p:cNvSpPr>
          <p:nvPr/>
        </p:nvSpPr>
        <p:spPr bwMode="auto">
          <a:xfrm>
            <a:off x="457200" y="3276600"/>
            <a:ext cx="3962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/>
          <a:lstStyle/>
          <a:p>
            <a:pPr marL="320675" indent="-320675" defTabSz="852488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400"/>
              <a:t>Here, n = 5 and </a:t>
            </a:r>
            <a:r>
              <a:rPr lang="el-GR" sz="2400">
                <a:cs typeface="Arial" charset="0"/>
              </a:rPr>
              <a:t>π</a:t>
            </a:r>
            <a:r>
              <a:rPr lang="en-US" sz="2400"/>
              <a:t> = .1</a:t>
            </a:r>
          </a:p>
        </p:txBody>
      </p:sp>
      <p:sp>
        <p:nvSpPr>
          <p:cNvPr id="378953" name="Rectangle 73"/>
          <p:cNvSpPr>
            <a:spLocks noChangeArrowheads="1"/>
          </p:cNvSpPr>
          <p:nvPr/>
        </p:nvSpPr>
        <p:spPr bwMode="auto">
          <a:xfrm>
            <a:off x="533400" y="5105400"/>
            <a:ext cx="3581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/>
          <a:lstStyle/>
          <a:p>
            <a:pPr marL="320675" indent="-320675" defTabSz="852488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400"/>
              <a:t>Here, n = 5 and </a:t>
            </a:r>
            <a:r>
              <a:rPr lang="el-GR" sz="2400">
                <a:cs typeface="Arial" charset="0"/>
              </a:rPr>
              <a:t>π</a:t>
            </a:r>
            <a:r>
              <a:rPr lang="en-US" sz="2400"/>
              <a:t> = .5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848788C9-9EE2-42F9-865A-DE1F9A519363}" type="slidenum">
              <a:rPr lang="en-US" smtClean="0"/>
              <a:pPr/>
              <a:t>32</a:t>
            </a:fld>
            <a:endParaRPr lang="en-US" smtClean="0"/>
          </a:p>
        </p:txBody>
      </p:sp>
      <p:sp>
        <p:nvSpPr>
          <p:cNvPr id="379906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7990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645A14B6-B946-4307-99C9-FFCB9EF79BBE}" type="slidenum">
              <a:rPr lang="en-US" sz="1000"/>
              <a:pPr algn="r" defTabSz="852488"/>
              <a:t>32</a:t>
            </a:fld>
            <a:endParaRPr lang="en-US" sz="1000"/>
          </a:p>
        </p:txBody>
      </p:sp>
      <p:sp>
        <p:nvSpPr>
          <p:cNvPr id="37990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81000"/>
            <a:ext cx="8077200" cy="990600"/>
          </a:xfrm>
        </p:spPr>
        <p:txBody>
          <a:bodyPr/>
          <a:lstStyle/>
          <a:p>
            <a:pPr eaLnBrk="1" hangingPunct="1"/>
            <a:r>
              <a:rPr lang="en-US" sz="3600" smtClean="0"/>
              <a:t>The Binomial Distribution Using Binomial Tables (Available On Line)</a:t>
            </a:r>
          </a:p>
        </p:txBody>
      </p:sp>
      <p:graphicFrame>
        <p:nvGraphicFramePr>
          <p:cNvPr id="364600" name="Group 56"/>
          <p:cNvGraphicFramePr>
            <a:graphicFrameLocks noGrp="1"/>
          </p:cNvGraphicFramePr>
          <p:nvPr>
            <p:ph idx="1"/>
          </p:nvPr>
        </p:nvGraphicFramePr>
        <p:xfrm>
          <a:off x="1981200" y="1600200"/>
          <a:ext cx="6477000" cy="36576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  <a:gridCol w="647700"/>
                <a:gridCol w="647700"/>
                <a:gridCol w="647700"/>
                <a:gridCol w="685800"/>
                <a:gridCol w="609600"/>
              </a:tblGrid>
              <a:tr h="296863">
                <a:tc gridSpan="10"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n = 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95275"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π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=.20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π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=.25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π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=.30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π</a:t>
                      </a: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=.35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π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=.40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π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=.45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π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=.50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</a:tr>
              <a:tr h="2674938"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5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6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7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8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9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…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…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…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…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…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…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…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…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…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…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0.1074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0.2684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0.3020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0.2013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0.0881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0.0264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0.0055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0.0008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0.0001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0.0000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0.0563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0.1877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0.2816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0.2503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0.1460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0.0584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0.0162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0.0031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0.0004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0.0000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0.0282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0.1211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0.2335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0.2668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0.2001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0.1029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0.0368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0.0090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0.0014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0.0001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0.0135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0.0725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0.1757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0.2522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0.2377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0.1536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0.0689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0.0212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0.0043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0.0005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0.0060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0.0403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0.1209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0.2150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0.2508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0.2007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0.1115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0.0425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0.0106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0.0016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0.0025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0.0207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0.0763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0.1665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0.2384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0.2340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0.1596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0.0746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0.0229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0.0042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0.0010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0.0098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0.0439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0.1172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0.2051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0.2461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0.2051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0.1172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0.0439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0.0098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10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9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8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7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6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5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π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=.80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π</a:t>
                      </a: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=.75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π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=.70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π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=.65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π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=.60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π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=.55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π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=.50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</a:tr>
            </a:tbl>
          </a:graphicData>
        </a:graphic>
      </p:graphicFrame>
      <p:sp>
        <p:nvSpPr>
          <p:cNvPr id="379957" name="Text Box 51"/>
          <p:cNvSpPr txBox="1">
            <a:spLocks noChangeArrowheads="1"/>
          </p:cNvSpPr>
          <p:nvPr/>
        </p:nvSpPr>
        <p:spPr bwMode="auto">
          <a:xfrm>
            <a:off x="304800" y="5105400"/>
            <a:ext cx="7086600" cy="13112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Examples:  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sz="2000">
                <a:latin typeface="Times New Roman" pitchFamily="18" charset="0"/>
              </a:rPr>
              <a:t>n = 10, </a:t>
            </a:r>
            <a:r>
              <a:rPr lang="el-GR" sz="2000">
                <a:cs typeface="Arial" charset="0"/>
              </a:rPr>
              <a:t>π</a:t>
            </a:r>
            <a:r>
              <a:rPr lang="en-US" sz="2000">
                <a:latin typeface="Times New Roman" pitchFamily="18" charset="0"/>
              </a:rPr>
              <a:t> = 0.35, x = 3:       P(X = 3|10, 0.35) = 0.2522</a:t>
            </a:r>
          </a:p>
          <a:p>
            <a:pPr>
              <a:spcBef>
                <a:spcPct val="50000"/>
              </a:spcBef>
            </a:pPr>
            <a:r>
              <a:rPr lang="en-US" sz="2000">
                <a:latin typeface="Times New Roman" pitchFamily="18" charset="0"/>
              </a:rPr>
              <a:t>n = 10, </a:t>
            </a:r>
            <a:r>
              <a:rPr lang="el-GR" sz="2000">
                <a:cs typeface="Arial" charset="0"/>
              </a:rPr>
              <a:t>π</a:t>
            </a:r>
            <a:r>
              <a:rPr lang="en-US" sz="2000">
                <a:latin typeface="Times New Roman" pitchFamily="18" charset="0"/>
              </a:rPr>
              <a:t> = 0.75, x = 8:       P(X = 2|10, 0.75) = 0.0004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6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BFEC497D-BF32-455B-965A-AC37895D45F2}" type="slidenum">
              <a:rPr lang="en-US" smtClean="0"/>
              <a:pPr/>
              <a:t>33</a:t>
            </a:fld>
            <a:endParaRPr lang="en-US" smtClean="0"/>
          </a:p>
        </p:txBody>
      </p:sp>
      <p:sp>
        <p:nvSpPr>
          <p:cNvPr id="283657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283658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5B85F9D1-B696-492D-A92D-B890B3D009BF}" type="slidenum">
              <a:rPr lang="en-US" sz="1000"/>
              <a:pPr algn="r" defTabSz="852488"/>
              <a:t>33</a:t>
            </a:fld>
            <a:endParaRPr lang="en-US" sz="1000"/>
          </a:p>
        </p:txBody>
      </p:sp>
      <p:sp>
        <p:nvSpPr>
          <p:cNvPr id="283659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793038" cy="114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mtClean="0"/>
              <a:t>Binomial Distribution Characteristics</a:t>
            </a:r>
          </a:p>
        </p:txBody>
      </p:sp>
      <p:sp>
        <p:nvSpPr>
          <p:cNvPr id="283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912938"/>
            <a:ext cx="1828800" cy="839787"/>
          </a:xfrm>
        </p:spPr>
        <p:txBody>
          <a:bodyPr/>
          <a:lstStyle/>
          <a:p>
            <a:pPr eaLnBrk="1" hangingPunct="1"/>
            <a:r>
              <a:rPr lang="en-US" smtClean="0"/>
              <a:t>Mean</a:t>
            </a:r>
          </a:p>
          <a:p>
            <a:pPr lvl="1" eaLnBrk="1" hangingPunct="1">
              <a:buFont typeface="Wingdings" pitchFamily="2" charset="2"/>
              <a:buNone/>
            </a:pPr>
            <a:endParaRPr lang="en-US" smtClean="0"/>
          </a:p>
        </p:txBody>
      </p:sp>
      <p:sp>
        <p:nvSpPr>
          <p:cNvPr id="283661" name="Rectangle 4"/>
          <p:cNvSpPr>
            <a:spLocks noChangeArrowheads="1"/>
          </p:cNvSpPr>
          <p:nvPr/>
        </p:nvSpPr>
        <p:spPr bwMode="auto">
          <a:xfrm>
            <a:off x="914400" y="2971800"/>
            <a:ext cx="5943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/>
          <a:lstStyle/>
          <a:p>
            <a:pPr marL="320675" indent="-320675" defTabSz="852488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800"/>
              <a:t>Variance and Standard Deviation</a:t>
            </a:r>
          </a:p>
        </p:txBody>
      </p:sp>
      <p:graphicFrame>
        <p:nvGraphicFramePr>
          <p:cNvPr id="283653" name="Object 5"/>
          <p:cNvGraphicFramePr>
            <a:graphicFrameLocks noChangeAspect="1"/>
          </p:cNvGraphicFramePr>
          <p:nvPr/>
        </p:nvGraphicFramePr>
        <p:xfrm>
          <a:off x="3160713" y="2133600"/>
          <a:ext cx="2898775" cy="635000"/>
        </p:xfrm>
        <a:graphic>
          <a:graphicData uri="http://schemas.openxmlformats.org/presentationml/2006/ole">
            <p:oleObj spid="_x0000_s283653" name="Equation" r:id="rId3" imgW="927000" imgH="203040" progId="Equation.3">
              <p:embed/>
            </p:oleObj>
          </a:graphicData>
        </a:graphic>
      </p:graphicFrame>
      <p:graphicFrame>
        <p:nvGraphicFramePr>
          <p:cNvPr id="283654" name="Object 6"/>
          <p:cNvGraphicFramePr>
            <a:graphicFrameLocks noChangeAspect="1"/>
          </p:cNvGraphicFramePr>
          <p:nvPr/>
        </p:nvGraphicFramePr>
        <p:xfrm>
          <a:off x="3124200" y="3551238"/>
          <a:ext cx="3049588" cy="850900"/>
        </p:xfrm>
        <a:graphic>
          <a:graphicData uri="http://schemas.openxmlformats.org/presentationml/2006/ole">
            <p:oleObj spid="_x0000_s283654" name="Equation" r:id="rId4" imgW="1091880" imgH="304560" progId="Equation.3">
              <p:embed/>
            </p:oleObj>
          </a:graphicData>
        </a:graphic>
      </p:graphicFrame>
      <p:graphicFrame>
        <p:nvGraphicFramePr>
          <p:cNvPr id="283655" name="Object 7"/>
          <p:cNvGraphicFramePr>
            <a:graphicFrameLocks noChangeAspect="1"/>
          </p:cNvGraphicFramePr>
          <p:nvPr/>
        </p:nvGraphicFramePr>
        <p:xfrm>
          <a:off x="3124200" y="4495800"/>
          <a:ext cx="3157538" cy="814388"/>
        </p:xfrm>
        <a:graphic>
          <a:graphicData uri="http://schemas.openxmlformats.org/presentationml/2006/ole">
            <p:oleObj spid="_x0000_s283655" name="Equation" r:id="rId5" imgW="1130040" imgH="291960" progId="Equation.3">
              <p:embed/>
            </p:oleObj>
          </a:graphicData>
        </a:graphic>
      </p:graphicFrame>
      <p:sp>
        <p:nvSpPr>
          <p:cNvPr id="283662" name="Rectangle 8"/>
          <p:cNvSpPr>
            <a:spLocks noChangeArrowheads="1"/>
          </p:cNvSpPr>
          <p:nvPr/>
        </p:nvSpPr>
        <p:spPr bwMode="auto">
          <a:xfrm>
            <a:off x="1066800" y="5334000"/>
            <a:ext cx="6324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/>
          <a:lstStyle/>
          <a:p>
            <a:pPr marL="320675" indent="-320675" defTabSz="852488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700"/>
              <a:t>Where	n = sample size</a:t>
            </a:r>
          </a:p>
          <a:p>
            <a:pPr marL="320675" indent="-320675" defTabSz="852488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700"/>
              <a:t>		</a:t>
            </a:r>
            <a:r>
              <a:rPr lang="el-GR" sz="1700">
                <a:cs typeface="Arial" charset="0"/>
              </a:rPr>
              <a:t>π</a:t>
            </a:r>
            <a:r>
              <a:rPr lang="en-US" sz="1700"/>
              <a:t> = probability of the event of interest for any trial</a:t>
            </a:r>
          </a:p>
          <a:p>
            <a:pPr marL="320675" indent="-320675" defTabSz="852488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700"/>
              <a:t>		(1 – </a:t>
            </a:r>
            <a:r>
              <a:rPr lang="el-GR" sz="1700">
                <a:cs typeface="Arial" charset="0"/>
              </a:rPr>
              <a:t>π</a:t>
            </a:r>
            <a:r>
              <a:rPr lang="en-US" sz="1700"/>
              <a:t>) = probability of no event of interest for any trial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64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23470B20-9277-4EEE-9F79-587469FD4817}" type="slidenum">
              <a:rPr lang="en-US" smtClean="0"/>
              <a:pPr/>
              <a:t>34</a:t>
            </a:fld>
            <a:endParaRPr lang="en-US" smtClean="0"/>
          </a:p>
        </p:txBody>
      </p:sp>
      <p:sp>
        <p:nvSpPr>
          <p:cNvPr id="365644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6564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C6F80419-FB13-4752-8A2C-5E80E0866452}" type="slidenum">
              <a:rPr lang="en-US" sz="1000"/>
              <a:pPr algn="r" defTabSz="852488"/>
              <a:t>34</a:t>
            </a:fld>
            <a:endParaRPr lang="en-US" sz="1000"/>
          </a:p>
        </p:txBody>
      </p:sp>
      <p:sp>
        <p:nvSpPr>
          <p:cNvPr id="3656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Binomial Distribution</a:t>
            </a:r>
            <a:br>
              <a:rPr lang="en-US" smtClean="0"/>
            </a:br>
            <a:r>
              <a:rPr lang="en-US" smtClean="0"/>
              <a:t>Characteristics</a:t>
            </a:r>
          </a:p>
        </p:txBody>
      </p:sp>
      <p:sp>
        <p:nvSpPr>
          <p:cNvPr id="365647" name="Rectangle 3"/>
          <p:cNvSpPr>
            <a:spLocks noChangeArrowheads="1"/>
          </p:cNvSpPr>
          <p:nvPr/>
        </p:nvSpPr>
        <p:spPr bwMode="auto">
          <a:xfrm>
            <a:off x="4800600" y="1981200"/>
            <a:ext cx="3886200" cy="1981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GB" sz="2400"/>
          </a:p>
        </p:txBody>
      </p:sp>
      <p:sp>
        <p:nvSpPr>
          <p:cNvPr id="365648" name="Line 5"/>
          <p:cNvSpPr>
            <a:spLocks noChangeShapeType="1"/>
          </p:cNvSpPr>
          <p:nvPr/>
        </p:nvSpPr>
        <p:spPr bwMode="auto">
          <a:xfrm>
            <a:off x="5459413" y="3114675"/>
            <a:ext cx="25892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5649" name="Line 6"/>
          <p:cNvSpPr>
            <a:spLocks noChangeShapeType="1"/>
          </p:cNvSpPr>
          <p:nvPr/>
        </p:nvSpPr>
        <p:spPr bwMode="auto">
          <a:xfrm>
            <a:off x="5459413" y="2809875"/>
            <a:ext cx="25892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5650" name="Line 7"/>
          <p:cNvSpPr>
            <a:spLocks noChangeShapeType="1"/>
          </p:cNvSpPr>
          <p:nvPr/>
        </p:nvSpPr>
        <p:spPr bwMode="auto">
          <a:xfrm>
            <a:off x="5459413" y="2508250"/>
            <a:ext cx="25892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5651" name="Freeform 8"/>
          <p:cNvSpPr>
            <a:spLocks/>
          </p:cNvSpPr>
          <p:nvPr/>
        </p:nvSpPr>
        <p:spPr bwMode="auto">
          <a:xfrm>
            <a:off x="5334000" y="2538413"/>
            <a:ext cx="152400" cy="879475"/>
          </a:xfrm>
          <a:custGeom>
            <a:avLst/>
            <a:gdLst>
              <a:gd name="T0" fmla="*/ 0 w 308"/>
              <a:gd name="T1" fmla="*/ 0 h 554"/>
              <a:gd name="T2" fmla="*/ 151905 w 308"/>
              <a:gd name="T3" fmla="*/ 0 h 554"/>
              <a:gd name="T4" fmla="*/ 151905 w 308"/>
              <a:gd name="T5" fmla="*/ 877888 h 554"/>
              <a:gd name="T6" fmla="*/ 0 w 308"/>
              <a:gd name="T7" fmla="*/ 877888 h 554"/>
              <a:gd name="T8" fmla="*/ 0 w 308"/>
              <a:gd name="T9" fmla="*/ 0 h 5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554"/>
              <a:gd name="T17" fmla="*/ 308 w 308"/>
              <a:gd name="T18" fmla="*/ 554 h 55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554">
                <a:moveTo>
                  <a:pt x="0" y="0"/>
                </a:moveTo>
                <a:lnTo>
                  <a:pt x="307" y="0"/>
                </a:lnTo>
                <a:lnTo>
                  <a:pt x="307" y="553"/>
                </a:lnTo>
                <a:lnTo>
                  <a:pt x="0" y="553"/>
                </a:lnTo>
                <a:lnTo>
                  <a:pt x="0" y="0"/>
                </a:lnTo>
              </a:path>
            </a:pathLst>
          </a:custGeom>
          <a:solidFill>
            <a:schemeClr val="bg2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65652" name="Freeform 9"/>
          <p:cNvSpPr>
            <a:spLocks/>
          </p:cNvSpPr>
          <p:nvPr/>
        </p:nvSpPr>
        <p:spPr bwMode="auto">
          <a:xfrm>
            <a:off x="5867400" y="2932113"/>
            <a:ext cx="152400" cy="485775"/>
          </a:xfrm>
          <a:custGeom>
            <a:avLst/>
            <a:gdLst>
              <a:gd name="T0" fmla="*/ 0 w 306"/>
              <a:gd name="T1" fmla="*/ 0 h 306"/>
              <a:gd name="T2" fmla="*/ 151902 w 306"/>
              <a:gd name="T3" fmla="*/ 0 h 306"/>
              <a:gd name="T4" fmla="*/ 151902 w 306"/>
              <a:gd name="T5" fmla="*/ 484188 h 306"/>
              <a:gd name="T6" fmla="*/ 0 w 306"/>
              <a:gd name="T7" fmla="*/ 484188 h 306"/>
              <a:gd name="T8" fmla="*/ 0 w 306"/>
              <a:gd name="T9" fmla="*/ 0 h 3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306"/>
              <a:gd name="T17" fmla="*/ 306 w 306"/>
              <a:gd name="T18" fmla="*/ 306 h 3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306">
                <a:moveTo>
                  <a:pt x="0" y="0"/>
                </a:moveTo>
                <a:lnTo>
                  <a:pt x="305" y="0"/>
                </a:lnTo>
                <a:lnTo>
                  <a:pt x="305" y="305"/>
                </a:lnTo>
                <a:lnTo>
                  <a:pt x="0" y="305"/>
                </a:lnTo>
                <a:lnTo>
                  <a:pt x="0" y="0"/>
                </a:lnTo>
              </a:path>
            </a:pathLst>
          </a:custGeom>
          <a:solidFill>
            <a:schemeClr val="bg2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65653" name="Freeform 10"/>
          <p:cNvSpPr>
            <a:spLocks/>
          </p:cNvSpPr>
          <p:nvPr/>
        </p:nvSpPr>
        <p:spPr bwMode="auto">
          <a:xfrm>
            <a:off x="6324600" y="3276600"/>
            <a:ext cx="152400" cy="152400"/>
          </a:xfrm>
          <a:custGeom>
            <a:avLst/>
            <a:gdLst>
              <a:gd name="T0" fmla="*/ 0 w 308"/>
              <a:gd name="T1" fmla="*/ 0 h 78"/>
              <a:gd name="T2" fmla="*/ 151905 w 308"/>
              <a:gd name="T3" fmla="*/ 0 h 78"/>
              <a:gd name="T4" fmla="*/ 151905 w 308"/>
              <a:gd name="T5" fmla="*/ 150446 h 78"/>
              <a:gd name="T6" fmla="*/ 0 w 308"/>
              <a:gd name="T7" fmla="*/ 150446 h 78"/>
              <a:gd name="T8" fmla="*/ 0 w 308"/>
              <a:gd name="T9" fmla="*/ 0 h 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78"/>
              <a:gd name="T17" fmla="*/ 308 w 308"/>
              <a:gd name="T18" fmla="*/ 78 h 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78">
                <a:moveTo>
                  <a:pt x="0" y="0"/>
                </a:moveTo>
                <a:lnTo>
                  <a:pt x="307" y="0"/>
                </a:lnTo>
                <a:lnTo>
                  <a:pt x="307" y="77"/>
                </a:lnTo>
                <a:lnTo>
                  <a:pt x="0" y="77"/>
                </a:lnTo>
                <a:lnTo>
                  <a:pt x="0" y="0"/>
                </a:lnTo>
              </a:path>
            </a:pathLst>
          </a:custGeom>
          <a:solidFill>
            <a:schemeClr val="bg2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65654" name="Freeform 11"/>
          <p:cNvSpPr>
            <a:spLocks/>
          </p:cNvSpPr>
          <p:nvPr/>
        </p:nvSpPr>
        <p:spPr bwMode="auto">
          <a:xfrm>
            <a:off x="6858000" y="3333750"/>
            <a:ext cx="152400" cy="95250"/>
          </a:xfrm>
          <a:custGeom>
            <a:avLst/>
            <a:gdLst>
              <a:gd name="T0" fmla="*/ 0 w 308"/>
              <a:gd name="T1" fmla="*/ 0 h 20"/>
              <a:gd name="T2" fmla="*/ 151905 w 308"/>
              <a:gd name="T3" fmla="*/ 0 h 20"/>
              <a:gd name="T4" fmla="*/ 151905 w 308"/>
              <a:gd name="T5" fmla="*/ 90488 h 20"/>
              <a:gd name="T6" fmla="*/ 0 w 308"/>
              <a:gd name="T7" fmla="*/ 90488 h 20"/>
              <a:gd name="T8" fmla="*/ 0 w 308"/>
              <a:gd name="T9" fmla="*/ 0 h 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0"/>
              <a:gd name="T17" fmla="*/ 308 w 308"/>
              <a:gd name="T18" fmla="*/ 20 h 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0">
                <a:moveTo>
                  <a:pt x="0" y="0"/>
                </a:moveTo>
                <a:lnTo>
                  <a:pt x="307" y="0"/>
                </a:lnTo>
                <a:lnTo>
                  <a:pt x="307" y="19"/>
                </a:lnTo>
                <a:lnTo>
                  <a:pt x="0" y="19"/>
                </a:lnTo>
                <a:lnTo>
                  <a:pt x="0" y="0"/>
                </a:lnTo>
              </a:path>
            </a:pathLst>
          </a:custGeom>
          <a:solidFill>
            <a:schemeClr val="bg2"/>
          </a:solidFill>
          <a:ln w="12700" cap="rnd">
            <a:noFill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65655" name="Line 12"/>
          <p:cNvSpPr>
            <a:spLocks noChangeShapeType="1"/>
          </p:cNvSpPr>
          <p:nvPr/>
        </p:nvSpPr>
        <p:spPr bwMode="auto">
          <a:xfrm>
            <a:off x="5276850" y="2690813"/>
            <a:ext cx="0" cy="5794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5656" name="Line 13"/>
          <p:cNvSpPr>
            <a:spLocks noChangeShapeType="1"/>
          </p:cNvSpPr>
          <p:nvPr/>
        </p:nvSpPr>
        <p:spPr bwMode="auto">
          <a:xfrm>
            <a:off x="5243513" y="3416300"/>
            <a:ext cx="1587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5657" name="Line 14"/>
          <p:cNvSpPr>
            <a:spLocks noChangeShapeType="1"/>
          </p:cNvSpPr>
          <p:nvPr/>
        </p:nvSpPr>
        <p:spPr bwMode="auto">
          <a:xfrm>
            <a:off x="5243513" y="3114675"/>
            <a:ext cx="1587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5658" name="Line 15"/>
          <p:cNvSpPr>
            <a:spLocks noChangeShapeType="1"/>
          </p:cNvSpPr>
          <p:nvPr/>
        </p:nvSpPr>
        <p:spPr bwMode="auto">
          <a:xfrm>
            <a:off x="5243513" y="2809875"/>
            <a:ext cx="1587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5659" name="Line 16"/>
          <p:cNvSpPr>
            <a:spLocks noChangeShapeType="1"/>
          </p:cNvSpPr>
          <p:nvPr/>
        </p:nvSpPr>
        <p:spPr bwMode="auto">
          <a:xfrm>
            <a:off x="5243513" y="2508250"/>
            <a:ext cx="1587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5660" name="Line 17"/>
          <p:cNvSpPr>
            <a:spLocks noChangeShapeType="1"/>
          </p:cNvSpPr>
          <p:nvPr/>
        </p:nvSpPr>
        <p:spPr bwMode="auto">
          <a:xfrm>
            <a:off x="5486400" y="3429000"/>
            <a:ext cx="2589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5661" name="Line 18"/>
          <p:cNvSpPr>
            <a:spLocks noChangeShapeType="1"/>
          </p:cNvSpPr>
          <p:nvPr/>
        </p:nvSpPr>
        <p:spPr bwMode="auto">
          <a:xfrm flipV="1">
            <a:off x="5276850" y="3289300"/>
            <a:ext cx="0" cy="328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5662" name="Line 19"/>
          <p:cNvSpPr>
            <a:spLocks noChangeShapeType="1"/>
          </p:cNvSpPr>
          <p:nvPr/>
        </p:nvSpPr>
        <p:spPr bwMode="auto">
          <a:xfrm flipV="1">
            <a:off x="5764213" y="3289300"/>
            <a:ext cx="0" cy="328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5663" name="Line 20"/>
          <p:cNvSpPr>
            <a:spLocks noChangeShapeType="1"/>
          </p:cNvSpPr>
          <p:nvPr/>
        </p:nvSpPr>
        <p:spPr bwMode="auto">
          <a:xfrm flipV="1">
            <a:off x="6248400" y="3289300"/>
            <a:ext cx="0" cy="328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5664" name="Line 21"/>
          <p:cNvSpPr>
            <a:spLocks noChangeShapeType="1"/>
          </p:cNvSpPr>
          <p:nvPr/>
        </p:nvSpPr>
        <p:spPr bwMode="auto">
          <a:xfrm flipV="1">
            <a:off x="6735763" y="3289300"/>
            <a:ext cx="0" cy="328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5665" name="Line 22"/>
          <p:cNvSpPr>
            <a:spLocks noChangeShapeType="1"/>
          </p:cNvSpPr>
          <p:nvPr/>
        </p:nvSpPr>
        <p:spPr bwMode="auto">
          <a:xfrm flipV="1">
            <a:off x="7223125" y="3289300"/>
            <a:ext cx="0" cy="328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5666" name="Line 23"/>
          <p:cNvSpPr>
            <a:spLocks noChangeShapeType="1"/>
          </p:cNvSpPr>
          <p:nvPr/>
        </p:nvSpPr>
        <p:spPr bwMode="auto">
          <a:xfrm flipV="1">
            <a:off x="7707313" y="3289300"/>
            <a:ext cx="0" cy="328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5667" name="Rectangle 24"/>
          <p:cNvSpPr>
            <a:spLocks noChangeArrowheads="1"/>
          </p:cNvSpPr>
          <p:nvPr/>
        </p:nvSpPr>
        <p:spPr bwMode="auto">
          <a:xfrm>
            <a:off x="4814888" y="3241675"/>
            <a:ext cx="3714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 0</a:t>
            </a:r>
          </a:p>
        </p:txBody>
      </p:sp>
      <p:sp>
        <p:nvSpPr>
          <p:cNvPr id="365668" name="Rectangle 25"/>
          <p:cNvSpPr>
            <a:spLocks noChangeArrowheads="1"/>
          </p:cNvSpPr>
          <p:nvPr/>
        </p:nvSpPr>
        <p:spPr bwMode="auto">
          <a:xfrm>
            <a:off x="4814888" y="2940050"/>
            <a:ext cx="3714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.2</a:t>
            </a:r>
          </a:p>
        </p:txBody>
      </p:sp>
      <p:sp>
        <p:nvSpPr>
          <p:cNvPr id="365669" name="Rectangle 26"/>
          <p:cNvSpPr>
            <a:spLocks noChangeArrowheads="1"/>
          </p:cNvSpPr>
          <p:nvPr/>
        </p:nvSpPr>
        <p:spPr bwMode="auto">
          <a:xfrm>
            <a:off x="4814888" y="2635250"/>
            <a:ext cx="3714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.4</a:t>
            </a:r>
          </a:p>
        </p:txBody>
      </p:sp>
      <p:sp>
        <p:nvSpPr>
          <p:cNvPr id="365670" name="Rectangle 27"/>
          <p:cNvSpPr>
            <a:spLocks noChangeArrowheads="1"/>
          </p:cNvSpPr>
          <p:nvPr/>
        </p:nvSpPr>
        <p:spPr bwMode="auto">
          <a:xfrm>
            <a:off x="4814888" y="2333625"/>
            <a:ext cx="3714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.6</a:t>
            </a:r>
          </a:p>
        </p:txBody>
      </p:sp>
      <p:sp>
        <p:nvSpPr>
          <p:cNvPr id="365671" name="Rectangle 28"/>
          <p:cNvSpPr>
            <a:spLocks noChangeArrowheads="1"/>
          </p:cNvSpPr>
          <p:nvPr/>
        </p:nvSpPr>
        <p:spPr bwMode="auto">
          <a:xfrm>
            <a:off x="5365750" y="3584575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0</a:t>
            </a:r>
          </a:p>
        </p:txBody>
      </p:sp>
      <p:sp>
        <p:nvSpPr>
          <p:cNvPr id="365672" name="Rectangle 29"/>
          <p:cNvSpPr>
            <a:spLocks noChangeArrowheads="1"/>
          </p:cNvSpPr>
          <p:nvPr/>
        </p:nvSpPr>
        <p:spPr bwMode="auto">
          <a:xfrm>
            <a:off x="5867400" y="3581400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1</a:t>
            </a:r>
          </a:p>
        </p:txBody>
      </p:sp>
      <p:sp>
        <p:nvSpPr>
          <p:cNvPr id="365673" name="Rectangle 30"/>
          <p:cNvSpPr>
            <a:spLocks noChangeArrowheads="1"/>
          </p:cNvSpPr>
          <p:nvPr/>
        </p:nvSpPr>
        <p:spPr bwMode="auto">
          <a:xfrm>
            <a:off x="6337300" y="3584575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2</a:t>
            </a:r>
          </a:p>
        </p:txBody>
      </p:sp>
      <p:sp>
        <p:nvSpPr>
          <p:cNvPr id="365674" name="Rectangle 31"/>
          <p:cNvSpPr>
            <a:spLocks noChangeArrowheads="1"/>
          </p:cNvSpPr>
          <p:nvPr/>
        </p:nvSpPr>
        <p:spPr bwMode="auto">
          <a:xfrm>
            <a:off x="6824663" y="3584575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3</a:t>
            </a:r>
          </a:p>
        </p:txBody>
      </p:sp>
      <p:sp>
        <p:nvSpPr>
          <p:cNvPr id="365675" name="Rectangle 32"/>
          <p:cNvSpPr>
            <a:spLocks noChangeArrowheads="1"/>
          </p:cNvSpPr>
          <p:nvPr/>
        </p:nvSpPr>
        <p:spPr bwMode="auto">
          <a:xfrm>
            <a:off x="7312025" y="3584575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4</a:t>
            </a:r>
          </a:p>
        </p:txBody>
      </p:sp>
      <p:sp>
        <p:nvSpPr>
          <p:cNvPr id="365676" name="Rectangle 33"/>
          <p:cNvSpPr>
            <a:spLocks noChangeArrowheads="1"/>
          </p:cNvSpPr>
          <p:nvPr/>
        </p:nvSpPr>
        <p:spPr bwMode="auto">
          <a:xfrm>
            <a:off x="7797800" y="3584575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5</a:t>
            </a:r>
          </a:p>
        </p:txBody>
      </p:sp>
      <p:sp>
        <p:nvSpPr>
          <p:cNvPr id="365677" name="Rectangle 34"/>
          <p:cNvSpPr>
            <a:spLocks noChangeArrowheads="1"/>
          </p:cNvSpPr>
          <p:nvPr/>
        </p:nvSpPr>
        <p:spPr bwMode="auto">
          <a:xfrm>
            <a:off x="8229600" y="3581400"/>
            <a:ext cx="3111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x</a:t>
            </a:r>
          </a:p>
        </p:txBody>
      </p:sp>
      <p:sp>
        <p:nvSpPr>
          <p:cNvPr id="365678" name="Rectangle 35"/>
          <p:cNvSpPr>
            <a:spLocks noChangeArrowheads="1"/>
          </p:cNvSpPr>
          <p:nvPr/>
        </p:nvSpPr>
        <p:spPr bwMode="auto">
          <a:xfrm>
            <a:off x="5143500" y="2057400"/>
            <a:ext cx="1462088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>
                <a:latin typeface="Times New Roman" pitchFamily="18" charset="0"/>
              </a:rPr>
              <a:t>P(X=x|5, 0.1)</a:t>
            </a:r>
          </a:p>
        </p:txBody>
      </p:sp>
      <p:sp>
        <p:nvSpPr>
          <p:cNvPr id="365679" name="Rectangle 36"/>
          <p:cNvSpPr>
            <a:spLocks noChangeArrowheads="1"/>
          </p:cNvSpPr>
          <p:nvPr/>
        </p:nvSpPr>
        <p:spPr bwMode="auto">
          <a:xfrm>
            <a:off x="4800600" y="4267200"/>
            <a:ext cx="3841750" cy="1981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65680" name="Line 38"/>
          <p:cNvSpPr>
            <a:spLocks noChangeShapeType="1"/>
          </p:cNvSpPr>
          <p:nvPr/>
        </p:nvSpPr>
        <p:spPr bwMode="auto">
          <a:xfrm>
            <a:off x="5457825" y="5387975"/>
            <a:ext cx="25923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5681" name="Line 39"/>
          <p:cNvSpPr>
            <a:spLocks noChangeShapeType="1"/>
          </p:cNvSpPr>
          <p:nvPr/>
        </p:nvSpPr>
        <p:spPr bwMode="auto">
          <a:xfrm>
            <a:off x="5457825" y="5083175"/>
            <a:ext cx="25923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5682" name="Line 40"/>
          <p:cNvSpPr>
            <a:spLocks noChangeShapeType="1"/>
          </p:cNvSpPr>
          <p:nvPr/>
        </p:nvSpPr>
        <p:spPr bwMode="auto">
          <a:xfrm>
            <a:off x="5457825" y="4779963"/>
            <a:ext cx="25923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5683" name="Freeform 41"/>
          <p:cNvSpPr>
            <a:spLocks/>
          </p:cNvSpPr>
          <p:nvPr/>
        </p:nvSpPr>
        <p:spPr bwMode="auto">
          <a:xfrm>
            <a:off x="5410200" y="5562600"/>
            <a:ext cx="152400" cy="152400"/>
          </a:xfrm>
          <a:custGeom>
            <a:avLst/>
            <a:gdLst>
              <a:gd name="T0" fmla="*/ 0 w 308"/>
              <a:gd name="T1" fmla="*/ 0 h 30"/>
              <a:gd name="T2" fmla="*/ 151905 w 308"/>
              <a:gd name="T3" fmla="*/ 0 h 30"/>
              <a:gd name="T4" fmla="*/ 151905 w 308"/>
              <a:gd name="T5" fmla="*/ 147320 h 30"/>
              <a:gd name="T6" fmla="*/ 0 w 308"/>
              <a:gd name="T7" fmla="*/ 147320 h 30"/>
              <a:gd name="T8" fmla="*/ 0 w 308"/>
              <a:gd name="T9" fmla="*/ 0 h 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30"/>
              <a:gd name="T17" fmla="*/ 308 w 308"/>
              <a:gd name="T18" fmla="*/ 30 h 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30">
                <a:moveTo>
                  <a:pt x="0" y="0"/>
                </a:moveTo>
                <a:lnTo>
                  <a:pt x="307" y="0"/>
                </a:lnTo>
                <a:lnTo>
                  <a:pt x="307" y="29"/>
                </a:lnTo>
                <a:lnTo>
                  <a:pt x="0" y="29"/>
                </a:lnTo>
                <a:lnTo>
                  <a:pt x="0" y="0"/>
                </a:lnTo>
              </a:path>
            </a:pathLst>
          </a:custGeom>
          <a:solidFill>
            <a:schemeClr val="bg2"/>
          </a:solidFill>
          <a:ln w="12700" cap="rnd">
            <a:noFill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65684" name="Freeform 42"/>
          <p:cNvSpPr>
            <a:spLocks/>
          </p:cNvSpPr>
          <p:nvPr/>
        </p:nvSpPr>
        <p:spPr bwMode="auto">
          <a:xfrm>
            <a:off x="5867400" y="5451475"/>
            <a:ext cx="152400" cy="263525"/>
          </a:xfrm>
          <a:custGeom>
            <a:avLst/>
            <a:gdLst>
              <a:gd name="T0" fmla="*/ 0 w 307"/>
              <a:gd name="T1" fmla="*/ 0 h 151"/>
              <a:gd name="T2" fmla="*/ 151904 w 307"/>
              <a:gd name="T3" fmla="*/ 0 h 151"/>
              <a:gd name="T4" fmla="*/ 151904 w 307"/>
              <a:gd name="T5" fmla="*/ 261780 h 151"/>
              <a:gd name="T6" fmla="*/ 0 w 307"/>
              <a:gd name="T7" fmla="*/ 261780 h 151"/>
              <a:gd name="T8" fmla="*/ 0 w 307"/>
              <a:gd name="T9" fmla="*/ 0 h 1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151"/>
              <a:gd name="T17" fmla="*/ 307 w 307"/>
              <a:gd name="T18" fmla="*/ 151 h 1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151">
                <a:moveTo>
                  <a:pt x="0" y="0"/>
                </a:moveTo>
                <a:lnTo>
                  <a:pt x="306" y="0"/>
                </a:lnTo>
                <a:lnTo>
                  <a:pt x="306" y="150"/>
                </a:lnTo>
                <a:lnTo>
                  <a:pt x="0" y="150"/>
                </a:lnTo>
                <a:lnTo>
                  <a:pt x="0" y="0"/>
                </a:lnTo>
              </a:path>
            </a:pathLst>
          </a:custGeom>
          <a:solidFill>
            <a:schemeClr val="bg2"/>
          </a:solidFill>
          <a:ln w="12700" cap="rnd">
            <a:noFill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65685" name="Freeform 43"/>
          <p:cNvSpPr>
            <a:spLocks/>
          </p:cNvSpPr>
          <p:nvPr/>
        </p:nvSpPr>
        <p:spPr bwMode="auto">
          <a:xfrm>
            <a:off x="6324600" y="5216525"/>
            <a:ext cx="152400" cy="498475"/>
          </a:xfrm>
          <a:custGeom>
            <a:avLst/>
            <a:gdLst>
              <a:gd name="T0" fmla="*/ 0 w 308"/>
              <a:gd name="T1" fmla="*/ 0 h 299"/>
              <a:gd name="T2" fmla="*/ 151905 w 308"/>
              <a:gd name="T3" fmla="*/ 0 h 299"/>
              <a:gd name="T4" fmla="*/ 151905 w 308"/>
              <a:gd name="T5" fmla="*/ 496808 h 299"/>
              <a:gd name="T6" fmla="*/ 0 w 308"/>
              <a:gd name="T7" fmla="*/ 496808 h 299"/>
              <a:gd name="T8" fmla="*/ 0 w 308"/>
              <a:gd name="T9" fmla="*/ 0 h 2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99"/>
              <a:gd name="T17" fmla="*/ 308 w 308"/>
              <a:gd name="T18" fmla="*/ 299 h 29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99">
                <a:moveTo>
                  <a:pt x="0" y="0"/>
                </a:moveTo>
                <a:lnTo>
                  <a:pt x="307" y="0"/>
                </a:lnTo>
                <a:lnTo>
                  <a:pt x="307" y="298"/>
                </a:lnTo>
                <a:lnTo>
                  <a:pt x="0" y="298"/>
                </a:lnTo>
                <a:lnTo>
                  <a:pt x="0" y="0"/>
                </a:lnTo>
              </a:path>
            </a:pathLst>
          </a:custGeom>
          <a:solidFill>
            <a:schemeClr val="bg2"/>
          </a:solidFill>
          <a:ln w="12700" cap="rnd">
            <a:noFill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65686" name="Freeform 44"/>
          <p:cNvSpPr>
            <a:spLocks/>
          </p:cNvSpPr>
          <p:nvPr/>
        </p:nvSpPr>
        <p:spPr bwMode="auto">
          <a:xfrm>
            <a:off x="6858000" y="5216525"/>
            <a:ext cx="152400" cy="498475"/>
          </a:xfrm>
          <a:custGeom>
            <a:avLst/>
            <a:gdLst>
              <a:gd name="T0" fmla="*/ 0 w 309"/>
              <a:gd name="T1" fmla="*/ 0 h 299"/>
              <a:gd name="T2" fmla="*/ 151907 w 309"/>
              <a:gd name="T3" fmla="*/ 0 h 299"/>
              <a:gd name="T4" fmla="*/ 151907 w 309"/>
              <a:gd name="T5" fmla="*/ 496808 h 299"/>
              <a:gd name="T6" fmla="*/ 0 w 309"/>
              <a:gd name="T7" fmla="*/ 496808 h 299"/>
              <a:gd name="T8" fmla="*/ 0 w 309"/>
              <a:gd name="T9" fmla="*/ 0 h 2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9"/>
              <a:gd name="T16" fmla="*/ 0 h 299"/>
              <a:gd name="T17" fmla="*/ 309 w 309"/>
              <a:gd name="T18" fmla="*/ 299 h 29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9" h="299">
                <a:moveTo>
                  <a:pt x="0" y="0"/>
                </a:moveTo>
                <a:lnTo>
                  <a:pt x="308" y="0"/>
                </a:lnTo>
                <a:lnTo>
                  <a:pt x="308" y="298"/>
                </a:lnTo>
                <a:lnTo>
                  <a:pt x="0" y="298"/>
                </a:lnTo>
                <a:lnTo>
                  <a:pt x="0" y="0"/>
                </a:lnTo>
              </a:path>
            </a:pathLst>
          </a:custGeom>
          <a:solidFill>
            <a:schemeClr val="bg2"/>
          </a:solidFill>
          <a:ln w="12700" cap="rnd">
            <a:noFill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65687" name="Freeform 45"/>
          <p:cNvSpPr>
            <a:spLocks/>
          </p:cNvSpPr>
          <p:nvPr/>
        </p:nvSpPr>
        <p:spPr bwMode="auto">
          <a:xfrm>
            <a:off x="7315200" y="5451475"/>
            <a:ext cx="152400" cy="263525"/>
          </a:xfrm>
          <a:custGeom>
            <a:avLst/>
            <a:gdLst>
              <a:gd name="T0" fmla="*/ 0 w 306"/>
              <a:gd name="T1" fmla="*/ 0 h 151"/>
              <a:gd name="T2" fmla="*/ 151902 w 306"/>
              <a:gd name="T3" fmla="*/ 0 h 151"/>
              <a:gd name="T4" fmla="*/ 151902 w 306"/>
              <a:gd name="T5" fmla="*/ 261780 h 151"/>
              <a:gd name="T6" fmla="*/ 0 w 306"/>
              <a:gd name="T7" fmla="*/ 261780 h 151"/>
              <a:gd name="T8" fmla="*/ 0 w 306"/>
              <a:gd name="T9" fmla="*/ 0 h 1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151"/>
              <a:gd name="T17" fmla="*/ 306 w 306"/>
              <a:gd name="T18" fmla="*/ 151 h 1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151">
                <a:moveTo>
                  <a:pt x="0" y="0"/>
                </a:moveTo>
                <a:lnTo>
                  <a:pt x="305" y="0"/>
                </a:lnTo>
                <a:lnTo>
                  <a:pt x="305" y="150"/>
                </a:lnTo>
                <a:lnTo>
                  <a:pt x="0" y="150"/>
                </a:lnTo>
                <a:lnTo>
                  <a:pt x="0" y="0"/>
                </a:lnTo>
              </a:path>
            </a:pathLst>
          </a:custGeom>
          <a:solidFill>
            <a:schemeClr val="bg2"/>
          </a:solidFill>
          <a:ln w="12700" cap="rnd">
            <a:noFill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65688" name="Freeform 46"/>
          <p:cNvSpPr>
            <a:spLocks/>
          </p:cNvSpPr>
          <p:nvPr/>
        </p:nvSpPr>
        <p:spPr bwMode="auto">
          <a:xfrm>
            <a:off x="7848600" y="5638800"/>
            <a:ext cx="152400" cy="76200"/>
          </a:xfrm>
          <a:custGeom>
            <a:avLst/>
            <a:gdLst>
              <a:gd name="T0" fmla="*/ 0 w 308"/>
              <a:gd name="T1" fmla="*/ 0 h 30"/>
              <a:gd name="T2" fmla="*/ 151905 w 308"/>
              <a:gd name="T3" fmla="*/ 0 h 30"/>
              <a:gd name="T4" fmla="*/ 151905 w 308"/>
              <a:gd name="T5" fmla="*/ 73660 h 30"/>
              <a:gd name="T6" fmla="*/ 0 w 308"/>
              <a:gd name="T7" fmla="*/ 73660 h 30"/>
              <a:gd name="T8" fmla="*/ 0 w 308"/>
              <a:gd name="T9" fmla="*/ 0 h 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30"/>
              <a:gd name="T17" fmla="*/ 308 w 308"/>
              <a:gd name="T18" fmla="*/ 30 h 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30">
                <a:moveTo>
                  <a:pt x="0" y="0"/>
                </a:moveTo>
                <a:lnTo>
                  <a:pt x="307" y="0"/>
                </a:lnTo>
                <a:lnTo>
                  <a:pt x="307" y="29"/>
                </a:lnTo>
                <a:lnTo>
                  <a:pt x="0" y="29"/>
                </a:lnTo>
                <a:lnTo>
                  <a:pt x="0" y="0"/>
                </a:lnTo>
              </a:path>
            </a:pathLst>
          </a:custGeom>
          <a:solidFill>
            <a:schemeClr val="bg2"/>
          </a:solidFill>
          <a:ln w="12700" cap="rnd">
            <a:noFill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65689" name="Line 47"/>
          <p:cNvSpPr>
            <a:spLocks noChangeShapeType="1"/>
          </p:cNvSpPr>
          <p:nvPr/>
        </p:nvSpPr>
        <p:spPr bwMode="auto">
          <a:xfrm>
            <a:off x="5275263" y="4962525"/>
            <a:ext cx="0" cy="581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5690" name="Line 48"/>
          <p:cNvSpPr>
            <a:spLocks noChangeShapeType="1"/>
          </p:cNvSpPr>
          <p:nvPr/>
        </p:nvSpPr>
        <p:spPr bwMode="auto">
          <a:xfrm>
            <a:off x="5241925" y="5689600"/>
            <a:ext cx="1588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5691" name="Line 49"/>
          <p:cNvSpPr>
            <a:spLocks noChangeShapeType="1"/>
          </p:cNvSpPr>
          <p:nvPr/>
        </p:nvSpPr>
        <p:spPr bwMode="auto">
          <a:xfrm>
            <a:off x="5241925" y="5387975"/>
            <a:ext cx="1588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5692" name="Line 50"/>
          <p:cNvSpPr>
            <a:spLocks noChangeShapeType="1"/>
          </p:cNvSpPr>
          <p:nvPr/>
        </p:nvSpPr>
        <p:spPr bwMode="auto">
          <a:xfrm>
            <a:off x="5241925" y="5083175"/>
            <a:ext cx="1588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5693" name="Line 51"/>
          <p:cNvSpPr>
            <a:spLocks noChangeShapeType="1"/>
          </p:cNvSpPr>
          <p:nvPr/>
        </p:nvSpPr>
        <p:spPr bwMode="auto">
          <a:xfrm>
            <a:off x="5241925" y="4779963"/>
            <a:ext cx="1588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5694" name="Line 52"/>
          <p:cNvSpPr>
            <a:spLocks noChangeShapeType="1"/>
          </p:cNvSpPr>
          <p:nvPr/>
        </p:nvSpPr>
        <p:spPr bwMode="auto">
          <a:xfrm>
            <a:off x="5486400" y="5715000"/>
            <a:ext cx="25923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5695" name="Line 53"/>
          <p:cNvSpPr>
            <a:spLocks noChangeShapeType="1"/>
          </p:cNvSpPr>
          <p:nvPr/>
        </p:nvSpPr>
        <p:spPr bwMode="auto">
          <a:xfrm flipV="1">
            <a:off x="5275263" y="5562600"/>
            <a:ext cx="0" cy="328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5696" name="Line 54"/>
          <p:cNvSpPr>
            <a:spLocks noChangeShapeType="1"/>
          </p:cNvSpPr>
          <p:nvPr/>
        </p:nvSpPr>
        <p:spPr bwMode="auto">
          <a:xfrm flipV="1">
            <a:off x="5762625" y="5562600"/>
            <a:ext cx="0" cy="328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5697" name="Line 55"/>
          <p:cNvSpPr>
            <a:spLocks noChangeShapeType="1"/>
          </p:cNvSpPr>
          <p:nvPr/>
        </p:nvSpPr>
        <p:spPr bwMode="auto">
          <a:xfrm flipV="1">
            <a:off x="6248400" y="5562600"/>
            <a:ext cx="0" cy="328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5698" name="Line 56"/>
          <p:cNvSpPr>
            <a:spLocks noChangeShapeType="1"/>
          </p:cNvSpPr>
          <p:nvPr/>
        </p:nvSpPr>
        <p:spPr bwMode="auto">
          <a:xfrm flipV="1">
            <a:off x="6735763" y="5562600"/>
            <a:ext cx="0" cy="328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5699" name="Line 57"/>
          <p:cNvSpPr>
            <a:spLocks noChangeShapeType="1"/>
          </p:cNvSpPr>
          <p:nvPr/>
        </p:nvSpPr>
        <p:spPr bwMode="auto">
          <a:xfrm flipV="1">
            <a:off x="7224713" y="5562600"/>
            <a:ext cx="0" cy="328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5700" name="Line 58"/>
          <p:cNvSpPr>
            <a:spLocks noChangeShapeType="1"/>
          </p:cNvSpPr>
          <p:nvPr/>
        </p:nvSpPr>
        <p:spPr bwMode="auto">
          <a:xfrm flipV="1">
            <a:off x="7708900" y="5562600"/>
            <a:ext cx="0" cy="328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5701" name="Rectangle 59"/>
          <p:cNvSpPr>
            <a:spLocks noChangeArrowheads="1"/>
          </p:cNvSpPr>
          <p:nvPr/>
        </p:nvSpPr>
        <p:spPr bwMode="auto">
          <a:xfrm>
            <a:off x="4813300" y="5211763"/>
            <a:ext cx="3714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.2</a:t>
            </a:r>
          </a:p>
        </p:txBody>
      </p:sp>
      <p:sp>
        <p:nvSpPr>
          <p:cNvPr id="365702" name="Rectangle 60"/>
          <p:cNvSpPr>
            <a:spLocks noChangeArrowheads="1"/>
          </p:cNvSpPr>
          <p:nvPr/>
        </p:nvSpPr>
        <p:spPr bwMode="auto">
          <a:xfrm>
            <a:off x="4813300" y="4906963"/>
            <a:ext cx="3714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.4</a:t>
            </a:r>
          </a:p>
        </p:txBody>
      </p:sp>
      <p:sp>
        <p:nvSpPr>
          <p:cNvPr id="365703" name="Rectangle 61"/>
          <p:cNvSpPr>
            <a:spLocks noChangeArrowheads="1"/>
          </p:cNvSpPr>
          <p:nvPr/>
        </p:nvSpPr>
        <p:spPr bwMode="auto">
          <a:xfrm>
            <a:off x="4813300" y="4605338"/>
            <a:ext cx="3714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.6</a:t>
            </a:r>
          </a:p>
        </p:txBody>
      </p:sp>
      <p:sp>
        <p:nvSpPr>
          <p:cNvPr id="365704" name="Rectangle 62"/>
          <p:cNvSpPr>
            <a:spLocks noChangeArrowheads="1"/>
          </p:cNvSpPr>
          <p:nvPr/>
        </p:nvSpPr>
        <p:spPr bwMode="auto">
          <a:xfrm>
            <a:off x="5364163" y="5857875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0</a:t>
            </a:r>
          </a:p>
        </p:txBody>
      </p:sp>
      <p:sp>
        <p:nvSpPr>
          <p:cNvPr id="365705" name="Rectangle 63"/>
          <p:cNvSpPr>
            <a:spLocks noChangeArrowheads="1"/>
          </p:cNvSpPr>
          <p:nvPr/>
        </p:nvSpPr>
        <p:spPr bwMode="auto">
          <a:xfrm>
            <a:off x="5853113" y="5857875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1</a:t>
            </a:r>
          </a:p>
        </p:txBody>
      </p:sp>
      <p:sp>
        <p:nvSpPr>
          <p:cNvPr id="365706" name="Rectangle 64"/>
          <p:cNvSpPr>
            <a:spLocks noChangeArrowheads="1"/>
          </p:cNvSpPr>
          <p:nvPr/>
        </p:nvSpPr>
        <p:spPr bwMode="auto">
          <a:xfrm>
            <a:off x="6337300" y="5857875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2</a:t>
            </a:r>
          </a:p>
        </p:txBody>
      </p:sp>
      <p:sp>
        <p:nvSpPr>
          <p:cNvPr id="365707" name="Rectangle 65"/>
          <p:cNvSpPr>
            <a:spLocks noChangeArrowheads="1"/>
          </p:cNvSpPr>
          <p:nvPr/>
        </p:nvSpPr>
        <p:spPr bwMode="auto">
          <a:xfrm>
            <a:off x="6826250" y="5857875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3</a:t>
            </a:r>
          </a:p>
        </p:txBody>
      </p:sp>
      <p:sp>
        <p:nvSpPr>
          <p:cNvPr id="365708" name="Rectangle 66"/>
          <p:cNvSpPr>
            <a:spLocks noChangeArrowheads="1"/>
          </p:cNvSpPr>
          <p:nvPr/>
        </p:nvSpPr>
        <p:spPr bwMode="auto">
          <a:xfrm>
            <a:off x="7313613" y="5857875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4</a:t>
            </a:r>
          </a:p>
        </p:txBody>
      </p:sp>
      <p:sp>
        <p:nvSpPr>
          <p:cNvPr id="365709" name="Rectangle 67"/>
          <p:cNvSpPr>
            <a:spLocks noChangeArrowheads="1"/>
          </p:cNvSpPr>
          <p:nvPr/>
        </p:nvSpPr>
        <p:spPr bwMode="auto">
          <a:xfrm>
            <a:off x="7772400" y="5867400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5</a:t>
            </a:r>
          </a:p>
        </p:txBody>
      </p:sp>
      <p:sp>
        <p:nvSpPr>
          <p:cNvPr id="365710" name="Rectangle 68"/>
          <p:cNvSpPr>
            <a:spLocks noChangeArrowheads="1"/>
          </p:cNvSpPr>
          <p:nvPr/>
        </p:nvSpPr>
        <p:spPr bwMode="auto">
          <a:xfrm>
            <a:off x="8229600" y="5867400"/>
            <a:ext cx="3111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x</a:t>
            </a:r>
          </a:p>
        </p:txBody>
      </p:sp>
      <p:sp>
        <p:nvSpPr>
          <p:cNvPr id="365711" name="Rectangle 69"/>
          <p:cNvSpPr>
            <a:spLocks noChangeArrowheads="1"/>
          </p:cNvSpPr>
          <p:nvPr/>
        </p:nvSpPr>
        <p:spPr bwMode="auto">
          <a:xfrm>
            <a:off x="5067300" y="4329113"/>
            <a:ext cx="1462088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>
                <a:latin typeface="Times New Roman" pitchFamily="18" charset="0"/>
              </a:rPr>
              <a:t>P(X=x|5, 0.5)</a:t>
            </a:r>
          </a:p>
        </p:txBody>
      </p:sp>
      <p:sp>
        <p:nvSpPr>
          <p:cNvPr id="365712" name="Rectangle 70"/>
          <p:cNvSpPr>
            <a:spLocks noChangeArrowheads="1"/>
          </p:cNvSpPr>
          <p:nvPr/>
        </p:nvSpPr>
        <p:spPr bwMode="auto">
          <a:xfrm>
            <a:off x="4867275" y="5530850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800" b="1"/>
              <a:t>0</a:t>
            </a:r>
          </a:p>
        </p:txBody>
      </p:sp>
      <p:graphicFrame>
        <p:nvGraphicFramePr>
          <p:cNvPr id="365639" name="Object 71"/>
          <p:cNvGraphicFramePr>
            <a:graphicFrameLocks noChangeAspect="1"/>
          </p:cNvGraphicFramePr>
          <p:nvPr/>
        </p:nvGraphicFramePr>
        <p:xfrm>
          <a:off x="1050925" y="2413000"/>
          <a:ext cx="3173413" cy="461963"/>
        </p:xfrm>
        <a:graphic>
          <a:graphicData uri="http://schemas.openxmlformats.org/presentationml/2006/ole">
            <p:oleObj spid="_x0000_s365639" name="Equation" r:id="rId3" imgW="1562040" imgH="228600" progId="Equation.3">
              <p:embed/>
            </p:oleObj>
          </a:graphicData>
        </a:graphic>
      </p:graphicFrame>
      <p:graphicFrame>
        <p:nvGraphicFramePr>
          <p:cNvPr id="365640" name="Object 72"/>
          <p:cNvGraphicFramePr>
            <a:graphicFrameLocks noChangeAspect="1"/>
          </p:cNvGraphicFramePr>
          <p:nvPr/>
        </p:nvGraphicFramePr>
        <p:xfrm>
          <a:off x="449263" y="2982913"/>
          <a:ext cx="4346575" cy="987425"/>
        </p:xfrm>
        <a:graphic>
          <a:graphicData uri="http://schemas.openxmlformats.org/presentationml/2006/ole">
            <p:oleObj spid="_x0000_s365640" name="Equation" r:id="rId4" imgW="2387520" imgH="545760" progId="Equation.3">
              <p:embed/>
            </p:oleObj>
          </a:graphicData>
        </a:graphic>
      </p:graphicFrame>
      <p:graphicFrame>
        <p:nvGraphicFramePr>
          <p:cNvPr id="365641" name="Object 73"/>
          <p:cNvGraphicFramePr>
            <a:graphicFrameLocks noChangeAspect="1"/>
          </p:cNvGraphicFramePr>
          <p:nvPr/>
        </p:nvGraphicFramePr>
        <p:xfrm>
          <a:off x="1111250" y="4624388"/>
          <a:ext cx="3175000" cy="438150"/>
        </p:xfrm>
        <a:graphic>
          <a:graphicData uri="http://schemas.openxmlformats.org/presentationml/2006/ole">
            <p:oleObj spid="_x0000_s365641" name="Equation" r:id="rId5" imgW="1562040" imgH="228600" progId="Equation.3">
              <p:embed/>
            </p:oleObj>
          </a:graphicData>
        </a:graphic>
      </p:graphicFrame>
      <p:graphicFrame>
        <p:nvGraphicFramePr>
          <p:cNvPr id="365642" name="Object 74"/>
          <p:cNvGraphicFramePr>
            <a:graphicFrameLocks noChangeAspect="1"/>
          </p:cNvGraphicFramePr>
          <p:nvPr/>
        </p:nvGraphicFramePr>
        <p:xfrm>
          <a:off x="536575" y="5199063"/>
          <a:ext cx="4208463" cy="957262"/>
        </p:xfrm>
        <a:graphic>
          <a:graphicData uri="http://schemas.openxmlformats.org/presentationml/2006/ole">
            <p:oleObj spid="_x0000_s365642" name="Equation" r:id="rId6" imgW="2387520" imgH="545760" progId="Equation.3">
              <p:embed/>
            </p:oleObj>
          </a:graphicData>
        </a:graphic>
      </p:graphicFrame>
      <p:sp>
        <p:nvSpPr>
          <p:cNvPr id="365713" name="Line 75"/>
          <p:cNvSpPr>
            <a:spLocks noChangeShapeType="1"/>
          </p:cNvSpPr>
          <p:nvPr/>
        </p:nvSpPr>
        <p:spPr bwMode="auto">
          <a:xfrm>
            <a:off x="838200" y="4114800"/>
            <a:ext cx="78486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5714" name="Text Box 76"/>
          <p:cNvSpPr txBox="1">
            <a:spLocks noChangeArrowheads="1"/>
          </p:cNvSpPr>
          <p:nvPr/>
        </p:nvSpPr>
        <p:spPr bwMode="auto">
          <a:xfrm>
            <a:off x="1676400" y="1828800"/>
            <a:ext cx="1981200" cy="4572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Examples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309D4A75-E3FE-467F-A329-E15BC1DFAE88}" type="slidenum">
              <a:rPr lang="en-US" smtClean="0"/>
              <a:pPr/>
              <a:t>35</a:t>
            </a:fld>
            <a:endParaRPr lang="en-US" smtClean="0"/>
          </a:p>
        </p:txBody>
      </p:sp>
      <p:sp>
        <p:nvSpPr>
          <p:cNvPr id="384002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8400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4A490557-D35A-492C-8038-AF128BBE0F4F}" type="slidenum">
              <a:rPr lang="en-US" sz="1000"/>
              <a:pPr algn="r" defTabSz="852488"/>
              <a:t>35</a:t>
            </a:fld>
            <a:endParaRPr lang="en-US" sz="1000"/>
          </a:p>
        </p:txBody>
      </p:sp>
      <p:sp>
        <p:nvSpPr>
          <p:cNvPr id="38400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28600"/>
            <a:ext cx="7612062" cy="990600"/>
          </a:xfrm>
        </p:spPr>
        <p:txBody>
          <a:bodyPr/>
          <a:lstStyle/>
          <a:p>
            <a:pPr eaLnBrk="1" hangingPunct="1"/>
            <a:r>
              <a:rPr lang="en-US" sz="3600" smtClean="0"/>
              <a:t>Using Excel For The</a:t>
            </a:r>
            <a:br>
              <a:rPr lang="en-US" sz="3600" smtClean="0"/>
            </a:br>
            <a:r>
              <a:rPr lang="en-US" sz="3600" smtClean="0"/>
              <a:t>Binomial Distribution (n = 4, </a:t>
            </a:r>
            <a:r>
              <a:rPr lang="el-GR" sz="3600" smtClean="0"/>
              <a:t>π</a:t>
            </a:r>
            <a:r>
              <a:rPr lang="en-US" sz="3600" smtClean="0"/>
              <a:t> = 0.1)</a:t>
            </a:r>
          </a:p>
        </p:txBody>
      </p:sp>
      <p:pic>
        <p:nvPicPr>
          <p:cNvPr id="384005" name="Picture 4" descr="Figure 5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838200" y="1624013"/>
            <a:ext cx="7467600" cy="4840287"/>
          </a:xfrm>
        </p:spPr>
      </p:pic>
      <p:cxnSp>
        <p:nvCxnSpPr>
          <p:cNvPr id="384006" name="Straight Arrow Connector 6"/>
          <p:cNvCxnSpPr>
            <a:cxnSpLocks noChangeShapeType="1"/>
          </p:cNvCxnSpPr>
          <p:nvPr/>
        </p:nvCxnSpPr>
        <p:spPr bwMode="auto">
          <a:xfrm rot="10800000" flipV="1">
            <a:off x="4800600" y="1143000"/>
            <a:ext cx="1828800" cy="16002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med" len="med"/>
          </a:ln>
        </p:spPr>
      </p:cxnSp>
      <p:cxnSp>
        <p:nvCxnSpPr>
          <p:cNvPr id="384007" name="Straight Arrow Connector 7"/>
          <p:cNvCxnSpPr>
            <a:cxnSpLocks noChangeShapeType="1"/>
          </p:cNvCxnSpPr>
          <p:nvPr/>
        </p:nvCxnSpPr>
        <p:spPr bwMode="auto">
          <a:xfrm rot="10800000" flipV="1">
            <a:off x="4876800" y="1143000"/>
            <a:ext cx="3200400" cy="18288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med" len="med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354FDDFA-3FCC-4BDA-960A-D784DC7B6146}" type="slidenum">
              <a:rPr lang="en-US" smtClean="0"/>
              <a:pPr/>
              <a:t>36</a:t>
            </a:fld>
            <a:endParaRPr lang="en-US" smtClean="0"/>
          </a:p>
        </p:txBody>
      </p:sp>
      <p:sp>
        <p:nvSpPr>
          <p:cNvPr id="385026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85027" name="Title 1"/>
          <p:cNvSpPr>
            <a:spLocks noGrp="1"/>
          </p:cNvSpPr>
          <p:nvPr>
            <p:ph type="title"/>
          </p:nvPr>
        </p:nvSpPr>
        <p:spPr>
          <a:xfrm>
            <a:off x="1143000" y="457200"/>
            <a:ext cx="7383463" cy="990600"/>
          </a:xfrm>
        </p:spPr>
        <p:txBody>
          <a:bodyPr/>
          <a:lstStyle/>
          <a:p>
            <a:pPr eaLnBrk="1" hangingPunct="1"/>
            <a:r>
              <a:rPr lang="en-US" smtClean="0"/>
              <a:t>Using Minitab For The Binomial Distribution (n = 4, </a:t>
            </a:r>
            <a:r>
              <a:rPr lang="el-GR" smtClean="0"/>
              <a:t>π</a:t>
            </a:r>
            <a:r>
              <a:rPr lang="en-US" smtClean="0"/>
              <a:t> = 0.1)</a:t>
            </a:r>
          </a:p>
        </p:txBody>
      </p:sp>
      <p:sp>
        <p:nvSpPr>
          <p:cNvPr id="385028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75DA2F88-FD78-4050-8F93-FF62829A8C32}" type="slidenum">
              <a:rPr lang="en-US" sz="1000"/>
              <a:pPr algn="r" defTabSz="852488"/>
              <a:t>36</a:t>
            </a:fld>
            <a:endParaRPr lang="en-US" sz="1000"/>
          </a:p>
        </p:txBody>
      </p:sp>
      <p:pic>
        <p:nvPicPr>
          <p:cNvPr id="385029" name="Picture 2"/>
          <p:cNvPicPr>
            <a:picLocks noChangeAspect="1" noChangeArrowheads="1"/>
          </p:cNvPicPr>
          <p:nvPr/>
        </p:nvPicPr>
        <p:blipFill>
          <a:blip r:embed="rId2"/>
          <a:srcRect r="68750" b="22917"/>
          <a:stretch>
            <a:fillRect/>
          </a:stretch>
        </p:blipFill>
        <p:spPr bwMode="auto">
          <a:xfrm>
            <a:off x="533400" y="1916113"/>
            <a:ext cx="3063875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5030" name="Picture 3"/>
          <p:cNvPicPr>
            <a:picLocks noChangeAspect="1" noChangeArrowheads="1"/>
          </p:cNvPicPr>
          <p:nvPr/>
        </p:nvPicPr>
        <p:blipFill>
          <a:blip r:embed="rId3"/>
          <a:srcRect r="72656" b="31250"/>
          <a:stretch>
            <a:fillRect/>
          </a:stretch>
        </p:blipFill>
        <p:spPr bwMode="auto">
          <a:xfrm>
            <a:off x="5029200" y="1916113"/>
            <a:ext cx="3048000" cy="479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5031" name="Oval 8"/>
          <p:cNvSpPr>
            <a:spLocks noChangeArrowheads="1"/>
          </p:cNvSpPr>
          <p:nvPr/>
        </p:nvSpPr>
        <p:spPr bwMode="auto">
          <a:xfrm>
            <a:off x="1295400" y="56388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sz="1800"/>
              <a:t>1</a:t>
            </a:r>
          </a:p>
        </p:txBody>
      </p:sp>
      <p:sp>
        <p:nvSpPr>
          <p:cNvPr id="385032" name="Oval 9"/>
          <p:cNvSpPr>
            <a:spLocks noChangeArrowheads="1"/>
          </p:cNvSpPr>
          <p:nvPr/>
        </p:nvSpPr>
        <p:spPr bwMode="auto">
          <a:xfrm>
            <a:off x="1143000" y="14478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sz="1800"/>
              <a:t>2</a:t>
            </a:r>
          </a:p>
        </p:txBody>
      </p:sp>
      <p:sp>
        <p:nvSpPr>
          <p:cNvPr id="385033" name="Oval 10"/>
          <p:cNvSpPr>
            <a:spLocks noChangeArrowheads="1"/>
          </p:cNvSpPr>
          <p:nvPr/>
        </p:nvSpPr>
        <p:spPr bwMode="auto">
          <a:xfrm>
            <a:off x="609600" y="32766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sz="1800"/>
              <a:t>3</a:t>
            </a:r>
          </a:p>
        </p:txBody>
      </p:sp>
      <p:sp>
        <p:nvSpPr>
          <p:cNvPr id="385034" name="Oval 11"/>
          <p:cNvSpPr>
            <a:spLocks noChangeArrowheads="1"/>
          </p:cNvSpPr>
          <p:nvPr/>
        </p:nvSpPr>
        <p:spPr bwMode="auto">
          <a:xfrm>
            <a:off x="3276600" y="40386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sz="1800"/>
              <a:t>4</a:t>
            </a:r>
          </a:p>
        </p:txBody>
      </p:sp>
      <p:sp>
        <p:nvSpPr>
          <p:cNvPr id="385035" name="Oval 12"/>
          <p:cNvSpPr>
            <a:spLocks noChangeArrowheads="1"/>
          </p:cNvSpPr>
          <p:nvPr/>
        </p:nvSpPr>
        <p:spPr bwMode="auto">
          <a:xfrm>
            <a:off x="7543800" y="38100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sz="1800"/>
              <a:t>5</a:t>
            </a:r>
          </a:p>
        </p:txBody>
      </p:sp>
      <p:cxnSp>
        <p:nvCxnSpPr>
          <p:cNvPr id="385036" name="Straight Arrow Connector 14"/>
          <p:cNvCxnSpPr>
            <a:cxnSpLocks noChangeShapeType="1"/>
          </p:cNvCxnSpPr>
          <p:nvPr/>
        </p:nvCxnSpPr>
        <p:spPr bwMode="auto">
          <a:xfrm rot="16200000" flipH="1">
            <a:off x="5143500" y="1943100"/>
            <a:ext cx="2286000" cy="1143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med" len="med"/>
          </a:ln>
        </p:spPr>
      </p:cxnSp>
      <p:cxnSp>
        <p:nvCxnSpPr>
          <p:cNvPr id="385037" name="Straight Arrow Connector 16"/>
          <p:cNvCxnSpPr>
            <a:cxnSpLocks noChangeShapeType="1"/>
          </p:cNvCxnSpPr>
          <p:nvPr/>
        </p:nvCxnSpPr>
        <p:spPr bwMode="auto">
          <a:xfrm rot="5400000">
            <a:off x="5943600" y="2514600"/>
            <a:ext cx="2590800" cy="3048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med" len="med"/>
          </a:ln>
        </p:spPr>
      </p:cxnSp>
      <p:cxnSp>
        <p:nvCxnSpPr>
          <p:cNvPr id="385038" name="Straight Arrow Connector 18"/>
          <p:cNvCxnSpPr>
            <a:cxnSpLocks noChangeShapeType="1"/>
          </p:cNvCxnSpPr>
          <p:nvPr/>
        </p:nvCxnSpPr>
        <p:spPr bwMode="auto">
          <a:xfrm rot="5400000" flipH="1" flipV="1">
            <a:off x="5448300" y="4457700"/>
            <a:ext cx="1524000" cy="1143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med" len="med"/>
          </a:ln>
        </p:spPr>
      </p:cxnSp>
      <p:cxnSp>
        <p:nvCxnSpPr>
          <p:cNvPr id="385039" name="Straight Arrow Connector 20"/>
          <p:cNvCxnSpPr>
            <a:cxnSpLocks noChangeShapeType="1"/>
          </p:cNvCxnSpPr>
          <p:nvPr/>
        </p:nvCxnSpPr>
        <p:spPr bwMode="auto">
          <a:xfrm rot="5400000" flipH="1" flipV="1">
            <a:off x="5829300" y="4762500"/>
            <a:ext cx="1295400" cy="7620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4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D41F2451-5A9C-48D9-9EF7-04E0A5964479}" type="slidenum">
              <a:rPr lang="en-US" smtClean="0"/>
              <a:pPr/>
              <a:t>37</a:t>
            </a:fld>
            <a:endParaRPr lang="en-US" smtClean="0"/>
          </a:p>
        </p:txBody>
      </p:sp>
      <p:sp>
        <p:nvSpPr>
          <p:cNvPr id="386050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8605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6CC46240-8A84-4AB1-92DA-E8FDA9E5C442}" type="slidenum">
              <a:rPr lang="en-US" sz="1000"/>
              <a:pPr algn="r" defTabSz="852488"/>
              <a:t>37</a:t>
            </a:fld>
            <a:endParaRPr lang="en-US" sz="1000"/>
          </a:p>
        </p:txBody>
      </p:sp>
      <p:sp>
        <p:nvSpPr>
          <p:cNvPr id="3860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Poisson Distribution</a:t>
            </a:r>
            <a:br>
              <a:rPr lang="en-US" smtClean="0"/>
            </a:br>
            <a:r>
              <a:rPr lang="en-US" smtClean="0"/>
              <a:t>Definitions</a:t>
            </a:r>
          </a:p>
        </p:txBody>
      </p:sp>
      <p:sp>
        <p:nvSpPr>
          <p:cNvPr id="3860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8077200" cy="42799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You use the </a:t>
            </a:r>
            <a:r>
              <a:rPr lang="en-US" b="1" smtClean="0"/>
              <a:t>Poisson distribution</a:t>
            </a:r>
            <a:r>
              <a:rPr lang="en-US" smtClean="0"/>
              <a:t> when you are interested in the number of times an event occurs in a given </a:t>
            </a:r>
            <a:r>
              <a:rPr lang="en-US" b="1" smtClean="0"/>
              <a:t>area of opportunity</a:t>
            </a:r>
            <a:r>
              <a:rPr lang="en-US" smtClean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An </a:t>
            </a:r>
            <a:r>
              <a:rPr lang="en-US" b="1" smtClean="0"/>
              <a:t>area of opportunity </a:t>
            </a:r>
            <a:r>
              <a:rPr lang="en-US" smtClean="0"/>
              <a:t>is a continuous unit or interval of time, volume, or such area in which more than one occurrence of an event can occur.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900" smtClean="0"/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The number of scratches in a car’s paint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The number of mosquito bites on a person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The number of computer crashes in a day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98C9DB14-BBCB-4C88-9E11-F8F4E8C6F545}" type="slidenum">
              <a:rPr lang="en-US" smtClean="0"/>
              <a:pPr/>
              <a:t>38</a:t>
            </a:fld>
            <a:endParaRPr lang="en-US" smtClean="0"/>
          </a:p>
        </p:txBody>
      </p:sp>
      <p:sp>
        <p:nvSpPr>
          <p:cNvPr id="387074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8707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0C106579-B92F-4C31-8F31-48B2FFC0D772}" type="slidenum">
              <a:rPr lang="en-US" sz="1000"/>
              <a:pPr algn="r" defTabSz="852488"/>
              <a:t>38</a:t>
            </a:fld>
            <a:endParaRPr lang="en-US" sz="1000"/>
          </a:p>
        </p:txBody>
      </p:sp>
      <p:sp>
        <p:nvSpPr>
          <p:cNvPr id="38707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28600"/>
            <a:ext cx="7362825" cy="892175"/>
          </a:xfrm>
        </p:spPr>
        <p:txBody>
          <a:bodyPr/>
          <a:lstStyle/>
          <a:p>
            <a:pPr defTabSz="914400" eaLnBrk="1" hangingPunct="1"/>
            <a:r>
              <a:rPr lang="en-US" sz="3600" smtClean="0"/>
              <a:t>The Poisson Distribution</a:t>
            </a:r>
          </a:p>
        </p:txBody>
      </p:sp>
      <p:sp>
        <p:nvSpPr>
          <p:cNvPr id="3870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8229600" cy="4800600"/>
          </a:xfrm>
          <a:solidFill>
            <a:srgbClr val="FFFFFF"/>
          </a:solidFill>
        </p:spPr>
        <p:txBody>
          <a:bodyPr/>
          <a:lstStyle/>
          <a:p>
            <a:pPr marL="342900" indent="-342900" defTabSz="914400" eaLnBrk="1" hangingPunct="1">
              <a:lnSpc>
                <a:spcPct val="90000"/>
              </a:lnSpc>
            </a:pPr>
            <a:r>
              <a:rPr lang="en-US" sz="2700" smtClean="0">
                <a:solidFill>
                  <a:srgbClr val="000000"/>
                </a:solidFill>
              </a:rPr>
              <a:t>Apply the Poisson Distribution when:</a:t>
            </a:r>
          </a:p>
          <a:p>
            <a:pPr marL="742950" lvl="1" indent="-285750" defTabSz="914400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mtClean="0">
                <a:solidFill>
                  <a:schemeClr val="bg2"/>
                </a:solidFill>
                <a:sym typeface="Symbol" pitchFamily="18" charset="2"/>
              </a:rPr>
              <a:t>You wish to count the number of times an event occurs in a given area of opportunity</a:t>
            </a:r>
          </a:p>
          <a:p>
            <a:pPr marL="742950" lvl="1" indent="-285750" defTabSz="914400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mtClean="0">
                <a:solidFill>
                  <a:schemeClr val="bg2"/>
                </a:solidFill>
                <a:sym typeface="Symbol" pitchFamily="18" charset="2"/>
              </a:rPr>
              <a:t>The probability that an event occurs in one area of opportunity is the same for all areas of opportunity</a:t>
            </a:r>
            <a:r>
              <a:rPr lang="en-US" smtClean="0">
                <a:solidFill>
                  <a:schemeClr val="bg2"/>
                </a:solidFill>
              </a:rPr>
              <a:t> </a:t>
            </a:r>
          </a:p>
          <a:p>
            <a:pPr marL="742950" lvl="1" indent="-285750" defTabSz="914400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mtClean="0">
                <a:solidFill>
                  <a:schemeClr val="bg2"/>
                </a:solidFill>
                <a:sym typeface="Symbol" pitchFamily="18" charset="2"/>
              </a:rPr>
              <a:t>The number of events that occur in one area of opportunity is independent of the number of events that occur in the other areas of opportunity</a:t>
            </a:r>
          </a:p>
          <a:p>
            <a:pPr marL="742950" lvl="1" indent="-285750" defTabSz="914400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mtClean="0">
                <a:solidFill>
                  <a:schemeClr val="bg2"/>
                </a:solidFill>
                <a:sym typeface="Symbol" pitchFamily="18" charset="2"/>
              </a:rPr>
              <a:t>The probability that two or more events occur in an area of opportunity approaches zero as the area of opportunity becomes smaller</a:t>
            </a:r>
          </a:p>
          <a:p>
            <a:pPr marL="742950" lvl="1" indent="-285750" defTabSz="914400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mtClean="0">
                <a:solidFill>
                  <a:schemeClr val="bg2"/>
                </a:solidFill>
              </a:rPr>
              <a:t>The </a:t>
            </a:r>
            <a:r>
              <a:rPr lang="en-US" smtClean="0">
                <a:solidFill>
                  <a:schemeClr val="folHlink"/>
                </a:solidFill>
              </a:rPr>
              <a:t>average number of events per unit</a:t>
            </a:r>
            <a:r>
              <a:rPr lang="en-US" smtClean="0">
                <a:solidFill>
                  <a:schemeClr val="bg2"/>
                </a:solidFill>
              </a:rPr>
              <a:t> is </a:t>
            </a:r>
            <a:r>
              <a:rPr lang="en-US" b="1" smtClean="0">
                <a:solidFill>
                  <a:schemeClr val="folHlink"/>
                </a:solidFill>
                <a:sym typeface="Symbol" pitchFamily="18" charset="2"/>
              </a:rPr>
              <a:t> </a:t>
            </a:r>
            <a:r>
              <a:rPr lang="en-US" smtClean="0">
                <a:solidFill>
                  <a:schemeClr val="folHlink"/>
                </a:solidFill>
                <a:sym typeface="Symbol" pitchFamily="18" charset="2"/>
              </a:rPr>
              <a:t>(lambda)</a:t>
            </a:r>
            <a:endParaRPr lang="en-US" smtClean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6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F5A2AA82-3EB4-48AB-9769-702D3D8D21B9}" type="slidenum">
              <a:rPr lang="en-US" smtClean="0"/>
              <a:pPr/>
              <a:t>39</a:t>
            </a:fld>
            <a:endParaRPr lang="en-US" smtClean="0"/>
          </a:p>
        </p:txBody>
      </p:sp>
      <p:sp>
        <p:nvSpPr>
          <p:cNvPr id="326662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2666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B7FAD53A-35D4-418F-845B-A10F96DD558C}" type="slidenum">
              <a:rPr lang="en-US" sz="1000"/>
              <a:pPr algn="r" defTabSz="852488"/>
              <a:t>39</a:t>
            </a:fld>
            <a:endParaRPr lang="en-US" sz="1000"/>
          </a:p>
        </p:txBody>
      </p:sp>
      <p:sp>
        <p:nvSpPr>
          <p:cNvPr id="326664" name="Rectangle 2"/>
          <p:cNvSpPr>
            <a:spLocks noGrp="1" noChangeArrowheads="1"/>
          </p:cNvSpPr>
          <p:nvPr>
            <p:ph type="title"/>
          </p:nvPr>
        </p:nvSpPr>
        <p:spPr>
          <a:xfrm>
            <a:off x="1439863" y="228600"/>
            <a:ext cx="7002462" cy="990600"/>
          </a:xfrm>
        </p:spPr>
        <p:txBody>
          <a:bodyPr/>
          <a:lstStyle/>
          <a:p>
            <a:pPr defTabSz="914400" eaLnBrk="1" hangingPunct="1"/>
            <a:r>
              <a:rPr lang="en-US" sz="3800" smtClean="0"/>
              <a:t>Poisson Distribution Formula</a:t>
            </a:r>
          </a:p>
        </p:txBody>
      </p:sp>
      <p:sp>
        <p:nvSpPr>
          <p:cNvPr id="326665" name="Rectangle 3"/>
          <p:cNvSpPr>
            <a:spLocks noChangeArrowheads="1"/>
          </p:cNvSpPr>
          <p:nvPr/>
        </p:nvSpPr>
        <p:spPr bwMode="auto">
          <a:xfrm>
            <a:off x="1143000" y="3810000"/>
            <a:ext cx="7391400" cy="1600200"/>
          </a:xfrm>
          <a:prstGeom prst="rect">
            <a:avLst/>
          </a:prstGeom>
          <a:solidFill>
            <a:srgbClr val="FFFFFF"/>
          </a:solidFill>
          <a:ln w="2857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2000"/>
              <a:t>where: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2000"/>
              <a:t>	x = number of events in an area of opportunity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2000"/>
              <a:t>	</a:t>
            </a:r>
            <a:r>
              <a:rPr lang="en-US" sz="2000">
                <a:sym typeface="Symbol" pitchFamily="18" charset="2"/>
              </a:rPr>
              <a:t></a:t>
            </a:r>
            <a:r>
              <a:rPr lang="en-US" sz="2000"/>
              <a:t> = expected number of events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2000"/>
              <a:t>	e = base of the natural logarithm system (2.71828...)</a:t>
            </a:r>
            <a:r>
              <a:rPr lang="en-US" sz="2300" baseline="-25000"/>
              <a:t>		</a:t>
            </a:r>
          </a:p>
        </p:txBody>
      </p:sp>
      <p:graphicFrame>
        <p:nvGraphicFramePr>
          <p:cNvPr id="326660" name="Object 4"/>
          <p:cNvGraphicFramePr>
            <a:graphicFrameLocks noChangeAspect="1"/>
          </p:cNvGraphicFramePr>
          <p:nvPr/>
        </p:nvGraphicFramePr>
        <p:xfrm>
          <a:off x="1905000" y="1905000"/>
          <a:ext cx="4594225" cy="1474788"/>
        </p:xfrm>
        <a:graphic>
          <a:graphicData uri="http://schemas.openxmlformats.org/presentationml/2006/ole">
            <p:oleObj spid="_x0000_s326660" name="Equation" r:id="rId3" imgW="1307880" imgH="419040" progId="Equation.3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8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D22F8A13-E7D4-462E-8AF7-26A74DB44145}" type="slidenum">
              <a:rPr lang="en-US" smtClean="0"/>
              <a:pPr/>
              <a:t>40</a:t>
            </a:fld>
            <a:endParaRPr lang="en-US" smtClean="0"/>
          </a:p>
        </p:txBody>
      </p:sp>
      <p:sp>
        <p:nvSpPr>
          <p:cNvPr id="327689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27690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A23F9FFA-8351-4B95-936A-1E525FC8463A}" type="slidenum">
              <a:rPr lang="en-US" sz="1000"/>
              <a:pPr algn="r" defTabSz="852488"/>
              <a:t>40</a:t>
            </a:fld>
            <a:endParaRPr lang="en-US" sz="1000"/>
          </a:p>
        </p:txBody>
      </p:sp>
      <p:sp>
        <p:nvSpPr>
          <p:cNvPr id="327691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793038" cy="114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mtClean="0"/>
              <a:t>Poisson Distribution Characteristics</a:t>
            </a:r>
          </a:p>
        </p:txBody>
      </p:sp>
      <p:sp>
        <p:nvSpPr>
          <p:cNvPr id="3276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912938"/>
            <a:ext cx="1828800" cy="839787"/>
          </a:xfrm>
        </p:spPr>
        <p:txBody>
          <a:bodyPr/>
          <a:lstStyle/>
          <a:p>
            <a:pPr eaLnBrk="1" hangingPunct="1"/>
            <a:r>
              <a:rPr lang="en-US" smtClean="0"/>
              <a:t>Mean</a:t>
            </a:r>
          </a:p>
          <a:p>
            <a:pPr lvl="1" eaLnBrk="1" hangingPunct="1">
              <a:buFont typeface="Wingdings" pitchFamily="2" charset="2"/>
              <a:buNone/>
            </a:pPr>
            <a:endParaRPr lang="en-US" smtClean="0"/>
          </a:p>
        </p:txBody>
      </p:sp>
      <p:sp>
        <p:nvSpPr>
          <p:cNvPr id="327693" name="Rectangle 4"/>
          <p:cNvSpPr>
            <a:spLocks noChangeArrowheads="1"/>
          </p:cNvSpPr>
          <p:nvPr/>
        </p:nvSpPr>
        <p:spPr bwMode="auto">
          <a:xfrm>
            <a:off x="914400" y="2971800"/>
            <a:ext cx="5943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/>
          <a:lstStyle/>
          <a:p>
            <a:pPr marL="320675" indent="-320675" defTabSz="852488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800"/>
              <a:t>Variance and Standard Deviation</a:t>
            </a:r>
          </a:p>
        </p:txBody>
      </p:sp>
      <p:graphicFrame>
        <p:nvGraphicFramePr>
          <p:cNvPr id="327685" name="Object 5"/>
          <p:cNvGraphicFramePr>
            <a:graphicFrameLocks noChangeAspect="1"/>
          </p:cNvGraphicFramePr>
          <p:nvPr/>
        </p:nvGraphicFramePr>
        <p:xfrm>
          <a:off x="4117975" y="2133600"/>
          <a:ext cx="1112838" cy="635000"/>
        </p:xfrm>
        <a:graphic>
          <a:graphicData uri="http://schemas.openxmlformats.org/presentationml/2006/ole">
            <p:oleObj spid="_x0000_s327685" name="Equation" r:id="rId3" imgW="355320" imgH="203040" progId="Equation.3">
              <p:embed/>
            </p:oleObj>
          </a:graphicData>
        </a:graphic>
      </p:graphicFrame>
      <p:graphicFrame>
        <p:nvGraphicFramePr>
          <p:cNvPr id="327686" name="Object 6"/>
          <p:cNvGraphicFramePr>
            <a:graphicFrameLocks noChangeAspect="1"/>
          </p:cNvGraphicFramePr>
          <p:nvPr/>
        </p:nvGraphicFramePr>
        <p:xfrm>
          <a:off x="4056063" y="3692525"/>
          <a:ext cx="1206500" cy="566738"/>
        </p:xfrm>
        <a:graphic>
          <a:graphicData uri="http://schemas.openxmlformats.org/presentationml/2006/ole">
            <p:oleObj spid="_x0000_s327686" name="Equation" r:id="rId4" imgW="431640" imgH="203040" progId="Equation.3">
              <p:embed/>
            </p:oleObj>
          </a:graphicData>
        </a:graphic>
      </p:graphicFrame>
      <p:graphicFrame>
        <p:nvGraphicFramePr>
          <p:cNvPr id="327687" name="Object 7"/>
          <p:cNvGraphicFramePr>
            <a:graphicFrameLocks noChangeAspect="1"/>
          </p:cNvGraphicFramePr>
          <p:nvPr/>
        </p:nvGraphicFramePr>
        <p:xfrm>
          <a:off x="4056063" y="4471988"/>
          <a:ext cx="1347787" cy="601662"/>
        </p:xfrm>
        <a:graphic>
          <a:graphicData uri="http://schemas.openxmlformats.org/presentationml/2006/ole">
            <p:oleObj spid="_x0000_s327687" name="Equation" r:id="rId5" imgW="482400" imgH="215640" progId="Equation.3">
              <p:embed/>
            </p:oleObj>
          </a:graphicData>
        </a:graphic>
      </p:graphicFrame>
      <p:sp>
        <p:nvSpPr>
          <p:cNvPr id="327694" name="Rectangle 8"/>
          <p:cNvSpPr>
            <a:spLocks noChangeArrowheads="1"/>
          </p:cNvSpPr>
          <p:nvPr/>
        </p:nvSpPr>
        <p:spPr bwMode="auto">
          <a:xfrm>
            <a:off x="1066800" y="5334000"/>
            <a:ext cx="6400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/>
          <a:lstStyle/>
          <a:p>
            <a:pPr marL="320675" indent="-320675" defTabSz="852488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2000"/>
              <a:t>where	 </a:t>
            </a:r>
            <a:r>
              <a:rPr lang="en-US" sz="2000">
                <a:sym typeface="Symbol" pitchFamily="18" charset="2"/>
              </a:rPr>
              <a:t></a:t>
            </a:r>
            <a:r>
              <a:rPr lang="en-US" sz="2000"/>
              <a:t> = expected number of events</a:t>
            </a:r>
          </a:p>
          <a:p>
            <a:pPr marL="320675" indent="-320675" defTabSz="852488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50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25E0743B-54C8-48D9-9DD8-20C8CD01400E}" type="slidenum">
              <a:rPr lang="en-US" smtClean="0"/>
              <a:pPr/>
              <a:t>41</a:t>
            </a:fld>
            <a:endParaRPr lang="en-US" smtClean="0"/>
          </a:p>
        </p:txBody>
      </p:sp>
      <p:sp>
        <p:nvSpPr>
          <p:cNvPr id="328751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28752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0F72AFEC-0A9F-4420-B12B-EB5B0ECBA3DF}" type="slidenum">
              <a:rPr lang="en-US" sz="1000"/>
              <a:pPr algn="r" defTabSz="852488"/>
              <a:t>41</a:t>
            </a:fld>
            <a:endParaRPr lang="en-US" sz="1000"/>
          </a:p>
        </p:txBody>
      </p:sp>
      <p:sp>
        <p:nvSpPr>
          <p:cNvPr id="328753" name="Rectangle 2"/>
          <p:cNvSpPr>
            <a:spLocks noChangeArrowheads="1"/>
          </p:cNvSpPr>
          <p:nvPr/>
        </p:nvSpPr>
        <p:spPr bwMode="auto">
          <a:xfrm>
            <a:off x="1447800" y="2819400"/>
            <a:ext cx="4114800" cy="304800"/>
          </a:xfrm>
          <a:prstGeom prst="rect">
            <a:avLst/>
          </a:prstGeom>
          <a:solidFill>
            <a:srgbClr val="CCECFF"/>
          </a:solidFill>
          <a:ln w="1905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28754" name="Rectangle 3"/>
          <p:cNvSpPr>
            <a:spLocks noChangeArrowheads="1"/>
          </p:cNvSpPr>
          <p:nvPr/>
        </p:nvSpPr>
        <p:spPr bwMode="auto">
          <a:xfrm flipV="1">
            <a:off x="4953000" y="2057400"/>
            <a:ext cx="609600" cy="1066800"/>
          </a:xfrm>
          <a:prstGeom prst="rect">
            <a:avLst/>
          </a:prstGeom>
          <a:solidFill>
            <a:srgbClr val="CCECFF"/>
          </a:solidFill>
          <a:ln w="1905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28755" name="Rectangle 4"/>
          <p:cNvSpPr>
            <a:spLocks noChangeArrowheads="1"/>
          </p:cNvSpPr>
          <p:nvPr/>
        </p:nvSpPr>
        <p:spPr bwMode="auto">
          <a:xfrm flipV="1">
            <a:off x="4953000" y="2819400"/>
            <a:ext cx="609600" cy="304800"/>
          </a:xfrm>
          <a:prstGeom prst="rect">
            <a:avLst/>
          </a:prstGeom>
          <a:solidFill>
            <a:srgbClr val="CCECFF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28756" name="Rectangle 5"/>
          <p:cNvSpPr>
            <a:spLocks noChangeArrowheads="1"/>
          </p:cNvSpPr>
          <p:nvPr/>
        </p:nvSpPr>
        <p:spPr bwMode="auto">
          <a:xfrm>
            <a:off x="990600" y="4648200"/>
            <a:ext cx="6477000" cy="3048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28757" name="Rectangle 6"/>
          <p:cNvSpPr>
            <a:spLocks noGrp="1" noChangeArrowheads="1"/>
          </p:cNvSpPr>
          <p:nvPr>
            <p:ph type="title"/>
          </p:nvPr>
        </p:nvSpPr>
        <p:spPr>
          <a:xfrm>
            <a:off x="1150938" y="457200"/>
            <a:ext cx="7383462" cy="990600"/>
          </a:xfrm>
        </p:spPr>
        <p:txBody>
          <a:bodyPr/>
          <a:lstStyle/>
          <a:p>
            <a:pPr eaLnBrk="1" hangingPunct="1"/>
            <a:r>
              <a:rPr lang="en-US" smtClean="0"/>
              <a:t>Using Poisson Tables (Available On Line)</a:t>
            </a:r>
          </a:p>
        </p:txBody>
      </p:sp>
      <p:graphicFrame>
        <p:nvGraphicFramePr>
          <p:cNvPr id="2" name="Group 48"/>
          <p:cNvGraphicFramePr>
            <a:graphicFrameLocks noGrp="1"/>
          </p:cNvGraphicFramePr>
          <p:nvPr/>
        </p:nvGraphicFramePr>
        <p:xfrm>
          <a:off x="914400" y="1752600"/>
          <a:ext cx="7772400" cy="2743200"/>
        </p:xfrm>
        <a:graphic>
          <a:graphicData uri="http://schemas.openxmlformats.org/drawingml/2006/table">
            <a:tbl>
              <a:tblPr/>
              <a:tblGrid>
                <a:gridCol w="776288"/>
                <a:gridCol w="795337"/>
                <a:gridCol w="760413"/>
                <a:gridCol w="777875"/>
                <a:gridCol w="776287"/>
                <a:gridCol w="776288"/>
                <a:gridCol w="777875"/>
                <a:gridCol w="777875"/>
                <a:gridCol w="727075"/>
                <a:gridCol w="827087"/>
              </a:tblGrid>
              <a:tr h="352425">
                <a:tc rowSpan="2"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sym typeface="Symbol" pitchFamily="18" charset="2"/>
                        </a:rPr>
                        <a:t>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35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2027238"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5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6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0.9048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0.0905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0.0045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0.0002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0.0000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0.0000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0.0000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0.8187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0.1637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0.0164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0.0011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0.0001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0.0000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0.0000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0.7408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0.2222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0.0333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0.0033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0.0003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0.0000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0.0000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0.6703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0.2681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0.0536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0.0072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0.0007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0.0001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0.0000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0.6065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0.3033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0.0758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0.0126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0.0016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0.0002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0.0000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0.5488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0.3293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0.0988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0.0198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0.0030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0.0004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0.0000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0.4966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0.3476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0.1217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0.0284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0.0050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0.0007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0.0001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0.4493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0.3595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0.1438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0.0383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0.0077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0.0012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0.0002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0.4066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0.3659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0.1647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0.0494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0.0111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0.0020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0.0003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sp>
        <p:nvSpPr>
          <p:cNvPr id="328795" name="Text Box 44"/>
          <p:cNvSpPr txBox="1">
            <a:spLocks noChangeArrowheads="1"/>
          </p:cNvSpPr>
          <p:nvPr/>
        </p:nvSpPr>
        <p:spPr bwMode="auto">
          <a:xfrm>
            <a:off x="990600" y="4572000"/>
            <a:ext cx="7086600" cy="4572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Example:  Find P(X = 2 | </a:t>
            </a:r>
            <a:r>
              <a:rPr lang="en-US" sz="2400">
                <a:sym typeface="Symbol" pitchFamily="18" charset="2"/>
              </a:rPr>
              <a:t> = 0.50)</a:t>
            </a:r>
            <a:endParaRPr lang="en-US" sz="2000"/>
          </a:p>
        </p:txBody>
      </p:sp>
      <p:graphicFrame>
        <p:nvGraphicFramePr>
          <p:cNvPr id="328749" name="Object 45"/>
          <p:cNvGraphicFramePr>
            <a:graphicFrameLocks noChangeAspect="1"/>
          </p:cNvGraphicFramePr>
          <p:nvPr/>
        </p:nvGraphicFramePr>
        <p:xfrm>
          <a:off x="1247775" y="5181600"/>
          <a:ext cx="6621463" cy="960438"/>
        </p:xfrm>
        <a:graphic>
          <a:graphicData uri="http://schemas.openxmlformats.org/presentationml/2006/ole">
            <p:oleObj spid="_x0000_s328749" name="Equation" r:id="rId3" imgW="2895480" imgH="419040" progId="Equation.3">
              <p:embed/>
            </p:oleObj>
          </a:graphicData>
        </a:graphic>
      </p:graphicFrame>
      <p:sp>
        <p:nvSpPr>
          <p:cNvPr id="328796" name="Oval 49"/>
          <p:cNvSpPr>
            <a:spLocks noChangeArrowheads="1"/>
          </p:cNvSpPr>
          <p:nvPr/>
        </p:nvSpPr>
        <p:spPr bwMode="auto">
          <a:xfrm>
            <a:off x="4876800" y="2819400"/>
            <a:ext cx="685800" cy="381000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6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016FB8DC-6488-49AE-A9F0-FE7944D89D9F}" type="slidenum">
              <a:rPr lang="en-US" smtClean="0"/>
              <a:pPr/>
              <a:t>42</a:t>
            </a:fld>
            <a:endParaRPr lang="en-US" smtClean="0"/>
          </a:p>
        </p:txBody>
      </p:sp>
      <p:sp>
        <p:nvSpPr>
          <p:cNvPr id="391170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9117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EC0A81DA-6679-489E-AC91-6DCF15E181AA}" type="slidenum">
              <a:rPr lang="en-US" sz="1000"/>
              <a:pPr algn="r" defTabSz="852488"/>
              <a:t>42</a:t>
            </a:fld>
            <a:endParaRPr lang="en-US" sz="1000"/>
          </a:p>
        </p:txBody>
      </p:sp>
      <p:sp>
        <p:nvSpPr>
          <p:cNvPr id="391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Using Excel For The</a:t>
            </a:r>
            <a:br>
              <a:rPr lang="en-US" sz="3600" smtClean="0"/>
            </a:br>
            <a:r>
              <a:rPr lang="en-US" sz="3600" smtClean="0"/>
              <a:t>Poisson Distribution (</a:t>
            </a:r>
            <a:r>
              <a:rPr lang="el-GR" sz="3600" smtClean="0"/>
              <a:t>λ</a:t>
            </a:r>
            <a:r>
              <a:rPr lang="en-US" sz="3600" smtClean="0"/>
              <a:t>= 3)</a:t>
            </a:r>
          </a:p>
        </p:txBody>
      </p:sp>
      <p:pic>
        <p:nvPicPr>
          <p:cNvPr id="391173" name="Picture 4" descr="Figure 5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676400" y="1447800"/>
            <a:ext cx="4419600" cy="5105400"/>
          </a:xfrm>
        </p:spPr>
      </p:pic>
      <p:cxnSp>
        <p:nvCxnSpPr>
          <p:cNvPr id="391174" name="Straight Arrow Connector 6"/>
          <p:cNvCxnSpPr>
            <a:cxnSpLocks noChangeShapeType="1"/>
          </p:cNvCxnSpPr>
          <p:nvPr/>
        </p:nvCxnSpPr>
        <p:spPr bwMode="auto">
          <a:xfrm rot="10800000" flipV="1">
            <a:off x="5715000" y="1219200"/>
            <a:ext cx="1219200" cy="9144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med" len="med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DCEBD648-6E46-4C91-AA01-36E7274AE373}" type="slidenum">
              <a:rPr lang="en-US" smtClean="0"/>
              <a:pPr/>
              <a:t>43</a:t>
            </a:fld>
            <a:endParaRPr lang="en-US" smtClean="0"/>
          </a:p>
        </p:txBody>
      </p:sp>
      <p:sp>
        <p:nvSpPr>
          <p:cNvPr id="392194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92195" name="Title 1"/>
          <p:cNvSpPr>
            <a:spLocks noGrp="1"/>
          </p:cNvSpPr>
          <p:nvPr>
            <p:ph type="title"/>
          </p:nvPr>
        </p:nvSpPr>
        <p:spPr>
          <a:xfrm>
            <a:off x="1143000" y="457200"/>
            <a:ext cx="7383463" cy="990600"/>
          </a:xfrm>
        </p:spPr>
        <p:txBody>
          <a:bodyPr/>
          <a:lstStyle/>
          <a:p>
            <a:pPr eaLnBrk="1" hangingPunct="1"/>
            <a:r>
              <a:rPr lang="en-US" smtClean="0"/>
              <a:t>Using Minitab For The Poisson Distribution (</a:t>
            </a:r>
            <a:r>
              <a:rPr lang="el-GR" smtClean="0"/>
              <a:t>λ</a:t>
            </a:r>
            <a:r>
              <a:rPr lang="en-US" smtClean="0"/>
              <a:t> = 3)</a:t>
            </a:r>
          </a:p>
        </p:txBody>
      </p:sp>
      <p:sp>
        <p:nvSpPr>
          <p:cNvPr id="392196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AFFC2ED2-397D-45FA-AC51-ABC577E4A181}" type="slidenum">
              <a:rPr lang="en-US" sz="1000"/>
              <a:pPr algn="r" defTabSz="852488"/>
              <a:t>43</a:t>
            </a:fld>
            <a:endParaRPr lang="en-US" sz="1000"/>
          </a:p>
        </p:txBody>
      </p:sp>
      <p:pic>
        <p:nvPicPr>
          <p:cNvPr id="392197" name="Picture 2"/>
          <p:cNvPicPr>
            <a:picLocks noChangeAspect="1" noChangeArrowheads="1"/>
          </p:cNvPicPr>
          <p:nvPr/>
        </p:nvPicPr>
        <p:blipFill>
          <a:blip r:embed="rId2"/>
          <a:srcRect r="70486" b="11111"/>
          <a:stretch>
            <a:fillRect/>
          </a:stretch>
        </p:blipFill>
        <p:spPr bwMode="auto">
          <a:xfrm>
            <a:off x="762000" y="1541463"/>
            <a:ext cx="2667000" cy="502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2198" name="Picture 3"/>
          <p:cNvPicPr>
            <a:picLocks noChangeAspect="1" noChangeArrowheads="1"/>
          </p:cNvPicPr>
          <p:nvPr/>
        </p:nvPicPr>
        <p:blipFill>
          <a:blip r:embed="rId3"/>
          <a:srcRect r="75694" b="11111"/>
          <a:stretch>
            <a:fillRect/>
          </a:stretch>
        </p:blipFill>
        <p:spPr bwMode="auto">
          <a:xfrm>
            <a:off x="5334000" y="1524000"/>
            <a:ext cx="2286000" cy="522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2199" name="Oval 7"/>
          <p:cNvSpPr>
            <a:spLocks noChangeArrowheads="1"/>
          </p:cNvSpPr>
          <p:nvPr/>
        </p:nvSpPr>
        <p:spPr bwMode="auto">
          <a:xfrm>
            <a:off x="1524000" y="5105400"/>
            <a:ext cx="381000" cy="381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sz="1400"/>
              <a:t>1</a:t>
            </a:r>
          </a:p>
        </p:txBody>
      </p:sp>
      <p:sp>
        <p:nvSpPr>
          <p:cNvPr id="392200" name="Oval 8"/>
          <p:cNvSpPr>
            <a:spLocks noChangeArrowheads="1"/>
          </p:cNvSpPr>
          <p:nvPr/>
        </p:nvSpPr>
        <p:spPr bwMode="auto">
          <a:xfrm>
            <a:off x="1295400" y="1219200"/>
            <a:ext cx="381000" cy="381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sz="1400"/>
              <a:t>2</a:t>
            </a:r>
          </a:p>
        </p:txBody>
      </p:sp>
      <p:sp>
        <p:nvSpPr>
          <p:cNvPr id="392201" name="Oval 9"/>
          <p:cNvSpPr>
            <a:spLocks noChangeArrowheads="1"/>
          </p:cNvSpPr>
          <p:nvPr/>
        </p:nvSpPr>
        <p:spPr bwMode="auto">
          <a:xfrm>
            <a:off x="914400" y="2895600"/>
            <a:ext cx="381000" cy="381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sz="1400"/>
              <a:t>3</a:t>
            </a:r>
          </a:p>
        </p:txBody>
      </p:sp>
      <p:sp>
        <p:nvSpPr>
          <p:cNvPr id="392202" name="Oval 10"/>
          <p:cNvSpPr>
            <a:spLocks noChangeArrowheads="1"/>
          </p:cNvSpPr>
          <p:nvPr/>
        </p:nvSpPr>
        <p:spPr bwMode="auto">
          <a:xfrm>
            <a:off x="1905000" y="4114800"/>
            <a:ext cx="381000" cy="381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sz="1400"/>
              <a:t>4</a:t>
            </a:r>
          </a:p>
        </p:txBody>
      </p:sp>
      <p:sp>
        <p:nvSpPr>
          <p:cNvPr id="392203" name="Oval 11"/>
          <p:cNvSpPr>
            <a:spLocks noChangeArrowheads="1"/>
          </p:cNvSpPr>
          <p:nvPr/>
        </p:nvSpPr>
        <p:spPr bwMode="auto">
          <a:xfrm>
            <a:off x="7391400" y="3048000"/>
            <a:ext cx="381000" cy="381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sz="1400"/>
              <a:t>5</a:t>
            </a:r>
          </a:p>
        </p:txBody>
      </p:sp>
      <p:cxnSp>
        <p:nvCxnSpPr>
          <p:cNvPr id="392204" name="Straight Arrow Connector 13"/>
          <p:cNvCxnSpPr>
            <a:cxnSpLocks noChangeShapeType="1"/>
          </p:cNvCxnSpPr>
          <p:nvPr/>
        </p:nvCxnSpPr>
        <p:spPr bwMode="auto">
          <a:xfrm rot="16200000" flipH="1">
            <a:off x="5410200" y="2057400"/>
            <a:ext cx="1752600" cy="2286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med" len="med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B45BAD07-A541-48AE-9CC7-87AEF579D6AE}" type="slidenum">
              <a:rPr lang="en-US" smtClean="0"/>
              <a:pPr/>
              <a:t>44</a:t>
            </a:fld>
            <a:endParaRPr lang="en-US" smtClean="0"/>
          </a:p>
        </p:txBody>
      </p:sp>
      <p:sp>
        <p:nvSpPr>
          <p:cNvPr id="407558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40755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1491F48E-D0D4-464B-9239-7B344C001452}" type="slidenum">
              <a:rPr lang="en-US" sz="1000"/>
              <a:pPr algn="r" defTabSz="852488"/>
              <a:t>44</a:t>
            </a:fld>
            <a:endParaRPr lang="en-US" sz="1000"/>
          </a:p>
        </p:txBody>
      </p:sp>
      <p:sp>
        <p:nvSpPr>
          <p:cNvPr id="407560" name="Rectangle 2"/>
          <p:cNvSpPr>
            <a:spLocks noGrp="1" noChangeArrowheads="1"/>
          </p:cNvSpPr>
          <p:nvPr>
            <p:ph type="title"/>
          </p:nvPr>
        </p:nvSpPr>
        <p:spPr>
          <a:xfrm>
            <a:off x="1366838" y="228600"/>
            <a:ext cx="7075487" cy="990600"/>
          </a:xfrm>
        </p:spPr>
        <p:txBody>
          <a:bodyPr/>
          <a:lstStyle/>
          <a:p>
            <a:pPr eaLnBrk="1" hangingPunct="1"/>
            <a:r>
              <a:rPr lang="en-US" smtClean="0"/>
              <a:t>Graph of Poisson Probabilities</a:t>
            </a:r>
          </a:p>
        </p:txBody>
      </p:sp>
      <p:graphicFrame>
        <p:nvGraphicFramePr>
          <p:cNvPr id="407556" name="Object 3"/>
          <p:cNvGraphicFramePr>
            <a:graphicFrameLocks noChangeAspect="1"/>
          </p:cNvGraphicFramePr>
          <p:nvPr/>
        </p:nvGraphicFramePr>
        <p:xfrm>
          <a:off x="2895600" y="1676400"/>
          <a:ext cx="5895975" cy="3962400"/>
        </p:xfrm>
        <a:graphic>
          <a:graphicData uri="http://schemas.openxmlformats.org/presentationml/2006/ole">
            <p:oleObj spid="_x0000_s407556" r:id="rId3" imgW="5895343" imgH="3962743" progId="Excel.Chart.8">
              <p:embed/>
            </p:oleObj>
          </a:graphicData>
        </a:graphic>
      </p:graphicFrame>
      <p:graphicFrame>
        <p:nvGraphicFramePr>
          <p:cNvPr id="329732" name="Group 4"/>
          <p:cNvGraphicFramePr>
            <a:graphicFrameLocks noGrp="1"/>
          </p:cNvGraphicFramePr>
          <p:nvPr/>
        </p:nvGraphicFramePr>
        <p:xfrm>
          <a:off x="609600" y="2895600"/>
          <a:ext cx="2057400" cy="3365500"/>
        </p:xfrm>
        <a:graphic>
          <a:graphicData uri="http://schemas.openxmlformats.org/drawingml/2006/table">
            <a:tbl>
              <a:tblPr/>
              <a:tblGrid>
                <a:gridCol w="1028700"/>
                <a:gridCol w="1028700"/>
              </a:tblGrid>
              <a:tr h="638175"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sym typeface="Symbol" pitchFamily="18" charset="2"/>
                        </a:rPr>
                        <a:t> =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6575"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5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6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0.6065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0.3033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0.0758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0.0126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0.0016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0.0002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0.0000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0.0000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07572" name="Line 15"/>
          <p:cNvSpPr>
            <a:spLocks noChangeShapeType="1"/>
          </p:cNvSpPr>
          <p:nvPr/>
        </p:nvSpPr>
        <p:spPr bwMode="auto">
          <a:xfrm>
            <a:off x="3124200" y="4530725"/>
            <a:ext cx="2667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7573" name="Line 16"/>
          <p:cNvSpPr>
            <a:spLocks noChangeShapeType="1"/>
          </p:cNvSpPr>
          <p:nvPr/>
        </p:nvSpPr>
        <p:spPr bwMode="auto">
          <a:xfrm>
            <a:off x="2590800" y="4530725"/>
            <a:ext cx="5334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7574" name="Rectangle 17"/>
          <p:cNvSpPr>
            <a:spLocks noChangeArrowheads="1"/>
          </p:cNvSpPr>
          <p:nvPr/>
        </p:nvSpPr>
        <p:spPr bwMode="auto">
          <a:xfrm>
            <a:off x="838200" y="4267200"/>
            <a:ext cx="1752600" cy="381000"/>
          </a:xfrm>
          <a:prstGeom prst="rect">
            <a:avLst/>
          </a:prstGeom>
          <a:noFill/>
          <a:ln w="19050" algn="ctr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07575" name="Text Box 18"/>
          <p:cNvSpPr txBox="1">
            <a:spLocks noChangeArrowheads="1"/>
          </p:cNvSpPr>
          <p:nvPr/>
        </p:nvSpPr>
        <p:spPr bwMode="auto">
          <a:xfrm>
            <a:off x="4114800" y="5638800"/>
            <a:ext cx="3886200" cy="461963"/>
          </a:xfrm>
          <a:prstGeom prst="rect">
            <a:avLst/>
          </a:prstGeom>
          <a:solidFill>
            <a:srgbClr val="FDE0BD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P(X = 2 | </a:t>
            </a:r>
            <a:r>
              <a:rPr lang="en-US" sz="2400">
                <a:sym typeface="Symbol" pitchFamily="18" charset="2"/>
              </a:rPr>
              <a:t></a:t>
            </a:r>
            <a:r>
              <a:rPr lang="en-US" sz="2400"/>
              <a:t>=0.50) = 0.0758</a:t>
            </a:r>
            <a:r>
              <a:rPr lang="en-US" sz="1800"/>
              <a:t>  </a:t>
            </a:r>
          </a:p>
        </p:txBody>
      </p:sp>
      <p:sp>
        <p:nvSpPr>
          <p:cNvPr id="407576" name="Line 19"/>
          <p:cNvSpPr>
            <a:spLocks noChangeShapeType="1"/>
          </p:cNvSpPr>
          <p:nvPr/>
        </p:nvSpPr>
        <p:spPr bwMode="auto">
          <a:xfrm flipV="1">
            <a:off x="5257800" y="518160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7577" name="Text Box 20"/>
          <p:cNvSpPr txBox="1">
            <a:spLocks noChangeArrowheads="1"/>
          </p:cNvSpPr>
          <p:nvPr/>
        </p:nvSpPr>
        <p:spPr bwMode="auto">
          <a:xfrm>
            <a:off x="609600" y="1905000"/>
            <a:ext cx="1828800" cy="4572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solidFill>
                  <a:schemeClr val="folHlink"/>
                </a:solidFill>
              </a:rPr>
              <a:t>Graphically:</a:t>
            </a:r>
          </a:p>
        </p:txBody>
      </p:sp>
      <p:sp>
        <p:nvSpPr>
          <p:cNvPr id="407578" name="Text Box 21"/>
          <p:cNvSpPr txBox="1">
            <a:spLocks noChangeArrowheads="1"/>
          </p:cNvSpPr>
          <p:nvPr/>
        </p:nvSpPr>
        <p:spPr bwMode="auto">
          <a:xfrm>
            <a:off x="381000" y="2438400"/>
            <a:ext cx="2667000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sym typeface="Symbol" pitchFamily="18" charset="2"/>
              </a:rPr>
              <a:t>          = 0.50  </a:t>
            </a:r>
            <a:endParaRPr lang="en-US" sz="2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8EB2CBCC-9C66-49B8-ACBC-26B6AA77C4FC}" type="slidenum">
              <a:rPr lang="en-US" smtClean="0"/>
              <a:pPr/>
              <a:t>45</a:t>
            </a:fld>
            <a:endParaRPr lang="en-US" smtClean="0"/>
          </a:p>
        </p:txBody>
      </p:sp>
      <p:sp>
        <p:nvSpPr>
          <p:cNvPr id="394248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9424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C671222E-B34C-4BC9-A467-0E474D97B653}" type="slidenum">
              <a:rPr lang="en-US" sz="1000"/>
              <a:pPr algn="r" defTabSz="852488"/>
              <a:t>45</a:t>
            </a:fld>
            <a:endParaRPr lang="en-US" sz="1000"/>
          </a:p>
        </p:txBody>
      </p:sp>
      <p:sp>
        <p:nvSpPr>
          <p:cNvPr id="394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Poisson Distribution Shape</a:t>
            </a:r>
          </a:p>
        </p:txBody>
      </p:sp>
      <p:sp>
        <p:nvSpPr>
          <p:cNvPr id="394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912938"/>
            <a:ext cx="7543800" cy="1174750"/>
          </a:xfrm>
        </p:spPr>
        <p:txBody>
          <a:bodyPr/>
          <a:lstStyle/>
          <a:p>
            <a:pPr eaLnBrk="1" hangingPunct="1"/>
            <a:r>
              <a:rPr lang="en-US" smtClean="0"/>
              <a:t>The shape of the Poisson Distribution depends on the parameter </a:t>
            </a:r>
            <a:r>
              <a:rPr lang="en-US" smtClean="0">
                <a:sym typeface="Symbol" pitchFamily="18" charset="2"/>
              </a:rPr>
              <a:t> :</a:t>
            </a:r>
          </a:p>
        </p:txBody>
      </p:sp>
      <p:graphicFrame>
        <p:nvGraphicFramePr>
          <p:cNvPr id="394245" name="Object 4"/>
          <p:cNvGraphicFramePr>
            <a:graphicFrameLocks noChangeAspect="1"/>
          </p:cNvGraphicFramePr>
          <p:nvPr/>
        </p:nvGraphicFramePr>
        <p:xfrm>
          <a:off x="4572000" y="3303588"/>
          <a:ext cx="4419600" cy="2854325"/>
        </p:xfrm>
        <a:graphic>
          <a:graphicData uri="http://schemas.openxmlformats.org/presentationml/2006/ole">
            <p:oleObj spid="_x0000_s394245" r:id="rId3" imgW="4419983" imgH="2853175" progId="Excel.Chart.8">
              <p:embed/>
            </p:oleObj>
          </a:graphicData>
        </a:graphic>
      </p:graphicFrame>
      <p:graphicFrame>
        <p:nvGraphicFramePr>
          <p:cNvPr id="394246" name="Object 5"/>
          <p:cNvGraphicFramePr>
            <a:graphicFrameLocks noChangeAspect="1"/>
          </p:cNvGraphicFramePr>
          <p:nvPr/>
        </p:nvGraphicFramePr>
        <p:xfrm>
          <a:off x="228600" y="3302000"/>
          <a:ext cx="4191000" cy="2814638"/>
        </p:xfrm>
        <a:graphic>
          <a:graphicData uri="http://schemas.openxmlformats.org/presentationml/2006/ole">
            <p:oleObj spid="_x0000_s394246" r:id="rId4" imgW="4188315" imgH="2810500" progId="Excel.Chart.8">
              <p:embed/>
            </p:oleObj>
          </a:graphicData>
        </a:graphic>
      </p:graphicFrame>
      <p:sp>
        <p:nvSpPr>
          <p:cNvPr id="394252" name="Rectangle 6"/>
          <p:cNvSpPr>
            <a:spLocks noChangeArrowheads="1"/>
          </p:cNvSpPr>
          <p:nvPr/>
        </p:nvSpPr>
        <p:spPr bwMode="auto">
          <a:xfrm>
            <a:off x="1600200" y="289560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/>
          <a:lstStyle/>
          <a:p>
            <a:pPr marL="320675" indent="-320675" defTabSz="852488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2800">
                <a:sym typeface="Symbol" pitchFamily="18" charset="2"/>
              </a:rPr>
              <a:t></a:t>
            </a:r>
            <a:r>
              <a:rPr lang="en-US" sz="2300"/>
              <a:t> = 0.50</a:t>
            </a:r>
          </a:p>
        </p:txBody>
      </p:sp>
      <p:sp>
        <p:nvSpPr>
          <p:cNvPr id="394253" name="Rectangle 7"/>
          <p:cNvSpPr>
            <a:spLocks noChangeArrowheads="1"/>
          </p:cNvSpPr>
          <p:nvPr/>
        </p:nvSpPr>
        <p:spPr bwMode="auto">
          <a:xfrm>
            <a:off x="6248400" y="281940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/>
          <a:lstStyle/>
          <a:p>
            <a:pPr marL="320675" indent="-320675" defTabSz="852488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2800">
                <a:sym typeface="Symbol" pitchFamily="18" charset="2"/>
              </a:rPr>
              <a:t></a:t>
            </a:r>
            <a:r>
              <a:rPr lang="en-US" sz="2300"/>
              <a:t> = 3.00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F554E307-1390-4F68-8B2C-ADE44A650C79}" type="slidenum">
              <a:rPr lang="en-US" smtClean="0"/>
              <a:pPr/>
              <a:t>46</a:t>
            </a:fld>
            <a:endParaRPr lang="en-US" smtClean="0"/>
          </a:p>
        </p:txBody>
      </p:sp>
      <p:sp>
        <p:nvSpPr>
          <p:cNvPr id="409602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40960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52D0CE72-AB14-49D2-9DB6-4E951AB29853}" type="slidenum">
              <a:rPr lang="en-US" sz="1000"/>
              <a:pPr algn="r" defTabSz="852488"/>
              <a:t>46</a:t>
            </a:fld>
            <a:endParaRPr lang="en-US" sz="1000"/>
          </a:p>
        </p:txBody>
      </p:sp>
      <p:sp>
        <p:nvSpPr>
          <p:cNvPr id="409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Hypergeometric Distribution</a:t>
            </a:r>
          </a:p>
        </p:txBody>
      </p:sp>
      <p:sp>
        <p:nvSpPr>
          <p:cNvPr id="4096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997075"/>
            <a:ext cx="8077200" cy="4279900"/>
          </a:xfrm>
        </p:spPr>
        <p:txBody>
          <a:bodyPr/>
          <a:lstStyle/>
          <a:p>
            <a:pPr eaLnBrk="1" hangingPunct="1"/>
            <a:r>
              <a:rPr lang="en-US" smtClean="0"/>
              <a:t>The </a:t>
            </a:r>
            <a:r>
              <a:rPr lang="en-US" b="1" smtClean="0"/>
              <a:t>binomial distribution</a:t>
            </a:r>
            <a:r>
              <a:rPr lang="en-US" smtClean="0"/>
              <a:t> is applicable when selecting from a finite population with replacement or from an infinite population without replacement.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  <a:p>
            <a:pPr eaLnBrk="1" hangingPunct="1"/>
            <a:r>
              <a:rPr lang="en-US" smtClean="0"/>
              <a:t>The </a:t>
            </a:r>
            <a:r>
              <a:rPr lang="en-US" b="1" smtClean="0"/>
              <a:t>hypergeometric distribution</a:t>
            </a:r>
            <a:r>
              <a:rPr lang="en-US" smtClean="0"/>
              <a:t> is applicable when selecting from a finite population without replacement.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0E0A893A-6F8F-46B9-B154-6EBD1A8152C7}" type="slidenum">
              <a:rPr lang="en-US" smtClean="0"/>
              <a:pPr/>
              <a:t>47</a:t>
            </a:fld>
            <a:endParaRPr lang="en-US" smtClean="0"/>
          </a:p>
        </p:txBody>
      </p:sp>
      <p:sp>
        <p:nvSpPr>
          <p:cNvPr id="410626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41062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78044ADE-A0DA-4980-94A0-FBBE4A1A6B07}" type="slidenum">
              <a:rPr lang="en-US" sz="1000"/>
              <a:pPr algn="r" defTabSz="852488"/>
              <a:t>47</a:t>
            </a:fld>
            <a:endParaRPr lang="en-US" sz="1000"/>
          </a:p>
        </p:txBody>
      </p:sp>
      <p:sp>
        <p:nvSpPr>
          <p:cNvPr id="410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Hypergeometric Distribution</a:t>
            </a:r>
          </a:p>
        </p:txBody>
      </p:sp>
      <p:sp>
        <p:nvSpPr>
          <p:cNvPr id="4106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752600"/>
            <a:ext cx="8077200" cy="41148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35000"/>
              </a:spcBef>
            </a:pPr>
            <a:r>
              <a:rPr lang="en-US" smtClean="0"/>
              <a:t>“n” trials in a sample taken from a </a:t>
            </a:r>
            <a:r>
              <a:rPr lang="en-US" smtClean="0">
                <a:solidFill>
                  <a:schemeClr val="folHlink"/>
                </a:solidFill>
              </a:rPr>
              <a:t>finite population</a:t>
            </a:r>
            <a:r>
              <a:rPr lang="en-US" smtClean="0"/>
              <a:t> of size N</a:t>
            </a:r>
          </a:p>
          <a:p>
            <a:pPr eaLnBrk="1" hangingPunct="1">
              <a:lnSpc>
                <a:spcPct val="110000"/>
              </a:lnSpc>
              <a:spcBef>
                <a:spcPct val="35000"/>
              </a:spcBef>
            </a:pPr>
            <a:r>
              <a:rPr lang="en-US" smtClean="0"/>
              <a:t>Sample taken </a:t>
            </a:r>
            <a:r>
              <a:rPr lang="en-US" smtClean="0">
                <a:solidFill>
                  <a:schemeClr val="folHlink"/>
                </a:solidFill>
              </a:rPr>
              <a:t>without replacement</a:t>
            </a:r>
          </a:p>
          <a:p>
            <a:pPr eaLnBrk="1" hangingPunct="1">
              <a:lnSpc>
                <a:spcPct val="110000"/>
              </a:lnSpc>
              <a:spcBef>
                <a:spcPct val="35000"/>
              </a:spcBef>
            </a:pPr>
            <a:r>
              <a:rPr lang="en-US" smtClean="0"/>
              <a:t>Outcomes of trials are </a:t>
            </a:r>
            <a:r>
              <a:rPr lang="en-US" smtClean="0">
                <a:solidFill>
                  <a:schemeClr val="folHlink"/>
                </a:solidFill>
              </a:rPr>
              <a:t>dependent</a:t>
            </a:r>
          </a:p>
          <a:p>
            <a:pPr eaLnBrk="1" hangingPunct="1">
              <a:lnSpc>
                <a:spcPct val="110000"/>
              </a:lnSpc>
              <a:spcBef>
                <a:spcPct val="35000"/>
              </a:spcBef>
            </a:pPr>
            <a:r>
              <a:rPr lang="en-US" smtClean="0"/>
              <a:t>Concerned with finding the probability of “X=x</a:t>
            </a:r>
            <a:r>
              <a:rPr lang="en-US" baseline="-25000" smtClean="0"/>
              <a:t>i</a:t>
            </a:r>
            <a:r>
              <a:rPr lang="en-US" smtClean="0"/>
              <a:t>” items of interest in the sample where there are “A” items of interest in the population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20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0A40329B-9B7D-41E3-9CA4-5891F9D6C03A}" type="slidenum">
              <a:rPr lang="en-US" smtClean="0"/>
              <a:pPr/>
              <a:t>48</a:t>
            </a:fld>
            <a:endParaRPr lang="en-US" smtClean="0"/>
          </a:p>
        </p:txBody>
      </p:sp>
      <p:sp>
        <p:nvSpPr>
          <p:cNvPr id="342021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42022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582F68B8-9F1A-44F9-A9AC-C78A2355040C}" type="slidenum">
              <a:rPr lang="en-US" sz="1000"/>
              <a:pPr algn="r" defTabSz="852488"/>
              <a:t>48</a:t>
            </a:fld>
            <a:endParaRPr lang="en-US" sz="1000"/>
          </a:p>
        </p:txBody>
      </p:sp>
      <p:sp>
        <p:nvSpPr>
          <p:cNvPr id="342023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7772400" cy="114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mtClean="0"/>
              <a:t>Hypergeometric Distribution Formula</a:t>
            </a:r>
          </a:p>
        </p:txBody>
      </p:sp>
      <p:graphicFrame>
        <p:nvGraphicFramePr>
          <p:cNvPr id="342019" name="Object 3"/>
          <p:cNvGraphicFramePr>
            <a:graphicFrameLocks noChangeAspect="1"/>
          </p:cNvGraphicFramePr>
          <p:nvPr/>
        </p:nvGraphicFramePr>
        <p:xfrm>
          <a:off x="1260475" y="2124075"/>
          <a:ext cx="6011863" cy="1738313"/>
        </p:xfrm>
        <a:graphic>
          <a:graphicData uri="http://schemas.openxmlformats.org/presentationml/2006/ole">
            <p:oleObj spid="_x0000_s342019" name="Equation" r:id="rId3" imgW="3162240" imgH="914400" progId="Equation.3">
              <p:embed/>
            </p:oleObj>
          </a:graphicData>
        </a:graphic>
      </p:graphicFrame>
      <p:sp>
        <p:nvSpPr>
          <p:cNvPr id="342024" name="Text Box 4"/>
          <p:cNvSpPr txBox="1">
            <a:spLocks noChangeArrowheads="1"/>
          </p:cNvSpPr>
          <p:nvPr/>
        </p:nvSpPr>
        <p:spPr bwMode="auto">
          <a:xfrm>
            <a:off x="1219200" y="4114800"/>
            <a:ext cx="7315200" cy="243205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Where</a:t>
            </a:r>
          </a:p>
          <a:p>
            <a:pPr>
              <a:spcBef>
                <a:spcPct val="10000"/>
              </a:spcBef>
            </a:pPr>
            <a:r>
              <a:rPr lang="en-US" sz="2000"/>
              <a:t>	N = population size</a:t>
            </a:r>
          </a:p>
          <a:p>
            <a:pPr>
              <a:spcBef>
                <a:spcPct val="10000"/>
              </a:spcBef>
            </a:pPr>
            <a:r>
              <a:rPr lang="en-US" sz="2000"/>
              <a:t>	A = number of items of interest in the population</a:t>
            </a:r>
          </a:p>
          <a:p>
            <a:pPr>
              <a:spcBef>
                <a:spcPct val="10000"/>
              </a:spcBef>
            </a:pPr>
            <a:r>
              <a:rPr lang="en-US" sz="2000"/>
              <a:t>       N – A = number of events not of interest in the population</a:t>
            </a:r>
          </a:p>
          <a:p>
            <a:pPr>
              <a:spcBef>
                <a:spcPct val="10000"/>
              </a:spcBef>
            </a:pPr>
            <a:r>
              <a:rPr lang="en-US" sz="2000"/>
              <a:t>	n = sample size</a:t>
            </a:r>
          </a:p>
          <a:p>
            <a:pPr>
              <a:spcBef>
                <a:spcPct val="10000"/>
              </a:spcBef>
            </a:pPr>
            <a:r>
              <a:rPr lang="en-US" sz="2000"/>
              <a:t>	x = number of items of interest in the sample</a:t>
            </a:r>
          </a:p>
          <a:p>
            <a:pPr>
              <a:spcBef>
                <a:spcPct val="10000"/>
              </a:spcBef>
            </a:pPr>
            <a:r>
              <a:rPr lang="en-US" sz="2000"/>
              <a:t>       n – x = number of events not of interest in the sample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067E8282-7B06-4083-85F5-89646031524E}" type="slidenum">
              <a:rPr lang="en-US" smtClean="0"/>
              <a:pPr/>
              <a:t>49</a:t>
            </a:fld>
            <a:endParaRPr lang="en-US" smtClean="0"/>
          </a:p>
        </p:txBody>
      </p:sp>
      <p:sp>
        <p:nvSpPr>
          <p:cNvPr id="343048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4304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59585757-4F83-4B5F-AF30-9D17EC78BDFC}" type="slidenum">
              <a:rPr lang="en-US" sz="1000"/>
              <a:pPr algn="r" defTabSz="852488"/>
              <a:t>49</a:t>
            </a:fld>
            <a:endParaRPr lang="en-US" sz="1000"/>
          </a:p>
        </p:txBody>
      </p:sp>
      <p:sp>
        <p:nvSpPr>
          <p:cNvPr id="343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81000"/>
            <a:ext cx="7535863" cy="990600"/>
          </a:xfrm>
        </p:spPr>
        <p:txBody>
          <a:bodyPr/>
          <a:lstStyle/>
          <a:p>
            <a:pPr eaLnBrk="1" hangingPunct="1">
              <a:lnSpc>
                <a:spcPct val="70000"/>
              </a:lnSpc>
            </a:pPr>
            <a:r>
              <a:rPr lang="en-US" smtClean="0"/>
              <a:t>Properties of the </a:t>
            </a:r>
            <a:br>
              <a:rPr lang="en-US" smtClean="0"/>
            </a:br>
            <a:r>
              <a:rPr lang="en-US" smtClean="0"/>
              <a:t>Hypergeometric Distribution</a:t>
            </a:r>
          </a:p>
        </p:txBody>
      </p:sp>
      <p:sp>
        <p:nvSpPr>
          <p:cNvPr id="343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868488"/>
            <a:ext cx="8077200" cy="4760912"/>
          </a:xfrm>
        </p:spPr>
        <p:txBody>
          <a:bodyPr/>
          <a:lstStyle/>
          <a:p>
            <a:pPr eaLnBrk="1" hangingPunct="1"/>
            <a:r>
              <a:rPr lang="en-US" smtClean="0"/>
              <a:t>The </a:t>
            </a:r>
            <a:r>
              <a:rPr lang="en-US" smtClean="0">
                <a:solidFill>
                  <a:schemeClr val="folHlink"/>
                </a:solidFill>
              </a:rPr>
              <a:t>mean</a:t>
            </a:r>
            <a:r>
              <a:rPr lang="en-US" smtClean="0"/>
              <a:t> of the hypergeometric distribution is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The </a:t>
            </a:r>
            <a:r>
              <a:rPr lang="en-US" smtClean="0">
                <a:solidFill>
                  <a:schemeClr val="folHlink"/>
                </a:solidFill>
              </a:rPr>
              <a:t>standard deviation</a:t>
            </a:r>
            <a:r>
              <a:rPr lang="en-US" smtClean="0"/>
              <a:t> is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smtClean="0"/>
              <a:t>Where             is called the </a:t>
            </a:r>
            <a:r>
              <a:rPr lang="en-US" sz="2000" smtClean="0">
                <a:solidFill>
                  <a:schemeClr val="folHlink"/>
                </a:solidFill>
              </a:rPr>
              <a:t>“Finite Population Correction Factor”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smtClean="0">
                <a:solidFill>
                  <a:schemeClr val="folHlink"/>
                </a:solidFill>
              </a:rPr>
              <a:t>			  </a:t>
            </a:r>
            <a:r>
              <a:rPr lang="en-US" sz="2000" smtClean="0"/>
              <a:t>used when sampling without replacement from a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smtClean="0"/>
              <a:t>			  finite population</a:t>
            </a:r>
          </a:p>
        </p:txBody>
      </p:sp>
      <p:graphicFrame>
        <p:nvGraphicFramePr>
          <p:cNvPr id="343044" name="Object 4"/>
          <p:cNvGraphicFramePr>
            <a:graphicFrameLocks noChangeAspect="1"/>
          </p:cNvGraphicFramePr>
          <p:nvPr/>
        </p:nvGraphicFramePr>
        <p:xfrm>
          <a:off x="3783013" y="2514600"/>
          <a:ext cx="2011362" cy="830263"/>
        </p:xfrm>
        <a:graphic>
          <a:graphicData uri="http://schemas.openxmlformats.org/presentationml/2006/ole">
            <p:oleObj spid="_x0000_s343044" name="Equation" r:id="rId3" imgW="952200" imgH="393480" progId="Equation.3">
              <p:embed/>
            </p:oleObj>
          </a:graphicData>
        </a:graphic>
      </p:graphicFrame>
      <p:graphicFrame>
        <p:nvGraphicFramePr>
          <p:cNvPr id="343045" name="Object 5"/>
          <p:cNvGraphicFramePr>
            <a:graphicFrameLocks noChangeAspect="1"/>
          </p:cNvGraphicFramePr>
          <p:nvPr/>
        </p:nvGraphicFramePr>
        <p:xfrm>
          <a:off x="3352800" y="3962400"/>
          <a:ext cx="2924175" cy="836613"/>
        </p:xfrm>
        <a:graphic>
          <a:graphicData uri="http://schemas.openxmlformats.org/presentationml/2006/ole">
            <p:oleObj spid="_x0000_s343045" name="Equation" r:id="rId4" imgW="1549080" imgH="444240" progId="Equation.3">
              <p:embed/>
            </p:oleObj>
          </a:graphicData>
        </a:graphic>
      </p:graphicFrame>
      <p:graphicFrame>
        <p:nvGraphicFramePr>
          <p:cNvPr id="343046" name="Object 6"/>
          <p:cNvGraphicFramePr>
            <a:graphicFrameLocks noChangeAspect="1"/>
          </p:cNvGraphicFramePr>
          <p:nvPr/>
        </p:nvGraphicFramePr>
        <p:xfrm>
          <a:off x="1828800" y="5257800"/>
          <a:ext cx="685800" cy="647700"/>
        </p:xfrm>
        <a:graphic>
          <a:graphicData uri="http://schemas.openxmlformats.org/presentationml/2006/ole">
            <p:oleObj spid="_x0000_s343046" name="Equation" r:id="rId5" imgW="469800" imgH="4442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70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4A9E6639-4878-41AE-A359-318CF79A2653}" type="slidenum">
              <a:rPr lang="en-US" smtClean="0"/>
              <a:pPr/>
              <a:t>50</a:t>
            </a:fld>
            <a:endParaRPr lang="en-US" smtClean="0"/>
          </a:p>
        </p:txBody>
      </p:sp>
      <p:sp>
        <p:nvSpPr>
          <p:cNvPr id="344071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44072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3849896C-883D-49D7-A46A-C82B99F98B76}" type="slidenum">
              <a:rPr lang="en-US" sz="1000"/>
              <a:pPr algn="r" defTabSz="852488"/>
              <a:t>50</a:t>
            </a:fld>
            <a:endParaRPr lang="en-US" sz="1000"/>
          </a:p>
        </p:txBody>
      </p:sp>
      <p:sp>
        <p:nvSpPr>
          <p:cNvPr id="344073" name="Rectangle 2"/>
          <p:cNvSpPr>
            <a:spLocks noChangeArrowheads="1"/>
          </p:cNvSpPr>
          <p:nvPr/>
        </p:nvSpPr>
        <p:spPr bwMode="auto">
          <a:xfrm>
            <a:off x="2895600" y="3352800"/>
            <a:ext cx="3048000" cy="762000"/>
          </a:xfrm>
          <a:prstGeom prst="rect">
            <a:avLst/>
          </a:prstGeom>
          <a:solidFill>
            <a:srgbClr val="C7DAF7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44074" name="Rectangle 3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7772400" cy="114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mtClean="0"/>
              <a:t>Using the </a:t>
            </a:r>
            <a:br>
              <a:rPr lang="en-US" smtClean="0"/>
            </a:br>
            <a:r>
              <a:rPr lang="en-US" smtClean="0"/>
              <a:t>Hypergeometric Distribution</a:t>
            </a:r>
          </a:p>
        </p:txBody>
      </p:sp>
      <p:sp>
        <p:nvSpPr>
          <p:cNvPr id="344075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8077200" cy="2852738"/>
          </a:xfrm>
        </p:spPr>
        <p:txBody>
          <a:bodyPr/>
          <a:lstStyle/>
          <a:p>
            <a:pPr eaLnBrk="1" hangingPunct="1">
              <a:spcBef>
                <a:spcPct val="0"/>
              </a:spcBef>
              <a:buSzPct val="100000"/>
              <a:buFont typeface="Arial" charset="0"/>
              <a:buChar char="■"/>
            </a:pPr>
            <a:r>
              <a:rPr lang="en-US" sz="2400" smtClean="0">
                <a:solidFill>
                  <a:schemeClr val="folHlink"/>
                </a:solidFill>
              </a:rPr>
              <a:t>Example:</a:t>
            </a:r>
            <a:r>
              <a:rPr lang="en-US" sz="2400" smtClean="0"/>
              <a:t> 3 different computers are selected from 10 in the department. 4 of the 10 computers have illegal software loaded.  What is the probability that 2 of the 3 selected computers have illegal software loaded?</a:t>
            </a:r>
          </a:p>
          <a:p>
            <a:pPr eaLnBrk="1" hangingPunct="1">
              <a:spcBef>
                <a:spcPct val="0"/>
              </a:spcBef>
              <a:buSzPct val="100000"/>
              <a:buFont typeface="Arial" charset="0"/>
              <a:buNone/>
            </a:pPr>
            <a:endParaRPr lang="en-US" sz="1600" smtClean="0"/>
          </a:p>
          <a:p>
            <a:pPr lvl="1" eaLnBrk="1" hangingPunct="1">
              <a:spcBef>
                <a:spcPct val="0"/>
              </a:spcBef>
              <a:buSzPct val="100000"/>
              <a:buFont typeface="Arial" charset="0"/>
              <a:buNone/>
            </a:pPr>
            <a:r>
              <a:rPr lang="en-US" sz="2000" smtClean="0"/>
              <a:t>		           		N = 10		n = 3</a:t>
            </a:r>
          </a:p>
          <a:p>
            <a:pPr lvl="1" eaLnBrk="1" hangingPunct="1">
              <a:spcBef>
                <a:spcPct val="0"/>
              </a:spcBef>
              <a:buSzPct val="100000"/>
              <a:buFont typeface="Arial" charset="0"/>
              <a:buNone/>
            </a:pPr>
            <a:r>
              <a:rPr lang="en-US" sz="2000" smtClean="0"/>
              <a:t>			             A = 4	            x = 2</a:t>
            </a:r>
          </a:p>
        </p:txBody>
      </p:sp>
      <p:graphicFrame>
        <p:nvGraphicFramePr>
          <p:cNvPr id="344069" name="Object 5"/>
          <p:cNvGraphicFramePr>
            <a:graphicFrameLocks noChangeAspect="1"/>
          </p:cNvGraphicFramePr>
          <p:nvPr/>
        </p:nvGraphicFramePr>
        <p:xfrm>
          <a:off x="1905000" y="4343400"/>
          <a:ext cx="5049838" cy="1330325"/>
        </p:xfrm>
        <a:graphic>
          <a:graphicData uri="http://schemas.openxmlformats.org/presentationml/2006/ole">
            <p:oleObj spid="_x0000_s344069" name="Equation" r:id="rId3" imgW="3466800" imgH="914400" progId="Equation.3">
              <p:embed/>
            </p:oleObj>
          </a:graphicData>
        </a:graphic>
      </p:graphicFrame>
      <p:sp>
        <p:nvSpPr>
          <p:cNvPr id="344076" name="Text Box 6"/>
          <p:cNvSpPr txBox="1">
            <a:spLocks noChangeArrowheads="1"/>
          </p:cNvSpPr>
          <p:nvPr/>
        </p:nvSpPr>
        <p:spPr bwMode="auto">
          <a:xfrm>
            <a:off x="990600" y="5867400"/>
            <a:ext cx="73152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The probability that 2 of the 3 selected computers have illegal software loaded is 0.30, or 30%.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A92599AB-412E-4EBC-999B-C3F8AC37E266}" type="slidenum">
              <a:rPr lang="en-US" smtClean="0"/>
              <a:pPr/>
              <a:t>51</a:t>
            </a:fld>
            <a:endParaRPr lang="en-US" smtClean="0"/>
          </a:p>
        </p:txBody>
      </p:sp>
      <p:sp>
        <p:nvSpPr>
          <p:cNvPr id="414722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41472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D06DDDEF-8539-4F42-9B37-E360F7BC68D7}" type="slidenum">
              <a:rPr lang="en-US" sz="1000"/>
              <a:pPr algn="r" defTabSz="852488"/>
              <a:t>51</a:t>
            </a:fld>
            <a:endParaRPr lang="en-US" sz="1000"/>
          </a:p>
        </p:txBody>
      </p:sp>
      <p:sp>
        <p:nvSpPr>
          <p:cNvPr id="41472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382000" cy="990600"/>
          </a:xfrm>
        </p:spPr>
        <p:txBody>
          <a:bodyPr/>
          <a:lstStyle/>
          <a:p>
            <a:pPr eaLnBrk="1" hangingPunct="1"/>
            <a:r>
              <a:rPr lang="en-US" sz="2800" smtClean="0"/>
              <a:t>Using Excel for the</a:t>
            </a:r>
            <a:br>
              <a:rPr lang="en-US" sz="2800" smtClean="0"/>
            </a:br>
            <a:r>
              <a:rPr lang="en-US" sz="2800" smtClean="0"/>
              <a:t>Hypergeometric Distribution (n = 8, N = 30, A = 10)</a:t>
            </a:r>
          </a:p>
        </p:txBody>
      </p:sp>
      <p:pic>
        <p:nvPicPr>
          <p:cNvPr id="414725" name="Picture 4" descr="Figure 5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533400" y="1652588"/>
            <a:ext cx="8001000" cy="4746625"/>
          </a:xfrm>
        </p:spPr>
      </p:pic>
      <p:cxnSp>
        <p:nvCxnSpPr>
          <p:cNvPr id="414726" name="Straight Arrow Connector 6"/>
          <p:cNvCxnSpPr>
            <a:cxnSpLocks noChangeShapeType="1"/>
          </p:cNvCxnSpPr>
          <p:nvPr/>
        </p:nvCxnSpPr>
        <p:spPr bwMode="auto">
          <a:xfrm rot="5400000">
            <a:off x="4686300" y="1562100"/>
            <a:ext cx="1524000" cy="6858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med" len="med"/>
          </a:ln>
        </p:spPr>
      </p:cxnSp>
      <p:cxnSp>
        <p:nvCxnSpPr>
          <p:cNvPr id="414727" name="Straight Arrow Connector 7"/>
          <p:cNvCxnSpPr>
            <a:cxnSpLocks noChangeShapeType="1"/>
          </p:cNvCxnSpPr>
          <p:nvPr/>
        </p:nvCxnSpPr>
        <p:spPr bwMode="auto">
          <a:xfrm rot="10800000" flipV="1">
            <a:off x="5105400" y="1143000"/>
            <a:ext cx="3048000" cy="17526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med" len="med"/>
          </a:ln>
        </p:spPr>
      </p:cxnSp>
      <p:cxnSp>
        <p:nvCxnSpPr>
          <p:cNvPr id="414728" name="Straight Arrow Connector 10"/>
          <p:cNvCxnSpPr>
            <a:cxnSpLocks noChangeShapeType="1"/>
          </p:cNvCxnSpPr>
          <p:nvPr/>
        </p:nvCxnSpPr>
        <p:spPr bwMode="auto">
          <a:xfrm rot="5400000">
            <a:off x="5029200" y="1219200"/>
            <a:ext cx="1981200" cy="182880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 type="arrow" w="med" len="med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DDBF927F-6FC3-4A87-8BF8-E128BA900D41}" type="slidenum">
              <a:rPr lang="en-US" smtClean="0"/>
              <a:pPr/>
              <a:t>52</a:t>
            </a:fld>
            <a:endParaRPr lang="en-US" smtClean="0"/>
          </a:p>
        </p:txBody>
      </p:sp>
      <p:sp>
        <p:nvSpPr>
          <p:cNvPr id="415746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415747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z="2800" smtClean="0"/>
              <a:t>Using Minitab For The Hypergeometric Distribution (n = 8, N = 30, A = 10)</a:t>
            </a:r>
          </a:p>
        </p:txBody>
      </p:sp>
      <p:sp>
        <p:nvSpPr>
          <p:cNvPr id="415748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42406065-2955-46B4-AFF9-F80BC3B1B172}" type="slidenum">
              <a:rPr lang="en-US" sz="1000"/>
              <a:pPr algn="r" defTabSz="852488"/>
              <a:t>52</a:t>
            </a:fld>
            <a:endParaRPr lang="en-US" sz="1000"/>
          </a:p>
        </p:txBody>
      </p:sp>
      <p:pic>
        <p:nvPicPr>
          <p:cNvPr id="415749" name="Picture 2"/>
          <p:cNvPicPr>
            <a:picLocks noChangeAspect="1" noChangeArrowheads="1"/>
          </p:cNvPicPr>
          <p:nvPr/>
        </p:nvPicPr>
        <p:blipFill>
          <a:blip r:embed="rId2"/>
          <a:srcRect r="72221" b="22221"/>
          <a:stretch>
            <a:fillRect/>
          </a:stretch>
        </p:blipFill>
        <p:spPr bwMode="auto">
          <a:xfrm>
            <a:off x="1066800" y="1524000"/>
            <a:ext cx="2895600" cy="506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5750" name="Picture 3"/>
          <p:cNvPicPr>
            <a:picLocks noChangeAspect="1" noChangeArrowheads="1"/>
          </p:cNvPicPr>
          <p:nvPr/>
        </p:nvPicPr>
        <p:blipFill>
          <a:blip r:embed="rId3"/>
          <a:srcRect r="73958" b="25000"/>
          <a:stretch>
            <a:fillRect/>
          </a:stretch>
        </p:blipFill>
        <p:spPr bwMode="auto">
          <a:xfrm>
            <a:off x="4876800" y="1524000"/>
            <a:ext cx="2819400" cy="5075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5751" name="Oval 7"/>
          <p:cNvSpPr>
            <a:spLocks noChangeArrowheads="1"/>
          </p:cNvSpPr>
          <p:nvPr/>
        </p:nvSpPr>
        <p:spPr bwMode="auto">
          <a:xfrm>
            <a:off x="685800" y="5486400"/>
            <a:ext cx="381000" cy="381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sz="1400"/>
              <a:t>1</a:t>
            </a:r>
          </a:p>
        </p:txBody>
      </p:sp>
      <p:sp>
        <p:nvSpPr>
          <p:cNvPr id="415752" name="Oval 8"/>
          <p:cNvSpPr>
            <a:spLocks noChangeArrowheads="1"/>
          </p:cNvSpPr>
          <p:nvPr/>
        </p:nvSpPr>
        <p:spPr bwMode="auto">
          <a:xfrm>
            <a:off x="1676400" y="1143000"/>
            <a:ext cx="381000" cy="381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sz="1400"/>
              <a:t>2</a:t>
            </a:r>
          </a:p>
        </p:txBody>
      </p:sp>
      <p:sp>
        <p:nvSpPr>
          <p:cNvPr id="415753" name="Oval 9"/>
          <p:cNvSpPr>
            <a:spLocks noChangeArrowheads="1"/>
          </p:cNvSpPr>
          <p:nvPr/>
        </p:nvSpPr>
        <p:spPr bwMode="auto">
          <a:xfrm>
            <a:off x="1219200" y="3048000"/>
            <a:ext cx="381000" cy="381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sz="1400"/>
              <a:t>3</a:t>
            </a:r>
          </a:p>
        </p:txBody>
      </p:sp>
      <p:sp>
        <p:nvSpPr>
          <p:cNvPr id="415754" name="Oval 10"/>
          <p:cNvSpPr>
            <a:spLocks noChangeArrowheads="1"/>
          </p:cNvSpPr>
          <p:nvPr/>
        </p:nvSpPr>
        <p:spPr bwMode="auto">
          <a:xfrm>
            <a:off x="2514600" y="4114800"/>
            <a:ext cx="381000" cy="381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sz="1400"/>
              <a:t>4</a:t>
            </a:r>
          </a:p>
        </p:txBody>
      </p:sp>
      <p:sp>
        <p:nvSpPr>
          <p:cNvPr id="415755" name="Oval 11"/>
          <p:cNvSpPr>
            <a:spLocks noChangeArrowheads="1"/>
          </p:cNvSpPr>
          <p:nvPr/>
        </p:nvSpPr>
        <p:spPr bwMode="auto">
          <a:xfrm>
            <a:off x="7696200" y="3429000"/>
            <a:ext cx="381000" cy="381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en-US" sz="1400"/>
              <a:t>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6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C6FC377D-41DD-48DB-B96D-864F747DD203}" type="slidenum">
              <a:rPr lang="en-US" smtClean="0"/>
              <a:pPr/>
              <a:t>53</a:t>
            </a:fld>
            <a:endParaRPr lang="en-US" smtClean="0"/>
          </a:p>
        </p:txBody>
      </p:sp>
      <p:sp>
        <p:nvSpPr>
          <p:cNvPr id="416770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41677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5-</a:t>
            </a:r>
            <a:fld id="{C6FDEA32-7149-4E83-8A62-2AD768E2CFE5}" type="slidenum">
              <a:rPr lang="en-US" sz="1000"/>
              <a:pPr algn="r" defTabSz="852488"/>
              <a:t>53</a:t>
            </a:fld>
            <a:endParaRPr lang="en-US" sz="1000"/>
          </a:p>
        </p:txBody>
      </p:sp>
      <p:sp>
        <p:nvSpPr>
          <p:cNvPr id="416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smtClean="0"/>
              <a:t>Chapter Summary</a:t>
            </a:r>
          </a:p>
        </p:txBody>
      </p:sp>
      <p:sp>
        <p:nvSpPr>
          <p:cNvPr id="41677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smtClean="0"/>
              <a:t>Addressed the probability distribution of a discrete random variable</a:t>
            </a:r>
          </a:p>
          <a:p>
            <a:pPr eaLnBrk="1" hangingPunct="1">
              <a:lnSpc>
                <a:spcPct val="110000"/>
              </a:lnSpc>
            </a:pPr>
            <a:r>
              <a:rPr lang="en-US" smtClean="0"/>
              <a:t>Defined covariance and discussed its application in finance</a:t>
            </a:r>
          </a:p>
          <a:p>
            <a:pPr eaLnBrk="1" hangingPunct="1">
              <a:lnSpc>
                <a:spcPct val="110000"/>
              </a:lnSpc>
            </a:pPr>
            <a:r>
              <a:rPr lang="en-US" smtClean="0"/>
              <a:t>Discussed the Binomial distribution</a:t>
            </a:r>
          </a:p>
          <a:p>
            <a:pPr eaLnBrk="1" hangingPunct="1">
              <a:lnSpc>
                <a:spcPct val="110000"/>
              </a:lnSpc>
            </a:pPr>
            <a:r>
              <a:rPr lang="en-US" smtClean="0"/>
              <a:t>Discussed the Poisson distribution </a:t>
            </a:r>
          </a:p>
          <a:p>
            <a:pPr eaLnBrk="1" hangingPunct="1">
              <a:lnSpc>
                <a:spcPct val="110000"/>
              </a:lnSpc>
            </a:pPr>
            <a:r>
              <a:rPr lang="en-US" smtClean="0"/>
              <a:t>Discussed the Hypergeometric distribution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3" name="Rectangle 1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643630E1-25CE-4AA3-A5CD-8D905726E11C}" type="slidenum">
              <a:rPr lang="en-US" smtClean="0"/>
              <a:pPr/>
              <a:t>54</a:t>
            </a:fld>
            <a:endParaRPr lang="en-US" smtClean="0"/>
          </a:p>
        </p:txBody>
      </p:sp>
      <p:sp>
        <p:nvSpPr>
          <p:cNvPr id="417794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417795" name="Rectangle 2051"/>
          <p:cNvSpPr>
            <a:spLocks noGrp="1" noChangeArrowheads="1"/>
          </p:cNvSpPr>
          <p:nvPr>
            <p:ph type="subTitle" idx="1"/>
          </p:nvPr>
        </p:nvSpPr>
        <p:spPr>
          <a:xfrm>
            <a:off x="1600200" y="3505200"/>
            <a:ext cx="6477000" cy="24431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500" b="1" smtClean="0"/>
              <a:t>On Line Topic</a:t>
            </a:r>
          </a:p>
          <a:p>
            <a:pPr eaLnBrk="1" hangingPunct="1"/>
            <a:endParaRPr lang="en-US" sz="3500" smtClean="0"/>
          </a:p>
          <a:p>
            <a:pPr eaLnBrk="1" hangingPunct="1"/>
            <a:r>
              <a:rPr lang="en-US" sz="3500" smtClean="0"/>
              <a:t>The Poisson Approximation To The Binomial Distribution</a:t>
            </a:r>
          </a:p>
        </p:txBody>
      </p:sp>
      <p:sp>
        <p:nvSpPr>
          <p:cNvPr id="417796" name="Rectangle 2054"/>
          <p:cNvSpPr>
            <a:spLocks noChangeArrowheads="1"/>
          </p:cNvSpPr>
          <p:nvPr/>
        </p:nvSpPr>
        <p:spPr bwMode="auto">
          <a:xfrm>
            <a:off x="1447800" y="838200"/>
            <a:ext cx="7010400" cy="206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ctr" defTabSz="852488"/>
            <a:r>
              <a:rPr lang="en-US" i="1">
                <a:solidFill>
                  <a:schemeClr val="folHlink"/>
                </a:solidFill>
              </a:rPr>
              <a:t>Basic Business Statistics</a:t>
            </a:r>
            <a:r>
              <a:rPr lang="en-US" sz="4100">
                <a:solidFill>
                  <a:schemeClr val="folHlink"/>
                </a:solidFill>
              </a:rPr>
              <a:t/>
            </a:r>
            <a:br>
              <a:rPr lang="en-US" sz="4100">
                <a:solidFill>
                  <a:schemeClr val="folHlink"/>
                </a:solidFill>
              </a:rPr>
            </a:br>
            <a:r>
              <a:rPr lang="en-US" sz="3600">
                <a:solidFill>
                  <a:schemeClr val="folHlink"/>
                </a:solidFill>
              </a:rPr>
              <a:t>12</a:t>
            </a:r>
            <a:r>
              <a:rPr lang="en-US" sz="3600" baseline="30000">
                <a:solidFill>
                  <a:schemeClr val="folHlink"/>
                </a:solidFill>
              </a:rPr>
              <a:t>th</a:t>
            </a:r>
            <a:r>
              <a:rPr lang="en-US" sz="3600">
                <a:solidFill>
                  <a:schemeClr val="folHlink"/>
                </a:solidFill>
              </a:rPr>
              <a:t>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6DF5E139-572E-4D9D-9A84-88CEBB6FD465}" type="slidenum">
              <a:rPr lang="en-US" smtClean="0"/>
              <a:pPr/>
              <a:t>55</a:t>
            </a:fld>
            <a:endParaRPr lang="en-US" smtClean="0"/>
          </a:p>
        </p:txBody>
      </p:sp>
      <p:sp>
        <p:nvSpPr>
          <p:cNvPr id="418818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418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Learning Objectives</a:t>
            </a:r>
          </a:p>
        </p:txBody>
      </p:sp>
      <p:sp>
        <p:nvSpPr>
          <p:cNvPr id="418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b="1" smtClean="0"/>
              <a:t>In this topic, you learn:</a:t>
            </a:r>
            <a:r>
              <a:rPr lang="en-US" smtClean="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When to use the Poisson distribution to approximate the binomial distribution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How to use the Poisson distribution to approximate the binomial distribution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46F24A27-AFF4-44D0-B480-F3DFE1E9C5C9}" type="slidenum">
              <a:rPr lang="en-US" smtClean="0"/>
              <a:pPr/>
              <a:t>56</a:t>
            </a:fld>
            <a:endParaRPr lang="en-US" smtClean="0"/>
          </a:p>
        </p:txBody>
      </p:sp>
      <p:sp>
        <p:nvSpPr>
          <p:cNvPr id="419842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419843" name="Title 1"/>
          <p:cNvSpPr>
            <a:spLocks noGrp="1"/>
          </p:cNvSpPr>
          <p:nvPr>
            <p:ph type="title"/>
          </p:nvPr>
        </p:nvSpPr>
        <p:spPr>
          <a:xfrm>
            <a:off x="762000" y="228600"/>
            <a:ext cx="7924800" cy="990600"/>
          </a:xfrm>
        </p:spPr>
        <p:txBody>
          <a:bodyPr/>
          <a:lstStyle/>
          <a:p>
            <a:pPr eaLnBrk="1" hangingPunct="1"/>
            <a:r>
              <a:rPr lang="en-US" sz="3200" smtClean="0"/>
              <a:t>The Poisson Distribution Can Be Used To Approximate The Binomial Distribution</a:t>
            </a:r>
          </a:p>
        </p:txBody>
      </p:sp>
      <p:sp>
        <p:nvSpPr>
          <p:cNvPr id="41984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Most useful when n is large and </a:t>
            </a:r>
            <a:r>
              <a:rPr lang="el-GR" smtClean="0"/>
              <a:t>π</a:t>
            </a:r>
            <a:r>
              <a:rPr lang="en-US" smtClean="0"/>
              <a:t> is very small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The approximation gets better as n gets larger and </a:t>
            </a:r>
            <a:r>
              <a:rPr lang="el-GR" smtClean="0"/>
              <a:t>π</a:t>
            </a:r>
            <a:r>
              <a:rPr lang="en-US" smtClean="0"/>
              <a:t> gets smaller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2D6CBE54-BF37-4F60-80C5-9301203792F9}" type="slidenum">
              <a:rPr lang="en-US" smtClean="0"/>
              <a:pPr/>
              <a:t>57</a:t>
            </a:fld>
            <a:endParaRPr lang="en-US" smtClean="0"/>
          </a:p>
        </p:txBody>
      </p:sp>
      <p:sp>
        <p:nvSpPr>
          <p:cNvPr id="393220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93221" name="Title 1"/>
          <p:cNvSpPr>
            <a:spLocks noGrp="1"/>
          </p:cNvSpPr>
          <p:nvPr>
            <p:ph type="title"/>
          </p:nvPr>
        </p:nvSpPr>
        <p:spPr>
          <a:xfrm>
            <a:off x="1143000" y="457200"/>
            <a:ext cx="7383463" cy="990600"/>
          </a:xfrm>
        </p:spPr>
        <p:txBody>
          <a:bodyPr/>
          <a:lstStyle/>
          <a:p>
            <a:pPr eaLnBrk="1" hangingPunct="1"/>
            <a:r>
              <a:rPr lang="en-US" smtClean="0"/>
              <a:t>The Formula For The Approximation</a:t>
            </a:r>
          </a:p>
        </p:txBody>
      </p:sp>
      <p:graphicFrame>
        <p:nvGraphicFramePr>
          <p:cNvPr id="393218" name="Object 2"/>
          <p:cNvGraphicFramePr>
            <a:graphicFrameLocks noChangeAspect="1"/>
          </p:cNvGraphicFramePr>
          <p:nvPr/>
        </p:nvGraphicFramePr>
        <p:xfrm>
          <a:off x="2667000" y="1752600"/>
          <a:ext cx="3671888" cy="1274763"/>
        </p:xfrm>
        <a:graphic>
          <a:graphicData uri="http://schemas.openxmlformats.org/presentationml/2006/ole">
            <p:oleObj spid="_x0000_s393218" name="Equation" r:id="rId3" imgW="1206360" imgH="419040" progId="Equation.3">
              <p:embed/>
            </p:oleObj>
          </a:graphicData>
        </a:graphic>
      </p:graphicFrame>
      <p:sp>
        <p:nvSpPr>
          <p:cNvPr id="393222" name="TextBox 6"/>
          <p:cNvSpPr txBox="1">
            <a:spLocks noChangeArrowheads="1"/>
          </p:cNvSpPr>
          <p:nvPr/>
        </p:nvSpPr>
        <p:spPr bwMode="auto">
          <a:xfrm>
            <a:off x="457200" y="3657600"/>
            <a:ext cx="8275638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Where</a:t>
            </a:r>
          </a:p>
          <a:p>
            <a:r>
              <a:rPr lang="en-US" sz="1800"/>
              <a:t>	P(X) = probability of X events of interest given the parameters n and </a:t>
            </a:r>
            <a:r>
              <a:rPr lang="el-GR" sz="1800" i="1"/>
              <a:t>π</a:t>
            </a:r>
            <a:endParaRPr lang="en-US" sz="1800" i="1"/>
          </a:p>
          <a:p>
            <a:r>
              <a:rPr lang="en-US" sz="1800"/>
              <a:t>	     n = sample size</a:t>
            </a:r>
          </a:p>
          <a:p>
            <a:r>
              <a:rPr lang="en-US" sz="1800"/>
              <a:t>	     </a:t>
            </a:r>
            <a:r>
              <a:rPr lang="el-GR" sz="1800" i="1"/>
              <a:t>π</a:t>
            </a:r>
            <a:r>
              <a:rPr lang="en-US" sz="1800"/>
              <a:t> = probability of an event of interest</a:t>
            </a:r>
          </a:p>
          <a:p>
            <a:r>
              <a:rPr lang="en-US" sz="1800"/>
              <a:t>	     e = mathematical constant approximated by 2.71828</a:t>
            </a:r>
          </a:p>
          <a:p>
            <a:r>
              <a:rPr lang="en-US" sz="1800"/>
              <a:t>	     X = number of events of interest in the sample (X = 0, 1, 2, . . . , n)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D2700441-7179-450B-9EB1-BE97EBB287CF}" type="slidenum">
              <a:rPr lang="en-US" smtClean="0"/>
              <a:pPr/>
              <a:t>58</a:t>
            </a:fld>
            <a:endParaRPr lang="en-US" smtClean="0"/>
          </a:p>
        </p:txBody>
      </p:sp>
      <p:sp>
        <p:nvSpPr>
          <p:cNvPr id="400388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400389" name="Title 1"/>
          <p:cNvSpPr>
            <a:spLocks noGrp="1"/>
          </p:cNvSpPr>
          <p:nvPr>
            <p:ph type="title"/>
          </p:nvPr>
        </p:nvSpPr>
        <p:spPr>
          <a:xfrm>
            <a:off x="1150938" y="381000"/>
            <a:ext cx="7383462" cy="990600"/>
          </a:xfrm>
        </p:spPr>
        <p:txBody>
          <a:bodyPr/>
          <a:lstStyle/>
          <a:p>
            <a:pPr eaLnBrk="1" hangingPunct="1"/>
            <a:r>
              <a:rPr lang="en-US" sz="3600" smtClean="0"/>
              <a:t>The Mean &amp; Standard Deviation Of The Poisson Distribution</a:t>
            </a:r>
          </a:p>
        </p:txBody>
      </p:sp>
      <p:graphicFrame>
        <p:nvGraphicFramePr>
          <p:cNvPr id="400386" name="Object 2"/>
          <p:cNvGraphicFramePr>
            <a:graphicFrameLocks noChangeAspect="1"/>
          </p:cNvGraphicFramePr>
          <p:nvPr/>
        </p:nvGraphicFramePr>
        <p:xfrm>
          <a:off x="1981200" y="2286000"/>
          <a:ext cx="5372100" cy="2819400"/>
        </p:xfrm>
        <a:graphic>
          <a:graphicData uri="http://schemas.openxmlformats.org/presentationml/2006/ole">
            <p:oleObj spid="_x0000_s400386" name="Equation" r:id="rId3" imgW="1282680" imgH="672840" progId="Equation.3">
              <p:embed/>
            </p:oleObj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AC49F7C1-00AC-4886-A585-E4BDF894086B}" type="slidenum">
              <a:rPr lang="en-US" smtClean="0"/>
              <a:pPr/>
              <a:t>59</a:t>
            </a:fld>
            <a:endParaRPr lang="en-US" smtClean="0"/>
          </a:p>
        </p:txBody>
      </p:sp>
      <p:sp>
        <p:nvSpPr>
          <p:cNvPr id="401412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4014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Calculating Probabilities</a:t>
            </a:r>
          </a:p>
        </p:txBody>
      </p:sp>
      <p:sp>
        <p:nvSpPr>
          <p:cNvPr id="401414" name="Content Placeholder 2"/>
          <p:cNvSpPr>
            <a:spLocks noGrp="1"/>
          </p:cNvSpPr>
          <p:nvPr>
            <p:ph idx="1"/>
          </p:nvPr>
        </p:nvSpPr>
        <p:spPr>
          <a:xfrm>
            <a:off x="609600" y="1828800"/>
            <a:ext cx="8077200" cy="1524000"/>
          </a:xfrm>
        </p:spPr>
        <p:txBody>
          <a:bodyPr/>
          <a:lstStyle/>
          <a:p>
            <a:pPr eaLnBrk="1" hangingPunct="1"/>
            <a:r>
              <a:rPr lang="en-US" smtClean="0"/>
              <a:t>Suppose </a:t>
            </a:r>
            <a:r>
              <a:rPr lang="el-GR" i="1" smtClean="0"/>
              <a:t>π</a:t>
            </a:r>
            <a:r>
              <a:rPr lang="en-US" smtClean="0"/>
              <a:t> = 0.08 and n = 20 then </a:t>
            </a:r>
            <a:r>
              <a:rPr lang="el-GR" smtClean="0"/>
              <a:t>μ</a:t>
            </a:r>
            <a:r>
              <a:rPr lang="en-US" smtClean="0"/>
              <a:t> = 1.6</a:t>
            </a:r>
          </a:p>
          <a:p>
            <a:pPr eaLnBrk="1" hangingPunct="1"/>
            <a:r>
              <a:rPr lang="en-US" smtClean="0"/>
              <a:t>Can calculate by hand or can use Poisson probability tables</a:t>
            </a:r>
          </a:p>
        </p:txBody>
      </p:sp>
      <p:sp>
        <p:nvSpPr>
          <p:cNvPr id="401415" name="Rectangle 5"/>
          <p:cNvSpPr>
            <a:spLocks noChangeArrowheads="1"/>
          </p:cNvSpPr>
          <p:nvPr/>
        </p:nvSpPr>
        <p:spPr bwMode="auto">
          <a:xfrm>
            <a:off x="1676400" y="4800600"/>
            <a:ext cx="5562600" cy="1384300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/>
              <a:t>			</a:t>
            </a:r>
            <a:r>
              <a:rPr lang="el-GR" sz="1200"/>
              <a:t>λ</a:t>
            </a:r>
            <a:r>
              <a:rPr lang="en-US" sz="1200"/>
              <a:t>=n</a:t>
            </a:r>
            <a:r>
              <a:rPr lang="el-GR" sz="1200"/>
              <a:t>π</a:t>
            </a:r>
            <a:endParaRPr lang="en-US" sz="1200"/>
          </a:p>
          <a:p>
            <a:r>
              <a:rPr lang="en-US" sz="1200" b="1" i="1"/>
              <a:t>X    1.1      1.2        1.3       1.4       1.5       1.6       1.7       1.8       1.9       2.0</a:t>
            </a:r>
          </a:p>
          <a:p>
            <a:r>
              <a:rPr lang="en-US" sz="1200"/>
              <a:t>0    .3329   .3012   .2725   .2466   .2231   .2019   .1827   .1653   .1496   .1353</a:t>
            </a:r>
          </a:p>
          <a:p>
            <a:r>
              <a:rPr lang="en-US" sz="1200"/>
              <a:t> l    .3662   .3614   .3543   .3452   .3347   .3230   .3106   .2975   .2842   .2707</a:t>
            </a:r>
          </a:p>
          <a:p>
            <a:r>
              <a:rPr lang="en-US" sz="1200"/>
              <a:t>2    .2014   .2169   .2303   .2417   .2510   .2584   .2640   .2678   .2700   .2707</a:t>
            </a:r>
          </a:p>
          <a:p>
            <a:r>
              <a:rPr lang="en-US" sz="1200"/>
              <a:t>3    .0738   .0867   .0998   .1128   .1255   .1378   .1496   .1607   .1710   .1804</a:t>
            </a:r>
          </a:p>
          <a:p>
            <a:r>
              <a:rPr lang="en-US" sz="1200"/>
              <a:t>4    .0203   .0260   .0324   .0395   .0471   .0551   .0636   .0723   .0812   .0902</a:t>
            </a:r>
          </a:p>
        </p:txBody>
      </p:sp>
      <p:sp>
        <p:nvSpPr>
          <p:cNvPr id="401416" name="Rectangle 7"/>
          <p:cNvSpPr>
            <a:spLocks noChangeArrowheads="1"/>
          </p:cNvSpPr>
          <p:nvPr/>
        </p:nvSpPr>
        <p:spPr bwMode="auto">
          <a:xfrm>
            <a:off x="4495800" y="5410200"/>
            <a:ext cx="457200" cy="152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GB"/>
          </a:p>
        </p:txBody>
      </p:sp>
      <p:graphicFrame>
        <p:nvGraphicFramePr>
          <p:cNvPr id="401410" name="Object 2"/>
          <p:cNvGraphicFramePr>
            <a:graphicFrameLocks noChangeAspect="1"/>
          </p:cNvGraphicFramePr>
          <p:nvPr/>
        </p:nvGraphicFramePr>
        <p:xfrm>
          <a:off x="1676400" y="3429000"/>
          <a:ext cx="5459413" cy="914400"/>
        </p:xfrm>
        <a:graphic>
          <a:graphicData uri="http://schemas.openxmlformats.org/presentationml/2006/ole">
            <p:oleObj spid="_x0000_s401410" name="Equation" r:id="rId3" imgW="2501640" imgH="419040" progId="Equation.3">
              <p:embed/>
            </p:oleObj>
          </a:graphicData>
        </a:graphic>
      </p:graphicFrame>
      <p:cxnSp>
        <p:nvCxnSpPr>
          <p:cNvPr id="401417" name="Straight Arrow Connector 9"/>
          <p:cNvCxnSpPr>
            <a:cxnSpLocks noChangeShapeType="1"/>
          </p:cNvCxnSpPr>
          <p:nvPr/>
        </p:nvCxnSpPr>
        <p:spPr bwMode="auto">
          <a:xfrm>
            <a:off x="838200" y="5486400"/>
            <a:ext cx="685800" cy="1588"/>
          </a:xfrm>
          <a:prstGeom prst="straightConnector1">
            <a:avLst/>
          </a:prstGeom>
          <a:noFill/>
          <a:ln w="41275" algn="ctr">
            <a:solidFill>
              <a:schemeClr val="tx1"/>
            </a:solidFill>
            <a:miter lim="800000"/>
            <a:headEnd/>
            <a:tailEnd type="arrow" w="med" len="med"/>
          </a:ln>
        </p:spPr>
      </p:cxnSp>
      <p:cxnSp>
        <p:nvCxnSpPr>
          <p:cNvPr id="401418" name="Straight Arrow Connector 11"/>
          <p:cNvCxnSpPr>
            <a:cxnSpLocks noChangeShapeType="1"/>
          </p:cNvCxnSpPr>
          <p:nvPr/>
        </p:nvCxnSpPr>
        <p:spPr bwMode="auto">
          <a:xfrm rot="5400000">
            <a:off x="4876800" y="4572000"/>
            <a:ext cx="533400" cy="533400"/>
          </a:xfrm>
          <a:prstGeom prst="straightConnector1">
            <a:avLst/>
          </a:prstGeom>
          <a:noFill/>
          <a:ln w="41275" algn="ctr">
            <a:solidFill>
              <a:schemeClr val="tx1"/>
            </a:solidFill>
            <a:miter lim="800000"/>
            <a:headEnd/>
            <a:tailEnd type="arrow" w="med" len="med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Chap 5-</a:t>
            </a:r>
            <a:fld id="{9A5563AE-BD84-47BB-910E-14BB9A66BEFF}" type="slidenum">
              <a:rPr lang="en-US" smtClean="0"/>
              <a:pPr/>
              <a:t>60</a:t>
            </a:fld>
            <a:endParaRPr lang="en-US" smtClean="0"/>
          </a:p>
        </p:txBody>
      </p:sp>
      <p:sp>
        <p:nvSpPr>
          <p:cNvPr id="423938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423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Topic Summary</a:t>
            </a:r>
          </a:p>
        </p:txBody>
      </p:sp>
      <p:sp>
        <p:nvSpPr>
          <p:cNvPr id="423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5344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b="1" smtClean="0"/>
              <a:t>In this topic, you learned:</a:t>
            </a:r>
            <a:r>
              <a:rPr lang="en-US" smtClean="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When to use the Poisson distribution to approximate the binomial distribution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How to use the Poisson distribution to approximate the binomial distribution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nHall1">
  <a:themeElements>
    <a:clrScheme name="PrenHall1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PrenHall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PrenHall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nHall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nHall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nHall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nHall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nHall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nHall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2190</TotalTime>
  <Pages>20</Pages>
  <Words>3030</Words>
  <Application>Microsoft Office PowerPoint</Application>
  <PresentationFormat>On-screen Show (4:3)</PresentationFormat>
  <Paragraphs>901</Paragraphs>
  <Slides>60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Design Template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60</vt:i4>
      </vt:variant>
    </vt:vector>
  </HeadingPairs>
  <TitlesOfParts>
    <vt:vector size="69" baseType="lpstr">
      <vt:lpstr>Arial</vt:lpstr>
      <vt:lpstr>Wingdings</vt:lpstr>
      <vt:lpstr>Times New Roman</vt:lpstr>
      <vt:lpstr>Symbol</vt:lpstr>
      <vt:lpstr>System</vt:lpstr>
      <vt:lpstr>PrenHall1</vt:lpstr>
      <vt:lpstr>PrenHall1</vt:lpstr>
      <vt:lpstr>Equation</vt:lpstr>
      <vt:lpstr>Microsoft Excel Chart</vt:lpstr>
      <vt:lpstr>Slide 1</vt:lpstr>
      <vt:lpstr>Learning Objectives</vt:lpstr>
      <vt:lpstr>Definitions Random Variables</vt:lpstr>
      <vt:lpstr>Definitions Random Variables</vt:lpstr>
      <vt:lpstr>Discrete Random Variables</vt:lpstr>
      <vt:lpstr>Probability Distribution For A Discrete Random Variable</vt:lpstr>
      <vt:lpstr>Example of  a Discrete Random Variable Probability Distribution</vt:lpstr>
      <vt:lpstr>Discrete Random Variables Expected Value (Measuring Center)</vt:lpstr>
      <vt:lpstr>Discrete Random Variables  Measuring Dispersion</vt:lpstr>
      <vt:lpstr>Discrete Random Variables  Measuring Dispersion</vt:lpstr>
      <vt:lpstr>Covariance</vt:lpstr>
      <vt:lpstr>The Covariance Formula</vt:lpstr>
      <vt:lpstr>Investment Returns The Mean</vt:lpstr>
      <vt:lpstr>Investment Returns The Mean</vt:lpstr>
      <vt:lpstr>Investment Returns Standard Deviation</vt:lpstr>
      <vt:lpstr>Investment Returns Covariance</vt:lpstr>
      <vt:lpstr>The Sum of  Two Random Variables</vt:lpstr>
      <vt:lpstr>Portfolio Expected Return and Expected Risk</vt:lpstr>
      <vt:lpstr>Portfolio Expected Return  and Portfolio Risk</vt:lpstr>
      <vt:lpstr>Portfolio Example</vt:lpstr>
      <vt:lpstr>Slide 21</vt:lpstr>
      <vt:lpstr>Binomial Probability Distribution</vt:lpstr>
      <vt:lpstr>Binomial Probability Distribution</vt:lpstr>
      <vt:lpstr>Possible Applications for the Binomial Distribution</vt:lpstr>
      <vt:lpstr>The Binomial Distribution Counting Techniques</vt:lpstr>
      <vt:lpstr>Counting Techniques Rule of Combinations</vt:lpstr>
      <vt:lpstr>Counting Techniques Rule of Combinations</vt:lpstr>
      <vt:lpstr>Binomial Distribution Formula</vt:lpstr>
      <vt:lpstr>Example:  Calculating a Binomial Probability</vt:lpstr>
      <vt:lpstr>The Binomial Distribution Example</vt:lpstr>
      <vt:lpstr>The Binomial Distribution Shape</vt:lpstr>
      <vt:lpstr>The Binomial Distribution Using Binomial Tables (Available On Line)</vt:lpstr>
      <vt:lpstr>Binomial Distribution Characteristics</vt:lpstr>
      <vt:lpstr>The Binomial Distribution Characteristics</vt:lpstr>
      <vt:lpstr>Using Excel For The Binomial Distribution (n = 4, π = 0.1)</vt:lpstr>
      <vt:lpstr>Using Minitab For The Binomial Distribution (n = 4, π = 0.1)</vt:lpstr>
      <vt:lpstr>The Poisson Distribution Definitions</vt:lpstr>
      <vt:lpstr>The Poisson Distribution</vt:lpstr>
      <vt:lpstr>Poisson Distribution Formula</vt:lpstr>
      <vt:lpstr>Poisson Distribution Characteristics</vt:lpstr>
      <vt:lpstr>Using Poisson Tables (Available On Line)</vt:lpstr>
      <vt:lpstr>Using Excel For The Poisson Distribution (λ= 3)</vt:lpstr>
      <vt:lpstr>Using Minitab For The Poisson Distribution (λ = 3)</vt:lpstr>
      <vt:lpstr>Graph of Poisson Probabilities</vt:lpstr>
      <vt:lpstr>Poisson Distribution Shape</vt:lpstr>
      <vt:lpstr>The Hypergeometric Distribution</vt:lpstr>
      <vt:lpstr>The Hypergeometric Distribution</vt:lpstr>
      <vt:lpstr>Hypergeometric Distribution Formula</vt:lpstr>
      <vt:lpstr>Properties of the  Hypergeometric Distribution</vt:lpstr>
      <vt:lpstr>Using the  Hypergeometric Distribution</vt:lpstr>
      <vt:lpstr>Using Excel for the Hypergeometric Distribution (n = 8, N = 30, A = 10)</vt:lpstr>
      <vt:lpstr>Using Minitab For The Hypergeometric Distribution (n = 8, N = 30, A = 10)</vt:lpstr>
      <vt:lpstr>Chapter Summary</vt:lpstr>
      <vt:lpstr>Slide 54</vt:lpstr>
      <vt:lpstr>Learning Objectives</vt:lpstr>
      <vt:lpstr>The Poisson Distribution Can Be Used To Approximate The Binomial Distribution</vt:lpstr>
      <vt:lpstr>The Formula For The Approximation</vt:lpstr>
      <vt:lpstr>The Mean &amp; Standard Deviation Of The Poisson Distribution</vt:lpstr>
      <vt:lpstr>Calculating Probabilities</vt:lpstr>
      <vt:lpstr>Topic Summary</vt:lpstr>
    </vt:vector>
  </TitlesOfParts>
  <Company>University of San Diego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Business Statistics, 10/e</dc:title>
  <dc:subject>Chapter 5</dc:subject>
  <dc:creator>Dirk Yandell</dc:creator>
  <cp:lastModifiedBy>emiljone</cp:lastModifiedBy>
  <cp:revision>140</cp:revision>
  <cp:lastPrinted>1998-11-22T23:37:53Z</cp:lastPrinted>
  <dcterms:created xsi:type="dcterms:W3CDTF">2001-01-23T16:24:06Z</dcterms:created>
  <dcterms:modified xsi:type="dcterms:W3CDTF">2011-03-23T11:40:19Z</dcterms:modified>
</cp:coreProperties>
</file>