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3" r:id="rId17"/>
    <p:sldId id="284" r:id="rId18"/>
    <p:sldId id="286" r:id="rId19"/>
    <p:sldId id="288" r:id="rId20"/>
    <p:sldId id="289" r:id="rId21"/>
    <p:sldId id="290" r:id="rId22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355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5444"/>
            <a:ext cx="9144000" cy="448309"/>
          </a:xfrm>
          <a:custGeom>
            <a:avLst/>
            <a:gdLst/>
            <a:ahLst/>
            <a:cxnLst/>
            <a:rect l="l" t="t" r="r" b="b"/>
            <a:pathLst>
              <a:path w="9144000" h="448310">
                <a:moveTo>
                  <a:pt x="0" y="448055"/>
                </a:moveTo>
                <a:lnTo>
                  <a:pt x="9144000" y="448055"/>
                </a:lnTo>
                <a:lnTo>
                  <a:pt x="9144000" y="0"/>
                </a:lnTo>
                <a:lnTo>
                  <a:pt x="0" y="0"/>
                </a:lnTo>
                <a:lnTo>
                  <a:pt x="0" y="448055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4695825"/>
          </a:xfrm>
          <a:custGeom>
            <a:avLst/>
            <a:gdLst/>
            <a:ahLst/>
            <a:cxnLst/>
            <a:rect l="l" t="t" r="r" b="b"/>
            <a:pathLst>
              <a:path w="9144000" h="4695825">
                <a:moveTo>
                  <a:pt x="9144000" y="0"/>
                </a:moveTo>
                <a:lnTo>
                  <a:pt x="0" y="0"/>
                </a:lnTo>
                <a:lnTo>
                  <a:pt x="0" y="4695444"/>
                </a:lnTo>
                <a:lnTo>
                  <a:pt x="9144000" y="4695444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4622291"/>
            <a:ext cx="9144000" cy="74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340" y="1226946"/>
            <a:ext cx="852931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RobotoRegular"/>
                <a:cs typeface="Roboto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37373"/>
                </a:solidFill>
                <a:latin typeface="RobotoRegular"/>
                <a:cs typeface="RobotoRegula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RobotoRegular"/>
                <a:cs typeface="Roboto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RobotoRegular"/>
                <a:cs typeface="Roboto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276600" cy="5143500"/>
          </a:xfrm>
          <a:custGeom>
            <a:avLst/>
            <a:gdLst/>
            <a:ahLst/>
            <a:cxnLst/>
            <a:rect l="l" t="t" r="r" b="b"/>
            <a:pathLst>
              <a:path w="3276600" h="5143500">
                <a:moveTo>
                  <a:pt x="0" y="5143500"/>
                </a:moveTo>
                <a:lnTo>
                  <a:pt x="3276600" y="5143500"/>
                </a:lnTo>
                <a:lnTo>
                  <a:pt x="32766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276600" y="0"/>
            <a:ext cx="5867400" cy="5143500"/>
          </a:xfrm>
          <a:custGeom>
            <a:avLst/>
            <a:gdLst/>
            <a:ahLst/>
            <a:cxnLst/>
            <a:rect l="l" t="t" r="r" b="b"/>
            <a:pathLst>
              <a:path w="5867400" h="5143500">
                <a:moveTo>
                  <a:pt x="5867400" y="0"/>
                </a:moveTo>
                <a:lnTo>
                  <a:pt x="0" y="0"/>
                </a:lnTo>
                <a:lnTo>
                  <a:pt x="0" y="5143500"/>
                </a:lnTo>
                <a:lnTo>
                  <a:pt x="5867400" y="5143500"/>
                </a:lnTo>
                <a:lnTo>
                  <a:pt x="58674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1685925"/>
          </a:xfrm>
          <a:custGeom>
            <a:avLst/>
            <a:gdLst/>
            <a:ahLst/>
            <a:cxnLst/>
            <a:rect l="l" t="t" r="r" b="b"/>
            <a:pathLst>
              <a:path w="9144000" h="1685925">
                <a:moveTo>
                  <a:pt x="0" y="1685544"/>
                </a:moveTo>
                <a:lnTo>
                  <a:pt x="9144000" y="1685544"/>
                </a:lnTo>
                <a:lnTo>
                  <a:pt x="9144000" y="0"/>
                </a:lnTo>
                <a:lnTo>
                  <a:pt x="0" y="0"/>
                </a:lnTo>
                <a:lnTo>
                  <a:pt x="0" y="1685544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685543"/>
            <a:ext cx="9144000" cy="3458210"/>
          </a:xfrm>
          <a:custGeom>
            <a:avLst/>
            <a:gdLst/>
            <a:ahLst/>
            <a:cxnLst/>
            <a:rect l="l" t="t" r="r" b="b"/>
            <a:pathLst>
              <a:path w="9144000" h="3458210">
                <a:moveTo>
                  <a:pt x="9144000" y="0"/>
                </a:moveTo>
                <a:lnTo>
                  <a:pt x="0" y="0"/>
                </a:lnTo>
                <a:lnTo>
                  <a:pt x="0" y="3457955"/>
                </a:lnTo>
                <a:lnTo>
                  <a:pt x="9144000" y="3457955"/>
                </a:lnTo>
                <a:lnTo>
                  <a:pt x="914400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685544"/>
            <a:ext cx="9144000" cy="1097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0570" y="405460"/>
            <a:ext cx="8042859" cy="1002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RobotoRegular"/>
                <a:cs typeface="Roboto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2609" y="2180920"/>
            <a:ext cx="7818780" cy="249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37373"/>
                </a:solidFill>
                <a:latin typeface="RobotoRegular"/>
                <a:cs typeface="RobotoRegular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76600" y="0"/>
            <a:ext cx="108203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23461" y="1794154"/>
            <a:ext cx="3439795" cy="148907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42900" indent="-330835">
              <a:lnSpc>
                <a:spcPct val="100000"/>
              </a:lnSpc>
              <a:spcBef>
                <a:spcPts val="10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Introduction to</a:t>
            </a:r>
            <a:r>
              <a:rPr sz="1600" spc="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Statistics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Importance of</a:t>
            </a:r>
            <a:r>
              <a:rPr sz="1600" spc="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Statistics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Understanding Variables</a:t>
            </a:r>
            <a:r>
              <a:rPr sz="1600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34343"/>
                </a:solidFill>
                <a:latin typeface="Arial"/>
                <a:cs typeface="Arial"/>
              </a:rPr>
              <a:t>Types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lr>
                <a:srgbClr val="000000"/>
              </a:buClr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Descriptive vs Inferential</a:t>
            </a:r>
            <a:r>
              <a:rPr sz="1600" spc="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Statistics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471" y="2198370"/>
            <a:ext cx="16452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90" dirty="0">
                <a:solidFill>
                  <a:srgbClr val="FFFFFF"/>
                </a:solidFill>
                <a:latin typeface="Trebuchet MS"/>
                <a:cs typeface="Trebuchet MS"/>
              </a:rPr>
              <a:t>Overview</a:t>
            </a:r>
            <a:r>
              <a:rPr sz="240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rebuchet MS"/>
                <a:cs typeface="Trebuchet MS"/>
              </a:rPr>
              <a:t>of  </a:t>
            </a:r>
            <a:r>
              <a:rPr sz="2400" b="1" spc="5" dirty="0">
                <a:solidFill>
                  <a:srgbClr val="FFFFFF"/>
                </a:solidFill>
                <a:latin typeface="Trebuchet MS"/>
                <a:cs typeface="Trebuchet MS"/>
              </a:rPr>
              <a:t>Statistics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44773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Introduction to</a:t>
            </a:r>
            <a:r>
              <a:rPr spc="-60" dirty="0"/>
              <a:t> </a:t>
            </a:r>
            <a:r>
              <a:rPr spc="-5" dirty="0"/>
              <a:t>Statistics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1941148"/>
            <a:ext cx="5036820" cy="1683153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Science of learning from</a:t>
            </a:r>
            <a:r>
              <a:rPr sz="1800" spc="-3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data.</a:t>
            </a:r>
            <a:endParaRPr sz="1800" dirty="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108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Methodical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data</a:t>
            </a:r>
            <a:r>
              <a:rPr sz="1800" spc="-4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collection.</a:t>
            </a:r>
            <a:endParaRPr sz="1800" dirty="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Employ correct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data</a:t>
            </a:r>
            <a:r>
              <a:rPr sz="1800" spc="-2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analysis.</a:t>
            </a:r>
            <a:endParaRPr sz="1800" dirty="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Presenting analysis</a:t>
            </a:r>
            <a:r>
              <a:rPr sz="1800" spc="-1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10" dirty="0">
                <a:solidFill>
                  <a:srgbClr val="737373"/>
                </a:solidFill>
                <a:latin typeface="RobotoRegular"/>
                <a:cs typeface="RobotoRegular"/>
              </a:rPr>
              <a:t>effectively.</a:t>
            </a:r>
            <a:endParaRPr sz="1800" dirty="0">
              <a:latin typeface="RobotoRegular"/>
              <a:cs typeface="Roboto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20986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Importance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1941148"/>
            <a:ext cx="3360420" cy="208470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Avoid getting biased</a:t>
            </a:r>
            <a:r>
              <a:rPr sz="1800" spc="-2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samples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108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Prevent</a:t>
            </a:r>
            <a:r>
              <a:rPr sz="1800" spc="-1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overgeneralization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Wrong causality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Incorrect</a:t>
            </a:r>
            <a:r>
              <a:rPr sz="1800" spc="-4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Analysis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Applied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to any</a:t>
            </a:r>
            <a:r>
              <a:rPr sz="1800" spc="-1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domain</a:t>
            </a:r>
            <a:endParaRPr sz="1800">
              <a:latin typeface="RobotoRegular"/>
              <a:cs typeface="Roboto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17164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1964435"/>
            <a:ext cx="4682490" cy="12884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Explanatory (predictor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or</a:t>
            </a:r>
            <a:r>
              <a:rPr sz="1800" spc="-3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independent)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Response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(outcome or</a:t>
            </a:r>
            <a:r>
              <a:rPr sz="1800" spc="-5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dependent)</a:t>
            </a:r>
            <a:endParaRPr sz="1800">
              <a:latin typeface="RobotoRegular"/>
              <a:cs typeface="RobotoRegular"/>
            </a:endParaRPr>
          </a:p>
          <a:p>
            <a:pPr marL="355600" marR="5080" indent="-342900">
              <a:lnSpc>
                <a:spcPct val="114999"/>
              </a:lnSpc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A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variable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can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serve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as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independent in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one  study and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dependent in</a:t>
            </a:r>
            <a:r>
              <a:rPr sz="1800" spc="-5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another</a:t>
            </a:r>
            <a:endParaRPr sz="1800">
              <a:latin typeface="RobotoRegular"/>
              <a:cs typeface="RobotoRegular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3336" y="3357371"/>
            <a:ext cx="7280148" cy="1523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405460"/>
            <a:ext cx="681291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Data Types of </a:t>
            </a:r>
            <a:r>
              <a:rPr spc="-5" dirty="0"/>
              <a:t>Variables </a:t>
            </a:r>
            <a:r>
              <a:rPr dirty="0"/>
              <a:t>-</a:t>
            </a:r>
            <a:r>
              <a:rPr spc="-90" dirty="0"/>
              <a:t> </a:t>
            </a:r>
            <a:r>
              <a:rPr dirty="0"/>
              <a:t>Quantitative  </a:t>
            </a:r>
            <a:r>
              <a:rPr spc="-5" dirty="0"/>
              <a:t>versus Qualitative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444" y="2128773"/>
            <a:ext cx="75812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Quantitative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-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Numerical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data.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Eg. weight, temperature,</a:t>
            </a:r>
            <a:r>
              <a:rPr sz="1800" spc="5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number_project</a:t>
            </a:r>
            <a:endParaRPr sz="1800">
              <a:latin typeface="RobotoRegular"/>
              <a:cs typeface="RobotoRegular"/>
            </a:endParaRPr>
          </a:p>
          <a:p>
            <a:pPr>
              <a:lnSpc>
                <a:spcPct val="100000"/>
              </a:lnSpc>
              <a:buClr>
                <a:srgbClr val="737373"/>
              </a:buClr>
              <a:buFont typeface="Times New Roman"/>
              <a:buChar char="●"/>
            </a:pP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Qualitative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-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Non-numerical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data.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Eg.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dept,</a:t>
            </a:r>
            <a:r>
              <a:rPr sz="1800" spc="-3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salary</a:t>
            </a:r>
            <a:endParaRPr sz="1800">
              <a:latin typeface="RobotoRegular"/>
              <a:cs typeface="RobotoRegular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440" y="3194304"/>
            <a:ext cx="8357616" cy="1749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56584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 </a:t>
            </a:r>
            <a:r>
              <a:rPr spc="-5" dirty="0"/>
              <a:t>of Quantitative</a:t>
            </a:r>
            <a:r>
              <a:rPr spc="-30" dirty="0"/>
              <a:t> </a:t>
            </a:r>
            <a:r>
              <a:rPr spc="-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1964435"/>
            <a:ext cx="7849234" cy="97281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Continues - any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numeric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value.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Eg.</a:t>
            </a:r>
            <a:r>
              <a:rPr sz="1800" spc="-5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Sqft</a:t>
            </a:r>
            <a:endParaRPr sz="1800">
              <a:latin typeface="RobotoRegular"/>
              <a:cs typeface="RobotoRegular"/>
            </a:endParaRPr>
          </a:p>
          <a:p>
            <a:pPr marL="355600" marR="5080" indent="-342900">
              <a:lnSpc>
                <a:spcPct val="114999"/>
              </a:lnSpc>
              <a:spcBef>
                <a:spcPts val="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Discrete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-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count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of the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presence of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a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characteristic, result, item,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or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activity.  Eg.</a:t>
            </a:r>
            <a:r>
              <a:rPr sz="1800" spc="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Floor</a:t>
            </a:r>
            <a:endParaRPr sz="1800">
              <a:latin typeface="RobotoRegular"/>
              <a:cs typeface="RobotoRegular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67455" y="3372611"/>
            <a:ext cx="5426963" cy="13487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Qualitative Data: Categorical, Binary, and  Ordinal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1964435"/>
            <a:ext cx="5398770" cy="97281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Categorical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or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Nominal. Eg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- dept (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sales, RD etc.</a:t>
            </a:r>
            <a:r>
              <a:rPr sz="1800" spc="3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)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Binary. Eg. Left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( 1 or 0</a:t>
            </a:r>
            <a:r>
              <a:rPr sz="1800" spc="1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)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Ordinal. Eg.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salary (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low, medium, high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)</a:t>
            </a:r>
            <a:endParaRPr sz="1800">
              <a:latin typeface="RobotoRegular"/>
              <a:cs typeface="RobotoRegular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8324" y="3105911"/>
            <a:ext cx="7280148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Choosing </a:t>
            </a:r>
            <a:r>
              <a:rPr spc="-5" dirty="0"/>
              <a:t>Statistical Analysis based on </a:t>
            </a:r>
            <a:r>
              <a:rPr dirty="0"/>
              <a:t>data  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51117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 </a:t>
            </a:r>
            <a:r>
              <a:rPr spc="-5" dirty="0"/>
              <a:t>of Statistical</a:t>
            </a:r>
            <a:r>
              <a:rPr spc="-40" dirty="0"/>
              <a:t> </a:t>
            </a:r>
            <a:r>
              <a:rPr spc="-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1955641"/>
            <a:ext cx="5812155" cy="6038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9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Descriptive Statistics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-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Describes</a:t>
            </a:r>
            <a:r>
              <a:rPr sz="1800" spc="1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data.</a:t>
            </a:r>
            <a:endParaRPr sz="1800">
              <a:latin typeface="RobotoRegular"/>
              <a:cs typeface="RobotoRegular"/>
            </a:endParaRPr>
          </a:p>
          <a:p>
            <a:pPr marL="812800" lvl="1" indent="-318135">
              <a:lnSpc>
                <a:spcPct val="100000"/>
              </a:lnSpc>
              <a:spcBef>
                <a:spcPts val="315"/>
              </a:spcBef>
              <a:buFont typeface="Times New Roman"/>
              <a:buChar char="○"/>
              <a:tabLst>
                <a:tab pos="812165" algn="l"/>
                <a:tab pos="813435" algn="l"/>
              </a:tabLst>
            </a:pPr>
            <a:r>
              <a:rPr sz="1400" dirty="0">
                <a:solidFill>
                  <a:srgbClr val="737373"/>
                </a:solidFill>
                <a:latin typeface="RobotoRegular"/>
                <a:cs typeface="RobotoRegular"/>
              </a:rPr>
              <a:t>Common Tools - Central tendency, Data </a:t>
            </a:r>
            <a:r>
              <a:rPr sz="1400" spc="-5" dirty="0">
                <a:solidFill>
                  <a:srgbClr val="737373"/>
                </a:solidFill>
                <a:latin typeface="RobotoRegular"/>
                <a:cs typeface="RobotoRegular"/>
              </a:rPr>
              <a:t>distribution,</a:t>
            </a:r>
            <a:r>
              <a:rPr sz="1400" spc="-4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400" spc="-5" dirty="0">
                <a:solidFill>
                  <a:srgbClr val="737373"/>
                </a:solidFill>
                <a:latin typeface="RobotoRegular"/>
                <a:cs typeface="RobotoRegular"/>
              </a:rPr>
              <a:t>skewness</a:t>
            </a:r>
            <a:endParaRPr sz="1400">
              <a:latin typeface="RobotoRegular"/>
              <a:cs typeface="RobotoRegular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175" y="3247852"/>
            <a:ext cx="7740015" cy="90931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Inferential Statistics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-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Draw conclusions from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the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sample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&amp;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generalize</a:t>
            </a:r>
            <a:r>
              <a:rPr sz="1800" spc="-2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for</a:t>
            </a:r>
            <a:endParaRPr sz="1800">
              <a:latin typeface="RobotoRegular"/>
              <a:cs typeface="RobotoRegular"/>
            </a:endParaRPr>
          </a:p>
          <a:p>
            <a:pPr marL="355600">
              <a:lnSpc>
                <a:spcPct val="100000"/>
              </a:lnSpc>
              <a:spcBef>
                <a:spcPts val="330"/>
              </a:spcBef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entire population</a:t>
            </a:r>
            <a:endParaRPr sz="1800">
              <a:latin typeface="RobotoRegular"/>
              <a:cs typeface="RobotoRegular"/>
            </a:endParaRPr>
          </a:p>
          <a:p>
            <a:pPr marL="812800" lvl="1" indent="-318135">
              <a:lnSpc>
                <a:spcPct val="100000"/>
              </a:lnSpc>
              <a:spcBef>
                <a:spcPts val="300"/>
              </a:spcBef>
              <a:buFont typeface="Times New Roman"/>
              <a:buChar char="○"/>
              <a:tabLst>
                <a:tab pos="812165" algn="l"/>
                <a:tab pos="813435" algn="l"/>
              </a:tabLst>
            </a:pPr>
            <a:r>
              <a:rPr sz="1400" dirty="0">
                <a:solidFill>
                  <a:srgbClr val="737373"/>
                </a:solidFill>
                <a:latin typeface="RobotoRegular"/>
                <a:cs typeface="RobotoRegular"/>
              </a:rPr>
              <a:t>Common Tools - </a:t>
            </a:r>
            <a:r>
              <a:rPr sz="1400" spc="-5" dirty="0">
                <a:solidFill>
                  <a:srgbClr val="737373"/>
                </a:solidFill>
                <a:latin typeface="RobotoRegular"/>
                <a:cs typeface="RobotoRegular"/>
              </a:rPr>
              <a:t>Hypothesis Testing, </a:t>
            </a:r>
            <a:r>
              <a:rPr sz="1400" dirty="0">
                <a:solidFill>
                  <a:srgbClr val="737373"/>
                </a:solidFill>
                <a:latin typeface="RobotoRegular"/>
                <a:cs typeface="RobotoRegular"/>
              </a:rPr>
              <a:t>Confidence Intervals, Regression</a:t>
            </a:r>
            <a:r>
              <a:rPr sz="1400" spc="-7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400" spc="-5" dirty="0">
                <a:solidFill>
                  <a:srgbClr val="737373"/>
                </a:solidFill>
                <a:latin typeface="RobotoRegular"/>
                <a:cs typeface="RobotoRegular"/>
              </a:rPr>
              <a:t>Analysis</a:t>
            </a:r>
            <a:endParaRPr sz="1400">
              <a:latin typeface="RobotoRegular"/>
              <a:cs typeface="RobotoRegula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76600" cy="5143500"/>
          </a:xfrm>
          <a:custGeom>
            <a:avLst/>
            <a:gdLst/>
            <a:ahLst/>
            <a:cxnLst/>
            <a:rect l="l" t="t" r="r" b="b"/>
            <a:pathLst>
              <a:path w="3276600" h="5143500">
                <a:moveTo>
                  <a:pt x="0" y="5143500"/>
                </a:moveTo>
                <a:lnTo>
                  <a:pt x="3276600" y="5143500"/>
                </a:lnTo>
                <a:lnTo>
                  <a:pt x="32766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276600" y="0"/>
            <a:ext cx="5867400" cy="5143500"/>
            <a:chOff x="3276600" y="0"/>
            <a:chExt cx="5867400" cy="5143500"/>
          </a:xfrm>
        </p:grpSpPr>
        <p:sp>
          <p:nvSpPr>
            <p:cNvPr id="4" name="object 4"/>
            <p:cNvSpPr/>
            <p:nvPr/>
          </p:nvSpPr>
          <p:spPr>
            <a:xfrm>
              <a:off x="3276600" y="0"/>
              <a:ext cx="5867400" cy="5143500"/>
            </a:xfrm>
            <a:custGeom>
              <a:avLst/>
              <a:gdLst/>
              <a:ahLst/>
              <a:cxnLst/>
              <a:rect l="l" t="t" r="r" b="b"/>
              <a:pathLst>
                <a:path w="5867400" h="5143500">
                  <a:moveTo>
                    <a:pt x="58674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5867400" y="5143500"/>
                  </a:lnTo>
                  <a:lnTo>
                    <a:pt x="586740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76600" y="0"/>
              <a:ext cx="108203" cy="51435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796665" y="1904263"/>
            <a:ext cx="3032125" cy="112331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42900" indent="-330835">
              <a:lnSpc>
                <a:spcPct val="100000"/>
              </a:lnSpc>
              <a:spcBef>
                <a:spcPts val="10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Measure of Central</a:t>
            </a:r>
            <a:r>
              <a:rPr sz="1600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Tendency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5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Measure of</a:t>
            </a:r>
            <a:r>
              <a:rPr sz="1600" spc="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Variability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Visualizing</a:t>
            </a:r>
            <a:r>
              <a:rPr sz="1600" spc="-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6471" y="2214752"/>
            <a:ext cx="2553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rebuchet MS"/>
                <a:cs typeface="Trebuchet MS"/>
              </a:rPr>
              <a:t>Summarizing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b="1" spc="-3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53365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Measure of </a:t>
            </a:r>
            <a:r>
              <a:rPr dirty="0"/>
              <a:t>Central</a:t>
            </a:r>
            <a:r>
              <a:rPr spc="-30" dirty="0"/>
              <a:t> </a:t>
            </a:r>
            <a:r>
              <a:rPr dirty="0"/>
              <a:t>Tendency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14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7505" algn="l"/>
                <a:tab pos="358140" algn="l"/>
              </a:tabLst>
            </a:pPr>
            <a:r>
              <a:rPr spc="-5" dirty="0"/>
              <a:t>Mean </a:t>
            </a:r>
            <a:r>
              <a:rPr dirty="0"/>
              <a:t>- </a:t>
            </a:r>
            <a:r>
              <a:rPr spc="-5" dirty="0"/>
              <a:t>Average of </a:t>
            </a:r>
            <a:r>
              <a:rPr dirty="0"/>
              <a:t>data, </a:t>
            </a:r>
            <a:r>
              <a:rPr spc="-5" dirty="0"/>
              <a:t>suited for continuous </a:t>
            </a:r>
            <a:r>
              <a:rPr dirty="0"/>
              <a:t>data </a:t>
            </a:r>
            <a:r>
              <a:rPr spc="-5" dirty="0"/>
              <a:t>with </a:t>
            </a:r>
            <a:r>
              <a:rPr dirty="0"/>
              <a:t>no</a:t>
            </a:r>
            <a:r>
              <a:rPr spc="-65" dirty="0"/>
              <a:t> </a:t>
            </a:r>
            <a:r>
              <a:rPr spc="-5" dirty="0"/>
              <a:t>outliers</a:t>
            </a:r>
          </a:p>
          <a:p>
            <a:pPr marL="2540">
              <a:lnSpc>
                <a:spcPct val="100000"/>
              </a:lnSpc>
              <a:spcBef>
                <a:spcPts val="5"/>
              </a:spcBef>
              <a:buClr>
                <a:srgbClr val="737373"/>
              </a:buClr>
              <a:buFont typeface="Times New Roman"/>
              <a:buChar char="●"/>
            </a:pPr>
            <a:endParaRPr spc="-5" dirty="0"/>
          </a:p>
          <a:p>
            <a:pPr marL="358140" indent="-342900">
              <a:lnSpc>
                <a:spcPct val="100000"/>
              </a:lnSpc>
              <a:buFont typeface="Times New Roman"/>
              <a:buChar char="●"/>
              <a:tabLst>
                <a:tab pos="357505" algn="l"/>
                <a:tab pos="358140" algn="l"/>
              </a:tabLst>
            </a:pPr>
            <a:r>
              <a:rPr spc="-5" dirty="0"/>
              <a:t>Median </a:t>
            </a:r>
            <a:r>
              <a:rPr dirty="0"/>
              <a:t>- </a:t>
            </a:r>
            <a:r>
              <a:rPr spc="-5" dirty="0"/>
              <a:t>Middle value of </a:t>
            </a:r>
            <a:r>
              <a:rPr dirty="0"/>
              <a:t>ordered data, </a:t>
            </a:r>
            <a:r>
              <a:rPr spc="-5" dirty="0"/>
              <a:t>suited </a:t>
            </a:r>
            <a:r>
              <a:rPr dirty="0"/>
              <a:t>for continuous data</a:t>
            </a:r>
            <a:r>
              <a:rPr spc="-110" dirty="0"/>
              <a:t> </a:t>
            </a:r>
            <a:r>
              <a:rPr spc="-5" dirty="0"/>
              <a:t>with</a:t>
            </a:r>
          </a:p>
          <a:p>
            <a:pPr marL="2540">
              <a:lnSpc>
                <a:spcPct val="100000"/>
              </a:lnSpc>
              <a:spcBef>
                <a:spcPts val="55"/>
              </a:spcBef>
              <a:buClr>
                <a:srgbClr val="737373"/>
              </a:buClr>
              <a:buFont typeface="Times New Roman"/>
              <a:buChar char="●"/>
            </a:pPr>
            <a:endParaRPr sz="1750"/>
          </a:p>
          <a:p>
            <a:pPr marL="35814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outliers</a:t>
            </a:r>
          </a:p>
          <a:p>
            <a:pPr marL="2540">
              <a:lnSpc>
                <a:spcPct val="100000"/>
              </a:lnSpc>
            </a:pPr>
            <a:endParaRPr spc="-5" dirty="0"/>
          </a:p>
          <a:p>
            <a:pPr marL="358140" indent="-342900">
              <a:lnSpc>
                <a:spcPct val="100000"/>
              </a:lnSpc>
              <a:buFont typeface="Times New Roman"/>
              <a:buChar char="●"/>
              <a:tabLst>
                <a:tab pos="357505" algn="l"/>
                <a:tab pos="358140" algn="l"/>
              </a:tabLst>
            </a:pPr>
            <a:r>
              <a:rPr dirty="0"/>
              <a:t>Mode - Most </a:t>
            </a:r>
            <a:r>
              <a:rPr spc="-5" dirty="0"/>
              <a:t>occuring </a:t>
            </a:r>
            <a:r>
              <a:rPr dirty="0"/>
              <a:t>data, </a:t>
            </a:r>
            <a:r>
              <a:rPr spc="-5" dirty="0"/>
              <a:t>suited </a:t>
            </a:r>
            <a:r>
              <a:rPr dirty="0"/>
              <a:t>for </a:t>
            </a:r>
            <a:r>
              <a:rPr spc="-5" dirty="0"/>
              <a:t>categorical </a:t>
            </a:r>
            <a:r>
              <a:rPr dirty="0"/>
              <a:t>data ( </a:t>
            </a:r>
            <a:r>
              <a:rPr spc="-5" dirty="0"/>
              <a:t>both nominal</a:t>
            </a:r>
            <a:r>
              <a:rPr spc="-75" dirty="0"/>
              <a:t> </a:t>
            </a:r>
            <a:r>
              <a:rPr dirty="0"/>
              <a:t>and</a:t>
            </a:r>
          </a:p>
          <a:p>
            <a:pPr marL="2540">
              <a:lnSpc>
                <a:spcPct val="100000"/>
              </a:lnSpc>
            </a:pPr>
            <a:endParaRPr dirty="0"/>
          </a:p>
          <a:p>
            <a:pPr marL="358140">
              <a:lnSpc>
                <a:spcPct val="100000"/>
              </a:lnSpc>
            </a:pPr>
            <a:r>
              <a:rPr dirty="0"/>
              <a:t>ordinal</a:t>
            </a:r>
            <a:r>
              <a:rPr spc="-25" dirty="0"/>
              <a:t> 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37719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Measure of</a:t>
            </a:r>
            <a:r>
              <a:rPr spc="-35" dirty="0"/>
              <a:t> </a:t>
            </a:r>
            <a:r>
              <a:rPr spc="-5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1964435"/>
            <a:ext cx="2292350" cy="12884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Range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Interquartile</a:t>
            </a:r>
            <a:r>
              <a:rPr sz="1800" spc="-4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Range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Variance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Standard</a:t>
            </a:r>
            <a:r>
              <a:rPr sz="1800" spc="-4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10" dirty="0">
                <a:solidFill>
                  <a:srgbClr val="737373"/>
                </a:solidFill>
                <a:latin typeface="RobotoRegular"/>
                <a:cs typeface="RobotoRegular"/>
              </a:rPr>
              <a:t>Deviation</a:t>
            </a:r>
            <a:endParaRPr sz="1800">
              <a:latin typeface="RobotoRegular"/>
              <a:cs typeface="RobotoRegular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35323" y="2506979"/>
            <a:ext cx="5193791" cy="247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50977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Visualizing </a:t>
            </a: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2005964"/>
            <a:ext cx="144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Histogram</a:t>
            </a:r>
            <a:endParaRPr sz="1800">
              <a:latin typeface="RobotoRegular"/>
              <a:cs typeface="RobotoRegular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3197" y="2149805"/>
            <a:ext cx="1501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ScatterPlot</a:t>
            </a:r>
            <a:endParaRPr sz="1800">
              <a:latin typeface="RobotoRegular"/>
              <a:cs typeface="RobotoRegular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5612" y="2645664"/>
            <a:ext cx="7589520" cy="2074545"/>
            <a:chOff x="705612" y="2645664"/>
            <a:chExt cx="7589520" cy="2074545"/>
          </a:xfrm>
        </p:grpSpPr>
        <p:sp>
          <p:nvSpPr>
            <p:cNvPr id="6" name="object 6"/>
            <p:cNvSpPr/>
            <p:nvPr/>
          </p:nvSpPr>
          <p:spPr>
            <a:xfrm>
              <a:off x="705612" y="2645664"/>
              <a:ext cx="3407664" cy="2074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58156" y="2673096"/>
              <a:ext cx="3236976" cy="20177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56349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Visualizing </a:t>
            </a:r>
            <a:r>
              <a:rPr dirty="0"/>
              <a:t>Continuous Data -</a:t>
            </a:r>
            <a:r>
              <a:rPr spc="-110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2005964"/>
            <a:ext cx="1221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B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o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x-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Plot</a:t>
            </a:r>
            <a:endParaRPr sz="1800">
              <a:latin typeface="RobotoRegular"/>
              <a:cs typeface="RobotoRegular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2291" y="2691383"/>
            <a:ext cx="3115056" cy="1982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4519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Visualizing </a:t>
            </a:r>
            <a:r>
              <a:rPr dirty="0"/>
              <a:t>Discrete</a:t>
            </a:r>
            <a:r>
              <a:rPr spc="-75" dirty="0"/>
              <a:t> </a:t>
            </a:r>
            <a:r>
              <a:rPr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2005964"/>
            <a:ext cx="144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Histogram</a:t>
            </a:r>
            <a:endParaRPr sz="1800">
              <a:latin typeface="RobotoRegular"/>
              <a:cs typeface="RobotoRegular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2000" y="2648711"/>
            <a:ext cx="7557770" cy="2095500"/>
            <a:chOff x="762000" y="2648711"/>
            <a:chExt cx="7557770" cy="2095500"/>
          </a:xfrm>
        </p:grpSpPr>
        <p:sp>
          <p:nvSpPr>
            <p:cNvPr id="5" name="object 5"/>
            <p:cNvSpPr/>
            <p:nvPr/>
          </p:nvSpPr>
          <p:spPr>
            <a:xfrm>
              <a:off x="762000" y="2648711"/>
              <a:ext cx="3134868" cy="20955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31208" y="2810255"/>
              <a:ext cx="3988308" cy="16824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72836" y="2165985"/>
            <a:ext cx="68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Pie</a:t>
            </a:r>
            <a:endParaRPr sz="1800">
              <a:latin typeface="RobotoRegular"/>
              <a:cs typeface="RobotoRegula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35502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Normal</a:t>
            </a:r>
            <a:r>
              <a:rPr spc="-75" dirty="0"/>
              <a:t> </a:t>
            </a:r>
            <a:r>
              <a:rPr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1987676"/>
            <a:ext cx="361886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7015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A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probability function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that 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describes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how the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values of</a:t>
            </a:r>
            <a:r>
              <a:rPr sz="1800" spc="-7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a 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variable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are</a:t>
            </a:r>
            <a:r>
              <a:rPr sz="1800" spc="-2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distributed.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Symmetric distribution</a:t>
            </a: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Mean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= 69,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Std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=</a:t>
            </a:r>
            <a:r>
              <a:rPr sz="1800" spc="-1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10" dirty="0">
                <a:solidFill>
                  <a:srgbClr val="737373"/>
                </a:solidFill>
                <a:latin typeface="RobotoRegular"/>
                <a:cs typeface="RobotoRegular"/>
              </a:rPr>
              <a:t>2.8</a:t>
            </a:r>
            <a:endParaRPr sz="1800">
              <a:latin typeface="RobotoRegular"/>
              <a:cs typeface="RobotoRegular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Notation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Alert, mu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&amp; </a:t>
            </a:r>
            <a:r>
              <a:rPr sz="1800" spc="-10" dirty="0">
                <a:solidFill>
                  <a:srgbClr val="737373"/>
                </a:solidFill>
                <a:latin typeface="RobotoRegular"/>
                <a:cs typeface="RobotoRegular"/>
              </a:rPr>
              <a:t>sigma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term  used for entire population</a:t>
            </a:r>
            <a:endParaRPr sz="1800">
              <a:latin typeface="RobotoRegular"/>
              <a:cs typeface="RobotoRegular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15255" y="1845564"/>
            <a:ext cx="4189476" cy="2711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96329" y="4702860"/>
            <a:ext cx="14795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"/>
                <a:cs typeface="Arial"/>
              </a:rPr>
              <a:t>Height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Distribution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570" y="893826"/>
            <a:ext cx="40874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Normal Distribution -</a:t>
            </a:r>
            <a:r>
              <a:rPr spc="-114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5175" y="2180920"/>
            <a:ext cx="787971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Empirical Rule of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Normal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Distribution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: 68 -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95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-</a:t>
            </a:r>
            <a:r>
              <a:rPr sz="1800" spc="3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99</a:t>
            </a:r>
            <a:endParaRPr sz="1800">
              <a:latin typeface="RobotoRegular"/>
              <a:cs typeface="RobotoRegular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737373"/>
              </a:buClr>
              <a:buFont typeface="Times New Roman"/>
              <a:buChar char="●"/>
            </a:pPr>
            <a:endParaRPr sz="180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Standard Normal Distribution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: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Mean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= 0,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Std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=</a:t>
            </a:r>
            <a:r>
              <a:rPr sz="1800" spc="-45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10" dirty="0">
                <a:solidFill>
                  <a:srgbClr val="737373"/>
                </a:solidFill>
                <a:latin typeface="RobotoRegular"/>
                <a:cs typeface="RobotoRegular"/>
              </a:rPr>
              <a:t>1.0</a:t>
            </a:r>
            <a:endParaRPr sz="1800">
              <a:latin typeface="RobotoRegular"/>
              <a:cs typeface="RobotoRegular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737373"/>
              </a:buClr>
              <a:buFont typeface="Times New Roman"/>
              <a:buChar char="●"/>
            </a:pPr>
            <a:endParaRPr sz="1750">
              <a:latin typeface="RobotoRegular"/>
              <a:cs typeface="RobotoRegular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Times New Roman"/>
              <a:buChar char="●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Z-scores is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a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great way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to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understand where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a </a:t>
            </a:r>
            <a:r>
              <a:rPr sz="1800" spc="-10" dirty="0">
                <a:solidFill>
                  <a:srgbClr val="737373"/>
                </a:solidFill>
                <a:latin typeface="RobotoRegular"/>
                <a:cs typeface="RobotoRegular"/>
              </a:rPr>
              <a:t>specific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observation fall</a:t>
            </a:r>
            <a:r>
              <a:rPr sz="1800" spc="-1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wrt</a:t>
            </a:r>
            <a:endParaRPr sz="1800">
              <a:latin typeface="RobotoRegular"/>
              <a:cs typeface="RobotoRegular"/>
            </a:endParaRPr>
          </a:p>
          <a:p>
            <a:pPr>
              <a:lnSpc>
                <a:spcPct val="100000"/>
              </a:lnSpc>
            </a:pPr>
            <a:endParaRPr sz="1800">
              <a:latin typeface="RobotoRegular"/>
              <a:cs typeface="RobotoRegular"/>
            </a:endParaRPr>
          </a:p>
          <a:p>
            <a:pPr marL="355600">
              <a:lnSpc>
                <a:spcPct val="100000"/>
              </a:lnSpc>
            </a:pP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entire population.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It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is basically number </a:t>
            </a:r>
            <a:r>
              <a:rPr sz="1800" dirty="0">
                <a:solidFill>
                  <a:srgbClr val="737373"/>
                </a:solidFill>
                <a:latin typeface="RobotoRegular"/>
                <a:cs typeface="RobotoRegular"/>
              </a:rPr>
              <a:t>of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std far from</a:t>
            </a:r>
            <a:r>
              <a:rPr sz="1800" spc="10" dirty="0">
                <a:solidFill>
                  <a:srgbClr val="737373"/>
                </a:solidFill>
                <a:latin typeface="RobotoRegular"/>
                <a:cs typeface="RobotoRegular"/>
              </a:rPr>
              <a:t> </a:t>
            </a:r>
            <a:r>
              <a:rPr sz="1800" spc="-5" dirty="0">
                <a:solidFill>
                  <a:srgbClr val="737373"/>
                </a:solidFill>
                <a:latin typeface="RobotoRegular"/>
                <a:cs typeface="RobotoRegular"/>
              </a:rPr>
              <a:t>mean.</a:t>
            </a:r>
            <a:endParaRPr sz="1800">
              <a:latin typeface="RobotoRegular"/>
              <a:cs typeface="RobotoRegula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76600" y="0"/>
            <a:ext cx="108203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89045" y="1656740"/>
            <a:ext cx="1958339" cy="185547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42900" indent="-330835">
              <a:lnSpc>
                <a:spcPct val="100000"/>
              </a:lnSpc>
              <a:spcBef>
                <a:spcPts val="10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5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Central</a:t>
            </a:r>
            <a:r>
              <a:rPr sz="1600" spc="-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Tendency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Data</a:t>
            </a:r>
            <a:r>
              <a:rPr sz="1600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Skewness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Correlation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471" y="1848992"/>
            <a:ext cx="1570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FFFFFF"/>
                </a:solidFill>
                <a:latin typeface="Trebuchet MS"/>
                <a:cs typeface="Trebuchet MS"/>
              </a:rPr>
              <a:t>Descrip</a:t>
            </a:r>
            <a:r>
              <a:rPr sz="2400" b="1" spc="-2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400" b="1" spc="-70" dirty="0">
                <a:solidFill>
                  <a:srgbClr val="FFFFFF"/>
                </a:solidFill>
                <a:latin typeface="Trebuchet MS"/>
                <a:cs typeface="Trebuchet MS"/>
              </a:rPr>
              <a:t>ive  </a:t>
            </a:r>
            <a:r>
              <a:rPr sz="2400" b="1" spc="5" dirty="0">
                <a:solidFill>
                  <a:srgbClr val="FFFFFF"/>
                </a:solidFill>
                <a:latin typeface="Trebuchet MS"/>
                <a:cs typeface="Trebuchet MS"/>
              </a:rPr>
              <a:t>Statistics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76600" y="0"/>
            <a:ext cx="108203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89045" y="1656740"/>
            <a:ext cx="2204720" cy="148907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42900" indent="-330835">
              <a:lnSpc>
                <a:spcPct val="100000"/>
              </a:lnSpc>
              <a:spcBef>
                <a:spcPts val="10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5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Hypothesis Testing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Confidence</a:t>
            </a:r>
            <a:r>
              <a:rPr sz="1600" spc="-5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Intervals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Regression</a:t>
            </a:r>
            <a:r>
              <a:rPr sz="1600" spc="-7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471" y="1848992"/>
            <a:ext cx="14370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65" dirty="0">
                <a:solidFill>
                  <a:srgbClr val="FFFFFF"/>
                </a:solidFill>
                <a:latin typeface="Trebuchet MS"/>
                <a:cs typeface="Trebuchet MS"/>
              </a:rPr>
              <a:t>Inferential  </a:t>
            </a:r>
            <a:r>
              <a:rPr sz="2400" b="1" spc="5" dirty="0">
                <a:solidFill>
                  <a:srgbClr val="FFFFFF"/>
                </a:solidFill>
                <a:latin typeface="Trebuchet MS"/>
                <a:cs typeface="Trebuchet MS"/>
              </a:rPr>
              <a:t>Statistics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76600" y="0"/>
            <a:ext cx="108203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89045" y="1656740"/>
            <a:ext cx="3447415" cy="112331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42900" indent="-330835">
              <a:lnSpc>
                <a:spcPct val="100000"/>
              </a:lnSpc>
              <a:spcBef>
                <a:spcPts val="10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Chi-square Test of</a:t>
            </a:r>
            <a:r>
              <a:rPr sz="160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Independence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5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Correlation and Linear Regression</a:t>
            </a:r>
            <a:endParaRPr sz="1600">
              <a:latin typeface="Arial"/>
              <a:cs typeface="Arial"/>
            </a:endParaRPr>
          </a:p>
          <a:p>
            <a:pPr marL="342900" indent="-330835">
              <a:lnSpc>
                <a:spcPct val="100000"/>
              </a:lnSpc>
              <a:spcBef>
                <a:spcPts val="960"/>
              </a:spcBef>
              <a:buChar char="●"/>
              <a:tabLst>
                <a:tab pos="342900" algn="l"/>
                <a:tab pos="343535" algn="l"/>
              </a:tabLst>
            </a:pPr>
            <a:r>
              <a:rPr sz="1600" spc="-5" dirty="0">
                <a:solidFill>
                  <a:srgbClr val="434343"/>
                </a:solidFill>
                <a:latin typeface="Arial"/>
                <a:cs typeface="Arial"/>
              </a:rPr>
              <a:t>Analysis of Variance or ANOVA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471" y="1848992"/>
            <a:ext cx="25603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Trebuchet MS"/>
                <a:cs typeface="Trebuchet MS"/>
              </a:rPr>
              <a:t>Relationships  </a:t>
            </a:r>
            <a:r>
              <a:rPr sz="2400" b="1" spc="-90" dirty="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sz="240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246364" y="4245864"/>
            <a:ext cx="897890" cy="897890"/>
            <a:chOff x="8246364" y="4245864"/>
            <a:chExt cx="897890" cy="897890"/>
          </a:xfrm>
        </p:grpSpPr>
        <p:sp>
          <p:nvSpPr>
            <p:cNvPr id="4" name="object 4"/>
            <p:cNvSpPr/>
            <p:nvPr/>
          </p:nvSpPr>
          <p:spPr>
            <a:xfrm>
              <a:off x="8246364" y="4245864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0" y="897635"/>
                  </a:lnTo>
                  <a:lnTo>
                    <a:pt x="897635" y="897635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46364" y="4245864"/>
              <a:ext cx="897890" cy="897890"/>
            </a:xfrm>
            <a:custGeom>
              <a:avLst/>
              <a:gdLst/>
              <a:ahLst/>
              <a:cxnLst/>
              <a:rect l="l" t="t" r="r" b="b"/>
              <a:pathLst>
                <a:path w="897890" h="897889">
                  <a:moveTo>
                    <a:pt x="897635" y="0"/>
                  </a:moveTo>
                  <a:lnTo>
                    <a:pt x="149605" y="0"/>
                  </a:lnTo>
                  <a:lnTo>
                    <a:pt x="102299" y="7626"/>
                  </a:lnTo>
                  <a:lnTo>
                    <a:pt x="61228" y="28864"/>
                  </a:lnTo>
                  <a:lnTo>
                    <a:pt x="28850" y="61250"/>
                  </a:lnTo>
                  <a:lnTo>
                    <a:pt x="7622" y="102318"/>
                  </a:lnTo>
                  <a:lnTo>
                    <a:pt x="0" y="149606"/>
                  </a:lnTo>
                  <a:lnTo>
                    <a:pt x="0" y="897635"/>
                  </a:lnTo>
                  <a:lnTo>
                    <a:pt x="897635" y="897635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FFFFFF">
                <a:alpha val="674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55519" y="2173351"/>
            <a:ext cx="3528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Thank You</a:t>
            </a:r>
            <a:r>
              <a:rPr sz="4800" spc="-75" dirty="0"/>
              <a:t> </a:t>
            </a:r>
            <a:r>
              <a:rPr sz="4800" spc="-5" dirty="0"/>
              <a:t>!!!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450</Words>
  <Application>Microsoft Office PowerPoint</Application>
  <PresentationFormat>On-screen Show (16:9)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RobotoRegular</vt:lpstr>
      <vt:lpstr>Times New Roman</vt:lpstr>
      <vt:lpstr>Trebuchet MS</vt:lpstr>
      <vt:lpstr>Office Theme</vt:lpstr>
      <vt:lpstr>PowerPoint Presentation</vt:lpstr>
      <vt:lpstr>Introduction to Statistics</vt:lpstr>
      <vt:lpstr>Importance</vt:lpstr>
      <vt:lpstr>Variables</vt:lpstr>
      <vt:lpstr>Data Types of Variables - Quantitative  versus Qualitative</vt:lpstr>
      <vt:lpstr>Types of Quantitative Variables</vt:lpstr>
      <vt:lpstr>Qualitative Data: Categorical, Binary, and  Ordinal</vt:lpstr>
      <vt:lpstr>Choosing Statistical Analysis based on data  type</vt:lpstr>
      <vt:lpstr>Types of Statistical Analysis</vt:lpstr>
      <vt:lpstr>Summarizing Data</vt:lpstr>
      <vt:lpstr>Measure of Central Tendency</vt:lpstr>
      <vt:lpstr>Measure of Variance</vt:lpstr>
      <vt:lpstr>Visualizing Continuous Data</vt:lpstr>
      <vt:lpstr>Visualizing Continuous Data - 2</vt:lpstr>
      <vt:lpstr>Visualizing Discrete Data</vt:lpstr>
      <vt:lpstr>Normal Distribution</vt:lpstr>
      <vt:lpstr>Normal Distribution - 2</vt:lpstr>
      <vt:lpstr>PowerPoint Presentation</vt:lpstr>
      <vt:lpstr>PowerPoint Presentation</vt:lpstr>
      <vt:lpstr>PowerPoint Presentation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zekeLabs</dc:title>
  <cp:lastModifiedBy>Saikamal korlakunta</cp:lastModifiedBy>
  <cp:revision>4</cp:revision>
  <dcterms:created xsi:type="dcterms:W3CDTF">2021-03-23T15:27:44Z</dcterms:created>
  <dcterms:modified xsi:type="dcterms:W3CDTF">2021-04-15T11:57:48Z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2018-09-13T00:00:00Z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2021-03-23T00:00:00Z</vt:filetime>
  </property>
</Properties>
</file>