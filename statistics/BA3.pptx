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1" r:id="rId1"/>
  </p:sldMasterIdLst>
  <p:notesMasterIdLst>
    <p:notesMasterId r:id="rId75"/>
  </p:notesMasterIdLst>
  <p:handoutMasterIdLst>
    <p:handoutMasterId r:id="rId76"/>
  </p:handoutMasterIdLst>
  <p:sldIdLst>
    <p:sldId id="260" r:id="rId2"/>
    <p:sldId id="289" r:id="rId3"/>
    <p:sldId id="352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57" r:id="rId12"/>
    <p:sldId id="358" r:id="rId13"/>
    <p:sldId id="359" r:id="rId14"/>
    <p:sldId id="360" r:id="rId15"/>
    <p:sldId id="364" r:id="rId16"/>
    <p:sldId id="362" r:id="rId17"/>
    <p:sldId id="363" r:id="rId18"/>
    <p:sldId id="365" r:id="rId19"/>
    <p:sldId id="366" r:id="rId20"/>
    <p:sldId id="368" r:id="rId21"/>
    <p:sldId id="367" r:id="rId22"/>
    <p:sldId id="369" r:id="rId23"/>
    <p:sldId id="370" r:id="rId24"/>
    <p:sldId id="371" r:id="rId25"/>
    <p:sldId id="372" r:id="rId26"/>
    <p:sldId id="373" r:id="rId27"/>
    <p:sldId id="403" r:id="rId28"/>
    <p:sldId id="374" r:id="rId29"/>
    <p:sldId id="375" r:id="rId30"/>
    <p:sldId id="376" r:id="rId31"/>
    <p:sldId id="401" r:id="rId32"/>
    <p:sldId id="278" r:id="rId33"/>
    <p:sldId id="402" r:id="rId34"/>
    <p:sldId id="404" r:id="rId35"/>
    <p:sldId id="377" r:id="rId36"/>
    <p:sldId id="378" r:id="rId37"/>
    <p:sldId id="400" r:id="rId38"/>
    <p:sldId id="406" r:id="rId39"/>
    <p:sldId id="299" r:id="rId40"/>
    <p:sldId id="300" r:id="rId41"/>
    <p:sldId id="384" r:id="rId42"/>
    <p:sldId id="301" r:id="rId43"/>
    <p:sldId id="351" r:id="rId44"/>
    <p:sldId id="306" r:id="rId45"/>
    <p:sldId id="307" r:id="rId46"/>
    <p:sldId id="385" r:id="rId47"/>
    <p:sldId id="387" r:id="rId48"/>
    <p:sldId id="399" r:id="rId49"/>
    <p:sldId id="328" r:id="rId50"/>
    <p:sldId id="329" r:id="rId51"/>
    <p:sldId id="330" r:id="rId52"/>
    <p:sldId id="380" r:id="rId53"/>
    <p:sldId id="322" r:id="rId54"/>
    <p:sldId id="314" r:id="rId55"/>
    <p:sldId id="315" r:id="rId56"/>
    <p:sldId id="381" r:id="rId57"/>
    <p:sldId id="324" r:id="rId58"/>
    <p:sldId id="325" r:id="rId59"/>
    <p:sldId id="382" r:id="rId60"/>
    <p:sldId id="326" r:id="rId61"/>
    <p:sldId id="339" r:id="rId62"/>
    <p:sldId id="343" r:id="rId63"/>
    <p:sldId id="281" r:id="rId64"/>
    <p:sldId id="282" r:id="rId65"/>
    <p:sldId id="283" r:id="rId66"/>
    <p:sldId id="405" r:id="rId67"/>
    <p:sldId id="391" r:id="rId68"/>
    <p:sldId id="389" r:id="rId69"/>
    <p:sldId id="390" r:id="rId70"/>
    <p:sldId id="284" r:id="rId71"/>
    <p:sldId id="288" r:id="rId72"/>
    <p:sldId id="285" r:id="rId73"/>
    <p:sldId id="287" r:id="rId74"/>
  </p:sldIdLst>
  <p:sldSz cx="9144000" cy="6858000" type="screen4x3"/>
  <p:notesSz cx="6858000" cy="9144000"/>
  <p:embeddedFontLst>
    <p:embeddedFont>
      <p:font typeface="MT Extra" pitchFamily="18" charset="2"/>
      <p:regular r:id="rId77"/>
    </p:embeddedFont>
  </p:embeddedFont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DE0BD"/>
    <a:srgbClr val="B9B9ED"/>
    <a:srgbClr val="FFFF99"/>
    <a:srgbClr val="F4C7C6"/>
    <a:srgbClr val="FF6699"/>
    <a:srgbClr val="FF99FF"/>
    <a:srgbClr val="CCECFF"/>
    <a:srgbClr val="CBDDF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21090" autoAdjust="0"/>
    <p:restoredTop sz="94660"/>
  </p:normalViewPr>
  <p:slideViewPr>
    <p:cSldViewPr>
      <p:cViewPr varScale="1">
        <p:scale>
          <a:sx n="102" d="100"/>
          <a:sy n="102" d="100"/>
        </p:scale>
        <p:origin x="-64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130" y="-25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6200" y="8823325"/>
            <a:ext cx="67056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828675" y="8763000"/>
            <a:ext cx="5622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71438" y="55563"/>
            <a:ext cx="67151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3		 3-</a:t>
            </a:r>
            <a:fld id="{DB48758B-15BE-4A14-82E8-86FEB4E076D7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981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00200" y="609600"/>
            <a:ext cx="3886200" cy="2584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120775" y="3581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120775" y="3886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1120775" y="4191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1120775" y="4495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1120775" y="4800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120775" y="5410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1120775" y="5715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120775" y="6019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20775" y="6324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1120775" y="6629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120775" y="6934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120775" y="7239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120775" y="7543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120775" y="7848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120775" y="8153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120775" y="8458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523875" y="8763000"/>
            <a:ext cx="585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7788" y="61913"/>
            <a:ext cx="67024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3		3-</a:t>
            </a:r>
            <a:fld id="{5BCAC38D-7235-442C-8C2D-63F7B213C4E1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 w="9525"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34938" y="2438400"/>
            <a:ext cx="9009062" cy="1181100"/>
            <a:chOff x="0" y="1536"/>
            <a:chExt cx="5675" cy="744"/>
          </a:xfrm>
        </p:grpSpPr>
        <p:grpSp>
          <p:nvGrpSpPr>
            <p:cNvPr id="5" name="Group 5"/>
            <p:cNvGrpSpPr>
              <a:grpSpLocks/>
            </p:cNvGrpSpPr>
            <p:nvPr userDrawn="1"/>
          </p:nvGrpSpPr>
          <p:grpSpPr bwMode="auto">
            <a:xfrm>
              <a:off x="185" y="1604"/>
              <a:ext cx="449" cy="297"/>
              <a:chOff x="720" y="336"/>
              <a:chExt cx="624" cy="432"/>
            </a:xfrm>
          </p:grpSpPr>
          <p:sp>
            <p:nvSpPr>
              <p:cNvPr id="12" name="Rectangle 6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Rectangle 8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9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79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3356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762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D2EFBA7E-2A7F-4A98-AE8D-7962399744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Footer Placeholder 17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0" y="6629400"/>
            <a:ext cx="6019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97591AE1-1AB3-4B18-B63C-77498D2A57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5DEA0E34-9C81-442C-BE9B-95D77CC6D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0F03734B-C023-4698-B8BC-4BD184494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8CFBAA65-27FF-40B3-9C9D-EAA0063A0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EC8E4EEF-83B8-46B8-945A-D868EB048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4EE52E71-C25D-4FF3-A27E-7D66FB3E12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438CE0A0-41F0-40CA-991D-B92F973FDC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FF099FC2-B057-4518-BB21-4938FC3201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61300543-C004-4626-8CCC-422571A217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19300" cy="6132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905500" cy="6132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DC02E2F3-D5DE-4451-A2CE-8CA622BB94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828800"/>
            <a:ext cx="39624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170363"/>
            <a:ext cx="3962400" cy="2190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9D09AFF2-63CB-40F2-BC82-AE057675D2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8077200" cy="453231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3D93844A-608E-4205-A023-C3301CE66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3-</a:t>
            </a:r>
            <a:fld id="{EC2263C2-8ADC-4FC5-815A-577BAC168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7"/>
          <p:cNvSpPr>
            <a:spLocks noGrp="1" noChangeArrowheads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7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28600"/>
            <a:ext cx="738346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8077200" cy="45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6691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Chap 3-</a:t>
            </a:r>
            <a:fld id="{61EAB555-A9FA-46D3-8B53-377EAD6313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2533" name="Group 6"/>
          <p:cNvGrpSpPr>
            <a:grpSpLocks/>
          </p:cNvGrpSpPr>
          <p:nvPr/>
        </p:nvGrpSpPr>
        <p:grpSpPr bwMode="auto">
          <a:xfrm>
            <a:off x="0" y="609600"/>
            <a:ext cx="9009063" cy="1181100"/>
            <a:chOff x="0" y="1536"/>
            <a:chExt cx="5675" cy="744"/>
          </a:xfrm>
        </p:grpSpPr>
        <p:grpSp>
          <p:nvGrpSpPr>
            <p:cNvPr id="22535" name="Group 7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7"/>
              <a:chOff x="720" y="336"/>
              <a:chExt cx="624" cy="432"/>
            </a:xfrm>
          </p:grpSpPr>
          <p:sp>
            <p:nvSpPr>
              <p:cNvPr id="166920" name="Rectangle 8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6921" name="Rectangle 9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66922" name="Rectangle 10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923" name="Rectangle 11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924" name="Rectangle 12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925" name="Rectangle 13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926" name="Rectangle 14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927" name="Rectangle 15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7" name="Footer Placeholder 17"/>
          <p:cNvSpPr>
            <a:spLocks noGrp="1" noChangeArrowheads="1"/>
          </p:cNvSpPr>
          <p:nvPr userDrawn="1">
            <p:ph type="ftr" sz="quarter" idx="3"/>
          </p:nvPr>
        </p:nvSpPr>
        <p:spPr>
          <a:xfrm>
            <a:off x="0" y="6629400"/>
            <a:ext cx="5715000" cy="228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5" r:id="rId2"/>
    <p:sldLayoutId id="2147483664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  <p:sldLayoutId id="2147483655" r:id="rId12"/>
    <p:sldLayoutId id="2147483654" r:id="rId13"/>
    <p:sldLayoutId id="2147483653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20675" indent="-32067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919288" indent="-212725" algn="l" defTabSz="852488" rtl="0" eaLnBrk="0" fontAlgn="base" hangingPunct="0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oleObject" Target="../embeddings/oleObject31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40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7.v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6C00FBC0-924F-46C9-A42C-DB35E508190A}" type="slidenum">
              <a:rPr lang="en-US" smtClean="0">
                <a:latin typeface="Arial" charset="0"/>
              </a:rPr>
              <a:pPr/>
              <a:t>1</a:t>
            </a:fld>
            <a:endParaRPr lang="en-US" smtClean="0">
              <a:latin typeface="Arial" charset="0"/>
            </a:endParaRPr>
          </a:p>
        </p:txBody>
      </p:sp>
      <p:sp>
        <p:nvSpPr>
          <p:cNvPr id="1239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23907" name="Rectangle 15"/>
          <p:cNvSpPr txBox="1">
            <a:spLocks noGrp="1" noChangeArrowheads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D7DBF655-F4F9-417C-9D30-54AA27C65255}" type="slidenum">
              <a:rPr lang="en-US" sz="1000"/>
              <a:pPr algn="r" defTabSz="852488"/>
              <a:t>1</a:t>
            </a:fld>
            <a:endParaRPr lang="en-US" sz="1000"/>
          </a:p>
        </p:txBody>
      </p:sp>
      <p:sp>
        <p:nvSpPr>
          <p:cNvPr id="123908" name="Rectangle 6"/>
          <p:cNvSpPr>
            <a:spLocks noChangeArrowheads="1"/>
          </p:cNvSpPr>
          <p:nvPr/>
        </p:nvSpPr>
        <p:spPr bwMode="auto">
          <a:xfrm>
            <a:off x="990600" y="3581400"/>
            <a:ext cx="70866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/>
              <a:t>Chapter 3</a:t>
            </a:r>
          </a:p>
          <a:p>
            <a:pPr algn="ctr"/>
            <a:endParaRPr lang="en-US" sz="3600"/>
          </a:p>
          <a:p>
            <a:pPr algn="ctr"/>
            <a:r>
              <a:rPr lang="en-US" sz="3600"/>
              <a:t>Numerical Descriptive Measures</a:t>
            </a:r>
          </a:p>
        </p:txBody>
      </p:sp>
      <p:sp>
        <p:nvSpPr>
          <p:cNvPr id="123909" name="Rectangle 11"/>
          <p:cNvSpPr>
            <a:spLocks noChangeArrowheads="1"/>
          </p:cNvSpPr>
          <p:nvPr/>
        </p:nvSpPr>
        <p:spPr bwMode="auto">
          <a:xfrm>
            <a:off x="14478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en-US" sz="4000" i="1">
                <a:solidFill>
                  <a:schemeClr val="folHlink"/>
                </a:solidFill>
              </a:rPr>
              <a:t>Basic Business Statistics</a:t>
            </a:r>
            <a:r>
              <a:rPr lang="en-US" sz="4100">
                <a:solidFill>
                  <a:schemeClr val="folHlink"/>
                </a:solidFill>
              </a:rPr>
              <a:t/>
            </a:r>
            <a:br>
              <a:rPr lang="en-US" sz="4100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12</a:t>
            </a:r>
            <a:r>
              <a:rPr lang="en-US" sz="3600" baseline="30000">
                <a:solidFill>
                  <a:schemeClr val="folHlink"/>
                </a:solidFill>
              </a:rPr>
              <a:t>th</a:t>
            </a:r>
            <a:r>
              <a:rPr lang="en-US" sz="3600">
                <a:solidFill>
                  <a:schemeClr val="folHlink"/>
                </a:solidFill>
              </a:rPr>
              <a:t> Edition</a:t>
            </a:r>
          </a:p>
          <a:p>
            <a:pPr algn="ctr" defTabSz="852488"/>
            <a:r>
              <a:rPr lang="en-US" sz="3600">
                <a:solidFill>
                  <a:schemeClr val="folHlink"/>
                </a:solidFill>
              </a:rPr>
              <a:t>Global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B0DA789-A876-40F9-B55E-2C50FE0E130C}" type="slidenum">
              <a:rPr lang="en-US" smtClean="0">
                <a:latin typeface="Arial" charset="0"/>
              </a:rPr>
              <a:pPr/>
              <a:t>2</a:t>
            </a:fld>
            <a:endParaRPr lang="en-US" smtClean="0">
              <a:latin typeface="Arial" charset="0"/>
            </a:endParaRPr>
          </a:p>
        </p:txBody>
      </p:sp>
      <p:sp>
        <p:nvSpPr>
          <p:cNvPr id="12595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2595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6E6FEE5-B03A-4DC3-BAC8-5D436BF67AA3}" type="slidenum">
              <a:rPr lang="en-US" sz="1000"/>
              <a:pPr algn="r" defTabSz="852488"/>
              <a:t>2</a:t>
            </a:fld>
            <a:endParaRPr lang="en-US" sz="1000"/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534400" cy="48006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b="1" smtClean="0"/>
              <a:t>In this chapter, you learn: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smtClean="0"/>
              <a:t>To describe the properties of central tendency, variation, and shape in numerical data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smtClean="0"/>
              <a:t>To construct and interpret a boxplot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smtClean="0"/>
              <a:t>To compute descriptive summary measures for a population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smtClean="0"/>
              <a:t>To compute the covariance and the coefficient of correlation</a:t>
            </a:r>
          </a:p>
        </p:txBody>
      </p:sp>
      <p:sp>
        <p:nvSpPr>
          <p:cNvPr id="1259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 eaLnBrk="1" hangingPunct="1"/>
            <a:r>
              <a:rPr lang="en-US" smtClean="0"/>
              <a:t>Learning 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FEE527F-2AF1-48AE-B3D1-9E3CA9858108}" type="slidenum">
              <a:rPr lang="en-US" smtClean="0">
                <a:latin typeface="Arial" charset="0"/>
              </a:rPr>
              <a:pPr/>
              <a:t>3</a:t>
            </a:fld>
            <a:endParaRPr lang="en-US" smtClean="0">
              <a:latin typeface="Arial" charset="0"/>
            </a:endParaRPr>
          </a:p>
        </p:txBody>
      </p:sp>
      <p:sp>
        <p:nvSpPr>
          <p:cNvPr id="12800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280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E454890-3ADA-41F1-8B40-4DC67419CEB2}" type="slidenum">
              <a:rPr lang="en-US" sz="1000"/>
              <a:pPr algn="r" defTabSz="852488"/>
              <a:t>3</a:t>
            </a:fld>
            <a:endParaRPr lang="en-US" sz="1000"/>
          </a:p>
        </p:txBody>
      </p:sp>
      <p:sp>
        <p:nvSpPr>
          <p:cNvPr id="1280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Definitions</a:t>
            </a:r>
          </a:p>
        </p:txBody>
      </p:sp>
      <p:sp>
        <p:nvSpPr>
          <p:cNvPr id="1280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b="1" smtClean="0">
                <a:latin typeface="Times New Roman" pitchFamily="18" charset="0"/>
              </a:rPr>
              <a:t>central tendency</a:t>
            </a:r>
            <a:r>
              <a:rPr lang="en-US" smtClean="0">
                <a:latin typeface="Times New Roman" pitchFamily="18" charset="0"/>
              </a:rPr>
              <a:t> is the extent to which all the data values group around a typical or central value.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b="1" smtClean="0">
                <a:latin typeface="Times New Roman" pitchFamily="18" charset="0"/>
              </a:rPr>
              <a:t>variation</a:t>
            </a:r>
            <a:r>
              <a:rPr lang="en-US" smtClean="0">
                <a:latin typeface="Times New Roman" pitchFamily="18" charset="0"/>
              </a:rPr>
              <a:t> is the amount of dispersion or scattering of values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b="1" smtClean="0">
                <a:latin typeface="Times New Roman" pitchFamily="18" charset="0"/>
              </a:rPr>
              <a:t>shape</a:t>
            </a:r>
            <a:r>
              <a:rPr lang="en-US" smtClean="0">
                <a:latin typeface="Times New Roman" pitchFamily="18" charset="0"/>
              </a:rPr>
              <a:t> is the pattern of the distribution of values from the lowest value to the highest value.</a:t>
            </a:r>
          </a:p>
        </p:txBody>
      </p:sp>
      <p:sp>
        <p:nvSpPr>
          <p:cNvPr id="128006" name="TextBox 5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F9501416-4ED6-4361-8079-6774D4D1DFFE}" type="slidenum">
              <a:rPr lang="en-US" smtClean="0">
                <a:latin typeface="Arial" charset="0"/>
              </a:rPr>
              <a:pPr/>
              <a:t>4</a:t>
            </a:fld>
            <a:endParaRPr lang="en-US" smtClean="0">
              <a:latin typeface="Arial" charset="0"/>
            </a:endParaRPr>
          </a:p>
        </p:txBody>
      </p:sp>
      <p:sp>
        <p:nvSpPr>
          <p:cNvPr id="102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2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4FCFE16C-7DA8-47A7-8D07-AC852D3F8936}" type="slidenum">
              <a:rPr lang="en-US" sz="1000"/>
              <a:pPr algn="r" defTabSz="852488"/>
              <a:t>4</a:t>
            </a:fld>
            <a:endParaRPr lang="en-US" sz="1000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3600" smtClean="0"/>
              <a:t>Measures of Central Tendency:</a:t>
            </a:r>
            <a:br>
              <a:rPr lang="en-US" sz="3600" smtClean="0"/>
            </a:br>
            <a:r>
              <a:rPr lang="en-US" sz="3600" smtClean="0"/>
              <a:t>The Mean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382000" cy="4532313"/>
          </a:xfrm>
        </p:spPr>
        <p:txBody>
          <a:bodyPr/>
          <a:lstStyle/>
          <a:p>
            <a:pPr eaLnBrk="1" hangingPunct="1"/>
            <a:r>
              <a:rPr lang="en-US" smtClean="0"/>
              <a:t>The arithmetic mean (often just called the “mean”) is the most common measure of central tendency</a:t>
            </a:r>
          </a:p>
          <a:p>
            <a:pPr eaLnBrk="1" hangingPunct="1"/>
            <a:endParaRPr lang="en-US" smtClean="0"/>
          </a:p>
          <a:p>
            <a:pPr lvl="1" eaLnBrk="1" hangingPunct="1"/>
            <a:r>
              <a:rPr lang="en-US" smtClean="0"/>
              <a:t>For a sample of size n:</a:t>
            </a:r>
          </a:p>
        </p:txBody>
      </p:sp>
      <p:sp>
        <p:nvSpPr>
          <p:cNvPr id="1032" name="Text Box 4"/>
          <p:cNvSpPr txBox="1">
            <a:spLocks noChangeArrowheads="1"/>
          </p:cNvSpPr>
          <p:nvPr/>
        </p:nvSpPr>
        <p:spPr bwMode="auto">
          <a:xfrm>
            <a:off x="838200" y="5781675"/>
            <a:ext cx="1905000" cy="466725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Sample size</a:t>
            </a:r>
          </a:p>
        </p:txBody>
      </p:sp>
      <p:sp>
        <p:nvSpPr>
          <p:cNvPr id="1033" name="Line 5"/>
          <p:cNvSpPr>
            <a:spLocks noChangeShapeType="1"/>
          </p:cNvSpPr>
          <p:nvPr/>
        </p:nvSpPr>
        <p:spPr bwMode="auto">
          <a:xfrm flipH="1">
            <a:off x="3886200" y="3581400"/>
            <a:ext cx="1981200" cy="9144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2209800" y="4038600"/>
          <a:ext cx="4975225" cy="1570038"/>
        </p:xfrm>
        <a:graphic>
          <a:graphicData uri="http://schemas.openxmlformats.org/presentationml/2006/ole">
            <p:oleObj spid="_x0000_s1026" name="Equation" r:id="rId3" imgW="1930320" imgH="609480" progId="Equation.3">
              <p:embed/>
            </p:oleObj>
          </a:graphicData>
        </a:graphic>
      </p:graphicFrame>
      <p:sp>
        <p:nvSpPr>
          <p:cNvPr id="1034" name="Text Box 7"/>
          <p:cNvSpPr txBox="1">
            <a:spLocks noChangeArrowheads="1"/>
          </p:cNvSpPr>
          <p:nvPr/>
        </p:nvSpPr>
        <p:spPr bwMode="auto">
          <a:xfrm>
            <a:off x="6248400" y="5791200"/>
            <a:ext cx="2514600" cy="466725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Observed values</a:t>
            </a:r>
          </a:p>
        </p:txBody>
      </p:sp>
      <p:sp>
        <p:nvSpPr>
          <p:cNvPr id="1035" name="Line 8"/>
          <p:cNvSpPr>
            <a:spLocks noChangeShapeType="1"/>
          </p:cNvSpPr>
          <p:nvPr/>
        </p:nvSpPr>
        <p:spPr bwMode="auto">
          <a:xfrm flipH="1" flipV="1">
            <a:off x="7162800" y="4800600"/>
            <a:ext cx="5334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6" name="Line 9"/>
          <p:cNvSpPr>
            <a:spLocks noChangeShapeType="1"/>
          </p:cNvSpPr>
          <p:nvPr/>
        </p:nvSpPr>
        <p:spPr bwMode="auto">
          <a:xfrm>
            <a:off x="7696200" y="4800600"/>
            <a:ext cx="0" cy="9906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7" name="Rectangle 10"/>
          <p:cNvSpPr>
            <a:spLocks noChangeArrowheads="1"/>
          </p:cNvSpPr>
          <p:nvPr/>
        </p:nvSpPr>
        <p:spPr bwMode="auto">
          <a:xfrm>
            <a:off x="5867400" y="3352800"/>
            <a:ext cx="1846263" cy="457200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The i</a:t>
            </a:r>
            <a:r>
              <a:rPr lang="en-US" baseline="30000"/>
              <a:t>th</a:t>
            </a:r>
            <a:r>
              <a:rPr lang="en-US"/>
              <a:t> value</a:t>
            </a:r>
          </a:p>
        </p:txBody>
      </p:sp>
      <p:sp>
        <p:nvSpPr>
          <p:cNvPr id="1038" name="Line 11"/>
          <p:cNvSpPr>
            <a:spLocks noChangeShapeType="1"/>
          </p:cNvSpPr>
          <p:nvPr/>
        </p:nvSpPr>
        <p:spPr bwMode="auto">
          <a:xfrm flipV="1">
            <a:off x="2743200" y="5562600"/>
            <a:ext cx="533400" cy="2286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9" name="Text Box 12"/>
          <p:cNvSpPr txBox="1">
            <a:spLocks noChangeArrowheads="1"/>
          </p:cNvSpPr>
          <p:nvPr/>
        </p:nvSpPr>
        <p:spPr bwMode="auto">
          <a:xfrm>
            <a:off x="152400" y="3581400"/>
            <a:ext cx="2286000" cy="376238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Pronounced x-bar</a:t>
            </a:r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>
            <a:off x="1295400" y="3962400"/>
            <a:ext cx="990600" cy="6858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41" name="TextBox 1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FBF974D1-84B9-4398-B8D2-F075AF58A745}" type="slidenum">
              <a:rPr lang="en-US" smtClean="0">
                <a:latin typeface="Arial" charset="0"/>
              </a:rPr>
              <a:pPr/>
              <a:t>5</a:t>
            </a:fld>
            <a:endParaRPr lang="en-US" smtClean="0">
              <a:latin typeface="Arial" charset="0"/>
            </a:endParaRPr>
          </a:p>
        </p:txBody>
      </p:sp>
      <p:sp>
        <p:nvSpPr>
          <p:cNvPr id="2053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054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ACB9D4A-7340-4100-8FEB-7C8818235ADF}" type="slidenum">
              <a:rPr lang="en-US" sz="1000"/>
              <a:pPr algn="r" defTabSz="852488"/>
              <a:t>5</a:t>
            </a:fld>
            <a:endParaRPr lang="en-US" sz="1000"/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Measures of Central Tendency:</a:t>
            </a:r>
            <a:br>
              <a:rPr lang="en-US" sz="3600" smtClean="0"/>
            </a:br>
            <a:r>
              <a:rPr lang="en-US" sz="3600" smtClean="0"/>
              <a:t>The Mean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8077200" cy="4114800"/>
          </a:xfrm>
        </p:spPr>
        <p:txBody>
          <a:bodyPr/>
          <a:lstStyle/>
          <a:p>
            <a:pPr eaLnBrk="1" hangingPunct="1"/>
            <a:r>
              <a:rPr lang="en-US" sz="2400" smtClean="0"/>
              <a:t>The most common measure of central tendency</a:t>
            </a:r>
          </a:p>
          <a:p>
            <a:pPr eaLnBrk="1" hangingPunct="1"/>
            <a:r>
              <a:rPr lang="en-US" sz="2400" smtClean="0"/>
              <a:t>Mean = sum of values divided by the number of values</a:t>
            </a:r>
          </a:p>
          <a:p>
            <a:pPr eaLnBrk="1" hangingPunct="1"/>
            <a:r>
              <a:rPr lang="en-US" sz="2400" smtClean="0"/>
              <a:t>Affected by extreme values (outliers)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</p:txBody>
      </p:sp>
      <p:sp>
        <p:nvSpPr>
          <p:cNvPr id="2057" name="Text Box 4"/>
          <p:cNvSpPr txBox="1">
            <a:spLocks noChangeArrowheads="1"/>
          </p:cNvSpPr>
          <p:nvPr/>
        </p:nvSpPr>
        <p:spPr bwMode="auto">
          <a:xfrm>
            <a:off x="7467600" y="1203325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2058" name="AutoShape 5"/>
          <p:cNvSpPr>
            <a:spLocks noChangeArrowheads="1"/>
          </p:cNvSpPr>
          <p:nvPr/>
        </p:nvSpPr>
        <p:spPr bwMode="auto">
          <a:xfrm rot="-5400000">
            <a:off x="5905500" y="4305300"/>
            <a:ext cx="609600" cy="228600"/>
          </a:xfrm>
          <a:prstGeom prst="rightArrow">
            <a:avLst>
              <a:gd name="adj1" fmla="val 50000"/>
              <a:gd name="adj2" fmla="val 6716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59" name="Rectangle 7"/>
          <p:cNvSpPr>
            <a:spLocks noChangeArrowheads="1"/>
          </p:cNvSpPr>
          <p:nvPr/>
        </p:nvSpPr>
        <p:spPr bwMode="auto">
          <a:xfrm>
            <a:off x="522288" y="3798888"/>
            <a:ext cx="39846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11  12  13  14  15  16  17  18  19 20</a:t>
            </a:r>
          </a:p>
        </p:txBody>
      </p:sp>
      <p:sp>
        <p:nvSpPr>
          <p:cNvPr id="2060" name="Rectangle 8"/>
          <p:cNvSpPr>
            <a:spLocks noChangeArrowheads="1"/>
          </p:cNvSpPr>
          <p:nvPr/>
        </p:nvSpPr>
        <p:spPr bwMode="auto">
          <a:xfrm>
            <a:off x="609600" y="3657600"/>
            <a:ext cx="31432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2061" name="Oval 9"/>
          <p:cNvSpPr>
            <a:spLocks noChangeArrowheads="1"/>
          </p:cNvSpPr>
          <p:nvPr/>
        </p:nvSpPr>
        <p:spPr bwMode="auto">
          <a:xfrm>
            <a:off x="6096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2" name="Oval 10"/>
          <p:cNvSpPr>
            <a:spLocks noChangeArrowheads="1"/>
          </p:cNvSpPr>
          <p:nvPr/>
        </p:nvSpPr>
        <p:spPr bwMode="auto">
          <a:xfrm>
            <a:off x="98425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3" name="Oval 11"/>
          <p:cNvSpPr>
            <a:spLocks noChangeArrowheads="1"/>
          </p:cNvSpPr>
          <p:nvPr/>
        </p:nvSpPr>
        <p:spPr bwMode="auto">
          <a:xfrm>
            <a:off x="13747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4" name="Oval 12"/>
          <p:cNvSpPr>
            <a:spLocks noChangeArrowheads="1"/>
          </p:cNvSpPr>
          <p:nvPr/>
        </p:nvSpPr>
        <p:spPr bwMode="auto">
          <a:xfrm>
            <a:off x="17430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5" name="Oval 13"/>
          <p:cNvSpPr>
            <a:spLocks noChangeArrowheads="1"/>
          </p:cNvSpPr>
          <p:nvPr/>
        </p:nvSpPr>
        <p:spPr bwMode="auto">
          <a:xfrm>
            <a:off x="212725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6" name="AutoShape 14"/>
          <p:cNvSpPr>
            <a:spLocks noChangeArrowheads="1"/>
          </p:cNvSpPr>
          <p:nvPr/>
        </p:nvSpPr>
        <p:spPr bwMode="auto">
          <a:xfrm rot="-5400000">
            <a:off x="1257300" y="4305300"/>
            <a:ext cx="609600" cy="228600"/>
          </a:xfrm>
          <a:prstGeom prst="rightArrow">
            <a:avLst>
              <a:gd name="adj1" fmla="val 50000"/>
              <a:gd name="adj2" fmla="val 6716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67" name="Rectangle 15"/>
          <p:cNvSpPr>
            <a:spLocks noChangeArrowheads="1"/>
          </p:cNvSpPr>
          <p:nvPr/>
        </p:nvSpPr>
        <p:spPr bwMode="auto">
          <a:xfrm>
            <a:off x="1447800" y="4800600"/>
            <a:ext cx="1752600" cy="45878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Mean = 13</a:t>
            </a:r>
          </a:p>
        </p:txBody>
      </p:sp>
      <p:sp>
        <p:nvSpPr>
          <p:cNvPr id="2068" name="Rectangle 17"/>
          <p:cNvSpPr>
            <a:spLocks noChangeArrowheads="1"/>
          </p:cNvSpPr>
          <p:nvPr/>
        </p:nvSpPr>
        <p:spPr bwMode="auto">
          <a:xfrm>
            <a:off x="4724400" y="3810000"/>
            <a:ext cx="411480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  11  12  13  14  15  16  17  18  19 20</a:t>
            </a:r>
          </a:p>
        </p:txBody>
      </p:sp>
      <p:sp>
        <p:nvSpPr>
          <p:cNvPr id="2069" name="Rectangle 18"/>
          <p:cNvSpPr>
            <a:spLocks noChangeArrowheads="1"/>
          </p:cNvSpPr>
          <p:nvPr/>
        </p:nvSpPr>
        <p:spPr bwMode="auto">
          <a:xfrm>
            <a:off x="4953000" y="3657600"/>
            <a:ext cx="31432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2070" name="Oval 19"/>
          <p:cNvSpPr>
            <a:spLocks noChangeArrowheads="1"/>
          </p:cNvSpPr>
          <p:nvPr/>
        </p:nvSpPr>
        <p:spPr bwMode="auto">
          <a:xfrm>
            <a:off x="4935538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71" name="Oval 20"/>
          <p:cNvSpPr>
            <a:spLocks noChangeArrowheads="1"/>
          </p:cNvSpPr>
          <p:nvPr/>
        </p:nvSpPr>
        <p:spPr bwMode="auto">
          <a:xfrm>
            <a:off x="53340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72" name="Oval 21"/>
          <p:cNvSpPr>
            <a:spLocks noChangeArrowheads="1"/>
          </p:cNvSpPr>
          <p:nvPr/>
        </p:nvSpPr>
        <p:spPr bwMode="auto">
          <a:xfrm>
            <a:off x="57150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73" name="Oval 22"/>
          <p:cNvSpPr>
            <a:spLocks noChangeArrowheads="1"/>
          </p:cNvSpPr>
          <p:nvPr/>
        </p:nvSpPr>
        <p:spPr bwMode="auto">
          <a:xfrm>
            <a:off x="6078538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74" name="Oval 23"/>
          <p:cNvSpPr>
            <a:spLocks noChangeArrowheads="1"/>
          </p:cNvSpPr>
          <p:nvPr/>
        </p:nvSpPr>
        <p:spPr bwMode="auto">
          <a:xfrm>
            <a:off x="82962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75" name="Rectangle 24"/>
          <p:cNvSpPr>
            <a:spLocks noChangeArrowheads="1"/>
          </p:cNvSpPr>
          <p:nvPr/>
        </p:nvSpPr>
        <p:spPr bwMode="auto">
          <a:xfrm>
            <a:off x="6019800" y="4800600"/>
            <a:ext cx="1676400" cy="45878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Mean = 14</a:t>
            </a:r>
          </a:p>
        </p:txBody>
      </p:sp>
      <p:graphicFrame>
        <p:nvGraphicFramePr>
          <p:cNvPr id="2050" name="Object 25"/>
          <p:cNvGraphicFramePr>
            <a:graphicFrameLocks noChangeAspect="1"/>
          </p:cNvGraphicFramePr>
          <p:nvPr/>
        </p:nvGraphicFramePr>
        <p:xfrm>
          <a:off x="381000" y="5486400"/>
          <a:ext cx="3494088" cy="731838"/>
        </p:xfrm>
        <a:graphic>
          <a:graphicData uri="http://schemas.openxmlformats.org/presentationml/2006/ole">
            <p:oleObj spid="_x0000_s2050" name="Equation" r:id="rId3" imgW="1879560" imgH="393480" progId="Equation.3">
              <p:embed/>
            </p:oleObj>
          </a:graphicData>
        </a:graphic>
      </p:graphicFrame>
      <p:graphicFrame>
        <p:nvGraphicFramePr>
          <p:cNvPr id="2051" name="Object 26"/>
          <p:cNvGraphicFramePr>
            <a:graphicFrameLocks noChangeAspect="1"/>
          </p:cNvGraphicFramePr>
          <p:nvPr/>
        </p:nvGraphicFramePr>
        <p:xfrm>
          <a:off x="4953000" y="5410200"/>
          <a:ext cx="3541713" cy="731838"/>
        </p:xfrm>
        <a:graphic>
          <a:graphicData uri="http://schemas.openxmlformats.org/presentationml/2006/ole">
            <p:oleObj spid="_x0000_s2051" name="Equation" r:id="rId4" imgW="1904760" imgH="393480" progId="Equation.3">
              <p:embed/>
            </p:oleObj>
          </a:graphicData>
        </a:graphic>
      </p:graphicFrame>
      <p:cxnSp>
        <p:nvCxnSpPr>
          <p:cNvPr id="2076" name="Straight Connector 30"/>
          <p:cNvCxnSpPr>
            <a:cxnSpLocks noChangeShapeType="1"/>
          </p:cNvCxnSpPr>
          <p:nvPr/>
        </p:nvCxnSpPr>
        <p:spPr bwMode="auto">
          <a:xfrm>
            <a:off x="4953000" y="3895725"/>
            <a:ext cx="35814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77" name="Straight Connector 31"/>
          <p:cNvCxnSpPr>
            <a:cxnSpLocks noChangeShapeType="1"/>
          </p:cNvCxnSpPr>
          <p:nvPr/>
        </p:nvCxnSpPr>
        <p:spPr bwMode="auto">
          <a:xfrm>
            <a:off x="609600" y="3886200"/>
            <a:ext cx="35814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078" name="TextBox 29"/>
          <p:cNvSpPr txBox="1">
            <a:spLocks noChangeArrowheads="1"/>
          </p:cNvSpPr>
          <p:nvPr/>
        </p:nvSpPr>
        <p:spPr bwMode="auto">
          <a:xfrm>
            <a:off x="7620000" y="762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AC46E608-A301-4EA6-964D-F3C96824B74D}" type="slidenum">
              <a:rPr lang="en-US" smtClean="0">
                <a:latin typeface="Arial" charset="0"/>
              </a:rPr>
              <a:pPr/>
              <a:t>6</a:t>
            </a:fld>
            <a:endParaRPr lang="en-US" smtClean="0">
              <a:latin typeface="Arial" charset="0"/>
            </a:endParaRPr>
          </a:p>
        </p:txBody>
      </p:sp>
      <p:sp>
        <p:nvSpPr>
          <p:cNvPr id="11673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673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6C0704D-85DF-4D1C-97E5-2BE624A1AE55}" type="slidenum">
              <a:rPr lang="en-US" sz="1000"/>
              <a:pPr algn="r" defTabSz="852488"/>
              <a:t>6</a:t>
            </a:fld>
            <a:endParaRPr lang="en-US" sz="1000"/>
          </a:p>
        </p:txBody>
      </p:sp>
      <p:sp>
        <p:nvSpPr>
          <p:cNvPr id="1167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Measures of Central Tendency:</a:t>
            </a:r>
            <a:br>
              <a:rPr lang="en-US" sz="3600" smtClean="0"/>
            </a:br>
            <a:r>
              <a:rPr lang="en-US" sz="3600" smtClean="0"/>
              <a:t>The Median</a:t>
            </a:r>
          </a:p>
        </p:txBody>
      </p:sp>
      <p:sp>
        <p:nvSpPr>
          <p:cNvPr id="1167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5029200"/>
          </a:xfrm>
        </p:spPr>
        <p:txBody>
          <a:bodyPr/>
          <a:lstStyle/>
          <a:p>
            <a:pPr eaLnBrk="1" hangingPunct="1"/>
            <a:endParaRPr lang="en-US" smtClean="0">
              <a:solidFill>
                <a:schemeClr val="folHlink"/>
              </a:solidFill>
            </a:endParaRPr>
          </a:p>
          <a:p>
            <a:pPr eaLnBrk="1" hangingPunct="1"/>
            <a:r>
              <a:rPr lang="en-US" smtClean="0"/>
              <a:t>In an ordered array, the median is the “middle” number (50% above, 50% below)</a:t>
            </a:r>
          </a:p>
          <a:p>
            <a:pPr eaLnBrk="1" hangingPunct="1"/>
            <a:endParaRPr lang="en-US" sz="2700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z="2700" smtClean="0"/>
          </a:p>
          <a:p>
            <a:pPr eaLnBrk="1" hangingPunct="1"/>
            <a:r>
              <a:rPr lang="en-US" sz="2700" smtClean="0"/>
              <a:t>Not affected by extreme values</a:t>
            </a:r>
          </a:p>
        </p:txBody>
      </p:sp>
      <p:sp>
        <p:nvSpPr>
          <p:cNvPr id="116742" name="AutoShape 4"/>
          <p:cNvSpPr>
            <a:spLocks noChangeArrowheads="1"/>
          </p:cNvSpPr>
          <p:nvPr/>
        </p:nvSpPr>
        <p:spPr bwMode="auto">
          <a:xfrm rot="-5400000">
            <a:off x="5676900" y="4305300"/>
            <a:ext cx="457200" cy="228600"/>
          </a:xfrm>
          <a:prstGeom prst="rightArrow">
            <a:avLst>
              <a:gd name="adj1" fmla="val 50000"/>
              <a:gd name="adj2" fmla="val 5037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43" name="AutoShape 13"/>
          <p:cNvSpPr>
            <a:spLocks noChangeArrowheads="1"/>
          </p:cNvSpPr>
          <p:nvPr/>
        </p:nvSpPr>
        <p:spPr bwMode="auto">
          <a:xfrm rot="-5400000">
            <a:off x="1333500" y="4305300"/>
            <a:ext cx="457200" cy="228600"/>
          </a:xfrm>
          <a:prstGeom prst="rightArrow">
            <a:avLst>
              <a:gd name="adj1" fmla="val 50000"/>
              <a:gd name="adj2" fmla="val 5037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44" name="Rectangle 14"/>
          <p:cNvSpPr>
            <a:spLocks noChangeArrowheads="1"/>
          </p:cNvSpPr>
          <p:nvPr/>
        </p:nvSpPr>
        <p:spPr bwMode="auto">
          <a:xfrm>
            <a:off x="1447800" y="4724400"/>
            <a:ext cx="1981200" cy="45878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Median = 13</a:t>
            </a:r>
          </a:p>
        </p:txBody>
      </p:sp>
      <p:sp>
        <p:nvSpPr>
          <p:cNvPr id="116745" name="Rectangle 23"/>
          <p:cNvSpPr>
            <a:spLocks noChangeArrowheads="1"/>
          </p:cNvSpPr>
          <p:nvPr/>
        </p:nvSpPr>
        <p:spPr bwMode="auto">
          <a:xfrm>
            <a:off x="5791200" y="4724400"/>
            <a:ext cx="2057400" cy="45878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Median = 13</a:t>
            </a:r>
          </a:p>
        </p:txBody>
      </p:sp>
      <p:sp>
        <p:nvSpPr>
          <p:cNvPr id="116746" name="Rectangle 7"/>
          <p:cNvSpPr>
            <a:spLocks noChangeArrowheads="1"/>
          </p:cNvSpPr>
          <p:nvPr/>
        </p:nvSpPr>
        <p:spPr bwMode="auto">
          <a:xfrm>
            <a:off x="522288" y="3798888"/>
            <a:ext cx="39846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11  12  13  14  15  16  17  18  19 20</a:t>
            </a:r>
          </a:p>
        </p:txBody>
      </p:sp>
      <p:sp>
        <p:nvSpPr>
          <p:cNvPr id="116747" name="Rectangle 8"/>
          <p:cNvSpPr>
            <a:spLocks noChangeArrowheads="1"/>
          </p:cNvSpPr>
          <p:nvPr/>
        </p:nvSpPr>
        <p:spPr bwMode="auto">
          <a:xfrm>
            <a:off x="609600" y="3657600"/>
            <a:ext cx="31432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16748" name="Oval 9"/>
          <p:cNvSpPr>
            <a:spLocks noChangeArrowheads="1"/>
          </p:cNvSpPr>
          <p:nvPr/>
        </p:nvSpPr>
        <p:spPr bwMode="auto">
          <a:xfrm>
            <a:off x="6096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49" name="Oval 10"/>
          <p:cNvSpPr>
            <a:spLocks noChangeArrowheads="1"/>
          </p:cNvSpPr>
          <p:nvPr/>
        </p:nvSpPr>
        <p:spPr bwMode="auto">
          <a:xfrm>
            <a:off x="98425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0" name="Oval 11"/>
          <p:cNvSpPr>
            <a:spLocks noChangeArrowheads="1"/>
          </p:cNvSpPr>
          <p:nvPr/>
        </p:nvSpPr>
        <p:spPr bwMode="auto">
          <a:xfrm>
            <a:off x="13747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1" name="Oval 12"/>
          <p:cNvSpPr>
            <a:spLocks noChangeArrowheads="1"/>
          </p:cNvSpPr>
          <p:nvPr/>
        </p:nvSpPr>
        <p:spPr bwMode="auto">
          <a:xfrm>
            <a:off x="17430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2" name="Oval 13"/>
          <p:cNvSpPr>
            <a:spLocks noChangeArrowheads="1"/>
          </p:cNvSpPr>
          <p:nvPr/>
        </p:nvSpPr>
        <p:spPr bwMode="auto">
          <a:xfrm>
            <a:off x="212725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3" name="Rectangle 17"/>
          <p:cNvSpPr>
            <a:spLocks noChangeArrowheads="1"/>
          </p:cNvSpPr>
          <p:nvPr/>
        </p:nvSpPr>
        <p:spPr bwMode="auto">
          <a:xfrm>
            <a:off x="4724400" y="3810000"/>
            <a:ext cx="411480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  11  12  13  14  15  16  17  18  19 20</a:t>
            </a:r>
          </a:p>
        </p:txBody>
      </p:sp>
      <p:sp>
        <p:nvSpPr>
          <p:cNvPr id="116754" name="Rectangle 18"/>
          <p:cNvSpPr>
            <a:spLocks noChangeArrowheads="1"/>
          </p:cNvSpPr>
          <p:nvPr/>
        </p:nvSpPr>
        <p:spPr bwMode="auto">
          <a:xfrm>
            <a:off x="4953000" y="3657600"/>
            <a:ext cx="31432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16755" name="Oval 19"/>
          <p:cNvSpPr>
            <a:spLocks noChangeArrowheads="1"/>
          </p:cNvSpPr>
          <p:nvPr/>
        </p:nvSpPr>
        <p:spPr bwMode="auto">
          <a:xfrm>
            <a:off x="4935538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6" name="Oval 20"/>
          <p:cNvSpPr>
            <a:spLocks noChangeArrowheads="1"/>
          </p:cNvSpPr>
          <p:nvPr/>
        </p:nvSpPr>
        <p:spPr bwMode="auto">
          <a:xfrm>
            <a:off x="53340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7" name="Oval 21"/>
          <p:cNvSpPr>
            <a:spLocks noChangeArrowheads="1"/>
          </p:cNvSpPr>
          <p:nvPr/>
        </p:nvSpPr>
        <p:spPr bwMode="auto">
          <a:xfrm>
            <a:off x="5715000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8" name="Oval 22"/>
          <p:cNvSpPr>
            <a:spLocks noChangeArrowheads="1"/>
          </p:cNvSpPr>
          <p:nvPr/>
        </p:nvSpPr>
        <p:spPr bwMode="auto">
          <a:xfrm>
            <a:off x="6078538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6759" name="Oval 23"/>
          <p:cNvSpPr>
            <a:spLocks noChangeArrowheads="1"/>
          </p:cNvSpPr>
          <p:nvPr/>
        </p:nvSpPr>
        <p:spPr bwMode="auto">
          <a:xfrm>
            <a:off x="8296275" y="3657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16760" name="Straight Connector 40"/>
          <p:cNvCxnSpPr>
            <a:cxnSpLocks noChangeShapeType="1"/>
          </p:cNvCxnSpPr>
          <p:nvPr/>
        </p:nvCxnSpPr>
        <p:spPr bwMode="auto">
          <a:xfrm>
            <a:off x="4953000" y="3895725"/>
            <a:ext cx="35814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761" name="Straight Connector 41"/>
          <p:cNvCxnSpPr>
            <a:cxnSpLocks noChangeShapeType="1"/>
          </p:cNvCxnSpPr>
          <p:nvPr/>
        </p:nvCxnSpPr>
        <p:spPr bwMode="auto">
          <a:xfrm>
            <a:off x="609600" y="3886200"/>
            <a:ext cx="35814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6762" name="TextBox 42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298AC5C-BA5A-4076-BCD6-139C6B7AB23D}" type="slidenum">
              <a:rPr lang="en-US" smtClean="0">
                <a:latin typeface="Arial" charset="0"/>
              </a:rPr>
              <a:pPr/>
              <a:t>7</a:t>
            </a:fld>
            <a:endParaRPr lang="en-US" smtClean="0">
              <a:latin typeface="Arial" charset="0"/>
            </a:endParaRPr>
          </a:p>
        </p:txBody>
      </p:sp>
      <p:sp>
        <p:nvSpPr>
          <p:cNvPr id="3077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07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8356B599-0614-4FA4-A068-E2B996BCB97A}" type="slidenum">
              <a:rPr lang="en-US" sz="1000"/>
              <a:pPr algn="r" defTabSz="852488"/>
              <a:t>7</a:t>
            </a:fld>
            <a:endParaRPr lang="en-US" sz="1000"/>
          </a:p>
        </p:txBody>
      </p:sp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Measures of Central Tendency:</a:t>
            </a:r>
            <a:br>
              <a:rPr lang="en-US" sz="3600" smtClean="0"/>
            </a:br>
            <a:r>
              <a:rPr lang="en-US" sz="3600" smtClean="0"/>
              <a:t>Locating the Median</a:t>
            </a:r>
          </a:p>
        </p:txBody>
      </p:sp>
      <p:sp>
        <p:nvSpPr>
          <p:cNvPr id="30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The location of the median when the values are in numerical order (smallest to largest):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If the number of values is odd, the median is the middle number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If the number of values is even, the median is the average of the two middle numbers</a:t>
            </a:r>
          </a:p>
          <a:p>
            <a:pPr marL="512763" lvl="1" indent="-77788" eaLnBrk="1" hangingPunct="1">
              <a:lnSpc>
                <a:spcPct val="90000"/>
              </a:lnSpc>
            </a:pPr>
            <a:endParaRPr lang="en-US" sz="180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smtClean="0"/>
              <a:t>	Note that            is not the </a:t>
            </a:r>
            <a:r>
              <a:rPr lang="en-US" sz="2000" i="1" smtClean="0">
                <a:solidFill>
                  <a:schemeClr val="folHlink"/>
                </a:solidFill>
              </a:rPr>
              <a:t>value</a:t>
            </a:r>
            <a:r>
              <a:rPr lang="en-US" sz="2000" smtClean="0"/>
              <a:t> of the median, only the </a:t>
            </a:r>
            <a:r>
              <a:rPr lang="en-US" sz="2000" i="1" smtClean="0">
                <a:solidFill>
                  <a:schemeClr val="folHlink"/>
                </a:solidFill>
              </a:rPr>
              <a:t>position</a:t>
            </a:r>
            <a:r>
              <a:rPr lang="en-US" sz="2000" smtClean="0"/>
              <a:t> of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smtClean="0"/>
              <a:t>     the median in the ranked data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257300" y="2590800"/>
          <a:ext cx="7086600" cy="787400"/>
        </p:xfrm>
        <a:graphic>
          <a:graphicData uri="http://schemas.openxmlformats.org/presentationml/2006/ole">
            <p:oleObj spid="_x0000_s3074" name="Equation" r:id="rId3" imgW="3543120" imgH="393480" progId="Equation.3">
              <p:embed/>
            </p:oleObj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2133600" y="5029200"/>
          <a:ext cx="609600" cy="700088"/>
        </p:xfrm>
        <a:graphic>
          <a:graphicData uri="http://schemas.openxmlformats.org/presentationml/2006/ole">
            <p:oleObj spid="_x0000_s3075" name="Equation" r:id="rId4" imgW="342720" imgH="393480" progId="Equation.3">
              <p:embed/>
            </p:oleObj>
          </a:graphicData>
        </a:graphic>
      </p:graphicFrame>
      <p:sp>
        <p:nvSpPr>
          <p:cNvPr id="3081" name="Rectangle 6"/>
          <p:cNvSpPr>
            <a:spLocks noChangeArrowheads="1"/>
          </p:cNvSpPr>
          <p:nvPr/>
        </p:nvSpPr>
        <p:spPr bwMode="auto">
          <a:xfrm>
            <a:off x="762000" y="4953000"/>
            <a:ext cx="8077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2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B306C60F-3CBA-4768-A3BA-3BB27645377E}" type="slidenum">
              <a:rPr lang="en-US" smtClean="0">
                <a:latin typeface="Arial" charset="0"/>
              </a:rPr>
              <a:pPr/>
              <a:t>8</a:t>
            </a:fld>
            <a:endParaRPr lang="en-US" smtClean="0">
              <a:latin typeface="Arial" charset="0"/>
            </a:endParaRPr>
          </a:p>
        </p:txBody>
      </p:sp>
      <p:sp>
        <p:nvSpPr>
          <p:cNvPr id="13619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619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C03DC12-C3AA-48DF-A0B2-3AC687E68541}" type="slidenum">
              <a:rPr lang="en-US" sz="1000"/>
              <a:pPr algn="r" defTabSz="852488"/>
              <a:t>8</a:t>
            </a:fld>
            <a:endParaRPr lang="en-US" sz="1000"/>
          </a:p>
        </p:txBody>
      </p:sp>
      <p:sp>
        <p:nvSpPr>
          <p:cNvPr id="136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793038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Measures of Central Tendency:</a:t>
            </a:r>
            <a:br>
              <a:rPr lang="en-US" sz="3600" smtClean="0"/>
            </a:br>
            <a:r>
              <a:rPr lang="en-US" sz="3600" smtClean="0"/>
              <a:t>The Mode</a:t>
            </a:r>
          </a:p>
        </p:txBody>
      </p:sp>
      <p:sp>
        <p:nvSpPr>
          <p:cNvPr id="136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4532313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smtClean="0"/>
              <a:t>Value that occurs most often</a:t>
            </a:r>
          </a:p>
          <a:p>
            <a:pPr eaLnBrk="1" hangingPunct="1">
              <a:spcBef>
                <a:spcPct val="10000"/>
              </a:spcBef>
            </a:pPr>
            <a:r>
              <a:rPr lang="en-US" smtClean="0"/>
              <a:t>Not affected by extreme values</a:t>
            </a:r>
          </a:p>
          <a:p>
            <a:pPr eaLnBrk="1" hangingPunct="1">
              <a:spcBef>
                <a:spcPct val="10000"/>
              </a:spcBef>
            </a:pPr>
            <a:r>
              <a:rPr lang="en-US" smtClean="0"/>
              <a:t>Used for either numerical or categorical (nominal) data</a:t>
            </a:r>
          </a:p>
          <a:p>
            <a:pPr eaLnBrk="1" hangingPunct="1">
              <a:spcBef>
                <a:spcPct val="10000"/>
              </a:spcBef>
            </a:pPr>
            <a:r>
              <a:rPr lang="en-US" smtClean="0"/>
              <a:t>There may be no mode</a:t>
            </a:r>
          </a:p>
          <a:p>
            <a:pPr eaLnBrk="1" hangingPunct="1">
              <a:spcBef>
                <a:spcPct val="10000"/>
              </a:spcBef>
            </a:pPr>
            <a:r>
              <a:rPr lang="en-US" smtClean="0"/>
              <a:t>There may be several modes</a:t>
            </a:r>
          </a:p>
          <a:p>
            <a:pPr eaLnBrk="1" hangingPunct="1"/>
            <a:endParaRPr lang="en-US" smtClean="0"/>
          </a:p>
        </p:txBody>
      </p:sp>
      <p:sp>
        <p:nvSpPr>
          <p:cNvPr id="136198" name="Line 4"/>
          <p:cNvSpPr>
            <a:spLocks noChangeShapeType="1"/>
          </p:cNvSpPr>
          <p:nvPr/>
        </p:nvSpPr>
        <p:spPr bwMode="auto">
          <a:xfrm>
            <a:off x="768350" y="5576888"/>
            <a:ext cx="3354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6199" name="Rectangle 5"/>
          <p:cNvSpPr>
            <a:spLocks noChangeArrowheads="1"/>
          </p:cNvSpPr>
          <p:nvPr/>
        </p:nvSpPr>
        <p:spPr bwMode="auto">
          <a:xfrm>
            <a:off x="609600" y="5570538"/>
            <a:ext cx="54102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/>
              <a:t>0   1   2   3   4   5   6   7   8   9   10   11   12   13   14</a:t>
            </a:r>
            <a:r>
              <a:rPr lang="en-US" sz="1800" b="1"/>
              <a:t>   </a:t>
            </a:r>
          </a:p>
        </p:txBody>
      </p:sp>
      <p:sp>
        <p:nvSpPr>
          <p:cNvPr id="136200" name="Oval 6"/>
          <p:cNvSpPr>
            <a:spLocks noChangeArrowheads="1"/>
          </p:cNvSpPr>
          <p:nvPr/>
        </p:nvSpPr>
        <p:spPr bwMode="auto">
          <a:xfrm>
            <a:off x="914400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1" name="Oval 7"/>
          <p:cNvSpPr>
            <a:spLocks noChangeArrowheads="1"/>
          </p:cNvSpPr>
          <p:nvPr/>
        </p:nvSpPr>
        <p:spPr bwMode="auto">
          <a:xfrm>
            <a:off x="15128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2" name="Oval 8"/>
          <p:cNvSpPr>
            <a:spLocks noChangeArrowheads="1"/>
          </p:cNvSpPr>
          <p:nvPr/>
        </p:nvSpPr>
        <p:spPr bwMode="auto">
          <a:xfrm>
            <a:off x="20462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3" name="Oval 9"/>
          <p:cNvSpPr>
            <a:spLocks noChangeArrowheads="1"/>
          </p:cNvSpPr>
          <p:nvPr/>
        </p:nvSpPr>
        <p:spPr bwMode="auto">
          <a:xfrm>
            <a:off x="26558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4" name="Oval 10"/>
          <p:cNvSpPr>
            <a:spLocks noChangeArrowheads="1"/>
          </p:cNvSpPr>
          <p:nvPr/>
        </p:nvSpPr>
        <p:spPr bwMode="auto">
          <a:xfrm>
            <a:off x="2046288" y="51196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5" name="Oval 11"/>
          <p:cNvSpPr>
            <a:spLocks noChangeArrowheads="1"/>
          </p:cNvSpPr>
          <p:nvPr/>
        </p:nvSpPr>
        <p:spPr bwMode="auto">
          <a:xfrm>
            <a:off x="31892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6" name="Oval 12"/>
          <p:cNvSpPr>
            <a:spLocks noChangeArrowheads="1"/>
          </p:cNvSpPr>
          <p:nvPr/>
        </p:nvSpPr>
        <p:spPr bwMode="auto">
          <a:xfrm>
            <a:off x="3189288" y="51196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7" name="Oval 13"/>
          <p:cNvSpPr>
            <a:spLocks noChangeArrowheads="1"/>
          </p:cNvSpPr>
          <p:nvPr/>
        </p:nvSpPr>
        <p:spPr bwMode="auto">
          <a:xfrm>
            <a:off x="3189288" y="48910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08" name="Rectangle 14"/>
          <p:cNvSpPr>
            <a:spLocks noChangeArrowheads="1"/>
          </p:cNvSpPr>
          <p:nvPr/>
        </p:nvSpPr>
        <p:spPr bwMode="auto">
          <a:xfrm>
            <a:off x="3482975" y="6175375"/>
            <a:ext cx="1698625" cy="46672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Mode = 9</a:t>
            </a:r>
          </a:p>
        </p:txBody>
      </p:sp>
      <p:sp>
        <p:nvSpPr>
          <p:cNvPr id="136209" name="Oval 15"/>
          <p:cNvSpPr>
            <a:spLocks noChangeArrowheads="1"/>
          </p:cNvSpPr>
          <p:nvPr/>
        </p:nvSpPr>
        <p:spPr bwMode="auto">
          <a:xfrm>
            <a:off x="35702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0" name="AutoShape 16"/>
          <p:cNvSpPr>
            <a:spLocks noChangeArrowheads="1"/>
          </p:cNvSpPr>
          <p:nvPr/>
        </p:nvSpPr>
        <p:spPr bwMode="auto">
          <a:xfrm rot="-5400000">
            <a:off x="3018632" y="5972968"/>
            <a:ext cx="609600" cy="398463"/>
          </a:xfrm>
          <a:prstGeom prst="rightArrow">
            <a:avLst>
              <a:gd name="adj1" fmla="val 31481"/>
              <a:gd name="adj2" fmla="val 38651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1" name="Line 17"/>
          <p:cNvSpPr>
            <a:spLocks noChangeShapeType="1"/>
          </p:cNvSpPr>
          <p:nvPr/>
        </p:nvSpPr>
        <p:spPr bwMode="auto">
          <a:xfrm>
            <a:off x="3968750" y="5576888"/>
            <a:ext cx="1296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6212" name="Oval 18"/>
          <p:cNvSpPr>
            <a:spLocks noChangeArrowheads="1"/>
          </p:cNvSpPr>
          <p:nvPr/>
        </p:nvSpPr>
        <p:spPr bwMode="auto">
          <a:xfrm>
            <a:off x="43322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3" name="Oval 19"/>
          <p:cNvSpPr>
            <a:spLocks noChangeArrowheads="1"/>
          </p:cNvSpPr>
          <p:nvPr/>
        </p:nvSpPr>
        <p:spPr bwMode="auto">
          <a:xfrm>
            <a:off x="4332288" y="51196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4" name="Oval 20"/>
          <p:cNvSpPr>
            <a:spLocks noChangeArrowheads="1"/>
          </p:cNvSpPr>
          <p:nvPr/>
        </p:nvSpPr>
        <p:spPr bwMode="auto">
          <a:xfrm>
            <a:off x="47894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5" name="Oval 21"/>
          <p:cNvSpPr>
            <a:spLocks noChangeArrowheads="1"/>
          </p:cNvSpPr>
          <p:nvPr/>
        </p:nvSpPr>
        <p:spPr bwMode="auto">
          <a:xfrm>
            <a:off x="51704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6" name="Line 22"/>
          <p:cNvSpPr>
            <a:spLocks noChangeShapeType="1"/>
          </p:cNvSpPr>
          <p:nvPr/>
        </p:nvSpPr>
        <p:spPr bwMode="auto">
          <a:xfrm flipV="1">
            <a:off x="6477000" y="557688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6217" name="Rectangle 23"/>
          <p:cNvSpPr>
            <a:spLocks noChangeArrowheads="1"/>
          </p:cNvSpPr>
          <p:nvPr/>
        </p:nvSpPr>
        <p:spPr bwMode="auto">
          <a:xfrm>
            <a:off x="6477000" y="5503863"/>
            <a:ext cx="253682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0   1   2   3   4   5   6</a:t>
            </a:r>
          </a:p>
        </p:txBody>
      </p:sp>
      <p:sp>
        <p:nvSpPr>
          <p:cNvPr id="136218" name="Oval 24"/>
          <p:cNvSpPr>
            <a:spLocks noChangeArrowheads="1"/>
          </p:cNvSpPr>
          <p:nvPr/>
        </p:nvSpPr>
        <p:spPr bwMode="auto">
          <a:xfrm>
            <a:off x="6553200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19" name="Oval 25"/>
          <p:cNvSpPr>
            <a:spLocks noChangeArrowheads="1"/>
          </p:cNvSpPr>
          <p:nvPr/>
        </p:nvSpPr>
        <p:spPr bwMode="auto">
          <a:xfrm>
            <a:off x="6858000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20" name="Oval 26"/>
          <p:cNvSpPr>
            <a:spLocks noChangeArrowheads="1"/>
          </p:cNvSpPr>
          <p:nvPr/>
        </p:nvSpPr>
        <p:spPr bwMode="auto">
          <a:xfrm>
            <a:off x="7162800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21" name="Oval 27"/>
          <p:cNvSpPr>
            <a:spLocks noChangeArrowheads="1"/>
          </p:cNvSpPr>
          <p:nvPr/>
        </p:nvSpPr>
        <p:spPr bwMode="auto">
          <a:xfrm>
            <a:off x="7467600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22" name="Oval 28"/>
          <p:cNvSpPr>
            <a:spLocks noChangeArrowheads="1"/>
          </p:cNvSpPr>
          <p:nvPr/>
        </p:nvSpPr>
        <p:spPr bwMode="auto">
          <a:xfrm>
            <a:off x="80660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23" name="Oval 29"/>
          <p:cNvSpPr>
            <a:spLocks noChangeArrowheads="1"/>
          </p:cNvSpPr>
          <p:nvPr/>
        </p:nvSpPr>
        <p:spPr bwMode="auto">
          <a:xfrm>
            <a:off x="8370888" y="5348288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6224" name="Rectangle 30"/>
          <p:cNvSpPr>
            <a:spLocks noChangeArrowheads="1"/>
          </p:cNvSpPr>
          <p:nvPr/>
        </p:nvSpPr>
        <p:spPr bwMode="auto">
          <a:xfrm>
            <a:off x="6858000" y="6010275"/>
            <a:ext cx="1622425" cy="46672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No Mode</a:t>
            </a:r>
          </a:p>
        </p:txBody>
      </p:sp>
      <p:sp>
        <p:nvSpPr>
          <p:cNvPr id="136225" name="TextBox 33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4B8CDAE3-AE18-4691-88A1-E6806E1CB35A}" type="slidenum">
              <a:rPr lang="en-US" smtClean="0">
                <a:latin typeface="Arial" charset="0"/>
              </a:rPr>
              <a:pPr/>
              <a:t>9</a:t>
            </a:fld>
            <a:endParaRPr lang="en-US" smtClean="0">
              <a:latin typeface="Arial" charset="0"/>
            </a:endParaRPr>
          </a:p>
        </p:txBody>
      </p:sp>
      <p:sp>
        <p:nvSpPr>
          <p:cNvPr id="14336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33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91E4D84-4ACE-4A7A-A82B-063B5F1DE979}" type="slidenum">
              <a:rPr lang="en-US" sz="1000"/>
              <a:pPr algn="r" defTabSz="852488"/>
              <a:t>9</a:t>
            </a:fld>
            <a:endParaRPr lang="en-US" sz="1000"/>
          </a:p>
        </p:txBody>
      </p:sp>
      <p:sp>
        <p:nvSpPr>
          <p:cNvPr id="143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Central Tendency:</a:t>
            </a:r>
            <a:br>
              <a:rPr lang="en-US" smtClean="0"/>
            </a:br>
            <a:r>
              <a:rPr lang="en-US" smtClean="0"/>
              <a:t>Review Example</a:t>
            </a:r>
          </a:p>
        </p:txBody>
      </p:sp>
      <p:sp>
        <p:nvSpPr>
          <p:cNvPr id="143365" name="Text Box 3"/>
          <p:cNvSpPr txBox="1">
            <a:spLocks noChangeArrowheads="1"/>
          </p:cNvSpPr>
          <p:nvPr/>
        </p:nvSpPr>
        <p:spPr bwMode="auto">
          <a:xfrm>
            <a:off x="533400" y="1981200"/>
            <a:ext cx="2209800" cy="2708275"/>
          </a:xfrm>
          <a:prstGeom prst="rect">
            <a:avLst/>
          </a:prstGeom>
          <a:solidFill>
            <a:srgbClr val="FDE0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b="1">
                <a:latin typeface="Times New Roman" pitchFamily="18" charset="0"/>
              </a:rPr>
              <a:t>House Prices: </a:t>
            </a:r>
            <a:br>
              <a:rPr lang="en-US" sz="2000" b="1">
                <a:latin typeface="Times New Roman" pitchFamily="18" charset="0"/>
              </a:rPr>
            </a:br>
            <a:r>
              <a:rPr lang="en-US" sz="2000" b="1">
                <a:latin typeface="Times New Roman" pitchFamily="18" charset="0"/>
              </a:rPr>
              <a:t/>
            </a:r>
            <a:br>
              <a:rPr lang="en-US" sz="2000" b="1">
                <a:latin typeface="Times New Roman" pitchFamily="18" charset="0"/>
              </a:rPr>
            </a:br>
            <a:r>
              <a:rPr lang="en-US" sz="2000" b="1">
                <a:latin typeface="Times New Roman" pitchFamily="18" charset="0"/>
              </a:rPr>
              <a:t>        $2,000,000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    $   500,000</a:t>
            </a:r>
            <a:br>
              <a:rPr lang="en-US" sz="2000" b="1">
                <a:latin typeface="Times New Roman" pitchFamily="18" charset="0"/>
              </a:rPr>
            </a:br>
            <a:r>
              <a:rPr lang="en-US" sz="2000" b="1">
                <a:latin typeface="Times New Roman" pitchFamily="18" charset="0"/>
              </a:rPr>
              <a:t>        $   300,000</a:t>
            </a:r>
            <a:br>
              <a:rPr lang="en-US" sz="2000" b="1">
                <a:latin typeface="Times New Roman" pitchFamily="18" charset="0"/>
              </a:rPr>
            </a:br>
            <a:r>
              <a:rPr lang="en-US" sz="2000" b="1">
                <a:latin typeface="Times New Roman" pitchFamily="18" charset="0"/>
              </a:rPr>
              <a:t>        $   100,000</a:t>
            </a:r>
            <a:br>
              <a:rPr lang="en-US" sz="2000" b="1">
                <a:latin typeface="Times New Roman" pitchFamily="18" charset="0"/>
              </a:rPr>
            </a:br>
            <a:r>
              <a:rPr lang="en-US" sz="2000" b="1">
                <a:latin typeface="Times New Roman" pitchFamily="18" charset="0"/>
              </a:rPr>
              <a:t>        </a:t>
            </a:r>
            <a:r>
              <a:rPr lang="en-US" sz="2000" b="1" u="sng">
                <a:latin typeface="Times New Roman" pitchFamily="18" charset="0"/>
              </a:rPr>
              <a:t>$   100,000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Sum $ </a:t>
            </a:r>
            <a:r>
              <a:rPr lang="en-US" sz="2000" b="1">
                <a:latin typeface="Times New Roman" pitchFamily="18" charset="0"/>
              </a:rPr>
              <a:t>3,000,000</a:t>
            </a:r>
          </a:p>
        </p:txBody>
      </p:sp>
      <p:sp>
        <p:nvSpPr>
          <p:cNvPr id="143366" name="Rectangle 4"/>
          <p:cNvSpPr>
            <a:spLocks noChangeArrowheads="1"/>
          </p:cNvSpPr>
          <p:nvPr/>
        </p:nvSpPr>
        <p:spPr bwMode="auto">
          <a:xfrm>
            <a:off x="3124200" y="1981200"/>
            <a:ext cx="5638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§"/>
            </a:pPr>
            <a:r>
              <a:rPr lang="en-US" sz="2700" b="1">
                <a:latin typeface="Times New Roman" pitchFamily="18" charset="0"/>
              </a:rPr>
              <a:t>Mean:</a:t>
            </a:r>
            <a:r>
              <a:rPr lang="en-US" sz="2700">
                <a:latin typeface="Times New Roman" pitchFamily="18" charset="0"/>
              </a:rPr>
              <a:t>    ($3,000,000/5)  </a:t>
            </a:r>
          </a:p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700">
                <a:latin typeface="Times New Roman" pitchFamily="18" charset="0"/>
              </a:rPr>
              <a:t>			 =  </a:t>
            </a:r>
            <a:r>
              <a:rPr lang="en-US" sz="2700" b="1">
                <a:solidFill>
                  <a:schemeClr val="bg2"/>
                </a:solidFill>
                <a:latin typeface="Times New Roman" pitchFamily="18" charset="0"/>
              </a:rPr>
              <a:t>$600,000</a:t>
            </a:r>
          </a:p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§"/>
            </a:pPr>
            <a:r>
              <a:rPr lang="en-US" sz="2700" b="1">
                <a:latin typeface="Times New Roman" pitchFamily="18" charset="0"/>
              </a:rPr>
              <a:t>Median:</a:t>
            </a:r>
            <a:r>
              <a:rPr lang="en-US" sz="2700">
                <a:latin typeface="Times New Roman" pitchFamily="18" charset="0"/>
              </a:rPr>
              <a:t>  middle value of ranked data </a:t>
            </a:r>
            <a:br>
              <a:rPr lang="en-US" sz="2700">
                <a:latin typeface="Times New Roman" pitchFamily="18" charset="0"/>
              </a:rPr>
            </a:br>
            <a:r>
              <a:rPr lang="en-US" sz="2700">
                <a:latin typeface="Times New Roman" pitchFamily="18" charset="0"/>
              </a:rPr>
              <a:t>                   = </a:t>
            </a:r>
            <a:r>
              <a:rPr lang="en-US" sz="2700" b="1">
                <a:solidFill>
                  <a:schemeClr val="bg2"/>
                </a:solidFill>
                <a:latin typeface="Times New Roman" pitchFamily="18" charset="0"/>
              </a:rPr>
              <a:t>$300,000</a:t>
            </a:r>
          </a:p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§"/>
            </a:pPr>
            <a:r>
              <a:rPr lang="en-US" sz="2700" b="1">
                <a:latin typeface="Times New Roman" pitchFamily="18" charset="0"/>
              </a:rPr>
              <a:t>Mode:</a:t>
            </a:r>
            <a:r>
              <a:rPr lang="en-US" sz="2700">
                <a:latin typeface="Times New Roman" pitchFamily="18" charset="0"/>
              </a:rPr>
              <a:t>  most frequent value </a:t>
            </a:r>
            <a:br>
              <a:rPr lang="en-US" sz="2700">
                <a:latin typeface="Times New Roman" pitchFamily="18" charset="0"/>
              </a:rPr>
            </a:br>
            <a:r>
              <a:rPr lang="en-US" sz="2700">
                <a:latin typeface="Times New Roman" pitchFamily="18" charset="0"/>
              </a:rPr>
              <a:t>                   = </a:t>
            </a:r>
            <a:r>
              <a:rPr lang="en-US" sz="2700" b="1">
                <a:solidFill>
                  <a:schemeClr val="bg2"/>
                </a:solidFill>
                <a:latin typeface="Times New Roman" pitchFamily="18" charset="0"/>
              </a:rPr>
              <a:t>$100,000</a:t>
            </a:r>
          </a:p>
        </p:txBody>
      </p:sp>
      <p:sp>
        <p:nvSpPr>
          <p:cNvPr id="143367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7A92969E-E675-48EE-846B-49180A24A3BB}" type="slidenum">
              <a:rPr lang="en-US" smtClean="0">
                <a:latin typeface="Arial" charset="0"/>
              </a:rPr>
              <a:pPr/>
              <a:t>10</a:t>
            </a:fld>
            <a:endParaRPr lang="en-US" smtClean="0">
              <a:latin typeface="Arial" charset="0"/>
            </a:endParaRPr>
          </a:p>
        </p:txBody>
      </p:sp>
      <p:sp>
        <p:nvSpPr>
          <p:cNvPr id="3072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07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7D4EF07E-1280-4798-AC76-1B730BC137BE}" type="slidenum">
              <a:rPr lang="en-US" sz="1000"/>
              <a:pPr algn="r" defTabSz="852488"/>
              <a:t>10</a:t>
            </a:fld>
            <a:endParaRPr lang="en-US" sz="10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Central Tendency:</a:t>
            </a:r>
            <a:br>
              <a:rPr lang="en-US" smtClean="0"/>
            </a:br>
            <a:r>
              <a:rPr lang="en-US" smtClean="0"/>
              <a:t>Which Measure to Choose?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81213"/>
            <a:ext cx="8077200" cy="39449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</a:t>
            </a:r>
            <a:r>
              <a:rPr lang="en-US" b="1" smtClean="0">
                <a:latin typeface="Times New Roman" pitchFamily="18" charset="0"/>
              </a:rPr>
              <a:t> mean</a:t>
            </a:r>
            <a:r>
              <a:rPr lang="en-US" smtClean="0">
                <a:latin typeface="Times New Roman" pitchFamily="18" charset="0"/>
              </a:rPr>
              <a:t> is generally used, unless extreme values (outliers) exist.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b="1" smtClean="0">
                <a:latin typeface="Times New Roman" pitchFamily="18" charset="0"/>
              </a:rPr>
              <a:t>median</a:t>
            </a:r>
            <a:r>
              <a:rPr lang="en-US" smtClean="0">
                <a:latin typeface="Times New Roman" pitchFamily="18" charset="0"/>
              </a:rPr>
              <a:t> is often used, since the median is not sensitive to extreme values.  For example, median home prices may be reported for a region; it is less sensitive to outliers.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In some situations it makes sense to report both the </a:t>
            </a:r>
            <a:r>
              <a:rPr lang="en-US" b="1" smtClean="0">
                <a:latin typeface="Times New Roman" pitchFamily="18" charset="0"/>
              </a:rPr>
              <a:t>mean</a:t>
            </a:r>
            <a:r>
              <a:rPr lang="en-US" smtClean="0">
                <a:latin typeface="Times New Roman" pitchFamily="18" charset="0"/>
              </a:rPr>
              <a:t> and the </a:t>
            </a:r>
            <a:r>
              <a:rPr lang="en-US" b="1" smtClean="0">
                <a:latin typeface="Times New Roman" pitchFamily="18" charset="0"/>
              </a:rPr>
              <a:t>median</a:t>
            </a:r>
            <a:r>
              <a:rPr lang="en-US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</p:txBody>
      </p:sp>
      <p:sp>
        <p:nvSpPr>
          <p:cNvPr id="30726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A25B9B5-0632-47F2-8659-7078DCA97161}" type="slidenum">
              <a:rPr lang="en-US" smtClean="0">
                <a:latin typeface="Arial" charset="0"/>
              </a:rPr>
              <a:pPr/>
              <a:t>11</a:t>
            </a:fld>
            <a:endParaRPr lang="en-US" smtClean="0">
              <a:latin typeface="Arial" charset="0"/>
            </a:endParaRPr>
          </a:p>
        </p:txBody>
      </p:sp>
      <p:sp>
        <p:nvSpPr>
          <p:cNvPr id="4101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02" name="Slide Number Placeholder 6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B1F3D26-9021-44EA-850A-4AA23948DC7E}" type="slidenum">
              <a:rPr lang="en-US" sz="1000"/>
              <a:pPr algn="r" defTabSz="852488"/>
              <a:t>11</a:t>
            </a:fld>
            <a:endParaRPr lang="en-US" sz="1000"/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764462" cy="990600"/>
          </a:xfrm>
        </p:spPr>
        <p:txBody>
          <a:bodyPr/>
          <a:lstStyle/>
          <a:p>
            <a:pPr eaLnBrk="1" hangingPunct="1"/>
            <a:r>
              <a:rPr lang="en-US" sz="2400" smtClean="0"/>
              <a:t>Measure of Central Tendency For The Rate Of Change Of A Variable Over Time:</a:t>
            </a:r>
            <a:br>
              <a:rPr lang="en-US" sz="2400" smtClean="0"/>
            </a:br>
            <a:r>
              <a:rPr lang="en-US" sz="2400" smtClean="0"/>
              <a:t>The Geometric Mean &amp; The Geometric Rate of Return</a:t>
            </a:r>
          </a:p>
        </p:txBody>
      </p:sp>
      <p:sp>
        <p:nvSpPr>
          <p:cNvPr id="41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05000"/>
            <a:ext cx="7848600" cy="4114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Geometric mean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100" smtClean="0">
                <a:latin typeface="Times New Roman" pitchFamily="18" charset="0"/>
              </a:rPr>
              <a:t>Used to measure the rate of change of a variable over time</a:t>
            </a: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Geometric mean rate of return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100" smtClean="0">
                <a:latin typeface="Times New Roman" pitchFamily="18" charset="0"/>
              </a:rPr>
              <a:t>Measures the status of an investment over time</a:t>
            </a: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100" smtClean="0">
              <a:latin typeface="Times New Roman" pitchFamily="18" charset="0"/>
            </a:endParaRP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None/>
            </a:pPr>
            <a:endParaRPr lang="en-US" sz="2100" smtClean="0">
              <a:latin typeface="Times New Roman" pitchFamily="18" charset="0"/>
            </a:endParaRP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endParaRPr lang="en-US" sz="2100" smtClean="0">
              <a:latin typeface="Times New Roman" pitchFamily="18" charset="0"/>
            </a:endParaRPr>
          </a:p>
          <a:p>
            <a:pPr lvl="1" eaLnBrk="1" hangingPunct="1"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100" smtClean="0">
                <a:latin typeface="Times New Roman" pitchFamily="18" charset="0"/>
              </a:rPr>
              <a:t>Where R</a:t>
            </a:r>
            <a:r>
              <a:rPr lang="en-US" sz="2100" baseline="-25000" smtClean="0">
                <a:latin typeface="Times New Roman" pitchFamily="18" charset="0"/>
              </a:rPr>
              <a:t>i</a:t>
            </a:r>
            <a:r>
              <a:rPr lang="en-US" sz="2100" smtClean="0">
                <a:latin typeface="Times New Roman" pitchFamily="18" charset="0"/>
              </a:rPr>
              <a:t> is the rate of return in time period i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1905000" y="2743200"/>
          <a:ext cx="4872038" cy="723900"/>
        </p:xfrm>
        <a:graphic>
          <a:graphicData uri="http://schemas.openxmlformats.org/presentationml/2006/ole">
            <p:oleObj spid="_x0000_s4098" name="Equation" r:id="rId3" imgW="1625400" imgH="241200" progId="Equation.3">
              <p:embed/>
            </p:oleObj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1400175" y="4514850"/>
          <a:ext cx="6584950" cy="587375"/>
        </p:xfrm>
        <a:graphic>
          <a:graphicData uri="http://schemas.openxmlformats.org/presentationml/2006/ole">
            <p:oleObj spid="_x0000_s4099" name="Equation" r:id="rId4" imgW="2730240" imgH="241200" progId="Equation.3">
              <p:embed/>
            </p:oleObj>
          </a:graphicData>
        </a:graphic>
      </p:graphicFrame>
      <p:sp>
        <p:nvSpPr>
          <p:cNvPr id="4105" name="TextBox 8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1BA5C78-2A6D-4F92-99A2-F3FADD1447F6}" type="slidenum">
              <a:rPr lang="en-US" smtClean="0">
                <a:latin typeface="Arial" charset="0"/>
              </a:rPr>
              <a:pPr/>
              <a:t>12</a:t>
            </a:fld>
            <a:endParaRPr lang="en-US" smtClean="0">
              <a:latin typeface="Arial" charset="0"/>
            </a:endParaRPr>
          </a:p>
        </p:txBody>
      </p:sp>
      <p:sp>
        <p:nvSpPr>
          <p:cNvPr id="512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12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554D2D10-2709-4B29-AC30-335D12BB0D87}" type="slidenum">
              <a:rPr lang="en-US" sz="1000"/>
              <a:pPr algn="r" defTabSz="852488"/>
              <a:t>12</a:t>
            </a:fld>
            <a:endParaRPr lang="en-US" sz="1000"/>
          </a:p>
        </p:txBody>
      </p:sp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Geometric Mean Rate of Return:  Example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6200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An investment of $100,000 declined to $50,000 at the end of year one and rebounded to $100,000 at end of year two:</a:t>
            </a:r>
          </a:p>
        </p:txBody>
      </p:sp>
      <p:sp>
        <p:nvSpPr>
          <p:cNvPr id="5128" name="Text Box 4"/>
          <p:cNvSpPr txBox="1">
            <a:spLocks noChangeArrowheads="1"/>
          </p:cNvSpPr>
          <p:nvPr/>
        </p:nvSpPr>
        <p:spPr bwMode="auto">
          <a:xfrm>
            <a:off x="990600" y="5410200"/>
            <a:ext cx="7772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The overall two-year per year return is zero, since it started and ended at the same level.</a:t>
            </a:r>
          </a:p>
        </p:txBody>
      </p:sp>
      <p:grpSp>
        <p:nvGrpSpPr>
          <p:cNvPr id="5129" name="Group 5"/>
          <p:cNvGrpSpPr>
            <a:grpSpLocks/>
          </p:cNvGrpSpPr>
          <p:nvPr/>
        </p:nvGrpSpPr>
        <p:grpSpPr bwMode="auto">
          <a:xfrm>
            <a:off x="1295400" y="3200400"/>
            <a:ext cx="7105650" cy="1789113"/>
            <a:chOff x="720" y="2160"/>
            <a:chExt cx="4620" cy="1225"/>
          </a:xfrm>
        </p:grpSpPr>
        <p:graphicFrame>
          <p:nvGraphicFramePr>
            <p:cNvPr id="5122" name="Object 6"/>
            <p:cNvGraphicFramePr>
              <a:graphicFrameLocks noChangeAspect="1"/>
            </p:cNvGraphicFramePr>
            <p:nvPr/>
          </p:nvGraphicFramePr>
          <p:xfrm>
            <a:off x="720" y="2160"/>
            <a:ext cx="4620" cy="335"/>
          </p:xfrm>
          <a:graphic>
            <a:graphicData uri="http://schemas.openxmlformats.org/presentationml/2006/ole">
              <p:oleObj spid="_x0000_s5122" name="Equation" r:id="rId3" imgW="3136680" imgH="228600" progId="Equation.3">
                <p:embed/>
              </p:oleObj>
            </a:graphicData>
          </a:graphic>
        </p:graphicFrame>
        <p:sp>
          <p:nvSpPr>
            <p:cNvPr id="5131" name="AutoShape 7"/>
            <p:cNvSpPr>
              <a:spLocks/>
            </p:cNvSpPr>
            <p:nvPr/>
          </p:nvSpPr>
          <p:spPr bwMode="auto">
            <a:xfrm rot="-5400000">
              <a:off x="1944" y="1800"/>
              <a:ext cx="192" cy="1968"/>
            </a:xfrm>
            <a:prstGeom prst="leftBrace">
              <a:avLst>
                <a:gd name="adj1" fmla="val 85417"/>
                <a:gd name="adj2" fmla="val 533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32" name="AutoShape 8"/>
            <p:cNvSpPr>
              <a:spLocks/>
            </p:cNvSpPr>
            <p:nvPr/>
          </p:nvSpPr>
          <p:spPr bwMode="auto">
            <a:xfrm rot="-5400000">
              <a:off x="4008" y="1800"/>
              <a:ext cx="192" cy="1968"/>
            </a:xfrm>
            <a:prstGeom prst="leftBrace">
              <a:avLst>
                <a:gd name="adj1" fmla="val 85417"/>
                <a:gd name="adj2" fmla="val 533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33" name="Text Box 9"/>
            <p:cNvSpPr txBox="1">
              <a:spLocks noChangeArrowheads="1"/>
            </p:cNvSpPr>
            <p:nvPr/>
          </p:nvSpPr>
          <p:spPr bwMode="auto">
            <a:xfrm>
              <a:off x="1440" y="3072"/>
              <a:ext cx="3648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50% decrease               100% increase</a:t>
              </a:r>
            </a:p>
          </p:txBody>
        </p:sp>
      </p:grpSp>
      <p:sp>
        <p:nvSpPr>
          <p:cNvPr id="5130" name="TextBox 12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93C91037-E109-4D61-AF33-EA7F721A8959}" type="slidenum">
              <a:rPr lang="en-US" smtClean="0">
                <a:latin typeface="Arial" charset="0"/>
              </a:rPr>
              <a:pPr/>
              <a:t>13</a:t>
            </a:fld>
            <a:endParaRPr lang="en-US" smtClean="0">
              <a:latin typeface="Arial" charset="0"/>
            </a:endParaRPr>
          </a:p>
        </p:txBody>
      </p:sp>
      <p:sp>
        <p:nvSpPr>
          <p:cNvPr id="6149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150" name="Slide Number Placeholder 6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DB21A3E-92B5-4D7C-A371-E1C11D38B96F}" type="slidenum">
              <a:rPr lang="en-US" sz="1000"/>
              <a:pPr algn="r" defTabSz="852488"/>
              <a:t>13</a:t>
            </a:fld>
            <a:endParaRPr lang="en-US" sz="1000"/>
          </a:p>
        </p:txBody>
      </p:sp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The Geometric Mean Rate of Return:  Example</a:t>
            </a:r>
          </a:p>
        </p:txBody>
      </p:sp>
      <p:sp>
        <p:nvSpPr>
          <p:cNvPr id="61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2057400"/>
            <a:ext cx="72390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Use the 1-year returns to compute the arithmetic mean and the geometric mean: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2419350" y="3433763"/>
          <a:ext cx="2613025" cy="587375"/>
        </p:xfrm>
        <a:graphic>
          <a:graphicData uri="http://schemas.openxmlformats.org/presentationml/2006/ole">
            <p:oleObj spid="_x0000_s6146" name="Equation" r:id="rId3" imgW="1752480" imgH="393480" progId="Equation.3">
              <p:embed/>
            </p:oleObj>
          </a:graphicData>
        </a:graphic>
      </p:graphicFrame>
      <p:sp>
        <p:nvSpPr>
          <p:cNvPr id="6153" name="Text Box 5"/>
          <p:cNvSpPr txBox="1">
            <a:spLocks noChangeArrowheads="1"/>
          </p:cNvSpPr>
          <p:nvPr/>
        </p:nvSpPr>
        <p:spPr bwMode="auto">
          <a:xfrm>
            <a:off x="228600" y="3124200"/>
            <a:ext cx="16002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Arithmetic mean rate of return:</a:t>
            </a:r>
          </a:p>
        </p:txBody>
      </p:sp>
      <p:sp>
        <p:nvSpPr>
          <p:cNvPr id="6154" name="Text Box 6"/>
          <p:cNvSpPr txBox="1">
            <a:spLocks noChangeArrowheads="1"/>
          </p:cNvSpPr>
          <p:nvPr/>
        </p:nvSpPr>
        <p:spPr bwMode="auto">
          <a:xfrm>
            <a:off x="228600" y="4876800"/>
            <a:ext cx="1752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Geometric mean rate of return:</a:t>
            </a:r>
          </a:p>
        </p:txBody>
      </p:sp>
      <p:graphicFrame>
        <p:nvGraphicFramePr>
          <p:cNvPr id="6147" name="Object 7"/>
          <p:cNvGraphicFramePr>
            <a:graphicFrameLocks noChangeAspect="1"/>
          </p:cNvGraphicFramePr>
          <p:nvPr>
            <p:ph sz="quarter" idx="3"/>
          </p:nvPr>
        </p:nvGraphicFramePr>
        <p:xfrm>
          <a:off x="2152650" y="4876800"/>
          <a:ext cx="4705350" cy="1419225"/>
        </p:xfrm>
        <a:graphic>
          <a:graphicData uri="http://schemas.openxmlformats.org/presentationml/2006/ole">
            <p:oleObj spid="_x0000_s6147" name="Equation" r:id="rId4" imgW="2946240" imgH="888840" progId="Equation.3">
              <p:embed/>
            </p:oleObj>
          </a:graphicData>
        </a:graphic>
      </p:graphicFrame>
      <p:sp>
        <p:nvSpPr>
          <p:cNvPr id="6155" name="Text Box 8"/>
          <p:cNvSpPr txBox="1">
            <a:spLocks noChangeArrowheads="1"/>
          </p:cNvSpPr>
          <p:nvPr/>
        </p:nvSpPr>
        <p:spPr bwMode="auto">
          <a:xfrm>
            <a:off x="6705600" y="3429000"/>
            <a:ext cx="2244725" cy="3968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Misleading result</a:t>
            </a:r>
          </a:p>
        </p:txBody>
      </p:sp>
      <p:sp>
        <p:nvSpPr>
          <p:cNvPr id="6156" name="Text Box 9"/>
          <p:cNvSpPr txBox="1">
            <a:spLocks noChangeArrowheads="1"/>
          </p:cNvSpPr>
          <p:nvPr/>
        </p:nvSpPr>
        <p:spPr bwMode="auto">
          <a:xfrm>
            <a:off x="7086600" y="4953000"/>
            <a:ext cx="1905000" cy="13112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More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representative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result</a:t>
            </a:r>
          </a:p>
        </p:txBody>
      </p:sp>
      <p:sp>
        <p:nvSpPr>
          <p:cNvPr id="6157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6158" name="TextBox 13"/>
          <p:cNvSpPr txBox="1">
            <a:spLocks noChangeArrowheads="1"/>
          </p:cNvSpPr>
          <p:nvPr/>
        </p:nvSpPr>
        <p:spPr bwMode="auto">
          <a:xfrm>
            <a:off x="7620000" y="1533525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B64BAE30-1798-4D38-9833-31DA1163CF06}" type="slidenum">
              <a:rPr lang="en-US" smtClean="0">
                <a:latin typeface="Arial" charset="0"/>
              </a:rPr>
              <a:pPr/>
              <a:t>14</a:t>
            </a:fld>
            <a:endParaRPr lang="en-US" smtClean="0">
              <a:latin typeface="Arial" charset="0"/>
            </a:endParaRPr>
          </a:p>
        </p:txBody>
      </p:sp>
      <p:sp>
        <p:nvSpPr>
          <p:cNvPr id="7173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174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06555057-EFE4-4987-9BAB-DB05928AB216}" type="slidenum">
              <a:rPr lang="en-US" sz="1000"/>
              <a:pPr algn="r" defTabSz="852488"/>
              <a:t>14</a:t>
            </a:fld>
            <a:endParaRPr lang="en-US" sz="1000"/>
          </a:p>
        </p:txBody>
      </p:sp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Central Tendency:</a:t>
            </a:r>
            <a:br>
              <a:rPr lang="en-US" smtClean="0"/>
            </a:br>
            <a:r>
              <a:rPr lang="en-US" smtClean="0"/>
              <a:t>Summary</a:t>
            </a:r>
          </a:p>
        </p:txBody>
      </p:sp>
      <p:sp>
        <p:nvSpPr>
          <p:cNvPr id="7176" name="Line 3"/>
          <p:cNvSpPr>
            <a:spLocks noChangeShapeType="1"/>
          </p:cNvSpPr>
          <p:nvPr/>
        </p:nvSpPr>
        <p:spPr bwMode="auto">
          <a:xfrm>
            <a:off x="4522788" y="2405063"/>
            <a:ext cx="0" cy="555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Line 4"/>
          <p:cNvSpPr>
            <a:spLocks noChangeShapeType="1"/>
          </p:cNvSpPr>
          <p:nvPr/>
        </p:nvSpPr>
        <p:spPr bwMode="auto">
          <a:xfrm>
            <a:off x="7464425" y="2960688"/>
            <a:ext cx="4763" cy="485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3152775" y="2057400"/>
            <a:ext cx="2876550" cy="4667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Times New Roman" pitchFamily="18" charset="0"/>
              </a:rPr>
              <a:t>Central Tendency</a:t>
            </a:r>
          </a:p>
        </p:txBody>
      </p:sp>
      <p:sp>
        <p:nvSpPr>
          <p:cNvPr id="7179" name="Line 6"/>
          <p:cNvSpPr>
            <a:spLocks noChangeShapeType="1"/>
          </p:cNvSpPr>
          <p:nvPr/>
        </p:nvSpPr>
        <p:spPr bwMode="auto">
          <a:xfrm>
            <a:off x="1712913" y="2960688"/>
            <a:ext cx="5762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685800" y="3378200"/>
            <a:ext cx="1987550" cy="711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Arithmetic Mean</a:t>
            </a:r>
          </a:p>
        </p:txBody>
      </p:sp>
      <p:sp>
        <p:nvSpPr>
          <p:cNvPr id="7181" name="Rectangle 8"/>
          <p:cNvSpPr>
            <a:spLocks noChangeArrowheads="1"/>
          </p:cNvSpPr>
          <p:nvPr/>
        </p:nvSpPr>
        <p:spPr bwMode="auto">
          <a:xfrm>
            <a:off x="2949575" y="3378200"/>
            <a:ext cx="1162050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Median</a:t>
            </a:r>
          </a:p>
        </p:txBody>
      </p:sp>
      <p:sp>
        <p:nvSpPr>
          <p:cNvPr id="7182" name="Rectangle 9"/>
          <p:cNvSpPr>
            <a:spLocks noChangeArrowheads="1"/>
          </p:cNvSpPr>
          <p:nvPr/>
        </p:nvSpPr>
        <p:spPr bwMode="auto">
          <a:xfrm>
            <a:off x="4668838" y="3376613"/>
            <a:ext cx="1093787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Mode</a:t>
            </a:r>
          </a:p>
        </p:txBody>
      </p:sp>
      <p:sp>
        <p:nvSpPr>
          <p:cNvPr id="7183" name="Rectangle 10"/>
          <p:cNvSpPr>
            <a:spLocks noChangeArrowheads="1"/>
          </p:cNvSpPr>
          <p:nvPr/>
        </p:nvSpPr>
        <p:spPr bwMode="auto">
          <a:xfrm>
            <a:off x="6372225" y="3376613"/>
            <a:ext cx="2055813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Geometric Mean</a:t>
            </a:r>
          </a:p>
        </p:txBody>
      </p:sp>
      <p:sp>
        <p:nvSpPr>
          <p:cNvPr id="7184" name="Line 11"/>
          <p:cNvSpPr>
            <a:spLocks noChangeShapeType="1"/>
          </p:cNvSpPr>
          <p:nvPr/>
        </p:nvSpPr>
        <p:spPr bwMode="auto">
          <a:xfrm>
            <a:off x="5208588" y="2960688"/>
            <a:ext cx="0" cy="415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5" name="Line 12"/>
          <p:cNvSpPr>
            <a:spLocks noChangeShapeType="1"/>
          </p:cNvSpPr>
          <p:nvPr/>
        </p:nvSpPr>
        <p:spPr bwMode="auto">
          <a:xfrm>
            <a:off x="1709738" y="2960688"/>
            <a:ext cx="0" cy="415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6" name="Line 13"/>
          <p:cNvSpPr>
            <a:spLocks noChangeShapeType="1"/>
          </p:cNvSpPr>
          <p:nvPr/>
        </p:nvSpPr>
        <p:spPr bwMode="auto">
          <a:xfrm>
            <a:off x="3563938" y="2960688"/>
            <a:ext cx="0" cy="415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7" name="Line 14"/>
          <p:cNvSpPr>
            <a:spLocks noChangeShapeType="1"/>
          </p:cNvSpPr>
          <p:nvPr/>
        </p:nvSpPr>
        <p:spPr bwMode="auto">
          <a:xfrm>
            <a:off x="2673350" y="4418013"/>
            <a:ext cx="1538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8" name="Oval 15"/>
          <p:cNvSpPr>
            <a:spLocks noChangeArrowheads="1"/>
          </p:cNvSpPr>
          <p:nvPr/>
        </p:nvSpPr>
        <p:spPr bwMode="auto">
          <a:xfrm>
            <a:off x="2703513" y="4279900"/>
            <a:ext cx="138112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89" name="Oval 16"/>
          <p:cNvSpPr>
            <a:spLocks noChangeArrowheads="1"/>
          </p:cNvSpPr>
          <p:nvPr/>
        </p:nvSpPr>
        <p:spPr bwMode="auto">
          <a:xfrm>
            <a:off x="3389313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0" name="Oval 17"/>
          <p:cNvSpPr>
            <a:spLocks noChangeArrowheads="1"/>
          </p:cNvSpPr>
          <p:nvPr/>
        </p:nvSpPr>
        <p:spPr bwMode="auto">
          <a:xfrm>
            <a:off x="3594100" y="4279900"/>
            <a:ext cx="138113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1" name="Oval 18"/>
          <p:cNvSpPr>
            <a:spLocks noChangeArrowheads="1"/>
          </p:cNvSpPr>
          <p:nvPr/>
        </p:nvSpPr>
        <p:spPr bwMode="auto">
          <a:xfrm>
            <a:off x="2886075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2" name="Oval 19"/>
          <p:cNvSpPr>
            <a:spLocks noChangeArrowheads="1"/>
          </p:cNvSpPr>
          <p:nvPr/>
        </p:nvSpPr>
        <p:spPr bwMode="auto">
          <a:xfrm>
            <a:off x="3732213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3" name="Oval 20"/>
          <p:cNvSpPr>
            <a:spLocks noChangeArrowheads="1"/>
          </p:cNvSpPr>
          <p:nvPr/>
        </p:nvSpPr>
        <p:spPr bwMode="auto">
          <a:xfrm>
            <a:off x="3184525" y="4279900"/>
            <a:ext cx="136525" cy="13811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4" name="AutoShape 21"/>
          <p:cNvSpPr>
            <a:spLocks noChangeArrowheads="1"/>
          </p:cNvSpPr>
          <p:nvPr/>
        </p:nvSpPr>
        <p:spPr bwMode="auto">
          <a:xfrm rot="-5400000">
            <a:off x="3148807" y="4523581"/>
            <a:ext cx="207962" cy="136525"/>
          </a:xfrm>
          <a:prstGeom prst="rightArrow">
            <a:avLst>
              <a:gd name="adj1" fmla="val 50000"/>
              <a:gd name="adj2" fmla="val 38363"/>
            </a:avLst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5" name="Oval 22"/>
          <p:cNvSpPr>
            <a:spLocks noChangeArrowheads="1"/>
          </p:cNvSpPr>
          <p:nvPr/>
        </p:nvSpPr>
        <p:spPr bwMode="auto">
          <a:xfrm>
            <a:off x="3981450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6" name="Oval 23"/>
          <p:cNvSpPr>
            <a:spLocks noChangeArrowheads="1"/>
          </p:cNvSpPr>
          <p:nvPr/>
        </p:nvSpPr>
        <p:spPr bwMode="auto">
          <a:xfrm>
            <a:off x="2886075" y="4002088"/>
            <a:ext cx="136525" cy="1381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7" name="Oval 24"/>
          <p:cNvSpPr>
            <a:spLocks noChangeArrowheads="1"/>
          </p:cNvSpPr>
          <p:nvPr/>
        </p:nvSpPr>
        <p:spPr bwMode="auto">
          <a:xfrm>
            <a:off x="2886075" y="4140200"/>
            <a:ext cx="136525" cy="1397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98" name="Line 25"/>
          <p:cNvSpPr>
            <a:spLocks noChangeShapeType="1"/>
          </p:cNvSpPr>
          <p:nvPr/>
        </p:nvSpPr>
        <p:spPr bwMode="auto">
          <a:xfrm>
            <a:off x="4567238" y="4418013"/>
            <a:ext cx="1538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9" name="Oval 26"/>
          <p:cNvSpPr>
            <a:spLocks noChangeArrowheads="1"/>
          </p:cNvSpPr>
          <p:nvPr/>
        </p:nvSpPr>
        <p:spPr bwMode="auto">
          <a:xfrm>
            <a:off x="4598988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0" name="Oval 27"/>
          <p:cNvSpPr>
            <a:spLocks noChangeArrowheads="1"/>
          </p:cNvSpPr>
          <p:nvPr/>
        </p:nvSpPr>
        <p:spPr bwMode="auto">
          <a:xfrm>
            <a:off x="5283200" y="4279900"/>
            <a:ext cx="138113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1" name="Oval 28"/>
          <p:cNvSpPr>
            <a:spLocks noChangeArrowheads="1"/>
          </p:cNvSpPr>
          <p:nvPr/>
        </p:nvSpPr>
        <p:spPr bwMode="auto">
          <a:xfrm>
            <a:off x="5489575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2" name="Oval 29"/>
          <p:cNvSpPr>
            <a:spLocks noChangeArrowheads="1"/>
          </p:cNvSpPr>
          <p:nvPr/>
        </p:nvSpPr>
        <p:spPr bwMode="auto">
          <a:xfrm>
            <a:off x="4779963" y="4279900"/>
            <a:ext cx="136525" cy="13811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3" name="Oval 30"/>
          <p:cNvSpPr>
            <a:spLocks noChangeArrowheads="1"/>
          </p:cNvSpPr>
          <p:nvPr/>
        </p:nvSpPr>
        <p:spPr bwMode="auto">
          <a:xfrm>
            <a:off x="5626100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4" name="Oval 31"/>
          <p:cNvSpPr>
            <a:spLocks noChangeArrowheads="1"/>
          </p:cNvSpPr>
          <p:nvPr/>
        </p:nvSpPr>
        <p:spPr bwMode="auto">
          <a:xfrm>
            <a:off x="5078413" y="4279900"/>
            <a:ext cx="136525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5" name="AutoShape 32"/>
          <p:cNvSpPr>
            <a:spLocks noChangeArrowheads="1"/>
          </p:cNvSpPr>
          <p:nvPr/>
        </p:nvSpPr>
        <p:spPr bwMode="auto">
          <a:xfrm rot="-5400000">
            <a:off x="4768057" y="4523581"/>
            <a:ext cx="207962" cy="136525"/>
          </a:xfrm>
          <a:prstGeom prst="rightArrow">
            <a:avLst>
              <a:gd name="adj1" fmla="val 50000"/>
              <a:gd name="adj2" fmla="val 38363"/>
            </a:avLst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6" name="Oval 33"/>
          <p:cNvSpPr>
            <a:spLocks noChangeArrowheads="1"/>
          </p:cNvSpPr>
          <p:nvPr/>
        </p:nvSpPr>
        <p:spPr bwMode="auto">
          <a:xfrm>
            <a:off x="5875338" y="4279900"/>
            <a:ext cx="138112" cy="1381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7" name="Oval 34"/>
          <p:cNvSpPr>
            <a:spLocks noChangeArrowheads="1"/>
          </p:cNvSpPr>
          <p:nvPr/>
        </p:nvSpPr>
        <p:spPr bwMode="auto">
          <a:xfrm>
            <a:off x="4779963" y="4002088"/>
            <a:ext cx="136525" cy="13811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208" name="Oval 35"/>
          <p:cNvSpPr>
            <a:spLocks noChangeArrowheads="1"/>
          </p:cNvSpPr>
          <p:nvPr/>
        </p:nvSpPr>
        <p:spPr bwMode="auto">
          <a:xfrm>
            <a:off x="4779963" y="4140200"/>
            <a:ext cx="136525" cy="1397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7170" name="Object 36"/>
          <p:cNvGraphicFramePr>
            <a:graphicFrameLocks noChangeAspect="1"/>
          </p:cNvGraphicFramePr>
          <p:nvPr/>
        </p:nvGraphicFramePr>
        <p:xfrm>
          <a:off x="960438" y="4140200"/>
          <a:ext cx="1163637" cy="1069975"/>
        </p:xfrm>
        <a:graphic>
          <a:graphicData uri="http://schemas.openxmlformats.org/presentationml/2006/ole">
            <p:oleObj spid="_x0000_s7170" name="Equation" r:id="rId3" imgW="672840" imgH="609480" progId="Equation.3">
              <p:embed/>
            </p:oleObj>
          </a:graphicData>
        </a:graphic>
      </p:graphicFrame>
      <p:graphicFrame>
        <p:nvGraphicFramePr>
          <p:cNvPr id="7171" name="Object 37"/>
          <p:cNvGraphicFramePr>
            <a:graphicFrameLocks noChangeAspect="1"/>
          </p:cNvGraphicFramePr>
          <p:nvPr/>
        </p:nvGraphicFramePr>
        <p:xfrm>
          <a:off x="6334125" y="4210050"/>
          <a:ext cx="2505075" cy="365125"/>
        </p:xfrm>
        <a:graphic>
          <a:graphicData uri="http://schemas.openxmlformats.org/presentationml/2006/ole">
            <p:oleObj spid="_x0000_s7171" name="Equation" r:id="rId4" imgW="1676160" imgH="241200" progId="Equation.3">
              <p:embed/>
            </p:oleObj>
          </a:graphicData>
        </a:graphic>
      </p:graphicFrame>
      <p:sp>
        <p:nvSpPr>
          <p:cNvPr id="7209" name="Text Box 38"/>
          <p:cNvSpPr txBox="1">
            <a:spLocks noChangeArrowheads="1"/>
          </p:cNvSpPr>
          <p:nvPr/>
        </p:nvSpPr>
        <p:spPr bwMode="auto">
          <a:xfrm>
            <a:off x="2362200" y="4902200"/>
            <a:ext cx="1825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Middle value in the ordered array</a:t>
            </a:r>
          </a:p>
        </p:txBody>
      </p:sp>
      <p:sp>
        <p:nvSpPr>
          <p:cNvPr id="7210" name="Text Box 39"/>
          <p:cNvSpPr txBox="1">
            <a:spLocks noChangeArrowheads="1"/>
          </p:cNvSpPr>
          <p:nvPr/>
        </p:nvSpPr>
        <p:spPr bwMode="auto">
          <a:xfrm>
            <a:off x="4529138" y="4902200"/>
            <a:ext cx="1508125" cy="1312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Most frequently observed value</a:t>
            </a:r>
          </a:p>
        </p:txBody>
      </p:sp>
      <p:sp>
        <p:nvSpPr>
          <p:cNvPr id="7211" name="Text Box 40"/>
          <p:cNvSpPr txBox="1">
            <a:spLocks noChangeArrowheads="1"/>
          </p:cNvSpPr>
          <p:nvPr/>
        </p:nvSpPr>
        <p:spPr bwMode="auto">
          <a:xfrm>
            <a:off x="6858000" y="4953000"/>
            <a:ext cx="1371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Rate of change of</a:t>
            </a:r>
          </a:p>
          <a:p>
            <a:r>
              <a:rPr lang="en-US" sz="2000"/>
              <a:t>a variable over time</a:t>
            </a:r>
          </a:p>
        </p:txBody>
      </p:sp>
      <p:sp>
        <p:nvSpPr>
          <p:cNvPr id="7212" name="TextBox 43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03A9F907-3022-48F7-90B0-566DEBF71EC8}" type="slidenum">
              <a:rPr lang="en-US" smtClean="0">
                <a:latin typeface="Arial" charset="0"/>
              </a:rPr>
              <a:pPr/>
              <a:t>15</a:t>
            </a:fld>
            <a:endParaRPr lang="en-US" smtClean="0">
              <a:latin typeface="Arial" charset="0"/>
            </a:endParaRPr>
          </a:p>
        </p:txBody>
      </p:sp>
      <p:sp>
        <p:nvSpPr>
          <p:cNvPr id="3993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93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CF94A69-F812-4443-AD47-EC7DC6DC9916}" type="slidenum">
              <a:rPr lang="en-US" sz="1000"/>
              <a:pPr algn="r" defTabSz="852488"/>
              <a:t>15</a:t>
            </a:fld>
            <a:endParaRPr lang="en-US" sz="1000"/>
          </a:p>
        </p:txBody>
      </p:sp>
      <p:pic>
        <p:nvPicPr>
          <p:cNvPr id="39940" name="Picture 2" descr="normalcurv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3200400"/>
            <a:ext cx="44196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1" name="Text Box 3"/>
          <p:cNvSpPr txBox="1">
            <a:spLocks noChangeArrowheads="1"/>
          </p:cNvSpPr>
          <p:nvPr/>
        </p:nvSpPr>
        <p:spPr bwMode="auto">
          <a:xfrm>
            <a:off x="5181600" y="5943600"/>
            <a:ext cx="2362200" cy="7112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Same center, 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different variation</a:t>
            </a:r>
            <a:endParaRPr lang="en-US" sz="2000">
              <a:solidFill>
                <a:schemeClr val="bg2"/>
              </a:solidFill>
            </a:endParaRPr>
          </a:p>
        </p:txBody>
      </p:sp>
      <p:sp>
        <p:nvSpPr>
          <p:cNvPr id="399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Variation</a:t>
            </a:r>
          </a:p>
        </p:txBody>
      </p:sp>
      <p:sp>
        <p:nvSpPr>
          <p:cNvPr id="39943" name="Rectangle 17"/>
          <p:cNvSpPr>
            <a:spLocks noChangeArrowheads="1"/>
          </p:cNvSpPr>
          <p:nvPr/>
        </p:nvSpPr>
        <p:spPr bwMode="auto">
          <a:xfrm>
            <a:off x="152400" y="4038600"/>
            <a:ext cx="4114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/>
              <a:t>Measures of variation give information on the </a:t>
            </a:r>
            <a:r>
              <a:rPr lang="en-US" b="1">
                <a:solidFill>
                  <a:schemeClr val="folHlink"/>
                </a:solidFill>
              </a:rPr>
              <a:t>spread </a:t>
            </a:r>
            <a:r>
              <a:rPr lang="en-US"/>
              <a:t>or</a:t>
            </a:r>
            <a:r>
              <a:rPr lang="en-US" b="1">
                <a:solidFill>
                  <a:schemeClr val="folHlink"/>
                </a:solidFill>
              </a:rPr>
              <a:t> variability</a:t>
            </a:r>
            <a:r>
              <a:rPr lang="en-US"/>
              <a:t> or </a:t>
            </a:r>
            <a:r>
              <a:rPr lang="en-US" b="1">
                <a:solidFill>
                  <a:schemeClr val="folHlink"/>
                </a:solidFill>
              </a:rPr>
              <a:t>dispersion</a:t>
            </a:r>
            <a:r>
              <a:rPr lang="en-US"/>
              <a:t> of the data values.</a:t>
            </a:r>
            <a:br>
              <a:rPr lang="en-US"/>
            </a:br>
            <a:endParaRPr lang="en-US"/>
          </a:p>
        </p:txBody>
      </p:sp>
      <p:grpSp>
        <p:nvGrpSpPr>
          <p:cNvPr id="39944" name="Group 23"/>
          <p:cNvGrpSpPr>
            <a:grpSpLocks/>
          </p:cNvGrpSpPr>
          <p:nvPr/>
        </p:nvGrpSpPr>
        <p:grpSpPr bwMode="auto">
          <a:xfrm>
            <a:off x="381000" y="1676400"/>
            <a:ext cx="8380413" cy="1701800"/>
            <a:chOff x="144" y="1056"/>
            <a:chExt cx="5279" cy="1072"/>
          </a:xfrm>
        </p:grpSpPr>
        <p:sp>
          <p:nvSpPr>
            <p:cNvPr id="39946" name="Line 6"/>
            <p:cNvSpPr>
              <a:spLocks noChangeShapeType="1"/>
            </p:cNvSpPr>
            <p:nvPr/>
          </p:nvSpPr>
          <p:spPr bwMode="auto">
            <a:xfrm>
              <a:off x="432" y="1488"/>
              <a:ext cx="4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7" name="Line 8"/>
            <p:cNvSpPr>
              <a:spLocks noChangeShapeType="1"/>
            </p:cNvSpPr>
            <p:nvPr/>
          </p:nvSpPr>
          <p:spPr bwMode="auto">
            <a:xfrm>
              <a:off x="2832" y="134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8" name="Rectangle 10"/>
            <p:cNvSpPr>
              <a:spLocks noChangeArrowheads="1"/>
            </p:cNvSpPr>
            <p:nvPr/>
          </p:nvSpPr>
          <p:spPr bwMode="auto">
            <a:xfrm>
              <a:off x="2256" y="1056"/>
              <a:ext cx="1152" cy="29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Variation</a:t>
              </a:r>
            </a:p>
          </p:txBody>
        </p:sp>
        <p:grpSp>
          <p:nvGrpSpPr>
            <p:cNvPr id="39949" name="Group 21"/>
            <p:cNvGrpSpPr>
              <a:grpSpLocks/>
            </p:cNvGrpSpPr>
            <p:nvPr/>
          </p:nvGrpSpPr>
          <p:grpSpPr bwMode="auto">
            <a:xfrm>
              <a:off x="2992" y="1488"/>
              <a:ext cx="960" cy="640"/>
              <a:chOff x="3168" y="1488"/>
              <a:chExt cx="960" cy="640"/>
            </a:xfrm>
          </p:grpSpPr>
          <p:sp>
            <p:nvSpPr>
              <p:cNvPr id="39958" name="Line 4"/>
              <p:cNvSpPr>
                <a:spLocks noChangeShapeType="1"/>
              </p:cNvSpPr>
              <p:nvPr/>
            </p:nvSpPr>
            <p:spPr bwMode="auto">
              <a:xfrm>
                <a:off x="3600" y="1488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9" name="Rectangle 12"/>
              <p:cNvSpPr>
                <a:spLocks noChangeArrowheads="1"/>
              </p:cNvSpPr>
              <p:nvPr/>
            </p:nvSpPr>
            <p:spPr bwMode="auto">
              <a:xfrm>
                <a:off x="3168" y="1680"/>
                <a:ext cx="960" cy="448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000" b="1"/>
                  <a:t>Standard Deviation</a:t>
                </a:r>
              </a:p>
            </p:txBody>
          </p:sp>
        </p:grpSp>
        <p:sp>
          <p:nvSpPr>
            <p:cNvPr id="39950" name="Line 9"/>
            <p:cNvSpPr>
              <a:spLocks noChangeShapeType="1"/>
            </p:cNvSpPr>
            <p:nvPr/>
          </p:nvSpPr>
          <p:spPr bwMode="auto">
            <a:xfrm>
              <a:off x="4703" y="1487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Rectangle 13"/>
            <p:cNvSpPr>
              <a:spLocks noChangeArrowheads="1"/>
            </p:cNvSpPr>
            <p:nvPr/>
          </p:nvSpPr>
          <p:spPr bwMode="auto">
            <a:xfrm>
              <a:off x="4368" y="1680"/>
              <a:ext cx="1055" cy="44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/>
                <a:t>Coefficient of Variation</a:t>
              </a:r>
            </a:p>
          </p:txBody>
        </p:sp>
        <p:grpSp>
          <p:nvGrpSpPr>
            <p:cNvPr id="39952" name="Group 19"/>
            <p:cNvGrpSpPr>
              <a:grpSpLocks/>
            </p:cNvGrpSpPr>
            <p:nvPr/>
          </p:nvGrpSpPr>
          <p:grpSpPr bwMode="auto">
            <a:xfrm>
              <a:off x="144" y="1488"/>
              <a:ext cx="766" cy="448"/>
              <a:chOff x="144" y="1488"/>
              <a:chExt cx="766" cy="448"/>
            </a:xfrm>
          </p:grpSpPr>
          <p:sp>
            <p:nvSpPr>
              <p:cNvPr id="39956" name="Line 14"/>
              <p:cNvSpPr>
                <a:spLocks noChangeShapeType="1"/>
              </p:cNvSpPr>
              <p:nvPr/>
            </p:nvSpPr>
            <p:spPr bwMode="auto">
              <a:xfrm>
                <a:off x="432" y="14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7" name="Rectangle 15"/>
              <p:cNvSpPr>
                <a:spLocks noChangeArrowheads="1"/>
              </p:cNvSpPr>
              <p:nvPr/>
            </p:nvSpPr>
            <p:spPr bwMode="auto">
              <a:xfrm>
                <a:off x="144" y="1680"/>
                <a:ext cx="766" cy="25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000" b="1"/>
                  <a:t>Range</a:t>
                </a:r>
              </a:p>
            </p:txBody>
          </p:sp>
        </p:grpSp>
        <p:grpSp>
          <p:nvGrpSpPr>
            <p:cNvPr id="39953" name="Group 20"/>
            <p:cNvGrpSpPr>
              <a:grpSpLocks/>
            </p:cNvGrpSpPr>
            <p:nvPr/>
          </p:nvGrpSpPr>
          <p:grpSpPr bwMode="auto">
            <a:xfrm>
              <a:off x="1519" y="1488"/>
              <a:ext cx="864" cy="448"/>
              <a:chOff x="1632" y="1488"/>
              <a:chExt cx="864" cy="448"/>
            </a:xfrm>
          </p:grpSpPr>
          <p:sp>
            <p:nvSpPr>
              <p:cNvPr id="39954" name="Rectangle 11"/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864" cy="25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2000" b="1"/>
                  <a:t>Variance</a:t>
                </a:r>
              </a:p>
            </p:txBody>
          </p:sp>
          <p:sp>
            <p:nvSpPr>
              <p:cNvPr id="39955" name="Line 18"/>
              <p:cNvSpPr>
                <a:spLocks noChangeShapeType="1"/>
              </p:cNvSpPr>
              <p:nvPr/>
            </p:nvSpPr>
            <p:spPr bwMode="auto">
              <a:xfrm flipV="1">
                <a:off x="2064" y="14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39945" name="TextBox 23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42552192-8E59-4191-BFC8-EBFE1B45AD8C}" type="slidenum">
              <a:rPr lang="en-US" smtClean="0">
                <a:latin typeface="Arial" charset="0"/>
              </a:rPr>
              <a:pPr/>
              <a:t>16</a:t>
            </a:fld>
            <a:endParaRPr lang="en-US" smtClean="0">
              <a:latin typeface="Arial" charset="0"/>
            </a:endParaRPr>
          </a:p>
        </p:txBody>
      </p:sp>
      <p:sp>
        <p:nvSpPr>
          <p:cNvPr id="4096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9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7C8BF40-C392-4E9F-82D3-ECDDE5FDEEA5}" type="slidenum">
              <a:rPr lang="en-US" sz="1000"/>
              <a:pPr algn="r" defTabSz="852488"/>
              <a:t>16</a:t>
            </a:fld>
            <a:endParaRPr lang="en-US" sz="10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The Range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8077200" cy="1066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Simplest measure of variation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Difference between the largest and the smallest values:</a:t>
            </a:r>
            <a:endParaRPr lang="en-US" smtClean="0"/>
          </a:p>
        </p:txBody>
      </p:sp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2667000" y="3200400"/>
            <a:ext cx="4495800" cy="892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140000"/>
              </a:lnSpc>
              <a:spcBef>
                <a:spcPct val="50000"/>
              </a:spcBef>
            </a:pPr>
            <a:r>
              <a:rPr lang="en-US" sz="2800">
                <a:latin typeface="Times New Roman" pitchFamily="18" charset="0"/>
              </a:rPr>
              <a:t>Range = X</a:t>
            </a:r>
            <a:r>
              <a:rPr lang="en-US" sz="2800" baseline="-25000">
                <a:latin typeface="Times New Roman" pitchFamily="18" charset="0"/>
              </a:rPr>
              <a:t>largest</a:t>
            </a:r>
            <a:r>
              <a:rPr lang="en-US" sz="2800">
                <a:latin typeface="Times New Roman" pitchFamily="18" charset="0"/>
              </a:rPr>
              <a:t> –  X</a:t>
            </a:r>
            <a:r>
              <a:rPr lang="en-US" sz="2800" baseline="-25000">
                <a:latin typeface="Times New Roman" pitchFamily="18" charset="0"/>
              </a:rPr>
              <a:t>smallest</a:t>
            </a:r>
          </a:p>
          <a:p>
            <a:pPr algn="ctr" eaLnBrk="0" hangingPunct="0">
              <a:spcBef>
                <a:spcPct val="50000"/>
              </a:spcBef>
            </a:pPr>
            <a:endParaRPr lang="en-US" sz="1400" baseline="-25000">
              <a:latin typeface="Times New Roman" pitchFamily="18" charset="0"/>
            </a:endParaRPr>
          </a:p>
        </p:txBody>
      </p:sp>
      <p:sp>
        <p:nvSpPr>
          <p:cNvPr id="40967" name="Line 5"/>
          <p:cNvSpPr>
            <a:spLocks noChangeShapeType="1"/>
          </p:cNvSpPr>
          <p:nvPr/>
        </p:nvSpPr>
        <p:spPr bwMode="auto">
          <a:xfrm>
            <a:off x="2946400" y="5191125"/>
            <a:ext cx="3100388" cy="1588"/>
          </a:xfrm>
          <a:prstGeom prst="line">
            <a:avLst/>
          </a:prstGeom>
          <a:noFill/>
          <a:ln w="12700">
            <a:solidFill>
              <a:srgbClr val="FFFF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8" name="Oval 6"/>
          <p:cNvSpPr>
            <a:spLocks noChangeArrowheads="1"/>
          </p:cNvSpPr>
          <p:nvPr/>
        </p:nvSpPr>
        <p:spPr bwMode="auto">
          <a:xfrm>
            <a:off x="32004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69" name="Oval 7"/>
          <p:cNvSpPr>
            <a:spLocks noChangeArrowheads="1"/>
          </p:cNvSpPr>
          <p:nvPr/>
        </p:nvSpPr>
        <p:spPr bwMode="auto">
          <a:xfrm>
            <a:off x="35052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0" name="Oval 8"/>
          <p:cNvSpPr>
            <a:spLocks noChangeArrowheads="1"/>
          </p:cNvSpPr>
          <p:nvPr/>
        </p:nvSpPr>
        <p:spPr bwMode="auto">
          <a:xfrm>
            <a:off x="40386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1" name="Oval 9"/>
          <p:cNvSpPr>
            <a:spLocks noChangeArrowheads="1"/>
          </p:cNvSpPr>
          <p:nvPr/>
        </p:nvSpPr>
        <p:spPr bwMode="auto">
          <a:xfrm>
            <a:off x="46482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2" name="Oval 10"/>
          <p:cNvSpPr>
            <a:spLocks noChangeArrowheads="1"/>
          </p:cNvSpPr>
          <p:nvPr/>
        </p:nvSpPr>
        <p:spPr bwMode="auto">
          <a:xfrm>
            <a:off x="4038600" y="4724400"/>
            <a:ext cx="211138" cy="20955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3" name="Oval 11"/>
          <p:cNvSpPr>
            <a:spLocks noChangeArrowheads="1"/>
          </p:cNvSpPr>
          <p:nvPr/>
        </p:nvSpPr>
        <p:spPr bwMode="auto">
          <a:xfrm>
            <a:off x="5184775" y="4979988"/>
            <a:ext cx="211138" cy="211137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4" name="Oval 12"/>
          <p:cNvSpPr>
            <a:spLocks noChangeArrowheads="1"/>
          </p:cNvSpPr>
          <p:nvPr/>
        </p:nvSpPr>
        <p:spPr bwMode="auto">
          <a:xfrm>
            <a:off x="5184775" y="4770438"/>
            <a:ext cx="211138" cy="20955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5" name="Oval 13"/>
          <p:cNvSpPr>
            <a:spLocks noChangeArrowheads="1"/>
          </p:cNvSpPr>
          <p:nvPr/>
        </p:nvSpPr>
        <p:spPr bwMode="auto">
          <a:xfrm>
            <a:off x="5184775" y="45593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6" name="Oval 14"/>
          <p:cNvSpPr>
            <a:spLocks noChangeArrowheads="1"/>
          </p:cNvSpPr>
          <p:nvPr/>
        </p:nvSpPr>
        <p:spPr bwMode="auto">
          <a:xfrm>
            <a:off x="54864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7" name="Line 15"/>
          <p:cNvSpPr>
            <a:spLocks noChangeShapeType="1"/>
          </p:cNvSpPr>
          <p:nvPr/>
        </p:nvSpPr>
        <p:spPr bwMode="auto">
          <a:xfrm>
            <a:off x="5903913" y="5191125"/>
            <a:ext cx="1200150" cy="1588"/>
          </a:xfrm>
          <a:prstGeom prst="line">
            <a:avLst/>
          </a:prstGeom>
          <a:noFill/>
          <a:ln w="12700">
            <a:solidFill>
              <a:srgbClr val="FFFF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8" name="Oval 16"/>
          <p:cNvSpPr>
            <a:spLocks noChangeArrowheads="1"/>
          </p:cNvSpPr>
          <p:nvPr/>
        </p:nvSpPr>
        <p:spPr bwMode="auto">
          <a:xfrm>
            <a:off x="6240463" y="4979988"/>
            <a:ext cx="211137" cy="211137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79" name="Oval 17"/>
          <p:cNvSpPr>
            <a:spLocks noChangeArrowheads="1"/>
          </p:cNvSpPr>
          <p:nvPr/>
        </p:nvSpPr>
        <p:spPr bwMode="auto">
          <a:xfrm>
            <a:off x="6240463" y="4770438"/>
            <a:ext cx="211137" cy="20955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80" name="Oval 18"/>
          <p:cNvSpPr>
            <a:spLocks noChangeArrowheads="1"/>
          </p:cNvSpPr>
          <p:nvPr/>
        </p:nvSpPr>
        <p:spPr bwMode="auto">
          <a:xfrm>
            <a:off x="66294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81" name="Oval 19"/>
          <p:cNvSpPr>
            <a:spLocks noChangeArrowheads="1"/>
          </p:cNvSpPr>
          <p:nvPr/>
        </p:nvSpPr>
        <p:spPr bwMode="auto">
          <a:xfrm>
            <a:off x="7086600" y="4953000"/>
            <a:ext cx="211138" cy="21113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82" name="Rectangle 20"/>
          <p:cNvSpPr>
            <a:spLocks noChangeArrowheads="1"/>
          </p:cNvSpPr>
          <p:nvPr/>
        </p:nvSpPr>
        <p:spPr bwMode="auto">
          <a:xfrm>
            <a:off x="2895600" y="5257800"/>
            <a:ext cx="5218113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/>
              <a:t>0   1   2   3   4   5   6   7   8   9   10   11   12    13   14   </a:t>
            </a:r>
          </a:p>
        </p:txBody>
      </p:sp>
      <p:sp>
        <p:nvSpPr>
          <p:cNvPr id="40983" name="Line 21"/>
          <p:cNvSpPr>
            <a:spLocks noChangeShapeType="1"/>
          </p:cNvSpPr>
          <p:nvPr/>
        </p:nvSpPr>
        <p:spPr bwMode="auto">
          <a:xfrm>
            <a:off x="3213100" y="5751513"/>
            <a:ext cx="38719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4" name="Line 22"/>
          <p:cNvSpPr>
            <a:spLocks noChangeShapeType="1"/>
          </p:cNvSpPr>
          <p:nvPr/>
        </p:nvSpPr>
        <p:spPr bwMode="auto">
          <a:xfrm flipV="1">
            <a:off x="3213100" y="5611813"/>
            <a:ext cx="0" cy="1397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5" name="Line 23"/>
          <p:cNvSpPr>
            <a:spLocks noChangeShapeType="1"/>
          </p:cNvSpPr>
          <p:nvPr/>
        </p:nvSpPr>
        <p:spPr bwMode="auto">
          <a:xfrm flipV="1">
            <a:off x="7085013" y="5611813"/>
            <a:ext cx="0" cy="1397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Text Box 24"/>
          <p:cNvSpPr txBox="1">
            <a:spLocks noChangeArrowheads="1"/>
          </p:cNvSpPr>
          <p:nvPr/>
        </p:nvSpPr>
        <p:spPr bwMode="auto">
          <a:xfrm>
            <a:off x="3776663" y="5751513"/>
            <a:ext cx="3802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Range = 13 - 1 = 12</a:t>
            </a:r>
            <a:endParaRPr lang="en-US"/>
          </a:p>
        </p:txBody>
      </p:sp>
      <p:sp>
        <p:nvSpPr>
          <p:cNvPr id="40987" name="Line 25"/>
          <p:cNvSpPr>
            <a:spLocks noChangeShapeType="1"/>
          </p:cNvSpPr>
          <p:nvPr/>
        </p:nvSpPr>
        <p:spPr bwMode="auto">
          <a:xfrm>
            <a:off x="2790825" y="5260975"/>
            <a:ext cx="4576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8" name="Text Box 26"/>
          <p:cNvSpPr txBox="1">
            <a:spLocks noChangeArrowheads="1"/>
          </p:cNvSpPr>
          <p:nvPr/>
        </p:nvSpPr>
        <p:spPr bwMode="auto">
          <a:xfrm>
            <a:off x="1524000" y="4419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Example:</a:t>
            </a:r>
          </a:p>
        </p:txBody>
      </p:sp>
      <p:sp>
        <p:nvSpPr>
          <p:cNvPr id="40989" name="TextBox 2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E29273B8-891B-41EC-9F68-AC98BF34605F}" type="slidenum">
              <a:rPr lang="en-US" smtClean="0">
                <a:latin typeface="Arial" charset="0"/>
              </a:rPr>
              <a:pPr/>
              <a:t>17</a:t>
            </a:fld>
            <a:endParaRPr lang="en-US" smtClean="0">
              <a:latin typeface="Arial" charset="0"/>
            </a:endParaRPr>
          </a:p>
        </p:txBody>
      </p:sp>
      <p:sp>
        <p:nvSpPr>
          <p:cNvPr id="419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9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3D2E008-47B1-469E-8F15-A2F76DBDF57B}" type="slidenum">
              <a:rPr lang="en-US" sz="1000"/>
              <a:pPr algn="r" defTabSz="852488"/>
              <a:t>17</a:t>
            </a:fld>
            <a:endParaRPr lang="en-US" sz="10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Measures of Variation:</a:t>
            </a:r>
            <a:br>
              <a:rPr lang="en-US" sz="3200" smtClean="0"/>
            </a:br>
            <a:r>
              <a:rPr lang="en-US" sz="3200" smtClean="0"/>
              <a:t>Why The Range Can Be Misleading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77200" cy="4114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Ignores the way in which data are distributed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Sensitive to outliers</a:t>
            </a:r>
          </a:p>
          <a:p>
            <a:pPr eaLnBrk="1" hangingPunct="1"/>
            <a:endParaRPr lang="en-US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41990" name="Line 4"/>
          <p:cNvSpPr>
            <a:spLocks noChangeShapeType="1"/>
          </p:cNvSpPr>
          <p:nvPr/>
        </p:nvSpPr>
        <p:spPr bwMode="auto">
          <a:xfrm>
            <a:off x="1160463" y="2667000"/>
            <a:ext cx="3049587" cy="0"/>
          </a:xfrm>
          <a:prstGeom prst="line">
            <a:avLst/>
          </a:prstGeom>
          <a:noFill/>
          <a:ln w="12700">
            <a:solidFill>
              <a:srgbClr val="FFFF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Oval 5"/>
          <p:cNvSpPr>
            <a:spLocks noChangeArrowheads="1"/>
          </p:cNvSpPr>
          <p:nvPr/>
        </p:nvSpPr>
        <p:spPr bwMode="auto">
          <a:xfrm>
            <a:off x="12192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2" name="Oval 6"/>
          <p:cNvSpPr>
            <a:spLocks noChangeArrowheads="1"/>
          </p:cNvSpPr>
          <p:nvPr/>
        </p:nvSpPr>
        <p:spPr bwMode="auto">
          <a:xfrm>
            <a:off x="22098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3" name="Oval 7"/>
          <p:cNvSpPr>
            <a:spLocks noChangeArrowheads="1"/>
          </p:cNvSpPr>
          <p:nvPr/>
        </p:nvSpPr>
        <p:spPr bwMode="auto">
          <a:xfrm>
            <a:off x="38862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4" name="Oval 8"/>
          <p:cNvSpPr>
            <a:spLocks noChangeArrowheads="1"/>
          </p:cNvSpPr>
          <p:nvPr/>
        </p:nvSpPr>
        <p:spPr bwMode="auto">
          <a:xfrm>
            <a:off x="27432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5" name="Oval 9"/>
          <p:cNvSpPr>
            <a:spLocks noChangeArrowheads="1"/>
          </p:cNvSpPr>
          <p:nvPr/>
        </p:nvSpPr>
        <p:spPr bwMode="auto">
          <a:xfrm>
            <a:off x="33528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6" name="Oval 10"/>
          <p:cNvSpPr>
            <a:spLocks noChangeArrowheads="1"/>
          </p:cNvSpPr>
          <p:nvPr/>
        </p:nvSpPr>
        <p:spPr bwMode="auto">
          <a:xfrm>
            <a:off x="1752600" y="25146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7" name="Rectangle 11"/>
          <p:cNvSpPr>
            <a:spLocks noChangeArrowheads="1"/>
          </p:cNvSpPr>
          <p:nvPr/>
        </p:nvSpPr>
        <p:spPr bwMode="auto">
          <a:xfrm>
            <a:off x="1143000" y="2667000"/>
            <a:ext cx="3276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7     8     9     10    11    12</a:t>
            </a:r>
          </a:p>
        </p:txBody>
      </p:sp>
      <p:sp>
        <p:nvSpPr>
          <p:cNvPr id="41998" name="Rectangle 12"/>
          <p:cNvSpPr>
            <a:spLocks noChangeArrowheads="1"/>
          </p:cNvSpPr>
          <p:nvPr/>
        </p:nvSpPr>
        <p:spPr bwMode="auto">
          <a:xfrm>
            <a:off x="1219200" y="3060700"/>
            <a:ext cx="2752725" cy="3937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Range = 12 - 7 = 5</a:t>
            </a:r>
          </a:p>
        </p:txBody>
      </p:sp>
      <p:sp>
        <p:nvSpPr>
          <p:cNvPr id="41999" name="Line 13"/>
          <p:cNvSpPr>
            <a:spLocks noChangeShapeType="1"/>
          </p:cNvSpPr>
          <p:nvPr/>
        </p:nvSpPr>
        <p:spPr bwMode="auto">
          <a:xfrm>
            <a:off x="5051425" y="2671763"/>
            <a:ext cx="3049588" cy="0"/>
          </a:xfrm>
          <a:prstGeom prst="line">
            <a:avLst/>
          </a:prstGeom>
          <a:noFill/>
          <a:ln w="12700">
            <a:solidFill>
              <a:srgbClr val="FFFF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Rectangle 14"/>
          <p:cNvSpPr>
            <a:spLocks noChangeArrowheads="1"/>
          </p:cNvSpPr>
          <p:nvPr/>
        </p:nvSpPr>
        <p:spPr bwMode="auto">
          <a:xfrm>
            <a:off x="5029200" y="2667000"/>
            <a:ext cx="34290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7     8     9    10     11    12</a:t>
            </a:r>
          </a:p>
        </p:txBody>
      </p:sp>
      <p:sp>
        <p:nvSpPr>
          <p:cNvPr id="42001" name="Oval 15"/>
          <p:cNvSpPr>
            <a:spLocks noChangeArrowheads="1"/>
          </p:cNvSpPr>
          <p:nvPr/>
        </p:nvSpPr>
        <p:spPr bwMode="auto">
          <a:xfrm>
            <a:off x="5110163" y="2519363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2" name="Oval 16"/>
          <p:cNvSpPr>
            <a:spLocks noChangeArrowheads="1"/>
          </p:cNvSpPr>
          <p:nvPr/>
        </p:nvSpPr>
        <p:spPr bwMode="auto">
          <a:xfrm>
            <a:off x="6634163" y="2519363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3" name="Oval 17"/>
          <p:cNvSpPr>
            <a:spLocks noChangeArrowheads="1"/>
          </p:cNvSpPr>
          <p:nvPr/>
        </p:nvSpPr>
        <p:spPr bwMode="auto">
          <a:xfrm>
            <a:off x="7777163" y="2519363"/>
            <a:ext cx="152400" cy="1524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4" name="Oval 18"/>
          <p:cNvSpPr>
            <a:spLocks noChangeArrowheads="1"/>
          </p:cNvSpPr>
          <p:nvPr/>
        </p:nvSpPr>
        <p:spPr bwMode="auto">
          <a:xfrm>
            <a:off x="7243763" y="2519363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5" name="Oval 19"/>
          <p:cNvSpPr>
            <a:spLocks noChangeArrowheads="1"/>
          </p:cNvSpPr>
          <p:nvPr/>
        </p:nvSpPr>
        <p:spPr bwMode="auto">
          <a:xfrm>
            <a:off x="7772400" y="2362200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6" name="Oval 20"/>
          <p:cNvSpPr>
            <a:spLocks noChangeArrowheads="1"/>
          </p:cNvSpPr>
          <p:nvPr/>
        </p:nvSpPr>
        <p:spPr bwMode="auto">
          <a:xfrm>
            <a:off x="7777163" y="2227263"/>
            <a:ext cx="152400" cy="152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7" name="Rectangle 21"/>
          <p:cNvSpPr>
            <a:spLocks noChangeArrowheads="1"/>
          </p:cNvSpPr>
          <p:nvPr/>
        </p:nvSpPr>
        <p:spPr bwMode="auto">
          <a:xfrm>
            <a:off x="5186363" y="2913063"/>
            <a:ext cx="23812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8" name="Rectangle 22"/>
          <p:cNvSpPr>
            <a:spLocks noChangeArrowheads="1"/>
          </p:cNvSpPr>
          <p:nvPr/>
        </p:nvSpPr>
        <p:spPr bwMode="auto">
          <a:xfrm>
            <a:off x="5181600" y="3060700"/>
            <a:ext cx="2895600" cy="3937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Range = 12 - 7 = 5</a:t>
            </a:r>
          </a:p>
        </p:txBody>
      </p:sp>
      <p:sp>
        <p:nvSpPr>
          <p:cNvPr id="42009" name="Line 23"/>
          <p:cNvSpPr>
            <a:spLocks noChangeShapeType="1"/>
          </p:cNvSpPr>
          <p:nvPr/>
        </p:nvSpPr>
        <p:spPr bwMode="auto">
          <a:xfrm>
            <a:off x="1066800" y="26670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2010" name="Line 24"/>
          <p:cNvSpPr>
            <a:spLocks noChangeShapeType="1"/>
          </p:cNvSpPr>
          <p:nvPr/>
        </p:nvSpPr>
        <p:spPr bwMode="auto">
          <a:xfrm>
            <a:off x="5033963" y="2671763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2011" name="Text Box 25"/>
          <p:cNvSpPr txBox="1">
            <a:spLocks noChangeArrowheads="1"/>
          </p:cNvSpPr>
          <p:nvPr/>
        </p:nvSpPr>
        <p:spPr bwMode="auto">
          <a:xfrm>
            <a:off x="533400" y="42672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folHlink"/>
                </a:solidFill>
              </a:rPr>
              <a:t>	</a:t>
            </a:r>
            <a:r>
              <a:rPr lang="en-US" b="1">
                <a:latin typeface="Times New Roman" pitchFamily="18" charset="0"/>
              </a:rPr>
              <a:t>1</a:t>
            </a:r>
            <a:r>
              <a:rPr lang="en-US">
                <a:latin typeface="Times New Roman" pitchFamily="18" charset="0"/>
              </a:rPr>
              <a:t>,1,1,1,1,1,1,1,1,1,1,2,2,2,2,2,2,2,2,3,3,3,3,4,</a:t>
            </a:r>
            <a:r>
              <a:rPr lang="en-US" b="1">
                <a:latin typeface="Times New Roman" pitchFamily="18" charset="0"/>
              </a:rPr>
              <a:t>5</a:t>
            </a:r>
          </a:p>
        </p:txBody>
      </p:sp>
      <p:sp>
        <p:nvSpPr>
          <p:cNvPr id="42012" name="Text Box 26"/>
          <p:cNvSpPr txBox="1">
            <a:spLocks noChangeArrowheads="1"/>
          </p:cNvSpPr>
          <p:nvPr/>
        </p:nvSpPr>
        <p:spPr bwMode="auto">
          <a:xfrm>
            <a:off x="533400" y="54102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folHlink"/>
                </a:solidFill>
              </a:rPr>
              <a:t>	</a:t>
            </a:r>
            <a:r>
              <a:rPr lang="en-US" b="1">
                <a:latin typeface="Times New Roman" pitchFamily="18" charset="0"/>
              </a:rPr>
              <a:t>1</a:t>
            </a:r>
            <a:r>
              <a:rPr lang="en-US">
                <a:latin typeface="Times New Roman" pitchFamily="18" charset="0"/>
              </a:rPr>
              <a:t>,1,1,1,1,1,1,1,1,1,1,2,2,2,2,2,2,2,2,3,3,3,3,4,</a:t>
            </a:r>
            <a:r>
              <a:rPr lang="en-US" b="1">
                <a:latin typeface="Times New Roman" pitchFamily="18" charset="0"/>
              </a:rPr>
              <a:t>120</a:t>
            </a:r>
          </a:p>
        </p:txBody>
      </p:sp>
      <p:sp>
        <p:nvSpPr>
          <p:cNvPr id="42013" name="Rectangle 27"/>
          <p:cNvSpPr>
            <a:spLocks noChangeArrowheads="1"/>
          </p:cNvSpPr>
          <p:nvPr/>
        </p:nvSpPr>
        <p:spPr bwMode="auto">
          <a:xfrm>
            <a:off x="3276600" y="4724400"/>
            <a:ext cx="2895600" cy="3937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Range = 5 - 1 = 4</a:t>
            </a:r>
          </a:p>
        </p:txBody>
      </p:sp>
      <p:sp>
        <p:nvSpPr>
          <p:cNvPr id="42014" name="Rectangle 28"/>
          <p:cNvSpPr>
            <a:spLocks noChangeArrowheads="1"/>
          </p:cNvSpPr>
          <p:nvPr/>
        </p:nvSpPr>
        <p:spPr bwMode="auto">
          <a:xfrm>
            <a:off x="3276600" y="5867400"/>
            <a:ext cx="2895600" cy="3937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Range = 120 - 1 = 119</a:t>
            </a:r>
          </a:p>
        </p:txBody>
      </p:sp>
      <p:sp>
        <p:nvSpPr>
          <p:cNvPr id="42015" name="TextBox 31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706A5FCB-916D-499A-AAE8-5421B913CEA1}" type="slidenum">
              <a:rPr lang="en-US" smtClean="0">
                <a:latin typeface="Arial" charset="0"/>
              </a:rPr>
              <a:pPr/>
              <a:t>18</a:t>
            </a:fld>
            <a:endParaRPr lang="en-US" smtClean="0">
              <a:latin typeface="Arial" charset="0"/>
            </a:endParaRPr>
          </a:p>
        </p:txBody>
      </p:sp>
      <p:sp>
        <p:nvSpPr>
          <p:cNvPr id="8197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19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D32EEA5B-D607-4C94-B377-5E4457824081}" type="slidenum">
              <a:rPr lang="en-US" sz="1000"/>
              <a:pPr algn="r" defTabSz="852488"/>
              <a:t>18</a:t>
            </a:fld>
            <a:endParaRPr lang="en-US" sz="1000"/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Average (approximately) of squared deviations of values from the mean</a:t>
            </a:r>
          </a:p>
          <a:p>
            <a:pPr lvl="1" eaLnBrk="1" hangingPunct="1">
              <a:lnSpc>
                <a:spcPct val="120000"/>
              </a:lnSpc>
            </a:pPr>
            <a:endParaRPr lang="en-US" b="1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smtClean="0">
                <a:solidFill>
                  <a:schemeClr val="folHlink"/>
                </a:solidFill>
              </a:rPr>
              <a:t>Sample</a:t>
            </a:r>
            <a:r>
              <a:rPr lang="en-US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variance:</a:t>
            </a:r>
          </a:p>
        </p:txBody>
      </p:sp>
      <p:sp>
        <p:nvSpPr>
          <p:cNvPr id="8200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The Sample Variance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4572000" y="3048000"/>
          <a:ext cx="3373438" cy="1800225"/>
        </p:xfrm>
        <a:graphic>
          <a:graphicData uri="http://schemas.openxmlformats.org/presentationml/2006/ole">
            <p:oleObj spid="_x0000_s8194" name="Equation" r:id="rId3" imgW="1143000" imgH="609480" progId="Equation.3">
              <p:embed/>
            </p:oleObj>
          </a:graphicData>
        </a:graphic>
      </p:graphicFrame>
      <p:sp>
        <p:nvSpPr>
          <p:cNvPr id="8201" name="Text Box 5"/>
          <p:cNvSpPr txBox="1">
            <a:spLocks noChangeArrowheads="1"/>
          </p:cNvSpPr>
          <p:nvPr/>
        </p:nvSpPr>
        <p:spPr bwMode="auto">
          <a:xfrm>
            <a:off x="1447800" y="50292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Where</a:t>
            </a:r>
            <a:r>
              <a:rPr lang="en-US"/>
              <a:t> </a:t>
            </a:r>
          </a:p>
        </p:txBody>
      </p:sp>
      <p:sp>
        <p:nvSpPr>
          <p:cNvPr id="8202" name="Text Box 6"/>
          <p:cNvSpPr txBox="1">
            <a:spLocks noChangeArrowheads="1"/>
          </p:cNvSpPr>
          <p:nvPr/>
        </p:nvSpPr>
        <p:spPr bwMode="auto">
          <a:xfrm>
            <a:off x="2819400" y="5105400"/>
            <a:ext cx="403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   =  arithmetic mean</a:t>
            </a:r>
          </a:p>
          <a:p>
            <a:pPr>
              <a:spcBef>
                <a:spcPct val="50000"/>
              </a:spcBef>
            </a:pPr>
            <a:r>
              <a:rPr lang="en-US" sz="2000"/>
              <a:t>n = sample size</a:t>
            </a:r>
          </a:p>
          <a:p>
            <a:pPr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i</a:t>
            </a:r>
            <a:r>
              <a:rPr lang="en-US" sz="2000"/>
              <a:t> = i</a:t>
            </a:r>
            <a:r>
              <a:rPr lang="en-US" sz="2000" baseline="30000"/>
              <a:t>th</a:t>
            </a:r>
            <a:r>
              <a:rPr lang="en-US" sz="2000"/>
              <a:t> value of the variable X</a:t>
            </a:r>
          </a:p>
        </p:txBody>
      </p:sp>
      <p:graphicFrame>
        <p:nvGraphicFramePr>
          <p:cNvPr id="8195" name="Object 7"/>
          <p:cNvGraphicFramePr>
            <a:graphicFrameLocks noChangeAspect="1"/>
          </p:cNvGraphicFramePr>
          <p:nvPr/>
        </p:nvGraphicFramePr>
        <p:xfrm>
          <a:off x="2819400" y="5029200"/>
          <a:ext cx="304800" cy="406400"/>
        </p:xfrm>
        <a:graphic>
          <a:graphicData uri="http://schemas.openxmlformats.org/presentationml/2006/ole">
            <p:oleObj spid="_x0000_s8195" name="Equation" r:id="rId4" imgW="152280" imgH="203040" progId="Equation.3">
              <p:embed/>
            </p:oleObj>
          </a:graphicData>
        </a:graphic>
      </p:graphicFrame>
      <p:sp>
        <p:nvSpPr>
          <p:cNvPr id="8203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55BDBA1-D935-4C75-B600-7C2F06F2BAE5}" type="slidenum">
              <a:rPr lang="en-US" smtClean="0">
                <a:latin typeface="Arial" charset="0"/>
              </a:rPr>
              <a:pPr/>
              <a:t>19</a:t>
            </a:fld>
            <a:endParaRPr lang="en-US" smtClean="0">
              <a:latin typeface="Arial" charset="0"/>
            </a:endParaRPr>
          </a:p>
        </p:txBody>
      </p:sp>
      <p:sp>
        <p:nvSpPr>
          <p:cNvPr id="922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22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4AF4324-4B7E-4708-B011-913B24C7D143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Measures of Variation:</a:t>
            </a:r>
            <a:br>
              <a:rPr lang="en-US" sz="3600" smtClean="0"/>
            </a:br>
            <a:r>
              <a:rPr lang="en-US" sz="3600" smtClean="0"/>
              <a:t>The Sample Standard Deviation</a:t>
            </a:r>
          </a:p>
        </p:txBody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82000" cy="4532313"/>
          </a:xfrm>
        </p:spPr>
        <p:txBody>
          <a:bodyPr/>
          <a:lstStyle/>
          <a:p>
            <a:pPr eaLnBrk="1" hangingPunct="1"/>
            <a:r>
              <a:rPr lang="en-US" smtClean="0"/>
              <a:t>Most commonly used measure of variation</a:t>
            </a:r>
          </a:p>
          <a:p>
            <a:pPr eaLnBrk="1" hangingPunct="1"/>
            <a:r>
              <a:rPr lang="en-US" smtClean="0"/>
              <a:t>Shows variation about the mean</a:t>
            </a:r>
          </a:p>
          <a:p>
            <a:pPr eaLnBrk="1" hangingPunct="1"/>
            <a:r>
              <a:rPr lang="en-US" smtClean="0"/>
              <a:t>Is the square root of the variance</a:t>
            </a:r>
          </a:p>
          <a:p>
            <a:pPr eaLnBrk="1" hangingPunct="1"/>
            <a:r>
              <a:rPr lang="en-US" smtClean="0"/>
              <a:t>Has the </a:t>
            </a:r>
            <a:r>
              <a:rPr lang="en-US" smtClean="0">
                <a:solidFill>
                  <a:schemeClr val="hlink"/>
                </a:solidFill>
              </a:rPr>
              <a:t>same units as the original data</a:t>
            </a:r>
          </a:p>
          <a:p>
            <a:pPr eaLnBrk="1" hangingPunct="1"/>
            <a:endParaRPr lang="en-US" sz="1400" smtClean="0"/>
          </a:p>
          <a:p>
            <a:pPr eaLnBrk="1" hangingPunct="1"/>
            <a:endParaRPr lang="en-US" sz="1400" smtClean="0"/>
          </a:p>
          <a:p>
            <a:pPr eaLnBrk="1" hangingPunct="1"/>
            <a:endParaRPr lang="en-US" sz="1400" smtClean="0"/>
          </a:p>
          <a:p>
            <a:pPr lvl="1" eaLnBrk="1" hangingPunct="1"/>
            <a:r>
              <a:rPr lang="en-US" smtClean="0">
                <a:solidFill>
                  <a:schemeClr val="folHlink"/>
                </a:solidFill>
              </a:rPr>
              <a:t>Sample</a:t>
            </a:r>
            <a:r>
              <a:rPr lang="en-US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standard deviation: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5105400" y="4038600"/>
          <a:ext cx="3276600" cy="1831975"/>
        </p:xfrm>
        <a:graphic>
          <a:graphicData uri="http://schemas.openxmlformats.org/presentationml/2006/ole">
            <p:oleObj spid="_x0000_s9218" name="Equation" r:id="rId3" imgW="1180800" imgH="660240" progId="Equation.3">
              <p:embed/>
            </p:oleObj>
          </a:graphicData>
        </a:graphic>
      </p:graphicFrame>
      <p:sp>
        <p:nvSpPr>
          <p:cNvPr id="9224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589A953D-1FD0-4126-B197-C5F0C4497CF2}" type="slidenum">
              <a:rPr lang="en-US" smtClean="0">
                <a:latin typeface="Arial" charset="0"/>
              </a:rPr>
              <a:pPr/>
              <a:t>20</a:t>
            </a:fld>
            <a:endParaRPr lang="en-US" smtClean="0">
              <a:latin typeface="Arial" charset="0"/>
            </a:endParaRPr>
          </a:p>
        </p:txBody>
      </p:sp>
      <p:sp>
        <p:nvSpPr>
          <p:cNvPr id="471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42FFE94-FBF5-4024-AE92-59B29187601B}" type="slidenum">
              <a:rPr lang="en-US" sz="1000"/>
              <a:pPr algn="r" defTabSz="852488"/>
              <a:t>20</a:t>
            </a:fld>
            <a:endParaRPr lang="en-US" sz="10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The Standard Deviation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752600"/>
            <a:ext cx="7010400" cy="4267200"/>
          </a:xfrm>
        </p:spPr>
        <p:txBody>
          <a:bodyPr/>
          <a:lstStyle/>
          <a:p>
            <a:pPr marL="533400" indent="-533400" defTabSz="914400"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Steps for Computing Standard Deviation</a:t>
            </a:r>
          </a:p>
          <a:p>
            <a:pPr marL="533400" indent="-533400" defTabSz="914400" eaLnBrk="1" hangingPunct="1"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1.	Compute the difference between each value and the mean.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2.	Square each difference.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3.	Add the squared differences.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4.	Divide this total by n-1 to get the sample variance.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5.	Take the square root of the sample variance to get the sample standard deviation.</a:t>
            </a:r>
          </a:p>
          <a:p>
            <a:pPr marL="533400" indent="-533400" defTabSz="914400" eaLnBrk="1" hangingPunct="1"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</p:txBody>
      </p:sp>
      <p:sp>
        <p:nvSpPr>
          <p:cNvPr id="47110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5DC4AD0B-AE3C-4404-A0FB-FF10C95BAF8B}" type="slidenum">
              <a:rPr lang="en-US" smtClean="0">
                <a:latin typeface="Arial" charset="0"/>
              </a:rPr>
              <a:pPr/>
              <a:t>21</a:t>
            </a:fld>
            <a:endParaRPr lang="en-US" smtClean="0">
              <a:latin typeface="Arial" charset="0"/>
            </a:endParaRPr>
          </a:p>
        </p:txBody>
      </p:sp>
      <p:sp>
        <p:nvSpPr>
          <p:cNvPr id="1024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24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E59166D4-699C-4F1F-9211-7580DE21E29A}" type="slidenum">
              <a:rPr lang="en-US" sz="1000"/>
              <a:pPr algn="r" defTabSz="852488"/>
              <a:t>21</a:t>
            </a:fld>
            <a:endParaRPr lang="en-US" sz="1000"/>
          </a:p>
        </p:txBody>
      </p:sp>
      <p:sp>
        <p:nvSpPr>
          <p:cNvPr id="10246" name="Rectangle 2"/>
          <p:cNvSpPr>
            <a:spLocks noChangeArrowheads="1"/>
          </p:cNvSpPr>
          <p:nvPr/>
        </p:nvSpPr>
        <p:spPr bwMode="auto">
          <a:xfrm>
            <a:off x="2209800" y="1981200"/>
            <a:ext cx="5715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620000" cy="1066800"/>
          </a:xfrm>
        </p:spPr>
        <p:txBody>
          <a:bodyPr/>
          <a:lstStyle/>
          <a:p>
            <a:pPr defTabSz="914400" eaLnBrk="1" hangingPunct="1">
              <a:lnSpc>
                <a:spcPct val="80000"/>
              </a:lnSpc>
            </a:pPr>
            <a:r>
              <a:rPr lang="en-US" sz="3200" smtClean="0"/>
              <a:t>Measures of Variation:</a:t>
            </a:r>
            <a:br>
              <a:rPr lang="en-US" sz="3200" smtClean="0"/>
            </a:br>
            <a:r>
              <a:rPr lang="en-US" sz="3200" smtClean="0"/>
              <a:t>Sample Standard Deviation</a:t>
            </a:r>
            <a:br>
              <a:rPr lang="en-US" sz="3200" smtClean="0"/>
            </a:br>
            <a:r>
              <a:rPr lang="en-US" sz="3200" smtClean="0"/>
              <a:t>Calculation Example</a:t>
            </a:r>
          </a:p>
        </p:txBody>
      </p:sp>
      <p:sp>
        <p:nvSpPr>
          <p:cNvPr id="10248" name="Rectangle 4"/>
          <p:cNvSpPr>
            <a:spLocks noChangeArrowheads="1"/>
          </p:cNvSpPr>
          <p:nvPr/>
        </p:nvSpPr>
        <p:spPr bwMode="auto">
          <a:xfrm>
            <a:off x="381000" y="1676400"/>
            <a:ext cx="8305800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Sample </a:t>
            </a:r>
            <a:br>
              <a:rPr lang="en-US" b="1"/>
            </a:br>
            <a:r>
              <a:rPr lang="en-US" b="1"/>
              <a:t>Data  (X</a:t>
            </a:r>
            <a:r>
              <a:rPr lang="en-US" b="1" baseline="-25000"/>
              <a:t>i</a:t>
            </a:r>
            <a:r>
              <a:rPr lang="en-US" b="1"/>
              <a:t>) :     </a:t>
            </a:r>
            <a:r>
              <a:rPr lang="en-US" b="1">
                <a:solidFill>
                  <a:schemeClr val="folHlink"/>
                </a:solidFill>
              </a:rPr>
              <a:t>10     12     14     15    17    18    18    24</a:t>
            </a:r>
          </a:p>
        </p:txBody>
      </p:sp>
      <p:sp>
        <p:nvSpPr>
          <p:cNvPr id="10249" name="Rectangle 5"/>
          <p:cNvSpPr>
            <a:spLocks noChangeArrowheads="1"/>
          </p:cNvSpPr>
          <p:nvPr/>
        </p:nvSpPr>
        <p:spPr bwMode="auto">
          <a:xfrm>
            <a:off x="2590800" y="2630488"/>
            <a:ext cx="4343400" cy="417512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/>
              <a:t> n = 8            Mean = X = 16</a:t>
            </a:r>
          </a:p>
        </p:txBody>
      </p:sp>
      <p:sp>
        <p:nvSpPr>
          <p:cNvPr id="10250" name="Line 6"/>
          <p:cNvSpPr>
            <a:spLocks noChangeShapeType="1"/>
          </p:cNvSpPr>
          <p:nvPr/>
        </p:nvSpPr>
        <p:spPr bwMode="auto">
          <a:xfrm>
            <a:off x="5562600" y="26670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251" name="Rectangle 7"/>
          <p:cNvSpPr>
            <a:spLocks noChangeArrowheads="1"/>
          </p:cNvSpPr>
          <p:nvPr/>
        </p:nvSpPr>
        <p:spPr bwMode="auto">
          <a:xfrm>
            <a:off x="2743200" y="5867400"/>
            <a:ext cx="1143000" cy="457200"/>
          </a:xfrm>
          <a:prstGeom prst="rect">
            <a:avLst/>
          </a:prstGeom>
          <a:solidFill>
            <a:srgbClr val="E9E9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0242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762000" y="3219450"/>
          <a:ext cx="7602538" cy="3257550"/>
        </p:xfrm>
        <a:graphic>
          <a:graphicData uri="http://schemas.openxmlformats.org/presentationml/2006/ole">
            <p:oleObj spid="_x0000_s10242" name="Equation" r:id="rId3" imgW="3568680" imgH="1854000" progId="Equation.3">
              <p:embed/>
            </p:oleObj>
          </a:graphicData>
        </a:graphic>
      </p:graphicFrame>
      <p:sp>
        <p:nvSpPr>
          <p:cNvPr id="10252" name="Text Box 9"/>
          <p:cNvSpPr txBox="1">
            <a:spLocks noChangeArrowheads="1"/>
          </p:cNvSpPr>
          <p:nvPr/>
        </p:nvSpPr>
        <p:spPr bwMode="auto">
          <a:xfrm>
            <a:off x="4572000" y="5638800"/>
            <a:ext cx="3962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 measure of the “average” scatter around the mean</a:t>
            </a:r>
          </a:p>
        </p:txBody>
      </p:sp>
      <p:sp>
        <p:nvSpPr>
          <p:cNvPr id="10253" name="AutoShape 10"/>
          <p:cNvSpPr>
            <a:spLocks noChangeArrowheads="1"/>
          </p:cNvSpPr>
          <p:nvPr/>
        </p:nvSpPr>
        <p:spPr bwMode="auto">
          <a:xfrm>
            <a:off x="3962400" y="6019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4" name="TextBox 13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6E4262A8-D887-4A87-87D7-AF07D85AE33E}" type="slidenum">
              <a:rPr lang="en-US" smtClean="0">
                <a:latin typeface="Arial" charset="0"/>
              </a:rPr>
              <a:pPr/>
              <a:t>22</a:t>
            </a:fld>
            <a:endParaRPr lang="en-US" smtClean="0">
              <a:latin typeface="Arial" charset="0"/>
            </a:endParaRPr>
          </a:p>
        </p:txBody>
      </p:sp>
      <p:sp>
        <p:nvSpPr>
          <p:cNvPr id="1126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26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03D44383-D1D2-4AA0-9033-4823F7AB613B}" type="slidenum">
              <a:rPr lang="en-US" sz="1000"/>
              <a:pPr algn="r" defTabSz="852488"/>
              <a:t>22</a:t>
            </a:fld>
            <a:endParaRPr lang="en-US" sz="1000"/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688262" cy="9906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Comparing Standard Deviations</a:t>
            </a:r>
          </a:p>
        </p:txBody>
      </p:sp>
      <p:graphicFrame>
        <p:nvGraphicFramePr>
          <p:cNvPr id="1126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94225" y="3355975"/>
          <a:ext cx="420688" cy="534988"/>
        </p:xfrm>
        <a:graphic>
          <a:graphicData uri="http://schemas.openxmlformats.org/presentationml/2006/ole">
            <p:oleObj spid="_x0000_s11266" name="Equation" r:id="rId3" imgW="428400" imgH="542880" progId="">
              <p:embed/>
            </p:oleObj>
          </a:graphicData>
        </a:graphic>
      </p:graphicFrame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6934200" y="2209800"/>
            <a:ext cx="1941513" cy="809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Mean = 15.5</a:t>
            </a:r>
          </a:p>
          <a:p>
            <a:pPr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sz="2800">
                <a:latin typeface="Times New Roman" pitchFamily="18" charset="0"/>
              </a:rPr>
              <a:t>  S = </a:t>
            </a:r>
            <a:r>
              <a:rPr lang="en-US">
                <a:latin typeface="Times New Roman" pitchFamily="18" charset="0"/>
              </a:rPr>
              <a:t>3.338</a:t>
            </a:r>
            <a:r>
              <a:rPr lang="en-US" sz="2800">
                <a:latin typeface="Times New Roman" pitchFamily="18" charset="0"/>
              </a:rPr>
              <a:t>         </a:t>
            </a:r>
          </a:p>
        </p:txBody>
      </p:sp>
      <p:sp>
        <p:nvSpPr>
          <p:cNvPr id="11272" name="Line 5"/>
          <p:cNvSpPr>
            <a:spLocks noChangeShapeType="1"/>
          </p:cNvSpPr>
          <p:nvPr/>
        </p:nvSpPr>
        <p:spPr bwMode="auto">
          <a:xfrm>
            <a:off x="1336675" y="2727325"/>
            <a:ext cx="5078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3" name="Rectangle 6"/>
          <p:cNvSpPr>
            <a:spLocks noChangeArrowheads="1"/>
          </p:cNvSpPr>
          <p:nvPr/>
        </p:nvSpPr>
        <p:spPr bwMode="auto">
          <a:xfrm>
            <a:off x="1143000" y="2714625"/>
            <a:ext cx="545782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11    12    13    14    15    16    17    18    19    20   21</a:t>
            </a:r>
          </a:p>
        </p:txBody>
      </p:sp>
      <p:sp>
        <p:nvSpPr>
          <p:cNvPr id="11274" name="Oval 7"/>
          <p:cNvSpPr>
            <a:spLocks noChangeArrowheads="1"/>
          </p:cNvSpPr>
          <p:nvPr/>
        </p:nvSpPr>
        <p:spPr bwMode="auto">
          <a:xfrm>
            <a:off x="1222375" y="2501900"/>
            <a:ext cx="223838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5" name="Oval 8"/>
          <p:cNvSpPr>
            <a:spLocks noChangeArrowheads="1"/>
          </p:cNvSpPr>
          <p:nvPr/>
        </p:nvSpPr>
        <p:spPr bwMode="auto">
          <a:xfrm>
            <a:off x="1744663" y="2501900"/>
            <a:ext cx="223837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6" name="Oval 9"/>
          <p:cNvSpPr>
            <a:spLocks noChangeArrowheads="1"/>
          </p:cNvSpPr>
          <p:nvPr/>
        </p:nvSpPr>
        <p:spPr bwMode="auto">
          <a:xfrm>
            <a:off x="2266950" y="2501900"/>
            <a:ext cx="223838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7" name="Oval 10"/>
          <p:cNvSpPr>
            <a:spLocks noChangeArrowheads="1"/>
          </p:cNvSpPr>
          <p:nvPr/>
        </p:nvSpPr>
        <p:spPr bwMode="auto">
          <a:xfrm>
            <a:off x="3760788" y="2501900"/>
            <a:ext cx="223837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8" name="Oval 11"/>
          <p:cNvSpPr>
            <a:spLocks noChangeArrowheads="1"/>
          </p:cNvSpPr>
          <p:nvPr/>
        </p:nvSpPr>
        <p:spPr bwMode="auto">
          <a:xfrm>
            <a:off x="3760788" y="2278063"/>
            <a:ext cx="223837" cy="223837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9" name="Oval 12"/>
          <p:cNvSpPr>
            <a:spLocks noChangeArrowheads="1"/>
          </p:cNvSpPr>
          <p:nvPr/>
        </p:nvSpPr>
        <p:spPr bwMode="auto">
          <a:xfrm>
            <a:off x="4208463" y="2501900"/>
            <a:ext cx="223837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0" name="Oval 13"/>
          <p:cNvSpPr>
            <a:spLocks noChangeArrowheads="1"/>
          </p:cNvSpPr>
          <p:nvPr/>
        </p:nvSpPr>
        <p:spPr bwMode="auto">
          <a:xfrm>
            <a:off x="4730750" y="2501900"/>
            <a:ext cx="223838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1" name="Oval 14"/>
          <p:cNvSpPr>
            <a:spLocks noChangeArrowheads="1"/>
          </p:cNvSpPr>
          <p:nvPr/>
        </p:nvSpPr>
        <p:spPr bwMode="auto">
          <a:xfrm>
            <a:off x="6148388" y="2501900"/>
            <a:ext cx="223837" cy="225425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2" name="Rectangle 15"/>
          <p:cNvSpPr>
            <a:spLocks noChangeArrowheads="1"/>
          </p:cNvSpPr>
          <p:nvPr/>
        </p:nvSpPr>
        <p:spPr bwMode="auto">
          <a:xfrm>
            <a:off x="1143000" y="4137025"/>
            <a:ext cx="5383213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11    12    13    14    15    16    17    18    19    20   21</a:t>
            </a:r>
          </a:p>
        </p:txBody>
      </p:sp>
      <p:sp>
        <p:nvSpPr>
          <p:cNvPr id="11283" name="Rectangle 16"/>
          <p:cNvSpPr>
            <a:spLocks noChangeArrowheads="1"/>
          </p:cNvSpPr>
          <p:nvPr/>
        </p:nvSpPr>
        <p:spPr bwMode="auto">
          <a:xfrm>
            <a:off x="1223963" y="3402013"/>
            <a:ext cx="1265237" cy="4667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Data B</a:t>
            </a:r>
          </a:p>
        </p:txBody>
      </p:sp>
      <p:sp>
        <p:nvSpPr>
          <p:cNvPr id="11284" name="Rectangle 17"/>
          <p:cNvSpPr>
            <a:spLocks noChangeArrowheads="1"/>
          </p:cNvSpPr>
          <p:nvPr/>
        </p:nvSpPr>
        <p:spPr bwMode="auto">
          <a:xfrm>
            <a:off x="1223963" y="1905000"/>
            <a:ext cx="1265237" cy="4667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Data A</a:t>
            </a:r>
          </a:p>
        </p:txBody>
      </p:sp>
      <p:sp>
        <p:nvSpPr>
          <p:cNvPr id="11285" name="Line 18"/>
          <p:cNvSpPr>
            <a:spLocks noChangeShapeType="1"/>
          </p:cNvSpPr>
          <p:nvPr/>
        </p:nvSpPr>
        <p:spPr bwMode="auto">
          <a:xfrm>
            <a:off x="1314450" y="4148138"/>
            <a:ext cx="5076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Oval 19"/>
          <p:cNvSpPr>
            <a:spLocks noChangeArrowheads="1"/>
          </p:cNvSpPr>
          <p:nvPr/>
        </p:nvSpPr>
        <p:spPr bwMode="auto">
          <a:xfrm>
            <a:off x="3238500" y="3924300"/>
            <a:ext cx="223838" cy="2238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7" name="Oval 20"/>
          <p:cNvSpPr>
            <a:spLocks noChangeArrowheads="1"/>
          </p:cNvSpPr>
          <p:nvPr/>
        </p:nvSpPr>
        <p:spPr bwMode="auto">
          <a:xfrm>
            <a:off x="3760788" y="3924300"/>
            <a:ext cx="223837" cy="2238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8" name="Oval 21"/>
          <p:cNvSpPr>
            <a:spLocks noChangeArrowheads="1"/>
          </p:cNvSpPr>
          <p:nvPr/>
        </p:nvSpPr>
        <p:spPr bwMode="auto">
          <a:xfrm>
            <a:off x="3238500" y="3698875"/>
            <a:ext cx="223838" cy="2254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9" name="Oval 22"/>
          <p:cNvSpPr>
            <a:spLocks noChangeArrowheads="1"/>
          </p:cNvSpPr>
          <p:nvPr/>
        </p:nvSpPr>
        <p:spPr bwMode="auto">
          <a:xfrm>
            <a:off x="3760788" y="3698875"/>
            <a:ext cx="223837" cy="2254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0" name="Oval 23"/>
          <p:cNvSpPr>
            <a:spLocks noChangeArrowheads="1"/>
          </p:cNvSpPr>
          <p:nvPr/>
        </p:nvSpPr>
        <p:spPr bwMode="auto">
          <a:xfrm>
            <a:off x="3238500" y="3475038"/>
            <a:ext cx="223838" cy="22383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1" name="Oval 24"/>
          <p:cNvSpPr>
            <a:spLocks noChangeArrowheads="1"/>
          </p:cNvSpPr>
          <p:nvPr/>
        </p:nvSpPr>
        <p:spPr bwMode="auto">
          <a:xfrm>
            <a:off x="3760788" y="3475038"/>
            <a:ext cx="223837" cy="22383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2" name="Oval 25"/>
          <p:cNvSpPr>
            <a:spLocks noChangeArrowheads="1"/>
          </p:cNvSpPr>
          <p:nvPr/>
        </p:nvSpPr>
        <p:spPr bwMode="auto">
          <a:xfrm>
            <a:off x="2789238" y="3924300"/>
            <a:ext cx="223837" cy="2238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3" name="Oval 26"/>
          <p:cNvSpPr>
            <a:spLocks noChangeArrowheads="1"/>
          </p:cNvSpPr>
          <p:nvPr/>
        </p:nvSpPr>
        <p:spPr bwMode="auto">
          <a:xfrm>
            <a:off x="4208463" y="3924300"/>
            <a:ext cx="223837" cy="2238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4" name="Rectangle 27"/>
          <p:cNvSpPr>
            <a:spLocks noChangeArrowheads="1"/>
          </p:cNvSpPr>
          <p:nvPr/>
        </p:nvSpPr>
        <p:spPr bwMode="auto">
          <a:xfrm>
            <a:off x="6934200" y="3505200"/>
            <a:ext cx="1936750" cy="8953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Mean = 15.5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800">
                <a:latin typeface="Times New Roman" pitchFamily="18" charset="0"/>
              </a:rPr>
              <a:t>  S = </a:t>
            </a:r>
            <a:r>
              <a:rPr lang="en-US">
                <a:latin typeface="Times New Roman" pitchFamily="18" charset="0"/>
              </a:rPr>
              <a:t>0.926</a:t>
            </a:r>
          </a:p>
        </p:txBody>
      </p:sp>
      <p:sp>
        <p:nvSpPr>
          <p:cNvPr id="11295" name="Rectangle 28"/>
          <p:cNvSpPr>
            <a:spLocks noChangeArrowheads="1"/>
          </p:cNvSpPr>
          <p:nvPr/>
        </p:nvSpPr>
        <p:spPr bwMode="auto">
          <a:xfrm>
            <a:off x="1143000" y="5645150"/>
            <a:ext cx="5607050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/>
              <a:t>11    12    13    14    15    16    17    18    19    20   21</a:t>
            </a:r>
          </a:p>
        </p:txBody>
      </p:sp>
      <p:sp>
        <p:nvSpPr>
          <p:cNvPr id="11296" name="Line 29"/>
          <p:cNvSpPr>
            <a:spLocks noChangeShapeType="1"/>
          </p:cNvSpPr>
          <p:nvPr/>
        </p:nvSpPr>
        <p:spPr bwMode="auto">
          <a:xfrm>
            <a:off x="1314450" y="5645150"/>
            <a:ext cx="5076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7" name="Oval 30"/>
          <p:cNvSpPr>
            <a:spLocks noChangeArrowheads="1"/>
          </p:cNvSpPr>
          <p:nvPr/>
        </p:nvSpPr>
        <p:spPr bwMode="auto">
          <a:xfrm>
            <a:off x="1222375" y="5421313"/>
            <a:ext cx="223838" cy="2238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8" name="Oval 31"/>
          <p:cNvSpPr>
            <a:spLocks noChangeArrowheads="1"/>
          </p:cNvSpPr>
          <p:nvPr/>
        </p:nvSpPr>
        <p:spPr bwMode="auto">
          <a:xfrm>
            <a:off x="1222375" y="5195888"/>
            <a:ext cx="223838" cy="22542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9" name="Oval 32"/>
          <p:cNvSpPr>
            <a:spLocks noChangeArrowheads="1"/>
          </p:cNvSpPr>
          <p:nvPr/>
        </p:nvSpPr>
        <p:spPr bwMode="auto">
          <a:xfrm>
            <a:off x="1222375" y="4972050"/>
            <a:ext cx="223838" cy="223838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0" name="Oval 33"/>
          <p:cNvSpPr>
            <a:spLocks noChangeArrowheads="1"/>
          </p:cNvSpPr>
          <p:nvPr/>
        </p:nvSpPr>
        <p:spPr bwMode="auto">
          <a:xfrm>
            <a:off x="5700713" y="5421313"/>
            <a:ext cx="223837" cy="2238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1" name="Oval 34"/>
          <p:cNvSpPr>
            <a:spLocks noChangeArrowheads="1"/>
          </p:cNvSpPr>
          <p:nvPr/>
        </p:nvSpPr>
        <p:spPr bwMode="auto">
          <a:xfrm>
            <a:off x="5700713" y="5195888"/>
            <a:ext cx="223837" cy="22542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2" name="Oval 35"/>
          <p:cNvSpPr>
            <a:spLocks noChangeArrowheads="1"/>
          </p:cNvSpPr>
          <p:nvPr/>
        </p:nvSpPr>
        <p:spPr bwMode="auto">
          <a:xfrm>
            <a:off x="5700713" y="4972050"/>
            <a:ext cx="223837" cy="223838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3" name="Oval 36"/>
          <p:cNvSpPr>
            <a:spLocks noChangeArrowheads="1"/>
          </p:cNvSpPr>
          <p:nvPr/>
        </p:nvSpPr>
        <p:spPr bwMode="auto">
          <a:xfrm>
            <a:off x="1744663" y="5421313"/>
            <a:ext cx="223837" cy="2238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4" name="Oval 37"/>
          <p:cNvSpPr>
            <a:spLocks noChangeArrowheads="1"/>
          </p:cNvSpPr>
          <p:nvPr/>
        </p:nvSpPr>
        <p:spPr bwMode="auto">
          <a:xfrm>
            <a:off x="5253038" y="5421313"/>
            <a:ext cx="223837" cy="2238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305" name="Rectangle 38"/>
          <p:cNvSpPr>
            <a:spLocks noChangeArrowheads="1"/>
          </p:cNvSpPr>
          <p:nvPr/>
        </p:nvSpPr>
        <p:spPr bwMode="auto">
          <a:xfrm>
            <a:off x="6934200" y="4953000"/>
            <a:ext cx="1936750" cy="8223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Mean = 15.5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800">
                <a:latin typeface="Times New Roman" pitchFamily="18" charset="0"/>
              </a:rPr>
              <a:t>  S = </a:t>
            </a:r>
            <a:r>
              <a:rPr lang="en-US">
                <a:latin typeface="Times New Roman" pitchFamily="18" charset="0"/>
              </a:rPr>
              <a:t>4.570</a:t>
            </a:r>
          </a:p>
        </p:txBody>
      </p:sp>
      <p:sp>
        <p:nvSpPr>
          <p:cNvPr id="11306" name="Rectangle 39"/>
          <p:cNvSpPr>
            <a:spLocks noChangeArrowheads="1"/>
          </p:cNvSpPr>
          <p:nvPr/>
        </p:nvSpPr>
        <p:spPr bwMode="auto">
          <a:xfrm>
            <a:off x="1671638" y="4824413"/>
            <a:ext cx="1265237" cy="4667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Data C</a:t>
            </a:r>
          </a:p>
        </p:txBody>
      </p:sp>
      <p:sp>
        <p:nvSpPr>
          <p:cNvPr id="11307" name="TextBox 42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BE682D6-B014-4435-A9A1-B572AB34277A}" type="slidenum">
              <a:rPr lang="en-US" smtClean="0">
                <a:latin typeface="Arial" charset="0"/>
              </a:rPr>
              <a:pPr/>
              <a:t>23</a:t>
            </a:fld>
            <a:endParaRPr lang="en-US" smtClean="0">
              <a:latin typeface="Arial" charset="0"/>
            </a:endParaRPr>
          </a:p>
        </p:txBody>
      </p:sp>
      <p:sp>
        <p:nvSpPr>
          <p:cNvPr id="5222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222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00D3EACF-2292-410F-AE1C-29F477BE7706}" type="slidenum">
              <a:rPr lang="en-US" sz="1000"/>
              <a:pPr algn="r" defTabSz="852488"/>
              <a:t>23</a:t>
            </a:fld>
            <a:endParaRPr lang="en-US" sz="1000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Comparing Standard Deviations</a:t>
            </a:r>
          </a:p>
        </p:txBody>
      </p:sp>
      <p:pic>
        <p:nvPicPr>
          <p:cNvPr id="52229" name="Picture 3" descr="normalcurv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828800"/>
            <a:ext cx="6781800" cy="440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0" name="Text Box 4"/>
          <p:cNvSpPr txBox="1">
            <a:spLocks noChangeArrowheads="1"/>
          </p:cNvSpPr>
          <p:nvPr/>
        </p:nvSpPr>
        <p:spPr bwMode="auto">
          <a:xfrm>
            <a:off x="838200" y="2133600"/>
            <a:ext cx="40386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Smaller standard deviation</a:t>
            </a:r>
          </a:p>
          <a:p>
            <a:pPr eaLnBrk="0" hangingPunct="0">
              <a:spcBef>
                <a:spcPct val="50000"/>
              </a:spcBef>
            </a:pPr>
            <a:endParaRPr lang="en-US">
              <a:latin typeface="Times New Roman" pitchFamily="18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Larger standard deviation</a:t>
            </a:r>
          </a:p>
        </p:txBody>
      </p:sp>
      <p:sp>
        <p:nvSpPr>
          <p:cNvPr id="52231" name="Line 5"/>
          <p:cNvSpPr>
            <a:spLocks noChangeShapeType="1"/>
          </p:cNvSpPr>
          <p:nvPr/>
        </p:nvSpPr>
        <p:spPr bwMode="auto">
          <a:xfrm>
            <a:off x="2514600" y="3657600"/>
            <a:ext cx="1981200" cy="990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2" name="Line 6"/>
          <p:cNvSpPr>
            <a:spLocks noChangeShapeType="1"/>
          </p:cNvSpPr>
          <p:nvPr/>
        </p:nvSpPr>
        <p:spPr bwMode="auto">
          <a:xfrm>
            <a:off x="2514600" y="2590800"/>
            <a:ext cx="2819400" cy="762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233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F100A76-9BD4-4E69-A558-1545980B1EC6}" type="slidenum">
              <a:rPr lang="en-US" smtClean="0">
                <a:latin typeface="Arial" charset="0"/>
              </a:rPr>
              <a:pPr/>
              <a:t>24</a:t>
            </a:fld>
            <a:endParaRPr lang="en-US" smtClean="0">
              <a:latin typeface="Arial" charset="0"/>
            </a:endParaRPr>
          </a:p>
        </p:txBody>
      </p:sp>
      <p:sp>
        <p:nvSpPr>
          <p:cNvPr id="532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32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598C494-5A7B-4C18-9C17-B96E818225AA}" type="slidenum">
              <a:rPr lang="en-US" sz="1000"/>
              <a:pPr algn="r" defTabSz="852488"/>
              <a:t>24</a:t>
            </a:fld>
            <a:endParaRPr lang="en-US" sz="100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Measures of Variation:</a:t>
            </a:r>
            <a:br>
              <a:rPr lang="en-US" smtClean="0"/>
            </a:br>
            <a:r>
              <a:rPr lang="en-US" smtClean="0"/>
              <a:t>Summary Characteristics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077200" cy="4279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more the data are spread out, the greater the range, variance, and standard deviation.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The more the data are concentrated, the smaller the range, variance, and standard deviation.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If the values are all the same (no variation), all these measures will be zero.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None of these measures are ever negative.</a:t>
            </a:r>
          </a:p>
        </p:txBody>
      </p:sp>
      <p:sp>
        <p:nvSpPr>
          <p:cNvPr id="53254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A574D15B-B1D6-424C-9813-842C56FDD8E6}" type="slidenum">
              <a:rPr lang="en-US" smtClean="0">
                <a:latin typeface="Arial" charset="0"/>
              </a:rPr>
              <a:pPr/>
              <a:t>25</a:t>
            </a:fld>
            <a:endParaRPr lang="en-US" smtClean="0">
              <a:latin typeface="Arial" charset="0"/>
            </a:endParaRPr>
          </a:p>
        </p:txBody>
      </p:sp>
      <p:sp>
        <p:nvSpPr>
          <p:cNvPr id="1229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229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3D13FFF-737B-44C7-9F0A-1FD81C083B75}" type="slidenum">
              <a:rPr lang="en-US" sz="1000"/>
              <a:pPr algn="r" defTabSz="852488"/>
              <a:t>25</a:t>
            </a:fld>
            <a:endParaRPr lang="en-US" sz="1000"/>
          </a:p>
        </p:txBody>
      </p:sp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Measures of Variation:</a:t>
            </a:r>
            <a:br>
              <a:rPr lang="en-US" sz="3600" smtClean="0"/>
            </a:br>
            <a:r>
              <a:rPr lang="en-US" sz="3600" smtClean="0"/>
              <a:t>The Coefficient of Variation</a:t>
            </a:r>
          </a:p>
        </p:txBody>
      </p:sp>
      <p:sp>
        <p:nvSpPr>
          <p:cNvPr id="122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2819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Measures </a:t>
            </a:r>
            <a:r>
              <a:rPr lang="en-US" smtClean="0">
                <a:solidFill>
                  <a:schemeClr val="folHlink"/>
                </a:solidFill>
              </a:rPr>
              <a:t>relative variation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Always in percentage (%)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Shows </a:t>
            </a:r>
            <a:r>
              <a:rPr lang="en-US" smtClean="0">
                <a:solidFill>
                  <a:schemeClr val="folHlink"/>
                </a:solidFill>
              </a:rPr>
              <a:t>variation relative to mean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Can be used to compare the variability of two or more sets of data measured in different units </a:t>
            </a:r>
          </a:p>
        </p:txBody>
      </p:sp>
      <p:graphicFrame>
        <p:nvGraphicFramePr>
          <p:cNvPr id="1229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286000" y="4800600"/>
          <a:ext cx="4191000" cy="1447800"/>
        </p:xfrm>
        <a:graphic>
          <a:graphicData uri="http://schemas.openxmlformats.org/presentationml/2006/ole">
            <p:oleObj spid="_x0000_s12290" name="Equation" r:id="rId3" imgW="1155600" imgH="482400" progId="Equation.3">
              <p:embed/>
            </p:oleObj>
          </a:graphicData>
        </a:graphic>
      </p:graphicFrame>
      <p:sp>
        <p:nvSpPr>
          <p:cNvPr id="12296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0190C1F-D17B-4C8F-91B7-199D49B388BE}" type="slidenum">
              <a:rPr lang="en-US" smtClean="0">
                <a:latin typeface="Arial" charset="0"/>
              </a:rPr>
              <a:pPr/>
              <a:t>26</a:t>
            </a:fld>
            <a:endParaRPr lang="en-US" smtClean="0">
              <a:latin typeface="Arial" charset="0"/>
            </a:endParaRPr>
          </a:p>
        </p:txBody>
      </p:sp>
      <p:sp>
        <p:nvSpPr>
          <p:cNvPr id="13317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31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8749CCD-E6BF-4F1C-8256-A830A4F25FBF}" type="slidenum">
              <a:rPr lang="en-US" sz="1000"/>
              <a:pPr algn="r" defTabSz="852488"/>
              <a:t>26</a:t>
            </a:fld>
            <a:endParaRPr lang="en-US" sz="1000"/>
          </a:p>
        </p:txBody>
      </p:sp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106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Measures of Variation:</a:t>
            </a:r>
            <a:br>
              <a:rPr lang="en-US" sz="3600" smtClean="0"/>
            </a:br>
            <a:r>
              <a:rPr lang="en-US" sz="3600" smtClean="0"/>
              <a:t>Comparing Coefficients of Variation</a:t>
            </a:r>
          </a:p>
        </p:txBody>
      </p:sp>
      <p:sp>
        <p:nvSpPr>
          <p:cNvPr id="133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532313"/>
          </a:xfrm>
        </p:spPr>
        <p:txBody>
          <a:bodyPr/>
          <a:lstStyle/>
          <a:p>
            <a:pPr eaLnBrk="1" hangingPunct="1"/>
            <a:r>
              <a:rPr lang="en-US" sz="2300" smtClean="0">
                <a:solidFill>
                  <a:schemeClr val="folHlink"/>
                </a:solidFill>
              </a:rPr>
              <a:t>Stock A:</a:t>
            </a:r>
          </a:p>
          <a:p>
            <a:pPr lvl="1" eaLnBrk="1" hangingPunct="1"/>
            <a:r>
              <a:rPr lang="en-US" sz="2300" smtClean="0"/>
              <a:t>Average price last year = $50</a:t>
            </a:r>
          </a:p>
          <a:p>
            <a:pPr lvl="1" eaLnBrk="1" hangingPunct="1"/>
            <a:r>
              <a:rPr lang="en-US" sz="2300" smtClean="0"/>
              <a:t>Standard deviation = $5</a:t>
            </a:r>
          </a:p>
          <a:p>
            <a:pPr eaLnBrk="1" hangingPunct="1"/>
            <a:endParaRPr lang="en-US" sz="2300" smtClean="0"/>
          </a:p>
          <a:p>
            <a:pPr eaLnBrk="1" hangingPunct="1"/>
            <a:endParaRPr lang="en-US" sz="2300" smtClean="0"/>
          </a:p>
          <a:p>
            <a:pPr eaLnBrk="1" hangingPunct="1">
              <a:lnSpc>
                <a:spcPct val="150000"/>
              </a:lnSpc>
            </a:pPr>
            <a:r>
              <a:rPr lang="en-US" sz="2300" smtClean="0">
                <a:solidFill>
                  <a:schemeClr val="folHlink"/>
                </a:solidFill>
              </a:rPr>
              <a:t>Stock B:</a:t>
            </a:r>
          </a:p>
          <a:p>
            <a:pPr lvl="1" eaLnBrk="1" hangingPunct="1"/>
            <a:r>
              <a:rPr lang="en-US" sz="2300" smtClean="0"/>
              <a:t>Average price last year = $100</a:t>
            </a:r>
          </a:p>
          <a:p>
            <a:pPr lvl="1" eaLnBrk="1" hangingPunct="1"/>
            <a:r>
              <a:rPr lang="en-US" sz="2300" smtClean="0"/>
              <a:t>Standard deviation = $5</a:t>
            </a:r>
          </a:p>
        </p:txBody>
      </p:sp>
      <p:sp>
        <p:nvSpPr>
          <p:cNvPr id="13321" name="Text Box 4"/>
          <p:cNvSpPr txBox="1">
            <a:spLocks noChangeArrowheads="1"/>
          </p:cNvSpPr>
          <p:nvPr/>
        </p:nvSpPr>
        <p:spPr bwMode="auto">
          <a:xfrm>
            <a:off x="7162800" y="3505200"/>
            <a:ext cx="1828800" cy="2024063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Both stocks have the same standard deviation, but stock B is less variable relative to its price</a:t>
            </a:r>
          </a:p>
        </p:txBody>
      </p:sp>
      <p:sp>
        <p:nvSpPr>
          <p:cNvPr id="13322" name="Oval 5"/>
          <p:cNvSpPr>
            <a:spLocks noChangeArrowheads="1"/>
          </p:cNvSpPr>
          <p:nvPr/>
        </p:nvSpPr>
        <p:spPr bwMode="auto">
          <a:xfrm>
            <a:off x="6248400" y="3048000"/>
            <a:ext cx="762000" cy="7620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23" name="Oval 6"/>
          <p:cNvSpPr>
            <a:spLocks noChangeArrowheads="1"/>
          </p:cNvSpPr>
          <p:nvPr/>
        </p:nvSpPr>
        <p:spPr bwMode="auto">
          <a:xfrm>
            <a:off x="6324600" y="5410200"/>
            <a:ext cx="762000" cy="7620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3314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27200" y="2895600"/>
          <a:ext cx="5310188" cy="1066800"/>
        </p:xfrm>
        <a:graphic>
          <a:graphicData uri="http://schemas.openxmlformats.org/presentationml/2006/ole">
            <p:oleObj spid="_x0000_s13314" name="Equation" r:id="rId3" imgW="2577960" imgH="482400" progId="Equation.3">
              <p:embed/>
            </p:oleObj>
          </a:graphicData>
        </a:graphic>
      </p:graphicFrame>
      <p:graphicFrame>
        <p:nvGraphicFramePr>
          <p:cNvPr id="13315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27200" y="5257800"/>
          <a:ext cx="5310188" cy="1066800"/>
        </p:xfrm>
        <a:graphic>
          <a:graphicData uri="http://schemas.openxmlformats.org/presentationml/2006/ole">
            <p:oleObj spid="_x0000_s13315" name="Equation" r:id="rId4" imgW="2577960" imgH="482400" progId="Equation.3">
              <p:embed/>
            </p:oleObj>
          </a:graphicData>
        </a:graphic>
      </p:graphicFrame>
      <p:sp>
        <p:nvSpPr>
          <p:cNvPr id="13324" name="TextBox 11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EDA7346C-0A27-4758-BEA5-7F9492B5C713}" type="slidenum">
              <a:rPr lang="en-US" smtClean="0">
                <a:latin typeface="Arial" charset="0"/>
              </a:rPr>
              <a:pPr/>
              <a:t>27</a:t>
            </a:fld>
            <a:endParaRPr lang="en-US" smtClean="0">
              <a:latin typeface="Arial" charset="0"/>
            </a:endParaRPr>
          </a:p>
        </p:txBody>
      </p:sp>
      <p:sp>
        <p:nvSpPr>
          <p:cNvPr id="87045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704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8277B246-CB6C-4512-BA1D-AD576B79999A}" type="slidenum">
              <a:rPr lang="en-US" sz="1000"/>
              <a:pPr algn="r" defTabSz="852488"/>
              <a:t>27</a:t>
            </a:fld>
            <a:endParaRPr lang="en-US" sz="1000"/>
          </a:p>
        </p:txBody>
      </p:sp>
      <p:sp>
        <p:nvSpPr>
          <p:cNvPr id="8704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106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Measures of Variation:</a:t>
            </a:r>
            <a:br>
              <a:rPr lang="en-US" sz="3600" smtClean="0"/>
            </a:br>
            <a:r>
              <a:rPr lang="en-US" sz="3600" smtClean="0"/>
              <a:t>Comparing Coefficients of Variation</a:t>
            </a:r>
          </a:p>
        </p:txBody>
      </p:sp>
      <p:sp>
        <p:nvSpPr>
          <p:cNvPr id="870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532313"/>
          </a:xfrm>
        </p:spPr>
        <p:txBody>
          <a:bodyPr/>
          <a:lstStyle/>
          <a:p>
            <a:pPr eaLnBrk="1" hangingPunct="1"/>
            <a:r>
              <a:rPr lang="en-US" sz="2300" smtClean="0">
                <a:solidFill>
                  <a:schemeClr val="folHlink"/>
                </a:solidFill>
              </a:rPr>
              <a:t>Stock A:</a:t>
            </a:r>
          </a:p>
          <a:p>
            <a:pPr lvl="1" eaLnBrk="1" hangingPunct="1"/>
            <a:r>
              <a:rPr lang="en-US" sz="2300" smtClean="0"/>
              <a:t>Average price last year = $50</a:t>
            </a:r>
          </a:p>
          <a:p>
            <a:pPr lvl="1" eaLnBrk="1" hangingPunct="1"/>
            <a:r>
              <a:rPr lang="en-US" sz="2300" smtClean="0"/>
              <a:t>Standard deviation = $5</a:t>
            </a:r>
          </a:p>
          <a:p>
            <a:pPr eaLnBrk="1" hangingPunct="1"/>
            <a:endParaRPr lang="en-US" sz="2300" smtClean="0"/>
          </a:p>
          <a:p>
            <a:pPr eaLnBrk="1" hangingPunct="1"/>
            <a:endParaRPr lang="en-US" sz="2300" smtClean="0"/>
          </a:p>
          <a:p>
            <a:pPr eaLnBrk="1" hangingPunct="1">
              <a:lnSpc>
                <a:spcPct val="150000"/>
              </a:lnSpc>
            </a:pPr>
            <a:r>
              <a:rPr lang="en-US" sz="2300" smtClean="0">
                <a:solidFill>
                  <a:schemeClr val="folHlink"/>
                </a:solidFill>
              </a:rPr>
              <a:t>Stock C:</a:t>
            </a:r>
          </a:p>
          <a:p>
            <a:pPr lvl="1" eaLnBrk="1" hangingPunct="1"/>
            <a:r>
              <a:rPr lang="en-US" sz="2300" smtClean="0"/>
              <a:t>Average price last year = $8</a:t>
            </a:r>
          </a:p>
          <a:p>
            <a:pPr lvl="1" eaLnBrk="1" hangingPunct="1"/>
            <a:r>
              <a:rPr lang="en-US" sz="2300" smtClean="0"/>
              <a:t>Standard deviation = $2</a:t>
            </a:r>
          </a:p>
        </p:txBody>
      </p:sp>
      <p:sp>
        <p:nvSpPr>
          <p:cNvPr id="87049" name="Text Box 4"/>
          <p:cNvSpPr txBox="1">
            <a:spLocks noChangeArrowheads="1"/>
          </p:cNvSpPr>
          <p:nvPr/>
        </p:nvSpPr>
        <p:spPr bwMode="auto">
          <a:xfrm>
            <a:off x="7162800" y="3505200"/>
            <a:ext cx="1828800" cy="20320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Stock C has a much smaller standard deviation but a much higher coefficient of variation</a:t>
            </a:r>
          </a:p>
        </p:txBody>
      </p:sp>
      <p:sp>
        <p:nvSpPr>
          <p:cNvPr id="87050" name="Oval 5"/>
          <p:cNvSpPr>
            <a:spLocks noChangeArrowheads="1"/>
          </p:cNvSpPr>
          <p:nvPr/>
        </p:nvSpPr>
        <p:spPr bwMode="auto">
          <a:xfrm>
            <a:off x="6248400" y="3048000"/>
            <a:ext cx="762000" cy="7620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7051" name="Oval 6"/>
          <p:cNvSpPr>
            <a:spLocks noChangeArrowheads="1"/>
          </p:cNvSpPr>
          <p:nvPr/>
        </p:nvSpPr>
        <p:spPr bwMode="auto">
          <a:xfrm>
            <a:off x="6096000" y="5410200"/>
            <a:ext cx="762000" cy="7620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87042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27200" y="2895600"/>
          <a:ext cx="5310188" cy="1066800"/>
        </p:xfrm>
        <a:graphic>
          <a:graphicData uri="http://schemas.openxmlformats.org/presentationml/2006/ole">
            <p:oleObj spid="_x0000_s87042" name="Equation" r:id="rId3" imgW="2577960" imgH="482400" progId="Equation.3">
              <p:embed/>
            </p:oleObj>
          </a:graphicData>
        </a:graphic>
      </p:graphicFrame>
      <p:graphicFrame>
        <p:nvGraphicFramePr>
          <p:cNvPr id="87043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1924050" y="5257800"/>
          <a:ext cx="4916488" cy="1066800"/>
        </p:xfrm>
        <a:graphic>
          <a:graphicData uri="http://schemas.openxmlformats.org/presentationml/2006/ole">
            <p:oleObj spid="_x0000_s87043" name="Equation" r:id="rId4" imgW="2387520" imgH="482400" progId="Equation.3">
              <p:embed/>
            </p:oleObj>
          </a:graphicData>
        </a:graphic>
      </p:graphicFrame>
      <p:sp>
        <p:nvSpPr>
          <p:cNvPr id="87052" name="TextBox 11"/>
          <p:cNvSpPr txBox="1">
            <a:spLocks noChangeArrowheads="1"/>
          </p:cNvSpPr>
          <p:nvPr/>
        </p:nvSpPr>
        <p:spPr bwMode="auto">
          <a:xfrm>
            <a:off x="7620000" y="1752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7053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E0C276B-49D8-4F41-AA61-B0F72F81F9AF}" type="slidenum">
              <a:rPr lang="en-US" smtClean="0">
                <a:latin typeface="Arial" charset="0"/>
              </a:rPr>
              <a:pPr/>
              <a:t>28</a:t>
            </a:fld>
            <a:endParaRPr lang="en-US" smtClean="0">
              <a:latin typeface="Arial" charset="0"/>
            </a:endParaRPr>
          </a:p>
        </p:txBody>
      </p:sp>
      <p:sp>
        <p:nvSpPr>
          <p:cNvPr id="8806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80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C2842628-352C-405B-9DA6-51464DD2B8B1}" type="slidenum">
              <a:rPr lang="en-US" sz="1000"/>
              <a:pPr algn="r" defTabSz="852488"/>
              <a:t>28</a:t>
            </a:fld>
            <a:endParaRPr lang="en-US" sz="1000"/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Locating Extreme Outliers:</a:t>
            </a:r>
            <a:br>
              <a:rPr lang="en-US" smtClean="0"/>
            </a:br>
            <a:r>
              <a:rPr lang="en-US" smtClean="0"/>
              <a:t>Z-Score</a:t>
            </a:r>
          </a:p>
        </p:txBody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981200"/>
            <a:ext cx="70104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To compute the Z</a:t>
            </a:r>
            <a:r>
              <a:rPr lang="en-US" sz="2400" b="1" smtClean="0">
                <a:latin typeface="Times New Roman" pitchFamily="18" charset="0"/>
              </a:rPr>
              <a:t>-score</a:t>
            </a:r>
            <a:r>
              <a:rPr lang="en-US" sz="2400" smtClean="0">
                <a:latin typeface="Times New Roman" pitchFamily="18" charset="0"/>
              </a:rPr>
              <a:t> of a data value, subtract the mean and divide by the standard deviation.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Z-score is the number of standard deviations a data value is from the mean.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data value is considered an extreme outlier if its Z-score is less than -3.0 or greater than +3.0.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The larger the absolute value of the Z-score, the farther the data value is from the mean.</a:t>
            </a:r>
          </a:p>
        </p:txBody>
      </p:sp>
      <p:sp>
        <p:nvSpPr>
          <p:cNvPr id="88070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F91637BD-82D1-49C2-90AE-2E0E1F92AFE0}" type="slidenum">
              <a:rPr lang="en-US" smtClean="0">
                <a:latin typeface="Arial" charset="0"/>
              </a:rPr>
              <a:pPr/>
              <a:t>29</a:t>
            </a:fld>
            <a:endParaRPr lang="en-US" smtClean="0">
              <a:latin typeface="Arial" charset="0"/>
            </a:endParaRPr>
          </a:p>
        </p:txBody>
      </p:sp>
      <p:sp>
        <p:nvSpPr>
          <p:cNvPr id="1434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34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E6B8AC75-1CF5-447C-BB28-A0E57F02CB74}" type="slidenum">
              <a:rPr lang="en-US" sz="1000"/>
              <a:pPr algn="r" defTabSz="852488"/>
              <a:t>29</a:t>
            </a:fld>
            <a:endParaRPr lang="en-US" sz="1000"/>
          </a:p>
        </p:txBody>
      </p:sp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Locating Extreme Outliers:</a:t>
            </a:r>
            <a:br>
              <a:rPr lang="en-US" smtClean="0"/>
            </a:br>
            <a:r>
              <a:rPr lang="en-US" smtClean="0"/>
              <a:t>Z-Score</a:t>
            </a:r>
          </a:p>
        </p:txBody>
      </p:sp>
      <p:sp>
        <p:nvSpPr>
          <p:cNvPr id="143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424238"/>
            <a:ext cx="8077200" cy="2936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where X represents the data value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	  X is the sample mean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	  S is the sample standard deviation</a:t>
            </a:r>
          </a:p>
        </p:txBody>
      </p:sp>
      <p:sp>
        <p:nvSpPr>
          <p:cNvPr id="14344" name="Rectangle 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3733800" y="1905000"/>
          <a:ext cx="1905000" cy="1060450"/>
        </p:xfrm>
        <a:graphic>
          <a:graphicData uri="http://schemas.openxmlformats.org/presentationml/2006/ole">
            <p:oleObj spid="_x0000_s14338" name="Equation" r:id="rId3" imgW="749300" imgH="419100" progId="Equation.3">
              <p:embed/>
            </p:oleObj>
          </a:graphicData>
        </a:graphic>
      </p:graphicFrame>
      <p:sp>
        <p:nvSpPr>
          <p:cNvPr id="14345" name="Line 6"/>
          <p:cNvSpPr>
            <a:spLocks noChangeShapeType="1"/>
          </p:cNvSpPr>
          <p:nvPr/>
        </p:nvSpPr>
        <p:spPr bwMode="auto">
          <a:xfrm>
            <a:off x="1752600" y="4038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6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9F0AB09-B16C-4D5A-9877-DD9FA392F9C5}" type="slidenum">
              <a:rPr lang="en-US" smtClean="0">
                <a:latin typeface="Arial" charset="0"/>
              </a:rPr>
              <a:pPr/>
              <a:t>30</a:t>
            </a:fld>
            <a:endParaRPr lang="en-US" smtClean="0">
              <a:latin typeface="Arial" charset="0"/>
            </a:endParaRPr>
          </a:p>
        </p:txBody>
      </p:sp>
      <p:sp>
        <p:nvSpPr>
          <p:cNvPr id="1536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536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8B01026-1EE8-4948-B81E-B9B96BDF3E60}" type="slidenum">
              <a:rPr lang="en-US" sz="1000"/>
              <a:pPr algn="r" defTabSz="852488"/>
              <a:t>30</a:t>
            </a:fld>
            <a:endParaRPr lang="en-US" sz="1000"/>
          </a:p>
        </p:txBody>
      </p:sp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Locating Extreme Outliers:</a:t>
            </a:r>
            <a:br>
              <a:rPr lang="en-US" smtClean="0"/>
            </a:br>
            <a:r>
              <a:rPr lang="en-US" smtClean="0"/>
              <a:t>Z-Score</a:t>
            </a:r>
          </a:p>
        </p:txBody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1846263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Suppose the mean math SAT score is 490, with a standard deviation of 100.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Compute the Z-score for a test score of 620.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1752600" y="3733800"/>
          <a:ext cx="4800600" cy="890588"/>
        </p:xfrm>
        <a:graphic>
          <a:graphicData uri="http://schemas.openxmlformats.org/presentationml/2006/ole">
            <p:oleObj spid="_x0000_s15362" name="Equation" r:id="rId3" imgW="2260600" imgH="419100" progId="Equation.3">
              <p:embed/>
            </p:oleObj>
          </a:graphicData>
        </a:graphic>
      </p:graphicFrame>
      <p:sp>
        <p:nvSpPr>
          <p:cNvPr id="15369" name="Text Box 6"/>
          <p:cNvSpPr txBox="1">
            <a:spLocks noChangeArrowheads="1"/>
          </p:cNvSpPr>
          <p:nvPr/>
        </p:nvSpPr>
        <p:spPr bwMode="auto">
          <a:xfrm>
            <a:off x="1219200" y="5181600"/>
            <a:ext cx="6858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SzPct val="85000"/>
              <a:buFont typeface="Wingdings" pitchFamily="2" charset="2"/>
              <a:buNone/>
            </a:pPr>
            <a:r>
              <a:rPr lang="en-US">
                <a:latin typeface="Times New Roman" pitchFamily="18" charset="0"/>
              </a:rPr>
              <a:t>A score of 620 is 1.3 standard deviations above the mean and would not be considered an outlier.</a:t>
            </a:r>
          </a:p>
        </p:txBody>
      </p:sp>
      <p:sp>
        <p:nvSpPr>
          <p:cNvPr id="15370" name="Line 7"/>
          <p:cNvSpPr>
            <a:spLocks noChangeShapeType="1"/>
          </p:cNvSpPr>
          <p:nvPr/>
        </p:nvSpPr>
        <p:spPr bwMode="auto">
          <a:xfrm flipH="1">
            <a:off x="3886200" y="4419600"/>
            <a:ext cx="2438400" cy="8382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371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1683D66-5B62-4541-B4DA-3F2DB3072477}" type="slidenum">
              <a:rPr lang="en-US" smtClean="0">
                <a:latin typeface="Arial" charset="0"/>
              </a:rPr>
              <a:pPr/>
              <a:t>31</a:t>
            </a:fld>
            <a:endParaRPr lang="en-US" smtClean="0">
              <a:latin typeface="Arial" charset="0"/>
            </a:endParaRPr>
          </a:p>
        </p:txBody>
      </p:sp>
      <p:sp>
        <p:nvSpPr>
          <p:cNvPr id="931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31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CD794AD-0CF7-4547-815A-DCE208564AC5}" type="slidenum">
              <a:rPr lang="en-US" sz="1000"/>
              <a:pPr algn="r" defTabSz="852488"/>
              <a:t>31</a:t>
            </a:fld>
            <a:endParaRPr lang="en-US" sz="1000"/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Shape of a Distribution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3200" smtClean="0"/>
              <a:t>Describes how data are distributed</a:t>
            </a:r>
          </a:p>
          <a:p>
            <a:pPr eaLnBrk="1" hangingPunct="1">
              <a:lnSpc>
                <a:spcPct val="110000"/>
              </a:lnSpc>
            </a:pPr>
            <a:r>
              <a:rPr lang="en-US" sz="3200" smtClean="0"/>
              <a:t>Two useful shape related statistics are: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800" smtClean="0"/>
              <a:t>Skewness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400" smtClean="0"/>
              <a:t>Measures the amount of asymmetry in a distribution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800" smtClean="0"/>
              <a:t>Kurtosis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400" smtClean="0"/>
              <a:t>Measures the relative concentration of values in the center of a distribution as compared with the tails</a:t>
            </a:r>
          </a:p>
        </p:txBody>
      </p:sp>
      <p:sp>
        <p:nvSpPr>
          <p:cNvPr id="93190" name="TextBox 3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CEA6F5C-C4C4-41E2-8736-5F09A2D0E7CC}" type="slidenum">
              <a:rPr lang="en-US" smtClean="0">
                <a:latin typeface="Arial" charset="0"/>
              </a:rPr>
              <a:pPr/>
              <a:t>32</a:t>
            </a:fld>
            <a:endParaRPr lang="en-US" smtClean="0">
              <a:latin typeface="Arial" charset="0"/>
            </a:endParaRPr>
          </a:p>
        </p:txBody>
      </p:sp>
      <p:sp>
        <p:nvSpPr>
          <p:cNvPr id="9421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421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C8978D7D-8DAE-422C-BC38-9E799CDB1878}" type="slidenum">
              <a:rPr lang="en-US" sz="1000"/>
              <a:pPr algn="r" defTabSz="852488"/>
              <a:t>32</a:t>
            </a:fld>
            <a:endParaRPr lang="en-US" sz="1000"/>
          </a:p>
        </p:txBody>
      </p:sp>
      <p:sp>
        <p:nvSpPr>
          <p:cNvPr id="94212" name="Rectangle 45"/>
          <p:cNvSpPr>
            <a:spLocks noChangeArrowheads="1"/>
          </p:cNvSpPr>
          <p:nvPr/>
        </p:nvSpPr>
        <p:spPr bwMode="auto">
          <a:xfrm>
            <a:off x="6096000" y="28956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13" name="Rectangle 46"/>
          <p:cNvSpPr>
            <a:spLocks noChangeArrowheads="1"/>
          </p:cNvSpPr>
          <p:nvPr/>
        </p:nvSpPr>
        <p:spPr bwMode="auto">
          <a:xfrm>
            <a:off x="152400" y="28956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14" name="Rectangle 44"/>
          <p:cNvSpPr>
            <a:spLocks noChangeArrowheads="1"/>
          </p:cNvSpPr>
          <p:nvPr/>
        </p:nvSpPr>
        <p:spPr bwMode="auto">
          <a:xfrm>
            <a:off x="3124200" y="28956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Shape of a Distribution (Skewness)</a:t>
            </a:r>
          </a:p>
        </p:txBody>
      </p:sp>
      <p:sp>
        <p:nvSpPr>
          <p:cNvPr id="942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458200" cy="990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Describes the amount of asymmetry in distribution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Symmetric or skewed</a:t>
            </a:r>
          </a:p>
        </p:txBody>
      </p:sp>
      <p:sp>
        <p:nvSpPr>
          <p:cNvPr id="94217" name="Freeform 4"/>
          <p:cNvSpPr>
            <a:spLocks/>
          </p:cNvSpPr>
          <p:nvPr/>
        </p:nvSpPr>
        <p:spPr bwMode="auto">
          <a:xfrm>
            <a:off x="2090738" y="3981450"/>
            <a:ext cx="452437" cy="1071563"/>
          </a:xfrm>
          <a:custGeom>
            <a:avLst/>
            <a:gdLst>
              <a:gd name="T0" fmla="*/ 2147483647 w 285"/>
              <a:gd name="T1" fmla="*/ 2147483647 h 675"/>
              <a:gd name="T2" fmla="*/ 2147483647 w 285"/>
              <a:gd name="T3" fmla="*/ 2147483647 h 675"/>
              <a:gd name="T4" fmla="*/ 2147483647 w 285"/>
              <a:gd name="T5" fmla="*/ 2147483647 h 675"/>
              <a:gd name="T6" fmla="*/ 2147483647 w 285"/>
              <a:gd name="T7" fmla="*/ 2147483647 h 675"/>
              <a:gd name="T8" fmla="*/ 2147483647 w 285"/>
              <a:gd name="T9" fmla="*/ 2147483647 h 675"/>
              <a:gd name="T10" fmla="*/ 2147483647 w 285"/>
              <a:gd name="T11" fmla="*/ 2147483647 h 675"/>
              <a:gd name="T12" fmla="*/ 2147483647 w 285"/>
              <a:gd name="T13" fmla="*/ 2147483647 h 675"/>
              <a:gd name="T14" fmla="*/ 2147483647 w 285"/>
              <a:gd name="T15" fmla="*/ 2147483647 h 675"/>
              <a:gd name="T16" fmla="*/ 2147483647 w 285"/>
              <a:gd name="T17" fmla="*/ 2147483647 h 675"/>
              <a:gd name="T18" fmla="*/ 2147483647 w 285"/>
              <a:gd name="T19" fmla="*/ 2147483647 h 675"/>
              <a:gd name="T20" fmla="*/ 2147483647 w 285"/>
              <a:gd name="T21" fmla="*/ 2147483647 h 675"/>
              <a:gd name="T22" fmla="*/ 2147483647 w 285"/>
              <a:gd name="T23" fmla="*/ 2147483647 h 675"/>
              <a:gd name="T24" fmla="*/ 2147483647 w 285"/>
              <a:gd name="T25" fmla="*/ 2147483647 h 675"/>
              <a:gd name="T26" fmla="*/ 2147483647 w 285"/>
              <a:gd name="T27" fmla="*/ 2147483647 h 675"/>
              <a:gd name="T28" fmla="*/ 2147483647 w 285"/>
              <a:gd name="T29" fmla="*/ 2147483647 h 675"/>
              <a:gd name="T30" fmla="*/ 0 w 285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675"/>
              <a:gd name="T50" fmla="*/ 285 w 285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675">
                <a:moveTo>
                  <a:pt x="284" y="674"/>
                </a:moveTo>
                <a:lnTo>
                  <a:pt x="254" y="667"/>
                </a:lnTo>
                <a:lnTo>
                  <a:pt x="239" y="659"/>
                </a:lnTo>
                <a:lnTo>
                  <a:pt x="225" y="648"/>
                </a:lnTo>
                <a:lnTo>
                  <a:pt x="210" y="633"/>
                </a:lnTo>
                <a:lnTo>
                  <a:pt x="195" y="612"/>
                </a:lnTo>
                <a:lnTo>
                  <a:pt x="180" y="583"/>
                </a:lnTo>
                <a:lnTo>
                  <a:pt x="150" y="506"/>
                </a:lnTo>
                <a:lnTo>
                  <a:pt x="119" y="396"/>
                </a:lnTo>
                <a:lnTo>
                  <a:pt x="91" y="263"/>
                </a:lnTo>
                <a:lnTo>
                  <a:pt x="76" y="197"/>
                </a:lnTo>
                <a:lnTo>
                  <a:pt x="61" y="133"/>
                </a:lnTo>
                <a:lnTo>
                  <a:pt x="45" y="78"/>
                </a:lnTo>
                <a:lnTo>
                  <a:pt x="30" y="36"/>
                </a:lnTo>
                <a:lnTo>
                  <a:pt x="15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18" name="Freeform 5"/>
          <p:cNvSpPr>
            <a:spLocks/>
          </p:cNvSpPr>
          <p:nvPr/>
        </p:nvSpPr>
        <p:spPr bwMode="auto">
          <a:xfrm>
            <a:off x="738188" y="3981450"/>
            <a:ext cx="1354137" cy="1071563"/>
          </a:xfrm>
          <a:custGeom>
            <a:avLst/>
            <a:gdLst>
              <a:gd name="T0" fmla="*/ 0 w 853"/>
              <a:gd name="T1" fmla="*/ 2147483647 h 675"/>
              <a:gd name="T2" fmla="*/ 2147483647 w 853"/>
              <a:gd name="T3" fmla="*/ 2147483647 h 675"/>
              <a:gd name="T4" fmla="*/ 2147483647 w 853"/>
              <a:gd name="T5" fmla="*/ 2147483647 h 675"/>
              <a:gd name="T6" fmla="*/ 2147483647 w 853"/>
              <a:gd name="T7" fmla="*/ 2147483647 h 675"/>
              <a:gd name="T8" fmla="*/ 2147483647 w 853"/>
              <a:gd name="T9" fmla="*/ 2147483647 h 675"/>
              <a:gd name="T10" fmla="*/ 2147483647 w 853"/>
              <a:gd name="T11" fmla="*/ 2147483647 h 675"/>
              <a:gd name="T12" fmla="*/ 2147483647 w 853"/>
              <a:gd name="T13" fmla="*/ 2147483647 h 675"/>
              <a:gd name="T14" fmla="*/ 2147483647 w 853"/>
              <a:gd name="T15" fmla="*/ 2147483647 h 675"/>
              <a:gd name="T16" fmla="*/ 2147483647 w 853"/>
              <a:gd name="T17" fmla="*/ 2147483647 h 675"/>
              <a:gd name="T18" fmla="*/ 2147483647 w 853"/>
              <a:gd name="T19" fmla="*/ 2147483647 h 675"/>
              <a:gd name="T20" fmla="*/ 2147483647 w 853"/>
              <a:gd name="T21" fmla="*/ 2147483647 h 675"/>
              <a:gd name="T22" fmla="*/ 2147483647 w 853"/>
              <a:gd name="T23" fmla="*/ 2147483647 h 675"/>
              <a:gd name="T24" fmla="*/ 2147483647 w 853"/>
              <a:gd name="T25" fmla="*/ 2147483647 h 675"/>
              <a:gd name="T26" fmla="*/ 2147483647 w 853"/>
              <a:gd name="T27" fmla="*/ 2147483647 h 675"/>
              <a:gd name="T28" fmla="*/ 2147483647 w 853"/>
              <a:gd name="T29" fmla="*/ 2147483647 h 675"/>
              <a:gd name="T30" fmla="*/ 2147483647 w 853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53"/>
              <a:gd name="T49" fmla="*/ 0 h 675"/>
              <a:gd name="T50" fmla="*/ 853 w 853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53" h="675">
                <a:moveTo>
                  <a:pt x="0" y="674"/>
                </a:moveTo>
                <a:lnTo>
                  <a:pt x="90" y="667"/>
                </a:lnTo>
                <a:lnTo>
                  <a:pt x="134" y="659"/>
                </a:lnTo>
                <a:lnTo>
                  <a:pt x="179" y="648"/>
                </a:lnTo>
                <a:lnTo>
                  <a:pt x="225" y="633"/>
                </a:lnTo>
                <a:lnTo>
                  <a:pt x="269" y="612"/>
                </a:lnTo>
                <a:lnTo>
                  <a:pt x="314" y="583"/>
                </a:lnTo>
                <a:lnTo>
                  <a:pt x="403" y="506"/>
                </a:lnTo>
                <a:lnTo>
                  <a:pt x="494" y="396"/>
                </a:lnTo>
                <a:lnTo>
                  <a:pt x="583" y="263"/>
                </a:lnTo>
                <a:lnTo>
                  <a:pt x="628" y="197"/>
                </a:lnTo>
                <a:lnTo>
                  <a:pt x="674" y="133"/>
                </a:lnTo>
                <a:lnTo>
                  <a:pt x="717" y="78"/>
                </a:lnTo>
                <a:lnTo>
                  <a:pt x="763" y="36"/>
                </a:lnTo>
                <a:lnTo>
                  <a:pt x="808" y="10"/>
                </a:lnTo>
                <a:lnTo>
                  <a:pt x="852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19" name="Freeform 6"/>
          <p:cNvSpPr>
            <a:spLocks/>
          </p:cNvSpPr>
          <p:nvPr/>
        </p:nvSpPr>
        <p:spPr bwMode="auto">
          <a:xfrm>
            <a:off x="4559300" y="3981450"/>
            <a:ext cx="904875" cy="1071563"/>
          </a:xfrm>
          <a:custGeom>
            <a:avLst/>
            <a:gdLst>
              <a:gd name="T0" fmla="*/ 2147483647 w 570"/>
              <a:gd name="T1" fmla="*/ 2147483647 h 675"/>
              <a:gd name="T2" fmla="*/ 2147483647 w 570"/>
              <a:gd name="T3" fmla="*/ 2147483647 h 675"/>
              <a:gd name="T4" fmla="*/ 2147483647 w 570"/>
              <a:gd name="T5" fmla="*/ 2147483647 h 675"/>
              <a:gd name="T6" fmla="*/ 2147483647 w 570"/>
              <a:gd name="T7" fmla="*/ 2147483647 h 675"/>
              <a:gd name="T8" fmla="*/ 2147483647 w 570"/>
              <a:gd name="T9" fmla="*/ 2147483647 h 675"/>
              <a:gd name="T10" fmla="*/ 2147483647 w 570"/>
              <a:gd name="T11" fmla="*/ 2147483647 h 675"/>
              <a:gd name="T12" fmla="*/ 2147483647 w 570"/>
              <a:gd name="T13" fmla="*/ 2147483647 h 675"/>
              <a:gd name="T14" fmla="*/ 2147483647 w 570"/>
              <a:gd name="T15" fmla="*/ 2147483647 h 675"/>
              <a:gd name="T16" fmla="*/ 2147483647 w 570"/>
              <a:gd name="T17" fmla="*/ 2147483647 h 675"/>
              <a:gd name="T18" fmla="*/ 2147483647 w 570"/>
              <a:gd name="T19" fmla="*/ 2147483647 h 675"/>
              <a:gd name="T20" fmla="*/ 2147483647 w 570"/>
              <a:gd name="T21" fmla="*/ 2147483647 h 675"/>
              <a:gd name="T22" fmla="*/ 2147483647 w 570"/>
              <a:gd name="T23" fmla="*/ 2147483647 h 675"/>
              <a:gd name="T24" fmla="*/ 2147483647 w 570"/>
              <a:gd name="T25" fmla="*/ 2147483647 h 675"/>
              <a:gd name="T26" fmla="*/ 2147483647 w 570"/>
              <a:gd name="T27" fmla="*/ 2147483647 h 675"/>
              <a:gd name="T28" fmla="*/ 2147483647 w 570"/>
              <a:gd name="T29" fmla="*/ 2147483647 h 675"/>
              <a:gd name="T30" fmla="*/ 0 w 570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70"/>
              <a:gd name="T49" fmla="*/ 0 h 675"/>
              <a:gd name="T50" fmla="*/ 570 w 570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70" h="675">
                <a:moveTo>
                  <a:pt x="569" y="674"/>
                </a:moveTo>
                <a:lnTo>
                  <a:pt x="508" y="667"/>
                </a:lnTo>
                <a:lnTo>
                  <a:pt x="478" y="659"/>
                </a:lnTo>
                <a:lnTo>
                  <a:pt x="449" y="648"/>
                </a:lnTo>
                <a:lnTo>
                  <a:pt x="419" y="633"/>
                </a:lnTo>
                <a:lnTo>
                  <a:pt x="389" y="612"/>
                </a:lnTo>
                <a:lnTo>
                  <a:pt x="358" y="583"/>
                </a:lnTo>
                <a:lnTo>
                  <a:pt x="300" y="506"/>
                </a:lnTo>
                <a:lnTo>
                  <a:pt x="239" y="396"/>
                </a:lnTo>
                <a:lnTo>
                  <a:pt x="178" y="263"/>
                </a:lnTo>
                <a:lnTo>
                  <a:pt x="150" y="197"/>
                </a:lnTo>
                <a:lnTo>
                  <a:pt x="120" y="133"/>
                </a:lnTo>
                <a:lnTo>
                  <a:pt x="89" y="78"/>
                </a:lnTo>
                <a:lnTo>
                  <a:pt x="59" y="36"/>
                </a:lnTo>
                <a:lnTo>
                  <a:pt x="29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20" name="Freeform 7"/>
          <p:cNvSpPr>
            <a:spLocks/>
          </p:cNvSpPr>
          <p:nvPr/>
        </p:nvSpPr>
        <p:spPr bwMode="auto">
          <a:xfrm>
            <a:off x="3657600" y="3981450"/>
            <a:ext cx="903288" cy="1071563"/>
          </a:xfrm>
          <a:custGeom>
            <a:avLst/>
            <a:gdLst>
              <a:gd name="T0" fmla="*/ 0 w 569"/>
              <a:gd name="T1" fmla="*/ 2147483647 h 675"/>
              <a:gd name="T2" fmla="*/ 2147483647 w 569"/>
              <a:gd name="T3" fmla="*/ 2147483647 h 675"/>
              <a:gd name="T4" fmla="*/ 2147483647 w 569"/>
              <a:gd name="T5" fmla="*/ 2147483647 h 675"/>
              <a:gd name="T6" fmla="*/ 2147483647 w 569"/>
              <a:gd name="T7" fmla="*/ 2147483647 h 675"/>
              <a:gd name="T8" fmla="*/ 2147483647 w 569"/>
              <a:gd name="T9" fmla="*/ 2147483647 h 675"/>
              <a:gd name="T10" fmla="*/ 2147483647 w 569"/>
              <a:gd name="T11" fmla="*/ 2147483647 h 675"/>
              <a:gd name="T12" fmla="*/ 2147483647 w 569"/>
              <a:gd name="T13" fmla="*/ 2147483647 h 675"/>
              <a:gd name="T14" fmla="*/ 2147483647 w 569"/>
              <a:gd name="T15" fmla="*/ 2147483647 h 675"/>
              <a:gd name="T16" fmla="*/ 2147483647 w 569"/>
              <a:gd name="T17" fmla="*/ 2147483647 h 675"/>
              <a:gd name="T18" fmla="*/ 2147483647 w 569"/>
              <a:gd name="T19" fmla="*/ 2147483647 h 675"/>
              <a:gd name="T20" fmla="*/ 2147483647 w 569"/>
              <a:gd name="T21" fmla="*/ 2147483647 h 675"/>
              <a:gd name="T22" fmla="*/ 2147483647 w 569"/>
              <a:gd name="T23" fmla="*/ 2147483647 h 675"/>
              <a:gd name="T24" fmla="*/ 2147483647 w 569"/>
              <a:gd name="T25" fmla="*/ 2147483647 h 675"/>
              <a:gd name="T26" fmla="*/ 2147483647 w 569"/>
              <a:gd name="T27" fmla="*/ 2147483647 h 675"/>
              <a:gd name="T28" fmla="*/ 2147483647 w 569"/>
              <a:gd name="T29" fmla="*/ 2147483647 h 675"/>
              <a:gd name="T30" fmla="*/ 2147483647 w 569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69"/>
              <a:gd name="T49" fmla="*/ 0 h 675"/>
              <a:gd name="T50" fmla="*/ 569 w 569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69" h="675">
                <a:moveTo>
                  <a:pt x="0" y="674"/>
                </a:moveTo>
                <a:lnTo>
                  <a:pt x="59" y="667"/>
                </a:lnTo>
                <a:lnTo>
                  <a:pt x="89" y="659"/>
                </a:lnTo>
                <a:lnTo>
                  <a:pt x="120" y="648"/>
                </a:lnTo>
                <a:lnTo>
                  <a:pt x="150" y="633"/>
                </a:lnTo>
                <a:lnTo>
                  <a:pt x="178" y="612"/>
                </a:lnTo>
                <a:lnTo>
                  <a:pt x="209" y="583"/>
                </a:lnTo>
                <a:lnTo>
                  <a:pt x="269" y="506"/>
                </a:lnTo>
                <a:lnTo>
                  <a:pt x="328" y="396"/>
                </a:lnTo>
                <a:lnTo>
                  <a:pt x="389" y="263"/>
                </a:lnTo>
                <a:lnTo>
                  <a:pt x="419" y="197"/>
                </a:lnTo>
                <a:lnTo>
                  <a:pt x="449" y="133"/>
                </a:lnTo>
                <a:lnTo>
                  <a:pt x="478" y="78"/>
                </a:lnTo>
                <a:lnTo>
                  <a:pt x="508" y="36"/>
                </a:lnTo>
                <a:lnTo>
                  <a:pt x="538" y="10"/>
                </a:lnTo>
                <a:lnTo>
                  <a:pt x="568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21" name="Freeform 8"/>
          <p:cNvSpPr>
            <a:spLocks/>
          </p:cNvSpPr>
          <p:nvPr/>
        </p:nvSpPr>
        <p:spPr bwMode="auto">
          <a:xfrm>
            <a:off x="7194550" y="3957638"/>
            <a:ext cx="1354138" cy="1071562"/>
          </a:xfrm>
          <a:custGeom>
            <a:avLst/>
            <a:gdLst>
              <a:gd name="T0" fmla="*/ 2147483647 w 853"/>
              <a:gd name="T1" fmla="*/ 2147483647 h 675"/>
              <a:gd name="T2" fmla="*/ 2147483647 w 853"/>
              <a:gd name="T3" fmla="*/ 2147483647 h 675"/>
              <a:gd name="T4" fmla="*/ 2147483647 w 853"/>
              <a:gd name="T5" fmla="*/ 2147483647 h 675"/>
              <a:gd name="T6" fmla="*/ 2147483647 w 853"/>
              <a:gd name="T7" fmla="*/ 2147483647 h 675"/>
              <a:gd name="T8" fmla="*/ 2147483647 w 853"/>
              <a:gd name="T9" fmla="*/ 2147483647 h 675"/>
              <a:gd name="T10" fmla="*/ 2147483647 w 853"/>
              <a:gd name="T11" fmla="*/ 2147483647 h 675"/>
              <a:gd name="T12" fmla="*/ 2147483647 w 853"/>
              <a:gd name="T13" fmla="*/ 2147483647 h 675"/>
              <a:gd name="T14" fmla="*/ 2147483647 w 853"/>
              <a:gd name="T15" fmla="*/ 2147483647 h 675"/>
              <a:gd name="T16" fmla="*/ 2147483647 w 853"/>
              <a:gd name="T17" fmla="*/ 2147483647 h 675"/>
              <a:gd name="T18" fmla="*/ 2147483647 w 853"/>
              <a:gd name="T19" fmla="*/ 2147483647 h 675"/>
              <a:gd name="T20" fmla="*/ 2147483647 w 853"/>
              <a:gd name="T21" fmla="*/ 2147483647 h 675"/>
              <a:gd name="T22" fmla="*/ 2147483647 w 853"/>
              <a:gd name="T23" fmla="*/ 2147483647 h 675"/>
              <a:gd name="T24" fmla="*/ 2147483647 w 853"/>
              <a:gd name="T25" fmla="*/ 2147483647 h 675"/>
              <a:gd name="T26" fmla="*/ 2147483647 w 853"/>
              <a:gd name="T27" fmla="*/ 2147483647 h 675"/>
              <a:gd name="T28" fmla="*/ 2147483647 w 853"/>
              <a:gd name="T29" fmla="*/ 2147483647 h 675"/>
              <a:gd name="T30" fmla="*/ 0 w 853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53"/>
              <a:gd name="T49" fmla="*/ 0 h 675"/>
              <a:gd name="T50" fmla="*/ 853 w 853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53" h="675">
                <a:moveTo>
                  <a:pt x="852" y="674"/>
                </a:moveTo>
                <a:lnTo>
                  <a:pt x="761" y="667"/>
                </a:lnTo>
                <a:lnTo>
                  <a:pt x="718" y="659"/>
                </a:lnTo>
                <a:lnTo>
                  <a:pt x="672" y="648"/>
                </a:lnTo>
                <a:lnTo>
                  <a:pt x="627" y="633"/>
                </a:lnTo>
                <a:lnTo>
                  <a:pt x="583" y="612"/>
                </a:lnTo>
                <a:lnTo>
                  <a:pt x="538" y="583"/>
                </a:lnTo>
                <a:lnTo>
                  <a:pt x="447" y="506"/>
                </a:lnTo>
                <a:lnTo>
                  <a:pt x="358" y="396"/>
                </a:lnTo>
                <a:lnTo>
                  <a:pt x="269" y="263"/>
                </a:lnTo>
                <a:lnTo>
                  <a:pt x="224" y="197"/>
                </a:lnTo>
                <a:lnTo>
                  <a:pt x="178" y="133"/>
                </a:lnTo>
                <a:lnTo>
                  <a:pt x="135" y="78"/>
                </a:lnTo>
                <a:lnTo>
                  <a:pt x="89" y="36"/>
                </a:lnTo>
                <a:lnTo>
                  <a:pt x="44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22" name="Freeform 9"/>
          <p:cNvSpPr>
            <a:spLocks/>
          </p:cNvSpPr>
          <p:nvPr/>
        </p:nvSpPr>
        <p:spPr bwMode="auto">
          <a:xfrm>
            <a:off x="6743700" y="3957638"/>
            <a:ext cx="452438" cy="1071562"/>
          </a:xfrm>
          <a:custGeom>
            <a:avLst/>
            <a:gdLst>
              <a:gd name="T0" fmla="*/ 0 w 285"/>
              <a:gd name="T1" fmla="*/ 2147483647 h 675"/>
              <a:gd name="T2" fmla="*/ 2147483647 w 285"/>
              <a:gd name="T3" fmla="*/ 2147483647 h 675"/>
              <a:gd name="T4" fmla="*/ 2147483647 w 285"/>
              <a:gd name="T5" fmla="*/ 2147483647 h 675"/>
              <a:gd name="T6" fmla="*/ 2147483647 w 285"/>
              <a:gd name="T7" fmla="*/ 2147483647 h 675"/>
              <a:gd name="T8" fmla="*/ 2147483647 w 285"/>
              <a:gd name="T9" fmla="*/ 2147483647 h 675"/>
              <a:gd name="T10" fmla="*/ 2147483647 w 285"/>
              <a:gd name="T11" fmla="*/ 2147483647 h 675"/>
              <a:gd name="T12" fmla="*/ 2147483647 w 285"/>
              <a:gd name="T13" fmla="*/ 2147483647 h 675"/>
              <a:gd name="T14" fmla="*/ 2147483647 w 285"/>
              <a:gd name="T15" fmla="*/ 2147483647 h 675"/>
              <a:gd name="T16" fmla="*/ 2147483647 w 285"/>
              <a:gd name="T17" fmla="*/ 2147483647 h 675"/>
              <a:gd name="T18" fmla="*/ 2147483647 w 285"/>
              <a:gd name="T19" fmla="*/ 2147483647 h 675"/>
              <a:gd name="T20" fmla="*/ 2147483647 w 285"/>
              <a:gd name="T21" fmla="*/ 2147483647 h 675"/>
              <a:gd name="T22" fmla="*/ 2147483647 w 285"/>
              <a:gd name="T23" fmla="*/ 2147483647 h 675"/>
              <a:gd name="T24" fmla="*/ 2147483647 w 285"/>
              <a:gd name="T25" fmla="*/ 2147483647 h 675"/>
              <a:gd name="T26" fmla="*/ 2147483647 w 285"/>
              <a:gd name="T27" fmla="*/ 2147483647 h 675"/>
              <a:gd name="T28" fmla="*/ 2147483647 w 285"/>
              <a:gd name="T29" fmla="*/ 2147483647 h 675"/>
              <a:gd name="T30" fmla="*/ 2147483647 w 285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85"/>
              <a:gd name="T49" fmla="*/ 0 h 675"/>
              <a:gd name="T50" fmla="*/ 285 w 285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85" h="675">
                <a:moveTo>
                  <a:pt x="0" y="674"/>
                </a:moveTo>
                <a:lnTo>
                  <a:pt x="28" y="667"/>
                </a:lnTo>
                <a:lnTo>
                  <a:pt x="43" y="659"/>
                </a:lnTo>
                <a:lnTo>
                  <a:pt x="59" y="648"/>
                </a:lnTo>
                <a:lnTo>
                  <a:pt x="74" y="633"/>
                </a:lnTo>
                <a:lnTo>
                  <a:pt x="89" y="612"/>
                </a:lnTo>
                <a:lnTo>
                  <a:pt x="104" y="583"/>
                </a:lnTo>
                <a:lnTo>
                  <a:pt x="134" y="506"/>
                </a:lnTo>
                <a:lnTo>
                  <a:pt x="165" y="396"/>
                </a:lnTo>
                <a:lnTo>
                  <a:pt x="193" y="263"/>
                </a:lnTo>
                <a:lnTo>
                  <a:pt x="208" y="197"/>
                </a:lnTo>
                <a:lnTo>
                  <a:pt x="223" y="133"/>
                </a:lnTo>
                <a:lnTo>
                  <a:pt x="239" y="78"/>
                </a:lnTo>
                <a:lnTo>
                  <a:pt x="254" y="36"/>
                </a:lnTo>
                <a:lnTo>
                  <a:pt x="269" y="10"/>
                </a:lnTo>
                <a:lnTo>
                  <a:pt x="284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4223" name="Rectangle 10"/>
          <p:cNvSpPr>
            <a:spLocks noChangeArrowheads="1"/>
          </p:cNvSpPr>
          <p:nvPr/>
        </p:nvSpPr>
        <p:spPr bwMode="auto">
          <a:xfrm>
            <a:off x="3657600" y="3505200"/>
            <a:ext cx="19923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</a:rPr>
              <a:t>Mean =</a:t>
            </a:r>
            <a:r>
              <a:rPr lang="en-US" sz="2000" b="1">
                <a:solidFill>
                  <a:srgbClr val="FF0000"/>
                </a:solidFill>
              </a:rPr>
              <a:t> Median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94224" name="Rectangle 11"/>
          <p:cNvSpPr>
            <a:spLocks noChangeArrowheads="1"/>
          </p:cNvSpPr>
          <p:nvPr/>
        </p:nvSpPr>
        <p:spPr bwMode="auto">
          <a:xfrm>
            <a:off x="4779963" y="3479800"/>
            <a:ext cx="244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4225" name="Rectangle 12"/>
          <p:cNvSpPr>
            <a:spLocks noChangeArrowheads="1"/>
          </p:cNvSpPr>
          <p:nvPr/>
        </p:nvSpPr>
        <p:spPr bwMode="auto">
          <a:xfrm>
            <a:off x="6164263" y="3810000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26" name="Rectangle 13"/>
          <p:cNvSpPr>
            <a:spLocks noChangeArrowheads="1"/>
          </p:cNvSpPr>
          <p:nvPr/>
        </p:nvSpPr>
        <p:spPr bwMode="auto">
          <a:xfrm>
            <a:off x="762000" y="3505200"/>
            <a:ext cx="19923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</a:rPr>
              <a:t>Mean &lt;</a:t>
            </a:r>
            <a:r>
              <a:rPr lang="en-US" sz="2000" b="1">
                <a:solidFill>
                  <a:srgbClr val="FF0000"/>
                </a:solidFill>
              </a:rPr>
              <a:t> Median</a:t>
            </a:r>
            <a:endParaRPr lang="en-US" sz="2000" b="1">
              <a:solidFill>
                <a:srgbClr val="FF00FF"/>
              </a:solidFill>
            </a:endParaRPr>
          </a:p>
        </p:txBody>
      </p:sp>
      <p:sp>
        <p:nvSpPr>
          <p:cNvPr id="94227" name="Rectangle 14"/>
          <p:cNvSpPr>
            <a:spLocks noChangeArrowheads="1"/>
          </p:cNvSpPr>
          <p:nvPr/>
        </p:nvSpPr>
        <p:spPr bwMode="auto">
          <a:xfrm>
            <a:off x="2393950" y="3827463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28" name="Rectangle 15"/>
          <p:cNvSpPr>
            <a:spLocks noChangeArrowheads="1"/>
          </p:cNvSpPr>
          <p:nvPr/>
        </p:nvSpPr>
        <p:spPr bwMode="auto">
          <a:xfrm>
            <a:off x="6477000" y="3505200"/>
            <a:ext cx="20764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solidFill>
                  <a:srgbClr val="FF00FF"/>
                </a:solidFill>
              </a:rPr>
              <a:t> </a:t>
            </a:r>
            <a:r>
              <a:rPr lang="en-US" sz="2000" b="1">
                <a:solidFill>
                  <a:schemeClr val="tx2"/>
                </a:solidFill>
              </a:rPr>
              <a:t>Mean</a:t>
            </a:r>
            <a:r>
              <a:rPr lang="en-US" sz="2000" b="1">
                <a:solidFill>
                  <a:srgbClr val="FF0000"/>
                </a:solidFill>
              </a:rPr>
              <a:t> &gt; Median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94229" name="Rectangle 16"/>
          <p:cNvSpPr>
            <a:spLocks noChangeArrowheads="1"/>
          </p:cNvSpPr>
          <p:nvPr/>
        </p:nvSpPr>
        <p:spPr bwMode="auto">
          <a:xfrm>
            <a:off x="8666163" y="3810000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30" name="Line 18"/>
          <p:cNvSpPr>
            <a:spLocks noChangeShapeType="1"/>
          </p:cNvSpPr>
          <p:nvPr/>
        </p:nvSpPr>
        <p:spPr bwMode="auto">
          <a:xfrm flipH="1">
            <a:off x="7391400" y="4038600"/>
            <a:ext cx="0" cy="1066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1" name="Line 19"/>
          <p:cNvSpPr>
            <a:spLocks noChangeShapeType="1"/>
          </p:cNvSpPr>
          <p:nvPr/>
        </p:nvSpPr>
        <p:spPr bwMode="auto">
          <a:xfrm>
            <a:off x="7620000" y="44196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2" name="Line 21"/>
          <p:cNvSpPr>
            <a:spLocks noChangeShapeType="1"/>
          </p:cNvSpPr>
          <p:nvPr/>
        </p:nvSpPr>
        <p:spPr bwMode="auto">
          <a:xfrm flipH="1">
            <a:off x="1752600" y="42672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3" name="Line 22"/>
          <p:cNvSpPr>
            <a:spLocks noChangeShapeType="1"/>
          </p:cNvSpPr>
          <p:nvPr/>
        </p:nvSpPr>
        <p:spPr bwMode="auto">
          <a:xfrm flipH="1">
            <a:off x="1524000" y="4681538"/>
            <a:ext cx="1588" cy="4238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4" name="Line 23"/>
          <p:cNvSpPr>
            <a:spLocks noChangeShapeType="1"/>
          </p:cNvSpPr>
          <p:nvPr/>
        </p:nvSpPr>
        <p:spPr bwMode="auto">
          <a:xfrm>
            <a:off x="4572000" y="3962400"/>
            <a:ext cx="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5" name="Line 24"/>
          <p:cNvSpPr>
            <a:spLocks noChangeShapeType="1"/>
          </p:cNvSpPr>
          <p:nvPr/>
        </p:nvSpPr>
        <p:spPr bwMode="auto">
          <a:xfrm>
            <a:off x="4572000" y="4114800"/>
            <a:ext cx="0" cy="762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6" name="Line 26"/>
          <p:cNvSpPr>
            <a:spLocks noChangeShapeType="1"/>
          </p:cNvSpPr>
          <p:nvPr/>
        </p:nvSpPr>
        <p:spPr bwMode="auto">
          <a:xfrm>
            <a:off x="3581400" y="5105400"/>
            <a:ext cx="19812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7" name="Rectangle 28"/>
          <p:cNvSpPr>
            <a:spLocks noChangeArrowheads="1"/>
          </p:cNvSpPr>
          <p:nvPr/>
        </p:nvSpPr>
        <p:spPr bwMode="auto">
          <a:xfrm>
            <a:off x="4467225" y="516572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38" name="Line 29"/>
          <p:cNvSpPr>
            <a:spLocks noChangeShapeType="1"/>
          </p:cNvSpPr>
          <p:nvPr/>
        </p:nvSpPr>
        <p:spPr bwMode="auto">
          <a:xfrm>
            <a:off x="6629400" y="5105400"/>
            <a:ext cx="189865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39" name="Rectangle 31"/>
          <p:cNvSpPr>
            <a:spLocks noChangeArrowheads="1"/>
          </p:cNvSpPr>
          <p:nvPr/>
        </p:nvSpPr>
        <p:spPr bwMode="auto">
          <a:xfrm>
            <a:off x="7553325" y="5141913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40" name="Line 32"/>
          <p:cNvSpPr>
            <a:spLocks noChangeShapeType="1"/>
          </p:cNvSpPr>
          <p:nvPr/>
        </p:nvSpPr>
        <p:spPr bwMode="auto">
          <a:xfrm>
            <a:off x="685800" y="5105400"/>
            <a:ext cx="19050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41" name="Rectangle 34"/>
          <p:cNvSpPr>
            <a:spLocks noChangeArrowheads="1"/>
          </p:cNvSpPr>
          <p:nvPr/>
        </p:nvSpPr>
        <p:spPr bwMode="auto">
          <a:xfrm>
            <a:off x="1547813" y="516572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4242" name="Rectangle 41"/>
          <p:cNvSpPr>
            <a:spLocks noChangeArrowheads="1"/>
          </p:cNvSpPr>
          <p:nvPr/>
        </p:nvSpPr>
        <p:spPr bwMode="auto">
          <a:xfrm>
            <a:off x="6289675" y="2965450"/>
            <a:ext cx="2535238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Right-Skewed</a:t>
            </a:r>
          </a:p>
        </p:txBody>
      </p:sp>
      <p:sp>
        <p:nvSpPr>
          <p:cNvPr id="94243" name="Rectangle 42"/>
          <p:cNvSpPr>
            <a:spLocks noChangeArrowheads="1"/>
          </p:cNvSpPr>
          <p:nvPr/>
        </p:nvSpPr>
        <p:spPr bwMode="auto">
          <a:xfrm>
            <a:off x="603250" y="2978150"/>
            <a:ext cx="2279650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Left-Skewed</a:t>
            </a:r>
          </a:p>
        </p:txBody>
      </p:sp>
      <p:sp>
        <p:nvSpPr>
          <p:cNvPr id="94244" name="Rectangle 43"/>
          <p:cNvSpPr>
            <a:spLocks noChangeArrowheads="1"/>
          </p:cNvSpPr>
          <p:nvPr/>
        </p:nvSpPr>
        <p:spPr bwMode="auto">
          <a:xfrm>
            <a:off x="3670300" y="2978150"/>
            <a:ext cx="2000250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Symmetric</a:t>
            </a:r>
          </a:p>
        </p:txBody>
      </p:sp>
      <p:sp>
        <p:nvSpPr>
          <p:cNvPr id="94245" name="TextBox 3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sp>
        <p:nvSpPr>
          <p:cNvPr id="94246" name="TextBox 37"/>
          <p:cNvSpPr txBox="1">
            <a:spLocks noChangeArrowheads="1"/>
          </p:cNvSpPr>
          <p:nvPr/>
        </p:nvSpPr>
        <p:spPr bwMode="auto">
          <a:xfrm>
            <a:off x="0" y="5638800"/>
            <a:ext cx="1425575" cy="7080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Skewness</a:t>
            </a:r>
          </a:p>
          <a:p>
            <a:r>
              <a:rPr lang="en-US" sz="2000" b="1"/>
              <a:t>Statistic</a:t>
            </a:r>
          </a:p>
        </p:txBody>
      </p:sp>
      <p:sp>
        <p:nvSpPr>
          <p:cNvPr id="94247" name="TextBox 38"/>
          <p:cNvSpPr txBox="1">
            <a:spLocks noChangeArrowheads="1"/>
          </p:cNvSpPr>
          <p:nvPr/>
        </p:nvSpPr>
        <p:spPr bwMode="auto">
          <a:xfrm>
            <a:off x="1371600" y="5791200"/>
            <a:ext cx="6781800" cy="4619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&lt; 0			   0			      &gt;0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BE595C8-80F3-4076-8175-83CE12CFB937}" type="slidenum">
              <a:rPr lang="en-US" smtClean="0">
                <a:latin typeface="Arial" charset="0"/>
              </a:rPr>
              <a:pPr/>
              <a:t>33</a:t>
            </a:fld>
            <a:endParaRPr lang="en-US" smtClean="0">
              <a:latin typeface="Arial" charset="0"/>
            </a:endParaRPr>
          </a:p>
        </p:txBody>
      </p:sp>
      <p:sp>
        <p:nvSpPr>
          <p:cNvPr id="9523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52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A9B83035-1209-4CDB-872F-DE9251ABBDD9}" type="slidenum">
              <a:rPr lang="en-US" sz="1000"/>
              <a:pPr algn="r" defTabSz="852488"/>
              <a:t>33</a:t>
            </a:fld>
            <a:endParaRPr lang="en-US" sz="1000"/>
          </a:p>
        </p:txBody>
      </p:sp>
      <p:sp>
        <p:nvSpPr>
          <p:cNvPr id="95236" name="Rectangle 45"/>
          <p:cNvSpPr>
            <a:spLocks noChangeArrowheads="1"/>
          </p:cNvSpPr>
          <p:nvPr/>
        </p:nvSpPr>
        <p:spPr bwMode="auto">
          <a:xfrm>
            <a:off x="6096000" y="29718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37" name="Rectangle 46"/>
          <p:cNvSpPr>
            <a:spLocks noChangeArrowheads="1"/>
          </p:cNvSpPr>
          <p:nvPr/>
        </p:nvSpPr>
        <p:spPr bwMode="auto">
          <a:xfrm>
            <a:off x="152400" y="29718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38" name="Rectangle 44"/>
          <p:cNvSpPr>
            <a:spLocks noChangeArrowheads="1"/>
          </p:cNvSpPr>
          <p:nvPr/>
        </p:nvSpPr>
        <p:spPr bwMode="auto">
          <a:xfrm>
            <a:off x="3124200" y="2971800"/>
            <a:ext cx="2895600" cy="2438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Shape of a Distribution (Kurtosis)</a:t>
            </a:r>
          </a:p>
        </p:txBody>
      </p:sp>
      <p:sp>
        <p:nvSpPr>
          <p:cNvPr id="952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458200" cy="990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Describes relative concentration of values in the center as compared to the tails</a:t>
            </a:r>
          </a:p>
        </p:txBody>
      </p:sp>
      <p:sp>
        <p:nvSpPr>
          <p:cNvPr id="95241" name="Freeform 6"/>
          <p:cNvSpPr>
            <a:spLocks/>
          </p:cNvSpPr>
          <p:nvPr/>
        </p:nvSpPr>
        <p:spPr bwMode="auto">
          <a:xfrm>
            <a:off x="4559300" y="4057650"/>
            <a:ext cx="904875" cy="1071563"/>
          </a:xfrm>
          <a:custGeom>
            <a:avLst/>
            <a:gdLst>
              <a:gd name="T0" fmla="*/ 2147483647 w 570"/>
              <a:gd name="T1" fmla="*/ 2147483647 h 675"/>
              <a:gd name="T2" fmla="*/ 2147483647 w 570"/>
              <a:gd name="T3" fmla="*/ 2147483647 h 675"/>
              <a:gd name="T4" fmla="*/ 2147483647 w 570"/>
              <a:gd name="T5" fmla="*/ 2147483647 h 675"/>
              <a:gd name="T6" fmla="*/ 2147483647 w 570"/>
              <a:gd name="T7" fmla="*/ 2147483647 h 675"/>
              <a:gd name="T8" fmla="*/ 2147483647 w 570"/>
              <a:gd name="T9" fmla="*/ 2147483647 h 675"/>
              <a:gd name="T10" fmla="*/ 2147483647 w 570"/>
              <a:gd name="T11" fmla="*/ 2147483647 h 675"/>
              <a:gd name="T12" fmla="*/ 2147483647 w 570"/>
              <a:gd name="T13" fmla="*/ 2147483647 h 675"/>
              <a:gd name="T14" fmla="*/ 2147483647 w 570"/>
              <a:gd name="T15" fmla="*/ 2147483647 h 675"/>
              <a:gd name="T16" fmla="*/ 2147483647 w 570"/>
              <a:gd name="T17" fmla="*/ 2147483647 h 675"/>
              <a:gd name="T18" fmla="*/ 2147483647 w 570"/>
              <a:gd name="T19" fmla="*/ 2147483647 h 675"/>
              <a:gd name="T20" fmla="*/ 2147483647 w 570"/>
              <a:gd name="T21" fmla="*/ 2147483647 h 675"/>
              <a:gd name="T22" fmla="*/ 2147483647 w 570"/>
              <a:gd name="T23" fmla="*/ 2147483647 h 675"/>
              <a:gd name="T24" fmla="*/ 2147483647 w 570"/>
              <a:gd name="T25" fmla="*/ 2147483647 h 675"/>
              <a:gd name="T26" fmla="*/ 2147483647 w 570"/>
              <a:gd name="T27" fmla="*/ 2147483647 h 675"/>
              <a:gd name="T28" fmla="*/ 2147483647 w 570"/>
              <a:gd name="T29" fmla="*/ 2147483647 h 675"/>
              <a:gd name="T30" fmla="*/ 0 w 570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70"/>
              <a:gd name="T49" fmla="*/ 0 h 675"/>
              <a:gd name="T50" fmla="*/ 570 w 570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70" h="675">
                <a:moveTo>
                  <a:pt x="569" y="674"/>
                </a:moveTo>
                <a:lnTo>
                  <a:pt x="508" y="667"/>
                </a:lnTo>
                <a:lnTo>
                  <a:pt x="478" y="659"/>
                </a:lnTo>
                <a:lnTo>
                  <a:pt x="449" y="648"/>
                </a:lnTo>
                <a:lnTo>
                  <a:pt x="419" y="633"/>
                </a:lnTo>
                <a:lnTo>
                  <a:pt x="389" y="612"/>
                </a:lnTo>
                <a:lnTo>
                  <a:pt x="358" y="583"/>
                </a:lnTo>
                <a:lnTo>
                  <a:pt x="300" y="506"/>
                </a:lnTo>
                <a:lnTo>
                  <a:pt x="239" y="396"/>
                </a:lnTo>
                <a:lnTo>
                  <a:pt x="178" y="263"/>
                </a:lnTo>
                <a:lnTo>
                  <a:pt x="150" y="197"/>
                </a:lnTo>
                <a:lnTo>
                  <a:pt x="120" y="133"/>
                </a:lnTo>
                <a:lnTo>
                  <a:pt x="89" y="78"/>
                </a:lnTo>
                <a:lnTo>
                  <a:pt x="59" y="36"/>
                </a:lnTo>
                <a:lnTo>
                  <a:pt x="29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5242" name="Freeform 7"/>
          <p:cNvSpPr>
            <a:spLocks/>
          </p:cNvSpPr>
          <p:nvPr/>
        </p:nvSpPr>
        <p:spPr bwMode="auto">
          <a:xfrm>
            <a:off x="3657600" y="4057650"/>
            <a:ext cx="903288" cy="1071563"/>
          </a:xfrm>
          <a:custGeom>
            <a:avLst/>
            <a:gdLst>
              <a:gd name="T0" fmla="*/ 0 w 569"/>
              <a:gd name="T1" fmla="*/ 2147483647 h 675"/>
              <a:gd name="T2" fmla="*/ 2147483647 w 569"/>
              <a:gd name="T3" fmla="*/ 2147483647 h 675"/>
              <a:gd name="T4" fmla="*/ 2147483647 w 569"/>
              <a:gd name="T5" fmla="*/ 2147483647 h 675"/>
              <a:gd name="T6" fmla="*/ 2147483647 w 569"/>
              <a:gd name="T7" fmla="*/ 2147483647 h 675"/>
              <a:gd name="T8" fmla="*/ 2147483647 w 569"/>
              <a:gd name="T9" fmla="*/ 2147483647 h 675"/>
              <a:gd name="T10" fmla="*/ 2147483647 w 569"/>
              <a:gd name="T11" fmla="*/ 2147483647 h 675"/>
              <a:gd name="T12" fmla="*/ 2147483647 w 569"/>
              <a:gd name="T13" fmla="*/ 2147483647 h 675"/>
              <a:gd name="T14" fmla="*/ 2147483647 w 569"/>
              <a:gd name="T15" fmla="*/ 2147483647 h 675"/>
              <a:gd name="T16" fmla="*/ 2147483647 w 569"/>
              <a:gd name="T17" fmla="*/ 2147483647 h 675"/>
              <a:gd name="T18" fmla="*/ 2147483647 w 569"/>
              <a:gd name="T19" fmla="*/ 2147483647 h 675"/>
              <a:gd name="T20" fmla="*/ 2147483647 w 569"/>
              <a:gd name="T21" fmla="*/ 2147483647 h 675"/>
              <a:gd name="T22" fmla="*/ 2147483647 w 569"/>
              <a:gd name="T23" fmla="*/ 2147483647 h 675"/>
              <a:gd name="T24" fmla="*/ 2147483647 w 569"/>
              <a:gd name="T25" fmla="*/ 2147483647 h 675"/>
              <a:gd name="T26" fmla="*/ 2147483647 w 569"/>
              <a:gd name="T27" fmla="*/ 2147483647 h 675"/>
              <a:gd name="T28" fmla="*/ 2147483647 w 569"/>
              <a:gd name="T29" fmla="*/ 2147483647 h 675"/>
              <a:gd name="T30" fmla="*/ 2147483647 w 569"/>
              <a:gd name="T31" fmla="*/ 0 h 6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69"/>
              <a:gd name="T49" fmla="*/ 0 h 675"/>
              <a:gd name="T50" fmla="*/ 569 w 569"/>
              <a:gd name="T51" fmla="*/ 675 h 67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69" h="675">
                <a:moveTo>
                  <a:pt x="0" y="674"/>
                </a:moveTo>
                <a:lnTo>
                  <a:pt x="59" y="667"/>
                </a:lnTo>
                <a:lnTo>
                  <a:pt x="89" y="659"/>
                </a:lnTo>
                <a:lnTo>
                  <a:pt x="120" y="648"/>
                </a:lnTo>
                <a:lnTo>
                  <a:pt x="150" y="633"/>
                </a:lnTo>
                <a:lnTo>
                  <a:pt x="178" y="612"/>
                </a:lnTo>
                <a:lnTo>
                  <a:pt x="209" y="583"/>
                </a:lnTo>
                <a:lnTo>
                  <a:pt x="269" y="506"/>
                </a:lnTo>
                <a:lnTo>
                  <a:pt x="328" y="396"/>
                </a:lnTo>
                <a:lnTo>
                  <a:pt x="389" y="263"/>
                </a:lnTo>
                <a:lnTo>
                  <a:pt x="419" y="197"/>
                </a:lnTo>
                <a:lnTo>
                  <a:pt x="449" y="133"/>
                </a:lnTo>
                <a:lnTo>
                  <a:pt x="478" y="78"/>
                </a:lnTo>
                <a:lnTo>
                  <a:pt x="508" y="36"/>
                </a:lnTo>
                <a:lnTo>
                  <a:pt x="538" y="10"/>
                </a:lnTo>
                <a:lnTo>
                  <a:pt x="568" y="0"/>
                </a:lnTo>
              </a:path>
            </a:pathLst>
          </a:custGeom>
          <a:noFill/>
          <a:ln w="25400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5243" name="Rectangle 11"/>
          <p:cNvSpPr>
            <a:spLocks noChangeArrowheads="1"/>
          </p:cNvSpPr>
          <p:nvPr/>
        </p:nvSpPr>
        <p:spPr bwMode="auto">
          <a:xfrm>
            <a:off x="4779963" y="3556000"/>
            <a:ext cx="244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5244" name="Rectangle 12"/>
          <p:cNvSpPr>
            <a:spLocks noChangeArrowheads="1"/>
          </p:cNvSpPr>
          <p:nvPr/>
        </p:nvSpPr>
        <p:spPr bwMode="auto">
          <a:xfrm>
            <a:off x="6164263" y="3886200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45" name="Rectangle 14"/>
          <p:cNvSpPr>
            <a:spLocks noChangeArrowheads="1"/>
          </p:cNvSpPr>
          <p:nvPr/>
        </p:nvSpPr>
        <p:spPr bwMode="auto">
          <a:xfrm>
            <a:off x="2393950" y="3903663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46" name="Rectangle 16"/>
          <p:cNvSpPr>
            <a:spLocks noChangeArrowheads="1"/>
          </p:cNvSpPr>
          <p:nvPr/>
        </p:nvSpPr>
        <p:spPr bwMode="auto">
          <a:xfrm>
            <a:off x="8666163" y="3886200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47" name="Line 26"/>
          <p:cNvSpPr>
            <a:spLocks noChangeShapeType="1"/>
          </p:cNvSpPr>
          <p:nvPr/>
        </p:nvSpPr>
        <p:spPr bwMode="auto">
          <a:xfrm>
            <a:off x="3581400" y="5181600"/>
            <a:ext cx="19812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48" name="Rectangle 28"/>
          <p:cNvSpPr>
            <a:spLocks noChangeArrowheads="1"/>
          </p:cNvSpPr>
          <p:nvPr/>
        </p:nvSpPr>
        <p:spPr bwMode="auto">
          <a:xfrm>
            <a:off x="4467225" y="524192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49" name="Line 29"/>
          <p:cNvSpPr>
            <a:spLocks noChangeShapeType="1"/>
          </p:cNvSpPr>
          <p:nvPr/>
        </p:nvSpPr>
        <p:spPr bwMode="auto">
          <a:xfrm>
            <a:off x="6629400" y="5181600"/>
            <a:ext cx="189865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50" name="Rectangle 31"/>
          <p:cNvSpPr>
            <a:spLocks noChangeArrowheads="1"/>
          </p:cNvSpPr>
          <p:nvPr/>
        </p:nvSpPr>
        <p:spPr bwMode="auto">
          <a:xfrm>
            <a:off x="7553325" y="5218113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51" name="Line 32"/>
          <p:cNvSpPr>
            <a:spLocks noChangeShapeType="1"/>
          </p:cNvSpPr>
          <p:nvPr/>
        </p:nvSpPr>
        <p:spPr bwMode="auto">
          <a:xfrm>
            <a:off x="685800" y="5181600"/>
            <a:ext cx="19050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52" name="Rectangle 34"/>
          <p:cNvSpPr>
            <a:spLocks noChangeArrowheads="1"/>
          </p:cNvSpPr>
          <p:nvPr/>
        </p:nvSpPr>
        <p:spPr bwMode="auto">
          <a:xfrm>
            <a:off x="1547813" y="524192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253" name="Rectangle 41"/>
          <p:cNvSpPr>
            <a:spLocks noChangeArrowheads="1"/>
          </p:cNvSpPr>
          <p:nvPr/>
        </p:nvSpPr>
        <p:spPr bwMode="auto">
          <a:xfrm>
            <a:off x="6172200" y="3048000"/>
            <a:ext cx="2779713" cy="828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/>
              <a:t>Sharper Peak</a:t>
            </a:r>
          </a:p>
          <a:p>
            <a:pPr algn="ctr" eaLnBrk="0" hangingPunct="0"/>
            <a:r>
              <a:rPr lang="en-US" b="1"/>
              <a:t>Than Bell-Shaped</a:t>
            </a:r>
          </a:p>
        </p:txBody>
      </p:sp>
      <p:sp>
        <p:nvSpPr>
          <p:cNvPr id="95254" name="Rectangle 42"/>
          <p:cNvSpPr>
            <a:spLocks noChangeArrowheads="1"/>
          </p:cNvSpPr>
          <p:nvPr/>
        </p:nvSpPr>
        <p:spPr bwMode="auto">
          <a:xfrm>
            <a:off x="603250" y="3054350"/>
            <a:ext cx="1960563" cy="828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/>
              <a:t>Flatter Than</a:t>
            </a:r>
          </a:p>
          <a:p>
            <a:pPr algn="ctr" eaLnBrk="0" hangingPunct="0"/>
            <a:r>
              <a:rPr lang="en-US" b="1"/>
              <a:t>Bell-Shaped</a:t>
            </a:r>
          </a:p>
        </p:txBody>
      </p:sp>
      <p:sp>
        <p:nvSpPr>
          <p:cNvPr id="95255" name="Rectangle 43"/>
          <p:cNvSpPr>
            <a:spLocks noChangeArrowheads="1"/>
          </p:cNvSpPr>
          <p:nvPr/>
        </p:nvSpPr>
        <p:spPr bwMode="auto">
          <a:xfrm>
            <a:off x="3581400" y="3048000"/>
            <a:ext cx="1960563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/>
              <a:t>Bell-Shaped</a:t>
            </a:r>
          </a:p>
        </p:txBody>
      </p:sp>
      <p:sp>
        <p:nvSpPr>
          <p:cNvPr id="95256" name="TextBox 3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  <p:sp>
        <p:nvSpPr>
          <p:cNvPr id="95257" name="TextBox 37"/>
          <p:cNvSpPr txBox="1">
            <a:spLocks noChangeArrowheads="1"/>
          </p:cNvSpPr>
          <p:nvPr/>
        </p:nvSpPr>
        <p:spPr bwMode="auto">
          <a:xfrm>
            <a:off x="152400" y="5638800"/>
            <a:ext cx="1225550" cy="7080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Kurtosis</a:t>
            </a:r>
          </a:p>
          <a:p>
            <a:r>
              <a:rPr lang="en-US" sz="2000" b="1"/>
              <a:t>Statistic</a:t>
            </a:r>
          </a:p>
        </p:txBody>
      </p:sp>
      <p:sp>
        <p:nvSpPr>
          <p:cNvPr id="95258" name="TextBox 38"/>
          <p:cNvSpPr txBox="1">
            <a:spLocks noChangeArrowheads="1"/>
          </p:cNvSpPr>
          <p:nvPr/>
        </p:nvSpPr>
        <p:spPr bwMode="auto">
          <a:xfrm>
            <a:off x="1371600" y="5791200"/>
            <a:ext cx="6781800" cy="4619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&lt; 0			   0			      &gt;0 </a:t>
            </a:r>
          </a:p>
        </p:txBody>
      </p:sp>
      <p:cxnSp>
        <p:nvCxnSpPr>
          <p:cNvPr id="95259" name="Straight Connector 43"/>
          <p:cNvCxnSpPr>
            <a:cxnSpLocks noChangeShapeType="1"/>
          </p:cNvCxnSpPr>
          <p:nvPr/>
        </p:nvCxnSpPr>
        <p:spPr bwMode="auto">
          <a:xfrm rot="5400000" flipH="1" flipV="1">
            <a:off x="609601" y="4800600"/>
            <a:ext cx="762000" cy="3175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95260" name="Straight Connector 44"/>
          <p:cNvCxnSpPr>
            <a:cxnSpLocks noChangeShapeType="1"/>
          </p:cNvCxnSpPr>
          <p:nvPr/>
        </p:nvCxnSpPr>
        <p:spPr bwMode="auto">
          <a:xfrm rot="10800000" flipV="1">
            <a:off x="990600" y="4419600"/>
            <a:ext cx="9906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95261" name="Straight Connector 48"/>
          <p:cNvCxnSpPr>
            <a:cxnSpLocks noChangeShapeType="1"/>
          </p:cNvCxnSpPr>
          <p:nvPr/>
        </p:nvCxnSpPr>
        <p:spPr bwMode="auto">
          <a:xfrm rot="5400000" flipH="1" flipV="1">
            <a:off x="1600994" y="4799806"/>
            <a:ext cx="7620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95262" name="Straight Connector 49"/>
          <p:cNvCxnSpPr>
            <a:cxnSpLocks noChangeShapeType="1"/>
          </p:cNvCxnSpPr>
          <p:nvPr/>
        </p:nvCxnSpPr>
        <p:spPr bwMode="auto">
          <a:xfrm rot="5400000" flipH="1" flipV="1">
            <a:off x="6667500" y="4381500"/>
            <a:ext cx="1066800" cy="533400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95263" name="Straight Connector 51"/>
          <p:cNvCxnSpPr>
            <a:cxnSpLocks noChangeShapeType="1"/>
          </p:cNvCxnSpPr>
          <p:nvPr/>
        </p:nvCxnSpPr>
        <p:spPr bwMode="auto">
          <a:xfrm rot="16200000" flipV="1">
            <a:off x="7200900" y="4381500"/>
            <a:ext cx="1066800" cy="533400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3B6C792-3367-4AFA-9700-1C73AFF62EE4}" type="slidenum">
              <a:rPr lang="en-US" smtClean="0">
                <a:latin typeface="Arial" charset="0"/>
              </a:rPr>
              <a:pPr/>
              <a:t>34</a:t>
            </a:fld>
            <a:endParaRPr lang="en-US" smtClean="0">
              <a:latin typeface="Arial" charset="0"/>
            </a:endParaRPr>
          </a:p>
        </p:txBody>
      </p:sp>
      <p:sp>
        <p:nvSpPr>
          <p:cNvPr id="9625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62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D5605B6-F0AD-42F7-9428-77F14B13FD46}" type="slidenum">
              <a:rPr lang="en-US" sz="1000"/>
              <a:pPr algn="r" defTabSz="852488"/>
              <a:t>34</a:t>
            </a:fld>
            <a:endParaRPr lang="en-US" sz="1000"/>
          </a:p>
        </p:txBody>
      </p:sp>
      <p:sp>
        <p:nvSpPr>
          <p:cNvPr id="9626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General Descriptive Stats Using Microsoft Excel Functions</a:t>
            </a:r>
          </a:p>
        </p:txBody>
      </p:sp>
      <p:sp>
        <p:nvSpPr>
          <p:cNvPr id="96261" name="TextBox 11"/>
          <p:cNvSpPr txBox="1">
            <a:spLocks noChangeArrowheads="1"/>
          </p:cNvSpPr>
          <p:nvPr/>
        </p:nvSpPr>
        <p:spPr bwMode="auto">
          <a:xfrm>
            <a:off x="7543800" y="914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  <p:pic>
        <p:nvPicPr>
          <p:cNvPr id="96262" name="Picture 3"/>
          <p:cNvPicPr>
            <a:picLocks noChangeAspect="1" noChangeArrowheads="1"/>
          </p:cNvPicPr>
          <p:nvPr/>
        </p:nvPicPr>
        <p:blipFill>
          <a:blip r:embed="rId2"/>
          <a:srcRect t="15343" r="66667" b="53333"/>
          <a:stretch>
            <a:fillRect/>
          </a:stretch>
        </p:blipFill>
        <p:spPr bwMode="auto">
          <a:xfrm>
            <a:off x="609600" y="1676400"/>
            <a:ext cx="8056563" cy="473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3B1E665-D49D-4696-BF75-A9334D107576}" type="slidenum">
              <a:rPr lang="en-US" smtClean="0">
                <a:latin typeface="Arial" charset="0"/>
              </a:rPr>
              <a:pPr/>
              <a:t>35</a:t>
            </a:fld>
            <a:endParaRPr lang="en-US" smtClean="0">
              <a:latin typeface="Arial" charset="0"/>
            </a:endParaRPr>
          </a:p>
        </p:txBody>
      </p:sp>
      <p:sp>
        <p:nvSpPr>
          <p:cNvPr id="9728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72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2BC501A1-D012-4F57-B62E-9BD3F444EBA5}" type="slidenum">
              <a:rPr lang="en-US" sz="1000"/>
              <a:pPr algn="r" defTabSz="852488"/>
              <a:t>35</a:t>
            </a:fld>
            <a:endParaRPr lang="en-US" sz="1000"/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General Descriptive Stats Using Microsoft Excel Data Analysis Tool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5257800" y="1752600"/>
            <a:ext cx="3505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50000"/>
              </a:spcBef>
              <a:buSzPct val="85000"/>
              <a:buFontTx/>
              <a:buAutoNum type="arabicPeriod"/>
            </a:pPr>
            <a:r>
              <a:rPr lang="en-US">
                <a:latin typeface="Times New Roman" pitchFamily="18" charset="0"/>
              </a:rPr>
              <a:t>Select Data.</a:t>
            </a:r>
          </a:p>
          <a:p>
            <a:pPr marL="342900" indent="-342900" eaLnBrk="0" hangingPunct="0">
              <a:spcBef>
                <a:spcPct val="50000"/>
              </a:spcBef>
              <a:buSzPct val="85000"/>
              <a:buFontTx/>
              <a:buAutoNum type="arabicPeriod"/>
            </a:pPr>
            <a:r>
              <a:rPr lang="en-US">
                <a:latin typeface="Times New Roman" pitchFamily="18" charset="0"/>
              </a:rPr>
              <a:t>Select Data Analysis.</a:t>
            </a:r>
          </a:p>
          <a:p>
            <a:pPr marL="342900" indent="-342900" eaLnBrk="0" hangingPunct="0">
              <a:spcBef>
                <a:spcPct val="50000"/>
              </a:spcBef>
              <a:buSzPct val="85000"/>
              <a:buFontTx/>
              <a:buAutoNum type="arabicPeriod"/>
            </a:pPr>
            <a:r>
              <a:rPr lang="en-US">
                <a:latin typeface="Times New Roman" pitchFamily="18" charset="0"/>
              </a:rPr>
              <a:t>Select Descriptive Statistics and click OK.</a:t>
            </a:r>
          </a:p>
        </p:txBody>
      </p:sp>
      <p:pic>
        <p:nvPicPr>
          <p:cNvPr id="97286" name="Picture 11"/>
          <p:cNvPicPr>
            <a:picLocks noChangeAspect="1" noChangeArrowheads="1"/>
          </p:cNvPicPr>
          <p:nvPr/>
        </p:nvPicPr>
        <p:blipFill>
          <a:blip r:embed="rId2"/>
          <a:srcRect r="77083" b="70000"/>
          <a:stretch>
            <a:fillRect/>
          </a:stretch>
        </p:blipFill>
        <p:spPr bwMode="auto">
          <a:xfrm>
            <a:off x="228600" y="1828800"/>
            <a:ext cx="2514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7" name="Picture 12"/>
          <p:cNvPicPr>
            <a:picLocks noChangeAspect="1" noChangeArrowheads="1"/>
          </p:cNvPicPr>
          <p:nvPr/>
        </p:nvPicPr>
        <p:blipFill>
          <a:blip r:embed="rId3"/>
          <a:srcRect r="23973" b="63171"/>
          <a:stretch>
            <a:fillRect/>
          </a:stretch>
        </p:blipFill>
        <p:spPr bwMode="auto">
          <a:xfrm>
            <a:off x="95250" y="3886200"/>
            <a:ext cx="8961438" cy="271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8" name="Line 6"/>
          <p:cNvSpPr>
            <a:spLocks noChangeShapeType="1"/>
          </p:cNvSpPr>
          <p:nvPr/>
        </p:nvSpPr>
        <p:spPr bwMode="auto">
          <a:xfrm flipH="1">
            <a:off x="2667000" y="1981200"/>
            <a:ext cx="2667000" cy="76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289" name="Line 7"/>
          <p:cNvSpPr>
            <a:spLocks noChangeShapeType="1"/>
          </p:cNvSpPr>
          <p:nvPr/>
        </p:nvSpPr>
        <p:spPr bwMode="auto">
          <a:xfrm>
            <a:off x="8534400" y="2514600"/>
            <a:ext cx="76200" cy="1752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290" name="Line 8"/>
          <p:cNvSpPr>
            <a:spLocks noChangeShapeType="1"/>
          </p:cNvSpPr>
          <p:nvPr/>
        </p:nvSpPr>
        <p:spPr bwMode="auto">
          <a:xfrm flipH="1">
            <a:off x="2590800" y="3124200"/>
            <a:ext cx="2590800" cy="2667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291" name="TextBox 11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B0DFD18C-9279-4590-96D0-2B2A56D83589}" type="slidenum">
              <a:rPr lang="en-US" smtClean="0">
                <a:latin typeface="Arial" charset="0"/>
              </a:rPr>
              <a:pPr/>
              <a:t>36</a:t>
            </a:fld>
            <a:endParaRPr lang="en-US" smtClean="0">
              <a:latin typeface="Arial" charset="0"/>
            </a:endParaRPr>
          </a:p>
        </p:txBody>
      </p:sp>
      <p:sp>
        <p:nvSpPr>
          <p:cNvPr id="9830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830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B415A929-51C8-4718-8E0D-66C8BA4FED1F}" type="slidenum">
              <a:rPr lang="en-US" sz="1000"/>
              <a:pPr algn="r" defTabSz="852488"/>
              <a:t>36</a:t>
            </a:fld>
            <a:endParaRPr lang="en-US" sz="1000"/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General Descriptive Stats Using Microsoft Excel</a:t>
            </a:r>
          </a:p>
        </p:txBody>
      </p:sp>
      <p:sp>
        <p:nvSpPr>
          <p:cNvPr id="98309" name="Text Box 4"/>
          <p:cNvSpPr txBox="1">
            <a:spLocks noChangeArrowheads="1"/>
          </p:cNvSpPr>
          <p:nvPr/>
        </p:nvSpPr>
        <p:spPr bwMode="auto">
          <a:xfrm>
            <a:off x="228600" y="2286000"/>
            <a:ext cx="2514600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4. Enter the cell range.</a:t>
            </a:r>
          </a:p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5. Check the Summary Statistics box.</a:t>
            </a:r>
          </a:p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6. Click OK</a:t>
            </a:r>
          </a:p>
          <a:p>
            <a:pPr eaLnBrk="0" hangingPunct="0">
              <a:spcBef>
                <a:spcPct val="50000"/>
              </a:spcBef>
            </a:pPr>
            <a:endParaRPr lang="en-US">
              <a:latin typeface="Times New Roman" pitchFamily="18" charset="0"/>
            </a:endParaRPr>
          </a:p>
        </p:txBody>
      </p:sp>
      <p:pic>
        <p:nvPicPr>
          <p:cNvPr id="98310" name="Picture 9"/>
          <p:cNvPicPr>
            <a:picLocks noChangeAspect="1" noChangeArrowheads="1"/>
          </p:cNvPicPr>
          <p:nvPr/>
        </p:nvPicPr>
        <p:blipFill>
          <a:blip r:embed="rId2"/>
          <a:srcRect t="15207" r="67014" b="47221"/>
          <a:stretch>
            <a:fillRect/>
          </a:stretch>
        </p:blipFill>
        <p:spPr bwMode="auto">
          <a:xfrm>
            <a:off x="3429000" y="1905000"/>
            <a:ext cx="55657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11" name="Line 5"/>
          <p:cNvSpPr>
            <a:spLocks noChangeShapeType="1"/>
          </p:cNvSpPr>
          <p:nvPr/>
        </p:nvSpPr>
        <p:spPr bwMode="auto">
          <a:xfrm>
            <a:off x="1676400" y="2819400"/>
            <a:ext cx="4724400" cy="76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8312" name="Line 6"/>
          <p:cNvSpPr>
            <a:spLocks noChangeShapeType="1"/>
          </p:cNvSpPr>
          <p:nvPr/>
        </p:nvSpPr>
        <p:spPr bwMode="auto">
          <a:xfrm>
            <a:off x="1828800" y="3733800"/>
            <a:ext cx="2895600" cy="10668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8313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6B0755C3-2718-4A1D-88EE-A0F30025B694}" type="slidenum">
              <a:rPr lang="en-US" smtClean="0">
                <a:latin typeface="Arial" charset="0"/>
              </a:rPr>
              <a:pPr/>
              <a:t>37</a:t>
            </a:fld>
            <a:endParaRPr lang="en-US" smtClean="0">
              <a:latin typeface="Arial" charset="0"/>
            </a:endParaRPr>
          </a:p>
        </p:txBody>
      </p:sp>
      <p:sp>
        <p:nvSpPr>
          <p:cNvPr id="9933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228600"/>
            <a:ext cx="5775325" cy="990600"/>
          </a:xfrm>
        </p:spPr>
        <p:txBody>
          <a:bodyPr/>
          <a:lstStyle/>
          <a:p>
            <a:pPr defTabSz="914400"/>
            <a:r>
              <a:rPr lang="en-US" smtClean="0"/>
              <a:t>Excel output</a:t>
            </a:r>
          </a:p>
        </p:txBody>
      </p:sp>
      <p:sp>
        <p:nvSpPr>
          <p:cNvPr id="99332" name="Text Box 3"/>
          <p:cNvSpPr txBox="1">
            <a:spLocks noChangeArrowheads="1"/>
          </p:cNvSpPr>
          <p:nvPr/>
        </p:nvSpPr>
        <p:spPr bwMode="auto">
          <a:xfrm>
            <a:off x="254000" y="1600200"/>
            <a:ext cx="3995738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>
                <a:solidFill>
                  <a:schemeClr val="bg2"/>
                </a:solidFill>
              </a:rPr>
              <a:t>Microsoft Excel 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>
                <a:solidFill>
                  <a:schemeClr val="bg2"/>
                </a:solidFill>
              </a:rPr>
              <a:t>descriptive statistics output, 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>
                <a:solidFill>
                  <a:schemeClr val="bg2"/>
                </a:solidFill>
              </a:rPr>
              <a:t>using the house price data:</a:t>
            </a:r>
          </a:p>
        </p:txBody>
      </p:sp>
      <p:sp>
        <p:nvSpPr>
          <p:cNvPr id="99333" name="Text Box 4"/>
          <p:cNvSpPr txBox="1">
            <a:spLocks noChangeArrowheads="1"/>
          </p:cNvSpPr>
          <p:nvPr/>
        </p:nvSpPr>
        <p:spPr bwMode="auto">
          <a:xfrm>
            <a:off x="1143000" y="2971800"/>
            <a:ext cx="2057400" cy="2397125"/>
          </a:xfrm>
          <a:prstGeom prst="rect">
            <a:avLst/>
          </a:prstGeom>
          <a:solidFill>
            <a:srgbClr val="CBDDF7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b="1"/>
              <a:t>House Prices: </a:t>
            </a:r>
            <a:br>
              <a:rPr lang="en-US" sz="2000" b="1"/>
            </a:br>
            <a:r>
              <a:rPr lang="en-US" sz="2000" b="1"/>
              <a:t/>
            </a:r>
            <a:br>
              <a:rPr lang="en-US" sz="2000" b="1"/>
            </a:br>
            <a:r>
              <a:rPr lang="en-US" sz="2000" b="1"/>
              <a:t>       $2,000,000</a:t>
            </a:r>
          </a:p>
          <a:p>
            <a:pPr eaLnBrk="0" hangingPunct="0"/>
            <a:r>
              <a:rPr lang="en-US" sz="2000" b="1"/>
              <a:t>            500,000</a:t>
            </a:r>
            <a:br>
              <a:rPr lang="en-US" sz="2000" b="1"/>
            </a:br>
            <a:r>
              <a:rPr lang="en-US" sz="2000" b="1"/>
              <a:t>            300,000</a:t>
            </a:r>
            <a:br>
              <a:rPr lang="en-US" sz="2000" b="1"/>
            </a:br>
            <a:r>
              <a:rPr lang="en-US" sz="2000" b="1"/>
              <a:t>            100,000</a:t>
            </a:r>
            <a:br>
              <a:rPr lang="en-US" sz="2000" b="1"/>
            </a:br>
            <a:r>
              <a:rPr lang="en-US" sz="2000" b="1"/>
              <a:t>            100,000</a:t>
            </a:r>
          </a:p>
          <a:p>
            <a:pPr eaLnBrk="0" hangingPunct="0"/>
            <a:endParaRPr lang="en-US" sz="1000" b="1"/>
          </a:p>
        </p:txBody>
      </p:sp>
      <p:pic>
        <p:nvPicPr>
          <p:cNvPr id="99334" name="Picture 15"/>
          <p:cNvPicPr>
            <a:picLocks noChangeAspect="1" noChangeArrowheads="1"/>
          </p:cNvPicPr>
          <p:nvPr/>
        </p:nvPicPr>
        <p:blipFill>
          <a:blip r:embed="rId3"/>
          <a:srcRect t="15868" r="85417" b="53333"/>
          <a:stretch>
            <a:fillRect/>
          </a:stretch>
        </p:blipFill>
        <p:spPr bwMode="auto">
          <a:xfrm>
            <a:off x="5105400" y="1600200"/>
            <a:ext cx="2438400" cy="468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5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933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528372F-B3EF-4C40-8EDF-4015A8CAB0DB}" type="slidenum">
              <a:rPr lang="en-US" sz="1000"/>
              <a:pPr algn="r" defTabSz="852488"/>
              <a:t>37</a:t>
            </a:fld>
            <a:endParaRPr lang="en-US" sz="1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4189E8E4-E88E-401F-BFFD-AC59ED17F578}" type="slidenum">
              <a:rPr lang="en-US" smtClean="0">
                <a:latin typeface="Arial" charset="0"/>
              </a:rPr>
              <a:pPr/>
              <a:t>38</a:t>
            </a:fld>
            <a:endParaRPr lang="en-US" smtClean="0">
              <a:latin typeface="Arial" charset="0"/>
            </a:endParaRPr>
          </a:p>
        </p:txBody>
      </p:sp>
      <p:sp>
        <p:nvSpPr>
          <p:cNvPr id="10137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13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Minitab Output</a:t>
            </a:r>
          </a:p>
        </p:txBody>
      </p:sp>
      <p:sp>
        <p:nvSpPr>
          <p:cNvPr id="10138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3-</a:t>
            </a:r>
            <a:fld id="{E897A25C-412D-4D98-A410-8DC4B92CD9CF}" type="slidenum">
              <a:rPr lang="en-US" sz="1000"/>
              <a:pPr algn="r"/>
              <a:t>38</a:t>
            </a:fld>
            <a:endParaRPr lang="en-US" sz="1000"/>
          </a:p>
        </p:txBody>
      </p:sp>
      <p:sp>
        <p:nvSpPr>
          <p:cNvPr id="101381" name="Rectangle 6"/>
          <p:cNvSpPr>
            <a:spLocks noChangeArrowheads="1"/>
          </p:cNvSpPr>
          <p:nvPr/>
        </p:nvSpPr>
        <p:spPr bwMode="auto">
          <a:xfrm>
            <a:off x="762000" y="2209800"/>
            <a:ext cx="6858000" cy="203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Descriptive Statistics: House Price </a:t>
            </a:r>
          </a:p>
          <a:p>
            <a:endParaRPr lang="en-US" sz="1400" b="1"/>
          </a:p>
          <a:p>
            <a:r>
              <a:rPr lang="en-US" sz="1400"/>
              <a:t>                    Total</a:t>
            </a:r>
          </a:p>
          <a:p>
            <a:r>
              <a:rPr lang="en-US" sz="1400"/>
              <a:t>Variable     Count    Mean  SE Mean   StDev     Variance           Sum  Minimum</a:t>
            </a:r>
          </a:p>
          <a:p>
            <a:r>
              <a:rPr lang="en-US" sz="1400"/>
              <a:t>House Price      5  600000   357771  800000  6.40000E+11  3000000   100000</a:t>
            </a:r>
          </a:p>
          <a:p>
            <a:endParaRPr lang="en-US" sz="1400"/>
          </a:p>
          <a:p>
            <a:r>
              <a:rPr lang="en-US" sz="1400"/>
              <a:t>                                               N for</a:t>
            </a:r>
          </a:p>
          <a:p>
            <a:r>
              <a:rPr lang="en-US" sz="1400"/>
              <a:t>Variable        Median  Maximum    Range    Mode    Skewness  Kurtosis</a:t>
            </a:r>
          </a:p>
          <a:p>
            <a:r>
              <a:rPr lang="en-US" sz="1400"/>
              <a:t>House Price  300000  2000000  1900000  100000      2.01           4.13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AB0AC40-5E40-43CC-9057-7E02C97304AA}" type="slidenum">
              <a:rPr lang="en-US" smtClean="0">
                <a:latin typeface="Arial" charset="0"/>
              </a:rPr>
              <a:pPr/>
              <a:t>39</a:t>
            </a:fld>
            <a:endParaRPr lang="en-US" smtClean="0">
              <a:latin typeface="Arial" charset="0"/>
            </a:endParaRPr>
          </a:p>
        </p:txBody>
      </p:sp>
      <p:sp>
        <p:nvSpPr>
          <p:cNvPr id="10240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24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7A914419-DDB1-4BFF-AB86-BC7AB5DF85A8}" type="slidenum">
              <a:rPr lang="en-US" sz="1000"/>
              <a:pPr algn="r" defTabSz="852488"/>
              <a:t>39</a:t>
            </a:fld>
            <a:endParaRPr lang="en-US" sz="1000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Quartile Measures</a:t>
            </a:r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467600" cy="950913"/>
          </a:xfrm>
        </p:spPr>
        <p:txBody>
          <a:bodyPr/>
          <a:lstStyle/>
          <a:p>
            <a:pPr eaLnBrk="1" hangingPunct="1"/>
            <a:r>
              <a:rPr lang="en-US" sz="2400" smtClean="0"/>
              <a:t>Quartiles split the ranked data into 4 segments with an equal number of values per segment</a:t>
            </a:r>
          </a:p>
        </p:txBody>
      </p:sp>
      <p:grpSp>
        <p:nvGrpSpPr>
          <p:cNvPr id="102406" name="Group 26"/>
          <p:cNvGrpSpPr>
            <a:grpSpLocks/>
          </p:cNvGrpSpPr>
          <p:nvPr/>
        </p:nvGrpSpPr>
        <p:grpSpPr bwMode="auto">
          <a:xfrm>
            <a:off x="1752600" y="2667000"/>
            <a:ext cx="1219200" cy="457200"/>
            <a:chOff x="1008" y="1776"/>
            <a:chExt cx="768" cy="288"/>
          </a:xfrm>
        </p:grpSpPr>
        <p:sp>
          <p:nvSpPr>
            <p:cNvPr id="102424" name="Rectangle 6"/>
            <p:cNvSpPr>
              <a:spLocks noChangeArrowheads="1"/>
            </p:cNvSpPr>
            <p:nvPr/>
          </p:nvSpPr>
          <p:spPr bwMode="auto">
            <a:xfrm>
              <a:off x="1008" y="1776"/>
              <a:ext cx="768" cy="288"/>
            </a:xfrm>
            <a:prstGeom prst="rect">
              <a:avLst/>
            </a:prstGeom>
            <a:solidFill>
              <a:srgbClr val="B9B9E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425" name="Rectangle 10"/>
            <p:cNvSpPr>
              <a:spLocks noChangeArrowheads="1"/>
            </p:cNvSpPr>
            <p:nvPr/>
          </p:nvSpPr>
          <p:spPr bwMode="auto">
            <a:xfrm>
              <a:off x="1101" y="1777"/>
              <a:ext cx="58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25%</a:t>
              </a:r>
            </a:p>
          </p:txBody>
        </p:sp>
      </p:grpSp>
      <p:sp>
        <p:nvSpPr>
          <p:cNvPr id="102407" name="AutoShape 15"/>
          <p:cNvSpPr>
            <a:spLocks noChangeArrowheads="1"/>
          </p:cNvSpPr>
          <p:nvPr/>
        </p:nvSpPr>
        <p:spPr bwMode="auto">
          <a:xfrm rot="-5400000">
            <a:off x="2857500" y="3238500"/>
            <a:ext cx="228600" cy="152400"/>
          </a:xfrm>
          <a:prstGeom prst="rightArrow">
            <a:avLst>
              <a:gd name="adj1" fmla="val 50000"/>
              <a:gd name="adj2" fmla="val 37778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08" name="Rectangle 16"/>
          <p:cNvSpPr>
            <a:spLocks noChangeArrowheads="1"/>
          </p:cNvSpPr>
          <p:nvPr/>
        </p:nvSpPr>
        <p:spPr bwMode="auto">
          <a:xfrm>
            <a:off x="685800" y="4038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300">
                <a:solidFill>
                  <a:schemeClr val="folHlink"/>
                </a:solidFill>
              </a:rPr>
              <a:t>The first quartile, Q</a:t>
            </a:r>
            <a:r>
              <a:rPr lang="en-US" sz="2300" baseline="-25000">
                <a:solidFill>
                  <a:schemeClr val="folHlink"/>
                </a:solidFill>
              </a:rPr>
              <a:t>1</a:t>
            </a:r>
            <a:r>
              <a:rPr lang="en-US" sz="2300">
                <a:solidFill>
                  <a:schemeClr val="folHlink"/>
                </a:solidFill>
              </a:rPr>
              <a:t>, is the value for which 25% of the observations are smaller and 75% are larger</a:t>
            </a:r>
          </a:p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300">
                <a:solidFill>
                  <a:schemeClr val="folHlink"/>
                </a:solidFill>
              </a:rPr>
              <a:t>Q</a:t>
            </a:r>
            <a:r>
              <a:rPr lang="en-US" sz="2300" baseline="-25000">
                <a:solidFill>
                  <a:schemeClr val="folHlink"/>
                </a:solidFill>
              </a:rPr>
              <a:t>2</a:t>
            </a:r>
            <a:r>
              <a:rPr lang="en-US" sz="2300">
                <a:solidFill>
                  <a:schemeClr val="folHlink"/>
                </a:solidFill>
              </a:rPr>
              <a:t> is the same as the median (50% of the observations are smaller and 50% are larger)</a:t>
            </a:r>
          </a:p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300">
                <a:solidFill>
                  <a:schemeClr val="folHlink"/>
                </a:solidFill>
              </a:rPr>
              <a:t>Only 25% of the observations are greater than the third quartile</a:t>
            </a:r>
          </a:p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sz="2300">
              <a:solidFill>
                <a:schemeClr val="folHlink"/>
              </a:solidFill>
            </a:endParaRPr>
          </a:p>
        </p:txBody>
      </p:sp>
      <p:sp>
        <p:nvSpPr>
          <p:cNvPr id="102409" name="AutoShape 18"/>
          <p:cNvSpPr>
            <a:spLocks noChangeArrowheads="1"/>
          </p:cNvSpPr>
          <p:nvPr/>
        </p:nvSpPr>
        <p:spPr bwMode="auto">
          <a:xfrm rot="-5400000">
            <a:off x="4076700" y="3238500"/>
            <a:ext cx="228600" cy="152400"/>
          </a:xfrm>
          <a:prstGeom prst="rightArrow">
            <a:avLst>
              <a:gd name="adj1" fmla="val 50000"/>
              <a:gd name="adj2" fmla="val 37778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10" name="AutoShape 19"/>
          <p:cNvSpPr>
            <a:spLocks noChangeArrowheads="1"/>
          </p:cNvSpPr>
          <p:nvPr/>
        </p:nvSpPr>
        <p:spPr bwMode="auto">
          <a:xfrm rot="-5400000">
            <a:off x="5295900" y="3238500"/>
            <a:ext cx="228600" cy="152400"/>
          </a:xfrm>
          <a:prstGeom prst="rightArrow">
            <a:avLst>
              <a:gd name="adj1" fmla="val 50000"/>
              <a:gd name="adj2" fmla="val 37778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11" name="Rectangle 22"/>
          <p:cNvSpPr>
            <a:spLocks noChangeArrowheads="1"/>
          </p:cNvSpPr>
          <p:nvPr/>
        </p:nvSpPr>
        <p:spPr bwMode="auto">
          <a:xfrm>
            <a:off x="2667000" y="3429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300"/>
              <a:t>Q1</a:t>
            </a:r>
          </a:p>
        </p:txBody>
      </p:sp>
      <p:sp>
        <p:nvSpPr>
          <p:cNvPr id="102412" name="Rectangle 23"/>
          <p:cNvSpPr>
            <a:spLocks noChangeArrowheads="1"/>
          </p:cNvSpPr>
          <p:nvPr/>
        </p:nvSpPr>
        <p:spPr bwMode="auto">
          <a:xfrm>
            <a:off x="3886200" y="3429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300"/>
              <a:t>Q2</a:t>
            </a:r>
          </a:p>
        </p:txBody>
      </p:sp>
      <p:sp>
        <p:nvSpPr>
          <p:cNvPr id="102413" name="Rectangle 24"/>
          <p:cNvSpPr>
            <a:spLocks noChangeArrowheads="1"/>
          </p:cNvSpPr>
          <p:nvPr/>
        </p:nvSpPr>
        <p:spPr bwMode="auto">
          <a:xfrm>
            <a:off x="5105400" y="3429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300"/>
              <a:t>Q3</a:t>
            </a:r>
          </a:p>
        </p:txBody>
      </p:sp>
      <p:grpSp>
        <p:nvGrpSpPr>
          <p:cNvPr id="102414" name="Group 27"/>
          <p:cNvGrpSpPr>
            <a:grpSpLocks/>
          </p:cNvGrpSpPr>
          <p:nvPr/>
        </p:nvGrpSpPr>
        <p:grpSpPr bwMode="auto">
          <a:xfrm>
            <a:off x="2971800" y="2667000"/>
            <a:ext cx="1219200" cy="457200"/>
            <a:chOff x="1008" y="1776"/>
            <a:chExt cx="768" cy="288"/>
          </a:xfrm>
        </p:grpSpPr>
        <p:sp>
          <p:nvSpPr>
            <p:cNvPr id="102422" name="Rectangle 28"/>
            <p:cNvSpPr>
              <a:spLocks noChangeArrowheads="1"/>
            </p:cNvSpPr>
            <p:nvPr/>
          </p:nvSpPr>
          <p:spPr bwMode="auto">
            <a:xfrm>
              <a:off x="1008" y="1776"/>
              <a:ext cx="768" cy="288"/>
            </a:xfrm>
            <a:prstGeom prst="rect">
              <a:avLst/>
            </a:prstGeom>
            <a:solidFill>
              <a:srgbClr val="B9B9E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423" name="Rectangle 29"/>
            <p:cNvSpPr>
              <a:spLocks noChangeArrowheads="1"/>
            </p:cNvSpPr>
            <p:nvPr/>
          </p:nvSpPr>
          <p:spPr bwMode="auto">
            <a:xfrm>
              <a:off x="1101" y="1777"/>
              <a:ext cx="58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25%</a:t>
              </a:r>
            </a:p>
          </p:txBody>
        </p:sp>
      </p:grpSp>
      <p:grpSp>
        <p:nvGrpSpPr>
          <p:cNvPr id="102415" name="Group 30"/>
          <p:cNvGrpSpPr>
            <a:grpSpLocks/>
          </p:cNvGrpSpPr>
          <p:nvPr/>
        </p:nvGrpSpPr>
        <p:grpSpPr bwMode="auto">
          <a:xfrm>
            <a:off x="4191000" y="2667000"/>
            <a:ext cx="1219200" cy="457200"/>
            <a:chOff x="1008" y="1776"/>
            <a:chExt cx="768" cy="288"/>
          </a:xfrm>
        </p:grpSpPr>
        <p:sp>
          <p:nvSpPr>
            <p:cNvPr id="102420" name="Rectangle 31"/>
            <p:cNvSpPr>
              <a:spLocks noChangeArrowheads="1"/>
            </p:cNvSpPr>
            <p:nvPr/>
          </p:nvSpPr>
          <p:spPr bwMode="auto">
            <a:xfrm>
              <a:off x="1008" y="1776"/>
              <a:ext cx="768" cy="288"/>
            </a:xfrm>
            <a:prstGeom prst="rect">
              <a:avLst/>
            </a:prstGeom>
            <a:solidFill>
              <a:srgbClr val="B9B9E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421" name="Rectangle 32"/>
            <p:cNvSpPr>
              <a:spLocks noChangeArrowheads="1"/>
            </p:cNvSpPr>
            <p:nvPr/>
          </p:nvSpPr>
          <p:spPr bwMode="auto">
            <a:xfrm>
              <a:off x="1101" y="1777"/>
              <a:ext cx="58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25%</a:t>
              </a:r>
            </a:p>
          </p:txBody>
        </p:sp>
      </p:grpSp>
      <p:grpSp>
        <p:nvGrpSpPr>
          <p:cNvPr id="102416" name="Group 33"/>
          <p:cNvGrpSpPr>
            <a:grpSpLocks/>
          </p:cNvGrpSpPr>
          <p:nvPr/>
        </p:nvGrpSpPr>
        <p:grpSpPr bwMode="auto">
          <a:xfrm>
            <a:off x="5410200" y="2667000"/>
            <a:ext cx="1219200" cy="457200"/>
            <a:chOff x="1008" y="1776"/>
            <a:chExt cx="768" cy="288"/>
          </a:xfrm>
        </p:grpSpPr>
        <p:sp>
          <p:nvSpPr>
            <p:cNvPr id="102418" name="Rectangle 34"/>
            <p:cNvSpPr>
              <a:spLocks noChangeArrowheads="1"/>
            </p:cNvSpPr>
            <p:nvPr/>
          </p:nvSpPr>
          <p:spPr bwMode="auto">
            <a:xfrm>
              <a:off x="1008" y="1776"/>
              <a:ext cx="768" cy="288"/>
            </a:xfrm>
            <a:prstGeom prst="rect">
              <a:avLst/>
            </a:prstGeom>
            <a:solidFill>
              <a:srgbClr val="B9B9E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419" name="Rectangle 35"/>
            <p:cNvSpPr>
              <a:spLocks noChangeArrowheads="1"/>
            </p:cNvSpPr>
            <p:nvPr/>
          </p:nvSpPr>
          <p:spPr bwMode="auto">
            <a:xfrm>
              <a:off x="1101" y="1777"/>
              <a:ext cx="58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25%</a:t>
              </a:r>
            </a:p>
          </p:txBody>
        </p:sp>
      </p:grpSp>
      <p:sp>
        <p:nvSpPr>
          <p:cNvPr id="102417" name="TextBox 25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F6F0BBF-25CB-4360-B718-39A1F241F712}" type="slidenum">
              <a:rPr lang="en-US" smtClean="0">
                <a:latin typeface="Arial" charset="0"/>
              </a:rPr>
              <a:pPr/>
              <a:t>40</a:t>
            </a:fld>
            <a:endParaRPr lang="en-US" smtClean="0">
              <a:latin typeface="Arial" charset="0"/>
            </a:endParaRPr>
          </a:p>
        </p:txBody>
      </p:sp>
      <p:sp>
        <p:nvSpPr>
          <p:cNvPr id="10342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3427" name="Slide Number Placeholder 3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B0BF1F05-A71E-476E-9394-2260473F6BDE}" type="slidenum">
              <a:rPr lang="en-US" sz="1000"/>
              <a:pPr algn="r" defTabSz="852488"/>
              <a:t>40</a:t>
            </a:fld>
            <a:endParaRPr lang="en-US" sz="1000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5775325" cy="838200"/>
          </a:xfrm>
        </p:spPr>
        <p:txBody>
          <a:bodyPr/>
          <a:lstStyle/>
          <a:p>
            <a:pPr defTabSz="914400" eaLnBrk="1" hangingPunct="1"/>
            <a:r>
              <a:rPr lang="en-US" sz="3600" smtClean="0"/>
              <a:t>Quartile Measures:</a:t>
            </a:r>
            <a:br>
              <a:rPr lang="en-US" sz="3600" smtClean="0"/>
            </a:br>
            <a:r>
              <a:rPr lang="en-US" sz="3600" smtClean="0"/>
              <a:t>Locating Quartiles</a:t>
            </a:r>
          </a:p>
        </p:txBody>
      </p:sp>
      <p:sp>
        <p:nvSpPr>
          <p:cNvPr id="103429" name="Text Box 3"/>
          <p:cNvSpPr txBox="1">
            <a:spLocks noChangeArrowheads="1"/>
          </p:cNvSpPr>
          <p:nvPr/>
        </p:nvSpPr>
        <p:spPr bwMode="auto">
          <a:xfrm>
            <a:off x="228600" y="1905000"/>
            <a:ext cx="8610600" cy="394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800">
                <a:solidFill>
                  <a:schemeClr val="bg2"/>
                </a:solidFill>
              </a:rPr>
              <a:t>Find a quartile by determining the value in the appropriate position in the ranked data, where</a:t>
            </a:r>
          </a:p>
          <a:p>
            <a:pPr eaLnBrk="0" hangingPunct="0"/>
            <a:endParaRPr lang="en-US">
              <a:solidFill>
                <a:schemeClr val="bg2"/>
              </a:solidFill>
            </a:endParaRPr>
          </a:p>
          <a:p>
            <a:pPr eaLnBrk="0" hangingPunct="0"/>
            <a:r>
              <a:rPr lang="en-US">
                <a:solidFill>
                  <a:schemeClr val="bg2"/>
                </a:solidFill>
              </a:rPr>
              <a:t>  First quartile position:</a:t>
            </a:r>
            <a:r>
              <a:rPr lang="en-US"/>
              <a:t>  </a:t>
            </a:r>
            <a:r>
              <a:rPr lang="en-US">
                <a:solidFill>
                  <a:schemeClr val="hlink"/>
                </a:solidFill>
              </a:rPr>
              <a:t>	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1</a:t>
            </a:r>
            <a:r>
              <a:rPr lang="en-US" b="1">
                <a:solidFill>
                  <a:schemeClr val="folHlink"/>
                </a:solidFill>
              </a:rPr>
              <a:t> = (n+1)/4    </a:t>
            </a:r>
            <a:r>
              <a:rPr lang="en-US"/>
              <a:t>ranked value</a:t>
            </a:r>
          </a:p>
          <a:p>
            <a:pPr eaLnBrk="0" hangingPunct="0"/>
            <a:endParaRPr lang="en-US"/>
          </a:p>
          <a:p>
            <a:pPr eaLnBrk="0" hangingPunct="0"/>
            <a:r>
              <a:rPr lang="en-US"/>
              <a:t>  </a:t>
            </a:r>
            <a:r>
              <a:rPr lang="en-US">
                <a:solidFill>
                  <a:schemeClr val="bg2"/>
                </a:solidFill>
              </a:rPr>
              <a:t>Second quartile position:</a:t>
            </a:r>
            <a:r>
              <a:rPr lang="en-US"/>
              <a:t>  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2</a:t>
            </a:r>
            <a:r>
              <a:rPr lang="en-US" b="1">
                <a:solidFill>
                  <a:schemeClr val="folHlink"/>
                </a:solidFill>
              </a:rPr>
              <a:t> = (n+1)/2</a:t>
            </a:r>
            <a:r>
              <a:rPr lang="en-US"/>
              <a:t>  </a:t>
            </a:r>
            <a:r>
              <a:rPr lang="en-US">
                <a:solidFill>
                  <a:schemeClr val="hlink"/>
                </a:solidFill>
              </a:rPr>
              <a:t>  </a:t>
            </a:r>
            <a:r>
              <a:rPr lang="en-US"/>
              <a:t>ranked value</a:t>
            </a:r>
          </a:p>
          <a:p>
            <a:pPr eaLnBrk="0" hangingPunct="0"/>
            <a:endParaRPr lang="en-US">
              <a:solidFill>
                <a:schemeClr val="folHlink"/>
              </a:solidFill>
            </a:endParaRPr>
          </a:p>
          <a:p>
            <a:pPr eaLnBrk="0" hangingPunct="0"/>
            <a:r>
              <a:rPr lang="en-US"/>
              <a:t>  </a:t>
            </a:r>
            <a:r>
              <a:rPr lang="en-US">
                <a:solidFill>
                  <a:schemeClr val="bg2"/>
                </a:solidFill>
              </a:rPr>
              <a:t>Third quartile position:</a:t>
            </a:r>
            <a:r>
              <a:rPr lang="en-US"/>
              <a:t>   	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3</a:t>
            </a:r>
            <a:r>
              <a:rPr lang="en-US" b="1">
                <a:solidFill>
                  <a:schemeClr val="folHlink"/>
                </a:solidFill>
              </a:rPr>
              <a:t> = 3(n+1)/4  </a:t>
            </a:r>
            <a:r>
              <a:rPr lang="en-US"/>
              <a:t>ranked value</a:t>
            </a:r>
          </a:p>
          <a:p>
            <a:pPr eaLnBrk="0" hangingPunct="0"/>
            <a:endParaRPr lang="en-US">
              <a:solidFill>
                <a:schemeClr val="hlink"/>
              </a:solidFill>
            </a:endParaRPr>
          </a:p>
          <a:p>
            <a:pPr eaLnBrk="0" hangingPunct="0">
              <a:lnSpc>
                <a:spcPct val="50000"/>
              </a:lnSpc>
            </a:pPr>
            <a:endParaRPr lang="en-US">
              <a:solidFill>
                <a:schemeClr val="hlink"/>
              </a:solidFill>
            </a:endParaRPr>
          </a:p>
          <a:p>
            <a:pPr eaLnBrk="0" hangingPunct="0">
              <a:lnSpc>
                <a:spcPct val="70000"/>
              </a:lnSpc>
            </a:pPr>
            <a:r>
              <a:rPr lang="en-US"/>
              <a:t>		  </a:t>
            </a:r>
            <a:r>
              <a:rPr lang="en-US">
                <a:solidFill>
                  <a:schemeClr val="bg2"/>
                </a:solidFill>
              </a:rPr>
              <a:t>where</a:t>
            </a:r>
            <a:r>
              <a:rPr lang="en-US"/>
              <a:t>  </a:t>
            </a:r>
            <a:r>
              <a:rPr lang="en-US" b="1">
                <a:solidFill>
                  <a:schemeClr val="folHlink"/>
                </a:solidFill>
              </a:rPr>
              <a:t>n</a:t>
            </a:r>
            <a:r>
              <a:rPr lang="en-US"/>
              <a:t>  </a:t>
            </a:r>
            <a:r>
              <a:rPr lang="en-US">
                <a:solidFill>
                  <a:schemeClr val="bg2"/>
                </a:solidFill>
              </a:rPr>
              <a:t>is the number of observed values</a:t>
            </a:r>
          </a:p>
        </p:txBody>
      </p:sp>
      <p:sp>
        <p:nvSpPr>
          <p:cNvPr id="103430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7D95B0D-36B7-48C7-83F0-4177AF1516B8}" type="slidenum">
              <a:rPr lang="en-US" smtClean="0">
                <a:latin typeface="Arial" charset="0"/>
              </a:rPr>
              <a:pPr/>
              <a:t>41</a:t>
            </a:fld>
            <a:endParaRPr lang="en-US" smtClean="0">
              <a:latin typeface="Arial" charset="0"/>
            </a:endParaRPr>
          </a:p>
        </p:txBody>
      </p:sp>
      <p:sp>
        <p:nvSpPr>
          <p:cNvPr id="1044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44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D0CC4DE-E652-4718-9D83-520E567E0555}" type="slidenum">
              <a:rPr lang="en-US" sz="1000"/>
              <a:pPr algn="r" defTabSz="852488"/>
              <a:t>41</a:t>
            </a:fld>
            <a:endParaRPr lang="en-US" sz="1000"/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Quartile Measures:</a:t>
            </a:r>
            <a:br>
              <a:rPr lang="en-US" sz="3600" smtClean="0"/>
            </a:br>
            <a:r>
              <a:rPr lang="en-US" sz="3600" smtClean="0"/>
              <a:t>Calculation Rules</a:t>
            </a:r>
          </a:p>
        </p:txBody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When calculating the ranked position use the following rules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the result is a whole number then it is the ranked position to use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the result is a fractional half (e.g. 2.5, 7.5, 8.5, etc.) then average the two corresponding data values.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the result is not a whole number or a fractional half then round the result to the nearest integer to find the ranked position.</a:t>
            </a:r>
          </a:p>
        </p:txBody>
      </p:sp>
      <p:sp>
        <p:nvSpPr>
          <p:cNvPr id="104454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0F851B70-3016-425F-99F3-3692CBBB569A}" type="slidenum">
              <a:rPr lang="en-US" smtClean="0">
                <a:latin typeface="Arial" charset="0"/>
              </a:rPr>
              <a:pPr/>
              <a:t>42</a:t>
            </a:fld>
            <a:endParaRPr lang="en-US" smtClean="0">
              <a:latin typeface="Arial" charset="0"/>
            </a:endParaRPr>
          </a:p>
        </p:txBody>
      </p:sp>
      <p:sp>
        <p:nvSpPr>
          <p:cNvPr id="10547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54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C80BDC5-2DE6-41BA-8E60-CF184F4D4B05}" type="slidenum">
              <a:rPr lang="en-US" sz="1000"/>
              <a:pPr algn="r" defTabSz="852488"/>
              <a:t>42</a:t>
            </a:fld>
            <a:endParaRPr lang="en-US" sz="1000"/>
          </a:p>
        </p:txBody>
      </p:sp>
      <p:sp>
        <p:nvSpPr>
          <p:cNvPr id="105476" name="Rectangle 2"/>
          <p:cNvSpPr>
            <a:spLocks noChangeArrowheads="1"/>
          </p:cNvSpPr>
          <p:nvPr/>
        </p:nvSpPr>
        <p:spPr bwMode="auto">
          <a:xfrm>
            <a:off x="4572000" y="4953000"/>
            <a:ext cx="16002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5477" name="Rectangle 3"/>
          <p:cNvSpPr>
            <a:spLocks noChangeArrowheads="1"/>
          </p:cNvSpPr>
          <p:nvPr/>
        </p:nvSpPr>
        <p:spPr bwMode="auto">
          <a:xfrm>
            <a:off x="2743200" y="3657600"/>
            <a:ext cx="2971800" cy="6096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5478" name="Rectangle 17"/>
          <p:cNvSpPr>
            <a:spLocks noChangeArrowheads="1"/>
          </p:cNvSpPr>
          <p:nvPr/>
        </p:nvSpPr>
        <p:spPr bwMode="auto">
          <a:xfrm>
            <a:off x="533400" y="3276600"/>
            <a:ext cx="8229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    (n = 9)</a:t>
            </a:r>
          </a:p>
          <a:p>
            <a:pPr marL="320675" indent="-320675" defTabSz="85248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    Q</a:t>
            </a:r>
            <a:r>
              <a:rPr lang="en-US" baseline="-25000"/>
              <a:t>1</a:t>
            </a:r>
            <a:r>
              <a:rPr lang="en-US"/>
              <a:t>  is in the</a:t>
            </a:r>
            <a:r>
              <a:rPr lang="en-US" sz="1900"/>
              <a:t>    </a:t>
            </a:r>
            <a:r>
              <a:rPr lang="en-US">
                <a:solidFill>
                  <a:schemeClr val="folHlink"/>
                </a:solidFill>
              </a:rPr>
              <a:t>(9+1)/4 = 2.5 position </a:t>
            </a:r>
            <a:r>
              <a:rPr lang="en-US"/>
              <a:t>of the ranked data</a:t>
            </a:r>
          </a:p>
          <a:p>
            <a:pPr marL="320675" indent="-320675" defTabSz="852488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900"/>
              <a:t>	</a:t>
            </a:r>
            <a:r>
              <a:rPr lang="en-US"/>
              <a:t>so use the value half way between the 2</a:t>
            </a:r>
            <a:r>
              <a:rPr lang="en-US" baseline="30000"/>
              <a:t>nd</a:t>
            </a:r>
            <a:r>
              <a:rPr lang="en-US"/>
              <a:t> and 3</a:t>
            </a:r>
            <a:r>
              <a:rPr lang="en-US" baseline="30000"/>
              <a:t>rd</a:t>
            </a:r>
            <a:r>
              <a:rPr lang="en-US"/>
              <a:t> values,</a:t>
            </a:r>
          </a:p>
          <a:p>
            <a:pPr marL="320675" indent="-320675" defTabSz="852488">
              <a:lnSpc>
                <a:spcPct val="2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900"/>
              <a:t>					</a:t>
            </a:r>
            <a:r>
              <a:rPr lang="en-US"/>
              <a:t>so    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1</a:t>
            </a:r>
            <a:r>
              <a:rPr lang="en-US" b="1">
                <a:solidFill>
                  <a:schemeClr val="folHlink"/>
                </a:solidFill>
              </a:rPr>
              <a:t> = 12.5</a:t>
            </a:r>
          </a:p>
        </p:txBody>
      </p:sp>
      <p:sp>
        <p:nvSpPr>
          <p:cNvPr id="1054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Quartile Measures:</a:t>
            </a:r>
            <a:br>
              <a:rPr lang="en-US" sz="3600" smtClean="0"/>
            </a:br>
            <a:r>
              <a:rPr lang="en-US" sz="3600" smtClean="0"/>
              <a:t>Locating Quartiles</a:t>
            </a:r>
          </a:p>
        </p:txBody>
      </p:sp>
      <p:sp>
        <p:nvSpPr>
          <p:cNvPr id="105480" name="Rectangle 14"/>
          <p:cNvSpPr>
            <a:spLocks noChangeArrowheads="1"/>
          </p:cNvSpPr>
          <p:nvPr/>
        </p:nvSpPr>
        <p:spPr bwMode="auto">
          <a:xfrm>
            <a:off x="457200" y="1676400"/>
            <a:ext cx="8310563" cy="46672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Sample Data in Ordered Array:  </a:t>
            </a:r>
            <a:r>
              <a:rPr lang="en-US" sz="2000" b="1">
                <a:solidFill>
                  <a:schemeClr val="tx2"/>
                </a:solidFill>
              </a:rPr>
              <a:t>11   12   13   16   16   17   18   21   22</a:t>
            </a:r>
            <a:r>
              <a:rPr lang="en-US" b="1"/>
              <a:t>  </a:t>
            </a:r>
          </a:p>
        </p:txBody>
      </p:sp>
      <p:sp>
        <p:nvSpPr>
          <p:cNvPr id="105481" name="AutoShape 25"/>
          <p:cNvSpPr>
            <a:spLocks noChangeArrowheads="1"/>
          </p:cNvSpPr>
          <p:nvPr/>
        </p:nvSpPr>
        <p:spPr bwMode="auto">
          <a:xfrm rot="-5400000">
            <a:off x="4957763" y="3086100"/>
            <a:ext cx="609600" cy="228600"/>
          </a:xfrm>
          <a:prstGeom prst="rightArrow">
            <a:avLst>
              <a:gd name="adj1" fmla="val 51398"/>
              <a:gd name="adj2" fmla="val 71432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5482" name="Rectangle 27"/>
          <p:cNvSpPr>
            <a:spLocks noChangeArrowheads="1"/>
          </p:cNvSpPr>
          <p:nvPr/>
        </p:nvSpPr>
        <p:spPr bwMode="auto">
          <a:xfrm>
            <a:off x="1828800" y="5791200"/>
            <a:ext cx="60960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 Q</a:t>
            </a:r>
            <a:r>
              <a:rPr lang="en-US" sz="2000" baseline="-25000"/>
              <a:t>1</a:t>
            </a:r>
            <a:r>
              <a:rPr lang="en-US" sz="2000"/>
              <a:t> and Q</a:t>
            </a:r>
            <a:r>
              <a:rPr lang="en-US" sz="2000" baseline="-25000"/>
              <a:t>3</a:t>
            </a:r>
            <a:r>
              <a:rPr lang="en-US" sz="2000"/>
              <a:t> are measures of non-central location</a:t>
            </a:r>
          </a:p>
          <a:p>
            <a:r>
              <a:rPr lang="en-US" sz="2000"/>
              <a:t> Q</a:t>
            </a:r>
            <a:r>
              <a:rPr lang="en-US" sz="2000" baseline="-25000"/>
              <a:t>2</a:t>
            </a:r>
            <a:r>
              <a:rPr lang="en-US" sz="2000"/>
              <a:t> = median, is a measure of central tendency</a:t>
            </a:r>
          </a:p>
        </p:txBody>
      </p:sp>
      <p:sp>
        <p:nvSpPr>
          <p:cNvPr id="105483" name="TextBox 11"/>
          <p:cNvSpPr txBox="1">
            <a:spLocks noChangeArrowheads="1"/>
          </p:cNvSpPr>
          <p:nvPr/>
        </p:nvSpPr>
        <p:spPr bwMode="auto">
          <a:xfrm>
            <a:off x="76200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9E7906E-7FDA-4A3B-A3AB-C1B154BCA87F}" type="slidenum">
              <a:rPr lang="en-US" smtClean="0">
                <a:latin typeface="Arial" charset="0"/>
              </a:rPr>
              <a:pPr/>
              <a:t>43</a:t>
            </a:fld>
            <a:endParaRPr lang="en-US" smtClean="0">
              <a:latin typeface="Arial" charset="0"/>
            </a:endParaRPr>
          </a:p>
        </p:txBody>
      </p:sp>
      <p:sp>
        <p:nvSpPr>
          <p:cNvPr id="10649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649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4FEA4F67-F13D-4B15-9892-E798A4EDADB1}" type="slidenum">
              <a:rPr lang="en-US" sz="1000"/>
              <a:pPr algn="r" defTabSz="852488"/>
              <a:t>43</a:t>
            </a:fld>
            <a:endParaRPr lang="en-US" sz="1000"/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381000" y="2209800"/>
            <a:ext cx="8458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    (n = 9)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Q</a:t>
            </a:r>
            <a:r>
              <a:rPr lang="en-US" baseline="-25000"/>
              <a:t>1</a:t>
            </a:r>
            <a:r>
              <a:rPr lang="en-US"/>
              <a:t> is in the</a:t>
            </a:r>
            <a:r>
              <a:rPr lang="en-US" sz="1900"/>
              <a:t>  </a:t>
            </a:r>
            <a:r>
              <a:rPr lang="en-US">
                <a:solidFill>
                  <a:schemeClr val="folHlink"/>
                </a:solidFill>
              </a:rPr>
              <a:t>(9+1)/4 = 2.5 position </a:t>
            </a:r>
            <a:r>
              <a:rPr lang="en-US"/>
              <a:t>of the ranked data,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900"/>
              <a:t>					</a:t>
            </a:r>
            <a:r>
              <a:rPr lang="en-US"/>
              <a:t>so    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1</a:t>
            </a:r>
            <a:r>
              <a:rPr lang="en-US" b="1">
                <a:solidFill>
                  <a:schemeClr val="folHlink"/>
                </a:solidFill>
              </a:rPr>
              <a:t> = (12+13)/2 = 12.5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1000" b="1">
              <a:solidFill>
                <a:schemeClr val="folHlink"/>
              </a:solidFill>
            </a:endParaRP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Q</a:t>
            </a:r>
            <a:r>
              <a:rPr lang="en-US" baseline="-25000"/>
              <a:t>2</a:t>
            </a:r>
            <a:r>
              <a:rPr lang="en-US"/>
              <a:t> is in the</a:t>
            </a:r>
            <a:r>
              <a:rPr lang="en-US" sz="1900"/>
              <a:t>  </a:t>
            </a:r>
            <a:r>
              <a:rPr lang="en-US">
                <a:solidFill>
                  <a:schemeClr val="folHlink"/>
                </a:solidFill>
              </a:rPr>
              <a:t>(9+1)/2 = 5</a:t>
            </a:r>
            <a:r>
              <a:rPr lang="en-US" baseline="30000">
                <a:solidFill>
                  <a:schemeClr val="folHlink"/>
                </a:solidFill>
              </a:rPr>
              <a:t>th</a:t>
            </a:r>
            <a:r>
              <a:rPr lang="en-US">
                <a:solidFill>
                  <a:schemeClr val="folHlink"/>
                </a:solidFill>
              </a:rPr>
              <a:t> position </a:t>
            </a:r>
            <a:r>
              <a:rPr lang="en-US"/>
              <a:t>of the ranked data,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900"/>
              <a:t>					</a:t>
            </a:r>
            <a:r>
              <a:rPr lang="en-US"/>
              <a:t>so    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2</a:t>
            </a:r>
            <a:r>
              <a:rPr lang="en-US" b="1">
                <a:solidFill>
                  <a:schemeClr val="folHlink"/>
                </a:solidFill>
              </a:rPr>
              <a:t> = median = 16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1000"/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Q</a:t>
            </a:r>
            <a:r>
              <a:rPr lang="en-US" baseline="-25000"/>
              <a:t>3</a:t>
            </a:r>
            <a:r>
              <a:rPr lang="en-US"/>
              <a:t> is in the</a:t>
            </a:r>
            <a:r>
              <a:rPr lang="en-US" sz="1900"/>
              <a:t>  </a:t>
            </a:r>
            <a:r>
              <a:rPr lang="en-US">
                <a:solidFill>
                  <a:schemeClr val="folHlink"/>
                </a:solidFill>
              </a:rPr>
              <a:t>3(9+1)/4 = 7.5 position </a:t>
            </a:r>
            <a:r>
              <a:rPr lang="en-US"/>
              <a:t>of the ranked data,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900"/>
              <a:t>					</a:t>
            </a:r>
            <a:r>
              <a:rPr lang="en-US"/>
              <a:t>so    </a:t>
            </a:r>
            <a:r>
              <a:rPr lang="en-US" b="1">
                <a:solidFill>
                  <a:schemeClr val="folHlink"/>
                </a:solidFill>
              </a:rPr>
              <a:t>Q</a:t>
            </a:r>
            <a:r>
              <a:rPr lang="en-US" b="1" baseline="-25000">
                <a:solidFill>
                  <a:schemeClr val="folHlink"/>
                </a:solidFill>
              </a:rPr>
              <a:t>3</a:t>
            </a:r>
            <a:r>
              <a:rPr lang="en-US" b="1">
                <a:solidFill>
                  <a:schemeClr val="folHlink"/>
                </a:solidFill>
              </a:rPr>
              <a:t> = (18+21)/2 = 19.5</a:t>
            </a:r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612062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Quartile Measures</a:t>
            </a:r>
            <a:br>
              <a:rPr lang="en-US" sz="3600" smtClean="0"/>
            </a:br>
            <a:r>
              <a:rPr lang="en-US" sz="3600" smtClean="0"/>
              <a:t>Calculating The Quartiles:  Example</a:t>
            </a:r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609600" y="1600200"/>
            <a:ext cx="8310563" cy="466725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Sample Data in Ordered Array:  </a:t>
            </a:r>
            <a:r>
              <a:rPr lang="en-US" sz="2000" b="1">
                <a:solidFill>
                  <a:schemeClr val="tx2"/>
                </a:solidFill>
              </a:rPr>
              <a:t>11   12   13   16   16   17   18   21   22</a:t>
            </a:r>
            <a:r>
              <a:rPr lang="en-US" b="1"/>
              <a:t>  </a:t>
            </a:r>
          </a:p>
        </p:txBody>
      </p:sp>
      <p:sp>
        <p:nvSpPr>
          <p:cNvPr id="106503" name="Rectangle 11"/>
          <p:cNvSpPr>
            <a:spLocks noChangeArrowheads="1"/>
          </p:cNvSpPr>
          <p:nvPr/>
        </p:nvSpPr>
        <p:spPr bwMode="auto">
          <a:xfrm>
            <a:off x="1524000" y="5715000"/>
            <a:ext cx="60960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 Q</a:t>
            </a:r>
            <a:r>
              <a:rPr lang="en-US" sz="2000" baseline="-25000"/>
              <a:t>1</a:t>
            </a:r>
            <a:r>
              <a:rPr lang="en-US" sz="2000"/>
              <a:t> and Q</a:t>
            </a:r>
            <a:r>
              <a:rPr lang="en-US" sz="2000" baseline="-25000"/>
              <a:t>3</a:t>
            </a:r>
            <a:r>
              <a:rPr lang="en-US" sz="2000"/>
              <a:t> are measures of non-central location</a:t>
            </a:r>
          </a:p>
          <a:p>
            <a:r>
              <a:rPr lang="en-US" sz="2000"/>
              <a:t> Q</a:t>
            </a:r>
            <a:r>
              <a:rPr lang="en-US" sz="2000" baseline="-25000"/>
              <a:t>2</a:t>
            </a:r>
            <a:r>
              <a:rPr lang="en-US" sz="2000"/>
              <a:t> = median, is a measure of central tendency</a:t>
            </a:r>
          </a:p>
        </p:txBody>
      </p:sp>
      <p:sp>
        <p:nvSpPr>
          <p:cNvPr id="106504" name="TextBox 8"/>
          <p:cNvSpPr txBox="1">
            <a:spLocks noChangeArrowheads="1"/>
          </p:cNvSpPr>
          <p:nvPr/>
        </p:nvSpPr>
        <p:spPr bwMode="auto">
          <a:xfrm>
            <a:off x="76200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6B957843-2C54-47FB-B3A3-D9C481E72361}" type="slidenum">
              <a:rPr lang="en-US" smtClean="0">
                <a:latin typeface="Arial" charset="0"/>
              </a:rPr>
              <a:pPr/>
              <a:t>44</a:t>
            </a:fld>
            <a:endParaRPr lang="en-US" smtClean="0">
              <a:latin typeface="Arial" charset="0"/>
            </a:endParaRPr>
          </a:p>
        </p:txBody>
      </p:sp>
      <p:sp>
        <p:nvSpPr>
          <p:cNvPr id="10752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75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748796F5-DB70-4DC8-9D27-0C0B5C77F7DC}" type="slidenum">
              <a:rPr lang="en-US" sz="1000"/>
              <a:pPr algn="r" defTabSz="852488"/>
              <a:t>44</a:t>
            </a:fld>
            <a:endParaRPr lang="en-US" sz="1000"/>
          </a:p>
        </p:txBody>
      </p:sp>
      <p:sp>
        <p:nvSpPr>
          <p:cNvPr id="107524" name="Rectangle 2"/>
          <p:cNvSpPr>
            <a:spLocks noGrp="1" noChangeArrowheads="1"/>
          </p:cNvSpPr>
          <p:nvPr>
            <p:ph type="title"/>
          </p:nvPr>
        </p:nvSpPr>
        <p:spPr>
          <a:xfrm>
            <a:off x="1655763" y="228600"/>
            <a:ext cx="6802437" cy="990600"/>
          </a:xfrm>
        </p:spPr>
        <p:txBody>
          <a:bodyPr/>
          <a:lstStyle/>
          <a:p>
            <a:pPr defTabSz="914400" eaLnBrk="1" hangingPunct="1"/>
            <a:r>
              <a:rPr lang="en-US" sz="3600" smtClean="0"/>
              <a:t>Quartile Measures:</a:t>
            </a:r>
            <a:br>
              <a:rPr lang="en-US" sz="3600" smtClean="0"/>
            </a:br>
            <a:r>
              <a:rPr lang="en-US" sz="3600" smtClean="0"/>
              <a:t>The Interquartile Range (IQR)</a:t>
            </a:r>
          </a:p>
        </p:txBody>
      </p:sp>
      <p:sp>
        <p:nvSpPr>
          <p:cNvPr id="1075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8001000" cy="4343400"/>
          </a:xfrm>
        </p:spPr>
        <p:txBody>
          <a:bodyPr/>
          <a:lstStyle/>
          <a:p>
            <a:pPr marL="342900" indent="-342900" defTabSz="914400" eaLnBrk="1" hangingPunct="1"/>
            <a:r>
              <a:rPr lang="en-US" sz="2400" smtClean="0"/>
              <a:t>The IQR is Q</a:t>
            </a:r>
            <a:r>
              <a:rPr lang="en-US" sz="2400" baseline="-25000" smtClean="0"/>
              <a:t>3</a:t>
            </a:r>
            <a:r>
              <a:rPr lang="en-US" sz="2400" smtClean="0"/>
              <a:t> – Q</a:t>
            </a:r>
            <a:r>
              <a:rPr lang="en-US" sz="2400" baseline="-25000" smtClean="0"/>
              <a:t>1</a:t>
            </a:r>
            <a:r>
              <a:rPr lang="en-US" sz="2400" smtClean="0"/>
              <a:t> and measures the spread in the middle 50% of the data</a:t>
            </a:r>
          </a:p>
          <a:p>
            <a:pPr marL="342900" indent="-342900" defTabSz="914400" eaLnBrk="1" hangingPunct="1"/>
            <a:endParaRPr lang="en-US" sz="1200" smtClean="0"/>
          </a:p>
          <a:p>
            <a:pPr marL="342900" indent="-342900" defTabSz="914400" eaLnBrk="1" hangingPunct="1"/>
            <a:r>
              <a:rPr lang="en-US" sz="2400" smtClean="0"/>
              <a:t>The IQR is also called the midspread because it covers the middle 50% of the data</a:t>
            </a:r>
          </a:p>
          <a:p>
            <a:pPr marL="342900" indent="-342900" defTabSz="914400" eaLnBrk="1" hangingPunct="1"/>
            <a:endParaRPr lang="en-US" sz="1200" smtClean="0"/>
          </a:p>
          <a:p>
            <a:pPr marL="342900" indent="-342900" defTabSz="914400" eaLnBrk="1" hangingPunct="1"/>
            <a:r>
              <a:rPr lang="en-US" sz="2400" smtClean="0"/>
              <a:t>The IQR is a measure of variability that is not influenced by outliers or extreme values</a:t>
            </a:r>
          </a:p>
          <a:p>
            <a:pPr marL="342900" indent="-342900" defTabSz="914400" eaLnBrk="1" hangingPunct="1"/>
            <a:endParaRPr lang="en-US" sz="1200" smtClean="0"/>
          </a:p>
          <a:p>
            <a:pPr marL="342900" indent="-342900" defTabSz="914400" eaLnBrk="1" hangingPunct="1"/>
            <a:r>
              <a:rPr lang="en-US" sz="2400" smtClean="0"/>
              <a:t>Measures like Q</a:t>
            </a:r>
            <a:r>
              <a:rPr lang="en-US" sz="2400" baseline="-25000" smtClean="0"/>
              <a:t>1</a:t>
            </a:r>
            <a:r>
              <a:rPr lang="en-US" sz="2400" smtClean="0"/>
              <a:t>, Q</a:t>
            </a:r>
            <a:r>
              <a:rPr lang="en-US" sz="2400" baseline="-25000" smtClean="0"/>
              <a:t>3</a:t>
            </a:r>
            <a:r>
              <a:rPr lang="en-US" sz="2400" smtClean="0"/>
              <a:t>, and IQR that are not influenced by outliers are called resistant measures</a:t>
            </a:r>
            <a:endParaRPr lang="en-US" sz="2400" baseline="-25000" smtClean="0"/>
          </a:p>
          <a:p>
            <a:pPr marL="342900" indent="-342900" defTabSz="914400" eaLnBrk="1" hangingPunct="1">
              <a:buFont typeface="Wingdings" pitchFamily="2" charset="2"/>
              <a:buNone/>
            </a:pPr>
            <a:endParaRPr lang="en-US" sz="2400" smtClean="0"/>
          </a:p>
        </p:txBody>
      </p:sp>
      <p:sp>
        <p:nvSpPr>
          <p:cNvPr id="107526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4D2CACB-7B23-4794-B8A7-C4ECA76E0CE7}" type="slidenum">
              <a:rPr lang="en-US" smtClean="0">
                <a:latin typeface="Arial" charset="0"/>
              </a:rPr>
              <a:pPr/>
              <a:t>45</a:t>
            </a:fld>
            <a:endParaRPr lang="en-US" smtClean="0">
              <a:latin typeface="Arial" charset="0"/>
            </a:endParaRPr>
          </a:p>
        </p:txBody>
      </p:sp>
      <p:sp>
        <p:nvSpPr>
          <p:cNvPr id="10854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854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60E89F5-CC51-4CBE-962D-7F89B54B7FE0}" type="slidenum">
              <a:rPr lang="en-US" sz="1000"/>
              <a:pPr algn="r" defTabSz="852488"/>
              <a:t>45</a:t>
            </a:fld>
            <a:endParaRPr lang="en-US" sz="1000"/>
          </a:p>
        </p:txBody>
      </p:sp>
      <p:sp>
        <p:nvSpPr>
          <p:cNvPr id="10854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7162800" cy="892175"/>
          </a:xfrm>
        </p:spPr>
        <p:txBody>
          <a:bodyPr/>
          <a:lstStyle/>
          <a:p>
            <a:pPr defTabSz="914400" eaLnBrk="1" hangingPunct="1"/>
            <a:r>
              <a:rPr lang="en-US" sz="3600" smtClean="0"/>
              <a:t>Calculating The Interquartile Range</a:t>
            </a:r>
          </a:p>
        </p:txBody>
      </p:sp>
      <p:sp>
        <p:nvSpPr>
          <p:cNvPr id="108549" name="Line 3"/>
          <p:cNvSpPr>
            <a:spLocks noChangeShapeType="1"/>
          </p:cNvSpPr>
          <p:nvPr/>
        </p:nvSpPr>
        <p:spPr bwMode="auto">
          <a:xfrm>
            <a:off x="3429000" y="4800600"/>
            <a:ext cx="2514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0" name="Freeform 4"/>
          <p:cNvSpPr>
            <a:spLocks/>
          </p:cNvSpPr>
          <p:nvPr/>
        </p:nvSpPr>
        <p:spPr bwMode="auto">
          <a:xfrm>
            <a:off x="3417888" y="3357563"/>
            <a:ext cx="2516187" cy="528637"/>
          </a:xfrm>
          <a:custGeom>
            <a:avLst/>
            <a:gdLst>
              <a:gd name="T0" fmla="*/ 0 w 1585"/>
              <a:gd name="T1" fmla="*/ 2147483647 h 318"/>
              <a:gd name="T2" fmla="*/ 2147483647 w 1585"/>
              <a:gd name="T3" fmla="*/ 2147483647 h 318"/>
              <a:gd name="T4" fmla="*/ 2147483647 w 1585"/>
              <a:gd name="T5" fmla="*/ 0 h 318"/>
              <a:gd name="T6" fmla="*/ 0 w 1585"/>
              <a:gd name="T7" fmla="*/ 0 h 318"/>
              <a:gd name="T8" fmla="*/ 0 w 1585"/>
              <a:gd name="T9" fmla="*/ 2147483647 h 3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85"/>
              <a:gd name="T16" fmla="*/ 0 h 318"/>
              <a:gd name="T17" fmla="*/ 1585 w 1585"/>
              <a:gd name="T18" fmla="*/ 318 h 3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85" h="318">
                <a:moveTo>
                  <a:pt x="0" y="317"/>
                </a:moveTo>
                <a:lnTo>
                  <a:pt x="1584" y="317"/>
                </a:lnTo>
                <a:lnTo>
                  <a:pt x="1584" y="0"/>
                </a:lnTo>
                <a:lnTo>
                  <a:pt x="0" y="0"/>
                </a:lnTo>
                <a:lnTo>
                  <a:pt x="0" y="317"/>
                </a:lnTo>
              </a:path>
            </a:pathLst>
          </a:custGeom>
          <a:noFill/>
          <a:ln w="254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8551" name="Line 5"/>
          <p:cNvSpPr>
            <a:spLocks noChangeShapeType="1"/>
          </p:cNvSpPr>
          <p:nvPr/>
        </p:nvSpPr>
        <p:spPr bwMode="auto">
          <a:xfrm flipV="1">
            <a:off x="4876800" y="3352800"/>
            <a:ext cx="0" cy="5334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2" name="Rectangle 6"/>
          <p:cNvSpPr>
            <a:spLocks noChangeArrowheads="1"/>
          </p:cNvSpPr>
          <p:nvPr/>
        </p:nvSpPr>
        <p:spPr bwMode="auto">
          <a:xfrm>
            <a:off x="4267200" y="2514600"/>
            <a:ext cx="1182688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/>
              <a:t>Median</a:t>
            </a:r>
          </a:p>
          <a:p>
            <a:pPr algn="ctr" eaLnBrk="0" hangingPunct="0"/>
            <a:r>
              <a:rPr lang="en-US"/>
              <a:t>(Q</a:t>
            </a:r>
            <a:r>
              <a:rPr lang="en-US" baseline="-25000"/>
              <a:t>2</a:t>
            </a:r>
            <a:r>
              <a:rPr lang="en-US"/>
              <a:t>)</a:t>
            </a:r>
            <a:endParaRPr lang="en-US">
              <a:solidFill>
                <a:srgbClr val="FFFF66"/>
              </a:solidFill>
            </a:endParaRPr>
          </a:p>
        </p:txBody>
      </p:sp>
      <p:sp>
        <p:nvSpPr>
          <p:cNvPr id="108553" name="Line 7"/>
          <p:cNvSpPr>
            <a:spLocks noChangeShapeType="1"/>
          </p:cNvSpPr>
          <p:nvPr/>
        </p:nvSpPr>
        <p:spPr bwMode="auto">
          <a:xfrm flipV="1">
            <a:off x="5943600" y="36576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4" name="Line 8"/>
          <p:cNvSpPr>
            <a:spLocks noChangeShapeType="1"/>
          </p:cNvSpPr>
          <p:nvPr/>
        </p:nvSpPr>
        <p:spPr bwMode="auto">
          <a:xfrm>
            <a:off x="1676400" y="3657600"/>
            <a:ext cx="17526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5" name="Line 9"/>
          <p:cNvSpPr>
            <a:spLocks noChangeShapeType="1"/>
          </p:cNvSpPr>
          <p:nvPr/>
        </p:nvSpPr>
        <p:spPr bwMode="auto">
          <a:xfrm flipV="1">
            <a:off x="7086600" y="32766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6" name="Line 10"/>
          <p:cNvSpPr>
            <a:spLocks noChangeShapeType="1"/>
          </p:cNvSpPr>
          <p:nvPr/>
        </p:nvSpPr>
        <p:spPr bwMode="auto">
          <a:xfrm flipV="1">
            <a:off x="1676400" y="3352800"/>
            <a:ext cx="0" cy="609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57" name="Rectangle 11"/>
          <p:cNvSpPr>
            <a:spLocks noChangeArrowheads="1"/>
          </p:cNvSpPr>
          <p:nvPr/>
        </p:nvSpPr>
        <p:spPr bwMode="auto">
          <a:xfrm>
            <a:off x="6781800" y="2590800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X</a:t>
            </a:r>
          </a:p>
        </p:txBody>
      </p:sp>
      <p:sp>
        <p:nvSpPr>
          <p:cNvPr id="108558" name="Rectangle 12"/>
          <p:cNvSpPr>
            <a:spLocks noChangeArrowheads="1"/>
          </p:cNvSpPr>
          <p:nvPr/>
        </p:nvSpPr>
        <p:spPr bwMode="auto">
          <a:xfrm>
            <a:off x="7010400" y="2819400"/>
            <a:ext cx="128111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/>
              <a:t>maximum</a:t>
            </a:r>
            <a:endParaRPr lang="en-US" sz="2000">
              <a:solidFill>
                <a:srgbClr val="FFFF66"/>
              </a:solidFill>
            </a:endParaRPr>
          </a:p>
        </p:txBody>
      </p:sp>
      <p:sp>
        <p:nvSpPr>
          <p:cNvPr id="108559" name="Rectangle 13"/>
          <p:cNvSpPr>
            <a:spLocks noChangeArrowheads="1"/>
          </p:cNvSpPr>
          <p:nvPr/>
        </p:nvSpPr>
        <p:spPr bwMode="auto">
          <a:xfrm>
            <a:off x="7969250" y="303847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8560" name="Rectangle 14"/>
          <p:cNvSpPr>
            <a:spLocks noChangeArrowheads="1"/>
          </p:cNvSpPr>
          <p:nvPr/>
        </p:nvSpPr>
        <p:spPr bwMode="auto">
          <a:xfrm>
            <a:off x="1295400" y="2667000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X</a:t>
            </a:r>
            <a:endParaRPr lang="en-US">
              <a:solidFill>
                <a:srgbClr val="FFFF66"/>
              </a:solidFill>
            </a:endParaRPr>
          </a:p>
        </p:txBody>
      </p:sp>
      <p:sp>
        <p:nvSpPr>
          <p:cNvPr id="108561" name="Rectangle 15"/>
          <p:cNvSpPr>
            <a:spLocks noChangeArrowheads="1"/>
          </p:cNvSpPr>
          <p:nvPr/>
        </p:nvSpPr>
        <p:spPr bwMode="auto">
          <a:xfrm>
            <a:off x="1524000" y="2895600"/>
            <a:ext cx="1211263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/>
              <a:t>minimum</a:t>
            </a:r>
            <a:endParaRPr lang="en-US" sz="2000">
              <a:solidFill>
                <a:srgbClr val="FFFF66"/>
              </a:solidFill>
            </a:endParaRPr>
          </a:p>
        </p:txBody>
      </p:sp>
      <p:sp>
        <p:nvSpPr>
          <p:cNvPr id="108562" name="Rectangle 16"/>
          <p:cNvSpPr>
            <a:spLocks noChangeArrowheads="1"/>
          </p:cNvSpPr>
          <p:nvPr/>
        </p:nvSpPr>
        <p:spPr bwMode="auto">
          <a:xfrm>
            <a:off x="2605088" y="3136900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8563" name="Rectangle 17"/>
          <p:cNvSpPr>
            <a:spLocks noChangeArrowheads="1"/>
          </p:cNvSpPr>
          <p:nvPr/>
        </p:nvSpPr>
        <p:spPr bwMode="auto">
          <a:xfrm>
            <a:off x="3228975" y="2743200"/>
            <a:ext cx="530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/>
              <a:t>Q</a:t>
            </a:r>
            <a:r>
              <a:rPr lang="en-US" baseline="-25000"/>
              <a:t>1</a:t>
            </a:r>
          </a:p>
        </p:txBody>
      </p:sp>
      <p:sp>
        <p:nvSpPr>
          <p:cNvPr id="108564" name="Rectangle 18"/>
          <p:cNvSpPr>
            <a:spLocks noChangeArrowheads="1"/>
          </p:cNvSpPr>
          <p:nvPr/>
        </p:nvSpPr>
        <p:spPr bwMode="auto">
          <a:xfrm>
            <a:off x="5667375" y="2743200"/>
            <a:ext cx="5302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/>
              <a:t>Q</a:t>
            </a:r>
            <a:r>
              <a:rPr lang="en-US" baseline="-25000"/>
              <a:t>3</a:t>
            </a:r>
          </a:p>
        </p:txBody>
      </p:sp>
      <p:sp>
        <p:nvSpPr>
          <p:cNvPr id="108565" name="Rectangle 19"/>
          <p:cNvSpPr>
            <a:spLocks noChangeArrowheads="1"/>
          </p:cNvSpPr>
          <p:nvPr/>
        </p:nvSpPr>
        <p:spPr bwMode="auto">
          <a:xfrm>
            <a:off x="1066800" y="2057400"/>
            <a:ext cx="31607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Example box plot for:</a:t>
            </a:r>
          </a:p>
        </p:txBody>
      </p:sp>
      <p:sp>
        <p:nvSpPr>
          <p:cNvPr id="108566" name="Rectangle 20"/>
          <p:cNvSpPr>
            <a:spLocks noChangeArrowheads="1"/>
          </p:cNvSpPr>
          <p:nvPr/>
        </p:nvSpPr>
        <p:spPr bwMode="auto">
          <a:xfrm>
            <a:off x="2209800" y="3352800"/>
            <a:ext cx="4679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25%                 25%               25%          25%</a:t>
            </a:r>
          </a:p>
        </p:txBody>
      </p:sp>
      <p:sp>
        <p:nvSpPr>
          <p:cNvPr id="108567" name="Rectangle 21"/>
          <p:cNvSpPr>
            <a:spLocks noChangeArrowheads="1"/>
          </p:cNvSpPr>
          <p:nvPr/>
        </p:nvSpPr>
        <p:spPr bwMode="auto">
          <a:xfrm>
            <a:off x="1447800" y="3937000"/>
            <a:ext cx="5857875" cy="3968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12                     30                 45           57            70</a:t>
            </a:r>
          </a:p>
        </p:txBody>
      </p:sp>
      <p:sp>
        <p:nvSpPr>
          <p:cNvPr id="108568" name="Line 22"/>
          <p:cNvSpPr>
            <a:spLocks noChangeShapeType="1"/>
          </p:cNvSpPr>
          <p:nvPr/>
        </p:nvSpPr>
        <p:spPr bwMode="auto">
          <a:xfrm flipV="1">
            <a:off x="5943600" y="4343400"/>
            <a:ext cx="0" cy="609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69" name="Line 23"/>
          <p:cNvSpPr>
            <a:spLocks noChangeShapeType="1"/>
          </p:cNvSpPr>
          <p:nvPr/>
        </p:nvSpPr>
        <p:spPr bwMode="auto">
          <a:xfrm flipV="1">
            <a:off x="3429000" y="4343400"/>
            <a:ext cx="0" cy="609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570" name="Rectangle 24"/>
          <p:cNvSpPr>
            <a:spLocks noChangeArrowheads="1"/>
          </p:cNvSpPr>
          <p:nvPr/>
        </p:nvSpPr>
        <p:spPr bwMode="auto">
          <a:xfrm>
            <a:off x="3352800" y="4953000"/>
            <a:ext cx="2667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Interquartile range </a:t>
            </a:r>
          </a:p>
          <a:p>
            <a:r>
              <a:rPr lang="en-US">
                <a:solidFill>
                  <a:schemeClr val="folHlink"/>
                </a:solidFill>
              </a:rPr>
              <a:t>   = 57 – 30 = 27</a:t>
            </a:r>
            <a:endParaRPr lang="en-US">
              <a:solidFill>
                <a:srgbClr val="FF6600"/>
              </a:solidFill>
            </a:endParaRPr>
          </a:p>
        </p:txBody>
      </p:sp>
      <p:sp>
        <p:nvSpPr>
          <p:cNvPr id="108571" name="TextBox 2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1C36A44-F207-43D4-A5CB-535DCFE449A5}" type="slidenum">
              <a:rPr lang="en-US" smtClean="0">
                <a:latin typeface="Arial" charset="0"/>
              </a:rPr>
              <a:pPr/>
              <a:t>46</a:t>
            </a:fld>
            <a:endParaRPr lang="en-US" smtClean="0">
              <a:latin typeface="Arial" charset="0"/>
            </a:endParaRPr>
          </a:p>
        </p:txBody>
      </p:sp>
      <p:sp>
        <p:nvSpPr>
          <p:cNvPr id="10957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957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4F441FEF-3E9C-4DD3-A9A5-0E7B8B84A14D}" type="slidenum">
              <a:rPr lang="en-US" sz="1000"/>
              <a:pPr algn="r" defTabSz="852488"/>
              <a:t>46</a:t>
            </a:fld>
            <a:endParaRPr lang="en-US" sz="1000"/>
          </a:p>
        </p:txBody>
      </p:sp>
      <p:sp>
        <p:nvSpPr>
          <p:cNvPr id="1095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Five-Number Summary</a:t>
            </a:r>
          </a:p>
        </p:txBody>
      </p:sp>
      <p:sp>
        <p:nvSpPr>
          <p:cNvPr id="1095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191000"/>
          </a:xfrm>
        </p:spPr>
        <p:txBody>
          <a:bodyPr/>
          <a:lstStyle/>
          <a:p>
            <a:pPr marL="0" indent="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The five numbers that help describe the center, spread and shape of data are: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</a:rPr>
              <a:t>X</a:t>
            </a:r>
            <a:r>
              <a:rPr lang="en-US" sz="2700" baseline="-25000" smtClean="0">
                <a:latin typeface="Times New Roman" pitchFamily="18" charset="0"/>
              </a:rPr>
              <a:t>smallest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</a:rPr>
              <a:t>First Quartile (Q</a:t>
            </a:r>
            <a:r>
              <a:rPr lang="en-US" sz="2700" baseline="-25000" smtClean="0">
                <a:latin typeface="Times New Roman" pitchFamily="18" charset="0"/>
              </a:rPr>
              <a:t>1</a:t>
            </a:r>
            <a:r>
              <a:rPr lang="en-US" sz="2700" smtClean="0">
                <a:latin typeface="Times New Roman" pitchFamily="18" charset="0"/>
              </a:rPr>
              <a:t>)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</a:rPr>
              <a:t>Median (Q</a:t>
            </a:r>
            <a:r>
              <a:rPr lang="en-US" sz="2700" baseline="-25000" smtClean="0">
                <a:latin typeface="Times New Roman" pitchFamily="18" charset="0"/>
              </a:rPr>
              <a:t>2</a:t>
            </a:r>
            <a:r>
              <a:rPr lang="en-US" sz="2700" smtClean="0">
                <a:latin typeface="Times New Roman" pitchFamily="18" charset="0"/>
              </a:rPr>
              <a:t>)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</a:rPr>
              <a:t>Third Quartile (Q</a:t>
            </a:r>
            <a:r>
              <a:rPr lang="en-US" sz="2700" baseline="-25000" smtClean="0">
                <a:latin typeface="Times New Roman" pitchFamily="18" charset="0"/>
              </a:rPr>
              <a:t>3</a:t>
            </a:r>
            <a:r>
              <a:rPr lang="en-US" sz="2700" smtClean="0">
                <a:latin typeface="Times New Roman" pitchFamily="18" charset="0"/>
              </a:rPr>
              <a:t>)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</a:rPr>
              <a:t>X</a:t>
            </a:r>
            <a:r>
              <a:rPr lang="en-US" sz="2700" baseline="-25000" smtClean="0">
                <a:latin typeface="Times New Roman" pitchFamily="18" charset="0"/>
              </a:rPr>
              <a:t>largest</a:t>
            </a:r>
          </a:p>
          <a:p>
            <a:pPr marL="730250" lvl="1" eaLnBrk="1" hangingPunct="1">
              <a:buClr>
                <a:schemeClr val="tx1"/>
              </a:buClr>
              <a:buSzPct val="85000"/>
              <a:buFont typeface="Wingdings" pitchFamily="2" charset="2"/>
              <a:buNone/>
            </a:pPr>
            <a:endParaRPr lang="en-US" sz="2700" smtClean="0">
              <a:latin typeface="Times New Roman" pitchFamily="18" charset="0"/>
            </a:endParaRPr>
          </a:p>
        </p:txBody>
      </p:sp>
      <p:sp>
        <p:nvSpPr>
          <p:cNvPr id="109574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02AEB1D-073A-4ACE-A898-0BC084035FFC}" type="slidenum">
              <a:rPr lang="en-US" smtClean="0">
                <a:latin typeface="Arial" charset="0"/>
              </a:rPr>
              <a:pPr/>
              <a:t>47</a:t>
            </a:fld>
            <a:endParaRPr lang="en-US" smtClean="0">
              <a:latin typeface="Arial" charset="0"/>
            </a:endParaRPr>
          </a:p>
        </p:txBody>
      </p:sp>
      <p:sp>
        <p:nvSpPr>
          <p:cNvPr id="11059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059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69734EB-642C-43FC-8737-0DD71423F04B}" type="slidenum">
              <a:rPr lang="en-US" sz="1000"/>
              <a:pPr algn="r" defTabSz="852488"/>
              <a:t>47</a:t>
            </a:fld>
            <a:endParaRPr lang="en-US" sz="1000"/>
          </a:p>
        </p:txBody>
      </p:sp>
      <p:sp>
        <p:nvSpPr>
          <p:cNvPr id="1105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Relationships among the five-number summary and distribution shape</a:t>
            </a:r>
          </a:p>
        </p:txBody>
      </p:sp>
      <p:graphicFrame>
        <p:nvGraphicFramePr>
          <p:cNvPr id="210974" name="Group 30"/>
          <p:cNvGraphicFramePr>
            <a:graphicFrameLocks noGrp="1"/>
          </p:cNvGraphicFramePr>
          <p:nvPr>
            <p:ph idx="1"/>
          </p:nvPr>
        </p:nvGraphicFramePr>
        <p:xfrm>
          <a:off x="609600" y="1828800"/>
          <a:ext cx="8077200" cy="4508500"/>
        </p:xfrm>
        <a:graphic>
          <a:graphicData uri="http://schemas.openxmlformats.org/drawingml/2006/table">
            <a:tbl>
              <a:tblPr/>
              <a:tblGrid>
                <a:gridCol w="2692400"/>
                <a:gridCol w="2692400"/>
                <a:gridCol w="26924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Left-Skewed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Right-Skewed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≈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6038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≈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smallest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largest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≈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Median – 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– Median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619" name="TextBox 6"/>
          <p:cNvSpPr txBox="1">
            <a:spLocks noChangeArrowheads="1"/>
          </p:cNvSpPr>
          <p:nvPr/>
        </p:nvSpPr>
        <p:spPr bwMode="auto">
          <a:xfrm>
            <a:off x="75438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A5A4145-CE5A-4B7C-B1DD-4959F6C3F523}" type="slidenum">
              <a:rPr lang="en-US" smtClean="0">
                <a:latin typeface="Arial" charset="0"/>
              </a:rPr>
              <a:pPr/>
              <a:t>48</a:t>
            </a:fld>
            <a:endParaRPr lang="en-US" smtClean="0">
              <a:latin typeface="Arial" charset="0"/>
            </a:endParaRPr>
          </a:p>
        </p:txBody>
      </p:sp>
      <p:sp>
        <p:nvSpPr>
          <p:cNvPr id="11161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1619" name="Rectangle 20"/>
          <p:cNvSpPr>
            <a:spLocks noChangeArrowheads="1"/>
          </p:cNvSpPr>
          <p:nvPr/>
        </p:nvSpPr>
        <p:spPr bwMode="auto">
          <a:xfrm>
            <a:off x="3733800" y="4191000"/>
            <a:ext cx="2514600" cy="8382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GB"/>
          </a:p>
        </p:txBody>
      </p:sp>
      <p:sp>
        <p:nvSpPr>
          <p:cNvPr id="111620" name="Title 1"/>
          <p:cNvSpPr>
            <a:spLocks noGrp="1"/>
          </p:cNvSpPr>
          <p:nvPr>
            <p:ph type="title"/>
          </p:nvPr>
        </p:nvSpPr>
        <p:spPr>
          <a:xfrm>
            <a:off x="1150938" y="457200"/>
            <a:ext cx="7383462" cy="990600"/>
          </a:xfrm>
        </p:spPr>
        <p:txBody>
          <a:bodyPr/>
          <a:lstStyle/>
          <a:p>
            <a:pPr eaLnBrk="1" hangingPunct="1"/>
            <a:r>
              <a:rPr lang="en-US" smtClean="0"/>
              <a:t>Five-Number Summary and</a:t>
            </a:r>
            <a:br>
              <a:rPr lang="en-US" smtClean="0"/>
            </a:br>
            <a:r>
              <a:rPr lang="en-US" smtClean="0"/>
              <a:t>The Boxplot</a:t>
            </a:r>
          </a:p>
        </p:txBody>
      </p:sp>
      <p:sp>
        <p:nvSpPr>
          <p:cNvPr id="111621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077200" cy="9144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hlink"/>
                </a:solidFill>
              </a:rPr>
              <a:t>The Boxplot</a:t>
            </a:r>
            <a:r>
              <a:rPr lang="en-US" smtClean="0"/>
              <a:t>: A Graphical display of the data based on the five-number summary: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11162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5D102476-46C4-4448-99DC-080583A19BC8}" type="slidenum">
              <a:rPr lang="en-US" sz="1000"/>
              <a:pPr algn="r" defTabSz="852488"/>
              <a:t>48</a:t>
            </a:fld>
            <a:endParaRPr lang="en-US" sz="1000"/>
          </a:p>
        </p:txBody>
      </p:sp>
      <p:sp>
        <p:nvSpPr>
          <p:cNvPr id="111623" name="Rectangle 5"/>
          <p:cNvSpPr>
            <a:spLocks noChangeArrowheads="1"/>
          </p:cNvSpPr>
          <p:nvPr/>
        </p:nvSpPr>
        <p:spPr bwMode="auto">
          <a:xfrm>
            <a:off x="838200" y="3429000"/>
            <a:ext cx="145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Example</a:t>
            </a:r>
            <a:r>
              <a:rPr lang="en-US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111624" name="Rectangle 9"/>
          <p:cNvSpPr>
            <a:spLocks noChangeArrowheads="1"/>
          </p:cNvSpPr>
          <p:nvPr/>
        </p:nvSpPr>
        <p:spPr bwMode="auto">
          <a:xfrm>
            <a:off x="1295400" y="2895600"/>
            <a:ext cx="6705600" cy="4572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1625" name="Rectangle 8"/>
          <p:cNvSpPr>
            <a:spLocks noChangeArrowheads="1"/>
          </p:cNvSpPr>
          <p:nvPr/>
        </p:nvSpPr>
        <p:spPr bwMode="auto">
          <a:xfrm>
            <a:off x="1371600" y="2895600"/>
            <a:ext cx="678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X</a:t>
            </a:r>
            <a:r>
              <a:rPr lang="en-US" baseline="-25000">
                <a:solidFill>
                  <a:schemeClr val="folHlink"/>
                </a:solidFill>
              </a:rPr>
              <a:t>smallest</a:t>
            </a:r>
            <a:r>
              <a:rPr lang="en-US">
                <a:solidFill>
                  <a:schemeClr val="folHlink"/>
                </a:solidFill>
              </a:rPr>
              <a:t>   </a:t>
            </a:r>
            <a:r>
              <a:rPr lang="en-US"/>
              <a:t>--</a:t>
            </a:r>
            <a:r>
              <a:rPr lang="en-US">
                <a:solidFill>
                  <a:schemeClr val="folHlink"/>
                </a:solidFill>
              </a:rPr>
              <a:t>   Q</a:t>
            </a:r>
            <a:r>
              <a:rPr lang="en-US" baseline="-25000">
                <a:solidFill>
                  <a:schemeClr val="folHlink"/>
                </a:solidFill>
              </a:rPr>
              <a:t>1</a:t>
            </a:r>
            <a:r>
              <a:rPr lang="en-US">
                <a:solidFill>
                  <a:schemeClr val="folHlink"/>
                </a:solidFill>
              </a:rPr>
              <a:t>   </a:t>
            </a:r>
            <a:r>
              <a:rPr lang="en-US"/>
              <a:t>--</a:t>
            </a:r>
            <a:r>
              <a:rPr lang="en-US">
                <a:solidFill>
                  <a:schemeClr val="folHlink"/>
                </a:solidFill>
              </a:rPr>
              <a:t>   Median   </a:t>
            </a:r>
            <a:r>
              <a:rPr lang="en-US"/>
              <a:t>--</a:t>
            </a:r>
            <a:r>
              <a:rPr lang="en-US">
                <a:solidFill>
                  <a:schemeClr val="folHlink"/>
                </a:solidFill>
              </a:rPr>
              <a:t>   Q</a:t>
            </a:r>
            <a:r>
              <a:rPr lang="en-US" baseline="-25000">
                <a:solidFill>
                  <a:schemeClr val="folHlink"/>
                </a:solidFill>
              </a:rPr>
              <a:t>3</a:t>
            </a:r>
            <a:r>
              <a:rPr lang="en-US">
                <a:solidFill>
                  <a:schemeClr val="folHlink"/>
                </a:solidFill>
              </a:rPr>
              <a:t>   </a:t>
            </a:r>
            <a:r>
              <a:rPr lang="en-US"/>
              <a:t>--  </a:t>
            </a:r>
            <a:r>
              <a:rPr lang="en-US">
                <a:solidFill>
                  <a:schemeClr val="folHlink"/>
                </a:solidFill>
              </a:rPr>
              <a:t> X</a:t>
            </a:r>
            <a:r>
              <a:rPr lang="en-US" baseline="-25000">
                <a:solidFill>
                  <a:schemeClr val="folHlink"/>
                </a:solidFill>
              </a:rPr>
              <a:t>largest</a:t>
            </a:r>
          </a:p>
        </p:txBody>
      </p:sp>
      <p:sp>
        <p:nvSpPr>
          <p:cNvPr id="111626" name="Rectangle 8"/>
          <p:cNvSpPr>
            <a:spLocks noChangeArrowheads="1"/>
          </p:cNvSpPr>
          <p:nvPr/>
        </p:nvSpPr>
        <p:spPr bwMode="auto">
          <a:xfrm>
            <a:off x="1524000" y="4267200"/>
            <a:ext cx="6172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   25% of data                 25%             25%        25% of data</a:t>
            </a:r>
          </a:p>
          <a:p>
            <a:r>
              <a:rPr lang="en-US" sz="1800"/>
              <a:t>		        of data          of data	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 rot="5400000">
            <a:off x="649288" y="4610100"/>
            <a:ext cx="989012" cy="1588"/>
          </a:xfrm>
          <a:prstGeom prst="line">
            <a:avLst/>
          </a:prstGeom>
          <a:ln w="254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rot="5400000">
            <a:off x="7354888" y="4610100"/>
            <a:ext cx="989012" cy="1588"/>
          </a:xfrm>
          <a:prstGeom prst="line">
            <a:avLst/>
          </a:prstGeom>
          <a:ln w="254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629" name="Straight Connector 16"/>
          <p:cNvCxnSpPr>
            <a:cxnSpLocks noChangeShapeType="1"/>
          </p:cNvCxnSpPr>
          <p:nvPr/>
        </p:nvCxnSpPr>
        <p:spPr bwMode="auto">
          <a:xfrm>
            <a:off x="1143000" y="4648200"/>
            <a:ext cx="25908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1630" name="Straight Connector 17"/>
          <p:cNvCxnSpPr>
            <a:cxnSpLocks noChangeShapeType="1"/>
          </p:cNvCxnSpPr>
          <p:nvPr/>
        </p:nvCxnSpPr>
        <p:spPr bwMode="auto">
          <a:xfrm>
            <a:off x="6248400" y="4648200"/>
            <a:ext cx="16002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1631" name="Straight Connector 22"/>
          <p:cNvCxnSpPr>
            <a:cxnSpLocks noChangeShapeType="1"/>
          </p:cNvCxnSpPr>
          <p:nvPr/>
        </p:nvCxnSpPr>
        <p:spPr bwMode="auto">
          <a:xfrm rot="5400000">
            <a:off x="4762501" y="4610100"/>
            <a:ext cx="838200" cy="3175"/>
          </a:xfrm>
          <a:prstGeom prst="line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1632" name="Text Box 11"/>
          <p:cNvSpPr txBox="1">
            <a:spLocks noChangeArrowheads="1"/>
          </p:cNvSpPr>
          <p:nvPr/>
        </p:nvSpPr>
        <p:spPr bwMode="auto">
          <a:xfrm>
            <a:off x="762000" y="5181600"/>
            <a:ext cx="7940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smallest</a:t>
            </a:r>
            <a:r>
              <a:rPr lang="en-US"/>
              <a:t>	             Q</a:t>
            </a:r>
            <a:r>
              <a:rPr lang="en-US" baseline="-25000"/>
              <a:t>1</a:t>
            </a:r>
            <a:r>
              <a:rPr lang="en-US"/>
              <a:t>	  Median      Q</a:t>
            </a:r>
            <a:r>
              <a:rPr lang="en-US" baseline="-25000"/>
              <a:t>3</a:t>
            </a:r>
            <a:r>
              <a:rPr lang="en-US"/>
              <a:t>	    X</a:t>
            </a:r>
            <a:r>
              <a:rPr lang="en-US" baseline="-25000"/>
              <a:t>largest</a:t>
            </a:r>
          </a:p>
        </p:txBody>
      </p:sp>
      <p:sp>
        <p:nvSpPr>
          <p:cNvPr id="111633" name="TextBox 1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FC03E865-6AEF-4496-8EDF-D21C928FD67F}" type="slidenum">
              <a:rPr lang="en-US" smtClean="0">
                <a:latin typeface="Arial" charset="0"/>
              </a:rPr>
              <a:pPr/>
              <a:t>49</a:t>
            </a:fld>
            <a:endParaRPr lang="en-US" smtClean="0">
              <a:latin typeface="Arial" charset="0"/>
            </a:endParaRPr>
          </a:p>
        </p:txBody>
      </p:sp>
      <p:sp>
        <p:nvSpPr>
          <p:cNvPr id="2458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458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B2DE92CB-9216-47D8-B003-DA2C60E50763}" type="slidenum">
              <a:rPr lang="en-US" sz="1000"/>
              <a:pPr algn="r" defTabSz="852488"/>
              <a:t>49</a:t>
            </a:fld>
            <a:endParaRPr lang="en-US" sz="1000"/>
          </a:p>
        </p:txBody>
      </p:sp>
      <p:sp>
        <p:nvSpPr>
          <p:cNvPr id="245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8077200" cy="685800"/>
          </a:xfrm>
        </p:spPr>
        <p:txBody>
          <a:bodyPr/>
          <a:lstStyle/>
          <a:p>
            <a:pPr defTabSz="914400" eaLnBrk="1" hangingPunct="1"/>
            <a:r>
              <a:rPr lang="en-US" smtClean="0"/>
              <a:t>Five-Number Summary:</a:t>
            </a:r>
            <a:br>
              <a:rPr lang="en-US" smtClean="0"/>
            </a:br>
            <a:r>
              <a:rPr lang="en-US" smtClean="0"/>
              <a:t>Shape of Boxplots</a:t>
            </a: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114800"/>
          </a:xfrm>
        </p:spPr>
        <p:txBody>
          <a:bodyPr/>
          <a:lstStyle/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400" smtClean="0"/>
              <a:t>If data are symmetric around the median then the box and central line are centered between the endpoints</a:t>
            </a:r>
            <a:endParaRPr lang="en-US" smtClean="0"/>
          </a:p>
          <a:p>
            <a:pPr marL="342900" indent="-342900" defTabSz="914400" eaLnBrk="1" hangingPunct="1">
              <a:lnSpc>
                <a:spcPct val="70000"/>
              </a:lnSpc>
            </a:pPr>
            <a:endParaRPr lang="en-US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sz="2400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sz="2400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sz="2400" smtClean="0"/>
          </a:p>
          <a:p>
            <a:pPr marL="342900" indent="-342900" defTabSz="914400" eaLnBrk="1" hangingPunct="1">
              <a:lnSpc>
                <a:spcPct val="70000"/>
              </a:lnSpc>
            </a:pPr>
            <a:endParaRPr lang="en-US" sz="2400" smtClean="0"/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400" smtClean="0"/>
              <a:t>A Boxplot can be shown in either a vertical or horizontal orientation</a:t>
            </a:r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905000" y="2947988"/>
          <a:ext cx="5410200" cy="1319212"/>
        </p:xfrm>
        <a:graphic>
          <a:graphicData uri="http://schemas.openxmlformats.org/presentationml/2006/ole">
            <p:oleObj spid="_x0000_s24578" name="Drawing" r:id="rId3" imgW="8134200" imgH="1981080" progId="">
              <p:embed/>
            </p:oleObj>
          </a:graphicData>
        </a:graphic>
      </p:graphicFrame>
      <p:sp>
        <p:nvSpPr>
          <p:cNvPr id="24584" name="Text Box 5"/>
          <p:cNvSpPr txBox="1">
            <a:spLocks noChangeArrowheads="1"/>
          </p:cNvSpPr>
          <p:nvPr/>
        </p:nvSpPr>
        <p:spPr bwMode="auto">
          <a:xfrm>
            <a:off x="1905000" y="4038600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X</a:t>
            </a:r>
            <a:r>
              <a:rPr lang="en-US" baseline="-25000"/>
              <a:t>smallest</a:t>
            </a:r>
            <a:r>
              <a:rPr lang="en-US"/>
              <a:t>    Q</a:t>
            </a:r>
            <a:r>
              <a:rPr lang="en-US" baseline="-25000"/>
              <a:t>1</a:t>
            </a:r>
            <a:r>
              <a:rPr lang="en-US"/>
              <a:t>      Median      Q</a:t>
            </a:r>
            <a:r>
              <a:rPr lang="en-US" baseline="-25000"/>
              <a:t>3</a:t>
            </a:r>
            <a:r>
              <a:rPr lang="en-US"/>
              <a:t>      X</a:t>
            </a:r>
            <a:r>
              <a:rPr lang="en-US" baseline="-25000"/>
              <a:t>largest</a:t>
            </a:r>
            <a:endParaRPr lang="en-US"/>
          </a:p>
        </p:txBody>
      </p:sp>
      <p:sp>
        <p:nvSpPr>
          <p:cNvPr id="24585" name="Rectangle 6"/>
          <p:cNvSpPr>
            <a:spLocks noChangeArrowheads="1"/>
          </p:cNvSpPr>
          <p:nvPr/>
        </p:nvSpPr>
        <p:spPr bwMode="auto">
          <a:xfrm>
            <a:off x="1524000" y="2971800"/>
            <a:ext cx="6096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6" name="TextBox 8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20234794-7E76-4AB7-8DDF-870CB06E3DFA}" type="slidenum">
              <a:rPr lang="en-US" smtClean="0">
                <a:latin typeface="Arial" charset="0"/>
              </a:rPr>
              <a:pPr/>
              <a:t>50</a:t>
            </a:fld>
            <a:endParaRPr lang="en-US" smtClean="0">
              <a:latin typeface="Arial" charset="0"/>
            </a:endParaRPr>
          </a:p>
        </p:txBody>
      </p:sp>
      <p:sp>
        <p:nvSpPr>
          <p:cNvPr id="11469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469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ED37F628-74A2-4B08-8EC8-854CB15F22D0}" type="slidenum">
              <a:rPr lang="en-US" sz="1000"/>
              <a:pPr algn="r" defTabSz="852488"/>
              <a:t>50</a:t>
            </a:fld>
            <a:endParaRPr lang="en-US" sz="1000"/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33400"/>
            <a:ext cx="7793038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Distribution Shape and </a:t>
            </a:r>
            <a:br>
              <a:rPr lang="en-US" smtClean="0"/>
            </a:br>
            <a:r>
              <a:rPr lang="en-US" smtClean="0"/>
              <a:t>The Boxplot</a:t>
            </a:r>
          </a:p>
        </p:txBody>
      </p:sp>
      <p:sp>
        <p:nvSpPr>
          <p:cNvPr id="114693" name="Rectangle 3"/>
          <p:cNvSpPr>
            <a:spLocks noChangeArrowheads="1"/>
          </p:cNvSpPr>
          <p:nvPr/>
        </p:nvSpPr>
        <p:spPr bwMode="auto">
          <a:xfrm>
            <a:off x="6188075" y="1981200"/>
            <a:ext cx="270827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Right-Skewed</a:t>
            </a:r>
          </a:p>
        </p:txBody>
      </p:sp>
      <p:sp>
        <p:nvSpPr>
          <p:cNvPr id="114694" name="Rectangle 4"/>
          <p:cNvSpPr>
            <a:spLocks noChangeArrowheads="1"/>
          </p:cNvSpPr>
          <p:nvPr/>
        </p:nvSpPr>
        <p:spPr bwMode="auto">
          <a:xfrm>
            <a:off x="381000" y="1981200"/>
            <a:ext cx="2436813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Left-Skewed</a:t>
            </a:r>
          </a:p>
        </p:txBody>
      </p:sp>
      <p:sp>
        <p:nvSpPr>
          <p:cNvPr id="114695" name="Rectangle 5"/>
          <p:cNvSpPr>
            <a:spLocks noChangeArrowheads="1"/>
          </p:cNvSpPr>
          <p:nvPr/>
        </p:nvSpPr>
        <p:spPr bwMode="auto">
          <a:xfrm>
            <a:off x="3581400" y="1981200"/>
            <a:ext cx="209867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Symmetric</a:t>
            </a:r>
          </a:p>
        </p:txBody>
      </p:sp>
      <p:sp>
        <p:nvSpPr>
          <p:cNvPr id="114696" name="Line 6"/>
          <p:cNvSpPr>
            <a:spLocks noChangeShapeType="1"/>
          </p:cNvSpPr>
          <p:nvPr/>
        </p:nvSpPr>
        <p:spPr bwMode="auto">
          <a:xfrm>
            <a:off x="6705600" y="3360738"/>
            <a:ext cx="0" cy="609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697" name="Line 7"/>
          <p:cNvSpPr>
            <a:spLocks noChangeShapeType="1"/>
          </p:cNvSpPr>
          <p:nvPr/>
        </p:nvSpPr>
        <p:spPr bwMode="auto">
          <a:xfrm>
            <a:off x="6934200" y="2819400"/>
            <a:ext cx="0" cy="1143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698" name="Line 8"/>
          <p:cNvSpPr>
            <a:spLocks noChangeShapeType="1"/>
          </p:cNvSpPr>
          <p:nvPr/>
        </p:nvSpPr>
        <p:spPr bwMode="auto">
          <a:xfrm>
            <a:off x="7648575" y="3808413"/>
            <a:ext cx="0" cy="1587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699" name="Line 9"/>
          <p:cNvSpPr>
            <a:spLocks noChangeShapeType="1"/>
          </p:cNvSpPr>
          <p:nvPr/>
        </p:nvSpPr>
        <p:spPr bwMode="auto">
          <a:xfrm>
            <a:off x="2209800" y="3055938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0" name="Line 10"/>
          <p:cNvSpPr>
            <a:spLocks noChangeShapeType="1"/>
          </p:cNvSpPr>
          <p:nvPr/>
        </p:nvSpPr>
        <p:spPr bwMode="auto">
          <a:xfrm>
            <a:off x="1905000" y="2979738"/>
            <a:ext cx="0" cy="990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1" name="Line 11"/>
          <p:cNvSpPr>
            <a:spLocks noChangeShapeType="1"/>
          </p:cNvSpPr>
          <p:nvPr/>
        </p:nvSpPr>
        <p:spPr bwMode="auto">
          <a:xfrm>
            <a:off x="1295400" y="3733800"/>
            <a:ext cx="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2" name="Line 12"/>
          <p:cNvSpPr>
            <a:spLocks noChangeShapeType="1"/>
          </p:cNvSpPr>
          <p:nvPr/>
        </p:nvSpPr>
        <p:spPr bwMode="auto">
          <a:xfrm flipH="1">
            <a:off x="4495800" y="2751138"/>
            <a:ext cx="0" cy="1219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3" name="Line 13"/>
          <p:cNvSpPr>
            <a:spLocks noChangeShapeType="1"/>
          </p:cNvSpPr>
          <p:nvPr/>
        </p:nvSpPr>
        <p:spPr bwMode="auto">
          <a:xfrm>
            <a:off x="4191000" y="3208338"/>
            <a:ext cx="0" cy="762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4" name="Line 14"/>
          <p:cNvSpPr>
            <a:spLocks noChangeShapeType="1"/>
          </p:cNvSpPr>
          <p:nvPr/>
        </p:nvSpPr>
        <p:spPr bwMode="auto">
          <a:xfrm>
            <a:off x="4800600" y="3208338"/>
            <a:ext cx="0" cy="762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05" name="Freeform 15"/>
          <p:cNvSpPr>
            <a:spLocks/>
          </p:cNvSpPr>
          <p:nvPr/>
        </p:nvSpPr>
        <p:spPr bwMode="auto">
          <a:xfrm>
            <a:off x="2133600" y="2827338"/>
            <a:ext cx="461963" cy="1098550"/>
          </a:xfrm>
          <a:custGeom>
            <a:avLst/>
            <a:gdLst>
              <a:gd name="T0" fmla="*/ 2147483647 w 291"/>
              <a:gd name="T1" fmla="*/ 2147483647 h 692"/>
              <a:gd name="T2" fmla="*/ 2147483647 w 291"/>
              <a:gd name="T3" fmla="*/ 2147483647 h 692"/>
              <a:gd name="T4" fmla="*/ 2147483647 w 291"/>
              <a:gd name="T5" fmla="*/ 2147483647 h 692"/>
              <a:gd name="T6" fmla="*/ 2147483647 w 291"/>
              <a:gd name="T7" fmla="*/ 2147483647 h 692"/>
              <a:gd name="T8" fmla="*/ 2147483647 w 291"/>
              <a:gd name="T9" fmla="*/ 2147483647 h 692"/>
              <a:gd name="T10" fmla="*/ 2147483647 w 291"/>
              <a:gd name="T11" fmla="*/ 2147483647 h 692"/>
              <a:gd name="T12" fmla="*/ 2147483647 w 291"/>
              <a:gd name="T13" fmla="*/ 2147483647 h 692"/>
              <a:gd name="T14" fmla="*/ 2147483647 w 291"/>
              <a:gd name="T15" fmla="*/ 2147483647 h 692"/>
              <a:gd name="T16" fmla="*/ 2147483647 w 291"/>
              <a:gd name="T17" fmla="*/ 2147483647 h 692"/>
              <a:gd name="T18" fmla="*/ 2147483647 w 291"/>
              <a:gd name="T19" fmla="*/ 2147483647 h 692"/>
              <a:gd name="T20" fmla="*/ 2147483647 w 291"/>
              <a:gd name="T21" fmla="*/ 2147483647 h 692"/>
              <a:gd name="T22" fmla="*/ 2147483647 w 291"/>
              <a:gd name="T23" fmla="*/ 2147483647 h 692"/>
              <a:gd name="T24" fmla="*/ 2147483647 w 291"/>
              <a:gd name="T25" fmla="*/ 2147483647 h 692"/>
              <a:gd name="T26" fmla="*/ 2147483647 w 291"/>
              <a:gd name="T27" fmla="*/ 2147483647 h 692"/>
              <a:gd name="T28" fmla="*/ 2147483647 w 291"/>
              <a:gd name="T29" fmla="*/ 2147483647 h 692"/>
              <a:gd name="T30" fmla="*/ 0 w 291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91"/>
              <a:gd name="T49" fmla="*/ 0 h 692"/>
              <a:gd name="T50" fmla="*/ 291 w 291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91" h="692">
                <a:moveTo>
                  <a:pt x="290" y="691"/>
                </a:moveTo>
                <a:lnTo>
                  <a:pt x="259" y="684"/>
                </a:lnTo>
                <a:lnTo>
                  <a:pt x="243" y="676"/>
                </a:lnTo>
                <a:lnTo>
                  <a:pt x="230" y="664"/>
                </a:lnTo>
                <a:lnTo>
                  <a:pt x="214" y="649"/>
                </a:lnTo>
                <a:lnTo>
                  <a:pt x="199" y="627"/>
                </a:lnTo>
                <a:lnTo>
                  <a:pt x="183" y="598"/>
                </a:lnTo>
                <a:lnTo>
                  <a:pt x="153" y="519"/>
                </a:lnTo>
                <a:lnTo>
                  <a:pt x="122" y="406"/>
                </a:lnTo>
                <a:lnTo>
                  <a:pt x="93" y="270"/>
                </a:lnTo>
                <a:lnTo>
                  <a:pt x="77" y="202"/>
                </a:lnTo>
                <a:lnTo>
                  <a:pt x="62" y="136"/>
                </a:lnTo>
                <a:lnTo>
                  <a:pt x="46" y="80"/>
                </a:lnTo>
                <a:lnTo>
                  <a:pt x="31" y="37"/>
                </a:lnTo>
                <a:lnTo>
                  <a:pt x="15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06" name="Freeform 16"/>
          <p:cNvSpPr>
            <a:spLocks/>
          </p:cNvSpPr>
          <p:nvPr/>
        </p:nvSpPr>
        <p:spPr bwMode="auto">
          <a:xfrm>
            <a:off x="685800" y="2827338"/>
            <a:ext cx="1460500" cy="1098550"/>
          </a:xfrm>
          <a:custGeom>
            <a:avLst/>
            <a:gdLst>
              <a:gd name="T0" fmla="*/ 0 w 872"/>
              <a:gd name="T1" fmla="*/ 2147483647 h 692"/>
              <a:gd name="T2" fmla="*/ 2147483647 w 872"/>
              <a:gd name="T3" fmla="*/ 2147483647 h 692"/>
              <a:gd name="T4" fmla="*/ 2147483647 w 872"/>
              <a:gd name="T5" fmla="*/ 2147483647 h 692"/>
              <a:gd name="T6" fmla="*/ 2147483647 w 872"/>
              <a:gd name="T7" fmla="*/ 2147483647 h 692"/>
              <a:gd name="T8" fmla="*/ 2147483647 w 872"/>
              <a:gd name="T9" fmla="*/ 2147483647 h 692"/>
              <a:gd name="T10" fmla="*/ 2147483647 w 872"/>
              <a:gd name="T11" fmla="*/ 2147483647 h 692"/>
              <a:gd name="T12" fmla="*/ 2147483647 w 872"/>
              <a:gd name="T13" fmla="*/ 2147483647 h 692"/>
              <a:gd name="T14" fmla="*/ 2147483647 w 872"/>
              <a:gd name="T15" fmla="*/ 2147483647 h 692"/>
              <a:gd name="T16" fmla="*/ 2147483647 w 872"/>
              <a:gd name="T17" fmla="*/ 2147483647 h 692"/>
              <a:gd name="T18" fmla="*/ 2147483647 w 872"/>
              <a:gd name="T19" fmla="*/ 2147483647 h 692"/>
              <a:gd name="T20" fmla="*/ 2147483647 w 872"/>
              <a:gd name="T21" fmla="*/ 2147483647 h 692"/>
              <a:gd name="T22" fmla="*/ 2147483647 w 872"/>
              <a:gd name="T23" fmla="*/ 2147483647 h 692"/>
              <a:gd name="T24" fmla="*/ 2147483647 w 872"/>
              <a:gd name="T25" fmla="*/ 2147483647 h 692"/>
              <a:gd name="T26" fmla="*/ 2147483647 w 872"/>
              <a:gd name="T27" fmla="*/ 2147483647 h 692"/>
              <a:gd name="T28" fmla="*/ 2147483647 w 872"/>
              <a:gd name="T29" fmla="*/ 2147483647 h 692"/>
              <a:gd name="T30" fmla="*/ 2147483647 w 872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72"/>
              <a:gd name="T49" fmla="*/ 0 h 692"/>
              <a:gd name="T50" fmla="*/ 872 w 872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72" h="692">
                <a:moveTo>
                  <a:pt x="0" y="691"/>
                </a:moveTo>
                <a:lnTo>
                  <a:pt x="93" y="684"/>
                </a:lnTo>
                <a:lnTo>
                  <a:pt x="138" y="676"/>
                </a:lnTo>
                <a:lnTo>
                  <a:pt x="184" y="664"/>
                </a:lnTo>
                <a:lnTo>
                  <a:pt x="230" y="649"/>
                </a:lnTo>
                <a:lnTo>
                  <a:pt x="275" y="627"/>
                </a:lnTo>
                <a:lnTo>
                  <a:pt x="321" y="598"/>
                </a:lnTo>
                <a:lnTo>
                  <a:pt x="412" y="519"/>
                </a:lnTo>
                <a:lnTo>
                  <a:pt x="505" y="406"/>
                </a:lnTo>
                <a:lnTo>
                  <a:pt x="596" y="270"/>
                </a:lnTo>
                <a:lnTo>
                  <a:pt x="642" y="202"/>
                </a:lnTo>
                <a:lnTo>
                  <a:pt x="689" y="136"/>
                </a:lnTo>
                <a:lnTo>
                  <a:pt x="733" y="80"/>
                </a:lnTo>
                <a:lnTo>
                  <a:pt x="780" y="37"/>
                </a:lnTo>
                <a:lnTo>
                  <a:pt x="826" y="10"/>
                </a:lnTo>
                <a:lnTo>
                  <a:pt x="871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07" name="Freeform 17"/>
          <p:cNvSpPr>
            <a:spLocks/>
          </p:cNvSpPr>
          <p:nvPr/>
        </p:nvSpPr>
        <p:spPr bwMode="auto">
          <a:xfrm>
            <a:off x="4495800" y="2751138"/>
            <a:ext cx="914400" cy="1143000"/>
          </a:xfrm>
          <a:custGeom>
            <a:avLst/>
            <a:gdLst>
              <a:gd name="T0" fmla="*/ 2147483647 w 399"/>
              <a:gd name="T1" fmla="*/ 2147483647 h 692"/>
              <a:gd name="T2" fmla="*/ 2147483647 w 399"/>
              <a:gd name="T3" fmla="*/ 2147483647 h 692"/>
              <a:gd name="T4" fmla="*/ 2147483647 w 399"/>
              <a:gd name="T5" fmla="*/ 2147483647 h 692"/>
              <a:gd name="T6" fmla="*/ 2147483647 w 399"/>
              <a:gd name="T7" fmla="*/ 2147483647 h 692"/>
              <a:gd name="T8" fmla="*/ 2147483647 w 399"/>
              <a:gd name="T9" fmla="*/ 2147483647 h 692"/>
              <a:gd name="T10" fmla="*/ 2147483647 w 399"/>
              <a:gd name="T11" fmla="*/ 2147483647 h 692"/>
              <a:gd name="T12" fmla="*/ 2147483647 w 399"/>
              <a:gd name="T13" fmla="*/ 2147483647 h 692"/>
              <a:gd name="T14" fmla="*/ 2147483647 w 399"/>
              <a:gd name="T15" fmla="*/ 2147483647 h 692"/>
              <a:gd name="T16" fmla="*/ 2147483647 w 399"/>
              <a:gd name="T17" fmla="*/ 2147483647 h 692"/>
              <a:gd name="T18" fmla="*/ 2147483647 w 399"/>
              <a:gd name="T19" fmla="*/ 2147483647 h 692"/>
              <a:gd name="T20" fmla="*/ 2147483647 w 399"/>
              <a:gd name="T21" fmla="*/ 2147483647 h 692"/>
              <a:gd name="T22" fmla="*/ 2147483647 w 399"/>
              <a:gd name="T23" fmla="*/ 2147483647 h 692"/>
              <a:gd name="T24" fmla="*/ 2147483647 w 399"/>
              <a:gd name="T25" fmla="*/ 2147483647 h 692"/>
              <a:gd name="T26" fmla="*/ 2147483647 w 399"/>
              <a:gd name="T27" fmla="*/ 2147483647 h 692"/>
              <a:gd name="T28" fmla="*/ 2147483647 w 399"/>
              <a:gd name="T29" fmla="*/ 2147483647 h 692"/>
              <a:gd name="T30" fmla="*/ 0 w 399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99"/>
              <a:gd name="T49" fmla="*/ 0 h 692"/>
              <a:gd name="T50" fmla="*/ 399 w 399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99" h="692">
                <a:moveTo>
                  <a:pt x="398" y="691"/>
                </a:moveTo>
                <a:lnTo>
                  <a:pt x="356" y="684"/>
                </a:lnTo>
                <a:lnTo>
                  <a:pt x="335" y="676"/>
                </a:lnTo>
                <a:lnTo>
                  <a:pt x="315" y="664"/>
                </a:lnTo>
                <a:lnTo>
                  <a:pt x="294" y="649"/>
                </a:lnTo>
                <a:lnTo>
                  <a:pt x="273" y="627"/>
                </a:lnTo>
                <a:lnTo>
                  <a:pt x="251" y="598"/>
                </a:lnTo>
                <a:lnTo>
                  <a:pt x="209" y="519"/>
                </a:lnTo>
                <a:lnTo>
                  <a:pt x="168" y="406"/>
                </a:lnTo>
                <a:lnTo>
                  <a:pt x="126" y="270"/>
                </a:lnTo>
                <a:lnTo>
                  <a:pt x="104" y="202"/>
                </a:lnTo>
                <a:lnTo>
                  <a:pt x="83" y="136"/>
                </a:lnTo>
                <a:lnTo>
                  <a:pt x="62" y="80"/>
                </a:lnTo>
                <a:lnTo>
                  <a:pt x="41" y="37"/>
                </a:lnTo>
                <a:lnTo>
                  <a:pt x="21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08" name="Freeform 18"/>
          <p:cNvSpPr>
            <a:spLocks/>
          </p:cNvSpPr>
          <p:nvPr/>
        </p:nvSpPr>
        <p:spPr bwMode="auto">
          <a:xfrm>
            <a:off x="3581400" y="2751138"/>
            <a:ext cx="892175" cy="1143000"/>
          </a:xfrm>
          <a:custGeom>
            <a:avLst/>
            <a:gdLst>
              <a:gd name="T0" fmla="*/ 0 w 401"/>
              <a:gd name="T1" fmla="*/ 2147483647 h 692"/>
              <a:gd name="T2" fmla="*/ 2147483647 w 401"/>
              <a:gd name="T3" fmla="*/ 2147483647 h 692"/>
              <a:gd name="T4" fmla="*/ 2147483647 w 401"/>
              <a:gd name="T5" fmla="*/ 2147483647 h 692"/>
              <a:gd name="T6" fmla="*/ 2147483647 w 401"/>
              <a:gd name="T7" fmla="*/ 2147483647 h 692"/>
              <a:gd name="T8" fmla="*/ 2147483647 w 401"/>
              <a:gd name="T9" fmla="*/ 2147483647 h 692"/>
              <a:gd name="T10" fmla="*/ 2147483647 w 401"/>
              <a:gd name="T11" fmla="*/ 2147483647 h 692"/>
              <a:gd name="T12" fmla="*/ 2147483647 w 401"/>
              <a:gd name="T13" fmla="*/ 2147483647 h 692"/>
              <a:gd name="T14" fmla="*/ 2147483647 w 401"/>
              <a:gd name="T15" fmla="*/ 2147483647 h 692"/>
              <a:gd name="T16" fmla="*/ 2147483647 w 401"/>
              <a:gd name="T17" fmla="*/ 2147483647 h 692"/>
              <a:gd name="T18" fmla="*/ 2147483647 w 401"/>
              <a:gd name="T19" fmla="*/ 2147483647 h 692"/>
              <a:gd name="T20" fmla="*/ 2147483647 w 401"/>
              <a:gd name="T21" fmla="*/ 2147483647 h 692"/>
              <a:gd name="T22" fmla="*/ 2147483647 w 401"/>
              <a:gd name="T23" fmla="*/ 2147483647 h 692"/>
              <a:gd name="T24" fmla="*/ 2147483647 w 401"/>
              <a:gd name="T25" fmla="*/ 2147483647 h 692"/>
              <a:gd name="T26" fmla="*/ 2147483647 w 401"/>
              <a:gd name="T27" fmla="*/ 2147483647 h 692"/>
              <a:gd name="T28" fmla="*/ 2147483647 w 401"/>
              <a:gd name="T29" fmla="*/ 2147483647 h 692"/>
              <a:gd name="T30" fmla="*/ 2147483647 w 401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01"/>
              <a:gd name="T49" fmla="*/ 0 h 692"/>
              <a:gd name="T50" fmla="*/ 401 w 401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01" h="692">
                <a:moveTo>
                  <a:pt x="0" y="691"/>
                </a:moveTo>
                <a:lnTo>
                  <a:pt x="42" y="684"/>
                </a:lnTo>
                <a:lnTo>
                  <a:pt x="63" y="676"/>
                </a:lnTo>
                <a:lnTo>
                  <a:pt x="85" y="664"/>
                </a:lnTo>
                <a:lnTo>
                  <a:pt x="106" y="649"/>
                </a:lnTo>
                <a:lnTo>
                  <a:pt x="127" y="627"/>
                </a:lnTo>
                <a:lnTo>
                  <a:pt x="147" y="598"/>
                </a:lnTo>
                <a:lnTo>
                  <a:pt x="189" y="519"/>
                </a:lnTo>
                <a:lnTo>
                  <a:pt x="232" y="406"/>
                </a:lnTo>
                <a:lnTo>
                  <a:pt x="274" y="270"/>
                </a:lnTo>
                <a:lnTo>
                  <a:pt x="294" y="202"/>
                </a:lnTo>
                <a:lnTo>
                  <a:pt x="315" y="136"/>
                </a:lnTo>
                <a:lnTo>
                  <a:pt x="336" y="80"/>
                </a:lnTo>
                <a:lnTo>
                  <a:pt x="357" y="37"/>
                </a:lnTo>
                <a:lnTo>
                  <a:pt x="379" y="10"/>
                </a:lnTo>
                <a:lnTo>
                  <a:pt x="400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09" name="Line 19"/>
          <p:cNvSpPr>
            <a:spLocks noChangeShapeType="1"/>
          </p:cNvSpPr>
          <p:nvPr/>
        </p:nvSpPr>
        <p:spPr bwMode="auto">
          <a:xfrm>
            <a:off x="685800" y="3970338"/>
            <a:ext cx="20574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10" name="Freeform 20"/>
          <p:cNvSpPr>
            <a:spLocks/>
          </p:cNvSpPr>
          <p:nvPr/>
        </p:nvSpPr>
        <p:spPr bwMode="auto">
          <a:xfrm>
            <a:off x="6843713" y="2797175"/>
            <a:ext cx="1462087" cy="1098550"/>
          </a:xfrm>
          <a:custGeom>
            <a:avLst/>
            <a:gdLst>
              <a:gd name="T0" fmla="*/ 2147483647 w 871"/>
              <a:gd name="T1" fmla="*/ 2147483647 h 692"/>
              <a:gd name="T2" fmla="*/ 2147483647 w 871"/>
              <a:gd name="T3" fmla="*/ 2147483647 h 692"/>
              <a:gd name="T4" fmla="*/ 2147483647 w 871"/>
              <a:gd name="T5" fmla="*/ 2147483647 h 692"/>
              <a:gd name="T6" fmla="*/ 2147483647 w 871"/>
              <a:gd name="T7" fmla="*/ 2147483647 h 692"/>
              <a:gd name="T8" fmla="*/ 2147483647 w 871"/>
              <a:gd name="T9" fmla="*/ 2147483647 h 692"/>
              <a:gd name="T10" fmla="*/ 2147483647 w 871"/>
              <a:gd name="T11" fmla="*/ 2147483647 h 692"/>
              <a:gd name="T12" fmla="*/ 2147483647 w 871"/>
              <a:gd name="T13" fmla="*/ 2147483647 h 692"/>
              <a:gd name="T14" fmla="*/ 2147483647 w 871"/>
              <a:gd name="T15" fmla="*/ 2147483647 h 692"/>
              <a:gd name="T16" fmla="*/ 2147483647 w 871"/>
              <a:gd name="T17" fmla="*/ 2147483647 h 692"/>
              <a:gd name="T18" fmla="*/ 2147483647 w 871"/>
              <a:gd name="T19" fmla="*/ 2147483647 h 692"/>
              <a:gd name="T20" fmla="*/ 2147483647 w 871"/>
              <a:gd name="T21" fmla="*/ 2147483647 h 692"/>
              <a:gd name="T22" fmla="*/ 2147483647 w 871"/>
              <a:gd name="T23" fmla="*/ 2147483647 h 692"/>
              <a:gd name="T24" fmla="*/ 2147483647 w 871"/>
              <a:gd name="T25" fmla="*/ 2147483647 h 692"/>
              <a:gd name="T26" fmla="*/ 2147483647 w 871"/>
              <a:gd name="T27" fmla="*/ 2147483647 h 692"/>
              <a:gd name="T28" fmla="*/ 2147483647 w 871"/>
              <a:gd name="T29" fmla="*/ 2147483647 h 692"/>
              <a:gd name="T30" fmla="*/ 0 w 871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71"/>
              <a:gd name="T49" fmla="*/ 0 h 692"/>
              <a:gd name="T50" fmla="*/ 871 w 871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71" h="692">
                <a:moveTo>
                  <a:pt x="870" y="691"/>
                </a:moveTo>
                <a:lnTo>
                  <a:pt x="777" y="684"/>
                </a:lnTo>
                <a:lnTo>
                  <a:pt x="733" y="676"/>
                </a:lnTo>
                <a:lnTo>
                  <a:pt x="686" y="664"/>
                </a:lnTo>
                <a:lnTo>
                  <a:pt x="640" y="649"/>
                </a:lnTo>
                <a:lnTo>
                  <a:pt x="596" y="627"/>
                </a:lnTo>
                <a:lnTo>
                  <a:pt x="549" y="598"/>
                </a:lnTo>
                <a:lnTo>
                  <a:pt x="456" y="519"/>
                </a:lnTo>
                <a:lnTo>
                  <a:pt x="365" y="406"/>
                </a:lnTo>
                <a:lnTo>
                  <a:pt x="274" y="270"/>
                </a:lnTo>
                <a:lnTo>
                  <a:pt x="228" y="202"/>
                </a:lnTo>
                <a:lnTo>
                  <a:pt x="182" y="136"/>
                </a:lnTo>
                <a:lnTo>
                  <a:pt x="137" y="80"/>
                </a:lnTo>
                <a:lnTo>
                  <a:pt x="91" y="37"/>
                </a:lnTo>
                <a:lnTo>
                  <a:pt x="44" y="1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11" name="Freeform 21"/>
          <p:cNvSpPr>
            <a:spLocks/>
          </p:cNvSpPr>
          <p:nvPr/>
        </p:nvSpPr>
        <p:spPr bwMode="auto">
          <a:xfrm>
            <a:off x="6383338" y="2797175"/>
            <a:ext cx="461962" cy="1098550"/>
          </a:xfrm>
          <a:custGeom>
            <a:avLst/>
            <a:gdLst>
              <a:gd name="T0" fmla="*/ 0 w 291"/>
              <a:gd name="T1" fmla="*/ 2147483647 h 692"/>
              <a:gd name="T2" fmla="*/ 2147483647 w 291"/>
              <a:gd name="T3" fmla="*/ 2147483647 h 692"/>
              <a:gd name="T4" fmla="*/ 2147483647 w 291"/>
              <a:gd name="T5" fmla="*/ 2147483647 h 692"/>
              <a:gd name="T6" fmla="*/ 2147483647 w 291"/>
              <a:gd name="T7" fmla="*/ 2147483647 h 692"/>
              <a:gd name="T8" fmla="*/ 2147483647 w 291"/>
              <a:gd name="T9" fmla="*/ 2147483647 h 692"/>
              <a:gd name="T10" fmla="*/ 2147483647 w 291"/>
              <a:gd name="T11" fmla="*/ 2147483647 h 692"/>
              <a:gd name="T12" fmla="*/ 2147483647 w 291"/>
              <a:gd name="T13" fmla="*/ 2147483647 h 692"/>
              <a:gd name="T14" fmla="*/ 2147483647 w 291"/>
              <a:gd name="T15" fmla="*/ 2147483647 h 692"/>
              <a:gd name="T16" fmla="*/ 2147483647 w 291"/>
              <a:gd name="T17" fmla="*/ 2147483647 h 692"/>
              <a:gd name="T18" fmla="*/ 2147483647 w 291"/>
              <a:gd name="T19" fmla="*/ 2147483647 h 692"/>
              <a:gd name="T20" fmla="*/ 2147483647 w 291"/>
              <a:gd name="T21" fmla="*/ 2147483647 h 692"/>
              <a:gd name="T22" fmla="*/ 2147483647 w 291"/>
              <a:gd name="T23" fmla="*/ 2147483647 h 692"/>
              <a:gd name="T24" fmla="*/ 2147483647 w 291"/>
              <a:gd name="T25" fmla="*/ 2147483647 h 692"/>
              <a:gd name="T26" fmla="*/ 2147483647 w 291"/>
              <a:gd name="T27" fmla="*/ 2147483647 h 692"/>
              <a:gd name="T28" fmla="*/ 2147483647 w 291"/>
              <a:gd name="T29" fmla="*/ 2147483647 h 692"/>
              <a:gd name="T30" fmla="*/ 2147483647 w 291"/>
              <a:gd name="T31" fmla="*/ 0 h 6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91"/>
              <a:gd name="T49" fmla="*/ 0 h 692"/>
              <a:gd name="T50" fmla="*/ 291 w 291"/>
              <a:gd name="T51" fmla="*/ 692 h 6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91" h="692">
                <a:moveTo>
                  <a:pt x="0" y="691"/>
                </a:moveTo>
                <a:lnTo>
                  <a:pt x="29" y="684"/>
                </a:lnTo>
                <a:lnTo>
                  <a:pt x="44" y="676"/>
                </a:lnTo>
                <a:lnTo>
                  <a:pt x="60" y="664"/>
                </a:lnTo>
                <a:lnTo>
                  <a:pt x="75" y="649"/>
                </a:lnTo>
                <a:lnTo>
                  <a:pt x="90" y="627"/>
                </a:lnTo>
                <a:lnTo>
                  <a:pt x="106" y="598"/>
                </a:lnTo>
                <a:lnTo>
                  <a:pt x="137" y="519"/>
                </a:lnTo>
                <a:lnTo>
                  <a:pt x="168" y="406"/>
                </a:lnTo>
                <a:lnTo>
                  <a:pt x="197" y="270"/>
                </a:lnTo>
                <a:lnTo>
                  <a:pt x="212" y="202"/>
                </a:lnTo>
                <a:lnTo>
                  <a:pt x="228" y="136"/>
                </a:lnTo>
                <a:lnTo>
                  <a:pt x="243" y="80"/>
                </a:lnTo>
                <a:lnTo>
                  <a:pt x="259" y="37"/>
                </a:lnTo>
                <a:lnTo>
                  <a:pt x="274" y="10"/>
                </a:lnTo>
                <a:lnTo>
                  <a:pt x="290" y="0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12" name="Freeform 22"/>
          <p:cNvSpPr>
            <a:spLocks/>
          </p:cNvSpPr>
          <p:nvPr/>
        </p:nvSpPr>
        <p:spPr bwMode="auto">
          <a:xfrm>
            <a:off x="1295400" y="5113338"/>
            <a:ext cx="990600" cy="463550"/>
          </a:xfrm>
          <a:custGeom>
            <a:avLst/>
            <a:gdLst>
              <a:gd name="T0" fmla="*/ 0 w 655"/>
              <a:gd name="T1" fmla="*/ 2147483647 h 292"/>
              <a:gd name="T2" fmla="*/ 2147483647 w 655"/>
              <a:gd name="T3" fmla="*/ 2147483647 h 292"/>
              <a:gd name="T4" fmla="*/ 2147483647 w 655"/>
              <a:gd name="T5" fmla="*/ 0 h 292"/>
              <a:gd name="T6" fmla="*/ 0 w 655"/>
              <a:gd name="T7" fmla="*/ 0 h 292"/>
              <a:gd name="T8" fmla="*/ 0 w 655"/>
              <a:gd name="T9" fmla="*/ 2147483647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5"/>
              <a:gd name="T16" fmla="*/ 0 h 292"/>
              <a:gd name="T17" fmla="*/ 655 w 655"/>
              <a:gd name="T18" fmla="*/ 292 h 2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5" h="292">
                <a:moveTo>
                  <a:pt x="0" y="291"/>
                </a:moveTo>
                <a:lnTo>
                  <a:pt x="654" y="291"/>
                </a:lnTo>
                <a:lnTo>
                  <a:pt x="654" y="0"/>
                </a:lnTo>
                <a:lnTo>
                  <a:pt x="0" y="0"/>
                </a:lnTo>
                <a:lnTo>
                  <a:pt x="0" y="291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13" name="Line 23"/>
          <p:cNvSpPr>
            <a:spLocks noChangeShapeType="1"/>
          </p:cNvSpPr>
          <p:nvPr/>
        </p:nvSpPr>
        <p:spPr bwMode="auto">
          <a:xfrm>
            <a:off x="1981200" y="512286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14" name="Line 24"/>
          <p:cNvSpPr>
            <a:spLocks noChangeShapeType="1"/>
          </p:cNvSpPr>
          <p:nvPr/>
        </p:nvSpPr>
        <p:spPr bwMode="auto">
          <a:xfrm flipV="1">
            <a:off x="2286000" y="5351463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15" name="Freeform 25"/>
          <p:cNvSpPr>
            <a:spLocks/>
          </p:cNvSpPr>
          <p:nvPr/>
        </p:nvSpPr>
        <p:spPr bwMode="auto">
          <a:xfrm>
            <a:off x="4267200" y="5113338"/>
            <a:ext cx="609600" cy="457200"/>
          </a:xfrm>
          <a:custGeom>
            <a:avLst/>
            <a:gdLst>
              <a:gd name="T0" fmla="*/ 0 w 288"/>
              <a:gd name="T1" fmla="*/ 2147483647 h 292"/>
              <a:gd name="T2" fmla="*/ 2147483647 w 288"/>
              <a:gd name="T3" fmla="*/ 2147483647 h 292"/>
              <a:gd name="T4" fmla="*/ 2147483647 w 288"/>
              <a:gd name="T5" fmla="*/ 0 h 292"/>
              <a:gd name="T6" fmla="*/ 0 w 288"/>
              <a:gd name="T7" fmla="*/ 0 h 292"/>
              <a:gd name="T8" fmla="*/ 0 w 288"/>
              <a:gd name="T9" fmla="*/ 2147483647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292"/>
              <a:gd name="T17" fmla="*/ 288 w 288"/>
              <a:gd name="T18" fmla="*/ 292 h 2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292">
                <a:moveTo>
                  <a:pt x="0" y="291"/>
                </a:moveTo>
                <a:lnTo>
                  <a:pt x="287" y="291"/>
                </a:lnTo>
                <a:lnTo>
                  <a:pt x="287" y="0"/>
                </a:lnTo>
                <a:lnTo>
                  <a:pt x="0" y="0"/>
                </a:lnTo>
                <a:lnTo>
                  <a:pt x="0" y="291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16" name="Freeform 26"/>
          <p:cNvSpPr>
            <a:spLocks/>
          </p:cNvSpPr>
          <p:nvPr/>
        </p:nvSpPr>
        <p:spPr bwMode="auto">
          <a:xfrm>
            <a:off x="6705600" y="5113338"/>
            <a:ext cx="762000" cy="457200"/>
          </a:xfrm>
          <a:custGeom>
            <a:avLst/>
            <a:gdLst>
              <a:gd name="T0" fmla="*/ 0 w 653"/>
              <a:gd name="T1" fmla="*/ 2147483647 h 292"/>
              <a:gd name="T2" fmla="*/ 2147483647 w 653"/>
              <a:gd name="T3" fmla="*/ 2147483647 h 292"/>
              <a:gd name="T4" fmla="*/ 2147483647 w 653"/>
              <a:gd name="T5" fmla="*/ 0 h 292"/>
              <a:gd name="T6" fmla="*/ 0 w 653"/>
              <a:gd name="T7" fmla="*/ 0 h 292"/>
              <a:gd name="T8" fmla="*/ 0 w 653"/>
              <a:gd name="T9" fmla="*/ 2147483647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3"/>
              <a:gd name="T16" fmla="*/ 0 h 292"/>
              <a:gd name="T17" fmla="*/ 653 w 653"/>
              <a:gd name="T18" fmla="*/ 292 h 2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3" h="292">
                <a:moveTo>
                  <a:pt x="0" y="291"/>
                </a:moveTo>
                <a:lnTo>
                  <a:pt x="652" y="291"/>
                </a:lnTo>
                <a:lnTo>
                  <a:pt x="652" y="0"/>
                </a:lnTo>
                <a:lnTo>
                  <a:pt x="0" y="0"/>
                </a:lnTo>
                <a:lnTo>
                  <a:pt x="0" y="291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4717" name="Line 27"/>
          <p:cNvSpPr>
            <a:spLocks noChangeShapeType="1"/>
          </p:cNvSpPr>
          <p:nvPr/>
        </p:nvSpPr>
        <p:spPr bwMode="auto">
          <a:xfrm>
            <a:off x="6934200" y="5105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18" name="Line 28"/>
          <p:cNvSpPr>
            <a:spLocks noChangeShapeType="1"/>
          </p:cNvSpPr>
          <p:nvPr/>
        </p:nvSpPr>
        <p:spPr bwMode="auto">
          <a:xfrm>
            <a:off x="685800" y="5351463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19" name="Line 29"/>
          <p:cNvSpPr>
            <a:spLocks noChangeShapeType="1"/>
          </p:cNvSpPr>
          <p:nvPr/>
        </p:nvSpPr>
        <p:spPr bwMode="auto">
          <a:xfrm flipH="1">
            <a:off x="6400800" y="51895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0" name="Line 30"/>
          <p:cNvSpPr>
            <a:spLocks noChangeShapeType="1"/>
          </p:cNvSpPr>
          <p:nvPr/>
        </p:nvSpPr>
        <p:spPr bwMode="auto">
          <a:xfrm>
            <a:off x="3657600" y="53340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1" name="Line 31"/>
          <p:cNvSpPr>
            <a:spLocks noChangeShapeType="1"/>
          </p:cNvSpPr>
          <p:nvPr/>
        </p:nvSpPr>
        <p:spPr bwMode="auto">
          <a:xfrm flipV="1">
            <a:off x="4876800" y="53419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2" name="Line 32"/>
          <p:cNvSpPr>
            <a:spLocks noChangeShapeType="1"/>
          </p:cNvSpPr>
          <p:nvPr/>
        </p:nvSpPr>
        <p:spPr bwMode="auto">
          <a:xfrm flipV="1">
            <a:off x="7467600" y="53340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3" name="Line 33"/>
          <p:cNvSpPr>
            <a:spLocks noChangeShapeType="1"/>
          </p:cNvSpPr>
          <p:nvPr/>
        </p:nvSpPr>
        <p:spPr bwMode="auto">
          <a:xfrm flipV="1">
            <a:off x="6400800" y="53419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4" name="Line 34"/>
          <p:cNvSpPr>
            <a:spLocks noChangeShapeType="1"/>
          </p:cNvSpPr>
          <p:nvPr/>
        </p:nvSpPr>
        <p:spPr bwMode="auto">
          <a:xfrm>
            <a:off x="4572000" y="5113338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5" name="Line 35"/>
          <p:cNvSpPr>
            <a:spLocks noChangeShapeType="1"/>
          </p:cNvSpPr>
          <p:nvPr/>
        </p:nvSpPr>
        <p:spPr bwMode="auto">
          <a:xfrm>
            <a:off x="7467600" y="3513138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6" name="Line 36"/>
          <p:cNvSpPr>
            <a:spLocks noChangeShapeType="1"/>
          </p:cNvSpPr>
          <p:nvPr/>
        </p:nvSpPr>
        <p:spPr bwMode="auto">
          <a:xfrm flipH="1">
            <a:off x="8305800" y="51895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7" name="Line 37"/>
          <p:cNvSpPr>
            <a:spLocks noChangeShapeType="1"/>
          </p:cNvSpPr>
          <p:nvPr/>
        </p:nvSpPr>
        <p:spPr bwMode="auto">
          <a:xfrm flipH="1">
            <a:off x="5486400" y="51895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8" name="Line 38"/>
          <p:cNvSpPr>
            <a:spLocks noChangeShapeType="1"/>
          </p:cNvSpPr>
          <p:nvPr/>
        </p:nvSpPr>
        <p:spPr bwMode="auto">
          <a:xfrm flipH="1">
            <a:off x="3657600" y="51895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29" name="Line 39"/>
          <p:cNvSpPr>
            <a:spLocks noChangeShapeType="1"/>
          </p:cNvSpPr>
          <p:nvPr/>
        </p:nvSpPr>
        <p:spPr bwMode="auto">
          <a:xfrm flipH="1">
            <a:off x="2590800" y="519906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30" name="Line 40"/>
          <p:cNvSpPr>
            <a:spLocks noChangeShapeType="1"/>
          </p:cNvSpPr>
          <p:nvPr/>
        </p:nvSpPr>
        <p:spPr bwMode="auto">
          <a:xfrm flipH="1">
            <a:off x="685800" y="519906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31" name="Line 41"/>
          <p:cNvSpPr>
            <a:spLocks noChangeShapeType="1"/>
          </p:cNvSpPr>
          <p:nvPr/>
        </p:nvSpPr>
        <p:spPr bwMode="auto">
          <a:xfrm>
            <a:off x="3505200" y="3970338"/>
            <a:ext cx="19399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32" name="Line 42"/>
          <p:cNvSpPr>
            <a:spLocks noChangeShapeType="1"/>
          </p:cNvSpPr>
          <p:nvPr/>
        </p:nvSpPr>
        <p:spPr bwMode="auto">
          <a:xfrm>
            <a:off x="6248400" y="3970338"/>
            <a:ext cx="20574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4733" name="Text Box 43"/>
          <p:cNvSpPr txBox="1">
            <a:spLocks noChangeArrowheads="1"/>
          </p:cNvSpPr>
          <p:nvPr/>
        </p:nvSpPr>
        <p:spPr bwMode="auto">
          <a:xfrm>
            <a:off x="9144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Q</a:t>
            </a:r>
            <a:r>
              <a:rPr lang="en-US" sz="2000" b="1" baseline="-25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4734" name="Text Box 44"/>
          <p:cNvSpPr txBox="1">
            <a:spLocks noChangeArrowheads="1"/>
          </p:cNvSpPr>
          <p:nvPr/>
        </p:nvSpPr>
        <p:spPr bwMode="auto">
          <a:xfrm>
            <a:off x="16002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hlink"/>
                </a:solidFill>
              </a:rPr>
              <a:t>Q</a:t>
            </a:r>
            <a:r>
              <a:rPr lang="en-US" sz="2000" b="1" baseline="-25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14735" name="Text Box 45"/>
          <p:cNvSpPr txBox="1">
            <a:spLocks noChangeArrowheads="1"/>
          </p:cNvSpPr>
          <p:nvPr/>
        </p:nvSpPr>
        <p:spPr bwMode="auto">
          <a:xfrm>
            <a:off x="19812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1"/>
                </a:solidFill>
              </a:rPr>
              <a:t>Q</a:t>
            </a:r>
            <a:r>
              <a:rPr lang="en-US" sz="2000" b="1" baseline="-25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14736" name="Text Box 46"/>
          <p:cNvSpPr txBox="1">
            <a:spLocks noChangeArrowheads="1"/>
          </p:cNvSpPr>
          <p:nvPr/>
        </p:nvSpPr>
        <p:spPr bwMode="auto">
          <a:xfrm>
            <a:off x="38862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Q</a:t>
            </a:r>
            <a:r>
              <a:rPr lang="en-US" sz="2000" b="1" baseline="-25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4737" name="Text Box 47"/>
          <p:cNvSpPr txBox="1">
            <a:spLocks noChangeArrowheads="1"/>
          </p:cNvSpPr>
          <p:nvPr/>
        </p:nvSpPr>
        <p:spPr bwMode="auto">
          <a:xfrm>
            <a:off x="42672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hlink"/>
                </a:solidFill>
              </a:rPr>
              <a:t>Q</a:t>
            </a:r>
            <a:r>
              <a:rPr lang="en-US" sz="2000" b="1" baseline="-25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14738" name="Text Box 48"/>
          <p:cNvSpPr txBox="1">
            <a:spLocks noChangeArrowheads="1"/>
          </p:cNvSpPr>
          <p:nvPr/>
        </p:nvSpPr>
        <p:spPr bwMode="auto">
          <a:xfrm>
            <a:off x="4648200" y="41989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1"/>
                </a:solidFill>
              </a:rPr>
              <a:t>Q</a:t>
            </a:r>
            <a:r>
              <a:rPr lang="en-US" sz="2000" b="1" baseline="-25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14739" name="Text Box 49"/>
          <p:cNvSpPr txBox="1">
            <a:spLocks noChangeArrowheads="1"/>
          </p:cNvSpPr>
          <p:nvPr/>
        </p:nvSpPr>
        <p:spPr bwMode="auto">
          <a:xfrm>
            <a:off x="6400800" y="41227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Q</a:t>
            </a:r>
            <a:r>
              <a:rPr lang="en-US" sz="2000" b="1" baseline="-25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4740" name="Text Box 50"/>
          <p:cNvSpPr txBox="1">
            <a:spLocks noChangeArrowheads="1"/>
          </p:cNvSpPr>
          <p:nvPr/>
        </p:nvSpPr>
        <p:spPr bwMode="auto">
          <a:xfrm>
            <a:off x="6858000" y="41227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hlink"/>
                </a:solidFill>
              </a:rPr>
              <a:t>Q</a:t>
            </a:r>
            <a:r>
              <a:rPr lang="en-US" sz="2000" b="1" baseline="-25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14741" name="Text Box 51"/>
          <p:cNvSpPr txBox="1">
            <a:spLocks noChangeArrowheads="1"/>
          </p:cNvSpPr>
          <p:nvPr/>
        </p:nvSpPr>
        <p:spPr bwMode="auto">
          <a:xfrm>
            <a:off x="7315200" y="4122738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1"/>
                </a:solidFill>
              </a:rPr>
              <a:t>Q</a:t>
            </a:r>
            <a:r>
              <a:rPr lang="en-US" sz="2000" b="1" baseline="-25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14742" name="TextBox 53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20801B3-37CB-4184-881A-BDC5FA1568C6}" type="slidenum">
              <a:rPr lang="en-US" smtClean="0">
                <a:latin typeface="Arial" charset="0"/>
              </a:rPr>
              <a:pPr/>
              <a:t>51</a:t>
            </a:fld>
            <a:endParaRPr lang="en-US" smtClean="0">
              <a:latin typeface="Arial" charset="0"/>
            </a:endParaRPr>
          </a:p>
        </p:txBody>
      </p:sp>
      <p:sp>
        <p:nvSpPr>
          <p:cNvPr id="2560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560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8D5339A-2B03-40E2-8536-499B8DD16589}" type="slidenum">
              <a:rPr lang="en-US" sz="1000"/>
              <a:pPr algn="r" defTabSz="852488"/>
              <a:t>51</a:t>
            </a:fld>
            <a:endParaRPr lang="en-US" sz="1000"/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620000" cy="685800"/>
          </a:xfrm>
        </p:spPr>
        <p:txBody>
          <a:bodyPr/>
          <a:lstStyle/>
          <a:p>
            <a:pPr defTabSz="914400" eaLnBrk="1" hangingPunct="1"/>
            <a:r>
              <a:rPr lang="en-US" smtClean="0"/>
              <a:t>Boxplot Example</a:t>
            </a:r>
          </a:p>
        </p:txBody>
      </p:sp>
      <p:sp>
        <p:nvSpPr>
          <p:cNvPr id="256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8458200" cy="4356100"/>
          </a:xfrm>
        </p:spPr>
        <p:txBody>
          <a:bodyPr>
            <a:spAutoFit/>
          </a:bodyPr>
          <a:lstStyle/>
          <a:p>
            <a:pPr marL="342900" indent="-342900" defTabSz="914400" eaLnBrk="1" hangingPunct="1"/>
            <a:r>
              <a:rPr lang="en-US" smtClean="0"/>
              <a:t>Below is a Boxplot for the following data:</a:t>
            </a:r>
          </a:p>
          <a:p>
            <a:pPr marL="342900" indent="-342900" defTabSz="914400" eaLnBrk="1" hangingPunct="1">
              <a:buFont typeface="Wingdings" pitchFamily="2" charset="2"/>
              <a:buNone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 0    2     2      2     3     3     4     5     5    9    27</a:t>
            </a:r>
          </a:p>
          <a:p>
            <a:pPr marL="342900" indent="-342900" defTabSz="914400" eaLnBrk="1" hangingPunct="1">
              <a:lnSpc>
                <a:spcPct val="80000"/>
              </a:lnSpc>
            </a:pPr>
            <a:endParaRPr lang="en-US" smtClean="0"/>
          </a:p>
          <a:p>
            <a:pPr marL="342900" indent="-342900" defTabSz="914400" eaLnBrk="1" hangingPunct="1">
              <a:lnSpc>
                <a:spcPct val="80000"/>
              </a:lnSpc>
            </a:pPr>
            <a:endParaRPr lang="en-US" smtClean="0"/>
          </a:p>
          <a:p>
            <a:pPr marL="342900" indent="-342900" defTabSz="914400" eaLnBrk="1" hangingPunct="1">
              <a:lnSpc>
                <a:spcPct val="80000"/>
              </a:lnSpc>
            </a:pPr>
            <a:endParaRPr lang="en-US" smtClean="0"/>
          </a:p>
          <a:p>
            <a:pPr marL="342900" indent="-342900" defTabSz="914400" eaLnBrk="1" hangingPunct="1">
              <a:lnSpc>
                <a:spcPct val="80000"/>
              </a:lnSpc>
            </a:pPr>
            <a:endParaRPr lang="en-US" smtClean="0"/>
          </a:p>
          <a:p>
            <a:pPr marL="342900" indent="-342900" defTabSz="914400" eaLnBrk="1" hangingPunct="1"/>
            <a:endParaRPr lang="en-US" sz="1400" smtClean="0"/>
          </a:p>
          <a:p>
            <a:pPr marL="342900" indent="-342900" defTabSz="914400" eaLnBrk="1" hangingPunct="1"/>
            <a:r>
              <a:rPr lang="en-US" smtClean="0"/>
              <a:t>The data are right skewed, as the plot depicts</a:t>
            </a:r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914400" y="3657600"/>
          <a:ext cx="7086600" cy="2363788"/>
        </p:xfrm>
        <a:graphic>
          <a:graphicData uri="http://schemas.openxmlformats.org/presentationml/2006/ole">
            <p:oleObj spid="_x0000_s25602" name="Drawing" r:id="rId3" imgW="6334200" imgH="2571840" progId="">
              <p:embed/>
            </p:oleObj>
          </a:graphicData>
        </a:graphic>
      </p:graphicFrame>
      <p:sp>
        <p:nvSpPr>
          <p:cNvPr id="25608" name="Text Box 5"/>
          <p:cNvSpPr txBox="1">
            <a:spLocks noChangeArrowheads="1"/>
          </p:cNvSpPr>
          <p:nvPr/>
        </p:nvSpPr>
        <p:spPr bwMode="auto">
          <a:xfrm>
            <a:off x="1600200" y="5029200"/>
            <a:ext cx="594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folHlink"/>
                </a:solidFill>
              </a:rPr>
              <a:t>0   2  3   5                                                              27</a:t>
            </a:r>
          </a:p>
        </p:txBody>
      </p:sp>
      <p:sp>
        <p:nvSpPr>
          <p:cNvPr id="25609" name="Rectangle 6"/>
          <p:cNvSpPr>
            <a:spLocks noChangeArrowheads="1"/>
          </p:cNvSpPr>
          <p:nvPr/>
        </p:nvSpPr>
        <p:spPr bwMode="auto">
          <a:xfrm>
            <a:off x="609600" y="27432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X</a:t>
            </a:r>
            <a:r>
              <a:rPr lang="en-US" b="1" baseline="-25000">
                <a:solidFill>
                  <a:srgbClr val="0000FF"/>
                </a:solidFill>
              </a:rPr>
              <a:t>smallest</a:t>
            </a:r>
            <a:r>
              <a:rPr lang="en-US" b="1">
                <a:solidFill>
                  <a:srgbClr val="0000FF"/>
                </a:solidFill>
              </a:rPr>
              <a:t>    Q</a:t>
            </a:r>
            <a:r>
              <a:rPr lang="en-US" b="1" baseline="-25000">
                <a:solidFill>
                  <a:srgbClr val="0000FF"/>
                </a:solidFill>
              </a:rPr>
              <a:t>1</a:t>
            </a:r>
            <a:r>
              <a:rPr lang="en-US" b="1">
                <a:solidFill>
                  <a:srgbClr val="0000FF"/>
                </a:solidFill>
              </a:rPr>
              <a:t>                    Q</a:t>
            </a:r>
            <a:r>
              <a:rPr lang="en-US" b="1" baseline="-25000">
                <a:solidFill>
                  <a:srgbClr val="0000FF"/>
                </a:solidFill>
              </a:rPr>
              <a:t>2</a:t>
            </a:r>
            <a:r>
              <a:rPr lang="en-US" b="1">
                <a:solidFill>
                  <a:srgbClr val="0000FF"/>
                </a:solidFill>
              </a:rPr>
              <a:t>                    Q</a:t>
            </a:r>
            <a:r>
              <a:rPr lang="en-US" b="1" baseline="-25000">
                <a:solidFill>
                  <a:srgbClr val="0000FF"/>
                </a:solidFill>
              </a:rPr>
              <a:t>3 </a:t>
            </a:r>
            <a:r>
              <a:rPr lang="en-US" b="1">
                <a:solidFill>
                  <a:srgbClr val="0000FF"/>
                </a:solidFill>
              </a:rPr>
              <a:t>        X</a:t>
            </a:r>
            <a:r>
              <a:rPr lang="en-US" b="1" baseline="-25000">
                <a:solidFill>
                  <a:srgbClr val="0000FF"/>
                </a:solidFill>
              </a:rPr>
              <a:t>largest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25610" name="Oval 7"/>
          <p:cNvSpPr>
            <a:spLocks noChangeArrowheads="1"/>
          </p:cNvSpPr>
          <p:nvPr/>
        </p:nvSpPr>
        <p:spPr bwMode="auto">
          <a:xfrm>
            <a:off x="685800" y="3200400"/>
            <a:ext cx="533400" cy="533400"/>
          </a:xfrm>
          <a:prstGeom prst="ellipse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11" name="Oval 8"/>
          <p:cNvSpPr>
            <a:spLocks noChangeArrowheads="1"/>
          </p:cNvSpPr>
          <p:nvPr/>
        </p:nvSpPr>
        <p:spPr bwMode="auto">
          <a:xfrm>
            <a:off x="1981200" y="3200400"/>
            <a:ext cx="533400" cy="533400"/>
          </a:xfrm>
          <a:prstGeom prst="ellipse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12" name="Oval 9"/>
          <p:cNvSpPr>
            <a:spLocks noChangeArrowheads="1"/>
          </p:cNvSpPr>
          <p:nvPr/>
        </p:nvSpPr>
        <p:spPr bwMode="auto">
          <a:xfrm>
            <a:off x="4114800" y="3200400"/>
            <a:ext cx="533400" cy="533400"/>
          </a:xfrm>
          <a:prstGeom prst="ellipse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13" name="Oval 10"/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14" name="Oval 11"/>
          <p:cNvSpPr>
            <a:spLocks noChangeArrowheads="1"/>
          </p:cNvSpPr>
          <p:nvPr/>
        </p:nvSpPr>
        <p:spPr bwMode="auto">
          <a:xfrm>
            <a:off x="7391400" y="3200400"/>
            <a:ext cx="685800" cy="533400"/>
          </a:xfrm>
          <a:prstGeom prst="ellipse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615" name="TextBox 13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D41F3C1-C95A-48DD-B9E9-0A65BBBD2084}" type="slidenum">
              <a:rPr lang="en-US" smtClean="0">
                <a:latin typeface="Arial" charset="0"/>
              </a:rPr>
              <a:pPr/>
              <a:t>52</a:t>
            </a:fld>
            <a:endParaRPr lang="en-US" smtClean="0">
              <a:latin typeface="Arial" charset="0"/>
            </a:endParaRPr>
          </a:p>
        </p:txBody>
      </p:sp>
      <p:sp>
        <p:nvSpPr>
          <p:cNvPr id="11776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77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B74526F6-65C0-405D-90C8-00C3D81D7564}" type="slidenum">
              <a:rPr lang="en-US" sz="1000"/>
              <a:pPr algn="r" defTabSz="852488"/>
              <a:t>52</a:t>
            </a:fld>
            <a:endParaRPr lang="en-US" sz="1000"/>
          </a:p>
        </p:txBody>
      </p:sp>
      <p:sp>
        <p:nvSpPr>
          <p:cNvPr id="11776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990600"/>
          </a:xfrm>
        </p:spPr>
        <p:txBody>
          <a:bodyPr/>
          <a:lstStyle/>
          <a:p>
            <a:pPr eaLnBrk="1" hangingPunct="1"/>
            <a:r>
              <a:rPr lang="en-US" smtClean="0"/>
              <a:t>Numerical Descriptive Measures for a Population</a:t>
            </a:r>
          </a:p>
        </p:txBody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Descriptive statistics discussed previously described a </a:t>
            </a:r>
            <a:r>
              <a:rPr lang="en-US" i="1" smtClean="0">
                <a:latin typeface="Times New Roman" pitchFamily="18" charset="0"/>
              </a:rPr>
              <a:t>sample</a:t>
            </a:r>
            <a:r>
              <a:rPr lang="en-US" smtClean="0">
                <a:latin typeface="Times New Roman" pitchFamily="18" charset="0"/>
              </a:rPr>
              <a:t>, not the </a:t>
            </a:r>
            <a:r>
              <a:rPr lang="en-US" i="1" smtClean="0">
                <a:latin typeface="Times New Roman" pitchFamily="18" charset="0"/>
              </a:rPr>
              <a:t>population</a:t>
            </a:r>
            <a:r>
              <a:rPr lang="en-US" smtClean="0">
                <a:latin typeface="Times New Roman" pitchFamily="18" charset="0"/>
              </a:rPr>
              <a:t>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Summary measures describing a population, called </a:t>
            </a:r>
            <a:r>
              <a:rPr lang="en-US" b="1" smtClean="0">
                <a:latin typeface="Times New Roman" pitchFamily="18" charset="0"/>
              </a:rPr>
              <a:t>parameters</a:t>
            </a:r>
            <a:r>
              <a:rPr lang="en-US" smtClean="0">
                <a:latin typeface="Times New Roman" pitchFamily="18" charset="0"/>
              </a:rPr>
              <a:t>, are denoted with Greek letters.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Important population parameters are the population mean, variance, and standard deviation.</a:t>
            </a:r>
          </a:p>
        </p:txBody>
      </p:sp>
      <p:sp>
        <p:nvSpPr>
          <p:cNvPr id="117766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04B7132-AD12-40E4-854B-B904CEA0E237}" type="slidenum">
              <a:rPr lang="en-US" smtClean="0">
                <a:latin typeface="Arial" charset="0"/>
              </a:rPr>
              <a:pPr/>
              <a:t>53</a:t>
            </a:fld>
            <a:endParaRPr lang="en-US" smtClean="0">
              <a:latin typeface="Arial" charset="0"/>
            </a:endParaRPr>
          </a:p>
        </p:txBody>
      </p:sp>
      <p:sp>
        <p:nvSpPr>
          <p:cNvPr id="1638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638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317654F-7279-447E-BB20-FD616D9E84F1}" type="slidenum">
              <a:rPr lang="en-US" sz="1000"/>
              <a:pPr algn="r" defTabSz="852488"/>
              <a:t>53</a:t>
            </a:fld>
            <a:endParaRPr lang="en-US" sz="1000"/>
          </a:p>
        </p:txBody>
      </p:sp>
      <p:sp>
        <p:nvSpPr>
          <p:cNvPr id="163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793038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Numerical Descriptive Measures </a:t>
            </a:r>
            <a:br>
              <a:rPr lang="en-US" sz="3600" smtClean="0"/>
            </a:br>
            <a:r>
              <a:rPr lang="en-US" sz="3600" smtClean="0"/>
              <a:t>for a Population:  The mean </a:t>
            </a:r>
            <a:r>
              <a:rPr lang="en-US" sz="3600" smtClean="0">
                <a:cs typeface="Arial" charset="0"/>
              </a:rPr>
              <a:t>µ</a:t>
            </a:r>
          </a:p>
        </p:txBody>
      </p:sp>
      <p:sp>
        <p:nvSpPr>
          <p:cNvPr id="163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1295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smtClean="0"/>
              <a:t>The </a:t>
            </a:r>
            <a:r>
              <a:rPr lang="en-US" smtClean="0">
                <a:solidFill>
                  <a:schemeClr val="folHlink"/>
                </a:solidFill>
              </a:rPr>
              <a:t>population mean</a:t>
            </a:r>
            <a:r>
              <a:rPr lang="en-US" smtClean="0"/>
              <a:t> is the sum of the values in the population divided by the population size, N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2133600" y="3352800"/>
          <a:ext cx="4943475" cy="1570038"/>
        </p:xfrm>
        <a:graphic>
          <a:graphicData uri="http://schemas.openxmlformats.org/presentationml/2006/ole">
            <p:oleObj spid="_x0000_s16386" name="Equation" r:id="rId3" imgW="1917360" imgH="609480" progId="Equation.3">
              <p:embed/>
            </p:oleObj>
          </a:graphicData>
        </a:graphic>
      </p:graphicFrame>
      <p:sp>
        <p:nvSpPr>
          <p:cNvPr id="16392" name="Text Box 5"/>
          <p:cNvSpPr txBox="1">
            <a:spLocks noChangeArrowheads="1"/>
          </p:cNvSpPr>
          <p:nvPr/>
        </p:nvSpPr>
        <p:spPr bwMode="auto">
          <a:xfrm>
            <a:off x="2667000" y="5105400"/>
            <a:ext cx="403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sz="2000">
                <a:cs typeface="Arial" charset="0"/>
              </a:rPr>
              <a:t>μ</a:t>
            </a:r>
            <a:r>
              <a:rPr lang="en-US" sz="2000"/>
              <a:t> = population mean</a:t>
            </a:r>
          </a:p>
          <a:p>
            <a:pPr>
              <a:spcBef>
                <a:spcPct val="50000"/>
              </a:spcBef>
            </a:pPr>
            <a:r>
              <a:rPr lang="en-US" sz="2000"/>
              <a:t>N = population size</a:t>
            </a:r>
          </a:p>
          <a:p>
            <a:pPr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i</a:t>
            </a:r>
            <a:r>
              <a:rPr lang="en-US" sz="2000"/>
              <a:t> = i</a:t>
            </a:r>
            <a:r>
              <a:rPr lang="en-US" sz="2000" baseline="30000"/>
              <a:t>th</a:t>
            </a:r>
            <a:r>
              <a:rPr lang="en-US" sz="2000"/>
              <a:t> value of the variable X</a:t>
            </a:r>
          </a:p>
        </p:txBody>
      </p:sp>
      <p:sp>
        <p:nvSpPr>
          <p:cNvPr id="16393" name="Text Box 6"/>
          <p:cNvSpPr txBox="1">
            <a:spLocks noChangeArrowheads="1"/>
          </p:cNvSpPr>
          <p:nvPr/>
        </p:nvSpPr>
        <p:spPr bwMode="auto">
          <a:xfrm>
            <a:off x="1447800" y="50292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Where</a:t>
            </a:r>
            <a:r>
              <a:rPr lang="en-US"/>
              <a:t> </a:t>
            </a:r>
          </a:p>
        </p:txBody>
      </p:sp>
      <p:sp>
        <p:nvSpPr>
          <p:cNvPr id="16394" name="TextBox 9"/>
          <p:cNvSpPr txBox="1">
            <a:spLocks noChangeArrowheads="1"/>
          </p:cNvSpPr>
          <p:nvPr/>
        </p:nvSpPr>
        <p:spPr bwMode="auto">
          <a:xfrm>
            <a:off x="7620000" y="11430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AF89E66C-C22A-4379-B97D-0DD7C5547312}" type="slidenum">
              <a:rPr lang="en-US" smtClean="0">
                <a:latin typeface="Arial" charset="0"/>
              </a:rPr>
              <a:pPr/>
              <a:t>54</a:t>
            </a:fld>
            <a:endParaRPr lang="en-US" smtClean="0">
              <a:latin typeface="Arial" charset="0"/>
            </a:endParaRPr>
          </a:p>
        </p:txBody>
      </p:sp>
      <p:sp>
        <p:nvSpPr>
          <p:cNvPr id="1741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741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2A6CFA7E-5C28-453A-88BC-AF75D6B5B71D}" type="slidenum">
              <a:rPr lang="en-US" sz="1000"/>
              <a:pPr algn="r" defTabSz="852488"/>
              <a:t>54</a:t>
            </a:fld>
            <a:endParaRPr lang="en-US" sz="1000"/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Average of squared deviations of values from the mean</a:t>
            </a:r>
          </a:p>
          <a:p>
            <a:pPr lvl="1" eaLnBrk="1" hangingPunct="1">
              <a:lnSpc>
                <a:spcPct val="120000"/>
              </a:lnSpc>
            </a:pPr>
            <a:endParaRPr lang="en-US" b="1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smtClean="0">
                <a:solidFill>
                  <a:schemeClr val="folHlink"/>
                </a:solidFill>
              </a:rPr>
              <a:t>Population</a:t>
            </a:r>
            <a:r>
              <a:rPr lang="en-US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variance:</a:t>
            </a:r>
          </a:p>
        </p:txBody>
      </p:sp>
      <p:sp>
        <p:nvSpPr>
          <p:cNvPr id="174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Numerical Descriptive Measures For A Population:  The Variance </a:t>
            </a:r>
            <a:r>
              <a:rPr lang="el-GR" sz="3600" smtClean="0">
                <a:cs typeface="Arial" charset="0"/>
              </a:rPr>
              <a:t>σ</a:t>
            </a:r>
            <a:r>
              <a:rPr lang="en-US" sz="3600" baseline="30000" smtClean="0">
                <a:cs typeface="Arial" charset="0"/>
              </a:rPr>
              <a:t>2</a:t>
            </a:r>
            <a:endParaRPr lang="el-GR" sz="3600" baseline="30000" smtClean="0">
              <a:cs typeface="Arial" charset="0"/>
            </a:endParaRP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4724400" y="2971800"/>
          <a:ext cx="2846388" cy="1570038"/>
        </p:xfrm>
        <a:graphic>
          <a:graphicData uri="http://schemas.openxmlformats.org/presentationml/2006/ole">
            <p:oleObj spid="_x0000_s17410" name="Equation" r:id="rId3" imgW="1104840" imgH="609480" progId="Equation.3">
              <p:embed/>
            </p:oleObj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1447800" y="50292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Where</a:t>
            </a:r>
            <a:r>
              <a:rPr lang="en-US"/>
              <a:t> 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590800" y="5089525"/>
            <a:ext cx="403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sz="2000">
                <a:cs typeface="Arial" charset="0"/>
              </a:rPr>
              <a:t>μ</a:t>
            </a:r>
            <a:r>
              <a:rPr lang="en-US" sz="2000"/>
              <a:t>  = population mean</a:t>
            </a:r>
          </a:p>
          <a:p>
            <a:pPr>
              <a:spcBef>
                <a:spcPct val="50000"/>
              </a:spcBef>
            </a:pPr>
            <a:r>
              <a:rPr lang="en-US" sz="2000"/>
              <a:t>N = population size</a:t>
            </a:r>
          </a:p>
          <a:p>
            <a:pPr>
              <a:spcBef>
                <a:spcPct val="50000"/>
              </a:spcBef>
            </a:pPr>
            <a:r>
              <a:rPr lang="en-US" sz="2000"/>
              <a:t>X</a:t>
            </a:r>
            <a:r>
              <a:rPr lang="en-US" sz="2000" baseline="-25000"/>
              <a:t>i</a:t>
            </a:r>
            <a:r>
              <a:rPr lang="en-US" sz="2000"/>
              <a:t> = i</a:t>
            </a:r>
            <a:r>
              <a:rPr lang="en-US" sz="2000" baseline="30000"/>
              <a:t>th</a:t>
            </a:r>
            <a:r>
              <a:rPr lang="en-US" sz="2000"/>
              <a:t> value of the variable X</a:t>
            </a:r>
          </a:p>
        </p:txBody>
      </p:sp>
      <p:sp>
        <p:nvSpPr>
          <p:cNvPr id="17418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469A5F1-267A-4BAB-847B-4306E460C20E}" type="slidenum">
              <a:rPr lang="en-US" smtClean="0">
                <a:latin typeface="Arial" charset="0"/>
              </a:rPr>
              <a:pPr/>
              <a:t>55</a:t>
            </a:fld>
            <a:endParaRPr lang="en-US" smtClean="0">
              <a:latin typeface="Arial" charset="0"/>
            </a:endParaRPr>
          </a:p>
        </p:txBody>
      </p:sp>
      <p:sp>
        <p:nvSpPr>
          <p:cNvPr id="1843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843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A8F9046-382F-4D22-B9B7-1EF5B7DC19E4}" type="slidenum">
              <a:rPr lang="en-US" sz="1000"/>
              <a:pPr algn="r" defTabSz="852488"/>
              <a:t>55</a:t>
            </a:fld>
            <a:endParaRPr lang="en-US" sz="1000"/>
          </a:p>
        </p:txBody>
      </p:sp>
      <p:sp>
        <p:nvSpPr>
          <p:cNvPr id="184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848600" cy="990600"/>
          </a:xfrm>
        </p:spPr>
        <p:txBody>
          <a:bodyPr/>
          <a:lstStyle/>
          <a:p>
            <a:pPr eaLnBrk="1" hangingPunct="1"/>
            <a:r>
              <a:rPr lang="en-US" sz="3200" smtClean="0"/>
              <a:t>Numerical Descriptive Measures For A Population:  The Standard Deviation </a:t>
            </a:r>
            <a:r>
              <a:rPr lang="el-GR" sz="3200" smtClean="0">
                <a:cs typeface="Arial" charset="0"/>
              </a:rPr>
              <a:t>σ</a:t>
            </a:r>
          </a:p>
        </p:txBody>
      </p:sp>
      <p:sp>
        <p:nvSpPr>
          <p:cNvPr id="184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82000" cy="4532313"/>
          </a:xfrm>
        </p:spPr>
        <p:txBody>
          <a:bodyPr/>
          <a:lstStyle/>
          <a:p>
            <a:pPr eaLnBrk="1" hangingPunct="1"/>
            <a:r>
              <a:rPr lang="en-US" smtClean="0"/>
              <a:t>Most commonly used measure of variation</a:t>
            </a:r>
          </a:p>
          <a:p>
            <a:pPr eaLnBrk="1" hangingPunct="1"/>
            <a:r>
              <a:rPr lang="en-US" smtClean="0"/>
              <a:t>Shows variation about the mean</a:t>
            </a:r>
          </a:p>
          <a:p>
            <a:pPr eaLnBrk="1" hangingPunct="1"/>
            <a:r>
              <a:rPr lang="en-US" smtClean="0"/>
              <a:t>Is the square root of the population variance</a:t>
            </a:r>
          </a:p>
          <a:p>
            <a:pPr eaLnBrk="1" hangingPunct="1"/>
            <a:r>
              <a:rPr lang="en-US" smtClean="0"/>
              <a:t>Has the </a:t>
            </a:r>
            <a:r>
              <a:rPr lang="en-US" smtClean="0">
                <a:solidFill>
                  <a:schemeClr val="hlink"/>
                </a:solidFill>
              </a:rPr>
              <a:t>same units as the original data</a:t>
            </a:r>
          </a:p>
          <a:p>
            <a:pPr eaLnBrk="1" hangingPunct="1"/>
            <a:endParaRPr lang="en-US" sz="1400" smtClean="0"/>
          </a:p>
          <a:p>
            <a:pPr eaLnBrk="1" hangingPunct="1"/>
            <a:endParaRPr lang="en-US" sz="1400" smtClean="0"/>
          </a:p>
          <a:p>
            <a:pPr eaLnBrk="1" hangingPunct="1"/>
            <a:endParaRPr lang="en-US" sz="1400" smtClean="0"/>
          </a:p>
          <a:p>
            <a:pPr lvl="1" eaLnBrk="1" hangingPunct="1"/>
            <a:r>
              <a:rPr lang="en-US" smtClean="0">
                <a:solidFill>
                  <a:schemeClr val="folHlink"/>
                </a:solidFill>
              </a:rPr>
              <a:t>Population</a:t>
            </a:r>
            <a:r>
              <a:rPr lang="en-US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standard deviation: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5562600" y="4267200"/>
          <a:ext cx="2938463" cy="1679575"/>
        </p:xfrm>
        <a:graphic>
          <a:graphicData uri="http://schemas.openxmlformats.org/presentationml/2006/ole">
            <p:oleObj spid="_x0000_s18434" name="Equation" r:id="rId3" imgW="1155600" imgH="660240" progId="Equation.3">
              <p:embed/>
            </p:oleObj>
          </a:graphicData>
        </a:graphic>
      </p:graphicFrame>
      <p:sp>
        <p:nvSpPr>
          <p:cNvPr id="18440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DC37DF64-BD93-4475-9C29-F06EBAF2721D}" type="slidenum">
              <a:rPr lang="en-US" smtClean="0">
                <a:latin typeface="Arial" charset="0"/>
              </a:rPr>
              <a:pPr/>
              <a:t>56</a:t>
            </a:fld>
            <a:endParaRPr lang="en-US" smtClean="0">
              <a:latin typeface="Arial" charset="0"/>
            </a:endParaRPr>
          </a:p>
        </p:txBody>
      </p:sp>
      <p:sp>
        <p:nvSpPr>
          <p:cNvPr id="19465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946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736BC9D5-2874-49FD-820D-5EB39EF917D5}" type="slidenum">
              <a:rPr lang="en-US" sz="1000"/>
              <a:pPr algn="r" defTabSz="852488"/>
              <a:t>56</a:t>
            </a:fld>
            <a:endParaRPr lang="en-US" sz="1000"/>
          </a:p>
        </p:txBody>
      </p:sp>
      <p:sp>
        <p:nvSpPr>
          <p:cNvPr id="19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Sample statistics versus population parameters</a:t>
            </a:r>
          </a:p>
        </p:txBody>
      </p:sp>
      <p:graphicFrame>
        <p:nvGraphicFramePr>
          <p:cNvPr id="201731" name="Group 3"/>
          <p:cNvGraphicFramePr>
            <a:graphicFrameLocks noGrp="1"/>
          </p:cNvGraphicFramePr>
          <p:nvPr>
            <p:ph idx="1"/>
          </p:nvPr>
        </p:nvGraphicFramePr>
        <p:xfrm>
          <a:off x="1447800" y="2209800"/>
          <a:ext cx="6629400" cy="3657600"/>
        </p:xfrm>
        <a:graphic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</a:tblGrid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Measure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Population Parameter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Sample Statistic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Standard Deviation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490" name="Rectangle 2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58" name="Object 26"/>
          <p:cNvGraphicFramePr>
            <a:graphicFrameLocks noChangeAspect="1"/>
          </p:cNvGraphicFramePr>
          <p:nvPr/>
        </p:nvGraphicFramePr>
        <p:xfrm>
          <a:off x="6629400" y="3276600"/>
          <a:ext cx="482600" cy="533400"/>
        </p:xfrm>
        <a:graphic>
          <a:graphicData uri="http://schemas.openxmlformats.org/presentationml/2006/ole">
            <p:oleObj spid="_x0000_s19458" name="Equation" r:id="rId3" imgW="177569" imgH="202936" progId="Equation.3">
              <p:embed/>
            </p:oleObj>
          </a:graphicData>
        </a:graphic>
      </p:graphicFrame>
      <p:sp>
        <p:nvSpPr>
          <p:cNvPr id="19491" name="Rectangle 2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59" name="Object 28"/>
          <p:cNvGraphicFramePr>
            <a:graphicFrameLocks noChangeAspect="1"/>
          </p:cNvGraphicFramePr>
          <p:nvPr/>
        </p:nvGraphicFramePr>
        <p:xfrm>
          <a:off x="6643688" y="4267200"/>
          <a:ext cx="428625" cy="457200"/>
        </p:xfrm>
        <a:graphic>
          <a:graphicData uri="http://schemas.openxmlformats.org/presentationml/2006/ole">
            <p:oleObj spid="_x0000_s19459" name="Equation" r:id="rId4" imgW="190440" imgH="203040" progId="Equation.3">
              <p:embed/>
            </p:oleObj>
          </a:graphicData>
        </a:graphic>
      </p:graphicFrame>
      <p:sp>
        <p:nvSpPr>
          <p:cNvPr id="19492" name="Rectangle 29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60" name="Object 30"/>
          <p:cNvGraphicFramePr>
            <a:graphicFrameLocks noChangeAspect="1"/>
          </p:cNvGraphicFramePr>
          <p:nvPr/>
        </p:nvGraphicFramePr>
        <p:xfrm>
          <a:off x="6629400" y="5181600"/>
          <a:ext cx="300038" cy="381000"/>
        </p:xfrm>
        <a:graphic>
          <a:graphicData uri="http://schemas.openxmlformats.org/presentationml/2006/ole">
            <p:oleObj spid="_x0000_s19460" name="Equation" r:id="rId5" imgW="139579" imgH="177646" progId="Equation.3">
              <p:embed/>
            </p:oleObj>
          </a:graphicData>
        </a:graphic>
      </p:graphicFrame>
      <p:sp>
        <p:nvSpPr>
          <p:cNvPr id="19493" name="Rectangle 31"/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61" name="Object 32"/>
          <p:cNvGraphicFramePr>
            <a:graphicFrameLocks noChangeAspect="1"/>
          </p:cNvGraphicFramePr>
          <p:nvPr/>
        </p:nvGraphicFramePr>
        <p:xfrm>
          <a:off x="4343400" y="3429000"/>
          <a:ext cx="358775" cy="381000"/>
        </p:xfrm>
        <a:graphic>
          <a:graphicData uri="http://schemas.openxmlformats.org/presentationml/2006/ole">
            <p:oleObj spid="_x0000_s19461" name="Equation" r:id="rId6" imgW="152268" imgH="164957" progId="Equation.3">
              <p:embed/>
            </p:oleObj>
          </a:graphicData>
        </a:graphic>
      </p:graphicFrame>
      <p:sp>
        <p:nvSpPr>
          <p:cNvPr id="19494" name="Rectangle 33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62" name="Object 34"/>
          <p:cNvGraphicFramePr>
            <a:graphicFrameLocks noChangeAspect="1"/>
          </p:cNvGraphicFramePr>
          <p:nvPr/>
        </p:nvGraphicFramePr>
        <p:xfrm>
          <a:off x="4343400" y="4267200"/>
          <a:ext cx="457200" cy="417513"/>
        </p:xfrm>
        <a:graphic>
          <a:graphicData uri="http://schemas.openxmlformats.org/presentationml/2006/ole">
            <p:oleObj spid="_x0000_s19462" name="Equation" r:id="rId7" imgW="215713" imgH="203024" progId="Equation.3">
              <p:embed/>
            </p:oleObj>
          </a:graphicData>
        </a:graphic>
      </p:graphicFrame>
      <p:sp>
        <p:nvSpPr>
          <p:cNvPr id="19495" name="Rectangle 35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19463" name="Object 36"/>
          <p:cNvGraphicFramePr>
            <a:graphicFrameLocks noChangeAspect="1"/>
          </p:cNvGraphicFramePr>
          <p:nvPr/>
        </p:nvGraphicFramePr>
        <p:xfrm>
          <a:off x="4343400" y="5257800"/>
          <a:ext cx="304800" cy="285750"/>
        </p:xfrm>
        <a:graphic>
          <a:graphicData uri="http://schemas.openxmlformats.org/presentationml/2006/ole">
            <p:oleObj spid="_x0000_s19463" name="Equation" r:id="rId8" imgW="152334" imgH="139639" progId="Equation.3">
              <p:embed/>
            </p:oleObj>
          </a:graphicData>
        </a:graphic>
      </p:graphicFrame>
      <p:sp>
        <p:nvSpPr>
          <p:cNvPr id="19496" name="TextBox 18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D01CD56E-B403-4C92-B21C-F2A21F4D9471}" type="slidenum">
              <a:rPr lang="en-US" smtClean="0">
                <a:latin typeface="Arial" charset="0"/>
              </a:rPr>
              <a:pPr/>
              <a:t>57</a:t>
            </a:fld>
            <a:endParaRPr lang="en-US" smtClean="0">
              <a:latin typeface="Arial" charset="0"/>
            </a:endParaRPr>
          </a:p>
        </p:txBody>
      </p:sp>
      <p:sp>
        <p:nvSpPr>
          <p:cNvPr id="204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04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A9B58B3-83F6-4CA4-9B8D-850DA74E8889}" type="slidenum">
              <a:rPr lang="en-US" sz="1000"/>
              <a:pPr algn="r" defTabSz="852488"/>
              <a:t>57</a:t>
            </a:fld>
            <a:endParaRPr lang="en-US" sz="1000"/>
          </a:p>
        </p:txBody>
      </p:sp>
      <p:sp>
        <p:nvSpPr>
          <p:cNvPr id="20488" name="Line 2"/>
          <p:cNvSpPr>
            <a:spLocks noChangeShapeType="1"/>
          </p:cNvSpPr>
          <p:nvPr/>
        </p:nvSpPr>
        <p:spPr bwMode="auto">
          <a:xfrm>
            <a:off x="3733800" y="4779963"/>
            <a:ext cx="1588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3"/>
          <p:cNvSpPr>
            <a:spLocks noChangeShapeType="1"/>
          </p:cNvSpPr>
          <p:nvPr/>
        </p:nvSpPr>
        <p:spPr bwMode="auto">
          <a:xfrm>
            <a:off x="5410200" y="4779963"/>
            <a:ext cx="1588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77200" cy="2433638"/>
          </a:xfrm>
        </p:spPr>
        <p:txBody>
          <a:bodyPr/>
          <a:lstStyle/>
          <a:p>
            <a:pPr eaLnBrk="1" hangingPunct="1"/>
            <a:r>
              <a:rPr lang="en-US" smtClean="0"/>
              <a:t>The empirical rule approximates the variation of data in a bell-shaped distribution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Approximately </a:t>
            </a:r>
            <a:r>
              <a:rPr lang="en-US" smtClean="0">
                <a:solidFill>
                  <a:schemeClr val="folHlink"/>
                </a:solidFill>
              </a:rPr>
              <a:t>68%</a:t>
            </a:r>
            <a:r>
              <a:rPr lang="en-US" smtClean="0"/>
              <a:t> of the data in a bell shaped distribution is within ± one standard deviation of the mean or </a:t>
            </a:r>
          </a:p>
        </p:txBody>
      </p:sp>
      <p:sp>
        <p:nvSpPr>
          <p:cNvPr id="20491" name="Rectangle 5"/>
          <p:cNvSpPr>
            <a:spLocks noChangeArrowheads="1"/>
          </p:cNvSpPr>
          <p:nvPr/>
        </p:nvSpPr>
        <p:spPr bwMode="auto">
          <a:xfrm>
            <a:off x="762000" y="381000"/>
            <a:ext cx="772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The Empirical Rule</a:t>
            </a:r>
          </a:p>
        </p:txBody>
      </p:sp>
      <p:graphicFrame>
        <p:nvGraphicFramePr>
          <p:cNvPr id="20482" name="Object 6"/>
          <p:cNvGraphicFramePr>
            <a:graphicFrameLocks noChangeAspect="1"/>
          </p:cNvGraphicFramePr>
          <p:nvPr/>
        </p:nvGraphicFramePr>
        <p:xfrm>
          <a:off x="3130550" y="3581400"/>
          <a:ext cx="1212850" cy="495300"/>
        </p:xfrm>
        <a:graphic>
          <a:graphicData uri="http://schemas.openxmlformats.org/presentationml/2006/ole">
            <p:oleObj spid="_x0000_s20482" name="Equation" r:id="rId3" imgW="495000" imgH="203040" progId="Equation.3">
              <p:embed/>
            </p:oleObj>
          </a:graphicData>
        </a:graphic>
      </p:graphicFrame>
      <p:sp>
        <p:nvSpPr>
          <p:cNvPr id="20492" name="Freeform 7"/>
          <p:cNvSpPr>
            <a:spLocks/>
          </p:cNvSpPr>
          <p:nvPr/>
        </p:nvSpPr>
        <p:spPr bwMode="auto">
          <a:xfrm>
            <a:off x="4572000" y="4038600"/>
            <a:ext cx="847725" cy="1503363"/>
          </a:xfrm>
          <a:custGeom>
            <a:avLst/>
            <a:gdLst>
              <a:gd name="T0" fmla="*/ 0 w 534"/>
              <a:gd name="T1" fmla="*/ 0 h 947"/>
              <a:gd name="T2" fmla="*/ 2147483647 w 534"/>
              <a:gd name="T3" fmla="*/ 2147483647 h 947"/>
              <a:gd name="T4" fmla="*/ 2147483647 w 534"/>
              <a:gd name="T5" fmla="*/ 2147483647 h 947"/>
              <a:gd name="T6" fmla="*/ 2147483647 w 534"/>
              <a:gd name="T7" fmla="*/ 2147483647 h 947"/>
              <a:gd name="T8" fmla="*/ 2147483647 w 534"/>
              <a:gd name="T9" fmla="*/ 2147483647 h 947"/>
              <a:gd name="T10" fmla="*/ 2147483647 w 534"/>
              <a:gd name="T11" fmla="*/ 2147483647 h 947"/>
              <a:gd name="T12" fmla="*/ 2147483647 w 534"/>
              <a:gd name="T13" fmla="*/ 2147483647 h 947"/>
              <a:gd name="T14" fmla="*/ 2147483647 w 534"/>
              <a:gd name="T15" fmla="*/ 2147483647 h 947"/>
              <a:gd name="T16" fmla="*/ 0 w 534"/>
              <a:gd name="T17" fmla="*/ 2147483647 h 947"/>
              <a:gd name="T18" fmla="*/ 0 w 534"/>
              <a:gd name="T19" fmla="*/ 0 h 9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34"/>
              <a:gd name="T31" fmla="*/ 0 h 947"/>
              <a:gd name="T32" fmla="*/ 534 w 534"/>
              <a:gd name="T33" fmla="*/ 947 h 94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34" h="947">
                <a:moveTo>
                  <a:pt x="0" y="0"/>
                </a:moveTo>
                <a:lnTo>
                  <a:pt x="120" y="23"/>
                </a:lnTo>
                <a:lnTo>
                  <a:pt x="240" y="131"/>
                </a:lnTo>
                <a:lnTo>
                  <a:pt x="330" y="203"/>
                </a:lnTo>
                <a:lnTo>
                  <a:pt x="414" y="317"/>
                </a:lnTo>
                <a:lnTo>
                  <a:pt x="504" y="443"/>
                </a:lnTo>
                <a:lnTo>
                  <a:pt x="534" y="469"/>
                </a:lnTo>
                <a:lnTo>
                  <a:pt x="534" y="947"/>
                </a:lnTo>
                <a:lnTo>
                  <a:pt x="0" y="947"/>
                </a:lnTo>
                <a:lnTo>
                  <a:pt x="0" y="0"/>
                </a:lnTo>
              </a:path>
            </a:pathLst>
          </a:custGeom>
          <a:solidFill>
            <a:srgbClr val="C0FEFE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493" name="Freeform 8"/>
          <p:cNvSpPr>
            <a:spLocks/>
          </p:cNvSpPr>
          <p:nvPr/>
        </p:nvSpPr>
        <p:spPr bwMode="auto">
          <a:xfrm>
            <a:off x="3743325" y="4044950"/>
            <a:ext cx="838200" cy="1497013"/>
          </a:xfrm>
          <a:custGeom>
            <a:avLst/>
            <a:gdLst>
              <a:gd name="T0" fmla="*/ 2147483647 w 528"/>
              <a:gd name="T1" fmla="*/ 2147483647 h 1338"/>
              <a:gd name="T2" fmla="*/ 2147483647 w 528"/>
              <a:gd name="T3" fmla="*/ 2147483647 h 1338"/>
              <a:gd name="T4" fmla="*/ 2147483647 w 528"/>
              <a:gd name="T5" fmla="*/ 2147483647 h 1338"/>
              <a:gd name="T6" fmla="*/ 2147483647 w 528"/>
              <a:gd name="T7" fmla="*/ 2147483647 h 1338"/>
              <a:gd name="T8" fmla="*/ 2147483647 w 528"/>
              <a:gd name="T9" fmla="*/ 2147483647 h 1338"/>
              <a:gd name="T10" fmla="*/ 2147483647 w 528"/>
              <a:gd name="T11" fmla="*/ 2147483647 h 1338"/>
              <a:gd name="T12" fmla="*/ 0 w 528"/>
              <a:gd name="T13" fmla="*/ 2147483647 h 1338"/>
              <a:gd name="T14" fmla="*/ 0 w 528"/>
              <a:gd name="T15" fmla="*/ 2147483647 h 1338"/>
              <a:gd name="T16" fmla="*/ 2147483647 w 528"/>
              <a:gd name="T17" fmla="*/ 2147483647 h 1338"/>
              <a:gd name="T18" fmla="*/ 2147483647 w 528"/>
              <a:gd name="T19" fmla="*/ 0 h 13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28"/>
              <a:gd name="T31" fmla="*/ 0 h 1338"/>
              <a:gd name="T32" fmla="*/ 528 w 528"/>
              <a:gd name="T33" fmla="*/ 1338 h 13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28" h="1338">
                <a:moveTo>
                  <a:pt x="456" y="18"/>
                </a:moveTo>
                <a:lnTo>
                  <a:pt x="385" y="66"/>
                </a:lnTo>
                <a:lnTo>
                  <a:pt x="262" y="214"/>
                </a:lnTo>
                <a:lnTo>
                  <a:pt x="197" y="293"/>
                </a:lnTo>
                <a:lnTo>
                  <a:pt x="102" y="474"/>
                </a:lnTo>
                <a:lnTo>
                  <a:pt x="36" y="588"/>
                </a:lnTo>
                <a:lnTo>
                  <a:pt x="0" y="654"/>
                </a:lnTo>
                <a:lnTo>
                  <a:pt x="0" y="1338"/>
                </a:lnTo>
                <a:lnTo>
                  <a:pt x="528" y="1332"/>
                </a:lnTo>
                <a:lnTo>
                  <a:pt x="528" y="0"/>
                </a:lnTo>
              </a:path>
            </a:pathLst>
          </a:custGeom>
          <a:solidFill>
            <a:srgbClr val="C0FEFE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494" name="Rectangle 10"/>
          <p:cNvSpPr>
            <a:spLocks noChangeArrowheads="1"/>
          </p:cNvSpPr>
          <p:nvPr/>
        </p:nvSpPr>
        <p:spPr bwMode="auto">
          <a:xfrm>
            <a:off x="4214813" y="3643313"/>
            <a:ext cx="250825" cy="85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95" name="Line 12"/>
          <p:cNvSpPr>
            <a:spLocks noChangeShapeType="1"/>
          </p:cNvSpPr>
          <p:nvPr/>
        </p:nvSpPr>
        <p:spPr bwMode="auto">
          <a:xfrm>
            <a:off x="2286000" y="5541963"/>
            <a:ext cx="4648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20483" name="Object 13"/>
          <p:cNvGraphicFramePr>
            <a:graphicFrameLocks noChangeAspect="1"/>
          </p:cNvGraphicFramePr>
          <p:nvPr/>
        </p:nvGraphicFramePr>
        <p:xfrm>
          <a:off x="4487863" y="5521325"/>
          <a:ext cx="274637" cy="384175"/>
        </p:xfrm>
        <a:graphic>
          <a:graphicData uri="http://schemas.openxmlformats.org/presentationml/2006/ole">
            <p:oleObj spid="_x0000_s20483" name="Equation" r:id="rId4" imgW="126720" imgH="177480" progId="Equation.3">
              <p:embed/>
            </p:oleObj>
          </a:graphicData>
        </a:graphic>
      </p:graphicFrame>
      <p:sp>
        <p:nvSpPr>
          <p:cNvPr id="20496" name="Line 14"/>
          <p:cNvSpPr>
            <a:spLocks noChangeShapeType="1"/>
          </p:cNvSpPr>
          <p:nvPr/>
        </p:nvSpPr>
        <p:spPr bwMode="auto">
          <a:xfrm>
            <a:off x="3733800" y="4779963"/>
            <a:ext cx="1588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15"/>
          <p:cNvSpPr>
            <a:spLocks noChangeShapeType="1"/>
          </p:cNvSpPr>
          <p:nvPr/>
        </p:nvSpPr>
        <p:spPr bwMode="auto">
          <a:xfrm>
            <a:off x="5410200" y="4779963"/>
            <a:ext cx="1588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16"/>
          <p:cNvSpPr>
            <a:spLocks noChangeShapeType="1"/>
          </p:cNvSpPr>
          <p:nvPr/>
        </p:nvSpPr>
        <p:spPr bwMode="auto">
          <a:xfrm flipH="1">
            <a:off x="3810000" y="622776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17"/>
          <p:cNvSpPr>
            <a:spLocks noChangeShapeType="1"/>
          </p:cNvSpPr>
          <p:nvPr/>
        </p:nvSpPr>
        <p:spPr bwMode="auto">
          <a:xfrm>
            <a:off x="5105400" y="6227763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Text Box 18"/>
          <p:cNvSpPr txBox="1">
            <a:spLocks noChangeArrowheads="1"/>
          </p:cNvSpPr>
          <p:nvPr/>
        </p:nvSpPr>
        <p:spPr bwMode="auto">
          <a:xfrm>
            <a:off x="4191000" y="4703763"/>
            <a:ext cx="914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68%</a:t>
            </a:r>
          </a:p>
        </p:txBody>
      </p:sp>
      <p:sp>
        <p:nvSpPr>
          <p:cNvPr id="20501" name="Line 19"/>
          <p:cNvSpPr>
            <a:spLocks noChangeShapeType="1"/>
          </p:cNvSpPr>
          <p:nvPr/>
        </p:nvSpPr>
        <p:spPr bwMode="auto">
          <a:xfrm>
            <a:off x="4572000" y="4038600"/>
            <a:ext cx="1588" cy="150336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20484" name="Object 20"/>
          <p:cNvGraphicFramePr>
            <a:graphicFrameLocks noChangeAspect="1"/>
          </p:cNvGraphicFramePr>
          <p:nvPr/>
        </p:nvGraphicFramePr>
        <p:xfrm>
          <a:off x="4105275" y="6026150"/>
          <a:ext cx="933450" cy="441325"/>
        </p:xfrm>
        <a:graphic>
          <a:graphicData uri="http://schemas.openxmlformats.org/presentationml/2006/ole">
            <p:oleObj spid="_x0000_s20484" name="Equation" r:id="rId5" imgW="431640" imgH="203040" progId="Equation.3">
              <p:embed/>
            </p:oleObj>
          </a:graphicData>
        </a:graphic>
      </p:graphicFrame>
      <p:sp>
        <p:nvSpPr>
          <p:cNvPr id="20502" name="Freeform 21"/>
          <p:cNvSpPr>
            <a:spLocks/>
          </p:cNvSpPr>
          <p:nvPr/>
        </p:nvSpPr>
        <p:spPr bwMode="auto">
          <a:xfrm>
            <a:off x="2362200" y="4017963"/>
            <a:ext cx="2232025" cy="1452562"/>
          </a:xfrm>
          <a:custGeom>
            <a:avLst/>
            <a:gdLst>
              <a:gd name="T0" fmla="*/ 0 w 1032"/>
              <a:gd name="T1" fmla="*/ 2147483647 h 991"/>
              <a:gd name="T2" fmla="*/ 2147483647 w 1032"/>
              <a:gd name="T3" fmla="*/ 2147483647 h 991"/>
              <a:gd name="T4" fmla="*/ 2147483647 w 1032"/>
              <a:gd name="T5" fmla="*/ 2147483647 h 991"/>
              <a:gd name="T6" fmla="*/ 2147483647 w 1032"/>
              <a:gd name="T7" fmla="*/ 2147483647 h 991"/>
              <a:gd name="T8" fmla="*/ 2147483647 w 1032"/>
              <a:gd name="T9" fmla="*/ 2147483647 h 991"/>
              <a:gd name="T10" fmla="*/ 2147483647 w 1032"/>
              <a:gd name="T11" fmla="*/ 2147483647 h 991"/>
              <a:gd name="T12" fmla="*/ 2147483647 w 1032"/>
              <a:gd name="T13" fmla="*/ 2147483647 h 991"/>
              <a:gd name="T14" fmla="*/ 2147483647 w 1032"/>
              <a:gd name="T15" fmla="*/ 2147483647 h 991"/>
              <a:gd name="T16" fmla="*/ 2147483647 w 1032"/>
              <a:gd name="T17" fmla="*/ 2147483647 h 991"/>
              <a:gd name="T18" fmla="*/ 2147483647 w 1032"/>
              <a:gd name="T19" fmla="*/ 2147483647 h 991"/>
              <a:gd name="T20" fmla="*/ 2147483647 w 1032"/>
              <a:gd name="T21" fmla="*/ 2147483647 h 991"/>
              <a:gd name="T22" fmla="*/ 2147483647 w 1032"/>
              <a:gd name="T23" fmla="*/ 2147483647 h 991"/>
              <a:gd name="T24" fmla="*/ 2147483647 w 1032"/>
              <a:gd name="T25" fmla="*/ 2147483647 h 991"/>
              <a:gd name="T26" fmla="*/ 2147483647 w 1032"/>
              <a:gd name="T27" fmla="*/ 2147483647 h 991"/>
              <a:gd name="T28" fmla="*/ 2147483647 w 1032"/>
              <a:gd name="T29" fmla="*/ 2147483647 h 991"/>
              <a:gd name="T30" fmla="*/ 2147483647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503" name="Freeform 22"/>
          <p:cNvSpPr>
            <a:spLocks/>
          </p:cNvSpPr>
          <p:nvPr/>
        </p:nvSpPr>
        <p:spPr bwMode="auto">
          <a:xfrm>
            <a:off x="4572000" y="4017963"/>
            <a:ext cx="2227263" cy="1452562"/>
          </a:xfrm>
          <a:custGeom>
            <a:avLst/>
            <a:gdLst>
              <a:gd name="T0" fmla="*/ 2147483647 w 1030"/>
              <a:gd name="T1" fmla="*/ 2147483647 h 991"/>
              <a:gd name="T2" fmla="*/ 2147483647 w 1030"/>
              <a:gd name="T3" fmla="*/ 2147483647 h 991"/>
              <a:gd name="T4" fmla="*/ 2147483647 w 1030"/>
              <a:gd name="T5" fmla="*/ 2147483647 h 991"/>
              <a:gd name="T6" fmla="*/ 2147483647 w 1030"/>
              <a:gd name="T7" fmla="*/ 2147483647 h 991"/>
              <a:gd name="T8" fmla="*/ 2147483647 w 1030"/>
              <a:gd name="T9" fmla="*/ 2147483647 h 991"/>
              <a:gd name="T10" fmla="*/ 2147483647 w 1030"/>
              <a:gd name="T11" fmla="*/ 2147483647 h 991"/>
              <a:gd name="T12" fmla="*/ 2147483647 w 1030"/>
              <a:gd name="T13" fmla="*/ 2147483647 h 991"/>
              <a:gd name="T14" fmla="*/ 2147483647 w 1030"/>
              <a:gd name="T15" fmla="*/ 2147483647 h 991"/>
              <a:gd name="T16" fmla="*/ 2147483647 w 1030"/>
              <a:gd name="T17" fmla="*/ 2147483647 h 991"/>
              <a:gd name="T18" fmla="*/ 2147483647 w 1030"/>
              <a:gd name="T19" fmla="*/ 2147483647 h 991"/>
              <a:gd name="T20" fmla="*/ 2147483647 w 1030"/>
              <a:gd name="T21" fmla="*/ 2147483647 h 991"/>
              <a:gd name="T22" fmla="*/ 2147483647 w 1030"/>
              <a:gd name="T23" fmla="*/ 2147483647 h 991"/>
              <a:gd name="T24" fmla="*/ 2147483647 w 1030"/>
              <a:gd name="T25" fmla="*/ 2147483647 h 991"/>
              <a:gd name="T26" fmla="*/ 2147483647 w 1030"/>
              <a:gd name="T27" fmla="*/ 2147483647 h 991"/>
              <a:gd name="T28" fmla="*/ 2147483647 w 1030"/>
              <a:gd name="T29" fmla="*/ 2147483647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504" name="TextBox 23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C752E32E-0BB0-4A44-9D62-11A9BC185704}" type="slidenum">
              <a:rPr lang="en-US" smtClean="0">
                <a:latin typeface="Arial" charset="0"/>
              </a:rPr>
              <a:pPr/>
              <a:t>58</a:t>
            </a:fld>
            <a:endParaRPr lang="en-US" smtClean="0">
              <a:latin typeface="Arial" charset="0"/>
            </a:endParaRPr>
          </a:p>
        </p:txBody>
      </p:sp>
      <p:sp>
        <p:nvSpPr>
          <p:cNvPr id="21509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151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88ABA702-78A0-417E-8404-D794C4263F2D}" type="slidenum">
              <a:rPr lang="en-US" sz="1000"/>
              <a:pPr algn="r" defTabSz="852488"/>
              <a:t>58</a:t>
            </a:fld>
            <a:endParaRPr lang="en-US" sz="1000"/>
          </a:p>
        </p:txBody>
      </p:sp>
      <p:sp>
        <p:nvSpPr>
          <p:cNvPr id="21511" name="Freeform 2"/>
          <p:cNvSpPr>
            <a:spLocks/>
          </p:cNvSpPr>
          <p:nvPr/>
        </p:nvSpPr>
        <p:spPr bwMode="auto">
          <a:xfrm>
            <a:off x="6859588" y="4178300"/>
            <a:ext cx="1512887" cy="1660525"/>
          </a:xfrm>
          <a:custGeom>
            <a:avLst/>
            <a:gdLst>
              <a:gd name="T0" fmla="*/ 0 w 953"/>
              <a:gd name="T1" fmla="*/ 2147483647 h 1046"/>
              <a:gd name="T2" fmla="*/ 0 w 953"/>
              <a:gd name="T3" fmla="*/ 0 h 1046"/>
              <a:gd name="T4" fmla="*/ 2147483647 w 953"/>
              <a:gd name="T5" fmla="*/ 2147483647 h 1046"/>
              <a:gd name="T6" fmla="*/ 2147483647 w 953"/>
              <a:gd name="T7" fmla="*/ 2147483647 h 1046"/>
              <a:gd name="T8" fmla="*/ 2147483647 w 953"/>
              <a:gd name="T9" fmla="*/ 2147483647 h 1046"/>
              <a:gd name="T10" fmla="*/ 2147483647 w 953"/>
              <a:gd name="T11" fmla="*/ 2147483647 h 1046"/>
              <a:gd name="T12" fmla="*/ 2147483647 w 953"/>
              <a:gd name="T13" fmla="*/ 2147483647 h 1046"/>
              <a:gd name="T14" fmla="*/ 2147483647 w 953"/>
              <a:gd name="T15" fmla="*/ 2147483647 h 1046"/>
              <a:gd name="T16" fmla="*/ 2147483647 w 953"/>
              <a:gd name="T17" fmla="*/ 2147483647 h 1046"/>
              <a:gd name="T18" fmla="*/ 2147483647 w 953"/>
              <a:gd name="T19" fmla="*/ 2147483647 h 1046"/>
              <a:gd name="T20" fmla="*/ 2147483647 w 953"/>
              <a:gd name="T21" fmla="*/ 2147483647 h 1046"/>
              <a:gd name="T22" fmla="*/ 2147483647 w 953"/>
              <a:gd name="T23" fmla="*/ 2147483647 h 1046"/>
              <a:gd name="T24" fmla="*/ 2147483647 w 953"/>
              <a:gd name="T25" fmla="*/ 2147483647 h 1046"/>
              <a:gd name="T26" fmla="*/ 2147483647 w 953"/>
              <a:gd name="T27" fmla="*/ 2147483647 h 1046"/>
              <a:gd name="T28" fmla="*/ 0 w 953"/>
              <a:gd name="T29" fmla="*/ 2147483647 h 104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953"/>
              <a:gd name="T46" fmla="*/ 0 h 1046"/>
              <a:gd name="T47" fmla="*/ 953 w 953"/>
              <a:gd name="T48" fmla="*/ 1046 h 104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953" h="1046">
                <a:moveTo>
                  <a:pt x="0" y="1043"/>
                </a:moveTo>
                <a:lnTo>
                  <a:pt x="0" y="0"/>
                </a:lnTo>
                <a:lnTo>
                  <a:pt x="96" y="38"/>
                </a:lnTo>
                <a:lnTo>
                  <a:pt x="192" y="139"/>
                </a:lnTo>
                <a:lnTo>
                  <a:pt x="264" y="240"/>
                </a:lnTo>
                <a:lnTo>
                  <a:pt x="330" y="360"/>
                </a:lnTo>
                <a:lnTo>
                  <a:pt x="360" y="438"/>
                </a:lnTo>
                <a:lnTo>
                  <a:pt x="414" y="522"/>
                </a:lnTo>
                <a:lnTo>
                  <a:pt x="462" y="629"/>
                </a:lnTo>
                <a:lnTo>
                  <a:pt x="528" y="714"/>
                </a:lnTo>
                <a:lnTo>
                  <a:pt x="618" y="822"/>
                </a:lnTo>
                <a:lnTo>
                  <a:pt x="780" y="955"/>
                </a:lnTo>
                <a:lnTo>
                  <a:pt x="947" y="986"/>
                </a:lnTo>
                <a:lnTo>
                  <a:pt x="953" y="1046"/>
                </a:lnTo>
                <a:lnTo>
                  <a:pt x="0" y="1043"/>
                </a:lnTo>
                <a:close/>
              </a:path>
            </a:pathLst>
          </a:custGeom>
          <a:solidFill>
            <a:srgbClr val="FDE0BD"/>
          </a:solidFill>
          <a:ln w="12700">
            <a:solidFill>
              <a:srgbClr val="C1BAF8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2" name="Freeform 3"/>
          <p:cNvSpPr>
            <a:spLocks/>
          </p:cNvSpPr>
          <p:nvPr/>
        </p:nvSpPr>
        <p:spPr bwMode="auto">
          <a:xfrm>
            <a:off x="2286000" y="4286250"/>
            <a:ext cx="1076325" cy="1638300"/>
          </a:xfrm>
          <a:custGeom>
            <a:avLst/>
            <a:gdLst>
              <a:gd name="T0" fmla="*/ 0 w 678"/>
              <a:gd name="T1" fmla="*/ 2147483647 h 1032"/>
              <a:gd name="T2" fmla="*/ 0 w 678"/>
              <a:gd name="T3" fmla="*/ 0 h 1032"/>
              <a:gd name="T4" fmla="*/ 2147483647 w 678"/>
              <a:gd name="T5" fmla="*/ 2147483647 h 1032"/>
              <a:gd name="T6" fmla="*/ 2147483647 w 678"/>
              <a:gd name="T7" fmla="*/ 2147483647 h 1032"/>
              <a:gd name="T8" fmla="*/ 2147483647 w 678"/>
              <a:gd name="T9" fmla="*/ 2147483647 h 1032"/>
              <a:gd name="T10" fmla="*/ 2147483647 w 678"/>
              <a:gd name="T11" fmla="*/ 2147483647 h 1032"/>
              <a:gd name="T12" fmla="*/ 2147483647 w 678"/>
              <a:gd name="T13" fmla="*/ 2147483647 h 1032"/>
              <a:gd name="T14" fmla="*/ 2147483647 w 678"/>
              <a:gd name="T15" fmla="*/ 2147483647 h 1032"/>
              <a:gd name="T16" fmla="*/ 2147483647 w 678"/>
              <a:gd name="T17" fmla="*/ 2147483647 h 1032"/>
              <a:gd name="T18" fmla="*/ 2147483647 w 678"/>
              <a:gd name="T19" fmla="*/ 2147483647 h 1032"/>
              <a:gd name="T20" fmla="*/ 2147483647 w 678"/>
              <a:gd name="T21" fmla="*/ 2147483647 h 1032"/>
              <a:gd name="T22" fmla="*/ 2147483647 w 678"/>
              <a:gd name="T23" fmla="*/ 2147483647 h 1032"/>
              <a:gd name="T24" fmla="*/ 2147483647 w 678"/>
              <a:gd name="T25" fmla="*/ 2147483647 h 1032"/>
              <a:gd name="T26" fmla="*/ 0 w 678"/>
              <a:gd name="T27" fmla="*/ 2147483647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077200" cy="2209800"/>
          </a:xfrm>
        </p:spPr>
        <p:txBody>
          <a:bodyPr/>
          <a:lstStyle/>
          <a:p>
            <a:pPr eaLnBrk="1" hangingPunct="1"/>
            <a:r>
              <a:rPr lang="en-US" sz="2400" smtClean="0"/>
              <a:t>Approximately 95% of the data in a bell-shaped distribution lies within ± two standard deviations of the mean, or </a:t>
            </a:r>
            <a:r>
              <a:rPr lang="en-US" sz="2400" smtClean="0">
                <a:cs typeface="Arial" charset="0"/>
              </a:rPr>
              <a:t>µ ± 2</a:t>
            </a:r>
            <a:r>
              <a:rPr lang="el-GR" sz="2400" smtClean="0">
                <a:cs typeface="Arial" charset="0"/>
              </a:rPr>
              <a:t>σ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  <a:p>
            <a:pPr eaLnBrk="1" hangingPunct="1"/>
            <a:r>
              <a:rPr lang="en-US" sz="2400" smtClean="0"/>
              <a:t>Approximately 99.7% of the data in a bell-shaped distribution lies within ± three standard deviations of the mean, or </a:t>
            </a:r>
            <a:r>
              <a:rPr lang="en-US" sz="2400" smtClean="0">
                <a:cs typeface="Arial" charset="0"/>
              </a:rPr>
              <a:t>µ ± 3</a:t>
            </a:r>
            <a:r>
              <a:rPr lang="el-GR" sz="2400" smtClean="0">
                <a:cs typeface="Arial" charset="0"/>
              </a:rPr>
              <a:t>σ</a:t>
            </a:r>
          </a:p>
        </p:txBody>
      </p:sp>
      <p:sp>
        <p:nvSpPr>
          <p:cNvPr id="21514" name="Rectangle 5"/>
          <p:cNvSpPr>
            <a:spLocks noChangeArrowheads="1"/>
          </p:cNvSpPr>
          <p:nvPr/>
        </p:nvSpPr>
        <p:spPr bwMode="auto">
          <a:xfrm>
            <a:off x="762000" y="381000"/>
            <a:ext cx="772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The Empirical Rule</a:t>
            </a:r>
          </a:p>
        </p:txBody>
      </p:sp>
      <p:sp>
        <p:nvSpPr>
          <p:cNvPr id="21515" name="Freeform 8"/>
          <p:cNvSpPr>
            <a:spLocks/>
          </p:cNvSpPr>
          <p:nvPr/>
        </p:nvSpPr>
        <p:spPr bwMode="auto">
          <a:xfrm>
            <a:off x="5324475" y="4187825"/>
            <a:ext cx="1535113" cy="1670050"/>
          </a:xfrm>
          <a:custGeom>
            <a:avLst/>
            <a:gdLst>
              <a:gd name="T0" fmla="*/ 2147483647 w 967"/>
              <a:gd name="T1" fmla="*/ 2147483647 h 1052"/>
              <a:gd name="T2" fmla="*/ 2147483647 w 967"/>
              <a:gd name="T3" fmla="*/ 0 h 1052"/>
              <a:gd name="T4" fmla="*/ 2147483647 w 967"/>
              <a:gd name="T5" fmla="*/ 2147483647 h 1052"/>
              <a:gd name="T6" fmla="*/ 2147483647 w 967"/>
              <a:gd name="T7" fmla="*/ 2147483647 h 1052"/>
              <a:gd name="T8" fmla="*/ 2147483647 w 967"/>
              <a:gd name="T9" fmla="*/ 2147483647 h 1052"/>
              <a:gd name="T10" fmla="*/ 2147483647 w 967"/>
              <a:gd name="T11" fmla="*/ 2147483647 h 1052"/>
              <a:gd name="T12" fmla="*/ 2147483647 w 967"/>
              <a:gd name="T13" fmla="*/ 2147483647 h 1052"/>
              <a:gd name="T14" fmla="*/ 2147483647 w 967"/>
              <a:gd name="T15" fmla="*/ 2147483647 h 1052"/>
              <a:gd name="T16" fmla="*/ 2147483647 w 967"/>
              <a:gd name="T17" fmla="*/ 2147483647 h 1052"/>
              <a:gd name="T18" fmla="*/ 2147483647 w 967"/>
              <a:gd name="T19" fmla="*/ 2147483647 h 1052"/>
              <a:gd name="T20" fmla="*/ 2147483647 w 967"/>
              <a:gd name="T21" fmla="*/ 2147483647 h 1052"/>
              <a:gd name="T22" fmla="*/ 0 w 967"/>
              <a:gd name="T23" fmla="*/ 2147483647 h 1052"/>
              <a:gd name="T24" fmla="*/ 2147483647 w 967"/>
              <a:gd name="T25" fmla="*/ 2147483647 h 1052"/>
              <a:gd name="T26" fmla="*/ 2147483647 w 967"/>
              <a:gd name="T27" fmla="*/ 2147483647 h 105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67"/>
              <a:gd name="T43" fmla="*/ 0 h 1052"/>
              <a:gd name="T44" fmla="*/ 967 w 967"/>
              <a:gd name="T45" fmla="*/ 1052 h 105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67" h="1052">
                <a:moveTo>
                  <a:pt x="967" y="1038"/>
                </a:moveTo>
                <a:lnTo>
                  <a:pt x="967" y="0"/>
                </a:lnTo>
                <a:lnTo>
                  <a:pt x="871" y="78"/>
                </a:lnTo>
                <a:lnTo>
                  <a:pt x="775" y="174"/>
                </a:lnTo>
                <a:lnTo>
                  <a:pt x="709" y="312"/>
                </a:lnTo>
                <a:lnTo>
                  <a:pt x="631" y="462"/>
                </a:lnTo>
                <a:lnTo>
                  <a:pt x="583" y="558"/>
                </a:lnTo>
                <a:lnTo>
                  <a:pt x="505" y="642"/>
                </a:lnTo>
                <a:lnTo>
                  <a:pt x="439" y="750"/>
                </a:lnTo>
                <a:lnTo>
                  <a:pt x="343" y="858"/>
                </a:lnTo>
                <a:lnTo>
                  <a:pt x="187" y="954"/>
                </a:lnTo>
                <a:lnTo>
                  <a:pt x="0" y="992"/>
                </a:lnTo>
                <a:lnTo>
                  <a:pt x="6" y="1052"/>
                </a:lnTo>
                <a:lnTo>
                  <a:pt x="967" y="1038"/>
                </a:lnTo>
                <a:close/>
              </a:path>
            </a:pathLst>
          </a:custGeom>
          <a:solidFill>
            <a:srgbClr val="FDE0BD"/>
          </a:solidFill>
          <a:ln w="12700">
            <a:solidFill>
              <a:srgbClr val="C1BAF8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6" name="Freeform 9"/>
          <p:cNvSpPr>
            <a:spLocks/>
          </p:cNvSpPr>
          <p:nvPr/>
        </p:nvSpPr>
        <p:spPr bwMode="auto">
          <a:xfrm>
            <a:off x="6894513" y="4191000"/>
            <a:ext cx="1635125" cy="1573213"/>
          </a:xfrm>
          <a:custGeom>
            <a:avLst/>
            <a:gdLst>
              <a:gd name="T0" fmla="*/ 2147483647 w 1030"/>
              <a:gd name="T1" fmla="*/ 2147483647 h 991"/>
              <a:gd name="T2" fmla="*/ 2147483647 w 1030"/>
              <a:gd name="T3" fmla="*/ 2147483647 h 991"/>
              <a:gd name="T4" fmla="*/ 2147483647 w 1030"/>
              <a:gd name="T5" fmla="*/ 2147483647 h 991"/>
              <a:gd name="T6" fmla="*/ 2147483647 w 1030"/>
              <a:gd name="T7" fmla="*/ 2147483647 h 991"/>
              <a:gd name="T8" fmla="*/ 2147483647 w 1030"/>
              <a:gd name="T9" fmla="*/ 2147483647 h 991"/>
              <a:gd name="T10" fmla="*/ 2147483647 w 1030"/>
              <a:gd name="T11" fmla="*/ 2147483647 h 991"/>
              <a:gd name="T12" fmla="*/ 2147483647 w 1030"/>
              <a:gd name="T13" fmla="*/ 2147483647 h 991"/>
              <a:gd name="T14" fmla="*/ 2147483647 w 1030"/>
              <a:gd name="T15" fmla="*/ 2147483647 h 991"/>
              <a:gd name="T16" fmla="*/ 2147483647 w 1030"/>
              <a:gd name="T17" fmla="*/ 2147483647 h 991"/>
              <a:gd name="T18" fmla="*/ 2147483647 w 1030"/>
              <a:gd name="T19" fmla="*/ 2147483647 h 991"/>
              <a:gd name="T20" fmla="*/ 2147483647 w 1030"/>
              <a:gd name="T21" fmla="*/ 2147483647 h 991"/>
              <a:gd name="T22" fmla="*/ 2147483647 w 1030"/>
              <a:gd name="T23" fmla="*/ 2147483647 h 991"/>
              <a:gd name="T24" fmla="*/ 2147483647 w 1030"/>
              <a:gd name="T25" fmla="*/ 2147483647 h 991"/>
              <a:gd name="T26" fmla="*/ 2147483647 w 1030"/>
              <a:gd name="T27" fmla="*/ 2147483647 h 991"/>
              <a:gd name="T28" fmla="*/ 2147483647 w 1030"/>
              <a:gd name="T29" fmla="*/ 2147483647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7" name="Freeform 10"/>
          <p:cNvSpPr>
            <a:spLocks/>
          </p:cNvSpPr>
          <p:nvPr/>
        </p:nvSpPr>
        <p:spPr bwMode="auto">
          <a:xfrm>
            <a:off x="5257800" y="4191000"/>
            <a:ext cx="1638300" cy="1573213"/>
          </a:xfrm>
          <a:custGeom>
            <a:avLst/>
            <a:gdLst>
              <a:gd name="T0" fmla="*/ 0 w 1032"/>
              <a:gd name="T1" fmla="*/ 2147483647 h 991"/>
              <a:gd name="T2" fmla="*/ 2147483647 w 1032"/>
              <a:gd name="T3" fmla="*/ 2147483647 h 991"/>
              <a:gd name="T4" fmla="*/ 2147483647 w 1032"/>
              <a:gd name="T5" fmla="*/ 2147483647 h 991"/>
              <a:gd name="T6" fmla="*/ 2147483647 w 1032"/>
              <a:gd name="T7" fmla="*/ 2147483647 h 991"/>
              <a:gd name="T8" fmla="*/ 2147483647 w 1032"/>
              <a:gd name="T9" fmla="*/ 2147483647 h 991"/>
              <a:gd name="T10" fmla="*/ 2147483647 w 1032"/>
              <a:gd name="T11" fmla="*/ 2147483647 h 991"/>
              <a:gd name="T12" fmla="*/ 2147483647 w 1032"/>
              <a:gd name="T13" fmla="*/ 2147483647 h 991"/>
              <a:gd name="T14" fmla="*/ 2147483647 w 1032"/>
              <a:gd name="T15" fmla="*/ 2147483647 h 991"/>
              <a:gd name="T16" fmla="*/ 2147483647 w 1032"/>
              <a:gd name="T17" fmla="*/ 2147483647 h 991"/>
              <a:gd name="T18" fmla="*/ 2147483647 w 1032"/>
              <a:gd name="T19" fmla="*/ 2147483647 h 991"/>
              <a:gd name="T20" fmla="*/ 2147483647 w 1032"/>
              <a:gd name="T21" fmla="*/ 2147483647 h 991"/>
              <a:gd name="T22" fmla="*/ 2147483647 w 1032"/>
              <a:gd name="T23" fmla="*/ 2147483647 h 991"/>
              <a:gd name="T24" fmla="*/ 2147483647 w 1032"/>
              <a:gd name="T25" fmla="*/ 2147483647 h 991"/>
              <a:gd name="T26" fmla="*/ 2147483647 w 1032"/>
              <a:gd name="T27" fmla="*/ 2147483647 h 991"/>
              <a:gd name="T28" fmla="*/ 2147483647 w 1032"/>
              <a:gd name="T29" fmla="*/ 2147483647 h 991"/>
              <a:gd name="T30" fmla="*/ 2147483647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8" name="Freeform 11"/>
          <p:cNvSpPr>
            <a:spLocks/>
          </p:cNvSpPr>
          <p:nvPr/>
        </p:nvSpPr>
        <p:spPr bwMode="auto">
          <a:xfrm>
            <a:off x="5240338" y="5846763"/>
            <a:ext cx="3289300" cy="7937"/>
          </a:xfrm>
          <a:custGeom>
            <a:avLst/>
            <a:gdLst>
              <a:gd name="T0" fmla="*/ 0 w 2072"/>
              <a:gd name="T1" fmla="*/ 2147483647 h 5"/>
              <a:gd name="T2" fmla="*/ 2147483647 w 2072"/>
              <a:gd name="T3" fmla="*/ 0 h 5"/>
              <a:gd name="T4" fmla="*/ 2147483647 w 2072"/>
              <a:gd name="T5" fmla="*/ 0 h 5"/>
              <a:gd name="T6" fmla="*/ 0 60000 65536"/>
              <a:gd name="T7" fmla="*/ 0 60000 65536"/>
              <a:gd name="T8" fmla="*/ 0 60000 65536"/>
              <a:gd name="T9" fmla="*/ 0 w 2072"/>
              <a:gd name="T10" fmla="*/ 0 h 5"/>
              <a:gd name="T11" fmla="*/ 2072 w 2072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2" h="5">
                <a:moveTo>
                  <a:pt x="0" y="5"/>
                </a:moveTo>
                <a:lnTo>
                  <a:pt x="12" y="0"/>
                </a:lnTo>
                <a:lnTo>
                  <a:pt x="2072" y="0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9" name="Freeform 12"/>
          <p:cNvSpPr>
            <a:spLocks/>
          </p:cNvSpPr>
          <p:nvPr/>
        </p:nvSpPr>
        <p:spPr bwMode="auto">
          <a:xfrm>
            <a:off x="1219200" y="4286250"/>
            <a:ext cx="1066800" cy="1657350"/>
          </a:xfrm>
          <a:custGeom>
            <a:avLst/>
            <a:gdLst>
              <a:gd name="T0" fmla="*/ 2147483647 w 666"/>
              <a:gd name="T1" fmla="*/ 2147483647 h 1044"/>
              <a:gd name="T2" fmla="*/ 2147483647 w 666"/>
              <a:gd name="T3" fmla="*/ 0 h 1044"/>
              <a:gd name="T4" fmla="*/ 2147483647 w 666"/>
              <a:gd name="T5" fmla="*/ 2147483647 h 1044"/>
              <a:gd name="T6" fmla="*/ 2147483647 w 666"/>
              <a:gd name="T7" fmla="*/ 2147483647 h 1044"/>
              <a:gd name="T8" fmla="*/ 2147483647 w 666"/>
              <a:gd name="T9" fmla="*/ 2147483647 h 1044"/>
              <a:gd name="T10" fmla="*/ 2147483647 w 666"/>
              <a:gd name="T11" fmla="*/ 2147483647 h 1044"/>
              <a:gd name="T12" fmla="*/ 2147483647 w 666"/>
              <a:gd name="T13" fmla="*/ 2147483647 h 1044"/>
              <a:gd name="T14" fmla="*/ 2147483647 w 666"/>
              <a:gd name="T15" fmla="*/ 2147483647 h 1044"/>
              <a:gd name="T16" fmla="*/ 2147483647 w 666"/>
              <a:gd name="T17" fmla="*/ 2147483647 h 1044"/>
              <a:gd name="T18" fmla="*/ 2147483647 w 666"/>
              <a:gd name="T19" fmla="*/ 2147483647 h 1044"/>
              <a:gd name="T20" fmla="*/ 2147483647 w 666"/>
              <a:gd name="T21" fmla="*/ 2147483647 h 1044"/>
              <a:gd name="T22" fmla="*/ 0 w 666"/>
              <a:gd name="T23" fmla="*/ 2147483647 h 1044"/>
              <a:gd name="T24" fmla="*/ 0 w 666"/>
              <a:gd name="T25" fmla="*/ 2147483647 h 1044"/>
              <a:gd name="T26" fmla="*/ 2147483647 w 666"/>
              <a:gd name="T27" fmla="*/ 2147483647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20" name="Line 13"/>
          <p:cNvSpPr>
            <a:spLocks noChangeShapeType="1"/>
          </p:cNvSpPr>
          <p:nvPr/>
        </p:nvSpPr>
        <p:spPr bwMode="auto">
          <a:xfrm>
            <a:off x="2286000" y="4267200"/>
            <a:ext cx="0" cy="16764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Freeform 14"/>
          <p:cNvSpPr>
            <a:spLocks/>
          </p:cNvSpPr>
          <p:nvPr/>
        </p:nvSpPr>
        <p:spPr bwMode="auto">
          <a:xfrm>
            <a:off x="2320925" y="4298950"/>
            <a:ext cx="1635125" cy="1573213"/>
          </a:xfrm>
          <a:custGeom>
            <a:avLst/>
            <a:gdLst>
              <a:gd name="T0" fmla="*/ 2147483647 w 1030"/>
              <a:gd name="T1" fmla="*/ 2147483647 h 991"/>
              <a:gd name="T2" fmla="*/ 2147483647 w 1030"/>
              <a:gd name="T3" fmla="*/ 2147483647 h 991"/>
              <a:gd name="T4" fmla="*/ 2147483647 w 1030"/>
              <a:gd name="T5" fmla="*/ 2147483647 h 991"/>
              <a:gd name="T6" fmla="*/ 2147483647 w 1030"/>
              <a:gd name="T7" fmla="*/ 2147483647 h 991"/>
              <a:gd name="T8" fmla="*/ 2147483647 w 1030"/>
              <a:gd name="T9" fmla="*/ 2147483647 h 991"/>
              <a:gd name="T10" fmla="*/ 2147483647 w 1030"/>
              <a:gd name="T11" fmla="*/ 2147483647 h 991"/>
              <a:gd name="T12" fmla="*/ 2147483647 w 1030"/>
              <a:gd name="T13" fmla="*/ 2147483647 h 991"/>
              <a:gd name="T14" fmla="*/ 2147483647 w 1030"/>
              <a:gd name="T15" fmla="*/ 2147483647 h 991"/>
              <a:gd name="T16" fmla="*/ 2147483647 w 1030"/>
              <a:gd name="T17" fmla="*/ 2147483647 h 991"/>
              <a:gd name="T18" fmla="*/ 2147483647 w 1030"/>
              <a:gd name="T19" fmla="*/ 2147483647 h 991"/>
              <a:gd name="T20" fmla="*/ 2147483647 w 1030"/>
              <a:gd name="T21" fmla="*/ 2147483647 h 991"/>
              <a:gd name="T22" fmla="*/ 2147483647 w 1030"/>
              <a:gd name="T23" fmla="*/ 2147483647 h 991"/>
              <a:gd name="T24" fmla="*/ 2147483647 w 1030"/>
              <a:gd name="T25" fmla="*/ 2147483647 h 991"/>
              <a:gd name="T26" fmla="*/ 2147483647 w 1030"/>
              <a:gd name="T27" fmla="*/ 2147483647 h 991"/>
              <a:gd name="T28" fmla="*/ 2147483647 w 1030"/>
              <a:gd name="T29" fmla="*/ 2147483647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22" name="Freeform 15"/>
          <p:cNvSpPr>
            <a:spLocks/>
          </p:cNvSpPr>
          <p:nvPr/>
        </p:nvSpPr>
        <p:spPr bwMode="auto">
          <a:xfrm>
            <a:off x="669925" y="4298950"/>
            <a:ext cx="1652588" cy="1573213"/>
          </a:xfrm>
          <a:custGeom>
            <a:avLst/>
            <a:gdLst>
              <a:gd name="T0" fmla="*/ 0 w 1032"/>
              <a:gd name="T1" fmla="*/ 2147483647 h 991"/>
              <a:gd name="T2" fmla="*/ 2147483647 w 1032"/>
              <a:gd name="T3" fmla="*/ 2147483647 h 991"/>
              <a:gd name="T4" fmla="*/ 2147483647 w 1032"/>
              <a:gd name="T5" fmla="*/ 2147483647 h 991"/>
              <a:gd name="T6" fmla="*/ 2147483647 w 1032"/>
              <a:gd name="T7" fmla="*/ 2147483647 h 991"/>
              <a:gd name="T8" fmla="*/ 2147483647 w 1032"/>
              <a:gd name="T9" fmla="*/ 2147483647 h 991"/>
              <a:gd name="T10" fmla="*/ 2147483647 w 1032"/>
              <a:gd name="T11" fmla="*/ 2147483647 h 991"/>
              <a:gd name="T12" fmla="*/ 2147483647 w 1032"/>
              <a:gd name="T13" fmla="*/ 2147483647 h 991"/>
              <a:gd name="T14" fmla="*/ 2147483647 w 1032"/>
              <a:gd name="T15" fmla="*/ 2147483647 h 991"/>
              <a:gd name="T16" fmla="*/ 2147483647 w 1032"/>
              <a:gd name="T17" fmla="*/ 2147483647 h 991"/>
              <a:gd name="T18" fmla="*/ 2147483647 w 1032"/>
              <a:gd name="T19" fmla="*/ 2147483647 h 991"/>
              <a:gd name="T20" fmla="*/ 2147483647 w 1032"/>
              <a:gd name="T21" fmla="*/ 2147483647 h 991"/>
              <a:gd name="T22" fmla="*/ 2147483647 w 1032"/>
              <a:gd name="T23" fmla="*/ 2147483647 h 991"/>
              <a:gd name="T24" fmla="*/ 2147483647 w 1032"/>
              <a:gd name="T25" fmla="*/ 2147483647 h 991"/>
              <a:gd name="T26" fmla="*/ 2147483647 w 1032"/>
              <a:gd name="T27" fmla="*/ 2147483647 h 991"/>
              <a:gd name="T28" fmla="*/ 2147483647 w 1032"/>
              <a:gd name="T29" fmla="*/ 2147483647 h 991"/>
              <a:gd name="T30" fmla="*/ 2147483647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23" name="Freeform 16"/>
          <p:cNvSpPr>
            <a:spLocks/>
          </p:cNvSpPr>
          <p:nvPr/>
        </p:nvSpPr>
        <p:spPr bwMode="auto">
          <a:xfrm>
            <a:off x="666750" y="5954713"/>
            <a:ext cx="3289300" cy="7937"/>
          </a:xfrm>
          <a:custGeom>
            <a:avLst/>
            <a:gdLst>
              <a:gd name="T0" fmla="*/ 0 w 2072"/>
              <a:gd name="T1" fmla="*/ 2147483647 h 5"/>
              <a:gd name="T2" fmla="*/ 2147483647 w 2072"/>
              <a:gd name="T3" fmla="*/ 0 h 5"/>
              <a:gd name="T4" fmla="*/ 2147483647 w 2072"/>
              <a:gd name="T5" fmla="*/ 0 h 5"/>
              <a:gd name="T6" fmla="*/ 0 60000 65536"/>
              <a:gd name="T7" fmla="*/ 0 60000 65536"/>
              <a:gd name="T8" fmla="*/ 0 60000 65536"/>
              <a:gd name="T9" fmla="*/ 0 w 2072"/>
              <a:gd name="T10" fmla="*/ 0 h 5"/>
              <a:gd name="T11" fmla="*/ 2072 w 2072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2" h="5">
                <a:moveTo>
                  <a:pt x="0" y="5"/>
                </a:moveTo>
                <a:lnTo>
                  <a:pt x="12" y="0"/>
                </a:lnTo>
                <a:lnTo>
                  <a:pt x="2072" y="0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24" name="Line 17"/>
          <p:cNvSpPr>
            <a:spLocks noChangeShapeType="1"/>
          </p:cNvSpPr>
          <p:nvPr/>
        </p:nvSpPr>
        <p:spPr bwMode="auto">
          <a:xfrm>
            <a:off x="6859588" y="4159250"/>
            <a:ext cx="0" cy="16764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6" name="Object 18"/>
          <p:cNvGraphicFramePr>
            <a:graphicFrameLocks noChangeAspect="1"/>
          </p:cNvGraphicFramePr>
          <p:nvPr/>
        </p:nvGraphicFramePr>
        <p:xfrm>
          <a:off x="6454775" y="6046788"/>
          <a:ext cx="960438" cy="441325"/>
        </p:xfrm>
        <a:graphic>
          <a:graphicData uri="http://schemas.openxmlformats.org/presentationml/2006/ole">
            <p:oleObj spid="_x0000_s21506" name="Equation" r:id="rId3" imgW="444240" imgH="203040" progId="Equation.3">
              <p:embed/>
            </p:oleObj>
          </a:graphicData>
        </a:graphic>
      </p:graphicFrame>
      <p:sp>
        <p:nvSpPr>
          <p:cNvPr id="21525" name="Line 19"/>
          <p:cNvSpPr>
            <a:spLocks noChangeShapeType="1"/>
          </p:cNvSpPr>
          <p:nvPr/>
        </p:nvSpPr>
        <p:spPr bwMode="auto">
          <a:xfrm flipV="1">
            <a:off x="5334000" y="5715000"/>
            <a:ext cx="0" cy="685800"/>
          </a:xfrm>
          <a:prstGeom prst="line">
            <a:avLst/>
          </a:prstGeom>
          <a:noFill/>
          <a:ln w="28575">
            <a:solidFill>
              <a:srgbClr val="99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20"/>
          <p:cNvSpPr>
            <a:spLocks noChangeShapeType="1"/>
          </p:cNvSpPr>
          <p:nvPr/>
        </p:nvSpPr>
        <p:spPr bwMode="auto">
          <a:xfrm flipV="1">
            <a:off x="8382000" y="5715000"/>
            <a:ext cx="0" cy="685800"/>
          </a:xfrm>
          <a:prstGeom prst="line">
            <a:avLst/>
          </a:prstGeom>
          <a:noFill/>
          <a:ln w="28575">
            <a:solidFill>
              <a:srgbClr val="99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Line 21"/>
          <p:cNvSpPr>
            <a:spLocks noChangeShapeType="1"/>
          </p:cNvSpPr>
          <p:nvPr/>
        </p:nvSpPr>
        <p:spPr bwMode="auto">
          <a:xfrm flipH="1">
            <a:off x="5334000" y="6248400"/>
            <a:ext cx="990600" cy="0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22"/>
          <p:cNvSpPr>
            <a:spLocks noChangeShapeType="1"/>
          </p:cNvSpPr>
          <p:nvPr/>
        </p:nvSpPr>
        <p:spPr bwMode="auto">
          <a:xfrm>
            <a:off x="7543800" y="6248400"/>
            <a:ext cx="838200" cy="0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Text Box 23"/>
          <p:cNvSpPr txBox="1">
            <a:spLocks noChangeArrowheads="1"/>
          </p:cNvSpPr>
          <p:nvPr/>
        </p:nvSpPr>
        <p:spPr bwMode="auto">
          <a:xfrm>
            <a:off x="6400800" y="5105400"/>
            <a:ext cx="1066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99.7%</a:t>
            </a:r>
          </a:p>
        </p:txBody>
      </p:sp>
      <p:sp>
        <p:nvSpPr>
          <p:cNvPr id="21530" name="Text Box 24"/>
          <p:cNvSpPr txBox="1">
            <a:spLocks noChangeArrowheads="1"/>
          </p:cNvSpPr>
          <p:nvPr/>
        </p:nvSpPr>
        <p:spPr bwMode="auto">
          <a:xfrm>
            <a:off x="1905000" y="5181600"/>
            <a:ext cx="1066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95%</a:t>
            </a:r>
          </a:p>
        </p:txBody>
      </p:sp>
      <p:graphicFrame>
        <p:nvGraphicFramePr>
          <p:cNvPr id="21507" name="Object 25"/>
          <p:cNvGraphicFramePr>
            <a:graphicFrameLocks noChangeAspect="1"/>
          </p:cNvGraphicFramePr>
          <p:nvPr/>
        </p:nvGraphicFramePr>
        <p:xfrm>
          <a:off x="1909763" y="6122988"/>
          <a:ext cx="960437" cy="441325"/>
        </p:xfrm>
        <a:graphic>
          <a:graphicData uri="http://schemas.openxmlformats.org/presentationml/2006/ole">
            <p:oleObj spid="_x0000_s21507" name="Equation" r:id="rId4" imgW="444240" imgH="203040" progId="Equation.3">
              <p:embed/>
            </p:oleObj>
          </a:graphicData>
        </a:graphic>
      </p:graphicFrame>
      <p:sp>
        <p:nvSpPr>
          <p:cNvPr id="21531" name="Line 26"/>
          <p:cNvSpPr>
            <a:spLocks noChangeShapeType="1"/>
          </p:cNvSpPr>
          <p:nvPr/>
        </p:nvSpPr>
        <p:spPr bwMode="auto">
          <a:xfrm flipV="1">
            <a:off x="1219200" y="5715000"/>
            <a:ext cx="0" cy="685800"/>
          </a:xfrm>
          <a:prstGeom prst="line">
            <a:avLst/>
          </a:prstGeom>
          <a:noFill/>
          <a:ln w="28575">
            <a:solidFill>
              <a:srgbClr val="99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2" name="Line 27"/>
          <p:cNvSpPr>
            <a:spLocks noChangeShapeType="1"/>
          </p:cNvSpPr>
          <p:nvPr/>
        </p:nvSpPr>
        <p:spPr bwMode="auto">
          <a:xfrm flipV="1">
            <a:off x="3352800" y="5715000"/>
            <a:ext cx="0" cy="685800"/>
          </a:xfrm>
          <a:prstGeom prst="line">
            <a:avLst/>
          </a:prstGeom>
          <a:noFill/>
          <a:ln w="28575">
            <a:solidFill>
              <a:srgbClr val="99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3" name="Line 28"/>
          <p:cNvSpPr>
            <a:spLocks noChangeShapeType="1"/>
          </p:cNvSpPr>
          <p:nvPr/>
        </p:nvSpPr>
        <p:spPr bwMode="auto">
          <a:xfrm flipH="1">
            <a:off x="1241425" y="6324600"/>
            <a:ext cx="538163" cy="1588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4" name="Line 29"/>
          <p:cNvSpPr>
            <a:spLocks noChangeShapeType="1"/>
          </p:cNvSpPr>
          <p:nvPr/>
        </p:nvSpPr>
        <p:spPr bwMode="auto">
          <a:xfrm>
            <a:off x="2971800" y="6324600"/>
            <a:ext cx="381000" cy="0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5" name="TextBox 3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612F6986-48BA-4278-8071-8E9ECB63F28C}" type="slidenum">
              <a:rPr lang="en-US" smtClean="0">
                <a:latin typeface="Arial" charset="0"/>
              </a:rPr>
              <a:pPr/>
              <a:t>59</a:t>
            </a:fld>
            <a:endParaRPr lang="en-US" smtClean="0">
              <a:latin typeface="Arial" charset="0"/>
            </a:endParaRPr>
          </a:p>
        </p:txBody>
      </p:sp>
      <p:sp>
        <p:nvSpPr>
          <p:cNvPr id="13005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00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190A90D1-3121-441B-A39B-D4C81555A9FF}" type="slidenum">
              <a:rPr lang="en-US" sz="1000"/>
              <a:pPr algn="r" defTabSz="852488"/>
              <a:t>59</a:t>
            </a:fld>
            <a:endParaRPr lang="en-US" sz="1000"/>
          </a:p>
        </p:txBody>
      </p:sp>
      <p:sp>
        <p:nvSpPr>
          <p:cNvPr id="130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the Empirical Rule</a:t>
            </a:r>
          </a:p>
        </p:txBody>
      </p:sp>
      <p:sp>
        <p:nvSpPr>
          <p:cNvPr id="130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mtClean="0">
                <a:latin typeface="Times New Roman" pitchFamily="18" charset="0"/>
                <a:ea typeface="굴림"/>
                <a:cs typeface="굴림"/>
              </a:rPr>
              <a:t>Suppose that the variable Math SAT scores is bell-shaped with a mean of 500 and a standard deviation of 90.  Then,</a:t>
            </a:r>
            <a:endParaRPr 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1600" smtClean="0">
              <a:latin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68% of all test takers scored between 410 and 590        (500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±</a:t>
            </a:r>
            <a:r>
              <a:rPr lang="en-US" smtClean="0">
                <a:latin typeface="Times New Roman" pitchFamily="18" charset="0"/>
              </a:rPr>
              <a:t> 90).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85000"/>
              <a:buFont typeface="Wingdings" pitchFamily="2" charset="2"/>
              <a:buChar char="§"/>
            </a:pPr>
            <a:endParaRPr lang="en-US" sz="1400" smtClean="0">
              <a:latin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95% of all test takers scored between 320 and 680        (500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±</a:t>
            </a:r>
            <a:r>
              <a:rPr lang="en-US" smtClean="0">
                <a:latin typeface="Times New Roman" pitchFamily="18" charset="0"/>
              </a:rPr>
              <a:t> 180).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85000"/>
              <a:buFont typeface="Wingdings" pitchFamily="2" charset="2"/>
              <a:buChar char="§"/>
            </a:pPr>
            <a:endParaRPr lang="en-US" sz="1400" smtClean="0">
              <a:latin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85000"/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99.7% of all test takers scored between 230 and 770      (500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±</a:t>
            </a:r>
            <a:r>
              <a:rPr lang="en-US" smtClean="0">
                <a:latin typeface="Times New Roman" pitchFamily="18" charset="0"/>
              </a:rPr>
              <a:t> 270).</a:t>
            </a:r>
          </a:p>
        </p:txBody>
      </p:sp>
      <p:sp>
        <p:nvSpPr>
          <p:cNvPr id="130054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B26A018-A665-4157-8730-B1FACBE4E6DE}" type="slidenum">
              <a:rPr lang="en-US" smtClean="0">
                <a:latin typeface="Arial" charset="0"/>
              </a:rPr>
              <a:pPr/>
              <a:t>60</a:t>
            </a:fld>
            <a:endParaRPr lang="en-US" smtClean="0">
              <a:latin typeface="Arial" charset="0"/>
            </a:endParaRPr>
          </a:p>
        </p:txBody>
      </p:sp>
      <p:sp>
        <p:nvSpPr>
          <p:cNvPr id="13107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10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D7B60286-E734-46A9-A1EC-0425FED03A6E}" type="slidenum">
              <a:rPr lang="en-US" sz="1000"/>
              <a:pPr algn="r" defTabSz="852488"/>
              <a:t>60</a:t>
            </a:fld>
            <a:endParaRPr lang="en-US" sz="1000"/>
          </a:p>
        </p:txBody>
      </p:sp>
      <p:sp>
        <p:nvSpPr>
          <p:cNvPr id="131076" name="Rectangle 2"/>
          <p:cNvSpPr>
            <a:spLocks noChangeArrowheads="1"/>
          </p:cNvSpPr>
          <p:nvPr/>
        </p:nvSpPr>
        <p:spPr bwMode="auto">
          <a:xfrm>
            <a:off x="1676400" y="4343400"/>
            <a:ext cx="6400800" cy="1828800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1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543800" cy="4267200"/>
          </a:xfrm>
        </p:spPr>
        <p:txBody>
          <a:bodyPr/>
          <a:lstStyle/>
          <a:p>
            <a:pPr eaLnBrk="1" hangingPunct="1"/>
            <a:r>
              <a:rPr lang="en-US" smtClean="0"/>
              <a:t>Regardless of how the data are distributed, at least </a:t>
            </a:r>
            <a:r>
              <a:rPr lang="en-US" smtClean="0">
                <a:solidFill>
                  <a:schemeClr val="folHlink"/>
                </a:solidFill>
              </a:rPr>
              <a:t>(1 - 1/k</a:t>
            </a:r>
            <a:r>
              <a:rPr lang="en-US" baseline="30000" smtClean="0">
                <a:solidFill>
                  <a:schemeClr val="folHlink"/>
                </a:solidFill>
              </a:rPr>
              <a:t>2</a:t>
            </a:r>
            <a:r>
              <a:rPr lang="en-US" smtClean="0">
                <a:solidFill>
                  <a:schemeClr val="folHlink"/>
                </a:solidFill>
              </a:rPr>
              <a:t>) x 100%</a:t>
            </a:r>
            <a:r>
              <a:rPr lang="en-US" smtClean="0"/>
              <a:t> of the values will fall within </a:t>
            </a:r>
            <a:r>
              <a:rPr lang="en-US" smtClean="0">
                <a:solidFill>
                  <a:schemeClr val="folHlink"/>
                </a:solidFill>
              </a:rPr>
              <a:t>k</a:t>
            </a:r>
            <a:r>
              <a:rPr lang="en-US" smtClean="0"/>
              <a:t> standard deviations of the mean (for k &gt; 1)</a:t>
            </a:r>
          </a:p>
          <a:p>
            <a:pPr lvl="1" eaLnBrk="1" hangingPunct="1">
              <a:lnSpc>
                <a:spcPct val="140000"/>
              </a:lnSpc>
            </a:pPr>
            <a:r>
              <a:rPr lang="en-US" sz="2800" smtClean="0"/>
              <a:t> </a:t>
            </a:r>
            <a:r>
              <a:rPr lang="en-US" smtClean="0"/>
              <a:t>Examples:</a:t>
            </a:r>
          </a:p>
          <a:p>
            <a:pPr lvl="1" eaLnBrk="1" hangingPunct="1">
              <a:lnSpc>
                <a:spcPct val="140000"/>
              </a:lnSpc>
              <a:buFont typeface="Wingdings" pitchFamily="2" charset="2"/>
              <a:buNone/>
            </a:pPr>
            <a:endParaRPr lang="en-US" sz="2000" smtClean="0">
              <a:solidFill>
                <a:schemeClr val="folHlink"/>
              </a:solidFill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		(1 - 1/2</a:t>
            </a:r>
            <a:r>
              <a:rPr lang="en-US" sz="2400" baseline="30000" smtClean="0"/>
              <a:t>2</a:t>
            </a:r>
            <a:r>
              <a:rPr lang="en-US" sz="2400" smtClean="0"/>
              <a:t>) x 100% = </a:t>
            </a:r>
            <a:r>
              <a:rPr lang="en-US" sz="2400" smtClean="0">
                <a:solidFill>
                  <a:schemeClr val="folHlink"/>
                </a:solidFill>
              </a:rPr>
              <a:t>75% </a:t>
            </a:r>
            <a:r>
              <a:rPr lang="en-US" sz="2400" smtClean="0"/>
              <a:t>…........ </a:t>
            </a:r>
            <a:r>
              <a:rPr lang="en-US" sz="2400" smtClean="0">
                <a:solidFill>
                  <a:schemeClr val="folHlink"/>
                </a:solidFill>
              </a:rPr>
              <a:t>k=2  (</a:t>
            </a:r>
            <a:r>
              <a:rPr lang="el-GR" sz="2400" smtClean="0">
                <a:solidFill>
                  <a:schemeClr val="folHlink"/>
                </a:solidFill>
                <a:cs typeface="Arial" charset="0"/>
              </a:rPr>
              <a:t>μ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 </a:t>
            </a:r>
            <a:r>
              <a:rPr lang="en-US" sz="240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± 2</a:t>
            </a:r>
            <a:r>
              <a:rPr lang="el-GR" sz="240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σ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)</a:t>
            </a:r>
            <a:endParaRPr lang="en-US" sz="24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		(1 - 1/3</a:t>
            </a:r>
            <a:r>
              <a:rPr lang="en-US" sz="2400" baseline="30000" smtClean="0"/>
              <a:t>2</a:t>
            </a:r>
            <a:r>
              <a:rPr lang="en-US" sz="2400" smtClean="0"/>
              <a:t>) x 100% = </a:t>
            </a:r>
            <a:r>
              <a:rPr lang="en-US" sz="2400" smtClean="0">
                <a:solidFill>
                  <a:schemeClr val="folHlink"/>
                </a:solidFill>
              </a:rPr>
              <a:t>89% </a:t>
            </a:r>
            <a:r>
              <a:rPr lang="en-US" sz="2400" smtClean="0"/>
              <a:t>………. </a:t>
            </a:r>
            <a:r>
              <a:rPr lang="en-US" sz="2400" smtClean="0">
                <a:solidFill>
                  <a:schemeClr val="folHlink"/>
                </a:solidFill>
              </a:rPr>
              <a:t>k=3  (</a:t>
            </a:r>
            <a:r>
              <a:rPr lang="el-GR" sz="2400" smtClean="0">
                <a:solidFill>
                  <a:schemeClr val="folHlink"/>
                </a:solidFill>
                <a:cs typeface="Arial" charset="0"/>
              </a:rPr>
              <a:t>μ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 </a:t>
            </a:r>
            <a:r>
              <a:rPr lang="en-US" sz="240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± 3</a:t>
            </a:r>
            <a:r>
              <a:rPr lang="el-GR" sz="2400" smtClean="0">
                <a:solidFill>
                  <a:schemeClr val="folHlink"/>
                </a:solidFill>
                <a:cs typeface="Arial" charset="0"/>
                <a:sym typeface="Symbol" pitchFamily="18" charset="2"/>
              </a:rPr>
              <a:t>σ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)</a:t>
            </a:r>
          </a:p>
        </p:txBody>
      </p:sp>
      <p:sp>
        <p:nvSpPr>
          <p:cNvPr id="131078" name="Rectangle 4"/>
          <p:cNvSpPr>
            <a:spLocks noChangeArrowheads="1"/>
          </p:cNvSpPr>
          <p:nvPr/>
        </p:nvSpPr>
        <p:spPr bwMode="auto">
          <a:xfrm>
            <a:off x="914400" y="381000"/>
            <a:ext cx="772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Chebyshev Rule</a:t>
            </a:r>
          </a:p>
        </p:txBody>
      </p:sp>
      <p:sp>
        <p:nvSpPr>
          <p:cNvPr id="131079" name="Rectangle 5"/>
          <p:cNvSpPr>
            <a:spLocks noChangeArrowheads="1"/>
          </p:cNvSpPr>
          <p:nvPr/>
        </p:nvSpPr>
        <p:spPr bwMode="auto">
          <a:xfrm>
            <a:off x="6172200" y="4322763"/>
            <a:ext cx="96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within</a:t>
            </a:r>
          </a:p>
        </p:txBody>
      </p:sp>
      <p:sp>
        <p:nvSpPr>
          <p:cNvPr id="131080" name="Rectangle 6"/>
          <p:cNvSpPr>
            <a:spLocks noChangeArrowheads="1"/>
          </p:cNvSpPr>
          <p:nvPr/>
        </p:nvSpPr>
        <p:spPr bwMode="auto">
          <a:xfrm>
            <a:off x="3048000" y="4322763"/>
            <a:ext cx="12001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At least</a:t>
            </a:r>
          </a:p>
        </p:txBody>
      </p:sp>
      <p:sp>
        <p:nvSpPr>
          <p:cNvPr id="131081" name="Line 7"/>
          <p:cNvSpPr>
            <a:spLocks noChangeShapeType="1"/>
          </p:cNvSpPr>
          <p:nvPr/>
        </p:nvSpPr>
        <p:spPr bwMode="auto">
          <a:xfrm>
            <a:off x="1905000" y="4799013"/>
            <a:ext cx="5943600" cy="476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1082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4E2C3997-E067-40F7-9209-57492E4B9F69}" type="slidenum">
              <a:rPr lang="en-US" smtClean="0">
                <a:latin typeface="Arial" charset="0"/>
              </a:rPr>
              <a:pPr/>
              <a:t>61</a:t>
            </a:fld>
            <a:endParaRPr lang="en-US" smtClean="0">
              <a:latin typeface="Arial" charset="0"/>
            </a:endParaRPr>
          </a:p>
        </p:txBody>
      </p:sp>
      <p:sp>
        <p:nvSpPr>
          <p:cNvPr id="2765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765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398081D1-4044-4FF5-A750-CAEC9F67E453}" type="slidenum">
              <a:rPr lang="en-US" sz="1000"/>
              <a:pPr algn="r" defTabSz="852488"/>
              <a:t>61</a:t>
            </a:fld>
            <a:endParaRPr lang="en-US" sz="1000"/>
          </a:p>
        </p:txBody>
      </p:sp>
      <p:sp>
        <p:nvSpPr>
          <p:cNvPr id="276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Covariance</a:t>
            </a:r>
          </a:p>
        </p:txBody>
      </p:sp>
      <p:sp>
        <p:nvSpPr>
          <p:cNvPr id="276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8077200" cy="4760913"/>
          </a:xfrm>
        </p:spPr>
        <p:txBody>
          <a:bodyPr/>
          <a:lstStyle/>
          <a:p>
            <a:pPr eaLnBrk="1" hangingPunct="1"/>
            <a:r>
              <a:rPr lang="en-US" sz="2400" smtClean="0"/>
              <a:t>The covariance measures the strength of the linear relationship between </a:t>
            </a:r>
            <a:r>
              <a:rPr lang="en-US" sz="2400" b="1" smtClean="0">
                <a:solidFill>
                  <a:schemeClr val="folHlink"/>
                </a:solidFill>
              </a:rPr>
              <a:t>two numerical variables </a:t>
            </a:r>
            <a:r>
              <a:rPr lang="en-US" sz="2400" smtClean="0"/>
              <a:t>(X &amp; Y)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The </a:t>
            </a:r>
            <a:r>
              <a:rPr lang="en-US" sz="2400" smtClean="0">
                <a:solidFill>
                  <a:schemeClr val="folHlink"/>
                </a:solidFill>
              </a:rPr>
              <a:t>sample covariance</a:t>
            </a:r>
            <a:r>
              <a:rPr lang="en-US" sz="2400" smtClean="0"/>
              <a:t>:</a:t>
            </a:r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>
              <a:spcBef>
                <a:spcPct val="40000"/>
              </a:spcBef>
            </a:pPr>
            <a:r>
              <a:rPr lang="en-US" sz="2400" smtClean="0"/>
              <a:t>Only concerned with the strength of the relationship </a:t>
            </a:r>
          </a:p>
          <a:p>
            <a:pPr eaLnBrk="1" hangingPunct="1">
              <a:spcBef>
                <a:spcPct val="40000"/>
              </a:spcBef>
            </a:pPr>
            <a:r>
              <a:rPr lang="en-US" sz="2400" smtClean="0"/>
              <a:t>No causal effect is implied</a:t>
            </a:r>
          </a:p>
        </p:txBody>
      </p:sp>
      <p:graphicFrame>
        <p:nvGraphicFramePr>
          <p:cNvPr id="27650" name="Object 4"/>
          <p:cNvGraphicFramePr>
            <a:graphicFrameLocks noChangeAspect="1"/>
          </p:cNvGraphicFramePr>
          <p:nvPr/>
        </p:nvGraphicFramePr>
        <p:xfrm>
          <a:off x="2133600" y="3657600"/>
          <a:ext cx="4876800" cy="1450975"/>
        </p:xfrm>
        <a:graphic>
          <a:graphicData uri="http://schemas.openxmlformats.org/presentationml/2006/ole">
            <p:oleObj spid="_x0000_s27650" name="Equation" r:id="rId3" imgW="2044440" imgH="609480" progId="Equation.3">
              <p:embed/>
            </p:oleObj>
          </a:graphicData>
        </a:graphic>
      </p:graphicFrame>
      <p:sp>
        <p:nvSpPr>
          <p:cNvPr id="27656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FE09911-EC59-4292-919F-887129314A09}" type="slidenum">
              <a:rPr lang="en-US" smtClean="0">
                <a:latin typeface="Arial" charset="0"/>
              </a:rPr>
              <a:pPr/>
              <a:t>62</a:t>
            </a:fld>
            <a:endParaRPr lang="en-US" smtClean="0">
              <a:latin typeface="Arial" charset="0"/>
            </a:endParaRPr>
          </a:p>
        </p:txBody>
      </p:sp>
      <p:sp>
        <p:nvSpPr>
          <p:cNvPr id="13414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414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83DBE454-B1D0-4F80-A7E8-9B816A920F8F}" type="slidenum">
              <a:rPr lang="en-US" sz="1000"/>
              <a:pPr algn="r" defTabSz="852488"/>
              <a:t>62</a:t>
            </a:fld>
            <a:endParaRPr lang="en-US" sz="1000"/>
          </a:p>
        </p:txBody>
      </p:sp>
      <p:sp>
        <p:nvSpPr>
          <p:cNvPr id="1341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4582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200" b="1" smtClean="0">
                <a:solidFill>
                  <a:schemeClr val="folHlink"/>
                </a:solidFill>
              </a:rPr>
              <a:t>Covariance</a:t>
            </a:r>
            <a:r>
              <a:rPr lang="en-US" sz="3200" smtClean="0"/>
              <a:t> between two variables: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1000" smtClean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sz="1000" smtClean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2400" smtClean="0">
                <a:sym typeface="Symbol" pitchFamily="18" charset="2"/>
              </a:rPr>
              <a:t>cov(X,Y) &gt; 0       X and Y tend to move in the 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same</a:t>
            </a:r>
            <a:r>
              <a:rPr lang="en-US" sz="2400" smtClean="0">
                <a:sym typeface="Symbol" pitchFamily="18" charset="2"/>
              </a:rPr>
              <a:t> direction</a:t>
            </a:r>
          </a:p>
          <a:p>
            <a:pPr eaLnBrk="1" hangingPunct="1">
              <a:lnSpc>
                <a:spcPct val="11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sz="2400" smtClean="0">
                <a:sym typeface="Symbol" pitchFamily="18" charset="2"/>
              </a:rPr>
              <a:t>cov(X,Y) &lt; 0       X and Y tend to move in </a:t>
            </a:r>
            <a:r>
              <a:rPr lang="en-US" sz="2400" smtClean="0">
                <a:solidFill>
                  <a:schemeClr val="folHlink"/>
                </a:solidFill>
                <a:sym typeface="Symbol" pitchFamily="18" charset="2"/>
              </a:rPr>
              <a:t>opposite</a:t>
            </a:r>
            <a:r>
              <a:rPr lang="en-US" sz="2400" smtClean="0">
                <a:sym typeface="Symbol" pitchFamily="18" charset="2"/>
              </a:rPr>
              <a:t> directions</a:t>
            </a:r>
          </a:p>
          <a:p>
            <a:pPr eaLnBrk="1" hangingPunct="1">
              <a:lnSpc>
                <a:spcPct val="11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sz="2400" smtClean="0">
                <a:sym typeface="Symbol" pitchFamily="18" charset="2"/>
              </a:rPr>
              <a:t>cov(X,Y) = 0       X and Y are independent</a:t>
            </a:r>
          </a:p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en-US" sz="3200" smtClean="0">
                <a:sym typeface="Symbol" pitchFamily="18" charset="2"/>
              </a:rPr>
              <a:t>The covariance has a major flaw:</a:t>
            </a:r>
          </a:p>
          <a:p>
            <a:pPr lvl="1" eaLnBrk="1" hangingPunct="1">
              <a:lnSpc>
                <a:spcPct val="110000"/>
              </a:lnSpc>
              <a:spcBef>
                <a:spcPct val="60000"/>
              </a:spcBef>
            </a:pPr>
            <a:r>
              <a:rPr lang="en-US" smtClean="0">
                <a:sym typeface="Symbol" pitchFamily="18" charset="2"/>
              </a:rPr>
              <a:t>It is not possible to determine the relative strength of the relationship from the size of the covariance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smtClean="0">
              <a:sym typeface="Symbol" pitchFamily="18" charset="2"/>
            </a:endParaRPr>
          </a:p>
        </p:txBody>
      </p:sp>
      <p:sp>
        <p:nvSpPr>
          <p:cNvPr id="13414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Interpreting Covariance</a:t>
            </a:r>
          </a:p>
        </p:txBody>
      </p:sp>
      <p:sp>
        <p:nvSpPr>
          <p:cNvPr id="134150" name="Line 4"/>
          <p:cNvSpPr>
            <a:spLocks noChangeShapeType="1"/>
          </p:cNvSpPr>
          <p:nvPr/>
        </p:nvSpPr>
        <p:spPr bwMode="auto">
          <a:xfrm>
            <a:off x="2362200" y="2667000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34151" name="Line 5"/>
          <p:cNvSpPr>
            <a:spLocks noChangeShapeType="1"/>
          </p:cNvSpPr>
          <p:nvPr/>
        </p:nvSpPr>
        <p:spPr bwMode="auto">
          <a:xfrm>
            <a:off x="2362200" y="3276600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34152" name="Line 6"/>
          <p:cNvSpPr>
            <a:spLocks noChangeShapeType="1"/>
          </p:cNvSpPr>
          <p:nvPr/>
        </p:nvSpPr>
        <p:spPr bwMode="auto">
          <a:xfrm>
            <a:off x="2362200" y="3886200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34153" name="TextBox 9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9D3637E5-A2F7-40C0-8DB4-D8EF1ABD2B1C}" type="slidenum">
              <a:rPr lang="en-US" smtClean="0">
                <a:latin typeface="Arial" charset="0"/>
              </a:rPr>
              <a:pPr/>
              <a:t>63</a:t>
            </a:fld>
            <a:endParaRPr lang="en-US" smtClean="0">
              <a:latin typeface="Arial" charset="0"/>
            </a:endParaRPr>
          </a:p>
        </p:txBody>
      </p:sp>
      <p:sp>
        <p:nvSpPr>
          <p:cNvPr id="28679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868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9A315363-E19B-455C-87EC-4D082ADA890E}" type="slidenum">
              <a:rPr lang="en-US" sz="1000"/>
              <a:pPr algn="r" defTabSz="852488"/>
              <a:t>63</a:t>
            </a:fld>
            <a:endParaRPr lang="en-US" sz="1000"/>
          </a:p>
        </p:txBody>
      </p:sp>
      <p:sp>
        <p:nvSpPr>
          <p:cNvPr id="28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Coefficient of Correlation</a:t>
            </a:r>
          </a:p>
        </p:txBody>
      </p:sp>
      <p:sp>
        <p:nvSpPr>
          <p:cNvPr id="28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532313"/>
          </a:xfrm>
        </p:spPr>
        <p:txBody>
          <a:bodyPr/>
          <a:lstStyle/>
          <a:p>
            <a:pPr eaLnBrk="1" hangingPunct="1"/>
            <a:r>
              <a:rPr lang="en-US" smtClean="0"/>
              <a:t>Measures the relative strength of the linear relationship between two numerical variables</a:t>
            </a:r>
          </a:p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Sample coefficient of correlation</a:t>
            </a:r>
            <a:r>
              <a:rPr lang="en-US" smtClean="0"/>
              <a:t>:</a:t>
            </a:r>
          </a:p>
          <a:p>
            <a:pPr eaLnBrk="1" hangingPunct="1">
              <a:lnSpc>
                <a:spcPct val="80000"/>
              </a:lnSpc>
            </a:pPr>
            <a:endParaRPr lang="en-US" smtClean="0"/>
          </a:p>
          <a:p>
            <a:pPr eaLnBrk="1" hangingPunct="1">
              <a:lnSpc>
                <a:spcPct val="80000"/>
              </a:lnSpc>
            </a:pPr>
            <a:endParaRPr lang="en-US" smtClean="0"/>
          </a:p>
          <a:p>
            <a:pPr eaLnBrk="1" hangingPunct="1">
              <a:lnSpc>
                <a:spcPct val="80000"/>
              </a:lnSpc>
            </a:pPr>
            <a:endParaRPr lang="en-US" sz="16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where</a:t>
            </a: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3276600" y="3352800"/>
          <a:ext cx="2339975" cy="1089025"/>
        </p:xfrm>
        <a:graphic>
          <a:graphicData uri="http://schemas.openxmlformats.org/presentationml/2006/ole">
            <p:oleObj spid="_x0000_s28674" name="Equation" r:id="rId3" imgW="927000" imgH="431640" progId="Equation.3">
              <p:embed/>
            </p:oleObj>
          </a:graphicData>
        </a:graphic>
      </p:graphicFrame>
      <p:graphicFrame>
        <p:nvGraphicFramePr>
          <p:cNvPr id="28675" name="Object 6"/>
          <p:cNvGraphicFramePr>
            <a:graphicFrameLocks noChangeAspect="1"/>
          </p:cNvGraphicFramePr>
          <p:nvPr/>
        </p:nvGraphicFramePr>
        <p:xfrm>
          <a:off x="4038600" y="5176838"/>
          <a:ext cx="2209800" cy="1147762"/>
        </p:xfrm>
        <a:graphic>
          <a:graphicData uri="http://schemas.openxmlformats.org/presentationml/2006/ole">
            <p:oleObj spid="_x0000_s28675" name="Equation" r:id="rId4" imgW="1244520" imgH="647640" progId="Equation.3">
              <p:embed/>
            </p:oleObj>
          </a:graphicData>
        </a:graphic>
      </p:graphicFrame>
      <p:graphicFrame>
        <p:nvGraphicFramePr>
          <p:cNvPr id="28676" name="Object 7"/>
          <p:cNvGraphicFramePr>
            <a:graphicFrameLocks noChangeAspect="1"/>
          </p:cNvGraphicFramePr>
          <p:nvPr/>
        </p:nvGraphicFramePr>
        <p:xfrm>
          <a:off x="304800" y="5164138"/>
          <a:ext cx="3509963" cy="1160462"/>
        </p:xfrm>
        <a:graphic>
          <a:graphicData uri="http://schemas.openxmlformats.org/presentationml/2006/ole">
            <p:oleObj spid="_x0000_s28676" name="Equation" r:id="rId5" imgW="1955520" imgH="647640" progId="Equation.3">
              <p:embed/>
            </p:oleObj>
          </a:graphicData>
        </a:graphic>
      </p:graphicFrame>
      <p:graphicFrame>
        <p:nvGraphicFramePr>
          <p:cNvPr id="28677" name="Object 8"/>
          <p:cNvGraphicFramePr>
            <a:graphicFrameLocks noChangeAspect="1"/>
          </p:cNvGraphicFramePr>
          <p:nvPr/>
        </p:nvGraphicFramePr>
        <p:xfrm>
          <a:off x="6424613" y="5181600"/>
          <a:ext cx="2208212" cy="1147763"/>
        </p:xfrm>
        <a:graphic>
          <a:graphicData uri="http://schemas.openxmlformats.org/presentationml/2006/ole">
            <p:oleObj spid="_x0000_s28677" name="Equation" r:id="rId6" imgW="1244520" imgH="647640" progId="Equation.3">
              <p:embed/>
            </p:oleObj>
          </a:graphicData>
        </a:graphic>
      </p:graphicFrame>
      <p:sp>
        <p:nvSpPr>
          <p:cNvPr id="28683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95B0FE01-3E5E-45FD-870F-DFCDA3641A70}" type="slidenum">
              <a:rPr lang="en-US" smtClean="0">
                <a:latin typeface="Arial" charset="0"/>
              </a:rPr>
              <a:pPr/>
              <a:t>64</a:t>
            </a:fld>
            <a:endParaRPr lang="en-US" smtClean="0">
              <a:latin typeface="Arial" charset="0"/>
            </a:endParaRPr>
          </a:p>
        </p:txBody>
      </p:sp>
      <p:sp>
        <p:nvSpPr>
          <p:cNvPr id="13721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721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CCF1A04-53C4-4161-A207-9BB58AF7DA0B}" type="slidenum">
              <a:rPr lang="en-US" sz="1000"/>
              <a:pPr algn="r" defTabSz="852488"/>
              <a:t>64</a:t>
            </a:fld>
            <a:endParaRPr lang="en-US" sz="1000"/>
          </a:p>
        </p:txBody>
      </p:sp>
      <p:sp>
        <p:nvSpPr>
          <p:cNvPr id="13722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793038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Features of the</a:t>
            </a:r>
            <a:br>
              <a:rPr lang="en-US" smtClean="0"/>
            </a:br>
            <a:r>
              <a:rPr lang="en-US" smtClean="0"/>
              <a:t>Coefficient of Correlation</a:t>
            </a:r>
          </a:p>
        </p:txBody>
      </p:sp>
      <p:sp>
        <p:nvSpPr>
          <p:cNvPr id="137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8077200" cy="45323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smtClean="0"/>
              <a:t>The population coefficient of correlation is referred as </a:t>
            </a:r>
            <a:r>
              <a:rPr lang="el-GR" sz="2400" smtClean="0">
                <a:cs typeface="Arial" charset="0"/>
              </a:rPr>
              <a:t>ρ</a:t>
            </a:r>
            <a:r>
              <a:rPr lang="en-US" sz="2400" smtClean="0">
                <a:cs typeface="Arial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>
                <a:cs typeface="Arial" charset="0"/>
              </a:rPr>
              <a:t>The sample coefficient of correlation is referred to as r.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>
                <a:cs typeface="Arial" charset="0"/>
              </a:rPr>
              <a:t>Either </a:t>
            </a:r>
            <a:r>
              <a:rPr lang="el-GR" sz="2400" smtClean="0">
                <a:cs typeface="Arial" charset="0"/>
              </a:rPr>
              <a:t>ρ</a:t>
            </a:r>
            <a:r>
              <a:rPr lang="en-US" sz="2400" smtClean="0">
                <a:cs typeface="Arial" charset="0"/>
              </a:rPr>
              <a:t> or r have the following features:</a:t>
            </a:r>
            <a:endParaRPr lang="en-US" sz="2400" smtClean="0"/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Unit free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Ranges between –1 and 1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The closer to –1, the stronger the negative linear relationship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The closer to 1, the stronger the positive linear relationship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000" smtClean="0"/>
              <a:t>The closer to 0, the weaker the linear relationship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sz="2400" smtClean="0"/>
          </a:p>
        </p:txBody>
      </p:sp>
      <p:sp>
        <p:nvSpPr>
          <p:cNvPr id="137222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8E0F50EC-1585-4D31-9540-E65F3BF4DAB0}" type="slidenum">
              <a:rPr lang="en-US" smtClean="0">
                <a:latin typeface="Arial" charset="0"/>
              </a:rPr>
              <a:pPr/>
              <a:t>65</a:t>
            </a:fld>
            <a:endParaRPr lang="en-US" smtClean="0">
              <a:latin typeface="Arial" charset="0"/>
            </a:endParaRPr>
          </a:p>
        </p:txBody>
      </p:sp>
      <p:sp>
        <p:nvSpPr>
          <p:cNvPr id="138242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824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BD9EF91A-63F0-4129-9CA3-757087170F93}" type="slidenum">
              <a:rPr lang="en-US" sz="1000"/>
              <a:pPr algn="r" defTabSz="852488"/>
              <a:t>65</a:t>
            </a:fld>
            <a:endParaRPr lang="en-US" sz="1000"/>
          </a:p>
        </p:txBody>
      </p:sp>
      <p:sp>
        <p:nvSpPr>
          <p:cNvPr id="138244" name="Line 108"/>
          <p:cNvSpPr>
            <a:spLocks noChangeShapeType="1"/>
          </p:cNvSpPr>
          <p:nvPr/>
        </p:nvSpPr>
        <p:spPr bwMode="auto">
          <a:xfrm>
            <a:off x="6394450" y="51816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4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Scatter Plots of  Sample Data with Various Coefficients of Correlation</a:t>
            </a:r>
          </a:p>
        </p:txBody>
      </p:sp>
      <p:sp>
        <p:nvSpPr>
          <p:cNvPr id="138246" name="Line 4"/>
          <p:cNvSpPr>
            <a:spLocks noChangeShapeType="1"/>
          </p:cNvSpPr>
          <p:nvPr/>
        </p:nvSpPr>
        <p:spPr bwMode="auto">
          <a:xfrm>
            <a:off x="1936750" y="19859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47" name="Line 5"/>
          <p:cNvSpPr>
            <a:spLocks noChangeShapeType="1"/>
          </p:cNvSpPr>
          <p:nvPr/>
        </p:nvSpPr>
        <p:spPr bwMode="auto">
          <a:xfrm flipH="1" flipV="1">
            <a:off x="1936750" y="21336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48" name="Oval 6"/>
          <p:cNvSpPr>
            <a:spLocks noChangeArrowheads="1"/>
          </p:cNvSpPr>
          <p:nvPr/>
        </p:nvSpPr>
        <p:spPr bwMode="auto">
          <a:xfrm rot="7282380" flipH="1">
            <a:off x="4054475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49" name="Oval 7"/>
          <p:cNvSpPr>
            <a:spLocks noChangeArrowheads="1"/>
          </p:cNvSpPr>
          <p:nvPr/>
        </p:nvSpPr>
        <p:spPr bwMode="auto">
          <a:xfrm rot="7282380" flipH="1">
            <a:off x="3292475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50" name="Oval 8"/>
          <p:cNvSpPr>
            <a:spLocks noChangeArrowheads="1"/>
          </p:cNvSpPr>
          <p:nvPr/>
        </p:nvSpPr>
        <p:spPr bwMode="auto">
          <a:xfrm rot="7282380" flipH="1">
            <a:off x="2987675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51" name="Oval 9"/>
          <p:cNvSpPr>
            <a:spLocks noChangeArrowheads="1"/>
          </p:cNvSpPr>
          <p:nvPr/>
        </p:nvSpPr>
        <p:spPr bwMode="auto">
          <a:xfrm rot="7282380" flipH="1">
            <a:off x="1997075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52" name="Oval 10"/>
          <p:cNvSpPr>
            <a:spLocks noChangeArrowheads="1"/>
          </p:cNvSpPr>
          <p:nvPr/>
        </p:nvSpPr>
        <p:spPr bwMode="auto">
          <a:xfrm rot="7282380" flipH="1">
            <a:off x="2378075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53" name="Oval 11"/>
          <p:cNvSpPr>
            <a:spLocks noChangeArrowheads="1"/>
          </p:cNvSpPr>
          <p:nvPr/>
        </p:nvSpPr>
        <p:spPr bwMode="auto">
          <a:xfrm rot="7282380" flipH="1">
            <a:off x="2682875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GB">
              <a:solidFill>
                <a:schemeClr val="tx2"/>
              </a:solidFill>
            </a:endParaRPr>
          </a:p>
        </p:txBody>
      </p:sp>
      <p:sp>
        <p:nvSpPr>
          <p:cNvPr id="138254" name="Text Box 12"/>
          <p:cNvSpPr txBox="1">
            <a:spLocks noChangeArrowheads="1"/>
          </p:cNvSpPr>
          <p:nvPr/>
        </p:nvSpPr>
        <p:spPr bwMode="auto">
          <a:xfrm>
            <a:off x="1692275" y="16002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138255" name="Line 13"/>
          <p:cNvSpPr>
            <a:spLocks noChangeShapeType="1"/>
          </p:cNvSpPr>
          <p:nvPr/>
        </p:nvSpPr>
        <p:spPr bwMode="auto">
          <a:xfrm>
            <a:off x="1920875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56" name="Oval 14"/>
          <p:cNvSpPr>
            <a:spLocks noChangeArrowheads="1"/>
          </p:cNvSpPr>
          <p:nvPr/>
        </p:nvSpPr>
        <p:spPr bwMode="auto">
          <a:xfrm rot="7282380" flipH="1">
            <a:off x="3673475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endParaRPr lang="en-GB"/>
          </a:p>
        </p:txBody>
      </p:sp>
      <p:sp>
        <p:nvSpPr>
          <p:cNvPr id="138257" name="Text Box 15"/>
          <p:cNvSpPr txBox="1">
            <a:spLocks noChangeArrowheads="1"/>
          </p:cNvSpPr>
          <p:nvPr/>
        </p:nvSpPr>
        <p:spPr bwMode="auto">
          <a:xfrm>
            <a:off x="4183063" y="32766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258" name="Line 16"/>
          <p:cNvSpPr>
            <a:spLocks noChangeShapeType="1"/>
          </p:cNvSpPr>
          <p:nvPr/>
        </p:nvSpPr>
        <p:spPr bwMode="auto">
          <a:xfrm>
            <a:off x="4891088" y="19859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59" name="Line 17"/>
          <p:cNvSpPr>
            <a:spLocks noChangeShapeType="1"/>
          </p:cNvSpPr>
          <p:nvPr/>
        </p:nvSpPr>
        <p:spPr bwMode="auto">
          <a:xfrm flipH="1" flipV="1">
            <a:off x="4891088" y="21336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60" name="Oval 18"/>
          <p:cNvSpPr>
            <a:spLocks noChangeArrowheads="1"/>
          </p:cNvSpPr>
          <p:nvPr/>
        </p:nvSpPr>
        <p:spPr bwMode="auto">
          <a:xfrm rot="-7282380">
            <a:off x="7008813" y="3124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1" name="Oval 19"/>
          <p:cNvSpPr>
            <a:spLocks noChangeArrowheads="1"/>
          </p:cNvSpPr>
          <p:nvPr/>
        </p:nvSpPr>
        <p:spPr bwMode="auto">
          <a:xfrm rot="-7282380">
            <a:off x="69326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2" name="Oval 20"/>
          <p:cNvSpPr>
            <a:spLocks noChangeArrowheads="1"/>
          </p:cNvSpPr>
          <p:nvPr/>
        </p:nvSpPr>
        <p:spPr bwMode="auto">
          <a:xfrm rot="-7282380">
            <a:off x="5103813" y="175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3" name="Oval 21"/>
          <p:cNvSpPr>
            <a:spLocks noChangeArrowheads="1"/>
          </p:cNvSpPr>
          <p:nvPr/>
        </p:nvSpPr>
        <p:spPr bwMode="auto">
          <a:xfrm rot="-7282380">
            <a:off x="52562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4" name="Oval 22"/>
          <p:cNvSpPr>
            <a:spLocks noChangeArrowheads="1"/>
          </p:cNvSpPr>
          <p:nvPr/>
        </p:nvSpPr>
        <p:spPr bwMode="auto">
          <a:xfrm rot="-7282380">
            <a:off x="6627813" y="2971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5" name="Oval 23"/>
          <p:cNvSpPr>
            <a:spLocks noChangeArrowheads="1"/>
          </p:cNvSpPr>
          <p:nvPr/>
        </p:nvSpPr>
        <p:spPr bwMode="auto">
          <a:xfrm rot="-7282380">
            <a:off x="49514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6" name="Oval 24"/>
          <p:cNvSpPr>
            <a:spLocks noChangeArrowheads="1"/>
          </p:cNvSpPr>
          <p:nvPr/>
        </p:nvSpPr>
        <p:spPr bwMode="auto">
          <a:xfrm rot="-7282380">
            <a:off x="62468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7" name="Oval 25"/>
          <p:cNvSpPr>
            <a:spLocks noChangeArrowheads="1"/>
          </p:cNvSpPr>
          <p:nvPr/>
        </p:nvSpPr>
        <p:spPr bwMode="auto">
          <a:xfrm rot="-7282380">
            <a:off x="57134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8" name="Oval 26"/>
          <p:cNvSpPr>
            <a:spLocks noChangeArrowheads="1"/>
          </p:cNvSpPr>
          <p:nvPr/>
        </p:nvSpPr>
        <p:spPr bwMode="auto">
          <a:xfrm rot="-7282380">
            <a:off x="5942013" y="198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69" name="Oval 27"/>
          <p:cNvSpPr>
            <a:spLocks noChangeArrowheads="1"/>
          </p:cNvSpPr>
          <p:nvPr/>
        </p:nvSpPr>
        <p:spPr bwMode="auto">
          <a:xfrm rot="-7282380">
            <a:off x="678021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70" name="Oval 28"/>
          <p:cNvSpPr>
            <a:spLocks noChangeArrowheads="1"/>
          </p:cNvSpPr>
          <p:nvPr/>
        </p:nvSpPr>
        <p:spPr bwMode="auto">
          <a:xfrm rot="-7282380">
            <a:off x="53324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71" name="Oval 29"/>
          <p:cNvSpPr>
            <a:spLocks noChangeArrowheads="1"/>
          </p:cNvSpPr>
          <p:nvPr/>
        </p:nvSpPr>
        <p:spPr bwMode="auto">
          <a:xfrm rot="-7282380">
            <a:off x="6551613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/>
          <a:p>
            <a:pPr algn="ctr" eaLnBrk="0" hangingPunct="0"/>
            <a:endParaRPr lang="en-GB">
              <a:solidFill>
                <a:schemeClr val="tx2"/>
              </a:solidFill>
            </a:endParaRPr>
          </a:p>
        </p:txBody>
      </p:sp>
      <p:sp>
        <p:nvSpPr>
          <p:cNvPr id="138272" name="Oval 30"/>
          <p:cNvSpPr>
            <a:spLocks noChangeArrowheads="1"/>
          </p:cNvSpPr>
          <p:nvPr/>
        </p:nvSpPr>
        <p:spPr bwMode="auto">
          <a:xfrm rot="-7282380">
            <a:off x="56372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73" name="Oval 31"/>
          <p:cNvSpPr>
            <a:spLocks noChangeArrowheads="1"/>
          </p:cNvSpPr>
          <p:nvPr/>
        </p:nvSpPr>
        <p:spPr bwMode="auto">
          <a:xfrm rot="-7282380">
            <a:off x="601821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74" name="Oval 32"/>
          <p:cNvSpPr>
            <a:spLocks noChangeArrowheads="1"/>
          </p:cNvSpPr>
          <p:nvPr/>
        </p:nvSpPr>
        <p:spPr bwMode="auto">
          <a:xfrm rot="-7282380">
            <a:off x="57896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GB"/>
          </a:p>
        </p:txBody>
      </p:sp>
      <p:sp>
        <p:nvSpPr>
          <p:cNvPr id="138275" name="Text Box 33"/>
          <p:cNvSpPr txBox="1">
            <a:spLocks noChangeArrowheads="1"/>
          </p:cNvSpPr>
          <p:nvPr/>
        </p:nvSpPr>
        <p:spPr bwMode="auto">
          <a:xfrm>
            <a:off x="4646613" y="15240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138276" name="Line 34"/>
          <p:cNvSpPr>
            <a:spLocks noChangeShapeType="1"/>
          </p:cNvSpPr>
          <p:nvPr/>
        </p:nvSpPr>
        <p:spPr bwMode="auto">
          <a:xfrm>
            <a:off x="4875213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77" name="Text Box 35"/>
          <p:cNvSpPr txBox="1">
            <a:spLocks noChangeArrowheads="1"/>
          </p:cNvSpPr>
          <p:nvPr/>
        </p:nvSpPr>
        <p:spPr bwMode="auto">
          <a:xfrm>
            <a:off x="7137400" y="32766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278" name="Line 52"/>
          <p:cNvSpPr>
            <a:spLocks noChangeShapeType="1"/>
          </p:cNvSpPr>
          <p:nvPr/>
        </p:nvSpPr>
        <p:spPr bwMode="auto">
          <a:xfrm>
            <a:off x="3462338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79" name="Line 53"/>
          <p:cNvSpPr>
            <a:spLocks noChangeShapeType="1"/>
          </p:cNvSpPr>
          <p:nvPr/>
        </p:nvSpPr>
        <p:spPr bwMode="auto">
          <a:xfrm flipV="1">
            <a:off x="3462338" y="47244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80" name="Oval 54"/>
          <p:cNvSpPr>
            <a:spLocks noChangeArrowheads="1"/>
          </p:cNvSpPr>
          <p:nvPr/>
        </p:nvSpPr>
        <p:spPr bwMode="auto">
          <a:xfrm rot="-7282380">
            <a:off x="3522663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1" name="Oval 55"/>
          <p:cNvSpPr>
            <a:spLocks noChangeArrowheads="1"/>
          </p:cNvSpPr>
          <p:nvPr/>
        </p:nvSpPr>
        <p:spPr bwMode="auto">
          <a:xfrm rot="-7282380">
            <a:off x="3751263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2" name="Oval 56"/>
          <p:cNvSpPr>
            <a:spLocks noChangeArrowheads="1"/>
          </p:cNvSpPr>
          <p:nvPr/>
        </p:nvSpPr>
        <p:spPr bwMode="auto">
          <a:xfrm rot="-7282380">
            <a:off x="5410200" y="4114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3" name="Oval 57"/>
          <p:cNvSpPr>
            <a:spLocks noChangeArrowheads="1"/>
          </p:cNvSpPr>
          <p:nvPr/>
        </p:nvSpPr>
        <p:spPr bwMode="auto">
          <a:xfrm rot="-7282380">
            <a:off x="5580063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4" name="Oval 58"/>
          <p:cNvSpPr>
            <a:spLocks noChangeArrowheads="1"/>
          </p:cNvSpPr>
          <p:nvPr/>
        </p:nvSpPr>
        <p:spPr bwMode="auto">
          <a:xfrm rot="-7282380">
            <a:off x="4038600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5" name="Oval 59"/>
          <p:cNvSpPr>
            <a:spLocks noChangeArrowheads="1"/>
          </p:cNvSpPr>
          <p:nvPr/>
        </p:nvSpPr>
        <p:spPr bwMode="auto">
          <a:xfrm rot="-7282380">
            <a:off x="57912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6" name="Oval 60"/>
          <p:cNvSpPr>
            <a:spLocks noChangeArrowheads="1"/>
          </p:cNvSpPr>
          <p:nvPr/>
        </p:nvSpPr>
        <p:spPr bwMode="auto">
          <a:xfrm rot="-7282380">
            <a:off x="4953000" y="556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7" name="Oval 61"/>
          <p:cNvSpPr>
            <a:spLocks noChangeArrowheads="1"/>
          </p:cNvSpPr>
          <p:nvPr/>
        </p:nvSpPr>
        <p:spPr bwMode="auto">
          <a:xfrm rot="-7282380">
            <a:off x="50292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8" name="Oval 62"/>
          <p:cNvSpPr>
            <a:spLocks noChangeArrowheads="1"/>
          </p:cNvSpPr>
          <p:nvPr/>
        </p:nvSpPr>
        <p:spPr bwMode="auto">
          <a:xfrm rot="-7282380">
            <a:off x="44196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89" name="Oval 63"/>
          <p:cNvSpPr>
            <a:spLocks noChangeArrowheads="1"/>
          </p:cNvSpPr>
          <p:nvPr/>
        </p:nvSpPr>
        <p:spPr bwMode="auto">
          <a:xfrm rot="-7282380">
            <a:off x="3581400" y="5029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0" name="Oval 64"/>
          <p:cNvSpPr>
            <a:spLocks noChangeArrowheads="1"/>
          </p:cNvSpPr>
          <p:nvPr/>
        </p:nvSpPr>
        <p:spPr bwMode="auto">
          <a:xfrm rot="-7282380">
            <a:off x="3810000" y="4572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1" name="Oval 65"/>
          <p:cNvSpPr>
            <a:spLocks noChangeArrowheads="1"/>
          </p:cNvSpPr>
          <p:nvPr/>
        </p:nvSpPr>
        <p:spPr bwMode="auto">
          <a:xfrm rot="-7282380">
            <a:off x="41910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 eaLnBrk="0" hangingPunct="0"/>
            <a:endParaRPr lang="en-GB">
              <a:solidFill>
                <a:schemeClr val="tx2"/>
              </a:solidFill>
            </a:endParaRPr>
          </a:p>
        </p:txBody>
      </p:sp>
      <p:sp>
        <p:nvSpPr>
          <p:cNvPr id="138292" name="Oval 66"/>
          <p:cNvSpPr>
            <a:spLocks noChangeArrowheads="1"/>
          </p:cNvSpPr>
          <p:nvPr/>
        </p:nvSpPr>
        <p:spPr bwMode="auto">
          <a:xfrm rot="-7282380">
            <a:off x="5334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3" name="Oval 67"/>
          <p:cNvSpPr>
            <a:spLocks noChangeArrowheads="1"/>
          </p:cNvSpPr>
          <p:nvPr/>
        </p:nvSpPr>
        <p:spPr bwMode="auto">
          <a:xfrm rot="-7282380">
            <a:off x="45894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4" name="Oval 68"/>
          <p:cNvSpPr>
            <a:spLocks noChangeArrowheads="1"/>
          </p:cNvSpPr>
          <p:nvPr/>
        </p:nvSpPr>
        <p:spPr bwMode="auto">
          <a:xfrm rot="-7282380">
            <a:off x="4572000" y="579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5" name="Text Box 69"/>
          <p:cNvSpPr txBox="1">
            <a:spLocks noChangeArrowheads="1"/>
          </p:cNvSpPr>
          <p:nvPr/>
        </p:nvSpPr>
        <p:spPr bwMode="auto">
          <a:xfrm>
            <a:off x="3194050" y="4343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138296" name="Line 70"/>
          <p:cNvSpPr>
            <a:spLocks noChangeShapeType="1"/>
          </p:cNvSpPr>
          <p:nvPr/>
        </p:nvSpPr>
        <p:spPr bwMode="auto">
          <a:xfrm>
            <a:off x="34464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297" name="Oval 71"/>
          <p:cNvSpPr>
            <a:spLocks noChangeArrowheads="1"/>
          </p:cNvSpPr>
          <p:nvPr/>
        </p:nvSpPr>
        <p:spPr bwMode="auto">
          <a:xfrm rot="-7282380">
            <a:off x="53340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298" name="Text Box 72"/>
          <p:cNvSpPr txBox="1">
            <a:spLocks noChangeArrowheads="1"/>
          </p:cNvSpPr>
          <p:nvPr/>
        </p:nvSpPr>
        <p:spPr bwMode="auto">
          <a:xfrm>
            <a:off x="5708650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299" name="Line 73"/>
          <p:cNvSpPr>
            <a:spLocks noChangeShapeType="1"/>
          </p:cNvSpPr>
          <p:nvPr/>
        </p:nvSpPr>
        <p:spPr bwMode="auto">
          <a:xfrm>
            <a:off x="396875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300" name="Line 74"/>
          <p:cNvSpPr>
            <a:spLocks noChangeShapeType="1"/>
          </p:cNvSpPr>
          <p:nvPr/>
        </p:nvSpPr>
        <p:spPr bwMode="auto">
          <a:xfrm flipV="1">
            <a:off x="396875" y="47244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301" name="Oval 75"/>
          <p:cNvSpPr>
            <a:spLocks noChangeArrowheads="1"/>
          </p:cNvSpPr>
          <p:nvPr/>
        </p:nvSpPr>
        <p:spPr bwMode="auto">
          <a:xfrm rot="-7282380">
            <a:off x="457200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2" name="Oval 76"/>
          <p:cNvSpPr>
            <a:spLocks noChangeArrowheads="1"/>
          </p:cNvSpPr>
          <p:nvPr/>
        </p:nvSpPr>
        <p:spPr bwMode="auto">
          <a:xfrm rot="-7282380">
            <a:off x="762000" y="5334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3" name="Oval 77"/>
          <p:cNvSpPr>
            <a:spLocks noChangeArrowheads="1"/>
          </p:cNvSpPr>
          <p:nvPr/>
        </p:nvSpPr>
        <p:spPr bwMode="auto">
          <a:xfrm rot="-7282380">
            <a:off x="2819400" y="4648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4" name="Oval 78"/>
          <p:cNvSpPr>
            <a:spLocks noChangeArrowheads="1"/>
          </p:cNvSpPr>
          <p:nvPr/>
        </p:nvSpPr>
        <p:spPr bwMode="auto">
          <a:xfrm rot="-7282380">
            <a:off x="2438400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5" name="Oval 79"/>
          <p:cNvSpPr>
            <a:spLocks noChangeArrowheads="1"/>
          </p:cNvSpPr>
          <p:nvPr/>
        </p:nvSpPr>
        <p:spPr bwMode="auto">
          <a:xfrm rot="-7282380">
            <a:off x="10668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 eaLnBrk="0" hangingPunct="0"/>
            <a:endParaRPr lang="en-GB">
              <a:solidFill>
                <a:schemeClr val="tx2"/>
              </a:solidFill>
            </a:endParaRPr>
          </a:p>
        </p:txBody>
      </p:sp>
      <p:sp>
        <p:nvSpPr>
          <p:cNvPr id="138306" name="Oval 80"/>
          <p:cNvSpPr>
            <a:spLocks noChangeArrowheads="1"/>
          </p:cNvSpPr>
          <p:nvPr/>
        </p:nvSpPr>
        <p:spPr bwMode="auto">
          <a:xfrm rot="-7282380">
            <a:off x="17526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7" name="Oval 81"/>
          <p:cNvSpPr>
            <a:spLocks noChangeArrowheads="1"/>
          </p:cNvSpPr>
          <p:nvPr/>
        </p:nvSpPr>
        <p:spPr bwMode="auto">
          <a:xfrm rot="-7282380">
            <a:off x="1447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08" name="Text Box 82"/>
          <p:cNvSpPr txBox="1">
            <a:spLocks noChangeArrowheads="1"/>
          </p:cNvSpPr>
          <p:nvPr/>
        </p:nvSpPr>
        <p:spPr bwMode="auto">
          <a:xfrm>
            <a:off x="52388" y="4343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138309" name="Line 83"/>
          <p:cNvSpPr>
            <a:spLocks noChangeShapeType="1"/>
          </p:cNvSpPr>
          <p:nvPr/>
        </p:nvSpPr>
        <p:spPr bwMode="auto">
          <a:xfrm>
            <a:off x="381000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310" name="Oval 84"/>
          <p:cNvSpPr>
            <a:spLocks noChangeArrowheads="1"/>
          </p:cNvSpPr>
          <p:nvPr/>
        </p:nvSpPr>
        <p:spPr bwMode="auto">
          <a:xfrm rot="-7282380">
            <a:off x="21336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11" name="Text Box 85"/>
          <p:cNvSpPr txBox="1">
            <a:spLocks noChangeArrowheads="1"/>
          </p:cNvSpPr>
          <p:nvPr/>
        </p:nvSpPr>
        <p:spPr bwMode="auto">
          <a:xfrm>
            <a:off x="2643188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312" name="Text Box 87"/>
          <p:cNvSpPr txBox="1">
            <a:spLocks noChangeArrowheads="1"/>
          </p:cNvSpPr>
          <p:nvPr/>
        </p:nvSpPr>
        <p:spPr bwMode="auto">
          <a:xfrm>
            <a:off x="2590800" y="3581400"/>
            <a:ext cx="9159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r = -1</a:t>
            </a:r>
          </a:p>
        </p:txBody>
      </p:sp>
      <p:sp>
        <p:nvSpPr>
          <p:cNvPr id="138313" name="Text Box 88"/>
          <p:cNvSpPr txBox="1">
            <a:spLocks noChangeArrowheads="1"/>
          </p:cNvSpPr>
          <p:nvPr/>
        </p:nvSpPr>
        <p:spPr bwMode="auto">
          <a:xfrm>
            <a:off x="5551488" y="3590925"/>
            <a:ext cx="10001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r = -.6</a:t>
            </a:r>
          </a:p>
        </p:txBody>
      </p:sp>
      <p:sp>
        <p:nvSpPr>
          <p:cNvPr id="138314" name="Text Box 90"/>
          <p:cNvSpPr txBox="1">
            <a:spLocks noChangeArrowheads="1"/>
          </p:cNvSpPr>
          <p:nvPr/>
        </p:nvSpPr>
        <p:spPr bwMode="auto">
          <a:xfrm>
            <a:off x="4122738" y="6161088"/>
            <a:ext cx="10763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r = +.3</a:t>
            </a:r>
          </a:p>
        </p:txBody>
      </p:sp>
      <p:sp>
        <p:nvSpPr>
          <p:cNvPr id="138315" name="Text Box 91"/>
          <p:cNvSpPr txBox="1">
            <a:spLocks noChangeArrowheads="1"/>
          </p:cNvSpPr>
          <p:nvPr/>
        </p:nvSpPr>
        <p:spPr bwMode="auto">
          <a:xfrm>
            <a:off x="1057275" y="6146800"/>
            <a:ext cx="9921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r = +1</a:t>
            </a:r>
          </a:p>
        </p:txBody>
      </p:sp>
      <p:sp>
        <p:nvSpPr>
          <p:cNvPr id="138316" name="Line 92"/>
          <p:cNvSpPr>
            <a:spLocks noChangeShapeType="1"/>
          </p:cNvSpPr>
          <p:nvPr/>
        </p:nvSpPr>
        <p:spPr bwMode="auto">
          <a:xfrm>
            <a:off x="6357938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317" name="Oval 95"/>
          <p:cNvSpPr>
            <a:spLocks noChangeArrowheads="1"/>
          </p:cNvSpPr>
          <p:nvPr/>
        </p:nvSpPr>
        <p:spPr bwMode="auto">
          <a:xfrm rot="-7282380">
            <a:off x="85344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18" name="Oval 96"/>
          <p:cNvSpPr>
            <a:spLocks noChangeArrowheads="1"/>
          </p:cNvSpPr>
          <p:nvPr/>
        </p:nvSpPr>
        <p:spPr bwMode="auto">
          <a:xfrm rot="-7282380">
            <a:off x="8001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19" name="Oval 99"/>
          <p:cNvSpPr>
            <a:spLocks noChangeArrowheads="1"/>
          </p:cNvSpPr>
          <p:nvPr/>
        </p:nvSpPr>
        <p:spPr bwMode="auto">
          <a:xfrm rot="-7282380">
            <a:off x="65532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20" name="Oval 100"/>
          <p:cNvSpPr>
            <a:spLocks noChangeArrowheads="1"/>
          </p:cNvSpPr>
          <p:nvPr/>
        </p:nvSpPr>
        <p:spPr bwMode="auto">
          <a:xfrm rot="-7282380">
            <a:off x="6858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21" name="Oval 101"/>
          <p:cNvSpPr>
            <a:spLocks noChangeArrowheads="1"/>
          </p:cNvSpPr>
          <p:nvPr/>
        </p:nvSpPr>
        <p:spPr bwMode="auto">
          <a:xfrm rot="-7282380">
            <a:off x="7162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 eaLnBrk="0" hangingPunct="0"/>
            <a:endParaRPr lang="en-GB">
              <a:solidFill>
                <a:schemeClr val="tx2"/>
              </a:solidFill>
            </a:endParaRPr>
          </a:p>
        </p:txBody>
      </p:sp>
      <p:sp>
        <p:nvSpPr>
          <p:cNvPr id="138322" name="Oval 102"/>
          <p:cNvSpPr>
            <a:spLocks noChangeArrowheads="1"/>
          </p:cNvSpPr>
          <p:nvPr/>
        </p:nvSpPr>
        <p:spPr bwMode="auto">
          <a:xfrm rot="-7282380">
            <a:off x="74850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23" name="Text Box 104"/>
          <p:cNvSpPr txBox="1">
            <a:spLocks noChangeArrowheads="1"/>
          </p:cNvSpPr>
          <p:nvPr/>
        </p:nvSpPr>
        <p:spPr bwMode="auto">
          <a:xfrm>
            <a:off x="6113463" y="41148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138324" name="Line 105"/>
          <p:cNvSpPr>
            <a:spLocks noChangeShapeType="1"/>
          </p:cNvSpPr>
          <p:nvPr/>
        </p:nvSpPr>
        <p:spPr bwMode="auto">
          <a:xfrm>
            <a:off x="63420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8325" name="Text Box 107"/>
          <p:cNvSpPr txBox="1">
            <a:spLocks noChangeArrowheads="1"/>
          </p:cNvSpPr>
          <p:nvPr/>
        </p:nvSpPr>
        <p:spPr bwMode="auto">
          <a:xfrm>
            <a:off x="8604250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326" name="Text Box 109"/>
          <p:cNvSpPr txBox="1">
            <a:spLocks noChangeArrowheads="1"/>
          </p:cNvSpPr>
          <p:nvPr/>
        </p:nvSpPr>
        <p:spPr bwMode="auto">
          <a:xfrm>
            <a:off x="7146925" y="6159500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r = 0</a:t>
            </a:r>
          </a:p>
        </p:txBody>
      </p:sp>
      <p:sp>
        <p:nvSpPr>
          <p:cNvPr id="138327" name="Oval 110"/>
          <p:cNvSpPr>
            <a:spLocks noChangeArrowheads="1"/>
          </p:cNvSpPr>
          <p:nvPr/>
        </p:nvSpPr>
        <p:spPr bwMode="auto">
          <a:xfrm rot="-7282380">
            <a:off x="49530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28" name="Oval 111"/>
          <p:cNvSpPr>
            <a:spLocks noChangeArrowheads="1"/>
          </p:cNvSpPr>
          <p:nvPr/>
        </p:nvSpPr>
        <p:spPr bwMode="auto">
          <a:xfrm rot="-7282380">
            <a:off x="43434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29" name="Oval 112"/>
          <p:cNvSpPr>
            <a:spLocks noChangeArrowheads="1"/>
          </p:cNvSpPr>
          <p:nvPr/>
        </p:nvSpPr>
        <p:spPr bwMode="auto">
          <a:xfrm rot="-7282380">
            <a:off x="4724400" y="4495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8330" name="TextBox 89"/>
          <p:cNvSpPr txBox="1">
            <a:spLocks noChangeArrowheads="1"/>
          </p:cNvSpPr>
          <p:nvPr/>
        </p:nvSpPr>
        <p:spPr bwMode="auto">
          <a:xfrm>
            <a:off x="7543800" y="13716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7102ED3-1274-4684-ACFC-D11A6F6B77E5}" type="slidenum">
              <a:rPr lang="en-US" smtClean="0">
                <a:latin typeface="Arial" charset="0"/>
              </a:rPr>
              <a:pPr/>
              <a:t>66</a:t>
            </a:fld>
            <a:endParaRPr lang="en-US" smtClean="0">
              <a:latin typeface="Arial" charset="0"/>
            </a:endParaRPr>
          </a:p>
        </p:txBody>
      </p:sp>
      <p:sp>
        <p:nvSpPr>
          <p:cNvPr id="13926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92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CD92AE09-80CF-4EDF-8EB4-A5E114FA0CFD}" type="slidenum">
              <a:rPr lang="en-US" sz="1000"/>
              <a:pPr algn="r" defTabSz="852488"/>
              <a:t>66</a:t>
            </a:fld>
            <a:endParaRPr lang="en-US" sz="1000"/>
          </a:p>
        </p:txBody>
      </p:sp>
      <p:sp>
        <p:nvSpPr>
          <p:cNvPr id="13926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0772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The Coefficient of Correlation Using Microsoft Excel Function</a:t>
            </a:r>
          </a:p>
        </p:txBody>
      </p:sp>
      <p:sp>
        <p:nvSpPr>
          <p:cNvPr id="139269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  <p:pic>
        <p:nvPicPr>
          <p:cNvPr id="139270" name="Picture 2"/>
          <p:cNvPicPr>
            <a:picLocks noChangeAspect="1" noChangeArrowheads="1"/>
          </p:cNvPicPr>
          <p:nvPr/>
        </p:nvPicPr>
        <p:blipFill>
          <a:blip r:embed="rId2"/>
          <a:srcRect t="14999" r="68750" b="60001"/>
          <a:stretch>
            <a:fillRect/>
          </a:stretch>
        </p:blipFill>
        <p:spPr bwMode="auto">
          <a:xfrm>
            <a:off x="152400" y="1981200"/>
            <a:ext cx="8839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1CF51AB-0695-4834-88A9-155AF2F3A691}" type="slidenum">
              <a:rPr lang="en-US" smtClean="0">
                <a:latin typeface="Arial" charset="0"/>
              </a:rPr>
              <a:pPr/>
              <a:t>67</a:t>
            </a:fld>
            <a:endParaRPr lang="en-US" smtClean="0">
              <a:latin typeface="Arial" charset="0"/>
            </a:endParaRPr>
          </a:p>
        </p:txBody>
      </p:sp>
      <p:sp>
        <p:nvSpPr>
          <p:cNvPr id="14029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029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FE56202E-1CBA-4B8C-8D67-B3A0F92D10E5}" type="slidenum">
              <a:rPr lang="en-US" sz="1000"/>
              <a:pPr algn="r" defTabSz="852488"/>
              <a:t>67</a:t>
            </a:fld>
            <a:endParaRPr lang="en-US" sz="1000"/>
          </a:p>
        </p:txBody>
      </p:sp>
      <p:sp>
        <p:nvSpPr>
          <p:cNvPr id="14029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0772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The Coefficient of Correlation Using Microsoft Excel Data Analysis Tool</a:t>
            </a:r>
          </a:p>
        </p:txBody>
      </p:sp>
      <p:sp>
        <p:nvSpPr>
          <p:cNvPr id="1402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62400" y="1600200"/>
            <a:ext cx="3733800" cy="1905000"/>
          </a:xfrm>
          <a:solidFill>
            <a:srgbClr val="FDE0BD"/>
          </a:solidFill>
        </p:spPr>
        <p:txBody>
          <a:bodyPr/>
          <a:lstStyle/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2200" smtClean="0">
                <a:latin typeface="Times New Roman" pitchFamily="18" charset="0"/>
              </a:rPr>
              <a:t>Select Data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2200" smtClean="0">
                <a:latin typeface="Times New Roman" pitchFamily="18" charset="0"/>
              </a:rPr>
              <a:t>Choose Data Analysis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2200" smtClean="0">
                <a:latin typeface="Times New Roman" pitchFamily="18" charset="0"/>
              </a:rPr>
              <a:t>Choose Correlation &amp; Click OK</a:t>
            </a:r>
          </a:p>
        </p:txBody>
      </p:sp>
      <p:pic>
        <p:nvPicPr>
          <p:cNvPr id="140294" name="Picture 10"/>
          <p:cNvPicPr>
            <a:picLocks noChangeAspect="1" noChangeArrowheads="1"/>
          </p:cNvPicPr>
          <p:nvPr/>
        </p:nvPicPr>
        <p:blipFill>
          <a:blip r:embed="rId2"/>
          <a:srcRect r="77083" b="61238"/>
          <a:stretch>
            <a:fillRect/>
          </a:stretch>
        </p:blipFill>
        <p:spPr bwMode="auto">
          <a:xfrm>
            <a:off x="152400" y="1524000"/>
            <a:ext cx="2667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295" name="Line 7"/>
          <p:cNvSpPr>
            <a:spLocks noChangeShapeType="1"/>
          </p:cNvSpPr>
          <p:nvPr/>
        </p:nvSpPr>
        <p:spPr bwMode="auto">
          <a:xfrm flipH="1" flipV="1">
            <a:off x="2743200" y="1828800"/>
            <a:ext cx="1143000" cy="76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40296" name="Picture 11"/>
          <p:cNvPicPr>
            <a:picLocks noChangeAspect="1" noChangeArrowheads="1"/>
          </p:cNvPicPr>
          <p:nvPr/>
        </p:nvPicPr>
        <p:blipFill>
          <a:blip r:embed="rId3"/>
          <a:srcRect r="23958" b="60001"/>
          <a:stretch>
            <a:fillRect/>
          </a:stretch>
        </p:blipFill>
        <p:spPr bwMode="auto">
          <a:xfrm>
            <a:off x="1600200" y="4114800"/>
            <a:ext cx="7315200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297" name="Line 6"/>
          <p:cNvSpPr>
            <a:spLocks noChangeShapeType="1"/>
          </p:cNvSpPr>
          <p:nvPr/>
        </p:nvSpPr>
        <p:spPr bwMode="auto">
          <a:xfrm>
            <a:off x="7162800" y="2286000"/>
            <a:ext cx="1447800" cy="2057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0298" name="Line 6"/>
          <p:cNvSpPr>
            <a:spLocks noChangeShapeType="1"/>
          </p:cNvSpPr>
          <p:nvPr/>
        </p:nvSpPr>
        <p:spPr bwMode="auto">
          <a:xfrm>
            <a:off x="4114800" y="2895600"/>
            <a:ext cx="152400" cy="2895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0299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A7155DA5-8EEE-4E32-BBBD-5ED5CC2826B1}" type="slidenum">
              <a:rPr lang="en-US" smtClean="0">
                <a:latin typeface="Arial" charset="0"/>
              </a:rPr>
              <a:pPr/>
              <a:t>68</a:t>
            </a:fld>
            <a:endParaRPr lang="en-US" smtClean="0">
              <a:latin typeface="Arial" charset="0"/>
            </a:endParaRPr>
          </a:p>
        </p:txBody>
      </p:sp>
      <p:sp>
        <p:nvSpPr>
          <p:cNvPr id="14131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131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56EAA6A-F3B8-4182-B57A-5773D99B5346}" type="slidenum">
              <a:rPr lang="en-US" sz="1000"/>
              <a:pPr algn="r" defTabSz="852488"/>
              <a:t>68</a:t>
            </a:fld>
            <a:endParaRPr lang="en-US" sz="1000"/>
          </a:p>
        </p:txBody>
      </p:sp>
      <p:sp>
        <p:nvSpPr>
          <p:cNvPr id="141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Coefficient of Correlation</a:t>
            </a:r>
            <a:br>
              <a:rPr lang="en-US" smtClean="0"/>
            </a:br>
            <a:r>
              <a:rPr lang="en-US" smtClean="0"/>
              <a:t>Using Microsoft Excel</a:t>
            </a:r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4953000"/>
            <a:ext cx="3962400" cy="1295400"/>
          </a:xfrm>
          <a:solidFill>
            <a:srgbClr val="FDE0BD"/>
          </a:solidFill>
        </p:spPr>
        <p:txBody>
          <a:bodyPr/>
          <a:lstStyle/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AutoNum type="arabicPeriod" startAt="4"/>
            </a:pPr>
            <a:r>
              <a:rPr lang="en-US" sz="2200" smtClean="0">
                <a:latin typeface="Times New Roman" pitchFamily="18" charset="0"/>
              </a:rPr>
              <a:t>Input data range and select appropriate options</a:t>
            </a:r>
          </a:p>
          <a:p>
            <a:pPr marL="533400" indent="-533400" defTabSz="914400" eaLnBrk="1" hangingPunct="1">
              <a:buClr>
                <a:schemeClr val="tx1"/>
              </a:buClr>
              <a:buFont typeface="Wingdings" pitchFamily="2" charset="2"/>
              <a:buAutoNum type="arabicPeriod" startAt="4"/>
            </a:pPr>
            <a:r>
              <a:rPr lang="en-US" sz="2200" smtClean="0">
                <a:latin typeface="Times New Roman" pitchFamily="18" charset="0"/>
              </a:rPr>
              <a:t>Click OK to get output</a:t>
            </a:r>
          </a:p>
        </p:txBody>
      </p:sp>
      <p:sp>
        <p:nvSpPr>
          <p:cNvPr id="141318" name="Line 7"/>
          <p:cNvSpPr>
            <a:spLocks noChangeShapeType="1"/>
          </p:cNvSpPr>
          <p:nvPr/>
        </p:nvSpPr>
        <p:spPr bwMode="auto">
          <a:xfrm flipV="1">
            <a:off x="3429000" y="5867400"/>
            <a:ext cx="914400" cy="76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41319" name="Picture 10"/>
          <p:cNvPicPr>
            <a:picLocks noChangeAspect="1" noChangeArrowheads="1"/>
          </p:cNvPicPr>
          <p:nvPr/>
        </p:nvPicPr>
        <p:blipFill>
          <a:blip r:embed="rId2"/>
          <a:srcRect t="13333" r="61458" b="60001"/>
          <a:stretch>
            <a:fillRect/>
          </a:stretch>
        </p:blipFill>
        <p:spPr bwMode="auto">
          <a:xfrm>
            <a:off x="228600" y="1676400"/>
            <a:ext cx="5638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20" name="Line 6"/>
          <p:cNvSpPr>
            <a:spLocks noChangeShapeType="1"/>
          </p:cNvSpPr>
          <p:nvPr/>
        </p:nvSpPr>
        <p:spPr bwMode="auto">
          <a:xfrm flipV="1">
            <a:off x="914400" y="2590800"/>
            <a:ext cx="2743200" cy="2514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41321" name="Picture 11"/>
          <p:cNvPicPr>
            <a:picLocks noChangeAspect="1" noChangeArrowheads="1"/>
          </p:cNvPicPr>
          <p:nvPr/>
        </p:nvPicPr>
        <p:blipFill>
          <a:blip r:embed="rId3"/>
          <a:srcRect t="14999" r="81250" b="75000"/>
          <a:stretch>
            <a:fillRect/>
          </a:stretch>
        </p:blipFill>
        <p:spPr bwMode="auto">
          <a:xfrm>
            <a:off x="4343400" y="4648200"/>
            <a:ext cx="457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22" name="TextBox 10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D8DE4E0-2C8F-45CF-AD83-CBF3AD0EE5F4}" type="slidenum">
              <a:rPr lang="en-US" smtClean="0">
                <a:latin typeface="Arial" charset="0"/>
              </a:rPr>
              <a:pPr/>
              <a:t>69</a:t>
            </a:fld>
            <a:endParaRPr lang="en-US" smtClean="0">
              <a:latin typeface="Arial" charset="0"/>
            </a:endParaRPr>
          </a:p>
        </p:txBody>
      </p:sp>
      <p:sp>
        <p:nvSpPr>
          <p:cNvPr id="2970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9701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DAB5CDA5-2BE3-45DB-A8D9-3556E8BE5AF4}" type="slidenum">
              <a:rPr lang="en-US" sz="1000"/>
              <a:pPr algn="r" defTabSz="852488"/>
              <a:t>69</a:t>
            </a:fld>
            <a:endParaRPr lang="en-US" sz="1000"/>
          </a:p>
        </p:txBody>
      </p:sp>
      <p:sp>
        <p:nvSpPr>
          <p:cNvPr id="297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Interpreting the Coefficient of Correlation</a:t>
            </a:r>
            <a:br>
              <a:rPr lang="en-US" sz="2800" b="1" smtClean="0"/>
            </a:br>
            <a:r>
              <a:rPr lang="en-US" sz="2800" b="1" smtClean="0"/>
              <a:t>Using Microsoft Excel</a:t>
            </a:r>
          </a:p>
        </p:txBody>
      </p:sp>
      <p:sp>
        <p:nvSpPr>
          <p:cNvPr id="297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981200"/>
            <a:ext cx="3429000" cy="4114800"/>
          </a:xfrm>
          <a:solidFill>
            <a:srgbClr val="FDE0BD"/>
          </a:solidFill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200" smtClean="0">
                <a:latin typeface="Times New Roman" pitchFamily="18" charset="0"/>
              </a:rPr>
              <a:t>r = .733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endParaRPr lang="en-US" sz="22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200" smtClean="0">
                <a:latin typeface="Times New Roman" pitchFamily="18" charset="0"/>
              </a:rPr>
              <a:t>There is a relatively strong positive linear relationship between test score #1 and test score #2.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z="2200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200" smtClean="0">
                <a:latin typeface="Times New Roman" pitchFamily="18" charset="0"/>
              </a:rPr>
              <a:t>Students who scored high on the first test tended to score high on second test.</a:t>
            </a:r>
          </a:p>
        </p:txBody>
      </p:sp>
      <p:graphicFrame>
        <p:nvGraphicFramePr>
          <p:cNvPr id="29698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419600" y="2133600"/>
          <a:ext cx="4419600" cy="3124200"/>
        </p:xfrm>
        <a:graphic>
          <a:graphicData uri="http://schemas.openxmlformats.org/presentationml/2006/ole">
            <p:oleObj spid="_x0000_s29698" name="Chart" r:id="rId3" imgW="5896125" imgH="3695700" progId="Excel.Sheet.8">
              <p:embed/>
            </p:oleObj>
          </a:graphicData>
        </a:graphic>
      </p:graphicFrame>
      <p:sp>
        <p:nvSpPr>
          <p:cNvPr id="29704" name="TextBox 6"/>
          <p:cNvSpPr txBox="1">
            <a:spLocks noChangeArrowheads="1"/>
          </p:cNvSpPr>
          <p:nvPr/>
        </p:nvSpPr>
        <p:spPr bwMode="auto">
          <a:xfrm>
            <a:off x="7543800" y="10668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</a:t>
            </a:r>
            <a:r>
              <a:rPr lang="en-US" sz="2800" u="sng">
                <a:solidFill>
                  <a:srgbClr val="FF0000"/>
                </a:solidFill>
              </a:rPr>
              <a:t>V</a:t>
            </a:r>
            <a:r>
              <a:rPr lang="en-US" sz="28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348088AD-C2FF-4B2E-94BE-67D95AFCF3D6}" type="slidenum">
              <a:rPr lang="en-US" smtClean="0">
                <a:latin typeface="Arial" charset="0"/>
              </a:rPr>
              <a:pPr/>
              <a:t>70</a:t>
            </a:fld>
            <a:endParaRPr lang="en-US" smtClean="0">
              <a:latin typeface="Arial" charset="0"/>
            </a:endParaRPr>
          </a:p>
        </p:txBody>
      </p:sp>
      <p:sp>
        <p:nvSpPr>
          <p:cNvPr id="144386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43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61115BB1-437E-4482-9A70-FC565AEAD6B6}" type="slidenum">
              <a:rPr lang="en-US" sz="1000"/>
              <a:pPr algn="r" defTabSz="852488"/>
              <a:t>70</a:t>
            </a:fld>
            <a:endParaRPr lang="en-US" sz="1000"/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793037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1828800" algn="l"/>
              </a:tabLst>
            </a:pPr>
            <a:r>
              <a:rPr lang="en-US" smtClean="0"/>
              <a:t>Pitfalls in Numerical </a:t>
            </a:r>
            <a:br>
              <a:rPr lang="en-US" smtClean="0"/>
            </a:br>
            <a:r>
              <a:rPr lang="en-US" smtClean="0"/>
              <a:t>Descriptive Measures</a:t>
            </a:r>
          </a:p>
        </p:txBody>
      </p:sp>
      <p:sp>
        <p:nvSpPr>
          <p:cNvPr id="144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80772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Data analysis is objective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Should report the summary measures that best describe and communicate the important aspects of the data set</a:t>
            </a:r>
          </a:p>
          <a:p>
            <a:pPr lvl="1" eaLnBrk="1" hangingPunct="1">
              <a:lnSpc>
                <a:spcPct val="110000"/>
              </a:lnSpc>
            </a:pPr>
            <a:endParaRPr lang="en-US" sz="1600" smtClean="0"/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Data interpretation is subjective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Should be done in fair, neutral and clear manner</a:t>
            </a:r>
          </a:p>
        </p:txBody>
      </p:sp>
      <p:sp>
        <p:nvSpPr>
          <p:cNvPr id="144390" name="TextBox 6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9495C483-AE8F-48B3-B15B-BC5830D760E3}" type="slidenum">
              <a:rPr lang="en-US" smtClean="0">
                <a:latin typeface="Arial" charset="0"/>
              </a:rPr>
              <a:pPr/>
              <a:t>71</a:t>
            </a:fld>
            <a:endParaRPr lang="en-US" smtClean="0">
              <a:latin typeface="Arial" charset="0"/>
            </a:endParaRPr>
          </a:p>
        </p:txBody>
      </p:sp>
      <p:sp>
        <p:nvSpPr>
          <p:cNvPr id="145410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541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8272B568-7E6F-4B87-AB23-5B0B5F4D8558}" type="slidenum">
              <a:rPr lang="en-US" sz="1000"/>
              <a:pPr algn="r" defTabSz="852488"/>
              <a:t>71</a:t>
            </a:fld>
            <a:endParaRPr lang="en-US" sz="1000"/>
          </a:p>
        </p:txBody>
      </p:sp>
      <p:sp>
        <p:nvSpPr>
          <p:cNvPr id="145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Ethical Considerations</a:t>
            </a:r>
          </a:p>
        </p:txBody>
      </p:sp>
      <p:sp>
        <p:nvSpPr>
          <p:cNvPr id="145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Numerical descriptive measures:</a:t>
            </a:r>
          </a:p>
          <a:p>
            <a:pPr eaLnBrk="1" hangingPunct="1"/>
            <a:endParaRPr lang="en-US" sz="1400" smtClean="0"/>
          </a:p>
          <a:p>
            <a:pPr eaLnBrk="1" hangingPunct="1"/>
            <a:r>
              <a:rPr lang="en-US" smtClean="0"/>
              <a:t>Should document both good and bad results</a:t>
            </a:r>
          </a:p>
          <a:p>
            <a:pPr eaLnBrk="1" hangingPunct="1"/>
            <a:r>
              <a:rPr lang="en-US" smtClean="0"/>
              <a:t>Should be presented in a fair, objective and neutral manner</a:t>
            </a:r>
          </a:p>
          <a:p>
            <a:pPr eaLnBrk="1" hangingPunct="1"/>
            <a:r>
              <a:rPr lang="en-US" smtClean="0"/>
              <a:t>Should not use inappropriate summary measures to distort facts</a:t>
            </a:r>
          </a:p>
        </p:txBody>
      </p:sp>
      <p:pic>
        <p:nvPicPr>
          <p:cNvPr id="145414" name="Picture 4" descr="SY00642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4876800"/>
            <a:ext cx="1644650" cy="163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15" name="TextBox 7"/>
          <p:cNvSpPr txBox="1">
            <a:spLocks noChangeArrowheads="1"/>
          </p:cNvSpPr>
          <p:nvPr/>
        </p:nvSpPr>
        <p:spPr bwMode="auto">
          <a:xfrm>
            <a:off x="7620000" y="1295400"/>
            <a:ext cx="143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DCOV</a:t>
            </a:r>
            <a:r>
              <a:rPr lang="en-US" sz="2800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5376F46-6291-4B05-AD38-7A18EF750701}" type="slidenum">
              <a:rPr lang="en-US" smtClean="0">
                <a:latin typeface="Arial" charset="0"/>
              </a:rPr>
              <a:pPr/>
              <a:t>72</a:t>
            </a:fld>
            <a:endParaRPr lang="en-US" smtClean="0">
              <a:latin typeface="Arial" charset="0"/>
            </a:endParaRPr>
          </a:p>
        </p:txBody>
      </p:sp>
      <p:sp>
        <p:nvSpPr>
          <p:cNvPr id="146434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64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077AB412-9816-453C-9519-1D9A7CC731BF}" type="slidenum">
              <a:rPr lang="en-US" sz="1000"/>
              <a:pPr algn="r" defTabSz="852488"/>
              <a:t>72</a:t>
            </a:fld>
            <a:endParaRPr lang="en-US" sz="1000"/>
          </a:p>
        </p:txBody>
      </p:sp>
      <p:sp>
        <p:nvSpPr>
          <p:cNvPr id="146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Chapter Summary</a:t>
            </a:r>
          </a:p>
        </p:txBody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Described measures of central tendency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Mean, median, mode, geometric mean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Described measures of variation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Range, interquartile range, variance and standard deviation, coefficient of variation, Z-scores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Illustrated shape of distribution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Skewness &amp; Kurtosis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Described data using the 5-number summary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mtClean="0"/>
              <a:t>Boxplots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3-</a:t>
            </a:r>
            <a:fld id="{1CEE32DE-D31E-4E7C-AE54-091059AD6EE0}" type="slidenum">
              <a:rPr lang="en-US" smtClean="0">
                <a:latin typeface="Arial" charset="0"/>
              </a:rPr>
              <a:pPr/>
              <a:t>73</a:t>
            </a:fld>
            <a:endParaRPr lang="en-US" smtClean="0">
              <a:latin typeface="Arial" charset="0"/>
            </a:endParaRPr>
          </a:p>
        </p:txBody>
      </p:sp>
      <p:sp>
        <p:nvSpPr>
          <p:cNvPr id="147458" name="Footer Placeholder 17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74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3-</a:t>
            </a:r>
            <a:fld id="{5B561078-4063-41D4-B2ED-88887F708C4C}" type="slidenum">
              <a:rPr lang="en-US" sz="1000"/>
              <a:pPr algn="r" defTabSz="852488"/>
              <a:t>73</a:t>
            </a:fld>
            <a:endParaRPr lang="en-US" sz="1000"/>
          </a:p>
        </p:txBody>
      </p:sp>
      <p:sp>
        <p:nvSpPr>
          <p:cNvPr id="147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Chapter Summary</a:t>
            </a:r>
          </a:p>
        </p:txBody>
      </p:sp>
      <p:sp>
        <p:nvSpPr>
          <p:cNvPr id="147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mtClean="0"/>
              <a:t>Discussed covariance and correlation coefficient</a:t>
            </a:r>
          </a:p>
          <a:p>
            <a:pPr eaLnBrk="1" hangingPunct="1">
              <a:lnSpc>
                <a:spcPct val="120000"/>
              </a:lnSpc>
            </a:pPr>
            <a:r>
              <a:rPr lang="en-US" smtClean="0"/>
              <a:t>Addressed pitfalls in numerical descriptive measures and ethical considerations</a:t>
            </a:r>
          </a:p>
          <a:p>
            <a:pPr eaLnBrk="1" hangingPunct="1">
              <a:lnSpc>
                <a:spcPct val="120000"/>
              </a:lnSpc>
            </a:pPr>
            <a:endParaRPr lang="en-US" smtClean="0"/>
          </a:p>
        </p:txBody>
      </p:sp>
      <p:sp>
        <p:nvSpPr>
          <p:cNvPr id="147462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nHall1">
  <a:themeElements>
    <a:clrScheme name="PrenHall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renHall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1840</TotalTime>
  <Pages>20</Pages>
  <Words>3619</Words>
  <Application>Microsoft Office PowerPoint</Application>
  <PresentationFormat>On-screen Show (4:3)</PresentationFormat>
  <Paragraphs>909</Paragraphs>
  <Slides>73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73</vt:i4>
      </vt:variant>
    </vt:vector>
  </HeadingPairs>
  <TitlesOfParts>
    <vt:vector size="85" baseType="lpstr">
      <vt:lpstr>Arial</vt:lpstr>
      <vt:lpstr>Wingdings</vt:lpstr>
      <vt:lpstr>Times New Roman</vt:lpstr>
      <vt:lpstr>굴림</vt:lpstr>
      <vt:lpstr>Symbol</vt:lpstr>
      <vt:lpstr>MT Extra</vt:lpstr>
      <vt:lpstr>System</vt:lpstr>
      <vt:lpstr>PrenHall1</vt:lpstr>
      <vt:lpstr>PrenHall1</vt:lpstr>
      <vt:lpstr>Equation</vt:lpstr>
      <vt:lpstr>Drawing</vt:lpstr>
      <vt:lpstr>Chart</vt:lpstr>
      <vt:lpstr>Slide 1</vt:lpstr>
      <vt:lpstr>Learning Objectives</vt:lpstr>
      <vt:lpstr>Summary Definitions</vt:lpstr>
      <vt:lpstr>Measures of Central Tendency: The Mean</vt:lpstr>
      <vt:lpstr>Measures of Central Tendency: The Mean</vt:lpstr>
      <vt:lpstr>Measures of Central Tendency: The Median</vt:lpstr>
      <vt:lpstr>Measures of Central Tendency: Locating the Median</vt:lpstr>
      <vt:lpstr>Measures of Central Tendency: The Mode</vt:lpstr>
      <vt:lpstr>Measures of Central Tendency: Review Example</vt:lpstr>
      <vt:lpstr>Measures of Central Tendency: Which Measure to Choose?</vt:lpstr>
      <vt:lpstr>Measure of Central Tendency For The Rate Of Change Of A Variable Over Time: The Geometric Mean &amp; The Geometric Rate of Return</vt:lpstr>
      <vt:lpstr>The Geometric Mean Rate of Return:  Example</vt:lpstr>
      <vt:lpstr>The Geometric Mean Rate of Return:  Example</vt:lpstr>
      <vt:lpstr>Measures of Central Tendency: Summary</vt:lpstr>
      <vt:lpstr>Measures of Variation</vt:lpstr>
      <vt:lpstr>Measures of Variation: The Range</vt:lpstr>
      <vt:lpstr>Measures of Variation: Why The Range Can Be Misleading</vt:lpstr>
      <vt:lpstr>Measures of Variation: The Sample Variance</vt:lpstr>
      <vt:lpstr>Measures of Variation: The Sample Standard Deviation</vt:lpstr>
      <vt:lpstr>Measures of Variation: The Standard Deviation</vt:lpstr>
      <vt:lpstr>Measures of Variation: Sample Standard Deviation Calculation Example</vt:lpstr>
      <vt:lpstr>Measures of Variation: Comparing Standard Deviations</vt:lpstr>
      <vt:lpstr>Measures of Variation: Comparing Standard Deviations</vt:lpstr>
      <vt:lpstr>Measures of Variation: Summary Characteristics</vt:lpstr>
      <vt:lpstr>Measures of Variation: The Coefficient of Variation</vt:lpstr>
      <vt:lpstr>Measures of Variation: Comparing Coefficients of Variation</vt:lpstr>
      <vt:lpstr>Measures of Variation: Comparing Coefficients of Variation</vt:lpstr>
      <vt:lpstr>Locating Extreme Outliers: Z-Score</vt:lpstr>
      <vt:lpstr>Locating Extreme Outliers: Z-Score</vt:lpstr>
      <vt:lpstr>Locating Extreme Outliers: Z-Score</vt:lpstr>
      <vt:lpstr>Shape of a Distribution</vt:lpstr>
      <vt:lpstr>Shape of a Distribution (Skewness)</vt:lpstr>
      <vt:lpstr>Shape of a Distribution (Kurtosis)</vt:lpstr>
      <vt:lpstr>General Descriptive Stats Using Microsoft Excel Functions</vt:lpstr>
      <vt:lpstr>General Descriptive Stats Using Microsoft Excel Data Analysis Tool</vt:lpstr>
      <vt:lpstr>General Descriptive Stats Using Microsoft Excel</vt:lpstr>
      <vt:lpstr>Excel output</vt:lpstr>
      <vt:lpstr>Minitab Output</vt:lpstr>
      <vt:lpstr>Quartile Measures</vt:lpstr>
      <vt:lpstr>Quartile Measures: Locating Quartiles</vt:lpstr>
      <vt:lpstr>Quartile Measures: Calculation Rules</vt:lpstr>
      <vt:lpstr>Quartile Measures: Locating Quartiles</vt:lpstr>
      <vt:lpstr>Quartile Measures Calculating The Quartiles:  Example</vt:lpstr>
      <vt:lpstr>Quartile Measures: The Interquartile Range (IQR)</vt:lpstr>
      <vt:lpstr>Calculating The Interquartile Range</vt:lpstr>
      <vt:lpstr>The Five-Number Summary</vt:lpstr>
      <vt:lpstr>Relationships among the five-number summary and distribution shape</vt:lpstr>
      <vt:lpstr>Five-Number Summary and The Boxplot</vt:lpstr>
      <vt:lpstr>Five-Number Summary: Shape of Boxplots</vt:lpstr>
      <vt:lpstr>Distribution Shape and  The Boxplot</vt:lpstr>
      <vt:lpstr>Boxplot Example</vt:lpstr>
      <vt:lpstr>Numerical Descriptive Measures for a Population</vt:lpstr>
      <vt:lpstr>Numerical Descriptive Measures  for a Population:  The mean µ</vt:lpstr>
      <vt:lpstr>Numerical Descriptive Measures For A Population:  The Variance σ2</vt:lpstr>
      <vt:lpstr>Numerical Descriptive Measures For A Population:  The Standard Deviation σ</vt:lpstr>
      <vt:lpstr>Sample statistics versus population parameters</vt:lpstr>
      <vt:lpstr>Slide 57</vt:lpstr>
      <vt:lpstr>Slide 58</vt:lpstr>
      <vt:lpstr>Using the Empirical Rule</vt:lpstr>
      <vt:lpstr>Slide 60</vt:lpstr>
      <vt:lpstr>The Covariance</vt:lpstr>
      <vt:lpstr>Interpreting Covariance</vt:lpstr>
      <vt:lpstr>Coefficient of Correlation</vt:lpstr>
      <vt:lpstr>Features of the Coefficient of Correlation</vt:lpstr>
      <vt:lpstr>Scatter Plots of  Sample Data with Various Coefficients of Correlation</vt:lpstr>
      <vt:lpstr>The Coefficient of Correlation Using Microsoft Excel Function</vt:lpstr>
      <vt:lpstr>The Coefficient of Correlation Using Microsoft Excel Data Analysis Tool</vt:lpstr>
      <vt:lpstr>The Coefficient of Correlation Using Microsoft Excel</vt:lpstr>
      <vt:lpstr>Interpreting the Coefficient of Correlation Using Microsoft Excel</vt:lpstr>
      <vt:lpstr>Pitfalls in Numerical  Descriptive Measures</vt:lpstr>
      <vt:lpstr>Ethical Considerations</vt:lpstr>
      <vt:lpstr>Chapter Summary</vt:lpstr>
      <vt:lpstr>Chapter Summary</vt:lpstr>
    </vt:vector>
  </TitlesOfParts>
  <Company>University of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Business Statistics, 10/e</dc:title>
  <dc:subject>Chapter 3</dc:subject>
  <dc:creator>Dirk Yandell</dc:creator>
  <cp:lastModifiedBy>emiljone</cp:lastModifiedBy>
  <cp:revision>146</cp:revision>
  <cp:lastPrinted>1998-11-22T23:37:53Z</cp:lastPrinted>
  <dcterms:created xsi:type="dcterms:W3CDTF">2001-01-16T02:05:37Z</dcterms:created>
  <dcterms:modified xsi:type="dcterms:W3CDTF">2011-03-23T11:27:32Z</dcterms:modified>
</cp:coreProperties>
</file>