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1" r:id="rId1"/>
  </p:sldMasterIdLst>
  <p:notesMasterIdLst>
    <p:notesMasterId r:id="rId59"/>
  </p:notesMasterIdLst>
  <p:handoutMasterIdLst>
    <p:handoutMasterId r:id="rId60"/>
  </p:handoutMasterIdLst>
  <p:sldIdLst>
    <p:sldId id="260" r:id="rId2"/>
    <p:sldId id="288" r:id="rId3"/>
    <p:sldId id="400" r:id="rId4"/>
    <p:sldId id="407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374" r:id="rId13"/>
    <p:sldId id="416" r:id="rId14"/>
    <p:sldId id="417" r:id="rId15"/>
    <p:sldId id="418" r:id="rId16"/>
    <p:sldId id="419" r:id="rId17"/>
    <p:sldId id="420" r:id="rId18"/>
    <p:sldId id="327" r:id="rId19"/>
    <p:sldId id="377" r:id="rId20"/>
    <p:sldId id="379" r:id="rId21"/>
    <p:sldId id="380" r:id="rId22"/>
    <p:sldId id="381" r:id="rId23"/>
    <p:sldId id="421" r:id="rId24"/>
    <p:sldId id="382" r:id="rId25"/>
    <p:sldId id="348" r:id="rId26"/>
    <p:sldId id="336" r:id="rId27"/>
    <p:sldId id="383" r:id="rId28"/>
    <p:sldId id="429" r:id="rId29"/>
    <p:sldId id="425" r:id="rId30"/>
    <p:sldId id="426" r:id="rId31"/>
    <p:sldId id="427" r:id="rId32"/>
    <p:sldId id="428" r:id="rId33"/>
    <p:sldId id="430" r:id="rId34"/>
    <p:sldId id="431" r:id="rId35"/>
    <p:sldId id="433" r:id="rId36"/>
    <p:sldId id="432" r:id="rId37"/>
    <p:sldId id="384" r:id="rId38"/>
    <p:sldId id="385" r:id="rId39"/>
    <p:sldId id="386" r:id="rId40"/>
    <p:sldId id="362" r:id="rId41"/>
    <p:sldId id="349" r:id="rId42"/>
    <p:sldId id="392" r:id="rId43"/>
    <p:sldId id="393" r:id="rId44"/>
    <p:sldId id="440" r:id="rId45"/>
    <p:sldId id="372" r:id="rId46"/>
    <p:sldId id="434" r:id="rId47"/>
    <p:sldId id="435" r:id="rId48"/>
    <p:sldId id="436" r:id="rId49"/>
    <p:sldId id="437" r:id="rId50"/>
    <p:sldId id="438" r:id="rId51"/>
    <p:sldId id="439" r:id="rId52"/>
    <p:sldId id="394" r:id="rId53"/>
    <p:sldId id="395" r:id="rId54"/>
    <p:sldId id="396" r:id="rId55"/>
    <p:sldId id="397" r:id="rId56"/>
    <p:sldId id="398" r:id="rId57"/>
    <p:sldId id="399" r:id="rId58"/>
  </p:sldIdLst>
  <p:sldSz cx="9144000" cy="6858000" type="screen4x3"/>
  <p:notesSz cx="6858000" cy="9144000"/>
  <p:embeddedFontLst>
    <p:embeddedFont>
      <p:font typeface="Calibri" pitchFamily="34" charset="0"/>
      <p:regular r:id="rId61"/>
      <p:bold r:id="rId62"/>
      <p:italic r:id="rId63"/>
      <p:boldItalic r:id="rId64"/>
    </p:embeddedFont>
  </p:embeddedFont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CBDDF7"/>
    <a:srgbClr val="D1D1FF"/>
    <a:srgbClr val="CCCCFF"/>
    <a:srgbClr val="99CCFF"/>
    <a:srgbClr val="FDE0BD"/>
    <a:srgbClr val="006699"/>
    <a:srgbClr val="E9E9FF"/>
    <a:srgbClr val="F5DF7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21036" autoAdjust="0"/>
    <p:restoredTop sz="94647" autoAdjust="0"/>
  </p:normalViewPr>
  <p:slideViewPr>
    <p:cSldViewPr>
      <p:cViewPr varScale="1">
        <p:scale>
          <a:sx n="102" d="100"/>
          <a:sy n="102" d="100"/>
        </p:scale>
        <p:origin x="-6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974"/>
    </p:cViewPr>
  </p:sorterViewPr>
  <p:notesViewPr>
    <p:cSldViewPr>
      <p:cViewPr>
        <p:scale>
          <a:sx n="75" d="100"/>
          <a:sy n="75" d="100"/>
        </p:scale>
        <p:origin x="-2130" y="-25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tx>
        <c:rich>
          <a:bodyPr/>
          <a:lstStyle/>
          <a:p>
            <a:pPr>
              <a:defRPr lang="en-US"/>
            </a:pPr>
            <a:r>
              <a:rPr lang="en-US"/>
              <a:t>Invoice Size</a:t>
            </a:r>
            <a:r>
              <a:rPr lang="en-US" baseline="0"/>
              <a:t> Split Out By Errors &amp; No Errors</a:t>
            </a:r>
            <a:endParaRPr lang="en-US"/>
          </a:p>
        </c:rich>
      </c:tx>
      <c:layout>
        <c:manualLayout>
          <c:xMode val="edge"/>
          <c:yMode val="edge"/>
          <c:x val="0.1265069991251094"/>
          <c:y val="2.7777777777777912E-2"/>
        </c:manualLayout>
      </c:layout>
    </c:title>
    <c:plotArea>
      <c:layout/>
      <c:barChart>
        <c:barDir val="bar"/>
        <c:grouping val="clustered"/>
        <c:ser>
          <c:idx val="0"/>
          <c:order val="0"/>
          <c:tx>
            <c:strRef>
              <c:f>Sheet1!$A$2</c:f>
              <c:strCache>
                <c:ptCount val="1"/>
                <c:pt idx="0">
                  <c:v>Small</c:v>
                </c:pt>
              </c:strCache>
            </c:strRef>
          </c:tx>
          <c:cat>
            <c:strRef>
              <c:f>Sheet1!$B$1:$C$1</c:f>
              <c:strCache>
                <c:ptCount val="2"/>
                <c:pt idx="0">
                  <c:v>No Errors</c:v>
                </c:pt>
                <c:pt idx="1">
                  <c:v>Errors</c:v>
                </c:pt>
              </c:strCache>
            </c:strRef>
          </c:cat>
          <c:val>
            <c:numRef>
              <c:f>Sheet1!$B$2:$C$2</c:f>
              <c:numCache>
                <c:formatCode>0.0%</c:formatCode>
                <c:ptCount val="2"/>
                <c:pt idx="0">
                  <c:v>0.50700000000000001</c:v>
                </c:pt>
                <c:pt idx="1">
                  <c:v>0.30800000000000038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Medium</c:v>
                </c:pt>
              </c:strCache>
            </c:strRef>
          </c:tx>
          <c:cat>
            <c:strRef>
              <c:f>Sheet1!$B$1:$C$1</c:f>
              <c:strCache>
                <c:ptCount val="2"/>
                <c:pt idx="0">
                  <c:v>No Errors</c:v>
                </c:pt>
                <c:pt idx="1">
                  <c:v>Errors</c:v>
                </c:pt>
              </c:strCache>
            </c:strRef>
          </c:cat>
          <c:val>
            <c:numRef>
              <c:f>Sheet1!$B$3:$C$3</c:f>
              <c:numCache>
                <c:formatCode>0.0%</c:formatCode>
                <c:ptCount val="2"/>
                <c:pt idx="0">
                  <c:v>0.29900000000000032</c:v>
                </c:pt>
                <c:pt idx="1">
                  <c:v>0.61600000000000099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Large</c:v>
                </c:pt>
              </c:strCache>
            </c:strRef>
          </c:tx>
          <c:cat>
            <c:strRef>
              <c:f>Sheet1!$B$1:$C$1</c:f>
              <c:strCache>
                <c:ptCount val="2"/>
                <c:pt idx="0">
                  <c:v>No Errors</c:v>
                </c:pt>
                <c:pt idx="1">
                  <c:v>Errors</c:v>
                </c:pt>
              </c:strCache>
            </c:strRef>
          </c:cat>
          <c:val>
            <c:numRef>
              <c:f>Sheet1!$B$4:$C$4</c:f>
              <c:numCache>
                <c:formatCode>0.0%</c:formatCode>
                <c:ptCount val="2"/>
                <c:pt idx="0">
                  <c:v>0.1940000000000002</c:v>
                </c:pt>
                <c:pt idx="1">
                  <c:v>7.6000000000000081E-2</c:v>
                </c:pt>
              </c:numCache>
            </c:numRef>
          </c:val>
        </c:ser>
        <c:gapWidth val="75"/>
        <c:overlap val="-25"/>
        <c:axId val="37101952"/>
        <c:axId val="36709120"/>
      </c:barChart>
      <c:catAx>
        <c:axId val="37101952"/>
        <c:scaling>
          <c:orientation val="minMax"/>
        </c:scaling>
        <c:axPos val="l"/>
        <c:majorTickMark val="none"/>
        <c:tickLblPos val="nextTo"/>
        <c:txPr>
          <a:bodyPr/>
          <a:lstStyle/>
          <a:p>
            <a:pPr>
              <a:defRPr lang="en-US"/>
            </a:pPr>
            <a:endParaRPr lang="en-US"/>
          </a:p>
        </c:txPr>
        <c:crossAx val="36709120"/>
        <c:crosses val="autoZero"/>
        <c:auto val="1"/>
        <c:lblAlgn val="ctr"/>
        <c:lblOffset val="100"/>
      </c:catAx>
      <c:valAx>
        <c:axId val="36709120"/>
        <c:scaling>
          <c:orientation val="minMax"/>
        </c:scaling>
        <c:axPos val="b"/>
        <c:majorGridlines/>
        <c:numFmt formatCode="0.0%" sourceLinked="1"/>
        <c:maj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lang="en-US"/>
            </a:pPr>
            <a:endParaRPr lang="en-US"/>
          </a:p>
        </c:txPr>
        <c:crossAx val="37101952"/>
        <c:crosses val="autoZero"/>
        <c:crossBetween val="between"/>
      </c:valAx>
    </c:plotArea>
    <c:legend>
      <c:legendPos val="b"/>
      <c:txPr>
        <a:bodyPr/>
        <a:lstStyle/>
        <a:p>
          <a:pPr>
            <a:defRPr lang="en-US"/>
          </a:pPr>
          <a:endParaRPr lang="en-US"/>
        </a:p>
      </c:txPr>
    </c:legend>
    <c:plotVisOnly val="1"/>
  </c:chart>
  <c:spPr>
    <a:solidFill>
      <a:srgbClr val="00B0F0"/>
    </a:solidFill>
  </c:sp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6200" y="8823325"/>
            <a:ext cx="67056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828675" y="8763000"/>
            <a:ext cx="5622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71438" y="55563"/>
            <a:ext cx="67151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2		 2-</a:t>
            </a:r>
            <a:fld id="{B8B783FA-FEC9-4C52-80F8-69F887262F33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1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76400" y="609600"/>
            <a:ext cx="3733800" cy="259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120775" y="3581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120775" y="3886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1120775" y="4191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1120775" y="4495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1120775" y="4800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120775" y="5410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1120775" y="5715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120775" y="6019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20775" y="6324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1120775" y="6629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120775" y="6934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120775" y="7239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120775" y="7543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120775" y="7848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120775" y="8153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120775" y="8458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523875" y="8763000"/>
            <a:ext cx="585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7788" y="61913"/>
            <a:ext cx="67024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2		2-</a:t>
            </a:r>
            <a:fld id="{9EF7E8D7-6661-40E7-8970-5F6BAFA4C079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34938" y="2438400"/>
            <a:ext cx="9009062" cy="1181100"/>
            <a:chOff x="0" y="1536"/>
            <a:chExt cx="5675" cy="744"/>
          </a:xfrm>
        </p:grpSpPr>
        <p:grpSp>
          <p:nvGrpSpPr>
            <p:cNvPr id="5" name="Group 5"/>
            <p:cNvGrpSpPr>
              <a:grpSpLocks/>
            </p:cNvGrpSpPr>
            <p:nvPr userDrawn="1"/>
          </p:nvGrpSpPr>
          <p:grpSpPr bwMode="auto">
            <a:xfrm>
              <a:off x="185" y="1604"/>
              <a:ext cx="449" cy="297"/>
              <a:chOff x="720" y="336"/>
              <a:chExt cx="624" cy="432"/>
            </a:xfrm>
          </p:grpSpPr>
          <p:sp>
            <p:nvSpPr>
              <p:cNvPr id="12" name="Rectangle 6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Rectangle 8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9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8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3356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762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A73E8AEE-872A-40F1-BBC2-9A55A6AED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Footer Placeholder 17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0" y="6629400"/>
            <a:ext cx="5638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9A5E9502-D75B-4500-BA6E-2D10429FB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E7C5B9C5-1A6D-4116-9948-F8FD5C3EC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5D5B7CFD-B59A-4B18-B93B-D2E363F76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92511086-9908-4AF9-81D4-710394215E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ED6745D1-8C98-4B36-908F-5E24F94968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CED02D1D-5A41-41C2-A02C-E08997E1D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D5A6E83B-FA78-4CE4-98D1-8F196E4E4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BC7B0238-073B-4259-9AA7-06D3E01C5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7484FAA8-58D1-4282-8DDE-C05A35E1C1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19300" cy="6132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905500" cy="6132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C3F37263-0E54-47F6-BD97-FD262DB13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BB8A6350-7F7D-4A5D-91E1-EAAB44EC4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828800"/>
            <a:ext cx="8077200" cy="453231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6F535151-560D-46BD-B0CD-75E5FB986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828800"/>
            <a:ext cx="39624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170363"/>
            <a:ext cx="3962400" cy="2190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EBEE3F27-1912-40A8-91F0-7EC38A03CE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8077200" cy="453231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2-</a:t>
            </a:r>
            <a:fld id="{DBD8C4D8-225A-4F1D-9A37-D2A0BB7D5F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7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28600"/>
            <a:ext cx="738346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8077200" cy="45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2733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r>
              <a:rPr lang="en-US"/>
              <a:t>Chap 2-</a:t>
            </a:r>
            <a:fld id="{9A5D83A7-C37A-4600-B47A-1ECDD8CE4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9" name="Group 6"/>
          <p:cNvGrpSpPr>
            <a:grpSpLocks/>
          </p:cNvGrpSpPr>
          <p:nvPr/>
        </p:nvGrpSpPr>
        <p:grpSpPr bwMode="auto">
          <a:xfrm>
            <a:off x="0" y="609600"/>
            <a:ext cx="9009063" cy="1181100"/>
            <a:chOff x="0" y="1536"/>
            <a:chExt cx="5675" cy="744"/>
          </a:xfrm>
        </p:grpSpPr>
        <p:grpSp>
          <p:nvGrpSpPr>
            <p:cNvPr id="1031" name="Group 7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7"/>
              <a:chOff x="720" y="336"/>
              <a:chExt cx="624" cy="432"/>
            </a:xfrm>
          </p:grpSpPr>
          <p:sp>
            <p:nvSpPr>
              <p:cNvPr id="227336" name="Rectangle 8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7337" name="Rectangle 9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27338" name="Rectangle 10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7339" name="Rectangle 11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7340" name="Rectangle 12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7341" name="Rectangle 13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7342" name="Rectangle 14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7343" name="Rectangle 15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" name="Footer Placeholder 17"/>
          <p:cNvSpPr>
            <a:spLocks noGrp="1" noChangeArrowheads="1"/>
          </p:cNvSpPr>
          <p:nvPr userDrawn="1">
            <p:ph type="ftr" sz="quarter" idx="3"/>
          </p:nvPr>
        </p:nvSpPr>
        <p:spPr>
          <a:xfrm>
            <a:off x="0" y="6629400"/>
            <a:ext cx="5181600" cy="228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61" r:id="rId7"/>
    <p:sldLayoutId id="2147483660" r:id="rId8"/>
    <p:sldLayoutId id="2147483659" r:id="rId9"/>
    <p:sldLayoutId id="2147483658" r:id="rId10"/>
    <p:sldLayoutId id="2147483657" r:id="rId11"/>
    <p:sldLayoutId id="2147483656" r:id="rId12"/>
    <p:sldLayoutId id="2147483655" r:id="rId13"/>
    <p:sldLayoutId id="2147483654" r:id="rId14"/>
    <p:sldLayoutId id="2147483653" r:id="rId15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20675" indent="-32067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1919288" indent="-212725" algn="l" defTabSz="852488" rtl="0" eaLnBrk="0" fontAlgn="base" hangingPunct="0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FBA6D4AE-6479-4497-9999-438E9BE62AC1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945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9459" name="Rectangle 15"/>
          <p:cNvSpPr txBox="1">
            <a:spLocks noGrp="1" noChangeArrowheads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BF809231-C634-4EB2-8C9A-7FB78281B87F}" type="slidenum">
              <a:rPr lang="en-US" sz="1000"/>
              <a:pPr algn="r" defTabSz="852488"/>
              <a:t>1</a:t>
            </a:fld>
            <a:endParaRPr lang="en-US" sz="100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81400"/>
            <a:ext cx="7848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500" b="1" smtClean="0"/>
              <a:t>Chapter 2</a:t>
            </a:r>
          </a:p>
          <a:p>
            <a:pPr eaLnBrk="1" hangingPunct="1">
              <a:lnSpc>
                <a:spcPct val="90000"/>
              </a:lnSpc>
            </a:pPr>
            <a:endParaRPr lang="en-US" sz="3500" smtClean="0"/>
          </a:p>
          <a:p>
            <a:pPr eaLnBrk="1" hangingPunct="1">
              <a:lnSpc>
                <a:spcPct val="90000"/>
              </a:lnSpc>
            </a:pPr>
            <a:r>
              <a:rPr lang="en-US" sz="3500" smtClean="0"/>
              <a:t>Organizing and Visualizing Data</a:t>
            </a:r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14478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en-US" sz="4000" i="1">
                <a:solidFill>
                  <a:schemeClr val="folHlink"/>
                </a:solidFill>
              </a:rPr>
              <a:t>Basic Business Statistics</a:t>
            </a:r>
            <a:r>
              <a:rPr lang="en-US" sz="4100">
                <a:solidFill>
                  <a:schemeClr val="folHlink"/>
                </a:solidFill>
              </a:rPr>
              <a:t/>
            </a:r>
            <a:br>
              <a:rPr lang="en-US" sz="4100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12</a:t>
            </a:r>
            <a:r>
              <a:rPr lang="en-US" sz="3600" baseline="30000">
                <a:solidFill>
                  <a:schemeClr val="folHlink"/>
                </a:solidFill>
              </a:rPr>
              <a:t>th</a:t>
            </a:r>
            <a:r>
              <a:rPr lang="en-US" sz="3600">
                <a:solidFill>
                  <a:schemeClr val="folHlink"/>
                </a:solidFill>
              </a:rPr>
              <a:t> Edition</a:t>
            </a:r>
          </a:p>
          <a:p>
            <a:pPr algn="ctr" defTabSz="852488"/>
            <a:r>
              <a:rPr lang="en-US" sz="3600">
                <a:solidFill>
                  <a:schemeClr val="folHlink"/>
                </a:solidFill>
              </a:rPr>
              <a:t>Global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6B173D6D-2112-4F9F-A561-09865492713F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2048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04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0651D1BE-5747-4A62-820E-A7C0B47BD2D8}" type="slidenum">
              <a:rPr lang="en-US" sz="1000"/>
              <a:pPr algn="r" defTabSz="852488"/>
              <a:t>2</a:t>
            </a:fld>
            <a:endParaRPr lang="en-US" sz="10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696200" cy="3657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b="1" smtClean="0"/>
              <a:t>In this chapter you learn:</a:t>
            </a:r>
            <a:r>
              <a:rPr lang="en-US" smtClean="0"/>
              <a:t> 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The sources of data used in business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To construct tables and charts for numerical data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To construct tables and charts for categorical data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The principles of properly presenting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D1E69A99-CA8C-4D2D-8B56-E0A75E02387F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15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150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8229600" cy="990600"/>
          </a:xfrm>
        </p:spPr>
        <p:txBody>
          <a:bodyPr/>
          <a:lstStyle/>
          <a:p>
            <a:r>
              <a:rPr lang="en-US" sz="3200" smtClean="0"/>
              <a:t>A Step by Step Process For Examining &amp; Concluding From Data Is Helpful</a:t>
            </a:r>
          </a:p>
        </p:txBody>
      </p:sp>
      <p:sp>
        <p:nvSpPr>
          <p:cNvPr id="21508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077200" cy="46847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200" smtClean="0"/>
              <a:t>In this book we will use </a:t>
            </a:r>
            <a:r>
              <a:rPr lang="en-US" sz="3200" smtClean="0">
                <a:solidFill>
                  <a:srgbClr val="FF0000"/>
                </a:solidFill>
              </a:rPr>
              <a:t>DCOVA</a:t>
            </a:r>
          </a:p>
          <a:p>
            <a:pPr>
              <a:buFont typeface="Wingdings" pitchFamily="2" charset="2"/>
              <a:buNone/>
            </a:pPr>
            <a:endParaRPr lang="en-US" sz="2000" smtClean="0">
              <a:solidFill>
                <a:srgbClr val="FF0000"/>
              </a:solidFill>
            </a:endParaRP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D</a:t>
            </a:r>
            <a:r>
              <a:rPr lang="en-US" b="1" smtClean="0"/>
              <a:t>efine</a:t>
            </a:r>
            <a:r>
              <a:rPr lang="en-US" smtClean="0"/>
              <a:t> the variables for which you want to reach conclusions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C</a:t>
            </a:r>
            <a:r>
              <a:rPr lang="en-US" b="1" smtClean="0"/>
              <a:t>ollect</a:t>
            </a:r>
            <a:r>
              <a:rPr lang="en-US" smtClean="0"/>
              <a:t> the data from appropriate sources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O</a:t>
            </a:r>
            <a:r>
              <a:rPr lang="en-US" b="1" smtClean="0"/>
              <a:t>rganize</a:t>
            </a:r>
            <a:r>
              <a:rPr lang="en-US" smtClean="0"/>
              <a:t> the data collected by developing tables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V</a:t>
            </a:r>
            <a:r>
              <a:rPr lang="en-US" b="1" smtClean="0"/>
              <a:t>isualize</a:t>
            </a:r>
            <a:r>
              <a:rPr lang="en-US" smtClean="0"/>
              <a:t> the data by developing charts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A</a:t>
            </a:r>
            <a:r>
              <a:rPr lang="en-US" b="1" smtClean="0"/>
              <a:t>nalyze</a:t>
            </a:r>
            <a:r>
              <a:rPr lang="en-US" smtClean="0"/>
              <a:t> the data by examining the appropriate tables and charts (and in later chapters by using other statistical methods) to reach conclusions</a:t>
            </a:r>
          </a:p>
          <a:p>
            <a:pPr lvl="1"/>
            <a:endParaRPr lang="en-US" smtClean="0"/>
          </a:p>
        </p:txBody>
      </p:sp>
      <p:sp>
        <p:nvSpPr>
          <p:cNvPr id="2150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135BDB82-6CD4-4204-8CBE-2CC55BF9DCEA}" type="slidenum">
              <a:rPr lang="en-US" sz="1000"/>
              <a:pPr algn="r"/>
              <a:t>3</a:t>
            </a:fld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156A498-432C-4692-AE77-4366B91C99E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253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Collect Data?</a:t>
            </a:r>
          </a:p>
        </p:txBody>
      </p:sp>
      <p:sp>
        <p:nvSpPr>
          <p:cNvPr id="22532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marketing research analyst needs to assess the effectiveness of a new television advertisement.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pharmaceutical manufacturer needs to determine whether a new drug is more effective than those currently in use.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An operations manager wants to monitor a manufacturing process to find out whether the quality of the product being manufactured is conforming to company standards.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An auditor wants to review the financial transactions of a company in order to determine whether the company is in compliance with generally accepted accounting principles.</a:t>
            </a:r>
          </a:p>
          <a:p>
            <a:endParaRPr lang="en-US" sz="2400" smtClean="0"/>
          </a:p>
        </p:txBody>
      </p:sp>
      <p:sp>
        <p:nvSpPr>
          <p:cNvPr id="22533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6680A99B-5588-4AEF-BE4E-EA81BBA24C1D}" type="slidenum">
              <a:rPr lang="en-US" sz="1000"/>
              <a:pPr algn="r"/>
              <a:t>4</a:t>
            </a:fld>
            <a:endParaRPr lang="en-US" sz="1000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284A6AB-0664-4F09-8648-BC979AFDC6D9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2355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Sources of Data</a:t>
            </a:r>
          </a:p>
        </p:txBody>
      </p:sp>
      <p:sp>
        <p:nvSpPr>
          <p:cNvPr id="235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b="1" smtClean="0">
                <a:solidFill>
                  <a:srgbClr val="0070C0"/>
                </a:solidFill>
                <a:latin typeface="Times New Roman" pitchFamily="18" charset="0"/>
              </a:rPr>
              <a:t>Primary Sources</a:t>
            </a:r>
            <a:r>
              <a:rPr lang="en-US" sz="2400" smtClean="0">
                <a:latin typeface="Times New Roman" pitchFamily="18" charset="0"/>
              </a:rPr>
              <a:t>: The data collector is the one using the data for analysis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Data from a political survey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Data collected from an experiment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Observed data</a:t>
            </a: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b="1" smtClean="0">
                <a:solidFill>
                  <a:srgbClr val="0070C0"/>
                </a:solidFill>
                <a:latin typeface="Times New Roman" pitchFamily="18" charset="0"/>
              </a:rPr>
              <a:t>Secondary Sources</a:t>
            </a:r>
            <a:r>
              <a:rPr lang="en-US" sz="2400" smtClean="0">
                <a:latin typeface="Times New Roman" pitchFamily="18" charset="0"/>
              </a:rPr>
              <a:t>: The person performing data analysis is not the data collector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Analyzing census data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Examining data from print journals or data published on the internet.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2355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02A5CBF6-15CF-45D9-A6C0-E13B1BBE4AA3}" type="slidenum">
              <a:rPr lang="en-US" sz="1000"/>
              <a:pPr algn="r"/>
              <a:t>5</a:t>
            </a:fld>
            <a:endParaRPr lang="en-US" sz="1000"/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69AA496-22DE-45F6-B8EA-69EDA89E0003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457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4579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r>
              <a:rPr lang="en-US" smtClean="0"/>
              <a:t>Sources of data fall into four categories</a:t>
            </a: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distributed by an organization or an individual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A designed experiment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A survey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en-US" smtClean="0"/>
              <a:t>An observational study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2458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F1FC9546-E9F3-43A6-AD59-53211B5EAE2D}" type="slidenum">
              <a:rPr lang="en-US" sz="1000"/>
              <a:pPr algn="r"/>
              <a:t>6</a:t>
            </a:fld>
            <a:endParaRPr lang="en-US" sz="1000"/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871F6B6-793A-4C42-A8E8-68C939AF30E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560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r>
              <a:rPr lang="en-US" smtClean="0"/>
              <a:t>Examples Of Data Distributed By Organizations or Individuals</a:t>
            </a: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Financial data on a company provided by investment services</a:t>
            </a:r>
          </a:p>
          <a:p>
            <a:endParaRPr lang="en-US" smtClean="0"/>
          </a:p>
          <a:p>
            <a:r>
              <a:rPr lang="en-US" smtClean="0"/>
              <a:t>Industry or market data from market research firms and trade associations</a:t>
            </a:r>
          </a:p>
          <a:p>
            <a:endParaRPr lang="en-US" smtClean="0"/>
          </a:p>
          <a:p>
            <a:r>
              <a:rPr lang="en-US" smtClean="0"/>
              <a:t>Stock prices, weather conditions, and sports statistics in daily newspapers</a:t>
            </a:r>
          </a:p>
        </p:txBody>
      </p:sp>
      <p:sp>
        <p:nvSpPr>
          <p:cNvPr id="2560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DF8D22D6-3875-4223-BDEA-AE951258C9CF}" type="slidenum">
              <a:rPr lang="en-US" sz="1000"/>
              <a:pPr algn="r"/>
              <a:t>7</a:t>
            </a:fld>
            <a:endParaRPr lang="en-US" sz="1000"/>
          </a:p>
        </p:txBody>
      </p:sp>
      <p:sp>
        <p:nvSpPr>
          <p:cNvPr id="25606" name="TextBox 5"/>
          <p:cNvSpPr txBox="1">
            <a:spLocks noChangeArrowheads="1"/>
          </p:cNvSpPr>
          <p:nvPr/>
        </p:nvSpPr>
        <p:spPr bwMode="auto">
          <a:xfrm>
            <a:off x="7543800" y="12192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44721D4-A4CC-4C00-B164-9D6DC0B2D737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2662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383463" cy="990600"/>
          </a:xfrm>
        </p:spPr>
        <p:txBody>
          <a:bodyPr/>
          <a:lstStyle/>
          <a:p>
            <a:r>
              <a:rPr lang="en-US" smtClean="0"/>
              <a:t>Examples of Data From</a:t>
            </a:r>
            <a:br>
              <a:rPr lang="en-US" smtClean="0"/>
            </a:br>
            <a:r>
              <a:rPr lang="en-US" smtClean="0"/>
              <a:t>A Designed Experiment</a:t>
            </a:r>
          </a:p>
        </p:txBody>
      </p:sp>
      <p:sp>
        <p:nvSpPr>
          <p:cNvPr id="266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Consumer testing of different versions of a product to help determine which product should be pursued further</a:t>
            </a:r>
          </a:p>
          <a:p>
            <a:endParaRPr lang="en-US" smtClean="0"/>
          </a:p>
          <a:p>
            <a:r>
              <a:rPr lang="en-US" smtClean="0"/>
              <a:t>Material testing to determine which supplier’s material should be used in a product</a:t>
            </a:r>
          </a:p>
          <a:p>
            <a:endParaRPr lang="en-US" smtClean="0"/>
          </a:p>
          <a:p>
            <a:r>
              <a:rPr lang="en-US" smtClean="0"/>
              <a:t>Market testing on alternative product promotions to determine which promotion to use more broadly</a:t>
            </a:r>
          </a:p>
        </p:txBody>
      </p:sp>
      <p:sp>
        <p:nvSpPr>
          <p:cNvPr id="2662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AAB55CD4-8C92-4DAA-9858-FC7788276568}" type="slidenum">
              <a:rPr lang="en-US" sz="1000"/>
              <a:pPr algn="r"/>
              <a:t>8</a:t>
            </a:fld>
            <a:endParaRPr lang="en-US" sz="1000"/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58DFDB9A-4CF1-4114-A857-6453A89CD69C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276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Examples of Survey Data</a:t>
            </a:r>
          </a:p>
        </p:txBody>
      </p:sp>
      <p:sp>
        <p:nvSpPr>
          <p:cNvPr id="2765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Political polls of registered voters during political campaigns</a:t>
            </a:r>
          </a:p>
          <a:p>
            <a:endParaRPr lang="en-US" smtClean="0"/>
          </a:p>
          <a:p>
            <a:r>
              <a:rPr lang="en-US" smtClean="0"/>
              <a:t>People being surveyed to determine their satisfaction with a recent product or service experience</a:t>
            </a: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2765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2F5D5218-62AE-4215-A9CF-25A633122B1D}" type="slidenum">
              <a:rPr lang="en-US" sz="1000"/>
              <a:pPr algn="r"/>
              <a:t>9</a:t>
            </a:fld>
            <a:endParaRPr lang="en-US" sz="1000"/>
          </a:p>
        </p:txBody>
      </p:sp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24DB959-88EA-47C1-B29A-E3E829B3C5BC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2867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8675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383463" cy="990600"/>
          </a:xfrm>
        </p:spPr>
        <p:txBody>
          <a:bodyPr/>
          <a:lstStyle/>
          <a:p>
            <a:r>
              <a:rPr lang="en-US" smtClean="0"/>
              <a:t>Examples of Data From Observational Studies</a:t>
            </a: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Market researchers utilizing focus groups to elicit unstructured responses to open-ended questions</a:t>
            </a:r>
          </a:p>
          <a:p>
            <a:endParaRPr lang="en-US" smtClean="0"/>
          </a:p>
          <a:p>
            <a:r>
              <a:rPr lang="en-US" smtClean="0"/>
              <a:t>Measuring the time it takes for customers to be served in a fast food establishment</a:t>
            </a:r>
          </a:p>
          <a:p>
            <a:endParaRPr lang="en-US" smtClean="0"/>
          </a:p>
          <a:p>
            <a:r>
              <a:rPr lang="en-US" smtClean="0"/>
              <a:t>Measuring the volume of traffic through an intersection to determine if some form of advertising at the intersection is justified</a:t>
            </a:r>
          </a:p>
        </p:txBody>
      </p:sp>
      <p:sp>
        <p:nvSpPr>
          <p:cNvPr id="2867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56A109F1-F9DC-4938-A431-0A51D1D2BFB5}" type="slidenum">
              <a:rPr lang="en-US" sz="1000"/>
              <a:pPr algn="r"/>
              <a:t>10</a:t>
            </a:fld>
            <a:endParaRPr lang="en-US" sz="1000"/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</a:t>
            </a:r>
            <a:r>
              <a:rPr lang="en-US" sz="2800" u="sng">
                <a:solidFill>
                  <a:srgbClr val="FF0000"/>
                </a:solidFill>
              </a:rPr>
              <a:t>C</a:t>
            </a:r>
            <a:r>
              <a:rPr lang="en-US" sz="2800"/>
              <a:t>OVA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82FB2D52-E81E-4BD6-AE79-D1B7A81C1DF2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2969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9699" name="Title 5"/>
          <p:cNvSpPr>
            <a:spLocks noGrp="1"/>
          </p:cNvSpPr>
          <p:nvPr>
            <p:ph type="title"/>
          </p:nvPr>
        </p:nvSpPr>
        <p:spPr>
          <a:xfrm>
            <a:off x="685800" y="381000"/>
            <a:ext cx="8153400" cy="990600"/>
          </a:xfrm>
        </p:spPr>
        <p:txBody>
          <a:bodyPr/>
          <a:lstStyle/>
          <a:p>
            <a:r>
              <a:rPr lang="en-US" smtClean="0"/>
              <a:t>Categorical Data Are Organized By Utilizing Tables</a:t>
            </a:r>
          </a:p>
        </p:txBody>
      </p:sp>
      <p:sp>
        <p:nvSpPr>
          <p:cNvPr id="2970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69E24867-585E-43B0-85BC-96188BB5C9C5}" type="slidenum">
              <a:rPr lang="en-US" sz="1000"/>
              <a:pPr algn="r"/>
              <a:t>11</a:t>
            </a:fld>
            <a:endParaRPr lang="en-US" sz="1000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4419600" y="2357438"/>
            <a:ext cx="0" cy="6905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897188" y="1754188"/>
            <a:ext cx="2968625" cy="955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</a:rPr>
              <a:t>Categorical Data</a:t>
            </a:r>
          </a:p>
        </p:txBody>
      </p:sp>
      <p:sp>
        <p:nvSpPr>
          <p:cNvPr id="29703" name="Line 19"/>
          <p:cNvSpPr>
            <a:spLocks noChangeShapeType="1"/>
          </p:cNvSpPr>
          <p:nvPr/>
        </p:nvSpPr>
        <p:spPr bwMode="auto">
          <a:xfrm>
            <a:off x="1752600" y="45720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2895600" y="3048000"/>
            <a:ext cx="2970213" cy="3937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b="1"/>
              <a:t>Tallying Data</a:t>
            </a:r>
          </a:p>
        </p:txBody>
      </p:sp>
      <p:sp>
        <p:nvSpPr>
          <p:cNvPr id="29705" name="Rectangle 18"/>
          <p:cNvSpPr>
            <a:spLocks noChangeArrowheads="1"/>
          </p:cNvSpPr>
          <p:nvPr/>
        </p:nvSpPr>
        <p:spPr bwMode="auto">
          <a:xfrm>
            <a:off x="838200" y="5181600"/>
            <a:ext cx="1828800" cy="8382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800" b="1"/>
              <a:t> </a:t>
            </a:r>
            <a:r>
              <a:rPr lang="en-US" b="1"/>
              <a:t>Summary Table</a:t>
            </a:r>
          </a:p>
        </p:txBody>
      </p:sp>
      <p:sp>
        <p:nvSpPr>
          <p:cNvPr id="29706" name="TextBox 13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sp>
        <p:nvSpPr>
          <p:cNvPr id="29707" name="Rectangle 18"/>
          <p:cNvSpPr>
            <a:spLocks noChangeArrowheads="1"/>
          </p:cNvSpPr>
          <p:nvPr/>
        </p:nvSpPr>
        <p:spPr bwMode="auto">
          <a:xfrm>
            <a:off x="762000" y="3733800"/>
            <a:ext cx="1981200" cy="10668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800" b="1"/>
              <a:t> </a:t>
            </a:r>
            <a:r>
              <a:rPr lang="en-US" b="1"/>
              <a:t>One Categorical Variable</a:t>
            </a:r>
          </a:p>
        </p:txBody>
      </p:sp>
      <p:cxnSp>
        <p:nvCxnSpPr>
          <p:cNvPr id="29708" name="Shape 18"/>
          <p:cNvCxnSpPr>
            <a:cxnSpLocks noChangeShapeType="1"/>
            <a:stCxn id="29707" idx="0"/>
            <a:endCxn id="29704" idx="1"/>
          </p:cNvCxnSpPr>
          <p:nvPr/>
        </p:nvCxnSpPr>
        <p:spPr bwMode="auto">
          <a:xfrm rot="5400000" flipH="1" flipV="1">
            <a:off x="2079625" y="2917825"/>
            <a:ext cx="488950" cy="1143000"/>
          </a:xfrm>
          <a:prstGeom prst="bentConnector2">
            <a:avLst/>
          </a:prstGeom>
          <a:noFill/>
          <a:ln w="15875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9709" name="Line 19"/>
          <p:cNvSpPr>
            <a:spLocks noChangeShapeType="1"/>
          </p:cNvSpPr>
          <p:nvPr/>
        </p:nvSpPr>
        <p:spPr bwMode="auto">
          <a:xfrm>
            <a:off x="6781800" y="45720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Rectangle 18"/>
          <p:cNvSpPr>
            <a:spLocks noChangeArrowheads="1"/>
          </p:cNvSpPr>
          <p:nvPr/>
        </p:nvSpPr>
        <p:spPr bwMode="auto">
          <a:xfrm>
            <a:off x="5791200" y="3733800"/>
            <a:ext cx="1981200" cy="10668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800" b="1"/>
              <a:t> </a:t>
            </a:r>
            <a:r>
              <a:rPr lang="en-US" b="1"/>
              <a:t>Two Categorical Variables</a:t>
            </a:r>
          </a:p>
        </p:txBody>
      </p:sp>
      <p:cxnSp>
        <p:nvCxnSpPr>
          <p:cNvPr id="29711" name="Shape 20"/>
          <p:cNvCxnSpPr>
            <a:cxnSpLocks noChangeShapeType="1"/>
            <a:stCxn id="29710" idx="0"/>
            <a:endCxn id="29704" idx="3"/>
          </p:cNvCxnSpPr>
          <p:nvPr/>
        </p:nvCxnSpPr>
        <p:spPr bwMode="auto">
          <a:xfrm rot="16200000" flipV="1">
            <a:off x="6079332" y="3031331"/>
            <a:ext cx="488950" cy="915987"/>
          </a:xfrm>
          <a:prstGeom prst="bentConnector2">
            <a:avLst/>
          </a:prstGeom>
          <a:noFill/>
          <a:ln w="15875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9712" name="Rectangle 18"/>
          <p:cNvSpPr>
            <a:spLocks noChangeArrowheads="1"/>
          </p:cNvSpPr>
          <p:nvPr/>
        </p:nvSpPr>
        <p:spPr bwMode="auto">
          <a:xfrm>
            <a:off x="5791200" y="5181600"/>
            <a:ext cx="2057400" cy="8382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1"/>
              <a:t>Contingency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649CE6FB-2079-4ECD-A042-C5DA19FF712D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3072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0723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EDC912CF-D948-44A9-99C2-DB800B8AA10B}" type="slidenum">
              <a:rPr lang="en-US" sz="1000"/>
              <a:pPr algn="r" defTabSz="852488"/>
              <a:t>12</a:t>
            </a:fld>
            <a:endParaRPr lang="en-US" sz="10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Categorical Data: Summary Table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7620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A </a:t>
            </a:r>
            <a:r>
              <a:rPr lang="en-US" sz="2000" b="1" smtClean="0">
                <a:latin typeface="Times New Roman" pitchFamily="18" charset="0"/>
              </a:rPr>
              <a:t>summary table </a:t>
            </a:r>
            <a:r>
              <a:rPr lang="en-US" sz="2000" smtClean="0">
                <a:latin typeface="Times New Roman" pitchFamily="18" charset="0"/>
              </a:rPr>
              <a:t>indicates the frequency, amount, or percentage of items in a set of categories so that you can see differences between categories.</a:t>
            </a:r>
            <a:r>
              <a:rPr lang="en-US" sz="2400" smtClean="0"/>
              <a:t> </a:t>
            </a:r>
          </a:p>
        </p:txBody>
      </p:sp>
      <p:graphicFrame>
        <p:nvGraphicFramePr>
          <p:cNvPr id="193540" name="Group 4"/>
          <p:cNvGraphicFramePr>
            <a:graphicFrameLocks noGrp="1"/>
          </p:cNvGraphicFramePr>
          <p:nvPr>
            <p:ph sz="half" idx="2"/>
          </p:nvPr>
        </p:nvGraphicFramePr>
        <p:xfrm>
          <a:off x="1295400" y="3389313"/>
          <a:ext cx="7010400" cy="2225675"/>
        </p:xfrm>
        <a:graphic>
          <a:graphicData uri="http://schemas.openxmlformats.org/drawingml/2006/table">
            <a:tbl>
              <a:tblPr/>
              <a:tblGrid>
                <a:gridCol w="5486400"/>
                <a:gridCol w="1524000"/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Banking Preference?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Percent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Automated or live telephone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Drive-through service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 person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Internet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49" name="TextBox 7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sp>
        <p:nvSpPr>
          <p:cNvPr id="30750" name="TextBox 8"/>
          <p:cNvSpPr txBox="1">
            <a:spLocks noChangeArrowheads="1"/>
          </p:cNvSpPr>
          <p:nvPr/>
        </p:nvSpPr>
        <p:spPr bwMode="auto">
          <a:xfrm>
            <a:off x="1066800" y="2743200"/>
            <a:ext cx="73993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/>
              <a:t>Summary Table From A Survey of 1000 Banking Customers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CC56E7F1-4B21-44E7-89BD-E47DBBF94140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3174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A Contingency Table Helps Organize Two or More Categorical Variables</a:t>
            </a: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077200" cy="4532313"/>
          </a:xfrm>
        </p:spPr>
        <p:txBody>
          <a:bodyPr/>
          <a:lstStyle/>
          <a:p>
            <a:r>
              <a:rPr lang="en-US" smtClean="0"/>
              <a:t>Used to study patterns that may exist between the responses of two or more categorical variables</a:t>
            </a:r>
          </a:p>
          <a:p>
            <a:endParaRPr lang="en-US" smtClean="0"/>
          </a:p>
          <a:p>
            <a:r>
              <a:rPr lang="en-US" smtClean="0"/>
              <a:t>Cross tabulates or tallies jointly the responses of the categorical variables</a:t>
            </a:r>
          </a:p>
          <a:p>
            <a:endParaRPr lang="en-US" smtClean="0"/>
          </a:p>
          <a:p>
            <a:r>
              <a:rPr lang="en-US" smtClean="0"/>
              <a:t>For two variables the tallies for one variable are located in the rows and the tallies for the second variable are located in the columns</a:t>
            </a:r>
          </a:p>
        </p:txBody>
      </p:sp>
      <p:sp>
        <p:nvSpPr>
          <p:cNvPr id="3174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1643B1EC-F858-45EE-B1A9-1148665E1C78}" type="slidenum">
              <a:rPr lang="en-US" sz="1000"/>
              <a:pPr algn="r"/>
              <a:t>13</a:t>
            </a:fld>
            <a:endParaRPr lang="en-US" sz="1000"/>
          </a:p>
        </p:txBody>
      </p:sp>
      <p:sp>
        <p:nvSpPr>
          <p:cNvPr id="31750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9399B00A-0E98-400F-AA27-5CF6CE469EB4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3277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Contingency Table - Example</a:t>
            </a:r>
          </a:p>
        </p:txBody>
      </p:sp>
      <p:sp>
        <p:nvSpPr>
          <p:cNvPr id="32772" name="Content Placeholder 2"/>
          <p:cNvSpPr>
            <a:spLocks noGrp="1"/>
          </p:cNvSpPr>
          <p:nvPr>
            <p:ph sz="half" idx="1"/>
          </p:nvPr>
        </p:nvSpPr>
        <p:spPr>
          <a:xfrm>
            <a:off x="0" y="1752600"/>
            <a:ext cx="4495800" cy="4532313"/>
          </a:xfrm>
        </p:spPr>
        <p:txBody>
          <a:bodyPr/>
          <a:lstStyle/>
          <a:p>
            <a:r>
              <a:rPr lang="en-US" sz="2400" smtClean="0"/>
              <a:t>A random sample of 400 invoices is drawn.</a:t>
            </a:r>
          </a:p>
          <a:p>
            <a:r>
              <a:rPr lang="en-US" sz="2400" smtClean="0"/>
              <a:t>Each invoice is categorized as a small, medium, or large amount.</a:t>
            </a:r>
          </a:p>
          <a:p>
            <a:r>
              <a:rPr lang="en-US" sz="2400" smtClean="0"/>
              <a:t>Each invoice is also examined to identify if there are any errors.</a:t>
            </a:r>
          </a:p>
          <a:p>
            <a:r>
              <a:rPr lang="en-US" sz="2400" smtClean="0"/>
              <a:t>These data are then organized in the contingency table to the right.</a:t>
            </a:r>
          </a:p>
        </p:txBody>
      </p:sp>
      <p:sp>
        <p:nvSpPr>
          <p:cNvPr id="3277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00268307-93DB-4FCB-B21A-2917AB4D38B7}" type="slidenum">
              <a:rPr lang="en-US" sz="1000"/>
              <a:pPr algn="r"/>
              <a:t>14</a:t>
            </a:fld>
            <a:endParaRPr lang="en-US" sz="1000"/>
          </a:p>
        </p:txBody>
      </p:sp>
      <p:sp>
        <p:nvSpPr>
          <p:cNvPr id="32774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48200" y="30480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807" name="TextBox 10"/>
          <p:cNvSpPr txBox="1">
            <a:spLocks noChangeArrowheads="1"/>
          </p:cNvSpPr>
          <p:nvPr/>
        </p:nvSpPr>
        <p:spPr bwMode="auto">
          <a:xfrm>
            <a:off x="4419600" y="2057400"/>
            <a:ext cx="455771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/>
              <a:t>Contingency Table Showing</a:t>
            </a:r>
          </a:p>
          <a:p>
            <a:pPr algn="ctr"/>
            <a:r>
              <a:rPr lang="en-US" sz="2000" b="1"/>
              <a:t>Frequency of Invoices Categorized</a:t>
            </a:r>
          </a:p>
          <a:p>
            <a:pPr algn="ctr"/>
            <a:r>
              <a:rPr lang="en-US" sz="2000" b="1"/>
              <a:t>By Size and The Presence Of Errors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4744257D-A0C2-46F3-9D9F-FAAAA2B5BC07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3379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3795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8305800" cy="990600"/>
          </a:xfrm>
        </p:spPr>
        <p:txBody>
          <a:bodyPr/>
          <a:lstStyle/>
          <a:p>
            <a:r>
              <a:rPr lang="en-US" smtClean="0"/>
              <a:t>Contingency Table Based On Percentage of Overall Total</a:t>
            </a:r>
          </a:p>
        </p:txBody>
      </p:sp>
      <p:sp>
        <p:nvSpPr>
          <p:cNvPr id="33796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C879AFF4-30AA-426D-95E3-10C6A224A570}" type="slidenum">
              <a:rPr lang="en-US" sz="1000"/>
              <a:pPr algn="r"/>
              <a:t>15</a:t>
            </a:fld>
            <a:endParaRPr lang="en-US" sz="10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14478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829" name="TextBox 5"/>
          <p:cNvSpPr txBox="1">
            <a:spLocks noChangeArrowheads="1"/>
          </p:cNvSpPr>
          <p:nvPr/>
        </p:nvSpPr>
        <p:spPr bwMode="auto">
          <a:xfrm>
            <a:off x="7634288" y="1143000"/>
            <a:ext cx="1433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24400" y="31242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42.50%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5.00%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25.00%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10.00%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35.00%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16.25%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1.25%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83.75%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16.25%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862" name="TextBox 7"/>
          <p:cNvSpPr txBox="1">
            <a:spLocks noChangeArrowheads="1"/>
          </p:cNvSpPr>
          <p:nvPr/>
        </p:nvSpPr>
        <p:spPr bwMode="auto">
          <a:xfrm>
            <a:off x="5410200" y="1600200"/>
            <a:ext cx="2863850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42.50% = 170 / 400</a:t>
            </a:r>
          </a:p>
          <a:p>
            <a:r>
              <a:rPr lang="en-US"/>
              <a:t>25.00% = 100 / 400</a:t>
            </a:r>
          </a:p>
          <a:p>
            <a:r>
              <a:rPr lang="en-US"/>
              <a:t>16.25% =   65 / 400</a:t>
            </a:r>
          </a:p>
        </p:txBody>
      </p:sp>
      <p:cxnSp>
        <p:nvCxnSpPr>
          <p:cNvPr id="33863" name="Straight Arrow Connector 11"/>
          <p:cNvCxnSpPr>
            <a:cxnSpLocks noChangeShapeType="1"/>
          </p:cNvCxnSpPr>
          <p:nvPr/>
        </p:nvCxnSpPr>
        <p:spPr bwMode="auto">
          <a:xfrm>
            <a:off x="4343400" y="2286000"/>
            <a:ext cx="990600" cy="1588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33864" name="Straight Arrow Connector 12"/>
          <p:cNvCxnSpPr>
            <a:cxnSpLocks noChangeShapeType="1"/>
            <a:stCxn id="33862" idx="2"/>
          </p:cNvCxnSpPr>
          <p:nvPr/>
        </p:nvCxnSpPr>
        <p:spPr bwMode="auto">
          <a:xfrm rot="5400000">
            <a:off x="6650038" y="2932112"/>
            <a:ext cx="323850" cy="60325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sp>
        <p:nvSpPr>
          <p:cNvPr id="33865" name="TextBox 19"/>
          <p:cNvSpPr txBox="1">
            <a:spLocks noChangeArrowheads="1"/>
          </p:cNvSpPr>
          <p:nvPr/>
        </p:nvSpPr>
        <p:spPr bwMode="auto">
          <a:xfrm>
            <a:off x="152400" y="4876800"/>
            <a:ext cx="4038600" cy="15700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83.75% of sampled invoices have no errors and 47.50% of sampled invoices are for small amounts.</a:t>
            </a:r>
          </a:p>
        </p:txBody>
      </p:sp>
      <p:cxnSp>
        <p:nvCxnSpPr>
          <p:cNvPr id="33866" name="Straight Arrow Connector 20"/>
          <p:cNvCxnSpPr>
            <a:cxnSpLocks noChangeShapeType="1"/>
          </p:cNvCxnSpPr>
          <p:nvPr/>
        </p:nvCxnSpPr>
        <p:spPr bwMode="auto">
          <a:xfrm rot="5400000">
            <a:off x="4152900" y="4762500"/>
            <a:ext cx="609600" cy="53340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7C493F86-DAD2-4878-A677-E0E05CE99776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3481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8305800" cy="990600"/>
          </a:xfrm>
        </p:spPr>
        <p:txBody>
          <a:bodyPr/>
          <a:lstStyle/>
          <a:p>
            <a:r>
              <a:rPr lang="en-US" smtClean="0"/>
              <a:t>Contingency Table Based On Percentage of Row Totals</a:t>
            </a:r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8371012E-2053-49FB-9E58-46C17CE2D797}" type="slidenum">
              <a:rPr lang="en-US" sz="1000"/>
              <a:pPr algn="r"/>
              <a:t>16</a:t>
            </a:fld>
            <a:endParaRPr lang="en-US" sz="10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14478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853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24400" y="31242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89.47%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10.53%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71.43%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28.57%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92.86%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7.14%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83.75%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16.25%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886" name="TextBox 7"/>
          <p:cNvSpPr txBox="1">
            <a:spLocks noChangeArrowheads="1"/>
          </p:cNvSpPr>
          <p:nvPr/>
        </p:nvSpPr>
        <p:spPr bwMode="auto">
          <a:xfrm>
            <a:off x="5410200" y="1600200"/>
            <a:ext cx="2863850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89.47% = 170 / 190</a:t>
            </a:r>
          </a:p>
          <a:p>
            <a:r>
              <a:rPr lang="en-US"/>
              <a:t>71.43% = 100 / 140</a:t>
            </a:r>
          </a:p>
          <a:p>
            <a:r>
              <a:rPr lang="en-US"/>
              <a:t>92.86% =   65 / 70</a:t>
            </a:r>
          </a:p>
        </p:txBody>
      </p:sp>
      <p:cxnSp>
        <p:nvCxnSpPr>
          <p:cNvPr id="34887" name="Straight Arrow Connector 11"/>
          <p:cNvCxnSpPr>
            <a:cxnSpLocks noChangeShapeType="1"/>
          </p:cNvCxnSpPr>
          <p:nvPr/>
        </p:nvCxnSpPr>
        <p:spPr bwMode="auto">
          <a:xfrm>
            <a:off x="4343400" y="2286000"/>
            <a:ext cx="990600" cy="1588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34888" name="Straight Arrow Connector 12"/>
          <p:cNvCxnSpPr>
            <a:cxnSpLocks noChangeShapeType="1"/>
            <a:stCxn id="34886" idx="2"/>
          </p:cNvCxnSpPr>
          <p:nvPr/>
        </p:nvCxnSpPr>
        <p:spPr bwMode="auto">
          <a:xfrm rot="5400000">
            <a:off x="6650038" y="2932112"/>
            <a:ext cx="323850" cy="60325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sp>
        <p:nvSpPr>
          <p:cNvPr id="34889" name="TextBox 19"/>
          <p:cNvSpPr txBox="1">
            <a:spLocks noChangeArrowheads="1"/>
          </p:cNvSpPr>
          <p:nvPr/>
        </p:nvSpPr>
        <p:spPr bwMode="auto">
          <a:xfrm>
            <a:off x="152400" y="4876800"/>
            <a:ext cx="4343400" cy="15700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Medium invoices have a larger chance (28.57%) of having errors than small (10.53%) or large (7.14%) invoices.</a:t>
            </a:r>
          </a:p>
        </p:txBody>
      </p:sp>
      <p:cxnSp>
        <p:nvCxnSpPr>
          <p:cNvPr id="34890" name="Straight Arrow Connector 20"/>
          <p:cNvCxnSpPr>
            <a:cxnSpLocks noChangeShapeType="1"/>
          </p:cNvCxnSpPr>
          <p:nvPr/>
        </p:nvCxnSpPr>
        <p:spPr bwMode="auto">
          <a:xfrm rot="10800000" flipV="1">
            <a:off x="4419600" y="4724400"/>
            <a:ext cx="304800" cy="22860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5F7A580E-3ED9-4EBA-9C89-44DAFCC48E56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3584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8305800" cy="990600"/>
          </a:xfrm>
        </p:spPr>
        <p:txBody>
          <a:bodyPr/>
          <a:lstStyle/>
          <a:p>
            <a:r>
              <a:rPr lang="en-US" smtClean="0"/>
              <a:t>Contingency Table Based On Percentage Of Column Total</a:t>
            </a:r>
          </a:p>
        </p:txBody>
      </p:sp>
      <p:sp>
        <p:nvSpPr>
          <p:cNvPr id="35844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B7DF0836-01EA-4E28-8E00-A99B36FF7CAD}" type="slidenum">
              <a:rPr lang="en-US" sz="1000"/>
              <a:pPr algn="r"/>
              <a:t>17</a:t>
            </a:fld>
            <a:endParaRPr lang="en-US" sz="10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14478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877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24400" y="31242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50.75%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30.77%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29.85%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61.54%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35.00%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19.40%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7.69%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910" name="TextBox 7"/>
          <p:cNvSpPr txBox="1">
            <a:spLocks noChangeArrowheads="1"/>
          </p:cNvSpPr>
          <p:nvPr/>
        </p:nvSpPr>
        <p:spPr bwMode="auto">
          <a:xfrm>
            <a:off x="5410200" y="1684338"/>
            <a:ext cx="2863850" cy="830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50.75% = 170 / 335</a:t>
            </a:r>
          </a:p>
          <a:p>
            <a:r>
              <a:rPr lang="en-US"/>
              <a:t>30.77% =   20 / 65</a:t>
            </a:r>
          </a:p>
        </p:txBody>
      </p:sp>
      <p:cxnSp>
        <p:nvCxnSpPr>
          <p:cNvPr id="35911" name="Straight Arrow Connector 11"/>
          <p:cNvCxnSpPr>
            <a:cxnSpLocks noChangeShapeType="1"/>
          </p:cNvCxnSpPr>
          <p:nvPr/>
        </p:nvCxnSpPr>
        <p:spPr bwMode="auto">
          <a:xfrm>
            <a:off x="4343400" y="2286000"/>
            <a:ext cx="990600" cy="1588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35912" name="Straight Arrow Connector 12"/>
          <p:cNvCxnSpPr>
            <a:cxnSpLocks noChangeShapeType="1"/>
            <a:stCxn id="35910" idx="2"/>
          </p:cNvCxnSpPr>
          <p:nvPr/>
        </p:nvCxnSpPr>
        <p:spPr bwMode="auto">
          <a:xfrm rot="16200000" flipH="1">
            <a:off x="6545263" y="2811462"/>
            <a:ext cx="609600" cy="15875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sp>
        <p:nvSpPr>
          <p:cNvPr id="35913" name="TextBox 19"/>
          <p:cNvSpPr txBox="1">
            <a:spLocks noChangeArrowheads="1"/>
          </p:cNvSpPr>
          <p:nvPr/>
        </p:nvSpPr>
        <p:spPr bwMode="auto">
          <a:xfrm>
            <a:off x="152400" y="4876800"/>
            <a:ext cx="4038600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There is a 61.54% chance that invoices with errors are of medium size.</a:t>
            </a:r>
          </a:p>
        </p:txBody>
      </p:sp>
      <p:cxnSp>
        <p:nvCxnSpPr>
          <p:cNvPr id="35914" name="Straight Arrow Connector 20"/>
          <p:cNvCxnSpPr>
            <a:cxnSpLocks noChangeShapeType="1"/>
          </p:cNvCxnSpPr>
          <p:nvPr/>
        </p:nvCxnSpPr>
        <p:spPr bwMode="auto">
          <a:xfrm rot="5400000">
            <a:off x="4152900" y="4762500"/>
            <a:ext cx="609600" cy="53340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8B6192E5-1C1F-4BCC-9B47-484EAF1D564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3686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8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E5A9D046-EC55-489A-92F1-CB631A6DA883}" type="slidenum">
              <a:rPr lang="en-US" sz="1000"/>
              <a:pPr algn="r" defTabSz="852488"/>
              <a:t>18</a:t>
            </a:fld>
            <a:endParaRPr lang="en-US" sz="10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781800" cy="1143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smtClean="0"/>
              <a:t>Tables Used For Organizing</a:t>
            </a:r>
            <a:br>
              <a:rPr lang="en-US" smtClean="0"/>
            </a:br>
            <a:r>
              <a:rPr lang="en-US" smtClean="0"/>
              <a:t> Numerical Data</a:t>
            </a:r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4276725" y="22860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466725" y="1828800"/>
            <a:ext cx="80200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2754313" y="1754188"/>
            <a:ext cx="2968625" cy="5286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</a:rPr>
              <a:t>Numerical Data</a:t>
            </a:r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1600200" y="3048000"/>
            <a:ext cx="6172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>
            <a:off x="1600200" y="30480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auto">
          <a:xfrm>
            <a:off x="381000" y="3657600"/>
            <a:ext cx="2359025" cy="466725"/>
          </a:xfrm>
          <a:prstGeom prst="rect">
            <a:avLst/>
          </a:prstGeom>
          <a:solidFill>
            <a:srgbClr val="D1D1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Ordered Array</a:t>
            </a:r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4267200" y="30480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Box 22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  <p:sp>
        <p:nvSpPr>
          <p:cNvPr id="36877" name="Line 11"/>
          <p:cNvSpPr>
            <a:spLocks noChangeShapeType="1"/>
          </p:cNvSpPr>
          <p:nvPr/>
        </p:nvSpPr>
        <p:spPr bwMode="auto">
          <a:xfrm>
            <a:off x="7772400" y="30480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TextBox 25"/>
          <p:cNvSpPr txBox="1">
            <a:spLocks noChangeArrowheads="1"/>
          </p:cNvSpPr>
          <p:nvPr/>
        </p:nvSpPr>
        <p:spPr bwMode="auto">
          <a:xfrm>
            <a:off x="6858000" y="3505200"/>
            <a:ext cx="2081213" cy="8302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Cumulative</a:t>
            </a:r>
          </a:p>
          <a:p>
            <a:pPr algn="ctr"/>
            <a:r>
              <a:rPr lang="en-US" b="1"/>
              <a:t>Distributions</a:t>
            </a:r>
          </a:p>
        </p:txBody>
      </p:sp>
      <p:sp>
        <p:nvSpPr>
          <p:cNvPr id="36879" name="TextBox 26"/>
          <p:cNvSpPr txBox="1">
            <a:spLocks noChangeArrowheads="1"/>
          </p:cNvSpPr>
          <p:nvPr/>
        </p:nvSpPr>
        <p:spPr bwMode="auto">
          <a:xfrm>
            <a:off x="3429000" y="3505200"/>
            <a:ext cx="2081213" cy="8302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Frequency</a:t>
            </a:r>
          </a:p>
          <a:p>
            <a:pPr algn="ctr"/>
            <a:r>
              <a:rPr lang="en-US" b="1"/>
              <a:t>Distributions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DA19EF0C-699A-47B6-ADCC-7DB7FD49A354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3789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7891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A281D81D-3AE9-4188-9477-C5654D5EFD35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Numerical Data: </a:t>
            </a:r>
            <a:br>
              <a:rPr lang="en-US" sz="3700" smtClean="0"/>
            </a:br>
            <a:r>
              <a:rPr lang="en-US" sz="3700" smtClean="0"/>
              <a:t>Ordered Array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7813675" cy="13716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An </a:t>
            </a:r>
            <a:r>
              <a:rPr lang="en-US" sz="2000" b="1" smtClean="0">
                <a:latin typeface="Times New Roman" pitchFamily="18" charset="0"/>
              </a:rPr>
              <a:t>ordered array </a:t>
            </a:r>
            <a:r>
              <a:rPr lang="en-US" sz="2000" smtClean="0">
                <a:latin typeface="Times New Roman" pitchFamily="18" charset="0"/>
              </a:rPr>
              <a:t>is a sequence of data, in rank order, from the smallest value to the largest value.</a:t>
            </a:r>
            <a:endParaRPr lang="en-US" sz="24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Shows range (minimum value to maximum value)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May help identify outliers (unusual observations)</a:t>
            </a:r>
          </a:p>
        </p:txBody>
      </p:sp>
      <p:graphicFrame>
        <p:nvGraphicFramePr>
          <p:cNvPr id="197691" name="Group 59"/>
          <p:cNvGraphicFramePr>
            <a:graphicFrameLocks noGrp="1"/>
          </p:cNvGraphicFramePr>
          <p:nvPr>
            <p:ph sz="half" idx="2"/>
          </p:nvPr>
        </p:nvGraphicFramePr>
        <p:xfrm>
          <a:off x="609600" y="3236913"/>
          <a:ext cx="7462838" cy="3079750"/>
        </p:xfrm>
        <a:graphic>
          <a:graphicData uri="http://schemas.openxmlformats.org/drawingml/2006/table">
            <a:tbl>
              <a:tblPr/>
              <a:tblGrid>
                <a:gridCol w="1755775"/>
                <a:gridCol w="877888"/>
                <a:gridCol w="966787"/>
                <a:gridCol w="965200"/>
                <a:gridCol w="965200"/>
                <a:gridCol w="966788"/>
                <a:gridCol w="965200"/>
              </a:tblGrid>
              <a:tr h="369888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Age of Surveyed College Students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Day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Night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9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7949" name="TextBox 6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283D8CE7-034E-4E1C-8189-5A44605822AD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3891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891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5C88800F-276C-4FD7-BC45-2C087AE2A033}" type="slidenum">
              <a:rPr lang="en-US" sz="1000"/>
              <a:pPr algn="r" defTabSz="852488"/>
              <a:t>20</a:t>
            </a:fld>
            <a:endParaRPr lang="en-US" sz="10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Numerical Data: </a:t>
            </a:r>
            <a:br>
              <a:rPr lang="en-US" sz="3700" smtClean="0"/>
            </a:br>
            <a:r>
              <a:rPr lang="en-US" sz="3700" smtClean="0"/>
              <a:t>Frequency Distribution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9449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The </a:t>
            </a:r>
            <a:r>
              <a:rPr lang="en-US" sz="2000" b="1" smtClean="0">
                <a:latin typeface="Times New Roman" pitchFamily="18" charset="0"/>
              </a:rPr>
              <a:t>frequency distribution </a:t>
            </a:r>
            <a:r>
              <a:rPr lang="en-US" sz="2000" smtClean="0">
                <a:latin typeface="Times New Roman" pitchFamily="18" charset="0"/>
              </a:rPr>
              <a:t>is a summary table in which the data are arranged into numerically ordered classes.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You must give attention to selecting the appropriate </a:t>
            </a:r>
            <a:r>
              <a:rPr lang="en-US" sz="2000" i="1" smtClean="0">
                <a:latin typeface="Times New Roman" pitchFamily="18" charset="0"/>
              </a:rPr>
              <a:t>number </a:t>
            </a:r>
            <a:r>
              <a:rPr lang="en-US" sz="2000" smtClean="0">
                <a:latin typeface="Times New Roman" pitchFamily="18" charset="0"/>
              </a:rPr>
              <a:t>of </a:t>
            </a:r>
            <a:r>
              <a:rPr lang="en-US" sz="2000" b="1" smtClean="0">
                <a:latin typeface="Times New Roman" pitchFamily="18" charset="0"/>
              </a:rPr>
              <a:t>class groupings </a:t>
            </a:r>
            <a:r>
              <a:rPr lang="en-US" sz="2000" smtClean="0">
                <a:latin typeface="Times New Roman" pitchFamily="18" charset="0"/>
              </a:rPr>
              <a:t>for the table, determining a suitable </a:t>
            </a:r>
            <a:r>
              <a:rPr lang="en-US" sz="2000" i="1" smtClean="0">
                <a:latin typeface="Times New Roman" pitchFamily="18" charset="0"/>
              </a:rPr>
              <a:t>width </a:t>
            </a:r>
            <a:r>
              <a:rPr lang="en-US" sz="2000" smtClean="0">
                <a:latin typeface="Times New Roman" pitchFamily="18" charset="0"/>
              </a:rPr>
              <a:t>of a class grouping, and establishing the </a:t>
            </a:r>
            <a:r>
              <a:rPr lang="en-US" sz="2000" i="1" smtClean="0">
                <a:latin typeface="Times New Roman" pitchFamily="18" charset="0"/>
              </a:rPr>
              <a:t>boundaries </a:t>
            </a:r>
            <a:r>
              <a:rPr lang="en-US" sz="2000" smtClean="0">
                <a:latin typeface="Times New Roman" pitchFamily="18" charset="0"/>
              </a:rPr>
              <a:t>of each class grouping to avoid overlapping.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The number of classes depends on the number of values in the data.  With a larger number of values, typically there are more classes.  In general, a frequency distribution should have at least 5 but no more than 15 classes.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To determine the </a:t>
            </a:r>
            <a:r>
              <a:rPr lang="en-US" sz="2000" b="1" smtClean="0">
                <a:latin typeface="Times New Roman" pitchFamily="18" charset="0"/>
              </a:rPr>
              <a:t>width of a class interval, </a:t>
            </a:r>
            <a:r>
              <a:rPr lang="en-US" sz="2000" smtClean="0">
                <a:latin typeface="Times New Roman" pitchFamily="18" charset="0"/>
              </a:rPr>
              <a:t>you divide the </a:t>
            </a:r>
            <a:r>
              <a:rPr lang="en-US" sz="2000" b="1" smtClean="0">
                <a:latin typeface="Times New Roman" pitchFamily="18" charset="0"/>
              </a:rPr>
              <a:t>range </a:t>
            </a:r>
            <a:r>
              <a:rPr lang="en-US" sz="2000" smtClean="0">
                <a:latin typeface="Times New Roman" pitchFamily="18" charset="0"/>
              </a:rPr>
              <a:t>(Highest value–Lowest value) of the data by the number of class groupings desired. </a:t>
            </a:r>
          </a:p>
        </p:txBody>
      </p:sp>
      <p:sp>
        <p:nvSpPr>
          <p:cNvPr id="38918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704FD2D3-B01B-4DE4-9B60-13A41681182B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993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93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159049F7-1C85-492D-BD52-7C84286C7A12}" type="slidenum">
              <a:rPr lang="en-US" sz="1000"/>
              <a:pPr algn="r" defTabSz="852488"/>
              <a:t>21</a:t>
            </a:fld>
            <a:endParaRPr lang="en-US" sz="10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Numerical Data: </a:t>
            </a:r>
            <a:br>
              <a:rPr lang="en-US" sz="3700" smtClean="0"/>
            </a:br>
            <a:r>
              <a:rPr lang="en-US" sz="3700" smtClean="0"/>
              <a:t>Frequency Distribution Example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22513"/>
            <a:ext cx="7696200" cy="1619250"/>
          </a:xfrm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Example: A manufacturer of insulation randomly selects 20 winter days and records the daily high temperature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b="1" smtClean="0">
                <a:latin typeface="Times New Roman" pitchFamily="18" charset="0"/>
              </a:rPr>
              <a:t>24, 35, 17, 21, 24, 37, 26, 46, 58, 30, 32, 13, 12, 38, 41, 43, 44, 27, 53, 27</a:t>
            </a:r>
          </a:p>
        </p:txBody>
      </p:sp>
      <p:sp>
        <p:nvSpPr>
          <p:cNvPr id="39942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46B1910-3EFE-4D60-B87C-61CC4BFB9C80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4096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9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0B4BBCE6-5805-4BF6-A7BE-9025EDF4E77A}" type="slidenum">
              <a:rPr lang="en-US" sz="1000"/>
              <a:pPr algn="r" defTabSz="852488"/>
              <a:t>22</a:t>
            </a:fld>
            <a:endParaRPr lang="en-US" sz="10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Numerical Data: </a:t>
            </a:r>
            <a:br>
              <a:rPr lang="en-US" sz="3700" smtClean="0"/>
            </a:br>
            <a:r>
              <a:rPr lang="en-US" sz="3700" smtClean="0"/>
              <a:t>Frequency Distribution Example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Sort raw data in ascending order:</a:t>
            </a:r>
            <a:br>
              <a:rPr lang="en-US" sz="2400" smtClean="0">
                <a:latin typeface="Times New Roman" pitchFamily="18" charset="0"/>
              </a:rPr>
            </a:br>
            <a:r>
              <a:rPr lang="en-US" sz="2000" b="1" smtClean="0">
                <a:latin typeface="Times New Roman" pitchFamily="18" charset="0"/>
              </a:rPr>
              <a:t>12, 13, 17, 21, 24, 24, 26, 27, 27, 30, 32, 35, 37, 38, 41, 43, 44, 46, 53, 58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Find range: </a:t>
            </a:r>
            <a:r>
              <a:rPr lang="en-US" sz="2400" b="1" smtClean="0">
                <a:latin typeface="Times New Roman" pitchFamily="18" charset="0"/>
              </a:rPr>
              <a:t>58 - 12 = 46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Select number of classes: </a:t>
            </a:r>
            <a:r>
              <a:rPr lang="en-US" sz="2400" b="1" smtClean="0">
                <a:latin typeface="Times New Roman" pitchFamily="18" charset="0"/>
              </a:rPr>
              <a:t>5 (usually between 5 and 15)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Compute class interval (width): </a:t>
            </a:r>
            <a:r>
              <a:rPr lang="en-US" sz="2400" b="1" smtClean="0">
                <a:latin typeface="Times New Roman" pitchFamily="18" charset="0"/>
              </a:rPr>
              <a:t>10 (46/5 then round up)</a:t>
            </a: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Determine class boundaries (limits):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smtClean="0">
                <a:latin typeface="Times New Roman" pitchFamily="18" charset="0"/>
              </a:rPr>
              <a:t>Class 1:  10 to less than 20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smtClean="0">
                <a:latin typeface="Times New Roman" pitchFamily="18" charset="0"/>
              </a:rPr>
              <a:t>Class 2:  20 to less than 30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smtClean="0">
                <a:latin typeface="Times New Roman" pitchFamily="18" charset="0"/>
              </a:rPr>
              <a:t>Class 3:  30 to less than 40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smtClean="0">
                <a:latin typeface="Times New Roman" pitchFamily="18" charset="0"/>
              </a:rPr>
              <a:t>Class 4:  40 to less than 50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smtClean="0">
                <a:latin typeface="Times New Roman" pitchFamily="18" charset="0"/>
              </a:rPr>
              <a:t>Class 5:  50 to less than 60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Compute class midpoints: </a:t>
            </a:r>
            <a:r>
              <a:rPr lang="en-US" sz="2400" b="1" smtClean="0">
                <a:latin typeface="Times New Roman" pitchFamily="18" charset="0"/>
              </a:rPr>
              <a:t>15, 25, 35, 45,  55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Count observations &amp; assign to classes</a:t>
            </a:r>
          </a:p>
        </p:txBody>
      </p:sp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51A30AAA-518B-4DC2-8FE8-5A6402B0DB48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419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9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924289DC-0C7F-497B-BD42-CF92B570F511}" type="slidenum">
              <a:rPr lang="en-US" sz="1000"/>
              <a:pPr algn="r" defTabSz="852488"/>
              <a:t>23</a:t>
            </a:fld>
            <a:endParaRPr lang="en-US" sz="10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077200" cy="990600"/>
          </a:xfrm>
        </p:spPr>
        <p:txBody>
          <a:bodyPr/>
          <a:lstStyle/>
          <a:p>
            <a:pPr algn="l" eaLnBrk="1" hangingPunct="1"/>
            <a:r>
              <a:rPr lang="en-US" sz="3200" smtClean="0"/>
              <a:t>Organizing Numerical Data: Frequency Distribution Example</a:t>
            </a:r>
          </a:p>
        </p:txBody>
      </p:sp>
      <p:grpSp>
        <p:nvGrpSpPr>
          <p:cNvPr id="41989" name="Group 3"/>
          <p:cNvGrpSpPr>
            <a:grpSpLocks/>
          </p:cNvGrpSpPr>
          <p:nvPr/>
        </p:nvGrpSpPr>
        <p:grpSpPr bwMode="auto">
          <a:xfrm>
            <a:off x="304800" y="2743200"/>
            <a:ext cx="8534400" cy="3733800"/>
            <a:chOff x="192" y="1392"/>
            <a:chExt cx="5376" cy="2352"/>
          </a:xfrm>
        </p:grpSpPr>
        <p:sp>
          <p:nvSpPr>
            <p:cNvPr id="41992" name="Rectangle 4"/>
            <p:cNvSpPr>
              <a:spLocks noChangeArrowheads="1"/>
            </p:cNvSpPr>
            <p:nvPr/>
          </p:nvSpPr>
          <p:spPr bwMode="auto">
            <a:xfrm>
              <a:off x="192" y="1392"/>
              <a:ext cx="5376" cy="235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993" name="Line 5"/>
            <p:cNvSpPr>
              <a:spLocks noChangeShapeType="1"/>
            </p:cNvSpPr>
            <p:nvPr/>
          </p:nvSpPr>
          <p:spPr bwMode="auto">
            <a:xfrm>
              <a:off x="426" y="2016"/>
              <a:ext cx="37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Line 6"/>
            <p:cNvSpPr>
              <a:spLocks noChangeShapeType="1"/>
            </p:cNvSpPr>
            <p:nvPr/>
          </p:nvSpPr>
          <p:spPr bwMode="auto">
            <a:xfrm>
              <a:off x="2064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Rectangle 7"/>
            <p:cNvSpPr>
              <a:spLocks noChangeArrowheads="1"/>
            </p:cNvSpPr>
            <p:nvPr/>
          </p:nvSpPr>
          <p:spPr bwMode="auto">
            <a:xfrm>
              <a:off x="336" y="1580"/>
              <a:ext cx="3958" cy="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800" b="1"/>
                <a:t>  </a:t>
              </a:r>
              <a:r>
                <a:rPr lang="en-US" sz="2000" b="1"/>
                <a:t>Class                           Midpoints	Frequency</a:t>
              </a:r>
            </a:p>
          </p:txBody>
        </p:sp>
        <p:sp>
          <p:nvSpPr>
            <p:cNvPr id="41996" name="Rectangle 8"/>
            <p:cNvSpPr>
              <a:spLocks noChangeArrowheads="1"/>
            </p:cNvSpPr>
            <p:nvPr/>
          </p:nvSpPr>
          <p:spPr bwMode="auto">
            <a:xfrm>
              <a:off x="236" y="2060"/>
              <a:ext cx="5254" cy="14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10 but less than 20                   15		3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20 but less than 30                   25		6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30 but less than 40                   35		5 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40 but less than 50                   45		4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50 but less than 60                   55		2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rgbClr val="CC0000"/>
                  </a:solidFill>
                  <a:latin typeface="Times New Roman" pitchFamily="18" charset="0"/>
                </a:rPr>
                <a:t>                </a:t>
              </a:r>
              <a:r>
                <a:rPr lang="en-US" sz="2200" b="1">
                  <a:latin typeface="Times New Roman" pitchFamily="18" charset="0"/>
                </a:rPr>
                <a:t>Total</a:t>
              </a:r>
              <a:r>
                <a:rPr lang="en-US" sz="2200" b="1">
                  <a:solidFill>
                    <a:srgbClr val="CC0000"/>
                  </a:solidFill>
                  <a:latin typeface="Times New Roman" pitchFamily="18" charset="0"/>
                </a:rPr>
                <a:t>	                       		           </a:t>
              </a:r>
              <a:r>
                <a:rPr lang="en-US" sz="2200" b="1"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41997" name="Line 9"/>
            <p:cNvSpPr>
              <a:spLocks noChangeShapeType="1"/>
            </p:cNvSpPr>
            <p:nvPr/>
          </p:nvSpPr>
          <p:spPr bwMode="auto">
            <a:xfrm>
              <a:off x="3024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Line 11"/>
            <p:cNvSpPr>
              <a:spLocks noChangeShapeType="1"/>
            </p:cNvSpPr>
            <p:nvPr/>
          </p:nvSpPr>
          <p:spPr bwMode="auto">
            <a:xfrm>
              <a:off x="4128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Line 13"/>
            <p:cNvSpPr>
              <a:spLocks noChangeShapeType="1"/>
            </p:cNvSpPr>
            <p:nvPr/>
          </p:nvSpPr>
          <p:spPr bwMode="auto">
            <a:xfrm>
              <a:off x="384" y="3312"/>
              <a:ext cx="37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90" name="Rectangle 14"/>
          <p:cNvSpPr>
            <a:spLocks noChangeArrowheads="1"/>
          </p:cNvSpPr>
          <p:nvPr/>
        </p:nvSpPr>
        <p:spPr bwMode="auto">
          <a:xfrm>
            <a:off x="304800" y="1676400"/>
            <a:ext cx="8534400" cy="911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12, 13, 17, 21, 24, 24, 26, 27, 27, 30, 32, 35, 37, 38, 41, 43, 44, 46, 53, 58</a:t>
            </a:r>
          </a:p>
        </p:txBody>
      </p:sp>
      <p:sp>
        <p:nvSpPr>
          <p:cNvPr id="41991" name="TextBox 16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2BAB6920-D633-4993-B5F8-609C649AFC1F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4301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301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3AA63766-F9D8-4036-B7BD-6071BA9EF447}" type="slidenum">
              <a:rPr lang="en-US" sz="1000"/>
              <a:pPr algn="r" defTabSz="852488"/>
              <a:t>24</a:t>
            </a:fld>
            <a:endParaRPr lang="en-US" sz="10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077200" cy="990600"/>
          </a:xfrm>
        </p:spPr>
        <p:txBody>
          <a:bodyPr/>
          <a:lstStyle/>
          <a:p>
            <a:pPr algn="l" eaLnBrk="1" hangingPunct="1"/>
            <a:r>
              <a:rPr lang="en-US" sz="3200" smtClean="0"/>
              <a:t>Organizing Numerical Data: Relative &amp; Percent Frequency Distribution Example</a:t>
            </a:r>
          </a:p>
        </p:txBody>
      </p:sp>
      <p:grpSp>
        <p:nvGrpSpPr>
          <p:cNvPr id="43013" name="Group 3"/>
          <p:cNvGrpSpPr>
            <a:grpSpLocks/>
          </p:cNvGrpSpPr>
          <p:nvPr/>
        </p:nvGrpSpPr>
        <p:grpSpPr bwMode="auto">
          <a:xfrm>
            <a:off x="304800" y="2743200"/>
            <a:ext cx="8534400" cy="3733800"/>
            <a:chOff x="192" y="1392"/>
            <a:chExt cx="5376" cy="2352"/>
          </a:xfrm>
        </p:grpSpPr>
        <p:sp>
          <p:nvSpPr>
            <p:cNvPr id="43016" name="Rectangle 4"/>
            <p:cNvSpPr>
              <a:spLocks noChangeArrowheads="1"/>
            </p:cNvSpPr>
            <p:nvPr/>
          </p:nvSpPr>
          <p:spPr bwMode="auto">
            <a:xfrm>
              <a:off x="192" y="1392"/>
              <a:ext cx="5376" cy="235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7" name="Line 5"/>
            <p:cNvSpPr>
              <a:spLocks noChangeShapeType="1"/>
            </p:cNvSpPr>
            <p:nvPr/>
          </p:nvSpPr>
          <p:spPr bwMode="auto">
            <a:xfrm>
              <a:off x="426" y="2016"/>
              <a:ext cx="49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8" name="Line 6"/>
            <p:cNvSpPr>
              <a:spLocks noChangeShapeType="1"/>
            </p:cNvSpPr>
            <p:nvPr/>
          </p:nvSpPr>
          <p:spPr bwMode="auto">
            <a:xfrm>
              <a:off x="2064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9" name="Rectangle 7"/>
            <p:cNvSpPr>
              <a:spLocks noChangeArrowheads="1"/>
            </p:cNvSpPr>
            <p:nvPr/>
          </p:nvSpPr>
          <p:spPr bwMode="auto">
            <a:xfrm>
              <a:off x="336" y="1580"/>
              <a:ext cx="3958" cy="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800" b="1"/>
                <a:t>  </a:t>
              </a:r>
              <a:r>
                <a:rPr lang="en-US" sz="2000" b="1"/>
                <a:t>Class                           Frequency</a:t>
              </a:r>
            </a:p>
          </p:txBody>
        </p:sp>
        <p:sp>
          <p:nvSpPr>
            <p:cNvPr id="43020" name="Rectangle 8"/>
            <p:cNvSpPr>
              <a:spLocks noChangeArrowheads="1"/>
            </p:cNvSpPr>
            <p:nvPr/>
          </p:nvSpPr>
          <p:spPr bwMode="auto">
            <a:xfrm>
              <a:off x="236" y="2060"/>
              <a:ext cx="5254" cy="14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10 but less than 20                   3                  .15                       15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20 but less than 30                   6                  .30                       30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30 but less than 40                   5                  .25                       25 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40 but less than 50                   4                  .20                       20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chemeClr val="bg2"/>
                  </a:solidFill>
                  <a:latin typeface="Times New Roman" pitchFamily="18" charset="0"/>
                </a:rPr>
                <a:t>50 but less than 60                   2                  .10                       10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2200" b="1">
                  <a:solidFill>
                    <a:srgbClr val="CC0000"/>
                  </a:solidFill>
                  <a:latin typeface="Times New Roman" pitchFamily="18" charset="0"/>
                </a:rPr>
                <a:t>                </a:t>
              </a:r>
              <a:r>
                <a:rPr lang="en-US" sz="2200" b="1">
                  <a:latin typeface="Times New Roman" pitchFamily="18" charset="0"/>
                </a:rPr>
                <a:t>Total</a:t>
              </a:r>
              <a:r>
                <a:rPr lang="en-US" sz="2200" b="1">
                  <a:solidFill>
                    <a:srgbClr val="CC0000"/>
                  </a:solidFill>
                  <a:latin typeface="Times New Roman" pitchFamily="18" charset="0"/>
                </a:rPr>
                <a:t>	                       </a:t>
              </a:r>
              <a:r>
                <a:rPr lang="en-US" sz="2200" b="1">
                  <a:latin typeface="Times New Roman" pitchFamily="18" charset="0"/>
                </a:rPr>
                <a:t>20                1.00                     100</a:t>
              </a:r>
            </a:p>
          </p:txBody>
        </p:sp>
        <p:sp>
          <p:nvSpPr>
            <p:cNvPr id="43021" name="Line 9"/>
            <p:cNvSpPr>
              <a:spLocks noChangeShapeType="1"/>
            </p:cNvSpPr>
            <p:nvPr/>
          </p:nvSpPr>
          <p:spPr bwMode="auto">
            <a:xfrm>
              <a:off x="3024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2" name="Rectangle 10"/>
            <p:cNvSpPr>
              <a:spLocks noChangeArrowheads="1"/>
            </p:cNvSpPr>
            <p:nvPr/>
          </p:nvSpPr>
          <p:spPr bwMode="auto">
            <a:xfrm>
              <a:off x="3072" y="1536"/>
              <a:ext cx="960" cy="4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/>
                <a:t>Relative</a:t>
              </a:r>
            </a:p>
            <a:p>
              <a:pPr algn="ctr" eaLnBrk="0" hangingPunct="0">
                <a:lnSpc>
                  <a:spcPct val="40000"/>
                </a:lnSpc>
                <a:spcBef>
                  <a:spcPct val="50000"/>
                </a:spcBef>
              </a:pPr>
              <a:r>
                <a:rPr lang="en-US" sz="2000" b="1"/>
                <a:t>Frequency</a:t>
              </a:r>
            </a:p>
          </p:txBody>
        </p:sp>
        <p:sp>
          <p:nvSpPr>
            <p:cNvPr id="43023" name="Line 11"/>
            <p:cNvSpPr>
              <a:spLocks noChangeShapeType="1"/>
            </p:cNvSpPr>
            <p:nvPr/>
          </p:nvSpPr>
          <p:spPr bwMode="auto">
            <a:xfrm>
              <a:off x="4128" y="1440"/>
              <a:ext cx="0" cy="2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4" name="Rectangle 12"/>
            <p:cNvSpPr>
              <a:spLocks noChangeArrowheads="1"/>
            </p:cNvSpPr>
            <p:nvPr/>
          </p:nvSpPr>
          <p:spPr bwMode="auto">
            <a:xfrm>
              <a:off x="4224" y="1584"/>
              <a:ext cx="1116" cy="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800" b="1"/>
                <a:t> </a:t>
              </a:r>
              <a:r>
                <a:rPr lang="en-US" sz="2000" b="1"/>
                <a:t>Percentage</a:t>
              </a:r>
            </a:p>
          </p:txBody>
        </p:sp>
        <p:sp>
          <p:nvSpPr>
            <p:cNvPr id="43025" name="Line 13"/>
            <p:cNvSpPr>
              <a:spLocks noChangeShapeType="1"/>
            </p:cNvSpPr>
            <p:nvPr/>
          </p:nvSpPr>
          <p:spPr bwMode="auto">
            <a:xfrm>
              <a:off x="384" y="3312"/>
              <a:ext cx="50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14" name="Rectangle 14"/>
          <p:cNvSpPr>
            <a:spLocks noChangeArrowheads="1"/>
          </p:cNvSpPr>
          <p:nvPr/>
        </p:nvSpPr>
        <p:spPr bwMode="auto">
          <a:xfrm>
            <a:off x="304800" y="1676400"/>
            <a:ext cx="8534400" cy="911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12, 13, 17, 21, 24, 24, 26, 27, 27, 30, 32, 35, 37, 38, 41, 43, 44, 46, 53, 58</a:t>
            </a:r>
          </a:p>
        </p:txBody>
      </p:sp>
      <p:sp>
        <p:nvSpPr>
          <p:cNvPr id="43015" name="TextBox 16"/>
          <p:cNvSpPr txBox="1">
            <a:spLocks noChangeArrowheads="1"/>
          </p:cNvSpPr>
          <p:nvPr/>
        </p:nvSpPr>
        <p:spPr bwMode="auto">
          <a:xfrm>
            <a:off x="74676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1DE5193-50B8-4FA3-AD00-15085F67F0BE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4403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40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4D31B281-463D-4FE4-A36B-E681965DA855}" type="slidenum">
              <a:rPr lang="en-US" sz="1000"/>
              <a:pPr algn="r" defTabSz="852488"/>
              <a:t>25</a:t>
            </a:fld>
            <a:endParaRPr lang="en-US" sz="10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077200" cy="990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sz="3200" smtClean="0"/>
              <a:t>Organizing Numerical Data: Cumulative Frequency Distribution Example</a:t>
            </a:r>
          </a:p>
        </p:txBody>
      </p:sp>
      <p:sp>
        <p:nvSpPr>
          <p:cNvPr id="44037" name="Rectangle 3"/>
          <p:cNvSpPr>
            <a:spLocks noChangeArrowheads="1"/>
          </p:cNvSpPr>
          <p:nvPr/>
        </p:nvSpPr>
        <p:spPr bwMode="auto">
          <a:xfrm>
            <a:off x="304800" y="2819400"/>
            <a:ext cx="8534400" cy="3733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4038" name="Rectangle 4"/>
          <p:cNvSpPr>
            <a:spLocks noChangeArrowheads="1"/>
          </p:cNvSpPr>
          <p:nvPr/>
        </p:nvSpPr>
        <p:spPr bwMode="auto">
          <a:xfrm>
            <a:off x="609600" y="1828800"/>
            <a:ext cx="80200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4039" name="Line 5"/>
          <p:cNvSpPr>
            <a:spLocks noChangeShapeType="1"/>
          </p:cNvSpPr>
          <p:nvPr/>
        </p:nvSpPr>
        <p:spPr bwMode="auto">
          <a:xfrm>
            <a:off x="304800" y="3810000"/>
            <a:ext cx="8534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Line 6"/>
          <p:cNvSpPr>
            <a:spLocks noChangeShapeType="1"/>
          </p:cNvSpPr>
          <p:nvPr/>
        </p:nvSpPr>
        <p:spPr bwMode="auto">
          <a:xfrm>
            <a:off x="2819400" y="2819400"/>
            <a:ext cx="0" cy="3733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Rectangle 7"/>
          <p:cNvSpPr>
            <a:spLocks noChangeArrowheads="1"/>
          </p:cNvSpPr>
          <p:nvPr/>
        </p:nvSpPr>
        <p:spPr bwMode="auto">
          <a:xfrm>
            <a:off x="762000" y="3200400"/>
            <a:ext cx="10668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rgbClr val="CC0000"/>
                </a:solidFill>
              </a:rPr>
              <a:t>Class</a:t>
            </a: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374650" y="3879850"/>
            <a:ext cx="8340725" cy="2441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sz="2000" b="1">
                <a:solidFill>
                  <a:schemeClr val="bg2"/>
                </a:solidFill>
              </a:rPr>
              <a:t>10 but less than 20	  3                 15%                 3                   15%</a:t>
            </a:r>
          </a:p>
          <a:p>
            <a:pPr eaLnBrk="0" hangingPunct="0">
              <a:spcBef>
                <a:spcPct val="30000"/>
              </a:spcBef>
            </a:pPr>
            <a:r>
              <a:rPr lang="en-US" sz="2000" b="1">
                <a:solidFill>
                  <a:schemeClr val="bg2"/>
                </a:solidFill>
              </a:rPr>
              <a:t>20 but less than 30	  6                 30%                 9                   45%</a:t>
            </a:r>
          </a:p>
          <a:p>
            <a:pPr eaLnBrk="0" hangingPunct="0">
              <a:spcBef>
                <a:spcPct val="30000"/>
              </a:spcBef>
            </a:pPr>
            <a:r>
              <a:rPr lang="en-US" sz="2000" b="1">
                <a:solidFill>
                  <a:schemeClr val="bg2"/>
                </a:solidFill>
              </a:rPr>
              <a:t>30 but less than 40	  5                 25%               14                   70%</a:t>
            </a:r>
          </a:p>
          <a:p>
            <a:pPr eaLnBrk="0" hangingPunct="0">
              <a:spcBef>
                <a:spcPct val="30000"/>
              </a:spcBef>
            </a:pPr>
            <a:r>
              <a:rPr lang="en-US" sz="2000" b="1">
                <a:solidFill>
                  <a:schemeClr val="bg2"/>
                </a:solidFill>
              </a:rPr>
              <a:t>40 but less than 50	  4                 20%               18                   90%</a:t>
            </a:r>
          </a:p>
          <a:p>
            <a:pPr eaLnBrk="0" hangingPunct="0">
              <a:spcBef>
                <a:spcPct val="30000"/>
              </a:spcBef>
            </a:pPr>
            <a:r>
              <a:rPr lang="en-US" sz="2000" b="1">
                <a:solidFill>
                  <a:schemeClr val="bg2"/>
                </a:solidFill>
              </a:rPr>
              <a:t>50 but less than 60	  2                 10%               20                 100%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 b="1">
                <a:solidFill>
                  <a:srgbClr val="CC0000"/>
                </a:solidFill>
              </a:rPr>
              <a:t>                Total	             20                 100	     20		100%</a:t>
            </a:r>
            <a:r>
              <a:rPr lang="en-US" b="1">
                <a:solidFill>
                  <a:srgbClr val="CC0000"/>
                </a:solidFill>
              </a:rPr>
              <a:t>          </a:t>
            </a:r>
          </a:p>
        </p:txBody>
      </p:sp>
      <p:sp>
        <p:nvSpPr>
          <p:cNvPr id="44043" name="Line 9"/>
          <p:cNvSpPr>
            <a:spLocks noChangeShapeType="1"/>
          </p:cNvSpPr>
          <p:nvPr/>
        </p:nvSpPr>
        <p:spPr bwMode="auto">
          <a:xfrm>
            <a:off x="4191000" y="2819400"/>
            <a:ext cx="0" cy="3733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Rectangle 10"/>
          <p:cNvSpPr>
            <a:spLocks noChangeArrowheads="1"/>
          </p:cNvSpPr>
          <p:nvPr/>
        </p:nvSpPr>
        <p:spPr bwMode="auto">
          <a:xfrm>
            <a:off x="4114800" y="3200400"/>
            <a:ext cx="1600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rgbClr val="CC0000"/>
                </a:solidFill>
              </a:rPr>
              <a:t>Percentage</a:t>
            </a:r>
          </a:p>
        </p:txBody>
      </p:sp>
      <p:sp>
        <p:nvSpPr>
          <p:cNvPr id="44045" name="Line 11"/>
          <p:cNvSpPr>
            <a:spLocks noChangeShapeType="1"/>
          </p:cNvSpPr>
          <p:nvPr/>
        </p:nvSpPr>
        <p:spPr bwMode="auto">
          <a:xfrm>
            <a:off x="5638800" y="2819400"/>
            <a:ext cx="0" cy="3733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Rectangle 12"/>
          <p:cNvSpPr>
            <a:spLocks noChangeArrowheads="1"/>
          </p:cNvSpPr>
          <p:nvPr/>
        </p:nvSpPr>
        <p:spPr bwMode="auto">
          <a:xfrm>
            <a:off x="7239000" y="3095625"/>
            <a:ext cx="1600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folHlink"/>
                </a:solidFill>
              </a:rPr>
              <a:t>Cumulative Percentage</a:t>
            </a:r>
          </a:p>
        </p:txBody>
      </p:sp>
      <p:sp>
        <p:nvSpPr>
          <p:cNvPr id="44047" name="Line 13"/>
          <p:cNvSpPr>
            <a:spLocks noChangeShapeType="1"/>
          </p:cNvSpPr>
          <p:nvPr/>
        </p:nvSpPr>
        <p:spPr bwMode="auto">
          <a:xfrm>
            <a:off x="304800" y="5867400"/>
            <a:ext cx="8534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8" name="Rectangle 14"/>
          <p:cNvSpPr>
            <a:spLocks noChangeArrowheads="1"/>
          </p:cNvSpPr>
          <p:nvPr/>
        </p:nvSpPr>
        <p:spPr bwMode="auto">
          <a:xfrm>
            <a:off x="304800" y="1657350"/>
            <a:ext cx="8534400" cy="911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12, 13, 17, 21, 24, 24, 26, 27, 27, 30, 32, 35, 37, 38, 41, 43, 44, 46, 53, 58</a:t>
            </a:r>
          </a:p>
        </p:txBody>
      </p:sp>
      <p:sp>
        <p:nvSpPr>
          <p:cNvPr id="44049" name="Rectangle 15"/>
          <p:cNvSpPr>
            <a:spLocks noChangeArrowheads="1"/>
          </p:cNvSpPr>
          <p:nvPr/>
        </p:nvSpPr>
        <p:spPr bwMode="auto">
          <a:xfrm>
            <a:off x="2743200" y="3200400"/>
            <a:ext cx="15240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rgbClr val="CC0000"/>
                </a:solidFill>
              </a:rPr>
              <a:t>Frequency</a:t>
            </a:r>
          </a:p>
        </p:txBody>
      </p:sp>
      <p:sp>
        <p:nvSpPr>
          <p:cNvPr id="44050" name="Rectangle 16"/>
          <p:cNvSpPr>
            <a:spLocks noChangeArrowheads="1"/>
          </p:cNvSpPr>
          <p:nvPr/>
        </p:nvSpPr>
        <p:spPr bwMode="auto">
          <a:xfrm>
            <a:off x="5562600" y="3048000"/>
            <a:ext cx="1771650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folHlink"/>
                </a:solidFill>
              </a:rPr>
              <a:t>Cumulative Frequency</a:t>
            </a:r>
          </a:p>
        </p:txBody>
      </p:sp>
      <p:sp>
        <p:nvSpPr>
          <p:cNvPr id="44051" name="Line 17"/>
          <p:cNvSpPr>
            <a:spLocks noChangeShapeType="1"/>
          </p:cNvSpPr>
          <p:nvPr/>
        </p:nvSpPr>
        <p:spPr bwMode="auto">
          <a:xfrm>
            <a:off x="7239000" y="2819400"/>
            <a:ext cx="0" cy="3733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2" name="TextBox 19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CEAD9BBC-D23C-46BF-B45B-D1A830C267F2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4505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50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6B220A08-D3B6-44FD-AB24-EBB83C21BB26}" type="slidenum">
              <a:rPr lang="en-US" sz="1000"/>
              <a:pPr algn="r" defTabSz="852488"/>
              <a:t>26</a:t>
            </a:fld>
            <a:endParaRPr lang="en-US" sz="10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696200" cy="685800"/>
          </a:xfrm>
        </p:spPr>
        <p:txBody>
          <a:bodyPr/>
          <a:lstStyle/>
          <a:p>
            <a:pPr algn="l" defTabSz="914400" eaLnBrk="1" hangingPunct="1"/>
            <a:r>
              <a:rPr lang="en-US" sz="3600" smtClean="0"/>
              <a:t>Why Use a Frequency Distribution?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163763"/>
            <a:ext cx="7315200" cy="4197350"/>
          </a:xfrm>
        </p:spPr>
        <p:txBody>
          <a:bodyPr/>
          <a:lstStyle/>
          <a:p>
            <a:pPr marL="342900" indent="-342900" defTabSz="914400" eaLnBrk="1" hangingPunct="1">
              <a:lnSpc>
                <a:spcPct val="105000"/>
              </a:lnSpc>
              <a:spcBef>
                <a:spcPct val="55000"/>
              </a:spcBef>
            </a:pPr>
            <a:r>
              <a:rPr lang="en-US" smtClean="0"/>
              <a:t>It condenses the raw data into a more useful form</a:t>
            </a:r>
          </a:p>
          <a:p>
            <a:pPr marL="342900" indent="-342900" defTabSz="914400" eaLnBrk="1" hangingPunct="1">
              <a:lnSpc>
                <a:spcPct val="105000"/>
              </a:lnSpc>
              <a:spcBef>
                <a:spcPct val="55000"/>
              </a:spcBef>
            </a:pPr>
            <a:r>
              <a:rPr lang="en-US" smtClean="0"/>
              <a:t>It allows for a quick visual interpretation of the data</a:t>
            </a:r>
          </a:p>
          <a:p>
            <a:pPr marL="342900" indent="-342900" defTabSz="914400" eaLnBrk="1" hangingPunct="1">
              <a:lnSpc>
                <a:spcPct val="105000"/>
              </a:lnSpc>
              <a:spcBef>
                <a:spcPct val="55000"/>
              </a:spcBef>
            </a:pPr>
            <a:r>
              <a:rPr lang="en-US" smtClean="0"/>
              <a:t>It enables the determination of the major characteristics of the data set including where the data are concentrated / clustered</a:t>
            </a:r>
          </a:p>
        </p:txBody>
      </p:sp>
      <p:sp>
        <p:nvSpPr>
          <p:cNvPr id="45062" name="TextBox 5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6DC07C66-5583-47C8-A352-30241CB61925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4608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60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1F78E987-20B6-425B-972C-6472FBFD7CA8}" type="slidenum">
              <a:rPr lang="en-US" sz="1000"/>
              <a:pPr algn="r" defTabSz="852488"/>
              <a:t>27</a:t>
            </a:fld>
            <a:endParaRPr lang="en-US" sz="100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smtClean="0"/>
              <a:t>Frequency Distributions:</a:t>
            </a:r>
            <a:br>
              <a:rPr lang="en-US" sz="3600" smtClean="0"/>
            </a:br>
            <a:r>
              <a:rPr lang="en-US" sz="3600" smtClean="0"/>
              <a:t>Some Tips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smtClean="0"/>
              <a:t>Different class boundaries may provide different pictures for the same data (especially for smaller data sets)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Shifts in data concentration may show up when different class boundaries are chosen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As the size of the data set increases, the impact of alterations in the selection of class boundaries is greatly reduced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When comparing two or more groups with different sample sizes, you must use either a relative frequency or a percentage distribution</a:t>
            </a:r>
          </a:p>
        </p:txBody>
      </p:sp>
      <p:sp>
        <p:nvSpPr>
          <p:cNvPr id="46086" name="TextBox 5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</a:t>
            </a:r>
            <a:r>
              <a:rPr lang="en-US" sz="2800"/>
              <a:t>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094295C1-6B1E-4313-86F1-2903ABE21A10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471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7107" name="Title 5"/>
          <p:cNvSpPr>
            <a:spLocks noGrp="1"/>
          </p:cNvSpPr>
          <p:nvPr>
            <p:ph type="title"/>
          </p:nvPr>
        </p:nvSpPr>
        <p:spPr>
          <a:xfrm>
            <a:off x="685800" y="381000"/>
            <a:ext cx="8153400" cy="990600"/>
          </a:xfrm>
        </p:spPr>
        <p:txBody>
          <a:bodyPr/>
          <a:lstStyle/>
          <a:p>
            <a:r>
              <a:rPr lang="en-US" smtClean="0"/>
              <a:t>Visualizing Categorical Data Through Graphical Displays</a:t>
            </a:r>
          </a:p>
        </p:txBody>
      </p:sp>
      <p:sp>
        <p:nvSpPr>
          <p:cNvPr id="4710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1DFBC552-4C73-4CFF-886D-C24CE33F0FF4}" type="slidenum">
              <a:rPr lang="en-US" sz="1000"/>
              <a:pPr algn="r"/>
              <a:t>28</a:t>
            </a:fld>
            <a:endParaRPr lang="en-US" sz="1000"/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4418013" y="2127250"/>
            <a:ext cx="0" cy="690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2895600" y="1524000"/>
            <a:ext cx="2968625" cy="955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</a:rPr>
              <a:t>Categorical Data</a:t>
            </a:r>
          </a:p>
        </p:txBody>
      </p:sp>
      <p:sp>
        <p:nvSpPr>
          <p:cNvPr id="47111" name="Line 19"/>
          <p:cNvSpPr>
            <a:spLocks noChangeShapeType="1"/>
          </p:cNvSpPr>
          <p:nvPr/>
        </p:nvSpPr>
        <p:spPr bwMode="auto">
          <a:xfrm>
            <a:off x="1828800" y="4572000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Rectangle 9"/>
          <p:cNvSpPr>
            <a:spLocks noChangeArrowheads="1"/>
          </p:cNvSpPr>
          <p:nvPr/>
        </p:nvSpPr>
        <p:spPr bwMode="auto">
          <a:xfrm>
            <a:off x="2894013" y="2817813"/>
            <a:ext cx="2970212" cy="33655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Visualizing Data</a:t>
            </a:r>
          </a:p>
        </p:txBody>
      </p:sp>
      <p:sp>
        <p:nvSpPr>
          <p:cNvPr id="47113" name="Rectangle 18"/>
          <p:cNvSpPr>
            <a:spLocks noChangeArrowheads="1"/>
          </p:cNvSpPr>
          <p:nvPr/>
        </p:nvSpPr>
        <p:spPr bwMode="auto">
          <a:xfrm>
            <a:off x="152400" y="4876800"/>
            <a:ext cx="1143000" cy="7620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</a:pPr>
            <a:r>
              <a:rPr lang="en-US" sz="2000" b="1"/>
              <a:t> Bar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2000" b="1"/>
              <a:t>Chart</a:t>
            </a:r>
          </a:p>
        </p:txBody>
      </p:sp>
      <p:sp>
        <p:nvSpPr>
          <p:cNvPr id="47114" name="Rectangle 18"/>
          <p:cNvSpPr>
            <a:spLocks noChangeArrowheads="1"/>
          </p:cNvSpPr>
          <p:nvPr/>
        </p:nvSpPr>
        <p:spPr bwMode="auto">
          <a:xfrm>
            <a:off x="914400" y="3505200"/>
            <a:ext cx="1981200" cy="10668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00" b="1"/>
              <a:t>Summary Table For One Variable</a:t>
            </a:r>
          </a:p>
        </p:txBody>
      </p:sp>
      <p:cxnSp>
        <p:nvCxnSpPr>
          <p:cNvPr id="47115" name="Shape 18"/>
          <p:cNvCxnSpPr>
            <a:cxnSpLocks noChangeShapeType="1"/>
            <a:stCxn id="47114" idx="0"/>
            <a:endCxn id="47112" idx="1"/>
          </p:cNvCxnSpPr>
          <p:nvPr/>
        </p:nvCxnSpPr>
        <p:spPr bwMode="auto">
          <a:xfrm rot="5400000" flipH="1" flipV="1">
            <a:off x="2139951" y="2751137"/>
            <a:ext cx="519112" cy="989013"/>
          </a:xfrm>
          <a:prstGeom prst="bentConnector2">
            <a:avLst/>
          </a:prstGeom>
          <a:noFill/>
          <a:ln w="15875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47116" name="Line 19"/>
          <p:cNvSpPr>
            <a:spLocks noChangeShapeType="1"/>
          </p:cNvSpPr>
          <p:nvPr/>
        </p:nvSpPr>
        <p:spPr bwMode="auto">
          <a:xfrm>
            <a:off x="6780213" y="4341813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Rectangle 18"/>
          <p:cNvSpPr>
            <a:spLocks noChangeArrowheads="1"/>
          </p:cNvSpPr>
          <p:nvPr/>
        </p:nvSpPr>
        <p:spPr bwMode="auto">
          <a:xfrm>
            <a:off x="5789613" y="3503613"/>
            <a:ext cx="1981200" cy="10668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00" b="1"/>
              <a:t>Contingency Table For Two Variables</a:t>
            </a:r>
          </a:p>
        </p:txBody>
      </p:sp>
      <p:cxnSp>
        <p:nvCxnSpPr>
          <p:cNvPr id="47118" name="Shape 20"/>
          <p:cNvCxnSpPr>
            <a:cxnSpLocks noChangeShapeType="1"/>
            <a:stCxn id="47117" idx="0"/>
            <a:endCxn id="47112" idx="3"/>
          </p:cNvCxnSpPr>
          <p:nvPr/>
        </p:nvCxnSpPr>
        <p:spPr bwMode="auto">
          <a:xfrm rot="16200000" flipV="1">
            <a:off x="6063456" y="2786857"/>
            <a:ext cx="517525" cy="915988"/>
          </a:xfrm>
          <a:prstGeom prst="bentConnector2">
            <a:avLst/>
          </a:prstGeom>
          <a:noFill/>
          <a:ln w="15875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47119" name="Rectangle 18"/>
          <p:cNvSpPr>
            <a:spLocks noChangeArrowheads="1"/>
          </p:cNvSpPr>
          <p:nvPr/>
        </p:nvSpPr>
        <p:spPr bwMode="auto">
          <a:xfrm>
            <a:off x="5789613" y="4951413"/>
            <a:ext cx="2057400" cy="8382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00" b="1"/>
              <a:t>Side-By-Side Bar Chart</a:t>
            </a:r>
          </a:p>
        </p:txBody>
      </p:sp>
      <p:sp>
        <p:nvSpPr>
          <p:cNvPr id="47120" name="TextBox 17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sp>
        <p:nvSpPr>
          <p:cNvPr id="47121" name="Rectangle 18"/>
          <p:cNvSpPr>
            <a:spLocks noChangeArrowheads="1"/>
          </p:cNvSpPr>
          <p:nvPr/>
        </p:nvSpPr>
        <p:spPr bwMode="auto">
          <a:xfrm>
            <a:off x="914400" y="5715000"/>
            <a:ext cx="1828800" cy="45878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00" b="1"/>
              <a:t> Pie Chart</a:t>
            </a:r>
          </a:p>
        </p:txBody>
      </p:sp>
      <p:sp>
        <p:nvSpPr>
          <p:cNvPr id="47122" name="Rectangle 18"/>
          <p:cNvSpPr>
            <a:spLocks noChangeArrowheads="1"/>
          </p:cNvSpPr>
          <p:nvPr/>
        </p:nvSpPr>
        <p:spPr bwMode="auto">
          <a:xfrm>
            <a:off x="2590800" y="4876800"/>
            <a:ext cx="1295400" cy="7620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eaLnBrk="0" hangingPunct="0">
              <a:lnSpc>
                <a:spcPct val="90000"/>
              </a:lnSpc>
            </a:pPr>
            <a:r>
              <a:rPr lang="en-US" sz="2000" b="1"/>
              <a:t> Pareto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2000" b="1"/>
              <a:t>Chart</a:t>
            </a:r>
          </a:p>
        </p:txBody>
      </p:sp>
      <p:cxnSp>
        <p:nvCxnSpPr>
          <p:cNvPr id="47123" name="Shape 27"/>
          <p:cNvCxnSpPr>
            <a:cxnSpLocks noChangeShapeType="1"/>
            <a:stCxn id="47114" idx="3"/>
            <a:endCxn id="47122" idx="0"/>
          </p:cNvCxnSpPr>
          <p:nvPr/>
        </p:nvCxnSpPr>
        <p:spPr bwMode="auto">
          <a:xfrm>
            <a:off x="2895600" y="4038600"/>
            <a:ext cx="342900" cy="8382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7124" name="Shape 29"/>
          <p:cNvCxnSpPr>
            <a:cxnSpLocks noChangeShapeType="1"/>
            <a:stCxn id="47114" idx="1"/>
            <a:endCxn id="47113" idx="0"/>
          </p:cNvCxnSpPr>
          <p:nvPr/>
        </p:nvCxnSpPr>
        <p:spPr bwMode="auto">
          <a:xfrm rot="10800000" flipV="1">
            <a:off x="723900" y="4038600"/>
            <a:ext cx="190500" cy="8382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D97B3C6A-5CA9-403D-BB7B-C2858FA75023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6963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9637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6ADA82DD-1963-4699-B99E-04DD80AC46CF}" type="slidenum">
              <a:rPr lang="en-US" sz="1000"/>
              <a:pPr algn="r" defTabSz="852488"/>
              <a:t>29</a:t>
            </a:fld>
            <a:endParaRPr lang="en-US" sz="1000"/>
          </a:p>
        </p:txBody>
      </p:sp>
      <p:sp>
        <p:nvSpPr>
          <p:cNvPr id="696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Visualizing Categorical Data: </a:t>
            </a:r>
            <a:br>
              <a:rPr lang="en-US" sz="3700" smtClean="0"/>
            </a:br>
            <a:r>
              <a:rPr lang="en-US" sz="3700" smtClean="0"/>
              <a:t>The Bar Chart</a:t>
            </a:r>
          </a:p>
        </p:txBody>
      </p:sp>
      <p:sp>
        <p:nvSpPr>
          <p:cNvPr id="696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462838" cy="117475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In a </a:t>
            </a:r>
            <a:r>
              <a:rPr lang="en-US" sz="2000" b="1" smtClean="0">
                <a:latin typeface="Times New Roman" pitchFamily="18" charset="0"/>
              </a:rPr>
              <a:t>bar chart, </a:t>
            </a:r>
            <a:r>
              <a:rPr lang="en-US" sz="2000" smtClean="0">
                <a:latin typeface="Times New Roman" pitchFamily="18" charset="0"/>
              </a:rPr>
              <a:t>a bar shows each category, the length of which represents the amount, frequency or percentage of values falling into a category which come from the summary table of the variable.</a:t>
            </a:r>
            <a:r>
              <a:rPr lang="en-US" sz="2000" smtClean="0"/>
              <a:t> 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0" y="2233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2590800" y="2667000"/>
          <a:ext cx="6400800" cy="3810000"/>
        </p:xfrm>
        <a:graphic>
          <a:graphicData uri="http://schemas.openxmlformats.org/presentationml/2006/ole">
            <p:oleObj spid="_x0000_s69634" name="Chart" r:id="rId3" imgW="4600651" imgH="2390851" progId="Excel.Sheet.8">
              <p:embed/>
            </p:oleObj>
          </a:graphicData>
        </a:graphic>
      </p:graphicFrame>
      <p:sp>
        <p:nvSpPr>
          <p:cNvPr id="69641" name="TextBox 8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graphicFrame>
        <p:nvGraphicFramePr>
          <p:cNvPr id="10" name="Group 4"/>
          <p:cNvGraphicFramePr>
            <a:graphicFrameLocks noGrp="1"/>
          </p:cNvGraphicFramePr>
          <p:nvPr>
            <p:ph sz="half" idx="2"/>
          </p:nvPr>
        </p:nvGraphicFramePr>
        <p:xfrm>
          <a:off x="152400" y="3429000"/>
          <a:ext cx="2438400" cy="2163763"/>
        </p:xfrm>
        <a:graphic>
          <a:graphicData uri="http://schemas.openxmlformats.org/drawingml/2006/table">
            <a:tbl>
              <a:tblPr/>
              <a:tblGrid>
                <a:gridCol w="1908313"/>
                <a:gridCol w="530087"/>
              </a:tblGrid>
              <a:tr h="38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Banking Preference?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Automated or live telephone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Drive-through service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 person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Internet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2425EFD-7BB7-4FF2-A0F5-809B6850FFD2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7066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0661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E5D4EF58-50C0-4549-9551-19F4D4D632E6}" type="slidenum">
              <a:rPr lang="en-US" sz="1000"/>
              <a:pPr algn="r" defTabSz="852488"/>
              <a:t>30</a:t>
            </a:fld>
            <a:endParaRPr lang="en-US" sz="1000"/>
          </a:p>
        </p:txBody>
      </p:sp>
      <p:sp>
        <p:nvSpPr>
          <p:cNvPr id="706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Visualizing Categorical Data: </a:t>
            </a:r>
            <a:br>
              <a:rPr lang="en-US" sz="3700" smtClean="0"/>
            </a:br>
            <a:r>
              <a:rPr lang="en-US" sz="3700" smtClean="0"/>
              <a:t>The Pie Chart</a:t>
            </a:r>
          </a:p>
        </p:txBody>
      </p:sp>
      <p:sp>
        <p:nvSpPr>
          <p:cNvPr id="706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24000"/>
            <a:ext cx="7900988" cy="1258888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The </a:t>
            </a:r>
            <a:r>
              <a:rPr lang="en-US" sz="2000" b="1" smtClean="0">
                <a:latin typeface="Times New Roman" pitchFamily="18" charset="0"/>
              </a:rPr>
              <a:t>pie chart </a:t>
            </a:r>
            <a:r>
              <a:rPr lang="en-US" sz="2000" smtClean="0">
                <a:latin typeface="Times New Roman" pitchFamily="18" charset="0"/>
              </a:rPr>
              <a:t>is a circle broken up into slices that represent categories. The size of each slice of the pie varies according to the percentage in each category.</a:t>
            </a:r>
            <a:r>
              <a:rPr lang="en-US" sz="2000" smtClean="0"/>
              <a:t> </a:t>
            </a:r>
          </a:p>
        </p:txBody>
      </p:sp>
      <p:graphicFrame>
        <p:nvGraphicFramePr>
          <p:cNvPr id="70658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2514600" y="2514600"/>
          <a:ext cx="6508750" cy="3497263"/>
        </p:xfrm>
        <a:graphic>
          <a:graphicData uri="http://schemas.openxmlformats.org/presentationml/2006/ole">
            <p:oleObj spid="_x0000_s70658" name="Chart" r:id="rId3" imgW="4857902" imgH="2610002" progId="Excel.Sheet.8">
              <p:embed/>
            </p:oleObj>
          </a:graphicData>
        </a:graphic>
      </p:graphicFrame>
      <p:sp>
        <p:nvSpPr>
          <p:cNvPr id="70664" name="TextBox 7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graphicFrame>
        <p:nvGraphicFramePr>
          <p:cNvPr id="9" name="Group 4"/>
          <p:cNvGraphicFramePr>
            <a:graphicFrameLocks/>
          </p:cNvGraphicFramePr>
          <p:nvPr/>
        </p:nvGraphicFramePr>
        <p:xfrm>
          <a:off x="152400" y="3200400"/>
          <a:ext cx="2438400" cy="2163763"/>
        </p:xfrm>
        <a:graphic>
          <a:graphicData uri="http://schemas.openxmlformats.org/drawingml/2006/table">
            <a:tbl>
              <a:tblPr/>
              <a:tblGrid>
                <a:gridCol w="1908313"/>
                <a:gridCol w="530087"/>
              </a:tblGrid>
              <a:tr h="38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Banking Preference?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Automated or live telephone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Drive-through service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 person at branch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Internet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5F08BE68-3617-4678-9FDB-98B3BAC7C384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7373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373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8CBB950C-A1DB-477A-ACA2-E82E30E545DD}" type="slidenum">
              <a:rPr lang="en-US" sz="1000"/>
              <a:pPr algn="r" defTabSz="852488"/>
              <a:t>31</a:t>
            </a:fld>
            <a:endParaRPr lang="en-US" sz="1000"/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smtClean="0"/>
              <a:t>Visualizing Categorical Data:</a:t>
            </a:r>
            <a:br>
              <a:rPr lang="en-US" sz="3600" smtClean="0"/>
            </a:br>
            <a:r>
              <a:rPr lang="en-US" sz="3600" smtClean="0"/>
              <a:t>The Pareto Chart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mtClean="0"/>
              <a:t>Used to portray categorical data (nominal scale)</a:t>
            </a:r>
          </a:p>
          <a:p>
            <a:pPr eaLnBrk="1" hangingPunct="1">
              <a:lnSpc>
                <a:spcPct val="120000"/>
              </a:lnSpc>
            </a:pPr>
            <a:r>
              <a:rPr lang="en-US" smtClean="0"/>
              <a:t>A vertical bar chart, where categories are shown in descending order of frequency</a:t>
            </a:r>
          </a:p>
          <a:p>
            <a:pPr eaLnBrk="1" hangingPunct="1">
              <a:lnSpc>
                <a:spcPct val="120000"/>
              </a:lnSpc>
            </a:pPr>
            <a:r>
              <a:rPr lang="en-US" smtClean="0"/>
              <a:t>A cumulative polygon is shown in the same graph</a:t>
            </a:r>
          </a:p>
          <a:p>
            <a:pPr eaLnBrk="1" hangingPunct="1">
              <a:lnSpc>
                <a:spcPct val="120000"/>
              </a:lnSpc>
            </a:pPr>
            <a:r>
              <a:rPr lang="en-US" smtClean="0"/>
              <a:t>Used to separate the “vital few” from the “trivial many”</a:t>
            </a:r>
          </a:p>
        </p:txBody>
      </p:sp>
      <p:sp>
        <p:nvSpPr>
          <p:cNvPr id="73734" name="TextBox 6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3B7A1486-577A-41D6-90A2-E16A53090A36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7168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168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CE5D6DEC-61CA-46F5-9D80-CC56DF9AA6EF}" type="slidenum">
              <a:rPr lang="en-US" sz="1000"/>
              <a:pPr algn="r" defTabSz="852488"/>
              <a:t>32</a:t>
            </a:fld>
            <a:endParaRPr lang="en-US" sz="1000"/>
          </a:p>
        </p:txBody>
      </p:sp>
      <p:sp>
        <p:nvSpPr>
          <p:cNvPr id="716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lnSpc>
                <a:spcPct val="110000"/>
              </a:lnSpc>
            </a:pPr>
            <a:r>
              <a:rPr lang="en-US" sz="3600" smtClean="0"/>
              <a:t>Visualizing Categorical Data:</a:t>
            </a:r>
            <a:br>
              <a:rPr lang="en-US" sz="3600" smtClean="0"/>
            </a:br>
            <a:r>
              <a:rPr lang="en-US" sz="3600" smtClean="0"/>
              <a:t>The Pareto Chart (con’t)</a:t>
            </a:r>
          </a:p>
        </p:txBody>
      </p:sp>
      <p:graphicFrame>
        <p:nvGraphicFramePr>
          <p:cNvPr id="71682" name="Object 10"/>
          <p:cNvGraphicFramePr>
            <a:graphicFrameLocks noChangeAspect="1"/>
          </p:cNvGraphicFramePr>
          <p:nvPr>
            <p:ph idx="1"/>
          </p:nvPr>
        </p:nvGraphicFramePr>
        <p:xfrm>
          <a:off x="809625" y="1909763"/>
          <a:ext cx="7210425" cy="4294187"/>
        </p:xfrm>
        <a:graphic>
          <a:graphicData uri="http://schemas.openxmlformats.org/presentationml/2006/ole">
            <p:oleObj spid="_x0000_s71682" name="Chart" r:id="rId3" imgW="7229520" imgH="4305390" progId="MSGraph.Chart.8">
              <p:embed followColorScheme="full"/>
            </p:oleObj>
          </a:graphicData>
        </a:graphic>
      </p:graphicFrame>
      <p:sp>
        <p:nvSpPr>
          <p:cNvPr id="71687" name="TextBox 6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F5B6D28E-8C75-4006-AA57-E037EB3F4E9F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7475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4755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algn="l"/>
            <a:r>
              <a:rPr lang="en-US" smtClean="0"/>
              <a:t>Visualizing Categorical Data:</a:t>
            </a:r>
            <a:br>
              <a:rPr lang="en-US" smtClean="0"/>
            </a:br>
            <a:r>
              <a:rPr lang="en-US" smtClean="0"/>
              <a:t>Side-By-Side Bar Charts</a:t>
            </a:r>
          </a:p>
        </p:txBody>
      </p:sp>
      <p:sp>
        <p:nvSpPr>
          <p:cNvPr id="74756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2D19849B-D45D-4543-B81E-DB32B2B6EFCC}" type="slidenum">
              <a:rPr lang="en-US" sz="1000"/>
              <a:pPr algn="r"/>
              <a:t>33</a:t>
            </a:fld>
            <a:endParaRPr lang="en-US" sz="10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1524000"/>
            <a:ext cx="7900988" cy="533400"/>
          </a:xfrm>
          <a:prstGeom prst="rect">
            <a:avLst/>
          </a:prstGeom>
          <a:noFill/>
        </p:spPr>
        <p:txBody>
          <a:bodyPr/>
          <a:lstStyle/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§"/>
              <a:defRPr/>
            </a:pPr>
            <a:r>
              <a:rPr lang="en-US" sz="2000" kern="0" dirty="0">
                <a:latin typeface="Times New Roman" pitchFamily="18" charset="0"/>
              </a:rPr>
              <a:t>The </a:t>
            </a:r>
            <a:r>
              <a:rPr lang="en-US" sz="2000" b="1" kern="0" dirty="0">
                <a:latin typeface="Times New Roman" pitchFamily="18" charset="0"/>
              </a:rPr>
              <a:t>side by side bar chart </a:t>
            </a:r>
            <a:r>
              <a:rPr lang="en-US" sz="2000" kern="0" dirty="0">
                <a:latin typeface="Times New Roman" pitchFamily="18" charset="0"/>
              </a:rPr>
              <a:t>represents the data from a contingency table.</a:t>
            </a:r>
            <a:r>
              <a:rPr lang="en-US" sz="2000" kern="0" dirty="0">
                <a:latin typeface="+mn-lt"/>
              </a:rPr>
              <a:t> </a:t>
            </a:r>
          </a:p>
        </p:txBody>
      </p:sp>
      <p:sp>
        <p:nvSpPr>
          <p:cNvPr id="74758" name="TextBox 16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graphicFrame>
        <p:nvGraphicFramePr>
          <p:cNvPr id="13" name="Chart 12"/>
          <p:cNvGraphicFramePr/>
          <p:nvPr/>
        </p:nvGraphicFramePr>
        <p:xfrm>
          <a:off x="4419600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4760" name="TextBox 17"/>
          <p:cNvSpPr txBox="1">
            <a:spLocks noChangeArrowheads="1"/>
          </p:cNvSpPr>
          <p:nvPr/>
        </p:nvSpPr>
        <p:spPr bwMode="auto">
          <a:xfrm>
            <a:off x="1676400" y="5638800"/>
            <a:ext cx="6216650" cy="7080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Invoices with errors are much more likely to be of</a:t>
            </a:r>
          </a:p>
          <a:p>
            <a:r>
              <a:rPr lang="en-US" sz="2000" b="1"/>
              <a:t>medium size (61.54% vs 30.77% and 7.69%)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52400" y="2133600"/>
          <a:ext cx="4191000" cy="335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7750"/>
                <a:gridCol w="1047750"/>
                <a:gridCol w="1047750"/>
                <a:gridCol w="1047750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Errors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50.75%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30.77%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29.85%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61.54%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35.00%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  <a:p>
                      <a:pPr algn="ctr"/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19.40%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7.69%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17.50%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100.0%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9B1F873D-E60D-4965-8A10-2A7A1CD1B22F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7577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577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7FA7E9D9-1181-4C02-8ECA-7A09F04EA303}" type="slidenum">
              <a:rPr lang="en-US" sz="1000"/>
              <a:pPr algn="r" defTabSz="852488"/>
              <a:t>34</a:t>
            </a:fld>
            <a:endParaRPr lang="en-US" sz="1000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781800" cy="1143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smtClean="0"/>
              <a:t>Visualizing Numerical Data By Using Graphical Displays</a:t>
            </a:r>
          </a:p>
        </p:txBody>
      </p:sp>
      <p:sp>
        <p:nvSpPr>
          <p:cNvPr id="75781" name="Line 3"/>
          <p:cNvSpPr>
            <a:spLocks noChangeShapeType="1"/>
          </p:cNvSpPr>
          <p:nvPr/>
        </p:nvSpPr>
        <p:spPr bwMode="auto">
          <a:xfrm>
            <a:off x="1600200" y="4114800"/>
            <a:ext cx="0" cy="952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Line 4"/>
          <p:cNvSpPr>
            <a:spLocks noChangeShapeType="1"/>
          </p:cNvSpPr>
          <p:nvPr/>
        </p:nvSpPr>
        <p:spPr bwMode="auto">
          <a:xfrm>
            <a:off x="4276725" y="22860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Rectangle 5"/>
          <p:cNvSpPr>
            <a:spLocks noChangeArrowheads="1"/>
          </p:cNvSpPr>
          <p:nvPr/>
        </p:nvSpPr>
        <p:spPr bwMode="auto">
          <a:xfrm>
            <a:off x="466725" y="1828800"/>
            <a:ext cx="80200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5784" name="Rectangle 6"/>
          <p:cNvSpPr>
            <a:spLocks noChangeArrowheads="1"/>
          </p:cNvSpPr>
          <p:nvPr/>
        </p:nvSpPr>
        <p:spPr bwMode="auto">
          <a:xfrm>
            <a:off x="2754313" y="1754188"/>
            <a:ext cx="2968625" cy="5286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</a:rPr>
              <a:t>Numerical Data</a:t>
            </a:r>
          </a:p>
        </p:txBody>
      </p:sp>
      <p:sp>
        <p:nvSpPr>
          <p:cNvPr id="75785" name="Line 7"/>
          <p:cNvSpPr>
            <a:spLocks noChangeShapeType="1"/>
          </p:cNvSpPr>
          <p:nvPr/>
        </p:nvSpPr>
        <p:spPr bwMode="auto">
          <a:xfrm>
            <a:off x="1600200" y="3048000"/>
            <a:ext cx="480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86" name="Line 8"/>
          <p:cNvSpPr>
            <a:spLocks noChangeShapeType="1"/>
          </p:cNvSpPr>
          <p:nvPr/>
        </p:nvSpPr>
        <p:spPr bwMode="auto">
          <a:xfrm>
            <a:off x="1600200" y="30480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87" name="Rectangle 9"/>
          <p:cNvSpPr>
            <a:spLocks noChangeArrowheads="1"/>
          </p:cNvSpPr>
          <p:nvPr/>
        </p:nvSpPr>
        <p:spPr bwMode="auto">
          <a:xfrm>
            <a:off x="381000" y="3657600"/>
            <a:ext cx="2359025" cy="458788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Ordered Array</a:t>
            </a:r>
          </a:p>
        </p:txBody>
      </p:sp>
      <p:sp>
        <p:nvSpPr>
          <p:cNvPr id="75788" name="Rectangle 10"/>
          <p:cNvSpPr>
            <a:spLocks noChangeArrowheads="1"/>
          </p:cNvSpPr>
          <p:nvPr/>
        </p:nvSpPr>
        <p:spPr bwMode="auto">
          <a:xfrm>
            <a:off x="381000" y="5029200"/>
            <a:ext cx="2359025" cy="75882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b="1"/>
              <a:t>Stem-and-Leaf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Display</a:t>
            </a:r>
          </a:p>
        </p:txBody>
      </p:sp>
      <p:sp>
        <p:nvSpPr>
          <p:cNvPr id="75789" name="Line 11"/>
          <p:cNvSpPr>
            <a:spLocks noChangeShapeType="1"/>
          </p:cNvSpPr>
          <p:nvPr/>
        </p:nvSpPr>
        <p:spPr bwMode="auto">
          <a:xfrm>
            <a:off x="6400800" y="30480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0" name="Line 12"/>
          <p:cNvSpPr>
            <a:spLocks noChangeShapeType="1"/>
          </p:cNvSpPr>
          <p:nvPr/>
        </p:nvSpPr>
        <p:spPr bwMode="auto">
          <a:xfrm>
            <a:off x="6400800" y="43434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1" name="Line 13"/>
          <p:cNvSpPr>
            <a:spLocks noChangeShapeType="1"/>
          </p:cNvSpPr>
          <p:nvPr/>
        </p:nvSpPr>
        <p:spPr bwMode="auto">
          <a:xfrm>
            <a:off x="4876800" y="4800600"/>
            <a:ext cx="3429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2" name="Line 14"/>
          <p:cNvSpPr>
            <a:spLocks noChangeShapeType="1"/>
          </p:cNvSpPr>
          <p:nvPr/>
        </p:nvSpPr>
        <p:spPr bwMode="auto">
          <a:xfrm>
            <a:off x="4876800" y="4800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3" name="Rectangle 15"/>
          <p:cNvSpPr>
            <a:spLocks noChangeArrowheads="1"/>
          </p:cNvSpPr>
          <p:nvPr/>
        </p:nvSpPr>
        <p:spPr bwMode="auto">
          <a:xfrm>
            <a:off x="3810000" y="5181600"/>
            <a:ext cx="1990725" cy="46672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Histogram</a:t>
            </a:r>
          </a:p>
        </p:txBody>
      </p:sp>
      <p:sp>
        <p:nvSpPr>
          <p:cNvPr id="75794" name="Line 16"/>
          <p:cNvSpPr>
            <a:spLocks noChangeShapeType="1"/>
          </p:cNvSpPr>
          <p:nvPr/>
        </p:nvSpPr>
        <p:spPr bwMode="auto">
          <a:xfrm>
            <a:off x="6858000" y="4800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5" name="Rectangle 17"/>
          <p:cNvSpPr>
            <a:spLocks noChangeArrowheads="1"/>
          </p:cNvSpPr>
          <p:nvPr/>
        </p:nvSpPr>
        <p:spPr bwMode="auto">
          <a:xfrm>
            <a:off x="6096000" y="5181600"/>
            <a:ext cx="1446213" cy="46672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Polygon</a:t>
            </a:r>
          </a:p>
        </p:txBody>
      </p:sp>
      <p:sp>
        <p:nvSpPr>
          <p:cNvPr id="75796" name="Line 18"/>
          <p:cNvSpPr>
            <a:spLocks noChangeShapeType="1"/>
          </p:cNvSpPr>
          <p:nvPr/>
        </p:nvSpPr>
        <p:spPr bwMode="auto">
          <a:xfrm flipH="1">
            <a:off x="8305800" y="4800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97" name="Rectangle 19"/>
          <p:cNvSpPr>
            <a:spLocks noChangeArrowheads="1"/>
          </p:cNvSpPr>
          <p:nvPr/>
        </p:nvSpPr>
        <p:spPr bwMode="auto">
          <a:xfrm>
            <a:off x="7848600" y="5181600"/>
            <a:ext cx="1063625" cy="46672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Ogive</a:t>
            </a:r>
          </a:p>
        </p:txBody>
      </p:sp>
      <p:sp>
        <p:nvSpPr>
          <p:cNvPr id="75798" name="Rectangle 20"/>
          <p:cNvSpPr>
            <a:spLocks noChangeArrowheads="1"/>
          </p:cNvSpPr>
          <p:nvPr/>
        </p:nvSpPr>
        <p:spPr bwMode="auto">
          <a:xfrm>
            <a:off x="4495800" y="3429000"/>
            <a:ext cx="3810000" cy="119697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Frequency Distributions and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b="1"/>
              <a:t>Cumulative Distributions</a:t>
            </a:r>
          </a:p>
        </p:txBody>
      </p:sp>
      <p:sp>
        <p:nvSpPr>
          <p:cNvPr id="75799" name="TextBox 22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5598611-A5FF-474B-AC84-004828B3125D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7680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68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382409F1-7353-4248-BB60-E7D670961B6E}" type="slidenum">
              <a:rPr lang="en-US" sz="1000"/>
              <a:pPr algn="r" defTabSz="852488"/>
              <a:t>35</a:t>
            </a:fld>
            <a:endParaRPr lang="en-US" sz="1000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57200"/>
            <a:ext cx="6553200" cy="762000"/>
          </a:xfrm>
        </p:spPr>
        <p:txBody>
          <a:bodyPr/>
          <a:lstStyle/>
          <a:p>
            <a:pPr algn="l" defTabSz="914400" eaLnBrk="1" hangingPunct="1"/>
            <a:r>
              <a:rPr lang="en-US" smtClean="0"/>
              <a:t>Stem-and-Leaf Display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97088"/>
            <a:ext cx="8229600" cy="3846512"/>
          </a:xfrm>
        </p:spPr>
        <p:txBody>
          <a:bodyPr/>
          <a:lstStyle/>
          <a:p>
            <a:pPr marL="342900" indent="-342900" defTabSz="914400" eaLnBrk="1" hangingPunct="1"/>
            <a:r>
              <a:rPr lang="en-US" smtClean="0"/>
              <a:t>A simple way to see how the data are distributed and where concentrations of data exist</a:t>
            </a:r>
          </a:p>
          <a:p>
            <a:pPr marL="342900" indent="-342900" defTabSz="914400" eaLnBrk="1" hangingPunct="1">
              <a:buFont typeface="Wingdings" pitchFamily="2" charset="2"/>
              <a:buNone/>
            </a:pPr>
            <a:endParaRPr lang="en-US" smtClean="0"/>
          </a:p>
          <a:p>
            <a:pPr marL="742950" lvl="1" indent="-285750" defTabSz="9144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800" smtClean="0"/>
              <a:t>METHOD: Separate the sorted data series</a:t>
            </a:r>
            <a:br>
              <a:rPr lang="en-US" sz="2800" smtClean="0"/>
            </a:br>
            <a:r>
              <a:rPr lang="en-US" sz="2800" smtClean="0"/>
              <a:t>                into leading digits (the </a:t>
            </a:r>
            <a:r>
              <a:rPr lang="en-US" sz="2800" b="1" smtClean="0">
                <a:solidFill>
                  <a:schemeClr val="folHlink"/>
                </a:solidFill>
              </a:rPr>
              <a:t>stems</a:t>
            </a:r>
            <a:r>
              <a:rPr lang="en-US" sz="2800" smtClean="0"/>
              <a:t>) and</a:t>
            </a:r>
            <a:br>
              <a:rPr lang="en-US" sz="2800" smtClean="0"/>
            </a:br>
            <a:r>
              <a:rPr lang="en-US" sz="2800" smtClean="0"/>
              <a:t>                the trailing digits (the</a:t>
            </a:r>
            <a:r>
              <a:rPr lang="en-US" sz="2800" smtClean="0">
                <a:solidFill>
                  <a:schemeClr val="hlink"/>
                </a:solidFill>
              </a:rPr>
              <a:t> </a:t>
            </a:r>
            <a:r>
              <a:rPr lang="en-US" sz="2800" b="1" smtClean="0">
                <a:solidFill>
                  <a:schemeClr val="folHlink"/>
                </a:solidFill>
              </a:rPr>
              <a:t>leaves</a:t>
            </a:r>
            <a:r>
              <a:rPr lang="en-US" sz="2800" smtClean="0"/>
              <a:t>)</a:t>
            </a:r>
            <a:endParaRPr lang="en-US" smtClean="0"/>
          </a:p>
        </p:txBody>
      </p:sp>
      <p:sp>
        <p:nvSpPr>
          <p:cNvPr id="76806" name="TextBox 5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9C9763D-7D73-44A0-9329-4C94778282B3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7782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7827" name="Slide Number Placeholder 6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D7763117-D843-4C5B-B3FA-5CC97414AE71}" type="slidenum">
              <a:rPr lang="en-US" sz="1000"/>
              <a:pPr algn="r" defTabSz="852488"/>
              <a:t>36</a:t>
            </a:fld>
            <a:endParaRPr lang="en-US" sz="1000"/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Organizing Numerical Data: </a:t>
            </a:r>
            <a:br>
              <a:rPr lang="en-US" sz="3700" smtClean="0"/>
            </a:br>
            <a:r>
              <a:rPr lang="en-US" sz="3700" smtClean="0"/>
              <a:t>Stem and Leaf Display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00200"/>
            <a:ext cx="8077200" cy="4532313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</a:t>
            </a:r>
            <a:r>
              <a:rPr lang="en-US" sz="2400" b="1" smtClean="0">
                <a:latin typeface="Times New Roman" pitchFamily="18" charset="0"/>
              </a:rPr>
              <a:t>stem-and-leaf display </a:t>
            </a:r>
            <a:r>
              <a:rPr lang="en-US" sz="2400" smtClean="0">
                <a:latin typeface="Times New Roman" pitchFamily="18" charset="0"/>
              </a:rPr>
              <a:t>organizes data into groups (called stems) so that the values within each group (the leaves) branch out to the right on each row.</a:t>
            </a:r>
            <a:r>
              <a:rPr lang="en-US" sz="2400" smtClean="0"/>
              <a:t> </a:t>
            </a:r>
          </a:p>
        </p:txBody>
      </p:sp>
      <p:graphicFrame>
        <p:nvGraphicFramePr>
          <p:cNvPr id="198660" name="Group 4"/>
          <p:cNvGraphicFramePr>
            <a:graphicFrameLocks noGrp="1"/>
          </p:cNvGraphicFramePr>
          <p:nvPr>
            <p:ph sz="quarter" idx="2"/>
          </p:nvPr>
        </p:nvGraphicFramePr>
        <p:xfrm>
          <a:off x="4191000" y="3846513"/>
          <a:ext cx="2057400" cy="2189162"/>
        </p:xfrm>
        <a:graphic>
          <a:graphicData uri="http://schemas.openxmlformats.org/drawingml/2006/table">
            <a:tbl>
              <a:tblPr/>
              <a:tblGrid>
                <a:gridCol w="841375"/>
                <a:gridCol w="1216025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Stem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Leaf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67788899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0012257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842" name="Text Box 30"/>
          <p:cNvSpPr txBox="1">
            <a:spLocks noChangeArrowheads="1"/>
          </p:cNvSpPr>
          <p:nvPr/>
        </p:nvSpPr>
        <p:spPr bwMode="auto">
          <a:xfrm>
            <a:off x="3352800" y="2895600"/>
            <a:ext cx="54864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                 Age of College Students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	    Day Students	             Night Students</a:t>
            </a:r>
          </a:p>
        </p:txBody>
      </p:sp>
      <p:graphicFrame>
        <p:nvGraphicFramePr>
          <p:cNvPr id="198774" name="Group 118"/>
          <p:cNvGraphicFramePr>
            <a:graphicFrameLocks noGrp="1"/>
          </p:cNvGraphicFramePr>
          <p:nvPr/>
        </p:nvGraphicFramePr>
        <p:xfrm>
          <a:off x="7162800" y="3886200"/>
          <a:ext cx="1752600" cy="2266950"/>
        </p:xfrm>
        <a:graphic>
          <a:graphicData uri="http://schemas.openxmlformats.org/drawingml/2006/table">
            <a:tbl>
              <a:tblPr/>
              <a:tblGrid>
                <a:gridCol w="717550"/>
                <a:gridCol w="1035050"/>
              </a:tblGrid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Stem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Leaf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8899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8776" name="Group 120"/>
          <p:cNvGraphicFramePr>
            <a:graphicFrameLocks noGrp="1"/>
          </p:cNvGraphicFramePr>
          <p:nvPr>
            <p:ph sz="quarter" idx="3"/>
          </p:nvPr>
        </p:nvGraphicFramePr>
        <p:xfrm>
          <a:off x="304800" y="3505200"/>
          <a:ext cx="3810000" cy="2133600"/>
        </p:xfrm>
        <a:graphic>
          <a:graphicData uri="http://schemas.openxmlformats.org/drawingml/2006/table">
            <a:tbl>
              <a:tblPr/>
              <a:tblGrid>
                <a:gridCol w="896938"/>
                <a:gridCol w="447675"/>
                <a:gridCol w="492125"/>
                <a:gridCol w="495300"/>
                <a:gridCol w="492125"/>
                <a:gridCol w="493712"/>
                <a:gridCol w="492125"/>
              </a:tblGrid>
              <a:tr h="1762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Age of Surveyed College Students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Day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4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Night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910" name="TextBox 9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D87BC6DB-C5F6-45C0-BA31-E778FF56A7B3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788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88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5E0BD90F-34D8-4D72-A9AF-163C8FA6E42D}" type="slidenum">
              <a:rPr lang="en-US" sz="1000"/>
              <a:pPr algn="r" defTabSz="852488"/>
              <a:t>37</a:t>
            </a:fld>
            <a:endParaRPr lang="en-US" sz="1000"/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Visualizing Numerical Data: </a:t>
            </a:r>
            <a:br>
              <a:rPr lang="en-US" sz="3700" smtClean="0"/>
            </a:br>
            <a:r>
              <a:rPr lang="en-US" sz="3700" smtClean="0"/>
              <a:t>The Histogram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40" tIns="45720" rIns="91440" bIns="45720"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vertical bar chart of the data in a frequency distribution is called a </a:t>
            </a:r>
            <a:r>
              <a:rPr lang="en-US" sz="2400" b="1" smtClean="0">
                <a:latin typeface="Times New Roman" pitchFamily="18" charset="0"/>
              </a:rPr>
              <a:t>histogram.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In a histogram there are no gaps between adjacent bars.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</a:t>
            </a:r>
            <a:r>
              <a:rPr lang="en-US" sz="2400" b="1" smtClean="0">
                <a:latin typeface="Times New Roman" pitchFamily="18" charset="0"/>
              </a:rPr>
              <a:t>class boundaries</a:t>
            </a:r>
            <a:r>
              <a:rPr lang="en-US" sz="2400" smtClean="0">
                <a:latin typeface="Times New Roman" pitchFamily="18" charset="0"/>
              </a:rPr>
              <a:t> (or </a:t>
            </a:r>
            <a:r>
              <a:rPr lang="en-US" sz="2400" b="1" smtClean="0">
                <a:latin typeface="Times New Roman" pitchFamily="18" charset="0"/>
              </a:rPr>
              <a:t>class midpoints</a:t>
            </a:r>
            <a:r>
              <a:rPr lang="en-US" sz="2400" smtClean="0">
                <a:latin typeface="Times New Roman" pitchFamily="18" charset="0"/>
              </a:rPr>
              <a:t>) are shown on the horizontal axis.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vertical axis is either </a:t>
            </a:r>
            <a:r>
              <a:rPr lang="en-US" sz="2400" b="1" smtClean="0">
                <a:latin typeface="Times New Roman" pitchFamily="18" charset="0"/>
              </a:rPr>
              <a:t>frequency, relative frequency, </a:t>
            </a:r>
            <a:r>
              <a:rPr lang="en-US" sz="2400" smtClean="0">
                <a:latin typeface="Times New Roman" pitchFamily="18" charset="0"/>
              </a:rPr>
              <a:t>or</a:t>
            </a:r>
            <a:r>
              <a:rPr lang="en-US" sz="2400" b="1" smtClean="0">
                <a:latin typeface="Times New Roman" pitchFamily="18" charset="0"/>
              </a:rPr>
              <a:t> percentage</a:t>
            </a:r>
            <a:r>
              <a:rPr lang="en-US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height of the bars represent the frequency, relative frequency, or percentage. </a:t>
            </a:r>
          </a:p>
        </p:txBody>
      </p:sp>
      <p:sp>
        <p:nvSpPr>
          <p:cNvPr id="78854" name="TextBox 5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25EB0CA-CE5D-46E9-B646-D2BED3A3209F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410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0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3C15CCBE-8DA8-47D1-9F91-0C54BA7ABDB1}" type="slidenum">
              <a:rPr lang="en-US" sz="1000"/>
              <a:pPr algn="r" defTabSz="852488"/>
              <a:t>38</a:t>
            </a:fld>
            <a:endParaRPr lang="en-US" sz="1000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Visualizing Numerical Data: </a:t>
            </a:r>
            <a:br>
              <a:rPr lang="en-US" sz="3700" smtClean="0"/>
            </a:br>
            <a:r>
              <a:rPr lang="en-US" sz="3700" smtClean="0"/>
              <a:t>The Histogram</a:t>
            </a:r>
          </a:p>
        </p:txBody>
      </p:sp>
      <p:grpSp>
        <p:nvGrpSpPr>
          <p:cNvPr id="4103" name="Group 3"/>
          <p:cNvGrpSpPr>
            <a:grpSpLocks/>
          </p:cNvGrpSpPr>
          <p:nvPr/>
        </p:nvGrpSpPr>
        <p:grpSpPr bwMode="auto">
          <a:xfrm>
            <a:off x="228600" y="1676400"/>
            <a:ext cx="4114800" cy="1981200"/>
            <a:chOff x="192" y="1392"/>
            <a:chExt cx="2592" cy="1248"/>
          </a:xfrm>
        </p:grpSpPr>
        <p:sp>
          <p:nvSpPr>
            <p:cNvPr id="4107" name="Rectangle 4"/>
            <p:cNvSpPr>
              <a:spLocks noChangeArrowheads="1"/>
            </p:cNvSpPr>
            <p:nvPr/>
          </p:nvSpPr>
          <p:spPr bwMode="auto">
            <a:xfrm>
              <a:off x="192" y="1392"/>
              <a:ext cx="2592" cy="1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08" name="Line 5"/>
            <p:cNvSpPr>
              <a:spLocks noChangeShapeType="1"/>
            </p:cNvSpPr>
            <p:nvPr/>
          </p:nvSpPr>
          <p:spPr bwMode="auto">
            <a:xfrm>
              <a:off x="305" y="1723"/>
              <a:ext cx="23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Line 6"/>
            <p:cNvSpPr>
              <a:spLocks noChangeShapeType="1"/>
            </p:cNvSpPr>
            <p:nvPr/>
          </p:nvSpPr>
          <p:spPr bwMode="auto">
            <a:xfrm>
              <a:off x="1095" y="1417"/>
              <a:ext cx="0" cy="1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0" name="Rectangle 7"/>
            <p:cNvSpPr>
              <a:spLocks noChangeArrowheads="1"/>
            </p:cNvSpPr>
            <p:nvPr/>
          </p:nvSpPr>
          <p:spPr bwMode="auto">
            <a:xfrm>
              <a:off x="261" y="1491"/>
              <a:ext cx="1909" cy="1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  </a:t>
              </a:r>
              <a:r>
                <a:rPr lang="en-US" sz="1000" b="1"/>
                <a:t>Class                        Frequency</a:t>
              </a:r>
            </a:p>
          </p:txBody>
        </p:sp>
        <p:sp>
          <p:nvSpPr>
            <p:cNvPr id="4111" name="Rectangle 8"/>
            <p:cNvSpPr>
              <a:spLocks noChangeArrowheads="1"/>
            </p:cNvSpPr>
            <p:nvPr/>
          </p:nvSpPr>
          <p:spPr bwMode="auto">
            <a:xfrm>
              <a:off x="213" y="1746"/>
              <a:ext cx="2534" cy="7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chemeClr val="bg2"/>
                  </a:solidFill>
                  <a:latin typeface="Times New Roman" pitchFamily="18" charset="0"/>
                </a:rPr>
                <a:t>10 but less than 20                   3                  .15                       15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chemeClr val="bg2"/>
                  </a:solidFill>
                  <a:latin typeface="Times New Roman" pitchFamily="18" charset="0"/>
                </a:rPr>
                <a:t>20 but less than 30                   6                  .30                       30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chemeClr val="bg2"/>
                  </a:solidFill>
                  <a:latin typeface="Times New Roman" pitchFamily="18" charset="0"/>
                </a:rPr>
                <a:t>30 but less than 40                   5                  .25                       25 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chemeClr val="bg2"/>
                  </a:solidFill>
                  <a:latin typeface="Times New Roman" pitchFamily="18" charset="0"/>
                </a:rPr>
                <a:t>40 but less than 50                   4                  .20                       20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chemeClr val="bg2"/>
                  </a:solidFill>
                  <a:latin typeface="Times New Roman" pitchFamily="18" charset="0"/>
                </a:rPr>
                <a:t>50 but less than 60                   2                  .10                       10             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100" b="1">
                  <a:solidFill>
                    <a:srgbClr val="CC0000"/>
                  </a:solidFill>
                  <a:latin typeface="Times New Roman" pitchFamily="18" charset="0"/>
                </a:rPr>
                <a:t>                </a:t>
              </a:r>
              <a:r>
                <a:rPr lang="en-US" sz="1100" b="1">
                  <a:latin typeface="Times New Roman" pitchFamily="18" charset="0"/>
                </a:rPr>
                <a:t>Total</a:t>
              </a:r>
              <a:r>
                <a:rPr lang="en-US" sz="1100" b="1">
                  <a:solidFill>
                    <a:srgbClr val="CC0000"/>
                  </a:solidFill>
                  <a:latin typeface="Times New Roman" pitchFamily="18" charset="0"/>
                </a:rPr>
                <a:t>	                       </a:t>
              </a:r>
              <a:r>
                <a:rPr lang="en-US" sz="1100" b="1">
                  <a:latin typeface="Times New Roman" pitchFamily="18" charset="0"/>
                </a:rPr>
                <a:t>20                1.00                     100</a:t>
              </a:r>
            </a:p>
          </p:txBody>
        </p:sp>
        <p:sp>
          <p:nvSpPr>
            <p:cNvPr id="4112" name="Line 9"/>
            <p:cNvSpPr>
              <a:spLocks noChangeShapeType="1"/>
            </p:cNvSpPr>
            <p:nvPr/>
          </p:nvSpPr>
          <p:spPr bwMode="auto">
            <a:xfrm>
              <a:off x="1557" y="1417"/>
              <a:ext cx="0" cy="1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3" name="Rectangle 10"/>
            <p:cNvSpPr>
              <a:spLocks noChangeArrowheads="1"/>
            </p:cNvSpPr>
            <p:nvPr/>
          </p:nvSpPr>
          <p:spPr bwMode="auto">
            <a:xfrm>
              <a:off x="1581" y="1468"/>
              <a:ext cx="531" cy="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000" b="1"/>
                <a:t>Relative</a:t>
              </a:r>
            </a:p>
            <a:p>
              <a:pPr eaLnBrk="0" hangingPunct="0">
                <a:lnSpc>
                  <a:spcPct val="40000"/>
                </a:lnSpc>
                <a:spcBef>
                  <a:spcPct val="50000"/>
                </a:spcBef>
              </a:pPr>
              <a:r>
                <a:rPr lang="en-US" sz="1000" b="1"/>
                <a:t>Frequency</a:t>
              </a:r>
            </a:p>
          </p:txBody>
        </p:sp>
        <p:sp>
          <p:nvSpPr>
            <p:cNvPr id="4114" name="Line 11"/>
            <p:cNvSpPr>
              <a:spLocks noChangeShapeType="1"/>
            </p:cNvSpPr>
            <p:nvPr/>
          </p:nvSpPr>
          <p:spPr bwMode="auto">
            <a:xfrm>
              <a:off x="2090" y="1417"/>
              <a:ext cx="0" cy="1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Rectangle 12"/>
            <p:cNvSpPr>
              <a:spLocks noChangeArrowheads="1"/>
            </p:cNvSpPr>
            <p:nvPr/>
          </p:nvSpPr>
          <p:spPr bwMode="auto">
            <a:xfrm>
              <a:off x="2112" y="1488"/>
              <a:ext cx="624" cy="1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 </a:t>
              </a:r>
              <a:r>
                <a:rPr lang="en-US" sz="1100" b="1"/>
                <a:t>Percentage</a:t>
              </a:r>
            </a:p>
          </p:txBody>
        </p:sp>
        <p:sp>
          <p:nvSpPr>
            <p:cNvPr id="4116" name="Line 13"/>
            <p:cNvSpPr>
              <a:spLocks noChangeShapeType="1"/>
            </p:cNvSpPr>
            <p:nvPr/>
          </p:nvSpPr>
          <p:spPr bwMode="auto">
            <a:xfrm>
              <a:off x="288" y="2352"/>
              <a:ext cx="24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098" name="Object 14">
            <a:hlinkClick r:id="" action="ppaction://ole?verb=0"/>
          </p:cNvPr>
          <p:cNvGraphicFramePr>
            <a:graphicFrameLocks/>
          </p:cNvGraphicFramePr>
          <p:nvPr>
            <p:ph idx="1"/>
          </p:nvPr>
        </p:nvGraphicFramePr>
        <p:xfrm>
          <a:off x="4114800" y="2667000"/>
          <a:ext cx="4800600" cy="3416300"/>
        </p:xfrm>
        <a:graphic>
          <a:graphicData uri="http://schemas.openxmlformats.org/presentationml/2006/ole">
            <p:oleObj spid="_x0000_s4098" name="Worksheet" r:id="rId3" imgW="2543251" imgH="1809835" progId="Excel.Sheet.8">
              <p:embed/>
            </p:oleObj>
          </a:graphicData>
        </a:graphic>
      </p:graphicFrame>
      <p:sp>
        <p:nvSpPr>
          <p:cNvPr id="4104" name="AutoShape 15"/>
          <p:cNvSpPr>
            <a:spLocks noChangeArrowheads="1"/>
          </p:cNvSpPr>
          <p:nvPr/>
        </p:nvSpPr>
        <p:spPr bwMode="auto">
          <a:xfrm rot="5400000">
            <a:off x="2857500" y="4381500"/>
            <a:ext cx="1371600" cy="1295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1553040585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1553040585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5" name="Rectangle 16"/>
          <p:cNvSpPr>
            <a:spLocks noChangeArrowheads="1"/>
          </p:cNvSpPr>
          <p:nvPr/>
        </p:nvSpPr>
        <p:spPr bwMode="auto">
          <a:xfrm>
            <a:off x="533400" y="4267200"/>
            <a:ext cx="19812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/>
              <a:t>(In a percentage histogram  the vertical axis would be defined to show the percentage of observations per class)</a:t>
            </a:r>
          </a:p>
        </p:txBody>
      </p:sp>
      <p:sp>
        <p:nvSpPr>
          <p:cNvPr id="4106" name="TextBox 18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99681453-6E34-47EE-B7D1-208B49F6F503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8192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19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824A5E3D-5AD2-40A0-9A79-9E9CF40D6E94}" type="slidenum">
              <a:rPr lang="en-US" sz="1000"/>
              <a:pPr algn="r" defTabSz="852488"/>
              <a:t>39</a:t>
            </a:fld>
            <a:endParaRPr lang="en-US" sz="1000"/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700" smtClean="0"/>
              <a:t>Visualizing Numerical Data: </a:t>
            </a:r>
            <a:br>
              <a:rPr lang="en-US" sz="3700" smtClean="0"/>
            </a:br>
            <a:r>
              <a:rPr lang="en-US" sz="3700" smtClean="0"/>
              <a:t>The Polygon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6925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</a:t>
            </a:r>
            <a:r>
              <a:rPr lang="en-US" sz="2400" b="1" smtClean="0">
                <a:latin typeface="Times New Roman" pitchFamily="18" charset="0"/>
              </a:rPr>
              <a:t>percentage polygon </a:t>
            </a:r>
            <a:r>
              <a:rPr lang="en-US" sz="2400" smtClean="0">
                <a:latin typeface="Times New Roman" pitchFamily="18" charset="0"/>
              </a:rPr>
              <a:t>is formed by having the midpoint of each class represent the data in that class and then connecting the sequence of midpoints at their respective class percentages.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</a:t>
            </a:r>
            <a:r>
              <a:rPr lang="en-US" sz="2400" b="1" smtClean="0">
                <a:latin typeface="Times New Roman" pitchFamily="18" charset="0"/>
              </a:rPr>
              <a:t>cumulative percentage polygon, </a:t>
            </a:r>
            <a:r>
              <a:rPr lang="en-US" sz="2400" smtClean="0">
                <a:latin typeface="Times New Roman" pitchFamily="18" charset="0"/>
              </a:rPr>
              <a:t>or </a:t>
            </a:r>
            <a:r>
              <a:rPr lang="en-US" sz="2400" b="1" smtClean="0">
                <a:latin typeface="Times New Roman" pitchFamily="18" charset="0"/>
              </a:rPr>
              <a:t>ogive, </a:t>
            </a:r>
            <a:r>
              <a:rPr lang="en-US" sz="2400" smtClean="0">
                <a:latin typeface="Times New Roman" pitchFamily="18" charset="0"/>
              </a:rPr>
              <a:t>displays the variable of interest along the </a:t>
            </a:r>
            <a:r>
              <a:rPr lang="en-US" sz="2400" i="1" smtClean="0">
                <a:latin typeface="Times New Roman" pitchFamily="18" charset="0"/>
              </a:rPr>
              <a:t>X </a:t>
            </a:r>
            <a:r>
              <a:rPr lang="en-US" sz="2400" smtClean="0">
                <a:latin typeface="Times New Roman" pitchFamily="18" charset="0"/>
              </a:rPr>
              <a:t>axis, and the cumulative percentages along the </a:t>
            </a:r>
            <a:r>
              <a:rPr lang="en-US" sz="2400" i="1" smtClean="0">
                <a:latin typeface="Times New Roman" pitchFamily="18" charset="0"/>
              </a:rPr>
              <a:t>Y </a:t>
            </a:r>
            <a:r>
              <a:rPr lang="en-US" sz="2400" smtClean="0">
                <a:latin typeface="Times New Roman" pitchFamily="18" charset="0"/>
              </a:rPr>
              <a:t>axis.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Useful when there are two or more groups to compare.</a:t>
            </a:r>
          </a:p>
        </p:txBody>
      </p:sp>
      <p:sp>
        <p:nvSpPr>
          <p:cNvPr id="81926" name="TextBox 5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79DCE7D1-F39E-4A49-B993-BB524B52A7E7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512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12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03BD3C06-6BCB-48E3-BCF5-EFCB87DDF9C7}" type="slidenum">
              <a:rPr lang="en-US" sz="1000"/>
              <a:pPr algn="r" defTabSz="852488"/>
              <a:t>40</a:t>
            </a:fld>
            <a:endParaRPr lang="en-US" sz="1000"/>
          </a:p>
        </p:txBody>
      </p:sp>
      <p:graphicFrame>
        <p:nvGraphicFramePr>
          <p:cNvPr id="512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429000" y="2743200"/>
          <a:ext cx="5629275" cy="3576638"/>
        </p:xfrm>
        <a:graphic>
          <a:graphicData uri="http://schemas.openxmlformats.org/presentationml/2006/ole">
            <p:oleObj spid="_x0000_s5122" name="Worksheet" r:id="rId3" imgW="3114650" imgH="1867002" progId="Excel.Sheet.8">
              <p:embed/>
            </p:oleObj>
          </a:graphicData>
        </a:graphic>
      </p:graphicFrame>
      <p:sp>
        <p:nvSpPr>
          <p:cNvPr id="5126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smtClean="0"/>
              <a:t>Visualizing Numerical Data: </a:t>
            </a:r>
            <a:br>
              <a:rPr lang="en-US" smtClean="0"/>
            </a:br>
            <a:r>
              <a:rPr lang="en-US" smtClean="0"/>
              <a:t>The Frequency Polygon</a:t>
            </a:r>
          </a:p>
        </p:txBody>
      </p:sp>
      <p:sp>
        <p:nvSpPr>
          <p:cNvPr id="5127" name="Rectangle 4"/>
          <p:cNvSpPr>
            <a:spLocks noChangeArrowheads="1"/>
          </p:cNvSpPr>
          <p:nvPr/>
        </p:nvSpPr>
        <p:spPr bwMode="auto">
          <a:xfrm>
            <a:off x="4794250" y="2667000"/>
            <a:ext cx="3981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5638800" y="5867400"/>
            <a:ext cx="1917700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/>
              <a:t>Class Midpoints</a:t>
            </a:r>
          </a:p>
        </p:txBody>
      </p:sp>
      <p:sp>
        <p:nvSpPr>
          <p:cNvPr id="5129" name="Rectangle 7"/>
          <p:cNvSpPr>
            <a:spLocks noChangeArrowheads="1"/>
          </p:cNvSpPr>
          <p:nvPr/>
        </p:nvSpPr>
        <p:spPr bwMode="auto">
          <a:xfrm>
            <a:off x="76200" y="1828800"/>
            <a:ext cx="36576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130" name="Line 8"/>
          <p:cNvSpPr>
            <a:spLocks noChangeShapeType="1"/>
          </p:cNvSpPr>
          <p:nvPr/>
        </p:nvSpPr>
        <p:spPr bwMode="auto">
          <a:xfrm>
            <a:off x="76200" y="2362200"/>
            <a:ext cx="3581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9"/>
          <p:cNvSpPr>
            <a:spLocks noChangeShapeType="1"/>
          </p:cNvSpPr>
          <p:nvPr/>
        </p:nvSpPr>
        <p:spPr bwMode="auto">
          <a:xfrm>
            <a:off x="1828800" y="1828800"/>
            <a:ext cx="0" cy="1905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Rectangle 10"/>
          <p:cNvSpPr>
            <a:spLocks noChangeArrowheads="1"/>
          </p:cNvSpPr>
          <p:nvPr/>
        </p:nvSpPr>
        <p:spPr bwMode="auto">
          <a:xfrm>
            <a:off x="381000" y="2000250"/>
            <a:ext cx="10668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rgbClr val="CC0000"/>
                </a:solidFill>
              </a:rPr>
              <a:t>Class</a:t>
            </a:r>
          </a:p>
        </p:txBody>
      </p:sp>
      <p:sp>
        <p:nvSpPr>
          <p:cNvPr id="5133" name="Rectangle 11"/>
          <p:cNvSpPr>
            <a:spLocks noChangeArrowheads="1"/>
          </p:cNvSpPr>
          <p:nvPr/>
        </p:nvSpPr>
        <p:spPr bwMode="auto">
          <a:xfrm>
            <a:off x="76200" y="2438400"/>
            <a:ext cx="3587750" cy="1260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10 but less than 20         15                3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20 but less than 30         25                6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30 but less than 40         35                5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40 but less than 50         45                4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50 but less than 60         55                2</a:t>
            </a:r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5134" name="Line 12"/>
          <p:cNvSpPr>
            <a:spLocks noChangeShapeType="1"/>
          </p:cNvSpPr>
          <p:nvPr/>
        </p:nvSpPr>
        <p:spPr bwMode="auto">
          <a:xfrm>
            <a:off x="2667000" y="1828800"/>
            <a:ext cx="0" cy="1905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5" name="Rectangle 13"/>
          <p:cNvSpPr>
            <a:spLocks noChangeArrowheads="1"/>
          </p:cNvSpPr>
          <p:nvPr/>
        </p:nvSpPr>
        <p:spPr bwMode="auto">
          <a:xfrm>
            <a:off x="2514600" y="2000250"/>
            <a:ext cx="13716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400" b="1">
                <a:solidFill>
                  <a:srgbClr val="CC0000"/>
                </a:solidFill>
              </a:rPr>
              <a:t>Frequency</a:t>
            </a:r>
          </a:p>
        </p:txBody>
      </p:sp>
      <p:sp>
        <p:nvSpPr>
          <p:cNvPr id="5136" name="Rectangle 14"/>
          <p:cNvSpPr>
            <a:spLocks noChangeArrowheads="1"/>
          </p:cNvSpPr>
          <p:nvPr/>
        </p:nvSpPr>
        <p:spPr bwMode="auto">
          <a:xfrm>
            <a:off x="1600200" y="1847850"/>
            <a:ext cx="12954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400" b="1">
                <a:solidFill>
                  <a:srgbClr val="CC0000"/>
                </a:solidFill>
              </a:rPr>
              <a:t>Class Midpoint</a:t>
            </a:r>
          </a:p>
        </p:txBody>
      </p:sp>
      <p:sp>
        <p:nvSpPr>
          <p:cNvPr id="5137" name="Text Box 15"/>
          <p:cNvSpPr txBox="1">
            <a:spLocks noChangeArrowheads="1"/>
          </p:cNvSpPr>
          <p:nvPr/>
        </p:nvSpPr>
        <p:spPr bwMode="auto">
          <a:xfrm>
            <a:off x="1143000" y="5029200"/>
            <a:ext cx="23622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(In a percentage polygon the vertical axis would be defined to show the percentage of observations per class)</a:t>
            </a:r>
          </a:p>
        </p:txBody>
      </p:sp>
      <p:sp>
        <p:nvSpPr>
          <p:cNvPr id="5138" name="AutoShape 16"/>
          <p:cNvSpPr>
            <a:spLocks noChangeArrowheads="1"/>
          </p:cNvSpPr>
          <p:nvPr/>
        </p:nvSpPr>
        <p:spPr bwMode="auto">
          <a:xfrm rot="10800000" flipH="1">
            <a:off x="2514600" y="3962400"/>
            <a:ext cx="990600" cy="1066800"/>
          </a:xfrm>
          <a:custGeom>
            <a:avLst/>
            <a:gdLst>
              <a:gd name="T0" fmla="*/ 1489102768 w 21600"/>
              <a:gd name="T1" fmla="*/ 0 h 21600"/>
              <a:gd name="T2" fmla="*/ 1489102768 w 21600"/>
              <a:gd name="T3" fmla="*/ 1464703622 h 21600"/>
              <a:gd name="T4" fmla="*/ 215967140 w 21600"/>
              <a:gd name="T5" fmla="*/ 2147483647 h 21600"/>
              <a:gd name="T6" fmla="*/ 2083469524 w 21600"/>
              <a:gd name="T7" fmla="*/ 73235181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889 h 21600"/>
              <a:gd name="T14" fmla="*/ 19380 w 21600"/>
              <a:gd name="T15" fmla="*/ 82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438" y="0"/>
                </a:lnTo>
                <a:lnTo>
                  <a:pt x="15438" y="3889"/>
                </a:lnTo>
                <a:lnTo>
                  <a:pt x="12427" y="3889"/>
                </a:lnTo>
                <a:cubicBezTo>
                  <a:pt x="5564" y="3889"/>
                  <a:pt x="0" y="7591"/>
                  <a:pt x="0" y="12158"/>
                </a:cubicBezTo>
                <a:lnTo>
                  <a:pt x="0" y="21600"/>
                </a:lnTo>
                <a:lnTo>
                  <a:pt x="4477" y="21600"/>
                </a:lnTo>
                <a:lnTo>
                  <a:pt x="4477" y="12158"/>
                </a:lnTo>
                <a:cubicBezTo>
                  <a:pt x="4477" y="10010"/>
                  <a:pt x="8036" y="8269"/>
                  <a:pt x="12427" y="8269"/>
                </a:cubicBezTo>
                <a:lnTo>
                  <a:pt x="15438" y="8269"/>
                </a:lnTo>
                <a:lnTo>
                  <a:pt x="15438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139" name="TextBox 18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21A2CA6C-08A8-4C5F-8D43-0C4F16E701F1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6149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150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C22446FB-6CC1-4DDF-9C35-4866F6D08291}" type="slidenum">
              <a:rPr lang="en-US" sz="1000"/>
              <a:pPr algn="r" defTabSz="852488"/>
              <a:t>41</a:t>
            </a:fld>
            <a:endParaRPr lang="en-US" sz="1000"/>
          </a:p>
        </p:txBody>
      </p:sp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sz="3600" smtClean="0"/>
              <a:t>Visualizing Numerical Data: </a:t>
            </a:r>
            <a:br>
              <a:rPr lang="en-US" sz="3600" smtClean="0"/>
            </a:br>
            <a:r>
              <a:rPr lang="en-US" sz="3600" smtClean="0"/>
              <a:t>The Ogive (Cumulative % Polygon)</a:t>
            </a:r>
          </a:p>
        </p:txBody>
      </p:sp>
      <p:graphicFrame>
        <p:nvGraphicFramePr>
          <p:cNvPr id="6146" name="Rectangle 25"/>
          <p:cNvGraphicFramePr>
            <a:graphicFrameLocks/>
          </p:cNvGraphicFramePr>
          <p:nvPr>
            <p:ph sz="half" idx="1"/>
          </p:nvPr>
        </p:nvGraphicFramePr>
        <p:xfrm>
          <a:off x="2590800" y="4094163"/>
          <a:ext cx="0" cy="0"/>
        </p:xfrm>
        <a:graphic>
          <a:graphicData uri="http://schemas.openxmlformats.org/presentationml/2006/ole">
            <p:oleObj spid="_x0000_s6146" name="Chart" r:id="rId3" imgW="0" imgH="0" progId="MSGraph.Chart.8">
              <p:embed followColorScheme="full"/>
            </p:oleObj>
          </a:graphicData>
        </a:graphic>
      </p:graphicFrame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76200" y="1676400"/>
            <a:ext cx="3733800" cy="2438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153" name="Line 8"/>
          <p:cNvSpPr>
            <a:spLocks noChangeShapeType="1"/>
          </p:cNvSpPr>
          <p:nvPr/>
        </p:nvSpPr>
        <p:spPr bwMode="auto">
          <a:xfrm>
            <a:off x="76200" y="2438400"/>
            <a:ext cx="3733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Line 9"/>
          <p:cNvSpPr>
            <a:spLocks noChangeShapeType="1"/>
          </p:cNvSpPr>
          <p:nvPr/>
        </p:nvSpPr>
        <p:spPr bwMode="auto">
          <a:xfrm>
            <a:off x="1828800" y="1676400"/>
            <a:ext cx="0" cy="2438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Rectangle 10"/>
          <p:cNvSpPr>
            <a:spLocks noChangeArrowheads="1"/>
          </p:cNvSpPr>
          <p:nvPr/>
        </p:nvSpPr>
        <p:spPr bwMode="auto">
          <a:xfrm>
            <a:off x="381000" y="2000250"/>
            <a:ext cx="10668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rgbClr val="CC0000"/>
                </a:solidFill>
              </a:rPr>
              <a:t>Class</a:t>
            </a:r>
          </a:p>
        </p:txBody>
      </p:sp>
      <p:sp>
        <p:nvSpPr>
          <p:cNvPr id="6156" name="Rectangle 11"/>
          <p:cNvSpPr>
            <a:spLocks noChangeArrowheads="1"/>
          </p:cNvSpPr>
          <p:nvPr/>
        </p:nvSpPr>
        <p:spPr bwMode="auto">
          <a:xfrm>
            <a:off x="0" y="2514600"/>
            <a:ext cx="3587750" cy="153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10 but less than 20   	    10        	      0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20 but less than 30   	    20               15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30 but less than 40   	    30               45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40 but less than 50   	    40               70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50 but less than 60   	    50               90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1400" b="1">
                <a:solidFill>
                  <a:schemeClr val="bg2"/>
                </a:solidFill>
              </a:rPr>
              <a:t>60 but less than 70	    60	   100</a:t>
            </a:r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6157" name="Line 12"/>
          <p:cNvSpPr>
            <a:spLocks noChangeShapeType="1"/>
          </p:cNvSpPr>
          <p:nvPr/>
        </p:nvSpPr>
        <p:spPr bwMode="auto">
          <a:xfrm>
            <a:off x="2743200" y="1676400"/>
            <a:ext cx="0" cy="2438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13"/>
          <p:cNvSpPr>
            <a:spLocks noChangeArrowheads="1"/>
          </p:cNvSpPr>
          <p:nvPr/>
        </p:nvSpPr>
        <p:spPr bwMode="auto">
          <a:xfrm>
            <a:off x="2590800" y="1676400"/>
            <a:ext cx="1371600" cy="736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rgbClr val="CC0000"/>
                </a:solidFill>
              </a:rPr>
              <a:t>% less</a:t>
            </a:r>
          </a:p>
          <a:p>
            <a:pPr algn="ctr" eaLnBrk="0" hangingPunct="0"/>
            <a:r>
              <a:rPr lang="en-US" sz="1400" b="1">
                <a:solidFill>
                  <a:srgbClr val="CC0000"/>
                </a:solidFill>
              </a:rPr>
              <a:t>than lower</a:t>
            </a:r>
          </a:p>
          <a:p>
            <a:pPr algn="ctr" eaLnBrk="0" hangingPunct="0"/>
            <a:r>
              <a:rPr lang="en-US" sz="1400" b="1">
                <a:solidFill>
                  <a:srgbClr val="CC0000"/>
                </a:solidFill>
              </a:rPr>
              <a:t>boundary</a:t>
            </a:r>
          </a:p>
        </p:txBody>
      </p:sp>
      <p:sp>
        <p:nvSpPr>
          <p:cNvPr id="6159" name="Rectangle 14"/>
          <p:cNvSpPr>
            <a:spLocks noChangeArrowheads="1"/>
          </p:cNvSpPr>
          <p:nvPr/>
        </p:nvSpPr>
        <p:spPr bwMode="auto">
          <a:xfrm>
            <a:off x="1828800" y="1676400"/>
            <a:ext cx="990600" cy="665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1400" b="1">
                <a:solidFill>
                  <a:srgbClr val="CC0000"/>
                </a:solidFill>
              </a:rPr>
              <a:t>Lower class boundary</a:t>
            </a:r>
          </a:p>
        </p:txBody>
      </p:sp>
      <p:sp>
        <p:nvSpPr>
          <p:cNvPr id="6160" name="AutoShape 15"/>
          <p:cNvSpPr>
            <a:spLocks noChangeArrowheads="1"/>
          </p:cNvSpPr>
          <p:nvPr/>
        </p:nvSpPr>
        <p:spPr bwMode="auto">
          <a:xfrm rot="10800000" flipH="1">
            <a:off x="2743200" y="4191000"/>
            <a:ext cx="990600" cy="1066800"/>
          </a:xfrm>
          <a:custGeom>
            <a:avLst/>
            <a:gdLst>
              <a:gd name="T0" fmla="*/ 1489102768 w 21600"/>
              <a:gd name="T1" fmla="*/ 0 h 21600"/>
              <a:gd name="T2" fmla="*/ 1489102768 w 21600"/>
              <a:gd name="T3" fmla="*/ 1464703622 h 21600"/>
              <a:gd name="T4" fmla="*/ 215967140 w 21600"/>
              <a:gd name="T5" fmla="*/ 2147483647 h 21600"/>
              <a:gd name="T6" fmla="*/ 2083469524 w 21600"/>
              <a:gd name="T7" fmla="*/ 73235181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889 h 21600"/>
              <a:gd name="T14" fmla="*/ 19380 w 21600"/>
              <a:gd name="T15" fmla="*/ 82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438" y="0"/>
                </a:lnTo>
                <a:lnTo>
                  <a:pt x="15438" y="3889"/>
                </a:lnTo>
                <a:lnTo>
                  <a:pt x="12427" y="3889"/>
                </a:lnTo>
                <a:cubicBezTo>
                  <a:pt x="5564" y="3889"/>
                  <a:pt x="0" y="7591"/>
                  <a:pt x="0" y="12158"/>
                </a:cubicBezTo>
                <a:lnTo>
                  <a:pt x="0" y="21600"/>
                </a:lnTo>
                <a:lnTo>
                  <a:pt x="4477" y="21600"/>
                </a:lnTo>
                <a:lnTo>
                  <a:pt x="4477" y="12158"/>
                </a:lnTo>
                <a:cubicBezTo>
                  <a:pt x="4477" y="10010"/>
                  <a:pt x="8036" y="8269"/>
                  <a:pt x="12427" y="8269"/>
                </a:cubicBezTo>
                <a:lnTo>
                  <a:pt x="15438" y="8269"/>
                </a:lnTo>
                <a:lnTo>
                  <a:pt x="15438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6147" name="Object 30">
            <a:hlinkClick r:id="" action="ppaction://ole?verb=0"/>
          </p:cNvPr>
          <p:cNvGraphicFramePr>
            <a:graphicFrameLocks/>
          </p:cNvGraphicFramePr>
          <p:nvPr>
            <p:ph sz="half" idx="2"/>
          </p:nvPr>
        </p:nvGraphicFramePr>
        <p:xfrm>
          <a:off x="3962400" y="3186113"/>
          <a:ext cx="4876800" cy="3214687"/>
        </p:xfrm>
        <a:graphic>
          <a:graphicData uri="http://schemas.openxmlformats.org/presentationml/2006/ole">
            <p:oleObj spid="_x0000_s6147" name="Worksheet" r:id="rId4" imgW="2914701" imgH="1609615" progId="Excel.Sheet.8">
              <p:embed/>
            </p:oleObj>
          </a:graphicData>
        </a:graphic>
      </p:graphicFrame>
      <p:sp>
        <p:nvSpPr>
          <p:cNvPr id="6161" name="Rectangle 32"/>
          <p:cNvSpPr>
            <a:spLocks noChangeArrowheads="1"/>
          </p:cNvSpPr>
          <p:nvPr/>
        </p:nvSpPr>
        <p:spPr bwMode="auto">
          <a:xfrm>
            <a:off x="5562600" y="5895975"/>
            <a:ext cx="2105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/>
              <a:t>Lower Class Boundary</a:t>
            </a:r>
          </a:p>
        </p:txBody>
      </p:sp>
      <p:sp>
        <p:nvSpPr>
          <p:cNvPr id="6162" name="Rectangle 33"/>
          <p:cNvSpPr>
            <a:spLocks noChangeArrowheads="1"/>
          </p:cNvSpPr>
          <p:nvPr/>
        </p:nvSpPr>
        <p:spPr bwMode="auto">
          <a:xfrm>
            <a:off x="381000" y="5029200"/>
            <a:ext cx="24384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(In an ogive the percentage of the observations less than each lower class boundary are plotted versus the lower class boundaries.</a:t>
            </a:r>
          </a:p>
        </p:txBody>
      </p:sp>
      <p:sp>
        <p:nvSpPr>
          <p:cNvPr id="6163" name="TextBox 17"/>
          <p:cNvSpPr txBox="1">
            <a:spLocks noChangeArrowheads="1"/>
          </p:cNvSpPr>
          <p:nvPr/>
        </p:nvSpPr>
        <p:spPr bwMode="auto">
          <a:xfrm>
            <a:off x="7543800" y="12192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1A4716CC-6FA8-4E1E-8DD3-3BCE79CF4993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8704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704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6A075FDF-3AA5-46CB-9A61-BA65050EEA44}" type="slidenum">
              <a:rPr lang="en-US" sz="1000"/>
              <a:pPr algn="r" defTabSz="852488"/>
              <a:t>42</a:t>
            </a:fld>
            <a:endParaRPr lang="en-US" sz="1000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383463" cy="990600"/>
          </a:xfrm>
        </p:spPr>
        <p:txBody>
          <a:bodyPr/>
          <a:lstStyle/>
          <a:p>
            <a:pPr algn="l" eaLnBrk="1" hangingPunct="1"/>
            <a:r>
              <a:rPr lang="en-US" smtClean="0"/>
              <a:t>Visualizing Two Numerical Variables:  The Scatter Plot</a:t>
            </a:r>
          </a:p>
        </p:txBody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10515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b="1" smtClean="0">
                <a:latin typeface="Times New Roman" pitchFamily="18" charset="0"/>
              </a:rPr>
              <a:t>Scatter plots</a:t>
            </a:r>
            <a:r>
              <a:rPr lang="en-US" sz="2400" smtClean="0">
                <a:latin typeface="Times New Roman" pitchFamily="18" charset="0"/>
              </a:rPr>
              <a:t> are used for numerical data consisting of paired observations taken from two numerical variables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3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One variable is measured on the vertical axis and the other variable is measured on the horizontal axis</a:t>
            </a: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Scatter plots are used to examine possible relationships between two numerical variables</a:t>
            </a:r>
          </a:p>
        </p:txBody>
      </p:sp>
      <p:sp>
        <p:nvSpPr>
          <p:cNvPr id="87046" name="TextBox 5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A331DF39-D14E-41DB-87E6-3D8399AABEFA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819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197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03B5E43A-4A3B-41EB-B6AE-2C46759DE225}" type="slidenum">
              <a:rPr lang="en-US" sz="1000"/>
              <a:pPr algn="r" defTabSz="852488"/>
              <a:t>43</a:t>
            </a:fld>
            <a:endParaRPr lang="en-US" sz="1000"/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Scatter Plot Example</a:t>
            </a:r>
          </a:p>
        </p:txBody>
      </p:sp>
      <p:graphicFrame>
        <p:nvGraphicFramePr>
          <p:cNvPr id="219139" name="Group 3"/>
          <p:cNvGraphicFramePr>
            <a:graphicFrameLocks noGrp="1"/>
          </p:cNvGraphicFramePr>
          <p:nvPr>
            <p:ph sz="half" idx="1"/>
          </p:nvPr>
        </p:nvGraphicFramePr>
        <p:xfrm>
          <a:off x="381000" y="1981200"/>
          <a:ext cx="2209800" cy="4114800"/>
        </p:xfrm>
        <a:graphic>
          <a:graphicData uri="http://schemas.openxmlformats.org/drawingml/2006/table">
            <a:tbl>
              <a:tblPr/>
              <a:tblGrid>
                <a:gridCol w="1090613"/>
                <a:gridCol w="1119187"/>
              </a:tblGrid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Volume per day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Cost per day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167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94" name="Object 30"/>
          <p:cNvGraphicFramePr>
            <a:graphicFrameLocks noChangeAspect="1"/>
          </p:cNvGraphicFramePr>
          <p:nvPr>
            <p:ph sz="half" idx="2"/>
          </p:nvPr>
        </p:nvGraphicFramePr>
        <p:xfrm>
          <a:off x="2452688" y="1997075"/>
          <a:ext cx="6057900" cy="4146550"/>
        </p:xfrm>
        <a:graphic>
          <a:graphicData uri="http://schemas.openxmlformats.org/presentationml/2006/ole">
            <p:oleObj spid="_x0000_s8194" name="Chart" r:id="rId3" imgW="4410179" imgH="2390683" progId="Excel.Sheet.8">
              <p:embed/>
            </p:oleObj>
          </a:graphicData>
        </a:graphic>
      </p:graphicFrame>
      <p:sp>
        <p:nvSpPr>
          <p:cNvPr id="8226" name="TextBox 6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CC31173C-76BE-476C-BC32-FF2E10983D7E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9011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011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35760E32-7DC2-4706-B9AB-6C0CB9CD9BAE}" type="slidenum">
              <a:rPr lang="en-US" sz="1000"/>
              <a:pPr algn="r" defTabSz="852488"/>
              <a:t>44</a:t>
            </a:fld>
            <a:endParaRPr lang="en-US" sz="1000"/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543800" cy="990600"/>
          </a:xfrm>
        </p:spPr>
        <p:txBody>
          <a:bodyPr/>
          <a:lstStyle/>
          <a:p>
            <a:pPr algn="l" eaLnBrk="1" hangingPunct="1"/>
            <a:r>
              <a:rPr lang="en-US" smtClean="0"/>
              <a:t>Visualizing Two Numerical Variables:  The Time-Series Plot</a:t>
            </a:r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10515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b="1" smtClean="0">
                <a:latin typeface="Times New Roman" pitchFamily="18" charset="0"/>
              </a:rPr>
              <a:t>Time-series plots</a:t>
            </a:r>
            <a:r>
              <a:rPr lang="en-US" sz="2400" smtClean="0">
                <a:latin typeface="Times New Roman" pitchFamily="18" charset="0"/>
              </a:rPr>
              <a:t> are used to study patterns in the values of a numeric variable over time.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3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numeric variable is measured on the vertical axis and the time period is measured on the horizontal axis.</a:t>
            </a: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</p:txBody>
      </p:sp>
      <p:sp>
        <p:nvSpPr>
          <p:cNvPr id="90118" name="TextBox 5"/>
          <p:cNvSpPr txBox="1">
            <a:spLocks noChangeArrowheads="1"/>
          </p:cNvSpPr>
          <p:nvPr/>
        </p:nvSpPr>
        <p:spPr bwMode="auto">
          <a:xfrm>
            <a:off x="75438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10F27B1-68E3-4BB2-AF06-54333537A99E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922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221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B535DB33-9EC7-468D-8099-5D7DD90C6E51}" type="slidenum">
              <a:rPr lang="en-US" sz="1000"/>
              <a:pPr algn="r" defTabSz="852488"/>
              <a:t>45</a:t>
            </a:fld>
            <a:endParaRPr lang="en-US" sz="1000"/>
          </a:p>
        </p:txBody>
      </p:sp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93038" cy="762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smtClean="0"/>
              <a:t>Time Series Plot Example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2667000" y="2286000"/>
          <a:ext cx="5762625" cy="2960688"/>
        </p:xfrm>
        <a:graphic>
          <a:graphicData uri="http://schemas.openxmlformats.org/presentationml/2006/ole">
            <p:oleObj spid="_x0000_s9218" name="Worksheet" r:id="rId3" imgW="4724400" imgH="2352751" progId="Excel.Sheet.8">
              <p:embed/>
            </p:oleObj>
          </a:graphicData>
        </a:graphic>
      </p:graphicFrame>
      <p:graphicFrame>
        <p:nvGraphicFramePr>
          <p:cNvPr id="9250" name="Group 34"/>
          <p:cNvGraphicFramePr>
            <a:graphicFrameLocks noGrp="1"/>
          </p:cNvGraphicFramePr>
          <p:nvPr/>
        </p:nvGraphicFramePr>
        <p:xfrm>
          <a:off x="152400" y="2133600"/>
          <a:ext cx="2362200" cy="3597275"/>
        </p:xfrm>
        <a:graphic>
          <a:graphicData uri="http://schemas.openxmlformats.org/drawingml/2006/table">
            <a:tbl>
              <a:tblPr/>
              <a:tblGrid>
                <a:gridCol w="1143000"/>
                <a:gridCol w="1219200"/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of Franchises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1996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43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54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60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73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82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95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107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99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95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6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9DF6B61-C386-4360-A5E7-1F36CEE88D15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931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3187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620000" cy="990600"/>
          </a:xfrm>
        </p:spPr>
        <p:txBody>
          <a:bodyPr/>
          <a:lstStyle/>
          <a:p>
            <a:r>
              <a:rPr lang="en-US" smtClean="0"/>
              <a:t>Exploring Multidimensional Data</a:t>
            </a:r>
          </a:p>
        </p:txBody>
      </p:sp>
      <p:sp>
        <p:nvSpPr>
          <p:cNvPr id="931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Can be used to discover possible patterns and relationships.</a:t>
            </a:r>
          </a:p>
          <a:p>
            <a:endParaRPr lang="en-US" sz="1000" smtClean="0"/>
          </a:p>
          <a:p>
            <a:r>
              <a:rPr lang="en-US" sz="2400" smtClean="0"/>
              <a:t>Simple applications used to create summary or contingency tables</a:t>
            </a:r>
          </a:p>
          <a:p>
            <a:endParaRPr lang="en-US" sz="1000" smtClean="0"/>
          </a:p>
          <a:p>
            <a:r>
              <a:rPr lang="en-US" sz="2400" smtClean="0"/>
              <a:t>Can also be used to change and / or add variables to a table</a:t>
            </a:r>
          </a:p>
          <a:p>
            <a:endParaRPr lang="en-US" sz="1000" smtClean="0"/>
          </a:p>
          <a:p>
            <a:r>
              <a:rPr lang="en-US" sz="2400" smtClean="0"/>
              <a:t>All of the examples that follow can be created using Sections EG2.3 and EG2.7 or MG2.3 and MG2.7</a:t>
            </a:r>
          </a:p>
        </p:txBody>
      </p:sp>
      <p:sp>
        <p:nvSpPr>
          <p:cNvPr id="9318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F84F8332-E1D8-4F9E-BAC8-D4CB15D5F358}" type="slidenum">
              <a:rPr lang="en-US" sz="1000"/>
              <a:pPr algn="r"/>
              <a:t>46</a:t>
            </a:fld>
            <a:endParaRPr lang="en-US" sz="1000"/>
          </a:p>
        </p:txBody>
      </p:sp>
      <p:sp>
        <p:nvSpPr>
          <p:cNvPr id="93190" name="TextBox 5"/>
          <p:cNvSpPr txBox="1">
            <a:spLocks noChangeArrowheads="1"/>
          </p:cNvSpPr>
          <p:nvPr/>
        </p:nvSpPr>
        <p:spPr bwMode="auto">
          <a:xfrm>
            <a:off x="7543800" y="12192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E2A2BBDA-29F4-40FC-83FD-02A0E0B30943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9421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4211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924800" cy="990600"/>
          </a:xfrm>
        </p:spPr>
        <p:txBody>
          <a:bodyPr/>
          <a:lstStyle/>
          <a:p>
            <a:r>
              <a:rPr lang="en-US" smtClean="0"/>
              <a:t>Pivot Table Version of Contingency Table For Bond Data</a:t>
            </a:r>
          </a:p>
        </p:txBody>
      </p:sp>
      <p:sp>
        <p:nvSpPr>
          <p:cNvPr id="9421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8307B27D-0AFC-4C9B-ACDA-4999B8EFFA3A}" type="slidenum">
              <a:rPr lang="en-US" sz="1000"/>
              <a:pPr algn="r"/>
              <a:t>47</a:t>
            </a:fld>
            <a:endParaRPr lang="en-US" sz="1000"/>
          </a:p>
        </p:txBody>
      </p:sp>
      <p:sp>
        <p:nvSpPr>
          <p:cNvPr id="9421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94214" name="TextBox 8"/>
          <p:cNvSpPr txBox="1">
            <a:spLocks noChangeArrowheads="1"/>
          </p:cNvSpPr>
          <p:nvPr/>
        </p:nvSpPr>
        <p:spPr bwMode="auto">
          <a:xfrm>
            <a:off x="1600200" y="1600200"/>
            <a:ext cx="6353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First Six Data Points In The Bond Data Set</a:t>
            </a:r>
          </a:p>
        </p:txBody>
      </p:sp>
      <p:cxnSp>
        <p:nvCxnSpPr>
          <p:cNvPr id="94215" name="Elbow Connector 10"/>
          <p:cNvCxnSpPr>
            <a:cxnSpLocks noChangeShapeType="1"/>
          </p:cNvCxnSpPr>
          <p:nvPr/>
        </p:nvCxnSpPr>
        <p:spPr bwMode="auto">
          <a:xfrm>
            <a:off x="609600" y="4191000"/>
            <a:ext cx="2286000" cy="1192213"/>
          </a:xfrm>
          <a:prstGeom prst="bentConnector3">
            <a:avLst>
              <a:gd name="adj1" fmla="val 0"/>
            </a:avLst>
          </a:prstGeom>
          <a:noFill/>
          <a:ln w="1270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sp>
        <p:nvSpPr>
          <p:cNvPr id="94216" name="TextBox 12"/>
          <p:cNvSpPr txBox="1">
            <a:spLocks noChangeArrowheads="1"/>
          </p:cNvSpPr>
          <p:nvPr/>
        </p:nvSpPr>
        <p:spPr bwMode="auto">
          <a:xfrm>
            <a:off x="7543800" y="12192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2057400"/>
          <a:ext cx="8839200" cy="2057400"/>
        </p:xfrm>
        <a:graphic>
          <a:graphicData uri="http://schemas.openxmlformats.org/drawingml/2006/table">
            <a:tbl>
              <a:tblPr/>
              <a:tblGrid>
                <a:gridCol w="998939"/>
                <a:gridCol w="1814973"/>
                <a:gridCol w="675339"/>
                <a:gridCol w="393946"/>
                <a:gridCol w="1044666"/>
                <a:gridCol w="858243"/>
                <a:gridCol w="998939"/>
                <a:gridCol w="998939"/>
                <a:gridCol w="1055217"/>
              </a:tblGrid>
              <a:tr h="459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Fund Number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Assets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Fees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Expense Ratio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Return 2009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3-Year Return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5-Year Return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FN-1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7268.1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Below 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FN-2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475.1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Below 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FN-3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193.0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FN-4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18603.5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FN-5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142.6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66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FN-6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Government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1401.6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 marL="7280" marR="7280" marT="72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28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94283" name="Picture 717" descr="Fig02_17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4713" y="4267200"/>
            <a:ext cx="542448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6CDD2A96-B52C-46AC-80E5-A22CCCA942C2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9523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5235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r>
              <a:rPr lang="en-US" smtClean="0"/>
              <a:t>Can Easily Convert To An Overall Percentages Table</a:t>
            </a:r>
          </a:p>
        </p:txBody>
      </p:sp>
      <p:sp>
        <p:nvSpPr>
          <p:cNvPr id="95236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8B9309BA-9885-4F39-A5A1-32B28E064F68}" type="slidenum">
              <a:rPr lang="en-US" sz="1000"/>
              <a:pPr algn="r"/>
              <a:t>48</a:t>
            </a:fld>
            <a:endParaRPr lang="en-US" sz="1000"/>
          </a:p>
        </p:txBody>
      </p:sp>
      <p:sp>
        <p:nvSpPr>
          <p:cNvPr id="95237" name="TextBox 5"/>
          <p:cNvSpPr txBox="1">
            <a:spLocks noChangeArrowheads="1"/>
          </p:cNvSpPr>
          <p:nvPr/>
        </p:nvSpPr>
        <p:spPr bwMode="auto">
          <a:xfrm>
            <a:off x="990600" y="5257800"/>
            <a:ext cx="7075488" cy="830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Intermediate government funds are much more</a:t>
            </a:r>
          </a:p>
          <a:p>
            <a:r>
              <a:rPr lang="en-US" b="1"/>
              <a:t>likely to charge a fee.</a:t>
            </a:r>
          </a:p>
        </p:txBody>
      </p:sp>
      <p:sp>
        <p:nvSpPr>
          <p:cNvPr id="95238" name="TextBox 6"/>
          <p:cNvSpPr txBox="1">
            <a:spLocks noChangeArrowheads="1"/>
          </p:cNvSpPr>
          <p:nvPr/>
        </p:nvSpPr>
        <p:spPr bwMode="auto">
          <a:xfrm>
            <a:off x="7543800" y="12192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  <p:pic>
        <p:nvPicPr>
          <p:cNvPr id="95239" name="Picture 726" descr="Fig02_2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05000"/>
            <a:ext cx="788352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F3729E87-24AB-465E-B962-3A537E74FFC9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9625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6259" name="Title 1"/>
          <p:cNvSpPr>
            <a:spLocks noGrp="1"/>
          </p:cNvSpPr>
          <p:nvPr>
            <p:ph type="title"/>
          </p:nvPr>
        </p:nvSpPr>
        <p:spPr>
          <a:xfrm>
            <a:off x="1150938" y="381000"/>
            <a:ext cx="7383462" cy="990600"/>
          </a:xfrm>
        </p:spPr>
        <p:txBody>
          <a:bodyPr/>
          <a:lstStyle/>
          <a:p>
            <a:r>
              <a:rPr lang="en-US" smtClean="0"/>
              <a:t>Can Easily Add Variables To An Existing Table</a:t>
            </a:r>
          </a:p>
        </p:txBody>
      </p:sp>
      <p:sp>
        <p:nvSpPr>
          <p:cNvPr id="96260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D7D304F9-7E9F-452B-BCA3-7BF909814C1E}" type="slidenum">
              <a:rPr lang="en-US" sz="1000"/>
              <a:pPr algn="r"/>
              <a:t>49</a:t>
            </a:fld>
            <a:endParaRPr lang="en-US" sz="1000"/>
          </a:p>
        </p:txBody>
      </p:sp>
      <p:sp>
        <p:nvSpPr>
          <p:cNvPr id="96261" name="TextBox 5"/>
          <p:cNvSpPr txBox="1">
            <a:spLocks noChangeArrowheads="1"/>
          </p:cNvSpPr>
          <p:nvPr/>
        </p:nvSpPr>
        <p:spPr bwMode="auto">
          <a:xfrm>
            <a:off x="990600" y="5486400"/>
            <a:ext cx="7924800" cy="830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Is the pattern of risk the same for all combinations of</a:t>
            </a:r>
          </a:p>
          <a:p>
            <a:r>
              <a:rPr lang="en-US" b="1"/>
              <a:t>fund type and fee charge?</a:t>
            </a:r>
          </a:p>
        </p:txBody>
      </p:sp>
      <p:sp>
        <p:nvSpPr>
          <p:cNvPr id="96262" name="TextBox 6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  <p:pic>
        <p:nvPicPr>
          <p:cNvPr id="96263" name="Picture 720" descr="Fig02_18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00200"/>
            <a:ext cx="669131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94CF8BF0-E5F4-4626-897E-D5109814843D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9728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7283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383463" cy="990600"/>
          </a:xfrm>
        </p:spPr>
        <p:txBody>
          <a:bodyPr/>
          <a:lstStyle/>
          <a:p>
            <a:r>
              <a:rPr lang="en-US" smtClean="0"/>
              <a:t>Can Easily Change The Statistic Displayed</a:t>
            </a:r>
          </a:p>
        </p:txBody>
      </p:sp>
      <p:sp>
        <p:nvSpPr>
          <p:cNvPr id="97284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B255DD2E-0F63-4EA2-901B-8180EDA16D57}" type="slidenum">
              <a:rPr lang="en-US" sz="1000"/>
              <a:pPr algn="r"/>
              <a:t>50</a:t>
            </a:fld>
            <a:endParaRPr lang="en-US" sz="1000"/>
          </a:p>
        </p:txBody>
      </p:sp>
      <p:sp>
        <p:nvSpPr>
          <p:cNvPr id="97285" name="TextBox 5"/>
          <p:cNvSpPr txBox="1">
            <a:spLocks noChangeArrowheads="1"/>
          </p:cNvSpPr>
          <p:nvPr/>
        </p:nvSpPr>
        <p:spPr bwMode="auto">
          <a:xfrm>
            <a:off x="0" y="5105400"/>
            <a:ext cx="9144000" cy="12001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This table computes the sum of a numerical variable (Assets)</a:t>
            </a:r>
          </a:p>
          <a:p>
            <a:r>
              <a:rPr lang="en-US" b="1"/>
              <a:t>for each of the four groupings and divides by the overall sum</a:t>
            </a:r>
          </a:p>
          <a:p>
            <a:r>
              <a:rPr lang="en-US" b="1"/>
              <a:t>to get the percentages displayed.</a:t>
            </a:r>
          </a:p>
        </p:txBody>
      </p:sp>
      <p:sp>
        <p:nvSpPr>
          <p:cNvPr id="97286" name="TextBox 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  <p:pic>
        <p:nvPicPr>
          <p:cNvPr id="97287" name="Picture 723" descr="Fig02_19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04545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DC638966-0801-4D15-832C-E6ADE8B29EE3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983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8307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r>
              <a:rPr lang="en-US" smtClean="0"/>
              <a:t>Tables Can Compute &amp; Display Other Descriptive Statistics </a:t>
            </a:r>
          </a:p>
        </p:txBody>
      </p:sp>
      <p:sp>
        <p:nvSpPr>
          <p:cNvPr id="98308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2-</a:t>
            </a:r>
            <a:fld id="{062CDECE-DCD2-40B5-905B-AE76AD63B88C}" type="slidenum">
              <a:rPr lang="en-US" sz="1000"/>
              <a:pPr algn="r"/>
              <a:t>51</a:t>
            </a:fld>
            <a:endParaRPr lang="en-US" sz="1000"/>
          </a:p>
        </p:txBody>
      </p:sp>
      <p:sp>
        <p:nvSpPr>
          <p:cNvPr id="98309" name="TextBox 5"/>
          <p:cNvSpPr txBox="1">
            <a:spLocks noChangeArrowheads="1"/>
          </p:cNvSpPr>
          <p:nvPr/>
        </p:nvSpPr>
        <p:spPr bwMode="auto">
          <a:xfrm>
            <a:off x="152400" y="5486400"/>
            <a:ext cx="8870950" cy="830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This table computes and displays averages of 3-year return</a:t>
            </a:r>
          </a:p>
          <a:p>
            <a:r>
              <a:rPr lang="en-US" b="1"/>
              <a:t>for each of the twelve groupings.</a:t>
            </a:r>
          </a:p>
        </p:txBody>
      </p:sp>
      <p:sp>
        <p:nvSpPr>
          <p:cNvPr id="98310" name="TextBox 6"/>
          <p:cNvSpPr txBox="1">
            <a:spLocks noChangeArrowheads="1"/>
          </p:cNvSpPr>
          <p:nvPr/>
        </p:nvSpPr>
        <p:spPr bwMode="auto">
          <a:xfrm>
            <a:off x="7710488" y="1143000"/>
            <a:ext cx="1433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</a:t>
            </a:r>
            <a:r>
              <a:rPr lang="en-US" sz="2800" u="sng">
                <a:solidFill>
                  <a:srgbClr val="FF0000"/>
                </a:solidFill>
              </a:rPr>
              <a:t>OV</a:t>
            </a:r>
            <a:r>
              <a:rPr lang="en-US" sz="2800"/>
              <a:t>A</a:t>
            </a:r>
          </a:p>
        </p:txBody>
      </p:sp>
      <p:pic>
        <p:nvPicPr>
          <p:cNvPr id="98311" name="Picture 727" descr="Fig02_22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00200"/>
            <a:ext cx="6705600" cy="370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3B9ADF31-CF58-49AA-9A54-FFA9694C89DA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9933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933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AF742A10-3C97-445E-A508-969596039804}" type="slidenum">
              <a:rPr lang="en-US" sz="1000"/>
              <a:pPr algn="r" defTabSz="852488"/>
              <a:t>52</a:t>
            </a:fld>
            <a:endParaRPr lang="en-US" sz="1000"/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Principles of Excellent Graphs</a:t>
            </a:r>
          </a:p>
        </p:txBody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944938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graph should not distort the data.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graph should not contain unnecessary adornments (sometimes referred to as chart junk</a:t>
            </a:r>
            <a:r>
              <a:rPr lang="en-US" sz="2400" b="1" smtClean="0">
                <a:latin typeface="Times New Roman" pitchFamily="18" charset="0"/>
              </a:rPr>
              <a:t>).</a:t>
            </a:r>
            <a:r>
              <a:rPr lang="en-US" sz="2400" smtClean="0">
                <a:latin typeface="Times New Roman" pitchFamily="18" charset="0"/>
              </a:rPr>
              <a:t>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scale on the vertical axis should begin at zero.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All axes should be properly labeled.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graph should contain a title.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simplest possible graph should be used for a given set of data.</a:t>
            </a:r>
          </a:p>
        </p:txBody>
      </p:sp>
      <p:sp>
        <p:nvSpPr>
          <p:cNvPr id="99334" name="TextBox 5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83E3E95A-7718-41EA-81E9-8479A1CBF5B7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10035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035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42ABD9AE-9AF0-4528-B620-20B04C2765A2}" type="slidenum">
              <a:rPr lang="en-US" sz="1000"/>
              <a:pPr algn="r" defTabSz="852488"/>
              <a:t>53</a:t>
            </a:fld>
            <a:endParaRPr lang="en-US" sz="10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Graphical Errors: Chart Junk</a:t>
            </a:r>
          </a:p>
        </p:txBody>
      </p:sp>
      <p:grpSp>
        <p:nvGrpSpPr>
          <p:cNvPr id="100357" name="Group 3"/>
          <p:cNvGrpSpPr>
            <a:grpSpLocks/>
          </p:cNvGrpSpPr>
          <p:nvPr/>
        </p:nvGrpSpPr>
        <p:grpSpPr bwMode="auto">
          <a:xfrm>
            <a:off x="533400" y="1905000"/>
            <a:ext cx="3962400" cy="4191000"/>
            <a:chOff x="3" y="1200"/>
            <a:chExt cx="2829" cy="2880"/>
          </a:xfrm>
        </p:grpSpPr>
        <p:sp>
          <p:nvSpPr>
            <p:cNvPr id="100381" name="Rectangle 4"/>
            <p:cNvSpPr>
              <a:spLocks noChangeArrowheads="1"/>
            </p:cNvSpPr>
            <p:nvPr/>
          </p:nvSpPr>
          <p:spPr bwMode="auto">
            <a:xfrm>
              <a:off x="901" y="2053"/>
              <a:ext cx="1221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1"/>
                <a:t>1960: $1.00</a:t>
              </a:r>
            </a:p>
          </p:txBody>
        </p:sp>
        <p:sp>
          <p:nvSpPr>
            <p:cNvPr id="100382" name="Rectangle 5"/>
            <p:cNvSpPr>
              <a:spLocks noChangeArrowheads="1"/>
            </p:cNvSpPr>
            <p:nvPr/>
          </p:nvSpPr>
          <p:spPr bwMode="auto">
            <a:xfrm>
              <a:off x="997" y="2402"/>
              <a:ext cx="1222" cy="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 </a:t>
              </a:r>
              <a:r>
                <a:rPr lang="en-US" sz="1800" b="1"/>
                <a:t>1970: $1.60</a:t>
              </a:r>
            </a:p>
          </p:txBody>
        </p:sp>
        <p:sp>
          <p:nvSpPr>
            <p:cNvPr id="100383" name="Rectangle 6"/>
            <p:cNvSpPr>
              <a:spLocks noChangeArrowheads="1"/>
            </p:cNvSpPr>
            <p:nvPr/>
          </p:nvSpPr>
          <p:spPr bwMode="auto">
            <a:xfrm>
              <a:off x="1418" y="2930"/>
              <a:ext cx="1222" cy="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 </a:t>
              </a:r>
              <a:r>
                <a:rPr lang="en-US" sz="1800" b="1"/>
                <a:t>1980: $3.10</a:t>
              </a:r>
            </a:p>
          </p:txBody>
        </p:sp>
        <p:sp>
          <p:nvSpPr>
            <p:cNvPr id="100384" name="Rectangle 7"/>
            <p:cNvSpPr>
              <a:spLocks noChangeArrowheads="1"/>
            </p:cNvSpPr>
            <p:nvPr/>
          </p:nvSpPr>
          <p:spPr bwMode="auto">
            <a:xfrm>
              <a:off x="1610" y="3554"/>
              <a:ext cx="122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1"/>
                <a:t>1990: $3.80</a:t>
              </a:r>
            </a:p>
          </p:txBody>
        </p:sp>
        <p:sp>
          <p:nvSpPr>
            <p:cNvPr id="100385" name="Rectangle 8"/>
            <p:cNvSpPr>
              <a:spLocks noChangeArrowheads="1"/>
            </p:cNvSpPr>
            <p:nvPr/>
          </p:nvSpPr>
          <p:spPr bwMode="auto">
            <a:xfrm>
              <a:off x="613" y="1717"/>
              <a:ext cx="1751" cy="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Minimum Wage</a:t>
              </a:r>
            </a:p>
          </p:txBody>
        </p:sp>
        <p:sp>
          <p:nvSpPr>
            <p:cNvPr id="100386" name="Freeform 9"/>
            <p:cNvSpPr>
              <a:spLocks/>
            </p:cNvSpPr>
            <p:nvPr/>
          </p:nvSpPr>
          <p:spPr bwMode="auto">
            <a:xfrm>
              <a:off x="192" y="1200"/>
              <a:ext cx="432" cy="384"/>
            </a:xfrm>
            <a:custGeom>
              <a:avLst/>
              <a:gdLst>
                <a:gd name="T0" fmla="*/ 427 w 432"/>
                <a:gd name="T1" fmla="*/ 230 h 384"/>
                <a:gd name="T2" fmla="*/ 404 w 432"/>
                <a:gd name="T3" fmla="*/ 283 h 384"/>
                <a:gd name="T4" fmla="*/ 367 w 432"/>
                <a:gd name="T5" fmla="*/ 328 h 384"/>
                <a:gd name="T6" fmla="*/ 318 w 432"/>
                <a:gd name="T7" fmla="*/ 360 h 384"/>
                <a:gd name="T8" fmla="*/ 259 w 432"/>
                <a:gd name="T9" fmla="*/ 380 h 384"/>
                <a:gd name="T10" fmla="*/ 194 w 432"/>
                <a:gd name="T11" fmla="*/ 383 h 384"/>
                <a:gd name="T12" fmla="*/ 132 w 432"/>
                <a:gd name="T13" fmla="*/ 369 h 384"/>
                <a:gd name="T14" fmla="*/ 79 w 432"/>
                <a:gd name="T15" fmla="*/ 340 h 384"/>
                <a:gd name="T16" fmla="*/ 37 w 432"/>
                <a:gd name="T17" fmla="*/ 299 h 384"/>
                <a:gd name="T18" fmla="*/ 10 w 432"/>
                <a:gd name="T19" fmla="*/ 249 h 384"/>
                <a:gd name="T20" fmla="*/ 0 w 432"/>
                <a:gd name="T21" fmla="*/ 192 h 384"/>
                <a:gd name="T22" fmla="*/ 17 w 432"/>
                <a:gd name="T23" fmla="*/ 118 h 384"/>
                <a:gd name="T24" fmla="*/ 50 w 432"/>
                <a:gd name="T25" fmla="*/ 70 h 384"/>
                <a:gd name="T26" fmla="*/ 95 w 432"/>
                <a:gd name="T27" fmla="*/ 33 h 384"/>
                <a:gd name="T28" fmla="*/ 152 w 432"/>
                <a:gd name="T29" fmla="*/ 9 h 384"/>
                <a:gd name="T30" fmla="*/ 215 w 432"/>
                <a:gd name="T31" fmla="*/ 0 h 384"/>
                <a:gd name="T32" fmla="*/ 280 w 432"/>
                <a:gd name="T33" fmla="*/ 9 h 384"/>
                <a:gd name="T34" fmla="*/ 335 w 432"/>
                <a:gd name="T35" fmla="*/ 33 h 384"/>
                <a:gd name="T36" fmla="*/ 381 w 432"/>
                <a:gd name="T37" fmla="*/ 70 h 384"/>
                <a:gd name="T38" fmla="*/ 414 w 432"/>
                <a:gd name="T39" fmla="*/ 118 h 384"/>
                <a:gd name="T40" fmla="*/ 431 w 432"/>
                <a:gd name="T41" fmla="*/ 192 h 384"/>
                <a:gd name="T42" fmla="*/ 387 w 432"/>
                <a:gd name="T43" fmla="*/ 161 h 384"/>
                <a:gd name="T44" fmla="*/ 369 w 432"/>
                <a:gd name="T45" fmla="*/ 118 h 384"/>
                <a:gd name="T46" fmla="*/ 339 w 432"/>
                <a:gd name="T47" fmla="*/ 82 h 384"/>
                <a:gd name="T48" fmla="*/ 298 w 432"/>
                <a:gd name="T49" fmla="*/ 55 h 384"/>
                <a:gd name="T50" fmla="*/ 251 w 432"/>
                <a:gd name="T51" fmla="*/ 39 h 384"/>
                <a:gd name="T52" fmla="*/ 198 w 432"/>
                <a:gd name="T53" fmla="*/ 37 h 384"/>
                <a:gd name="T54" fmla="*/ 148 w 432"/>
                <a:gd name="T55" fmla="*/ 49 h 384"/>
                <a:gd name="T56" fmla="*/ 105 w 432"/>
                <a:gd name="T57" fmla="*/ 72 h 384"/>
                <a:gd name="T58" fmla="*/ 338 w 432"/>
                <a:gd name="T59" fmla="*/ 302 h 384"/>
                <a:gd name="T60" fmla="*/ 63 w 432"/>
                <a:gd name="T61" fmla="*/ 118 h 384"/>
                <a:gd name="T62" fmla="*/ 45 w 432"/>
                <a:gd name="T63" fmla="*/ 161 h 384"/>
                <a:gd name="T64" fmla="*/ 42 w 432"/>
                <a:gd name="T65" fmla="*/ 207 h 384"/>
                <a:gd name="T66" fmla="*/ 55 w 432"/>
                <a:gd name="T67" fmla="*/ 252 h 384"/>
                <a:gd name="T68" fmla="*/ 81 w 432"/>
                <a:gd name="T69" fmla="*/ 290 h 384"/>
                <a:gd name="T70" fmla="*/ 118 w 432"/>
                <a:gd name="T71" fmla="*/ 321 h 384"/>
                <a:gd name="T72" fmla="*/ 164 w 432"/>
                <a:gd name="T73" fmla="*/ 341 h 384"/>
                <a:gd name="T74" fmla="*/ 216 w 432"/>
                <a:gd name="T75" fmla="*/ 347 h 384"/>
                <a:gd name="T76" fmla="*/ 268 w 432"/>
                <a:gd name="T77" fmla="*/ 341 h 384"/>
                <a:gd name="T78" fmla="*/ 313 w 432"/>
                <a:gd name="T79" fmla="*/ 321 h 384"/>
                <a:gd name="T80" fmla="*/ 350 w 432"/>
                <a:gd name="T81" fmla="*/ 290 h 384"/>
                <a:gd name="T82" fmla="*/ 376 w 432"/>
                <a:gd name="T83" fmla="*/ 252 h 384"/>
                <a:gd name="T84" fmla="*/ 389 w 432"/>
                <a:gd name="T85" fmla="*/ 207 h 384"/>
                <a:gd name="T86" fmla="*/ 431 w 432"/>
                <a:gd name="T87" fmla="*/ 196 h 38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32"/>
                <a:gd name="T133" fmla="*/ 0 h 384"/>
                <a:gd name="T134" fmla="*/ 432 w 432"/>
                <a:gd name="T135" fmla="*/ 384 h 38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32" h="384">
                  <a:moveTo>
                    <a:pt x="431" y="196"/>
                  </a:moveTo>
                  <a:lnTo>
                    <a:pt x="430" y="211"/>
                  </a:lnTo>
                  <a:lnTo>
                    <a:pt x="427" y="230"/>
                  </a:lnTo>
                  <a:lnTo>
                    <a:pt x="421" y="249"/>
                  </a:lnTo>
                  <a:lnTo>
                    <a:pt x="414" y="266"/>
                  </a:lnTo>
                  <a:lnTo>
                    <a:pt x="404" y="283"/>
                  </a:lnTo>
                  <a:lnTo>
                    <a:pt x="394" y="299"/>
                  </a:lnTo>
                  <a:lnTo>
                    <a:pt x="381" y="314"/>
                  </a:lnTo>
                  <a:lnTo>
                    <a:pt x="367" y="328"/>
                  </a:lnTo>
                  <a:lnTo>
                    <a:pt x="352" y="340"/>
                  </a:lnTo>
                  <a:lnTo>
                    <a:pt x="335" y="351"/>
                  </a:lnTo>
                  <a:lnTo>
                    <a:pt x="318" y="360"/>
                  </a:lnTo>
                  <a:lnTo>
                    <a:pt x="299" y="369"/>
                  </a:lnTo>
                  <a:lnTo>
                    <a:pt x="280" y="375"/>
                  </a:lnTo>
                  <a:lnTo>
                    <a:pt x="259" y="380"/>
                  </a:lnTo>
                  <a:lnTo>
                    <a:pt x="238" y="383"/>
                  </a:lnTo>
                  <a:lnTo>
                    <a:pt x="215" y="383"/>
                  </a:lnTo>
                  <a:lnTo>
                    <a:pt x="194" y="383"/>
                  </a:lnTo>
                  <a:lnTo>
                    <a:pt x="172" y="380"/>
                  </a:lnTo>
                  <a:lnTo>
                    <a:pt x="152" y="375"/>
                  </a:lnTo>
                  <a:lnTo>
                    <a:pt x="132" y="369"/>
                  </a:lnTo>
                  <a:lnTo>
                    <a:pt x="114" y="360"/>
                  </a:lnTo>
                  <a:lnTo>
                    <a:pt x="95" y="351"/>
                  </a:lnTo>
                  <a:lnTo>
                    <a:pt x="79" y="340"/>
                  </a:lnTo>
                  <a:lnTo>
                    <a:pt x="64" y="328"/>
                  </a:lnTo>
                  <a:lnTo>
                    <a:pt x="50" y="314"/>
                  </a:lnTo>
                  <a:lnTo>
                    <a:pt x="37" y="299"/>
                  </a:lnTo>
                  <a:lnTo>
                    <a:pt x="26" y="283"/>
                  </a:lnTo>
                  <a:lnTo>
                    <a:pt x="17" y="266"/>
                  </a:lnTo>
                  <a:lnTo>
                    <a:pt x="10" y="249"/>
                  </a:lnTo>
                  <a:lnTo>
                    <a:pt x="5" y="230"/>
                  </a:lnTo>
                  <a:lnTo>
                    <a:pt x="2" y="211"/>
                  </a:lnTo>
                  <a:lnTo>
                    <a:pt x="0" y="192"/>
                  </a:lnTo>
                  <a:lnTo>
                    <a:pt x="2" y="173"/>
                  </a:lnTo>
                  <a:lnTo>
                    <a:pt x="10" y="135"/>
                  </a:lnTo>
                  <a:lnTo>
                    <a:pt x="17" y="118"/>
                  </a:lnTo>
                  <a:lnTo>
                    <a:pt x="26" y="101"/>
                  </a:lnTo>
                  <a:lnTo>
                    <a:pt x="37" y="85"/>
                  </a:lnTo>
                  <a:lnTo>
                    <a:pt x="50" y="70"/>
                  </a:lnTo>
                  <a:lnTo>
                    <a:pt x="64" y="56"/>
                  </a:lnTo>
                  <a:lnTo>
                    <a:pt x="79" y="44"/>
                  </a:lnTo>
                  <a:lnTo>
                    <a:pt x="95" y="33"/>
                  </a:lnTo>
                  <a:lnTo>
                    <a:pt x="114" y="23"/>
                  </a:lnTo>
                  <a:lnTo>
                    <a:pt x="132" y="15"/>
                  </a:lnTo>
                  <a:lnTo>
                    <a:pt x="152" y="9"/>
                  </a:lnTo>
                  <a:lnTo>
                    <a:pt x="172" y="4"/>
                  </a:lnTo>
                  <a:lnTo>
                    <a:pt x="194" y="1"/>
                  </a:lnTo>
                  <a:lnTo>
                    <a:pt x="215" y="0"/>
                  </a:lnTo>
                  <a:lnTo>
                    <a:pt x="238" y="1"/>
                  </a:lnTo>
                  <a:lnTo>
                    <a:pt x="259" y="4"/>
                  </a:lnTo>
                  <a:lnTo>
                    <a:pt x="280" y="9"/>
                  </a:lnTo>
                  <a:lnTo>
                    <a:pt x="299" y="15"/>
                  </a:lnTo>
                  <a:lnTo>
                    <a:pt x="318" y="23"/>
                  </a:lnTo>
                  <a:lnTo>
                    <a:pt x="335" y="33"/>
                  </a:lnTo>
                  <a:lnTo>
                    <a:pt x="352" y="44"/>
                  </a:lnTo>
                  <a:lnTo>
                    <a:pt x="367" y="56"/>
                  </a:lnTo>
                  <a:lnTo>
                    <a:pt x="381" y="70"/>
                  </a:lnTo>
                  <a:lnTo>
                    <a:pt x="394" y="85"/>
                  </a:lnTo>
                  <a:lnTo>
                    <a:pt x="404" y="101"/>
                  </a:lnTo>
                  <a:lnTo>
                    <a:pt x="414" y="118"/>
                  </a:lnTo>
                  <a:lnTo>
                    <a:pt x="421" y="135"/>
                  </a:lnTo>
                  <a:lnTo>
                    <a:pt x="427" y="154"/>
                  </a:lnTo>
                  <a:lnTo>
                    <a:pt x="431" y="192"/>
                  </a:lnTo>
                  <a:lnTo>
                    <a:pt x="390" y="192"/>
                  </a:lnTo>
                  <a:lnTo>
                    <a:pt x="389" y="176"/>
                  </a:lnTo>
                  <a:lnTo>
                    <a:pt x="387" y="161"/>
                  </a:lnTo>
                  <a:lnTo>
                    <a:pt x="382" y="146"/>
                  </a:lnTo>
                  <a:lnTo>
                    <a:pt x="376" y="132"/>
                  </a:lnTo>
                  <a:lnTo>
                    <a:pt x="369" y="118"/>
                  </a:lnTo>
                  <a:lnTo>
                    <a:pt x="360" y="105"/>
                  </a:lnTo>
                  <a:lnTo>
                    <a:pt x="350" y="93"/>
                  </a:lnTo>
                  <a:lnTo>
                    <a:pt x="339" y="82"/>
                  </a:lnTo>
                  <a:lnTo>
                    <a:pt x="326" y="72"/>
                  </a:lnTo>
                  <a:lnTo>
                    <a:pt x="313" y="63"/>
                  </a:lnTo>
                  <a:lnTo>
                    <a:pt x="298" y="55"/>
                  </a:lnTo>
                  <a:lnTo>
                    <a:pt x="284" y="49"/>
                  </a:lnTo>
                  <a:lnTo>
                    <a:pt x="268" y="43"/>
                  </a:lnTo>
                  <a:lnTo>
                    <a:pt x="251" y="39"/>
                  </a:lnTo>
                  <a:lnTo>
                    <a:pt x="234" y="37"/>
                  </a:lnTo>
                  <a:lnTo>
                    <a:pt x="216" y="36"/>
                  </a:lnTo>
                  <a:lnTo>
                    <a:pt x="198" y="37"/>
                  </a:lnTo>
                  <a:lnTo>
                    <a:pt x="181" y="39"/>
                  </a:lnTo>
                  <a:lnTo>
                    <a:pt x="164" y="43"/>
                  </a:lnTo>
                  <a:lnTo>
                    <a:pt x="148" y="49"/>
                  </a:lnTo>
                  <a:lnTo>
                    <a:pt x="133" y="55"/>
                  </a:lnTo>
                  <a:lnTo>
                    <a:pt x="118" y="63"/>
                  </a:lnTo>
                  <a:lnTo>
                    <a:pt x="105" y="72"/>
                  </a:lnTo>
                  <a:lnTo>
                    <a:pt x="360" y="279"/>
                  </a:lnTo>
                  <a:lnTo>
                    <a:pt x="350" y="290"/>
                  </a:lnTo>
                  <a:lnTo>
                    <a:pt x="338" y="302"/>
                  </a:lnTo>
                  <a:lnTo>
                    <a:pt x="326" y="311"/>
                  </a:lnTo>
                  <a:lnTo>
                    <a:pt x="71" y="105"/>
                  </a:lnTo>
                  <a:lnTo>
                    <a:pt x="63" y="118"/>
                  </a:lnTo>
                  <a:lnTo>
                    <a:pt x="55" y="132"/>
                  </a:lnTo>
                  <a:lnTo>
                    <a:pt x="49" y="146"/>
                  </a:lnTo>
                  <a:lnTo>
                    <a:pt x="45" y="161"/>
                  </a:lnTo>
                  <a:lnTo>
                    <a:pt x="42" y="176"/>
                  </a:lnTo>
                  <a:lnTo>
                    <a:pt x="42" y="192"/>
                  </a:lnTo>
                  <a:lnTo>
                    <a:pt x="42" y="207"/>
                  </a:lnTo>
                  <a:lnTo>
                    <a:pt x="45" y="223"/>
                  </a:lnTo>
                  <a:lnTo>
                    <a:pt x="49" y="238"/>
                  </a:lnTo>
                  <a:lnTo>
                    <a:pt x="55" y="252"/>
                  </a:lnTo>
                  <a:lnTo>
                    <a:pt x="63" y="266"/>
                  </a:lnTo>
                  <a:lnTo>
                    <a:pt x="71" y="279"/>
                  </a:lnTo>
                  <a:lnTo>
                    <a:pt x="81" y="290"/>
                  </a:lnTo>
                  <a:lnTo>
                    <a:pt x="93" y="302"/>
                  </a:lnTo>
                  <a:lnTo>
                    <a:pt x="105" y="312"/>
                  </a:lnTo>
                  <a:lnTo>
                    <a:pt x="118" y="321"/>
                  </a:lnTo>
                  <a:lnTo>
                    <a:pt x="133" y="328"/>
                  </a:lnTo>
                  <a:lnTo>
                    <a:pt x="148" y="335"/>
                  </a:lnTo>
                  <a:lnTo>
                    <a:pt x="164" y="341"/>
                  </a:lnTo>
                  <a:lnTo>
                    <a:pt x="181" y="344"/>
                  </a:lnTo>
                  <a:lnTo>
                    <a:pt x="198" y="347"/>
                  </a:lnTo>
                  <a:lnTo>
                    <a:pt x="216" y="347"/>
                  </a:lnTo>
                  <a:lnTo>
                    <a:pt x="234" y="347"/>
                  </a:lnTo>
                  <a:lnTo>
                    <a:pt x="251" y="344"/>
                  </a:lnTo>
                  <a:lnTo>
                    <a:pt x="268" y="341"/>
                  </a:lnTo>
                  <a:lnTo>
                    <a:pt x="284" y="335"/>
                  </a:lnTo>
                  <a:lnTo>
                    <a:pt x="298" y="328"/>
                  </a:lnTo>
                  <a:lnTo>
                    <a:pt x="313" y="321"/>
                  </a:lnTo>
                  <a:lnTo>
                    <a:pt x="326" y="311"/>
                  </a:lnTo>
                  <a:lnTo>
                    <a:pt x="338" y="302"/>
                  </a:lnTo>
                  <a:lnTo>
                    <a:pt x="350" y="290"/>
                  </a:lnTo>
                  <a:lnTo>
                    <a:pt x="360" y="279"/>
                  </a:lnTo>
                  <a:lnTo>
                    <a:pt x="369" y="266"/>
                  </a:lnTo>
                  <a:lnTo>
                    <a:pt x="376" y="252"/>
                  </a:lnTo>
                  <a:lnTo>
                    <a:pt x="382" y="238"/>
                  </a:lnTo>
                  <a:lnTo>
                    <a:pt x="387" y="223"/>
                  </a:lnTo>
                  <a:lnTo>
                    <a:pt x="389" y="207"/>
                  </a:lnTo>
                  <a:lnTo>
                    <a:pt x="390" y="192"/>
                  </a:lnTo>
                  <a:lnTo>
                    <a:pt x="431" y="192"/>
                  </a:lnTo>
                  <a:lnTo>
                    <a:pt x="431" y="196"/>
                  </a:lnTo>
                </a:path>
              </a:pathLst>
            </a:custGeom>
            <a:solidFill>
              <a:srgbClr val="FF0054"/>
            </a:solidFill>
            <a:ln w="12700" cap="rnd">
              <a:solidFill>
                <a:srgbClr val="FF0054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0387" name="Group 10"/>
            <p:cNvGrpSpPr>
              <a:grpSpLocks/>
            </p:cNvGrpSpPr>
            <p:nvPr/>
          </p:nvGrpSpPr>
          <p:grpSpPr bwMode="auto">
            <a:xfrm>
              <a:off x="485" y="2112"/>
              <a:ext cx="441" cy="187"/>
              <a:chOff x="485" y="2116"/>
              <a:chExt cx="441" cy="183"/>
            </a:xfrm>
          </p:grpSpPr>
          <p:sp>
            <p:nvSpPr>
              <p:cNvPr id="100829" name="Rectangle 11"/>
              <p:cNvSpPr>
                <a:spLocks noChangeArrowheads="1"/>
              </p:cNvSpPr>
              <p:nvPr/>
            </p:nvSpPr>
            <p:spPr bwMode="auto">
              <a:xfrm>
                <a:off x="485" y="2116"/>
                <a:ext cx="441" cy="183"/>
              </a:xfrm>
              <a:prstGeom prst="rect">
                <a:avLst/>
              </a:prstGeom>
              <a:solidFill>
                <a:srgbClr val="BFFFB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830" name="Rectangle 12"/>
              <p:cNvSpPr>
                <a:spLocks noChangeArrowheads="1"/>
              </p:cNvSpPr>
              <p:nvPr/>
            </p:nvSpPr>
            <p:spPr bwMode="auto">
              <a:xfrm>
                <a:off x="495" y="2126"/>
                <a:ext cx="421" cy="163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DFFFB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831" name="Freeform 13"/>
              <p:cNvSpPr>
                <a:spLocks/>
              </p:cNvSpPr>
              <p:nvPr/>
            </p:nvSpPr>
            <p:spPr bwMode="auto">
              <a:xfrm>
                <a:off x="521" y="2137"/>
                <a:ext cx="375" cy="148"/>
              </a:xfrm>
              <a:custGeom>
                <a:avLst/>
                <a:gdLst>
                  <a:gd name="T0" fmla="*/ 0 w 375"/>
                  <a:gd name="T1" fmla="*/ 0 h 148"/>
                  <a:gd name="T2" fmla="*/ 374 w 375"/>
                  <a:gd name="T3" fmla="*/ 0 h 148"/>
                  <a:gd name="T4" fmla="*/ 374 w 375"/>
                  <a:gd name="T5" fmla="*/ 147 h 148"/>
                  <a:gd name="T6" fmla="*/ 0 w 375"/>
                  <a:gd name="T7" fmla="*/ 147 h 148"/>
                  <a:gd name="T8" fmla="*/ 0 w 375"/>
                  <a:gd name="T9" fmla="*/ 0 h 1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5"/>
                  <a:gd name="T16" fmla="*/ 0 h 148"/>
                  <a:gd name="T17" fmla="*/ 375 w 375"/>
                  <a:gd name="T18" fmla="*/ 148 h 1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5" h="148">
                    <a:moveTo>
                      <a:pt x="0" y="0"/>
                    </a:moveTo>
                    <a:lnTo>
                      <a:pt x="374" y="0"/>
                    </a:lnTo>
                    <a:lnTo>
                      <a:pt x="374" y="147"/>
                    </a:lnTo>
                    <a:lnTo>
                      <a:pt x="0" y="14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D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388" name="Group 14"/>
            <p:cNvGrpSpPr>
              <a:grpSpLocks/>
            </p:cNvGrpSpPr>
            <p:nvPr/>
          </p:nvGrpSpPr>
          <p:grpSpPr bwMode="auto">
            <a:xfrm>
              <a:off x="648" y="2255"/>
              <a:ext cx="113" cy="17"/>
              <a:chOff x="648" y="2255"/>
              <a:chExt cx="113" cy="17"/>
            </a:xfrm>
          </p:grpSpPr>
          <p:grpSp>
            <p:nvGrpSpPr>
              <p:cNvPr id="100821" name="Group 15"/>
              <p:cNvGrpSpPr>
                <a:grpSpLocks/>
              </p:cNvGrpSpPr>
              <p:nvPr/>
            </p:nvGrpSpPr>
            <p:grpSpPr bwMode="auto">
              <a:xfrm>
                <a:off x="648" y="2255"/>
                <a:ext cx="14" cy="17"/>
                <a:chOff x="648" y="2255"/>
                <a:chExt cx="14" cy="17"/>
              </a:xfrm>
            </p:grpSpPr>
            <p:sp>
              <p:nvSpPr>
                <p:cNvPr id="100826" name="Freeform 16"/>
                <p:cNvSpPr>
                  <a:spLocks/>
                </p:cNvSpPr>
                <p:nvPr/>
              </p:nvSpPr>
              <p:spPr bwMode="auto">
                <a:xfrm>
                  <a:off x="649" y="2262"/>
                  <a:ext cx="12" cy="9"/>
                </a:xfrm>
                <a:custGeom>
                  <a:avLst/>
                  <a:gdLst>
                    <a:gd name="T0" fmla="*/ 11 w 12"/>
                    <a:gd name="T1" fmla="*/ 8 h 9"/>
                    <a:gd name="T2" fmla="*/ 7 w 12"/>
                    <a:gd name="T3" fmla="*/ 6 h 9"/>
                    <a:gd name="T4" fmla="*/ 3 w 12"/>
                    <a:gd name="T5" fmla="*/ 4 h 9"/>
                    <a:gd name="T6" fmla="*/ 0 w 12"/>
                    <a:gd name="T7" fmla="*/ 0 h 9"/>
                    <a:gd name="T8" fmla="*/ 2 w 12"/>
                    <a:gd name="T9" fmla="*/ 1 h 9"/>
                    <a:gd name="T10" fmla="*/ 6 w 12"/>
                    <a:gd name="T11" fmla="*/ 2 h 9"/>
                    <a:gd name="T12" fmla="*/ 9 w 12"/>
                    <a:gd name="T13" fmla="*/ 4 h 9"/>
                    <a:gd name="T14" fmla="*/ 11 w 12"/>
                    <a:gd name="T15" fmla="*/ 8 h 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2"/>
                    <a:gd name="T25" fmla="*/ 0 h 9"/>
                    <a:gd name="T26" fmla="*/ 12 w 12"/>
                    <a:gd name="T27" fmla="*/ 9 h 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2" h="9">
                      <a:moveTo>
                        <a:pt x="11" y="8"/>
                      </a:moveTo>
                      <a:lnTo>
                        <a:pt x="7" y="6"/>
                      </a:lnTo>
                      <a:lnTo>
                        <a:pt x="3" y="4"/>
                      </a:lnTo>
                      <a:lnTo>
                        <a:pt x="0" y="0"/>
                      </a:lnTo>
                      <a:lnTo>
                        <a:pt x="2" y="1"/>
                      </a:lnTo>
                      <a:lnTo>
                        <a:pt x="6" y="2"/>
                      </a:lnTo>
                      <a:lnTo>
                        <a:pt x="9" y="4"/>
                      </a:lnTo>
                      <a:lnTo>
                        <a:pt x="11" y="8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827" name="Freeform 17"/>
                <p:cNvSpPr>
                  <a:spLocks/>
                </p:cNvSpPr>
                <p:nvPr/>
              </p:nvSpPr>
              <p:spPr bwMode="auto">
                <a:xfrm>
                  <a:off x="654" y="2255"/>
                  <a:ext cx="8" cy="13"/>
                </a:xfrm>
                <a:custGeom>
                  <a:avLst/>
                  <a:gdLst>
                    <a:gd name="T0" fmla="*/ 7 w 8"/>
                    <a:gd name="T1" fmla="*/ 12 h 13"/>
                    <a:gd name="T2" fmla="*/ 4 w 8"/>
                    <a:gd name="T3" fmla="*/ 9 h 13"/>
                    <a:gd name="T4" fmla="*/ 2 w 8"/>
                    <a:gd name="T5" fmla="*/ 6 h 13"/>
                    <a:gd name="T6" fmla="*/ 1 w 8"/>
                    <a:gd name="T7" fmla="*/ 3 h 13"/>
                    <a:gd name="T8" fmla="*/ 0 w 8"/>
                    <a:gd name="T9" fmla="*/ 0 h 13"/>
                    <a:gd name="T10" fmla="*/ 2 w 8"/>
                    <a:gd name="T11" fmla="*/ 2 h 13"/>
                    <a:gd name="T12" fmla="*/ 4 w 8"/>
                    <a:gd name="T13" fmla="*/ 4 h 13"/>
                    <a:gd name="T14" fmla="*/ 6 w 8"/>
                    <a:gd name="T15" fmla="*/ 6 h 13"/>
                    <a:gd name="T16" fmla="*/ 7 w 8"/>
                    <a:gd name="T17" fmla="*/ 9 h 13"/>
                    <a:gd name="T18" fmla="*/ 7 w 8"/>
                    <a:gd name="T19" fmla="*/ 12 h 1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8"/>
                    <a:gd name="T31" fmla="*/ 0 h 13"/>
                    <a:gd name="T32" fmla="*/ 8 w 8"/>
                    <a:gd name="T33" fmla="*/ 13 h 1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8" h="13">
                      <a:moveTo>
                        <a:pt x="7" y="12"/>
                      </a:moveTo>
                      <a:lnTo>
                        <a:pt x="4" y="9"/>
                      </a:lnTo>
                      <a:lnTo>
                        <a:pt x="2" y="6"/>
                      </a:lnTo>
                      <a:lnTo>
                        <a:pt x="1" y="3"/>
                      </a:lnTo>
                      <a:lnTo>
                        <a:pt x="0" y="0"/>
                      </a:lnTo>
                      <a:lnTo>
                        <a:pt x="2" y="2"/>
                      </a:lnTo>
                      <a:lnTo>
                        <a:pt x="4" y="4"/>
                      </a:lnTo>
                      <a:lnTo>
                        <a:pt x="6" y="6"/>
                      </a:lnTo>
                      <a:lnTo>
                        <a:pt x="7" y="9"/>
                      </a:lnTo>
                      <a:lnTo>
                        <a:pt x="7" y="12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828" name="Freeform 18"/>
                <p:cNvSpPr>
                  <a:spLocks/>
                </p:cNvSpPr>
                <p:nvPr/>
              </p:nvSpPr>
              <p:spPr bwMode="auto">
                <a:xfrm>
                  <a:off x="648" y="2271"/>
                  <a:ext cx="11" cy="1"/>
                </a:xfrm>
                <a:custGeom>
                  <a:avLst/>
                  <a:gdLst>
                    <a:gd name="T0" fmla="*/ 10 w 11"/>
                    <a:gd name="T1" fmla="*/ 0 h 1"/>
                    <a:gd name="T2" fmla="*/ 7 w 11"/>
                    <a:gd name="T3" fmla="*/ 0 h 1"/>
                    <a:gd name="T4" fmla="*/ 3 w 11"/>
                    <a:gd name="T5" fmla="*/ 0 h 1"/>
                    <a:gd name="T6" fmla="*/ 0 w 11"/>
                    <a:gd name="T7" fmla="*/ 0 h 1"/>
                    <a:gd name="T8" fmla="*/ 3 w 11"/>
                    <a:gd name="T9" fmla="*/ 0 h 1"/>
                    <a:gd name="T10" fmla="*/ 6 w 11"/>
                    <a:gd name="T11" fmla="*/ 0 h 1"/>
                    <a:gd name="T12" fmla="*/ 8 w 11"/>
                    <a:gd name="T13" fmla="*/ 0 h 1"/>
                    <a:gd name="T14" fmla="*/ 10 w 11"/>
                    <a:gd name="T15" fmla="*/ 0 h 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1"/>
                    <a:gd name="T25" fmla="*/ 0 h 1"/>
                    <a:gd name="T26" fmla="*/ 11 w 11"/>
                    <a:gd name="T27" fmla="*/ 1 h 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1" h="1">
                      <a:moveTo>
                        <a:pt x="10" y="0"/>
                      </a:moveTo>
                      <a:lnTo>
                        <a:pt x="7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822" name="Group 19"/>
              <p:cNvGrpSpPr>
                <a:grpSpLocks/>
              </p:cNvGrpSpPr>
              <p:nvPr/>
            </p:nvGrpSpPr>
            <p:grpSpPr bwMode="auto">
              <a:xfrm>
                <a:off x="747" y="2256"/>
                <a:ext cx="14" cy="16"/>
                <a:chOff x="747" y="2256"/>
                <a:chExt cx="14" cy="16"/>
              </a:xfrm>
            </p:grpSpPr>
            <p:sp>
              <p:nvSpPr>
                <p:cNvPr id="100823" name="Freeform 20"/>
                <p:cNvSpPr>
                  <a:spLocks/>
                </p:cNvSpPr>
                <p:nvPr/>
              </p:nvSpPr>
              <p:spPr bwMode="auto">
                <a:xfrm>
                  <a:off x="748" y="2262"/>
                  <a:ext cx="12" cy="9"/>
                </a:xfrm>
                <a:custGeom>
                  <a:avLst/>
                  <a:gdLst>
                    <a:gd name="T0" fmla="*/ 0 w 12"/>
                    <a:gd name="T1" fmla="*/ 8 h 9"/>
                    <a:gd name="T2" fmla="*/ 4 w 12"/>
                    <a:gd name="T3" fmla="*/ 7 h 9"/>
                    <a:gd name="T4" fmla="*/ 8 w 12"/>
                    <a:gd name="T5" fmla="*/ 4 h 9"/>
                    <a:gd name="T6" fmla="*/ 11 w 12"/>
                    <a:gd name="T7" fmla="*/ 0 h 9"/>
                    <a:gd name="T8" fmla="*/ 9 w 12"/>
                    <a:gd name="T9" fmla="*/ 1 h 9"/>
                    <a:gd name="T10" fmla="*/ 5 w 12"/>
                    <a:gd name="T11" fmla="*/ 2 h 9"/>
                    <a:gd name="T12" fmla="*/ 2 w 12"/>
                    <a:gd name="T13" fmla="*/ 5 h 9"/>
                    <a:gd name="T14" fmla="*/ 0 w 12"/>
                    <a:gd name="T15" fmla="*/ 8 h 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2"/>
                    <a:gd name="T25" fmla="*/ 0 h 9"/>
                    <a:gd name="T26" fmla="*/ 12 w 12"/>
                    <a:gd name="T27" fmla="*/ 9 h 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2" h="9">
                      <a:moveTo>
                        <a:pt x="0" y="8"/>
                      </a:moveTo>
                      <a:lnTo>
                        <a:pt x="4" y="7"/>
                      </a:lnTo>
                      <a:lnTo>
                        <a:pt x="8" y="4"/>
                      </a:lnTo>
                      <a:lnTo>
                        <a:pt x="11" y="0"/>
                      </a:lnTo>
                      <a:lnTo>
                        <a:pt x="9" y="1"/>
                      </a:lnTo>
                      <a:lnTo>
                        <a:pt x="5" y="2"/>
                      </a:lnTo>
                      <a:lnTo>
                        <a:pt x="2" y="5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824" name="Freeform 21"/>
                <p:cNvSpPr>
                  <a:spLocks/>
                </p:cNvSpPr>
                <p:nvPr/>
              </p:nvSpPr>
              <p:spPr bwMode="auto">
                <a:xfrm>
                  <a:off x="747" y="2256"/>
                  <a:ext cx="8" cy="13"/>
                </a:xfrm>
                <a:custGeom>
                  <a:avLst/>
                  <a:gdLst>
                    <a:gd name="T0" fmla="*/ 0 w 8"/>
                    <a:gd name="T1" fmla="*/ 12 h 13"/>
                    <a:gd name="T2" fmla="*/ 3 w 8"/>
                    <a:gd name="T3" fmla="*/ 8 h 13"/>
                    <a:gd name="T4" fmla="*/ 5 w 8"/>
                    <a:gd name="T5" fmla="*/ 5 h 13"/>
                    <a:gd name="T6" fmla="*/ 6 w 8"/>
                    <a:gd name="T7" fmla="*/ 3 h 13"/>
                    <a:gd name="T8" fmla="*/ 7 w 8"/>
                    <a:gd name="T9" fmla="*/ 0 h 13"/>
                    <a:gd name="T10" fmla="*/ 5 w 8"/>
                    <a:gd name="T11" fmla="*/ 1 h 13"/>
                    <a:gd name="T12" fmla="*/ 3 w 8"/>
                    <a:gd name="T13" fmla="*/ 3 h 13"/>
                    <a:gd name="T14" fmla="*/ 1 w 8"/>
                    <a:gd name="T15" fmla="*/ 6 h 13"/>
                    <a:gd name="T16" fmla="*/ 0 w 8"/>
                    <a:gd name="T17" fmla="*/ 9 h 13"/>
                    <a:gd name="T18" fmla="*/ 0 w 8"/>
                    <a:gd name="T19" fmla="*/ 12 h 1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8"/>
                    <a:gd name="T31" fmla="*/ 0 h 13"/>
                    <a:gd name="T32" fmla="*/ 8 w 8"/>
                    <a:gd name="T33" fmla="*/ 13 h 1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8" h="13">
                      <a:moveTo>
                        <a:pt x="0" y="12"/>
                      </a:moveTo>
                      <a:lnTo>
                        <a:pt x="3" y="8"/>
                      </a:lnTo>
                      <a:lnTo>
                        <a:pt x="5" y="5"/>
                      </a:lnTo>
                      <a:lnTo>
                        <a:pt x="6" y="3"/>
                      </a:lnTo>
                      <a:lnTo>
                        <a:pt x="7" y="0"/>
                      </a:lnTo>
                      <a:lnTo>
                        <a:pt x="5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825" name="Freeform 22"/>
                <p:cNvSpPr>
                  <a:spLocks/>
                </p:cNvSpPr>
                <p:nvPr/>
              </p:nvSpPr>
              <p:spPr bwMode="auto">
                <a:xfrm>
                  <a:off x="750" y="2271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3 w 11"/>
                    <a:gd name="T3" fmla="*/ 0 h 1"/>
                    <a:gd name="T4" fmla="*/ 7 w 11"/>
                    <a:gd name="T5" fmla="*/ 0 h 1"/>
                    <a:gd name="T6" fmla="*/ 10 w 11"/>
                    <a:gd name="T7" fmla="*/ 0 h 1"/>
                    <a:gd name="T8" fmla="*/ 7 w 11"/>
                    <a:gd name="T9" fmla="*/ 0 h 1"/>
                    <a:gd name="T10" fmla="*/ 4 w 11"/>
                    <a:gd name="T11" fmla="*/ 0 h 1"/>
                    <a:gd name="T12" fmla="*/ 2 w 11"/>
                    <a:gd name="T13" fmla="*/ 0 h 1"/>
                    <a:gd name="T14" fmla="*/ 0 w 11"/>
                    <a:gd name="T15" fmla="*/ 0 h 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1"/>
                    <a:gd name="T25" fmla="*/ 0 h 1"/>
                    <a:gd name="T26" fmla="*/ 11 w 11"/>
                    <a:gd name="T27" fmla="*/ 1 h 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1" h="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389" name="Group 23"/>
            <p:cNvGrpSpPr>
              <a:grpSpLocks/>
            </p:cNvGrpSpPr>
            <p:nvPr/>
          </p:nvGrpSpPr>
          <p:grpSpPr bwMode="auto">
            <a:xfrm>
              <a:off x="613" y="2164"/>
              <a:ext cx="191" cy="136"/>
              <a:chOff x="613" y="2164"/>
              <a:chExt cx="191" cy="136"/>
            </a:xfrm>
          </p:grpSpPr>
          <p:grpSp>
            <p:nvGrpSpPr>
              <p:cNvPr id="100800" name="Group 24"/>
              <p:cNvGrpSpPr>
                <a:grpSpLocks/>
              </p:cNvGrpSpPr>
              <p:nvPr/>
            </p:nvGrpSpPr>
            <p:grpSpPr bwMode="auto">
              <a:xfrm>
                <a:off x="655" y="2164"/>
                <a:ext cx="106" cy="120"/>
                <a:chOff x="655" y="2164"/>
                <a:chExt cx="106" cy="120"/>
              </a:xfrm>
            </p:grpSpPr>
            <p:grpSp>
              <p:nvGrpSpPr>
                <p:cNvPr id="100802" name="Group 25"/>
                <p:cNvGrpSpPr>
                  <a:grpSpLocks/>
                </p:cNvGrpSpPr>
                <p:nvPr/>
              </p:nvGrpSpPr>
              <p:grpSpPr bwMode="auto">
                <a:xfrm>
                  <a:off x="655" y="2164"/>
                  <a:ext cx="106" cy="120"/>
                  <a:chOff x="655" y="2164"/>
                  <a:chExt cx="106" cy="120"/>
                </a:xfrm>
              </p:grpSpPr>
              <p:grpSp>
                <p:nvGrpSpPr>
                  <p:cNvPr id="100817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655" y="2164"/>
                    <a:ext cx="106" cy="27"/>
                    <a:chOff x="655" y="2164"/>
                    <a:chExt cx="106" cy="27"/>
                  </a:xfrm>
                </p:grpSpPr>
                <p:sp>
                  <p:nvSpPr>
                    <p:cNvPr id="100819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655" y="2164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0 h 27"/>
                        <a:gd name="T2" fmla="*/ 51 w 52"/>
                        <a:gd name="T3" fmla="*/ 0 h 27"/>
                        <a:gd name="T4" fmla="*/ 51 w 52"/>
                        <a:gd name="T5" fmla="*/ 26 h 27"/>
                        <a:gd name="T6" fmla="*/ 15 w 52"/>
                        <a:gd name="T7" fmla="*/ 26 h 27"/>
                        <a:gd name="T8" fmla="*/ 15 w 52"/>
                        <a:gd name="T9" fmla="*/ 13 h 27"/>
                        <a:gd name="T10" fmla="*/ 14 w 52"/>
                        <a:gd name="T11" fmla="*/ 11 h 27"/>
                        <a:gd name="T12" fmla="*/ 13 w 52"/>
                        <a:gd name="T13" fmla="*/ 9 h 27"/>
                        <a:gd name="T14" fmla="*/ 10 w 52"/>
                        <a:gd name="T15" fmla="*/ 9 h 27"/>
                        <a:gd name="T16" fmla="*/ 0 w 52"/>
                        <a:gd name="T17" fmla="*/ 9 h 27"/>
                        <a:gd name="T18" fmla="*/ 0 w 52"/>
                        <a:gd name="T19" fmla="*/ 0 h 27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52"/>
                        <a:gd name="T31" fmla="*/ 0 h 27"/>
                        <a:gd name="T32" fmla="*/ 52 w 52"/>
                        <a:gd name="T33" fmla="*/ 27 h 27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52" h="27">
                          <a:moveTo>
                            <a:pt x="0" y="0"/>
                          </a:moveTo>
                          <a:lnTo>
                            <a:pt x="51" y="0"/>
                          </a:lnTo>
                          <a:lnTo>
                            <a:pt x="51" y="26"/>
                          </a:lnTo>
                          <a:lnTo>
                            <a:pt x="15" y="26"/>
                          </a:lnTo>
                          <a:lnTo>
                            <a:pt x="15" y="13"/>
                          </a:lnTo>
                          <a:lnTo>
                            <a:pt x="14" y="11"/>
                          </a:lnTo>
                          <a:lnTo>
                            <a:pt x="13" y="9"/>
                          </a:lnTo>
                          <a:lnTo>
                            <a:pt x="10" y="9"/>
                          </a:lnTo>
                          <a:lnTo>
                            <a:pt x="0" y="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709" y="2164"/>
                      <a:ext cx="52" cy="27"/>
                    </a:xfrm>
                    <a:custGeom>
                      <a:avLst/>
                      <a:gdLst>
                        <a:gd name="T0" fmla="*/ 51 w 52"/>
                        <a:gd name="T1" fmla="*/ 0 h 27"/>
                        <a:gd name="T2" fmla="*/ 0 w 52"/>
                        <a:gd name="T3" fmla="*/ 0 h 27"/>
                        <a:gd name="T4" fmla="*/ 0 w 52"/>
                        <a:gd name="T5" fmla="*/ 26 h 27"/>
                        <a:gd name="T6" fmla="*/ 36 w 52"/>
                        <a:gd name="T7" fmla="*/ 26 h 27"/>
                        <a:gd name="T8" fmla="*/ 36 w 52"/>
                        <a:gd name="T9" fmla="*/ 13 h 27"/>
                        <a:gd name="T10" fmla="*/ 37 w 52"/>
                        <a:gd name="T11" fmla="*/ 11 h 27"/>
                        <a:gd name="T12" fmla="*/ 38 w 52"/>
                        <a:gd name="T13" fmla="*/ 9 h 27"/>
                        <a:gd name="T14" fmla="*/ 40 w 52"/>
                        <a:gd name="T15" fmla="*/ 9 h 27"/>
                        <a:gd name="T16" fmla="*/ 51 w 52"/>
                        <a:gd name="T17" fmla="*/ 9 h 27"/>
                        <a:gd name="T18" fmla="*/ 51 w 52"/>
                        <a:gd name="T19" fmla="*/ 0 h 27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52"/>
                        <a:gd name="T31" fmla="*/ 0 h 27"/>
                        <a:gd name="T32" fmla="*/ 52 w 52"/>
                        <a:gd name="T33" fmla="*/ 27 h 27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52" h="27">
                          <a:moveTo>
                            <a:pt x="51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36" y="26"/>
                          </a:lnTo>
                          <a:lnTo>
                            <a:pt x="36" y="13"/>
                          </a:lnTo>
                          <a:lnTo>
                            <a:pt x="37" y="11"/>
                          </a:lnTo>
                          <a:lnTo>
                            <a:pt x="38" y="9"/>
                          </a:lnTo>
                          <a:lnTo>
                            <a:pt x="40" y="9"/>
                          </a:lnTo>
                          <a:lnTo>
                            <a:pt x="51" y="9"/>
                          </a:lnTo>
                          <a:lnTo>
                            <a:pt x="51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818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2167"/>
                    <a:ext cx="87" cy="117"/>
                  </a:xfrm>
                  <a:prstGeom prst="ellipse">
                    <a:avLst/>
                  </a:prstGeom>
                  <a:solidFill>
                    <a:srgbClr val="3F5F00"/>
                  </a:solidFill>
                  <a:ln w="12700">
                    <a:solidFill>
                      <a:srgbClr val="DFFFB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0803" name="Group 30"/>
                <p:cNvGrpSpPr>
                  <a:grpSpLocks/>
                </p:cNvGrpSpPr>
                <p:nvPr/>
              </p:nvGrpSpPr>
              <p:grpSpPr bwMode="auto">
                <a:xfrm>
                  <a:off x="660" y="2169"/>
                  <a:ext cx="87" cy="107"/>
                  <a:chOff x="660" y="2169"/>
                  <a:chExt cx="87" cy="107"/>
                </a:xfrm>
              </p:grpSpPr>
              <p:sp>
                <p:nvSpPr>
                  <p:cNvPr id="100804" name="Freeform 31"/>
                  <p:cNvSpPr>
                    <a:spLocks/>
                  </p:cNvSpPr>
                  <p:nvPr/>
                </p:nvSpPr>
                <p:spPr bwMode="auto">
                  <a:xfrm>
                    <a:off x="722" y="2236"/>
                    <a:ext cx="25" cy="40"/>
                  </a:xfrm>
                  <a:custGeom>
                    <a:avLst/>
                    <a:gdLst>
                      <a:gd name="T0" fmla="*/ 0 w 25"/>
                      <a:gd name="T1" fmla="*/ 0 h 40"/>
                      <a:gd name="T2" fmla="*/ 5 w 25"/>
                      <a:gd name="T3" fmla="*/ 2 h 40"/>
                      <a:gd name="T4" fmla="*/ 5 w 25"/>
                      <a:gd name="T5" fmla="*/ 7 h 40"/>
                      <a:gd name="T6" fmla="*/ 11 w 25"/>
                      <a:gd name="T7" fmla="*/ 11 h 40"/>
                      <a:gd name="T8" fmla="*/ 20 w 25"/>
                      <a:gd name="T9" fmla="*/ 12 h 40"/>
                      <a:gd name="T10" fmla="*/ 24 w 25"/>
                      <a:gd name="T11" fmla="*/ 15 h 40"/>
                      <a:gd name="T12" fmla="*/ 23 w 25"/>
                      <a:gd name="T13" fmla="*/ 17 h 40"/>
                      <a:gd name="T14" fmla="*/ 23 w 25"/>
                      <a:gd name="T15" fmla="*/ 20 h 40"/>
                      <a:gd name="T16" fmla="*/ 21 w 25"/>
                      <a:gd name="T17" fmla="*/ 23 h 40"/>
                      <a:gd name="T18" fmla="*/ 20 w 25"/>
                      <a:gd name="T19" fmla="*/ 27 h 40"/>
                      <a:gd name="T20" fmla="*/ 18 w 25"/>
                      <a:gd name="T21" fmla="*/ 29 h 40"/>
                      <a:gd name="T22" fmla="*/ 16 w 25"/>
                      <a:gd name="T23" fmla="*/ 32 h 40"/>
                      <a:gd name="T24" fmla="*/ 14 w 25"/>
                      <a:gd name="T25" fmla="*/ 36 h 40"/>
                      <a:gd name="T26" fmla="*/ 11 w 25"/>
                      <a:gd name="T27" fmla="*/ 39 h 40"/>
                      <a:gd name="T28" fmla="*/ 3 w 25"/>
                      <a:gd name="T29" fmla="*/ 11 h 40"/>
                      <a:gd name="T30" fmla="*/ 0 w 25"/>
                      <a:gd name="T31" fmla="*/ 7 h 40"/>
                      <a:gd name="T32" fmla="*/ 0 w 25"/>
                      <a:gd name="T33" fmla="*/ 0 h 40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25"/>
                      <a:gd name="T52" fmla="*/ 0 h 40"/>
                      <a:gd name="T53" fmla="*/ 25 w 25"/>
                      <a:gd name="T54" fmla="*/ 40 h 40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25" h="40">
                        <a:moveTo>
                          <a:pt x="0" y="0"/>
                        </a:moveTo>
                        <a:lnTo>
                          <a:pt x="5" y="2"/>
                        </a:lnTo>
                        <a:lnTo>
                          <a:pt x="5" y="7"/>
                        </a:lnTo>
                        <a:lnTo>
                          <a:pt x="11" y="11"/>
                        </a:lnTo>
                        <a:lnTo>
                          <a:pt x="20" y="12"/>
                        </a:lnTo>
                        <a:lnTo>
                          <a:pt x="24" y="15"/>
                        </a:lnTo>
                        <a:lnTo>
                          <a:pt x="23" y="17"/>
                        </a:lnTo>
                        <a:lnTo>
                          <a:pt x="23" y="20"/>
                        </a:lnTo>
                        <a:lnTo>
                          <a:pt x="21" y="23"/>
                        </a:lnTo>
                        <a:lnTo>
                          <a:pt x="20" y="27"/>
                        </a:lnTo>
                        <a:lnTo>
                          <a:pt x="18" y="29"/>
                        </a:lnTo>
                        <a:lnTo>
                          <a:pt x="16" y="32"/>
                        </a:lnTo>
                        <a:lnTo>
                          <a:pt x="14" y="36"/>
                        </a:lnTo>
                        <a:lnTo>
                          <a:pt x="11" y="39"/>
                        </a:lnTo>
                        <a:lnTo>
                          <a:pt x="3" y="11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805" name="Freeform 32"/>
                  <p:cNvSpPr>
                    <a:spLocks/>
                  </p:cNvSpPr>
                  <p:nvPr/>
                </p:nvSpPr>
                <p:spPr bwMode="auto">
                  <a:xfrm>
                    <a:off x="692" y="2230"/>
                    <a:ext cx="38" cy="46"/>
                  </a:xfrm>
                  <a:custGeom>
                    <a:avLst/>
                    <a:gdLst>
                      <a:gd name="T0" fmla="*/ 37 w 38"/>
                      <a:gd name="T1" fmla="*/ 45 h 46"/>
                      <a:gd name="T2" fmla="*/ 21 w 38"/>
                      <a:gd name="T3" fmla="*/ 45 h 46"/>
                      <a:gd name="T4" fmla="*/ 13 w 38"/>
                      <a:gd name="T5" fmla="*/ 45 h 46"/>
                      <a:gd name="T6" fmla="*/ 13 w 38"/>
                      <a:gd name="T7" fmla="*/ 37 h 46"/>
                      <a:gd name="T8" fmla="*/ 10 w 38"/>
                      <a:gd name="T9" fmla="*/ 25 h 46"/>
                      <a:gd name="T10" fmla="*/ 7 w 38"/>
                      <a:gd name="T11" fmla="*/ 15 h 46"/>
                      <a:gd name="T12" fmla="*/ 7 w 38"/>
                      <a:gd name="T13" fmla="*/ 8 h 46"/>
                      <a:gd name="T14" fmla="*/ 2 w 38"/>
                      <a:gd name="T15" fmla="*/ 5 h 46"/>
                      <a:gd name="T16" fmla="*/ 0 w 38"/>
                      <a:gd name="T17" fmla="*/ 0 h 46"/>
                      <a:gd name="T18" fmla="*/ 4 w 38"/>
                      <a:gd name="T19" fmla="*/ 3 h 46"/>
                      <a:gd name="T20" fmla="*/ 9 w 38"/>
                      <a:gd name="T21" fmla="*/ 5 h 46"/>
                      <a:gd name="T22" fmla="*/ 14 w 38"/>
                      <a:gd name="T23" fmla="*/ 7 h 46"/>
                      <a:gd name="T24" fmla="*/ 16 w 38"/>
                      <a:gd name="T25" fmla="*/ 7 h 46"/>
                      <a:gd name="T26" fmla="*/ 19 w 38"/>
                      <a:gd name="T27" fmla="*/ 7 h 46"/>
                      <a:gd name="T28" fmla="*/ 22 w 38"/>
                      <a:gd name="T29" fmla="*/ 7 h 46"/>
                      <a:gd name="T30" fmla="*/ 25 w 38"/>
                      <a:gd name="T31" fmla="*/ 5 h 46"/>
                      <a:gd name="T32" fmla="*/ 25 w 38"/>
                      <a:gd name="T33" fmla="*/ 12 h 46"/>
                      <a:gd name="T34" fmla="*/ 28 w 38"/>
                      <a:gd name="T35" fmla="*/ 17 h 46"/>
                      <a:gd name="T36" fmla="*/ 34 w 38"/>
                      <a:gd name="T37" fmla="*/ 34 h 46"/>
                      <a:gd name="T38" fmla="*/ 37 w 38"/>
                      <a:gd name="T39" fmla="*/ 45 h 4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38"/>
                      <a:gd name="T61" fmla="*/ 0 h 46"/>
                      <a:gd name="T62" fmla="*/ 38 w 38"/>
                      <a:gd name="T63" fmla="*/ 46 h 4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38" h="46">
                        <a:moveTo>
                          <a:pt x="37" y="45"/>
                        </a:moveTo>
                        <a:lnTo>
                          <a:pt x="21" y="45"/>
                        </a:lnTo>
                        <a:lnTo>
                          <a:pt x="13" y="45"/>
                        </a:lnTo>
                        <a:lnTo>
                          <a:pt x="13" y="37"/>
                        </a:lnTo>
                        <a:lnTo>
                          <a:pt x="10" y="25"/>
                        </a:lnTo>
                        <a:lnTo>
                          <a:pt x="7" y="15"/>
                        </a:lnTo>
                        <a:lnTo>
                          <a:pt x="7" y="8"/>
                        </a:lnTo>
                        <a:lnTo>
                          <a:pt x="2" y="5"/>
                        </a:lnTo>
                        <a:lnTo>
                          <a:pt x="0" y="0"/>
                        </a:lnTo>
                        <a:lnTo>
                          <a:pt x="4" y="3"/>
                        </a:lnTo>
                        <a:lnTo>
                          <a:pt x="9" y="5"/>
                        </a:lnTo>
                        <a:lnTo>
                          <a:pt x="14" y="7"/>
                        </a:lnTo>
                        <a:lnTo>
                          <a:pt x="16" y="7"/>
                        </a:lnTo>
                        <a:lnTo>
                          <a:pt x="19" y="7"/>
                        </a:lnTo>
                        <a:lnTo>
                          <a:pt x="22" y="7"/>
                        </a:lnTo>
                        <a:lnTo>
                          <a:pt x="25" y="5"/>
                        </a:lnTo>
                        <a:lnTo>
                          <a:pt x="25" y="12"/>
                        </a:lnTo>
                        <a:lnTo>
                          <a:pt x="28" y="17"/>
                        </a:lnTo>
                        <a:lnTo>
                          <a:pt x="34" y="34"/>
                        </a:lnTo>
                        <a:lnTo>
                          <a:pt x="37" y="45"/>
                        </a:lnTo>
                      </a:path>
                    </a:pathLst>
                  </a:custGeom>
                  <a:solidFill>
                    <a:srgbClr val="D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806" name="Freeform 33"/>
                  <p:cNvSpPr>
                    <a:spLocks/>
                  </p:cNvSpPr>
                  <p:nvPr/>
                </p:nvSpPr>
                <p:spPr bwMode="auto">
                  <a:xfrm>
                    <a:off x="685" y="2173"/>
                    <a:ext cx="41" cy="58"/>
                  </a:xfrm>
                  <a:custGeom>
                    <a:avLst/>
                    <a:gdLst>
                      <a:gd name="T0" fmla="*/ 4 w 41"/>
                      <a:gd name="T1" fmla="*/ 45 h 58"/>
                      <a:gd name="T2" fmla="*/ 4 w 41"/>
                      <a:gd name="T3" fmla="*/ 39 h 58"/>
                      <a:gd name="T4" fmla="*/ 1 w 41"/>
                      <a:gd name="T5" fmla="*/ 31 h 58"/>
                      <a:gd name="T6" fmla="*/ 0 w 41"/>
                      <a:gd name="T7" fmla="*/ 19 h 58"/>
                      <a:gd name="T8" fmla="*/ 5 w 41"/>
                      <a:gd name="T9" fmla="*/ 8 h 58"/>
                      <a:gd name="T10" fmla="*/ 12 w 41"/>
                      <a:gd name="T11" fmla="*/ 3 h 58"/>
                      <a:gd name="T12" fmla="*/ 20 w 41"/>
                      <a:gd name="T13" fmla="*/ 0 h 58"/>
                      <a:gd name="T14" fmla="*/ 28 w 41"/>
                      <a:gd name="T15" fmla="*/ 0 h 58"/>
                      <a:gd name="T16" fmla="*/ 33 w 41"/>
                      <a:gd name="T17" fmla="*/ 4 h 58"/>
                      <a:gd name="T18" fmla="*/ 38 w 41"/>
                      <a:gd name="T19" fmla="*/ 13 h 58"/>
                      <a:gd name="T20" fmla="*/ 40 w 41"/>
                      <a:gd name="T21" fmla="*/ 21 h 58"/>
                      <a:gd name="T22" fmla="*/ 39 w 41"/>
                      <a:gd name="T23" fmla="*/ 31 h 58"/>
                      <a:gd name="T24" fmla="*/ 38 w 41"/>
                      <a:gd name="T25" fmla="*/ 39 h 58"/>
                      <a:gd name="T26" fmla="*/ 38 w 41"/>
                      <a:gd name="T27" fmla="*/ 42 h 58"/>
                      <a:gd name="T28" fmla="*/ 37 w 41"/>
                      <a:gd name="T29" fmla="*/ 45 h 58"/>
                      <a:gd name="T30" fmla="*/ 35 w 41"/>
                      <a:gd name="T31" fmla="*/ 48 h 58"/>
                      <a:gd name="T32" fmla="*/ 33 w 41"/>
                      <a:gd name="T33" fmla="*/ 49 h 58"/>
                      <a:gd name="T34" fmla="*/ 31 w 41"/>
                      <a:gd name="T35" fmla="*/ 50 h 58"/>
                      <a:gd name="T36" fmla="*/ 31 w 41"/>
                      <a:gd name="T37" fmla="*/ 55 h 58"/>
                      <a:gd name="T38" fmla="*/ 28 w 41"/>
                      <a:gd name="T39" fmla="*/ 57 h 58"/>
                      <a:gd name="T40" fmla="*/ 26 w 41"/>
                      <a:gd name="T41" fmla="*/ 57 h 58"/>
                      <a:gd name="T42" fmla="*/ 21 w 41"/>
                      <a:gd name="T43" fmla="*/ 57 h 58"/>
                      <a:gd name="T44" fmla="*/ 16 w 41"/>
                      <a:gd name="T45" fmla="*/ 55 h 58"/>
                      <a:gd name="T46" fmla="*/ 10 w 41"/>
                      <a:gd name="T47" fmla="*/ 53 h 58"/>
                      <a:gd name="T48" fmla="*/ 6 w 41"/>
                      <a:gd name="T49" fmla="*/ 50 h 58"/>
                      <a:gd name="T50" fmla="*/ 4 w 41"/>
                      <a:gd name="T51" fmla="*/ 45 h 58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1"/>
                      <a:gd name="T79" fmla="*/ 0 h 58"/>
                      <a:gd name="T80" fmla="*/ 41 w 41"/>
                      <a:gd name="T81" fmla="*/ 58 h 58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1" h="58">
                        <a:moveTo>
                          <a:pt x="4" y="45"/>
                        </a:moveTo>
                        <a:lnTo>
                          <a:pt x="4" y="39"/>
                        </a:lnTo>
                        <a:lnTo>
                          <a:pt x="1" y="31"/>
                        </a:lnTo>
                        <a:lnTo>
                          <a:pt x="0" y="19"/>
                        </a:lnTo>
                        <a:lnTo>
                          <a:pt x="5" y="8"/>
                        </a:lnTo>
                        <a:lnTo>
                          <a:pt x="12" y="3"/>
                        </a:lnTo>
                        <a:lnTo>
                          <a:pt x="20" y="0"/>
                        </a:lnTo>
                        <a:lnTo>
                          <a:pt x="28" y="0"/>
                        </a:lnTo>
                        <a:lnTo>
                          <a:pt x="33" y="4"/>
                        </a:lnTo>
                        <a:lnTo>
                          <a:pt x="38" y="13"/>
                        </a:lnTo>
                        <a:lnTo>
                          <a:pt x="40" y="21"/>
                        </a:lnTo>
                        <a:lnTo>
                          <a:pt x="39" y="31"/>
                        </a:lnTo>
                        <a:lnTo>
                          <a:pt x="38" y="39"/>
                        </a:lnTo>
                        <a:lnTo>
                          <a:pt x="38" y="42"/>
                        </a:lnTo>
                        <a:lnTo>
                          <a:pt x="37" y="45"/>
                        </a:lnTo>
                        <a:lnTo>
                          <a:pt x="35" y="48"/>
                        </a:lnTo>
                        <a:lnTo>
                          <a:pt x="33" y="49"/>
                        </a:lnTo>
                        <a:lnTo>
                          <a:pt x="31" y="50"/>
                        </a:lnTo>
                        <a:lnTo>
                          <a:pt x="31" y="55"/>
                        </a:lnTo>
                        <a:lnTo>
                          <a:pt x="28" y="57"/>
                        </a:lnTo>
                        <a:lnTo>
                          <a:pt x="26" y="57"/>
                        </a:lnTo>
                        <a:lnTo>
                          <a:pt x="21" y="57"/>
                        </a:lnTo>
                        <a:lnTo>
                          <a:pt x="16" y="55"/>
                        </a:lnTo>
                        <a:lnTo>
                          <a:pt x="10" y="53"/>
                        </a:lnTo>
                        <a:lnTo>
                          <a:pt x="6" y="50"/>
                        </a:lnTo>
                        <a:lnTo>
                          <a:pt x="4" y="45"/>
                        </a:lnTo>
                      </a:path>
                    </a:pathLst>
                  </a:custGeom>
                  <a:solidFill>
                    <a:srgbClr val="B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807" name="Freeform 34"/>
                  <p:cNvSpPr>
                    <a:spLocks/>
                  </p:cNvSpPr>
                  <p:nvPr/>
                </p:nvSpPr>
                <p:spPr bwMode="auto">
                  <a:xfrm>
                    <a:off x="685" y="2200"/>
                    <a:ext cx="28" cy="38"/>
                  </a:xfrm>
                  <a:custGeom>
                    <a:avLst/>
                    <a:gdLst>
                      <a:gd name="T0" fmla="*/ 8 w 28"/>
                      <a:gd name="T1" fmla="*/ 0 h 38"/>
                      <a:gd name="T2" fmla="*/ 10 w 28"/>
                      <a:gd name="T3" fmla="*/ 7 h 38"/>
                      <a:gd name="T4" fmla="*/ 12 w 28"/>
                      <a:gd name="T5" fmla="*/ 12 h 38"/>
                      <a:gd name="T6" fmla="*/ 13 w 28"/>
                      <a:gd name="T7" fmla="*/ 16 h 38"/>
                      <a:gd name="T8" fmla="*/ 15 w 28"/>
                      <a:gd name="T9" fmla="*/ 21 h 38"/>
                      <a:gd name="T10" fmla="*/ 15 w 28"/>
                      <a:gd name="T11" fmla="*/ 22 h 38"/>
                      <a:gd name="T12" fmla="*/ 18 w 28"/>
                      <a:gd name="T13" fmla="*/ 24 h 38"/>
                      <a:gd name="T14" fmla="*/ 19 w 28"/>
                      <a:gd name="T15" fmla="*/ 25 h 38"/>
                      <a:gd name="T16" fmla="*/ 21 w 28"/>
                      <a:gd name="T17" fmla="*/ 25 h 38"/>
                      <a:gd name="T18" fmla="*/ 22 w 28"/>
                      <a:gd name="T19" fmla="*/ 25 h 38"/>
                      <a:gd name="T20" fmla="*/ 24 w 28"/>
                      <a:gd name="T21" fmla="*/ 25 h 38"/>
                      <a:gd name="T22" fmla="*/ 25 w 28"/>
                      <a:gd name="T23" fmla="*/ 25 h 38"/>
                      <a:gd name="T24" fmla="*/ 27 w 28"/>
                      <a:gd name="T25" fmla="*/ 25 h 38"/>
                      <a:gd name="T26" fmla="*/ 25 w 28"/>
                      <a:gd name="T27" fmla="*/ 28 h 38"/>
                      <a:gd name="T28" fmla="*/ 22 w 28"/>
                      <a:gd name="T29" fmla="*/ 30 h 38"/>
                      <a:gd name="T30" fmla="*/ 20 w 28"/>
                      <a:gd name="T31" fmla="*/ 32 h 38"/>
                      <a:gd name="T32" fmla="*/ 19 w 28"/>
                      <a:gd name="T33" fmla="*/ 35 h 38"/>
                      <a:gd name="T34" fmla="*/ 17 w 28"/>
                      <a:gd name="T35" fmla="*/ 36 h 38"/>
                      <a:gd name="T36" fmla="*/ 14 w 28"/>
                      <a:gd name="T37" fmla="*/ 37 h 38"/>
                      <a:gd name="T38" fmla="*/ 9 w 28"/>
                      <a:gd name="T39" fmla="*/ 37 h 38"/>
                      <a:gd name="T40" fmla="*/ 2 w 28"/>
                      <a:gd name="T41" fmla="*/ 31 h 38"/>
                      <a:gd name="T42" fmla="*/ 0 w 28"/>
                      <a:gd name="T43" fmla="*/ 27 h 38"/>
                      <a:gd name="T44" fmla="*/ 3 w 28"/>
                      <a:gd name="T45" fmla="*/ 17 h 38"/>
                      <a:gd name="T46" fmla="*/ 5 w 28"/>
                      <a:gd name="T47" fmla="*/ 8 h 38"/>
                      <a:gd name="T48" fmla="*/ 8 w 28"/>
                      <a:gd name="T49" fmla="*/ 0 h 38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8"/>
                      <a:gd name="T76" fmla="*/ 0 h 38"/>
                      <a:gd name="T77" fmla="*/ 28 w 28"/>
                      <a:gd name="T78" fmla="*/ 38 h 38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8" h="38">
                        <a:moveTo>
                          <a:pt x="8" y="0"/>
                        </a:moveTo>
                        <a:lnTo>
                          <a:pt x="10" y="7"/>
                        </a:lnTo>
                        <a:lnTo>
                          <a:pt x="12" y="12"/>
                        </a:lnTo>
                        <a:lnTo>
                          <a:pt x="13" y="16"/>
                        </a:lnTo>
                        <a:lnTo>
                          <a:pt x="15" y="21"/>
                        </a:lnTo>
                        <a:lnTo>
                          <a:pt x="15" y="22"/>
                        </a:lnTo>
                        <a:lnTo>
                          <a:pt x="18" y="24"/>
                        </a:lnTo>
                        <a:lnTo>
                          <a:pt x="19" y="25"/>
                        </a:lnTo>
                        <a:lnTo>
                          <a:pt x="21" y="25"/>
                        </a:lnTo>
                        <a:lnTo>
                          <a:pt x="22" y="25"/>
                        </a:lnTo>
                        <a:lnTo>
                          <a:pt x="24" y="25"/>
                        </a:lnTo>
                        <a:lnTo>
                          <a:pt x="25" y="25"/>
                        </a:lnTo>
                        <a:lnTo>
                          <a:pt x="27" y="25"/>
                        </a:lnTo>
                        <a:lnTo>
                          <a:pt x="25" y="28"/>
                        </a:lnTo>
                        <a:lnTo>
                          <a:pt x="22" y="30"/>
                        </a:lnTo>
                        <a:lnTo>
                          <a:pt x="20" y="32"/>
                        </a:lnTo>
                        <a:lnTo>
                          <a:pt x="19" y="35"/>
                        </a:lnTo>
                        <a:lnTo>
                          <a:pt x="17" y="36"/>
                        </a:lnTo>
                        <a:lnTo>
                          <a:pt x="14" y="37"/>
                        </a:lnTo>
                        <a:lnTo>
                          <a:pt x="9" y="37"/>
                        </a:lnTo>
                        <a:lnTo>
                          <a:pt x="2" y="31"/>
                        </a:lnTo>
                        <a:lnTo>
                          <a:pt x="0" y="27"/>
                        </a:lnTo>
                        <a:lnTo>
                          <a:pt x="3" y="17"/>
                        </a:lnTo>
                        <a:lnTo>
                          <a:pt x="5" y="8"/>
                        </a:lnTo>
                        <a:lnTo>
                          <a:pt x="8" y="0"/>
                        </a:lnTo>
                      </a:path>
                    </a:pathLst>
                  </a:custGeom>
                  <a:solidFill>
                    <a:srgbClr val="3F5F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00808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705" y="2188"/>
                    <a:ext cx="20" cy="29"/>
                    <a:chOff x="705" y="2188"/>
                    <a:chExt cx="20" cy="29"/>
                  </a:xfrm>
                </p:grpSpPr>
                <p:sp>
                  <p:nvSpPr>
                    <p:cNvPr id="100811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714" y="2211"/>
                      <a:ext cx="5" cy="6"/>
                    </a:xfrm>
                    <a:custGeom>
                      <a:avLst/>
                      <a:gdLst>
                        <a:gd name="T0" fmla="*/ 0 w 5"/>
                        <a:gd name="T1" fmla="*/ 3 h 6"/>
                        <a:gd name="T2" fmla="*/ 0 w 5"/>
                        <a:gd name="T3" fmla="*/ 5 h 6"/>
                        <a:gd name="T4" fmla="*/ 1 w 5"/>
                        <a:gd name="T5" fmla="*/ 5 h 6"/>
                        <a:gd name="T6" fmla="*/ 2 w 5"/>
                        <a:gd name="T7" fmla="*/ 5 h 6"/>
                        <a:gd name="T8" fmla="*/ 3 w 5"/>
                        <a:gd name="T9" fmla="*/ 5 h 6"/>
                        <a:gd name="T10" fmla="*/ 4 w 5"/>
                        <a:gd name="T11" fmla="*/ 5 h 6"/>
                        <a:gd name="T12" fmla="*/ 4 w 5"/>
                        <a:gd name="T13" fmla="*/ 3 h 6"/>
                        <a:gd name="T14" fmla="*/ 3 w 5"/>
                        <a:gd name="T15" fmla="*/ 2 h 6"/>
                        <a:gd name="T16" fmla="*/ 2 w 5"/>
                        <a:gd name="T17" fmla="*/ 0 h 6"/>
                        <a:gd name="T18" fmla="*/ 1 w 5"/>
                        <a:gd name="T19" fmla="*/ 0 h 6"/>
                        <a:gd name="T20" fmla="*/ 1 w 5"/>
                        <a:gd name="T21" fmla="*/ 2 h 6"/>
                        <a:gd name="T22" fmla="*/ 0 w 5"/>
                        <a:gd name="T23" fmla="*/ 3 h 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5"/>
                        <a:gd name="T37" fmla="*/ 0 h 6"/>
                        <a:gd name="T38" fmla="*/ 5 w 5"/>
                        <a:gd name="T39" fmla="*/ 6 h 6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5" h="6">
                          <a:moveTo>
                            <a:pt x="0" y="3"/>
                          </a:moveTo>
                          <a:lnTo>
                            <a:pt x="0" y="5"/>
                          </a:lnTo>
                          <a:lnTo>
                            <a:pt x="1" y="5"/>
                          </a:lnTo>
                          <a:lnTo>
                            <a:pt x="2" y="5"/>
                          </a:lnTo>
                          <a:lnTo>
                            <a:pt x="3" y="5"/>
                          </a:lnTo>
                          <a:lnTo>
                            <a:pt x="4" y="5"/>
                          </a:lnTo>
                          <a:lnTo>
                            <a:pt x="4" y="3"/>
                          </a:lnTo>
                          <a:lnTo>
                            <a:pt x="3" y="2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1" y="2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12" name="Freeform 37"/>
                    <p:cNvSpPr>
                      <a:spLocks/>
                    </p:cNvSpPr>
                    <p:nvPr/>
                  </p:nvSpPr>
                  <p:spPr bwMode="auto">
                    <a:xfrm>
                      <a:off x="715" y="2204"/>
                      <a:ext cx="2" cy="7"/>
                    </a:xfrm>
                    <a:custGeom>
                      <a:avLst/>
                      <a:gdLst>
                        <a:gd name="T0" fmla="*/ 0 w 2"/>
                        <a:gd name="T1" fmla="*/ 6 h 7"/>
                        <a:gd name="T2" fmla="*/ 0 w 2"/>
                        <a:gd name="T3" fmla="*/ 3 h 7"/>
                        <a:gd name="T4" fmla="*/ 0 w 2"/>
                        <a:gd name="T5" fmla="*/ 0 h 7"/>
                        <a:gd name="T6" fmla="*/ 1 w 2"/>
                        <a:gd name="T7" fmla="*/ 0 h 7"/>
                        <a:gd name="T8" fmla="*/ 1 w 2"/>
                        <a:gd name="T9" fmla="*/ 3 h 7"/>
                        <a:gd name="T10" fmla="*/ 1 w 2"/>
                        <a:gd name="T11" fmla="*/ 6 h 7"/>
                        <a:gd name="T12" fmla="*/ 1 w 2"/>
                        <a:gd name="T13" fmla="*/ 3 h 7"/>
                        <a:gd name="T14" fmla="*/ 1 w 2"/>
                        <a:gd name="T15" fmla="*/ 6 h 7"/>
                        <a:gd name="T16" fmla="*/ 0 w 2"/>
                        <a:gd name="T17" fmla="*/ 6 h 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"/>
                        <a:gd name="T28" fmla="*/ 0 h 7"/>
                        <a:gd name="T29" fmla="*/ 2 w 2"/>
                        <a:gd name="T30" fmla="*/ 7 h 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" h="7">
                          <a:moveTo>
                            <a:pt x="0" y="6"/>
                          </a:moveTo>
                          <a:lnTo>
                            <a:pt x="0" y="3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1" y="3"/>
                          </a:lnTo>
                          <a:lnTo>
                            <a:pt x="1" y="6"/>
                          </a:lnTo>
                          <a:lnTo>
                            <a:pt x="1" y="3"/>
                          </a:lnTo>
                          <a:lnTo>
                            <a:pt x="1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13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705" y="2193"/>
                      <a:ext cx="8" cy="9"/>
                    </a:xfrm>
                    <a:custGeom>
                      <a:avLst/>
                      <a:gdLst>
                        <a:gd name="T0" fmla="*/ 0 w 8"/>
                        <a:gd name="T1" fmla="*/ 2 h 9"/>
                        <a:gd name="T2" fmla="*/ 1 w 8"/>
                        <a:gd name="T3" fmla="*/ 1 h 9"/>
                        <a:gd name="T4" fmla="*/ 2 w 8"/>
                        <a:gd name="T5" fmla="*/ 0 h 9"/>
                        <a:gd name="T6" fmla="*/ 3 w 8"/>
                        <a:gd name="T7" fmla="*/ 0 h 9"/>
                        <a:gd name="T8" fmla="*/ 4 w 8"/>
                        <a:gd name="T9" fmla="*/ 0 h 9"/>
                        <a:gd name="T10" fmla="*/ 6 w 8"/>
                        <a:gd name="T11" fmla="*/ 1 h 9"/>
                        <a:gd name="T12" fmla="*/ 6 w 8"/>
                        <a:gd name="T13" fmla="*/ 2 h 9"/>
                        <a:gd name="T14" fmla="*/ 7 w 8"/>
                        <a:gd name="T15" fmla="*/ 4 h 9"/>
                        <a:gd name="T16" fmla="*/ 7 w 8"/>
                        <a:gd name="T17" fmla="*/ 6 h 9"/>
                        <a:gd name="T18" fmla="*/ 7 w 8"/>
                        <a:gd name="T19" fmla="*/ 8 h 9"/>
                        <a:gd name="T20" fmla="*/ 6 w 8"/>
                        <a:gd name="T21" fmla="*/ 8 h 9"/>
                        <a:gd name="T22" fmla="*/ 5 w 8"/>
                        <a:gd name="T23" fmla="*/ 8 h 9"/>
                        <a:gd name="T24" fmla="*/ 5 w 8"/>
                        <a:gd name="T25" fmla="*/ 6 h 9"/>
                        <a:gd name="T26" fmla="*/ 6 w 8"/>
                        <a:gd name="T27" fmla="*/ 4 h 9"/>
                        <a:gd name="T28" fmla="*/ 6 w 8"/>
                        <a:gd name="T29" fmla="*/ 2 h 9"/>
                        <a:gd name="T30" fmla="*/ 5 w 8"/>
                        <a:gd name="T31" fmla="*/ 1 h 9"/>
                        <a:gd name="T32" fmla="*/ 2 w 8"/>
                        <a:gd name="T33" fmla="*/ 1 h 9"/>
                        <a:gd name="T34" fmla="*/ 0 w 8"/>
                        <a:gd name="T35" fmla="*/ 2 h 9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8"/>
                        <a:gd name="T55" fmla="*/ 0 h 9"/>
                        <a:gd name="T56" fmla="*/ 8 w 8"/>
                        <a:gd name="T57" fmla="*/ 9 h 9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8" h="9">
                          <a:moveTo>
                            <a:pt x="0" y="2"/>
                          </a:moveTo>
                          <a:lnTo>
                            <a:pt x="1" y="1"/>
                          </a:lnTo>
                          <a:lnTo>
                            <a:pt x="2" y="0"/>
                          </a:lnTo>
                          <a:lnTo>
                            <a:pt x="3" y="0"/>
                          </a:lnTo>
                          <a:lnTo>
                            <a:pt x="4" y="0"/>
                          </a:lnTo>
                          <a:lnTo>
                            <a:pt x="6" y="1"/>
                          </a:lnTo>
                          <a:lnTo>
                            <a:pt x="6" y="2"/>
                          </a:lnTo>
                          <a:lnTo>
                            <a:pt x="7" y="4"/>
                          </a:lnTo>
                          <a:lnTo>
                            <a:pt x="7" y="6"/>
                          </a:lnTo>
                          <a:lnTo>
                            <a:pt x="7" y="8"/>
                          </a:lnTo>
                          <a:lnTo>
                            <a:pt x="6" y="8"/>
                          </a:lnTo>
                          <a:lnTo>
                            <a:pt x="5" y="8"/>
                          </a:lnTo>
                          <a:lnTo>
                            <a:pt x="5" y="6"/>
                          </a:lnTo>
                          <a:lnTo>
                            <a:pt x="6" y="4"/>
                          </a:lnTo>
                          <a:lnTo>
                            <a:pt x="6" y="2"/>
                          </a:lnTo>
                          <a:lnTo>
                            <a:pt x="5" y="1"/>
                          </a:lnTo>
                          <a:lnTo>
                            <a:pt x="2" y="1"/>
                          </a:lnTo>
                          <a:lnTo>
                            <a:pt x="0" y="2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14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720" y="2188"/>
                      <a:ext cx="5" cy="6"/>
                    </a:xfrm>
                    <a:custGeom>
                      <a:avLst/>
                      <a:gdLst>
                        <a:gd name="T0" fmla="*/ 0 w 5"/>
                        <a:gd name="T1" fmla="*/ 0 h 6"/>
                        <a:gd name="T2" fmla="*/ 1 w 5"/>
                        <a:gd name="T3" fmla="*/ 3 h 6"/>
                        <a:gd name="T4" fmla="*/ 2 w 5"/>
                        <a:gd name="T5" fmla="*/ 5 h 6"/>
                        <a:gd name="T6" fmla="*/ 3 w 5"/>
                        <a:gd name="T7" fmla="*/ 5 h 6"/>
                        <a:gd name="T8" fmla="*/ 4 w 5"/>
                        <a:gd name="T9" fmla="*/ 2 h 6"/>
                        <a:gd name="T10" fmla="*/ 4 w 5"/>
                        <a:gd name="T11" fmla="*/ 0 h 6"/>
                        <a:gd name="T12" fmla="*/ 3 w 5"/>
                        <a:gd name="T13" fmla="*/ 2 h 6"/>
                        <a:gd name="T14" fmla="*/ 2 w 5"/>
                        <a:gd name="T15" fmla="*/ 2 h 6"/>
                        <a:gd name="T16" fmla="*/ 1 w 5"/>
                        <a:gd name="T17" fmla="*/ 0 h 6"/>
                        <a:gd name="T18" fmla="*/ 0 w 5"/>
                        <a:gd name="T19" fmla="*/ 0 h 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5"/>
                        <a:gd name="T31" fmla="*/ 0 h 6"/>
                        <a:gd name="T32" fmla="*/ 5 w 5"/>
                        <a:gd name="T33" fmla="*/ 6 h 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5" h="6">
                          <a:moveTo>
                            <a:pt x="0" y="0"/>
                          </a:moveTo>
                          <a:lnTo>
                            <a:pt x="1" y="3"/>
                          </a:lnTo>
                          <a:lnTo>
                            <a:pt x="2" y="5"/>
                          </a:lnTo>
                          <a:lnTo>
                            <a:pt x="3" y="5"/>
                          </a:lnTo>
                          <a:lnTo>
                            <a:pt x="4" y="2"/>
                          </a:lnTo>
                          <a:lnTo>
                            <a:pt x="4" y="0"/>
                          </a:lnTo>
                          <a:lnTo>
                            <a:pt x="3" y="2"/>
                          </a:lnTo>
                          <a:lnTo>
                            <a:pt x="2" y="2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15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707" y="2191"/>
                      <a:ext cx="2" cy="7"/>
                    </a:xfrm>
                    <a:custGeom>
                      <a:avLst/>
                      <a:gdLst>
                        <a:gd name="T0" fmla="*/ 1 w 2"/>
                        <a:gd name="T1" fmla="*/ 3 h 7"/>
                        <a:gd name="T2" fmla="*/ 1 w 2"/>
                        <a:gd name="T3" fmla="*/ 6 h 7"/>
                        <a:gd name="T4" fmla="*/ 0 w 2"/>
                        <a:gd name="T5" fmla="*/ 6 h 7"/>
                        <a:gd name="T6" fmla="*/ 0 w 2"/>
                        <a:gd name="T7" fmla="*/ 3 h 7"/>
                        <a:gd name="T8" fmla="*/ 0 w 2"/>
                        <a:gd name="T9" fmla="*/ 0 h 7"/>
                        <a:gd name="T10" fmla="*/ 1 w 2"/>
                        <a:gd name="T11" fmla="*/ 0 h 7"/>
                        <a:gd name="T12" fmla="*/ 1 w 2"/>
                        <a:gd name="T13" fmla="*/ 3 h 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2"/>
                        <a:gd name="T22" fmla="*/ 0 h 7"/>
                        <a:gd name="T23" fmla="*/ 2 w 2"/>
                        <a:gd name="T24" fmla="*/ 7 h 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2" h="7">
                          <a:moveTo>
                            <a:pt x="1" y="3"/>
                          </a:moveTo>
                          <a:lnTo>
                            <a:pt x="1" y="6"/>
                          </a:lnTo>
                          <a:lnTo>
                            <a:pt x="0" y="6"/>
                          </a:lnTo>
                          <a:lnTo>
                            <a:pt x="0" y="3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1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816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721" y="2191"/>
                      <a:ext cx="2" cy="7"/>
                    </a:xfrm>
                    <a:custGeom>
                      <a:avLst/>
                      <a:gdLst>
                        <a:gd name="T0" fmla="*/ 0 w 2"/>
                        <a:gd name="T1" fmla="*/ 3 h 7"/>
                        <a:gd name="T2" fmla="*/ 0 w 2"/>
                        <a:gd name="T3" fmla="*/ 6 h 7"/>
                        <a:gd name="T4" fmla="*/ 1 w 2"/>
                        <a:gd name="T5" fmla="*/ 6 h 7"/>
                        <a:gd name="T6" fmla="*/ 1 w 2"/>
                        <a:gd name="T7" fmla="*/ 3 h 7"/>
                        <a:gd name="T8" fmla="*/ 1 w 2"/>
                        <a:gd name="T9" fmla="*/ 0 h 7"/>
                        <a:gd name="T10" fmla="*/ 0 w 2"/>
                        <a:gd name="T11" fmla="*/ 0 h 7"/>
                        <a:gd name="T12" fmla="*/ 0 w 2"/>
                        <a:gd name="T13" fmla="*/ 3 h 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2"/>
                        <a:gd name="T22" fmla="*/ 0 h 7"/>
                        <a:gd name="T23" fmla="*/ 2 w 2"/>
                        <a:gd name="T24" fmla="*/ 7 h 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2" h="7">
                          <a:moveTo>
                            <a:pt x="0" y="3"/>
                          </a:moveTo>
                          <a:lnTo>
                            <a:pt x="0" y="6"/>
                          </a:lnTo>
                          <a:lnTo>
                            <a:pt x="1" y="6"/>
                          </a:lnTo>
                          <a:lnTo>
                            <a:pt x="1" y="3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809" name="Freeform 42"/>
                  <p:cNvSpPr>
                    <a:spLocks/>
                  </p:cNvSpPr>
                  <p:nvPr/>
                </p:nvSpPr>
                <p:spPr bwMode="auto">
                  <a:xfrm>
                    <a:off x="670" y="2169"/>
                    <a:ext cx="65" cy="46"/>
                  </a:xfrm>
                  <a:custGeom>
                    <a:avLst/>
                    <a:gdLst>
                      <a:gd name="T0" fmla="*/ 32 w 65"/>
                      <a:gd name="T1" fmla="*/ 1 h 46"/>
                      <a:gd name="T2" fmla="*/ 25 w 65"/>
                      <a:gd name="T3" fmla="*/ 2 h 46"/>
                      <a:gd name="T4" fmla="*/ 20 w 65"/>
                      <a:gd name="T5" fmla="*/ 4 h 46"/>
                      <a:gd name="T6" fmla="*/ 12 w 65"/>
                      <a:gd name="T7" fmla="*/ 9 h 46"/>
                      <a:gd name="T8" fmla="*/ 8 w 65"/>
                      <a:gd name="T9" fmla="*/ 16 h 46"/>
                      <a:gd name="T10" fmla="*/ 5 w 65"/>
                      <a:gd name="T11" fmla="*/ 22 h 46"/>
                      <a:gd name="T12" fmla="*/ 2 w 65"/>
                      <a:gd name="T13" fmla="*/ 25 h 46"/>
                      <a:gd name="T14" fmla="*/ 0 w 65"/>
                      <a:gd name="T15" fmla="*/ 29 h 46"/>
                      <a:gd name="T16" fmla="*/ 3 w 65"/>
                      <a:gd name="T17" fmla="*/ 33 h 46"/>
                      <a:gd name="T18" fmla="*/ 5 w 65"/>
                      <a:gd name="T19" fmla="*/ 36 h 46"/>
                      <a:gd name="T20" fmla="*/ 11 w 65"/>
                      <a:gd name="T21" fmla="*/ 38 h 46"/>
                      <a:gd name="T22" fmla="*/ 16 w 65"/>
                      <a:gd name="T23" fmla="*/ 41 h 46"/>
                      <a:gd name="T24" fmla="*/ 19 w 65"/>
                      <a:gd name="T25" fmla="*/ 42 h 46"/>
                      <a:gd name="T26" fmla="*/ 24 w 65"/>
                      <a:gd name="T27" fmla="*/ 45 h 46"/>
                      <a:gd name="T28" fmla="*/ 28 w 65"/>
                      <a:gd name="T29" fmla="*/ 44 h 46"/>
                      <a:gd name="T30" fmla="*/ 26 w 65"/>
                      <a:gd name="T31" fmla="*/ 31 h 46"/>
                      <a:gd name="T32" fmla="*/ 28 w 65"/>
                      <a:gd name="T33" fmla="*/ 20 h 46"/>
                      <a:gd name="T34" fmla="*/ 30 w 65"/>
                      <a:gd name="T35" fmla="*/ 13 h 46"/>
                      <a:gd name="T36" fmla="*/ 36 w 65"/>
                      <a:gd name="T37" fmla="*/ 8 h 46"/>
                      <a:gd name="T38" fmla="*/ 39 w 65"/>
                      <a:gd name="T39" fmla="*/ 7 h 46"/>
                      <a:gd name="T40" fmla="*/ 44 w 65"/>
                      <a:gd name="T41" fmla="*/ 8 h 46"/>
                      <a:gd name="T42" fmla="*/ 47 w 65"/>
                      <a:gd name="T43" fmla="*/ 9 h 46"/>
                      <a:gd name="T44" fmla="*/ 52 w 65"/>
                      <a:gd name="T45" fmla="*/ 12 h 46"/>
                      <a:gd name="T46" fmla="*/ 53 w 65"/>
                      <a:gd name="T47" fmla="*/ 14 h 46"/>
                      <a:gd name="T48" fmla="*/ 54 w 65"/>
                      <a:gd name="T49" fmla="*/ 17 h 46"/>
                      <a:gd name="T50" fmla="*/ 55 w 65"/>
                      <a:gd name="T51" fmla="*/ 20 h 46"/>
                      <a:gd name="T52" fmla="*/ 54 w 65"/>
                      <a:gd name="T53" fmla="*/ 23 h 46"/>
                      <a:gd name="T54" fmla="*/ 54 w 65"/>
                      <a:gd name="T55" fmla="*/ 25 h 46"/>
                      <a:gd name="T56" fmla="*/ 55 w 65"/>
                      <a:gd name="T57" fmla="*/ 31 h 46"/>
                      <a:gd name="T58" fmla="*/ 54 w 65"/>
                      <a:gd name="T59" fmla="*/ 35 h 46"/>
                      <a:gd name="T60" fmla="*/ 54 w 65"/>
                      <a:gd name="T61" fmla="*/ 39 h 46"/>
                      <a:gd name="T62" fmla="*/ 60 w 65"/>
                      <a:gd name="T63" fmla="*/ 39 h 46"/>
                      <a:gd name="T64" fmla="*/ 62 w 65"/>
                      <a:gd name="T65" fmla="*/ 38 h 46"/>
                      <a:gd name="T66" fmla="*/ 64 w 65"/>
                      <a:gd name="T67" fmla="*/ 35 h 46"/>
                      <a:gd name="T68" fmla="*/ 63 w 65"/>
                      <a:gd name="T69" fmla="*/ 29 h 46"/>
                      <a:gd name="T70" fmla="*/ 60 w 65"/>
                      <a:gd name="T71" fmla="*/ 23 h 46"/>
                      <a:gd name="T72" fmla="*/ 56 w 65"/>
                      <a:gd name="T73" fmla="*/ 16 h 46"/>
                      <a:gd name="T74" fmla="*/ 53 w 65"/>
                      <a:gd name="T75" fmla="*/ 11 h 46"/>
                      <a:gd name="T76" fmla="*/ 51 w 65"/>
                      <a:gd name="T77" fmla="*/ 7 h 46"/>
                      <a:gd name="T78" fmla="*/ 48 w 65"/>
                      <a:gd name="T79" fmla="*/ 4 h 46"/>
                      <a:gd name="T80" fmla="*/ 44 w 65"/>
                      <a:gd name="T81" fmla="*/ 3 h 46"/>
                      <a:gd name="T82" fmla="*/ 36 w 65"/>
                      <a:gd name="T83" fmla="*/ 0 h 46"/>
                      <a:gd name="T84" fmla="*/ 32 w 65"/>
                      <a:gd name="T85" fmla="*/ 1 h 4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65"/>
                      <a:gd name="T130" fmla="*/ 0 h 46"/>
                      <a:gd name="T131" fmla="*/ 65 w 65"/>
                      <a:gd name="T132" fmla="*/ 46 h 4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65" h="46">
                        <a:moveTo>
                          <a:pt x="32" y="1"/>
                        </a:moveTo>
                        <a:lnTo>
                          <a:pt x="25" y="2"/>
                        </a:lnTo>
                        <a:lnTo>
                          <a:pt x="20" y="4"/>
                        </a:lnTo>
                        <a:lnTo>
                          <a:pt x="12" y="9"/>
                        </a:lnTo>
                        <a:lnTo>
                          <a:pt x="8" y="16"/>
                        </a:lnTo>
                        <a:lnTo>
                          <a:pt x="5" y="22"/>
                        </a:lnTo>
                        <a:lnTo>
                          <a:pt x="2" y="25"/>
                        </a:lnTo>
                        <a:lnTo>
                          <a:pt x="0" y="29"/>
                        </a:lnTo>
                        <a:lnTo>
                          <a:pt x="3" y="33"/>
                        </a:lnTo>
                        <a:lnTo>
                          <a:pt x="5" y="36"/>
                        </a:lnTo>
                        <a:lnTo>
                          <a:pt x="11" y="38"/>
                        </a:lnTo>
                        <a:lnTo>
                          <a:pt x="16" y="41"/>
                        </a:lnTo>
                        <a:lnTo>
                          <a:pt x="19" y="42"/>
                        </a:lnTo>
                        <a:lnTo>
                          <a:pt x="24" y="45"/>
                        </a:lnTo>
                        <a:lnTo>
                          <a:pt x="28" y="44"/>
                        </a:lnTo>
                        <a:lnTo>
                          <a:pt x="26" y="31"/>
                        </a:lnTo>
                        <a:lnTo>
                          <a:pt x="28" y="20"/>
                        </a:lnTo>
                        <a:lnTo>
                          <a:pt x="30" y="13"/>
                        </a:lnTo>
                        <a:lnTo>
                          <a:pt x="36" y="8"/>
                        </a:lnTo>
                        <a:lnTo>
                          <a:pt x="39" y="7"/>
                        </a:lnTo>
                        <a:lnTo>
                          <a:pt x="44" y="8"/>
                        </a:lnTo>
                        <a:lnTo>
                          <a:pt x="47" y="9"/>
                        </a:lnTo>
                        <a:lnTo>
                          <a:pt x="52" y="12"/>
                        </a:lnTo>
                        <a:lnTo>
                          <a:pt x="53" y="14"/>
                        </a:lnTo>
                        <a:lnTo>
                          <a:pt x="54" y="17"/>
                        </a:lnTo>
                        <a:lnTo>
                          <a:pt x="55" y="20"/>
                        </a:lnTo>
                        <a:lnTo>
                          <a:pt x="54" y="23"/>
                        </a:lnTo>
                        <a:lnTo>
                          <a:pt x="54" y="25"/>
                        </a:lnTo>
                        <a:lnTo>
                          <a:pt x="55" y="31"/>
                        </a:lnTo>
                        <a:lnTo>
                          <a:pt x="54" y="35"/>
                        </a:lnTo>
                        <a:lnTo>
                          <a:pt x="54" y="39"/>
                        </a:lnTo>
                        <a:lnTo>
                          <a:pt x="60" y="39"/>
                        </a:lnTo>
                        <a:lnTo>
                          <a:pt x="62" y="38"/>
                        </a:lnTo>
                        <a:lnTo>
                          <a:pt x="64" y="35"/>
                        </a:lnTo>
                        <a:lnTo>
                          <a:pt x="63" y="29"/>
                        </a:lnTo>
                        <a:lnTo>
                          <a:pt x="60" y="23"/>
                        </a:lnTo>
                        <a:lnTo>
                          <a:pt x="56" y="16"/>
                        </a:lnTo>
                        <a:lnTo>
                          <a:pt x="53" y="11"/>
                        </a:lnTo>
                        <a:lnTo>
                          <a:pt x="51" y="7"/>
                        </a:lnTo>
                        <a:lnTo>
                          <a:pt x="48" y="4"/>
                        </a:lnTo>
                        <a:lnTo>
                          <a:pt x="44" y="3"/>
                        </a:lnTo>
                        <a:lnTo>
                          <a:pt x="36" y="0"/>
                        </a:lnTo>
                        <a:lnTo>
                          <a:pt x="32" y="1"/>
                        </a:lnTo>
                      </a:path>
                    </a:pathLst>
                  </a:custGeom>
                  <a:solidFill>
                    <a:srgbClr val="9FFF9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810" name="Freeform 43"/>
                  <p:cNvSpPr>
                    <a:spLocks/>
                  </p:cNvSpPr>
                  <p:nvPr/>
                </p:nvSpPr>
                <p:spPr bwMode="auto">
                  <a:xfrm>
                    <a:off x="660" y="2218"/>
                    <a:ext cx="43" cy="58"/>
                  </a:xfrm>
                  <a:custGeom>
                    <a:avLst/>
                    <a:gdLst>
                      <a:gd name="T0" fmla="*/ 25 w 43"/>
                      <a:gd name="T1" fmla="*/ 0 h 58"/>
                      <a:gd name="T2" fmla="*/ 25 w 43"/>
                      <a:gd name="T3" fmla="*/ 7 h 58"/>
                      <a:gd name="T4" fmla="*/ 28 w 43"/>
                      <a:gd name="T5" fmla="*/ 13 h 58"/>
                      <a:gd name="T6" fmla="*/ 31 w 43"/>
                      <a:gd name="T7" fmla="*/ 18 h 58"/>
                      <a:gd name="T8" fmla="*/ 34 w 43"/>
                      <a:gd name="T9" fmla="*/ 20 h 58"/>
                      <a:gd name="T10" fmla="*/ 34 w 43"/>
                      <a:gd name="T11" fmla="*/ 26 h 58"/>
                      <a:gd name="T12" fmla="*/ 37 w 43"/>
                      <a:gd name="T13" fmla="*/ 34 h 58"/>
                      <a:gd name="T14" fmla="*/ 40 w 43"/>
                      <a:gd name="T15" fmla="*/ 45 h 58"/>
                      <a:gd name="T16" fmla="*/ 42 w 43"/>
                      <a:gd name="T17" fmla="*/ 57 h 58"/>
                      <a:gd name="T18" fmla="*/ 18 w 43"/>
                      <a:gd name="T19" fmla="*/ 57 h 58"/>
                      <a:gd name="T20" fmla="*/ 14 w 43"/>
                      <a:gd name="T21" fmla="*/ 54 h 58"/>
                      <a:gd name="T22" fmla="*/ 12 w 43"/>
                      <a:gd name="T23" fmla="*/ 51 h 58"/>
                      <a:gd name="T24" fmla="*/ 8 w 43"/>
                      <a:gd name="T25" fmla="*/ 46 h 58"/>
                      <a:gd name="T26" fmla="*/ 6 w 43"/>
                      <a:gd name="T27" fmla="*/ 40 h 58"/>
                      <a:gd name="T28" fmla="*/ 3 w 43"/>
                      <a:gd name="T29" fmla="*/ 34 h 58"/>
                      <a:gd name="T30" fmla="*/ 1 w 43"/>
                      <a:gd name="T31" fmla="*/ 28 h 58"/>
                      <a:gd name="T32" fmla="*/ 1 w 43"/>
                      <a:gd name="T33" fmla="*/ 23 h 58"/>
                      <a:gd name="T34" fmla="*/ 0 w 43"/>
                      <a:gd name="T35" fmla="*/ 20 h 58"/>
                      <a:gd name="T36" fmla="*/ 6 w 43"/>
                      <a:gd name="T37" fmla="*/ 20 h 58"/>
                      <a:gd name="T38" fmla="*/ 10 w 43"/>
                      <a:gd name="T39" fmla="*/ 19 h 58"/>
                      <a:gd name="T40" fmla="*/ 15 w 43"/>
                      <a:gd name="T41" fmla="*/ 15 h 58"/>
                      <a:gd name="T42" fmla="*/ 19 w 43"/>
                      <a:gd name="T43" fmla="*/ 9 h 58"/>
                      <a:gd name="T44" fmla="*/ 25 w 43"/>
                      <a:gd name="T45" fmla="*/ 0 h 5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3"/>
                      <a:gd name="T70" fmla="*/ 0 h 58"/>
                      <a:gd name="T71" fmla="*/ 43 w 43"/>
                      <a:gd name="T72" fmla="*/ 58 h 5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3" h="58">
                        <a:moveTo>
                          <a:pt x="25" y="0"/>
                        </a:moveTo>
                        <a:lnTo>
                          <a:pt x="25" y="7"/>
                        </a:lnTo>
                        <a:lnTo>
                          <a:pt x="28" y="13"/>
                        </a:lnTo>
                        <a:lnTo>
                          <a:pt x="31" y="18"/>
                        </a:lnTo>
                        <a:lnTo>
                          <a:pt x="34" y="20"/>
                        </a:lnTo>
                        <a:lnTo>
                          <a:pt x="34" y="26"/>
                        </a:lnTo>
                        <a:lnTo>
                          <a:pt x="37" y="34"/>
                        </a:lnTo>
                        <a:lnTo>
                          <a:pt x="40" y="45"/>
                        </a:lnTo>
                        <a:lnTo>
                          <a:pt x="42" y="57"/>
                        </a:lnTo>
                        <a:lnTo>
                          <a:pt x="18" y="57"/>
                        </a:lnTo>
                        <a:lnTo>
                          <a:pt x="14" y="54"/>
                        </a:lnTo>
                        <a:lnTo>
                          <a:pt x="12" y="51"/>
                        </a:lnTo>
                        <a:lnTo>
                          <a:pt x="8" y="46"/>
                        </a:lnTo>
                        <a:lnTo>
                          <a:pt x="6" y="40"/>
                        </a:lnTo>
                        <a:lnTo>
                          <a:pt x="3" y="34"/>
                        </a:lnTo>
                        <a:lnTo>
                          <a:pt x="1" y="28"/>
                        </a:lnTo>
                        <a:lnTo>
                          <a:pt x="1" y="23"/>
                        </a:lnTo>
                        <a:lnTo>
                          <a:pt x="0" y="20"/>
                        </a:lnTo>
                        <a:lnTo>
                          <a:pt x="6" y="20"/>
                        </a:lnTo>
                        <a:lnTo>
                          <a:pt x="10" y="19"/>
                        </a:lnTo>
                        <a:lnTo>
                          <a:pt x="15" y="15"/>
                        </a:lnTo>
                        <a:lnTo>
                          <a:pt x="19" y="9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00801" name="Freeform 44"/>
              <p:cNvSpPr>
                <a:spLocks/>
              </p:cNvSpPr>
              <p:nvPr/>
            </p:nvSpPr>
            <p:spPr bwMode="auto">
              <a:xfrm>
                <a:off x="613" y="2273"/>
                <a:ext cx="191" cy="27"/>
              </a:xfrm>
              <a:custGeom>
                <a:avLst/>
                <a:gdLst>
                  <a:gd name="T0" fmla="*/ 0 w 191"/>
                  <a:gd name="T1" fmla="*/ 0 h 27"/>
                  <a:gd name="T2" fmla="*/ 190 w 191"/>
                  <a:gd name="T3" fmla="*/ 0 h 27"/>
                  <a:gd name="T4" fmla="*/ 190 w 191"/>
                  <a:gd name="T5" fmla="*/ 26 h 27"/>
                  <a:gd name="T6" fmla="*/ 0 w 191"/>
                  <a:gd name="T7" fmla="*/ 26 h 27"/>
                  <a:gd name="T8" fmla="*/ 0 w 191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1"/>
                  <a:gd name="T16" fmla="*/ 0 h 27"/>
                  <a:gd name="T17" fmla="*/ 191 w 191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1" h="27">
                    <a:moveTo>
                      <a:pt x="0" y="0"/>
                    </a:moveTo>
                    <a:lnTo>
                      <a:pt x="190" y="0"/>
                    </a:lnTo>
                    <a:lnTo>
                      <a:pt x="190" y="26"/>
                    </a:lnTo>
                    <a:lnTo>
                      <a:pt x="0" y="2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390" name="Rectangle 45"/>
            <p:cNvSpPr>
              <a:spLocks noChangeArrowheads="1"/>
            </p:cNvSpPr>
            <p:nvPr/>
          </p:nvSpPr>
          <p:spPr bwMode="auto">
            <a:xfrm>
              <a:off x="611" y="2125"/>
              <a:ext cx="186" cy="1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DFFFB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0391" name="Group 46"/>
            <p:cNvGrpSpPr>
              <a:grpSpLocks/>
            </p:cNvGrpSpPr>
            <p:nvPr/>
          </p:nvGrpSpPr>
          <p:grpSpPr bwMode="auto">
            <a:xfrm>
              <a:off x="494" y="2123"/>
              <a:ext cx="74" cy="69"/>
              <a:chOff x="494" y="2123"/>
              <a:chExt cx="74" cy="69"/>
            </a:xfrm>
          </p:grpSpPr>
          <p:sp>
            <p:nvSpPr>
              <p:cNvPr id="100796" name="Freeform 47"/>
              <p:cNvSpPr>
                <a:spLocks/>
              </p:cNvSpPr>
              <p:nvPr/>
            </p:nvSpPr>
            <p:spPr bwMode="auto">
              <a:xfrm>
                <a:off x="540" y="2129"/>
                <a:ext cx="28" cy="63"/>
              </a:xfrm>
              <a:custGeom>
                <a:avLst/>
                <a:gdLst>
                  <a:gd name="T0" fmla="*/ 3 w 28"/>
                  <a:gd name="T1" fmla="*/ 26 h 63"/>
                  <a:gd name="T2" fmla="*/ 1 w 28"/>
                  <a:gd name="T3" fmla="*/ 22 h 63"/>
                  <a:gd name="T4" fmla="*/ 0 w 28"/>
                  <a:gd name="T5" fmla="*/ 18 h 63"/>
                  <a:gd name="T6" fmla="*/ 0 w 28"/>
                  <a:gd name="T7" fmla="*/ 12 h 63"/>
                  <a:gd name="T8" fmla="*/ 1 w 28"/>
                  <a:gd name="T9" fmla="*/ 6 h 63"/>
                  <a:gd name="T10" fmla="*/ 3 w 28"/>
                  <a:gd name="T11" fmla="*/ 0 h 63"/>
                  <a:gd name="T12" fmla="*/ 7 w 28"/>
                  <a:gd name="T13" fmla="*/ 6 h 63"/>
                  <a:gd name="T14" fmla="*/ 9 w 28"/>
                  <a:gd name="T15" fmla="*/ 10 h 63"/>
                  <a:gd name="T16" fmla="*/ 9 w 28"/>
                  <a:gd name="T17" fmla="*/ 16 h 63"/>
                  <a:gd name="T18" fmla="*/ 9 w 28"/>
                  <a:gd name="T19" fmla="*/ 22 h 63"/>
                  <a:gd name="T20" fmla="*/ 8 w 28"/>
                  <a:gd name="T21" fmla="*/ 27 h 63"/>
                  <a:gd name="T22" fmla="*/ 7 w 28"/>
                  <a:gd name="T23" fmla="*/ 29 h 63"/>
                  <a:gd name="T24" fmla="*/ 9 w 28"/>
                  <a:gd name="T25" fmla="*/ 27 h 63"/>
                  <a:gd name="T26" fmla="*/ 13 w 28"/>
                  <a:gd name="T27" fmla="*/ 23 h 63"/>
                  <a:gd name="T28" fmla="*/ 16 w 28"/>
                  <a:gd name="T29" fmla="*/ 21 h 63"/>
                  <a:gd name="T30" fmla="*/ 19 w 28"/>
                  <a:gd name="T31" fmla="*/ 19 h 63"/>
                  <a:gd name="T32" fmla="*/ 24 w 28"/>
                  <a:gd name="T33" fmla="*/ 18 h 63"/>
                  <a:gd name="T34" fmla="*/ 27 w 28"/>
                  <a:gd name="T35" fmla="*/ 18 h 63"/>
                  <a:gd name="T36" fmla="*/ 26 w 28"/>
                  <a:gd name="T37" fmla="*/ 22 h 63"/>
                  <a:gd name="T38" fmla="*/ 24 w 28"/>
                  <a:gd name="T39" fmla="*/ 26 h 63"/>
                  <a:gd name="T40" fmla="*/ 20 w 28"/>
                  <a:gd name="T41" fmla="*/ 30 h 63"/>
                  <a:gd name="T42" fmla="*/ 18 w 28"/>
                  <a:gd name="T43" fmla="*/ 32 h 63"/>
                  <a:gd name="T44" fmla="*/ 13 w 28"/>
                  <a:gd name="T45" fmla="*/ 34 h 63"/>
                  <a:gd name="T46" fmla="*/ 8 w 28"/>
                  <a:gd name="T47" fmla="*/ 34 h 63"/>
                  <a:gd name="T48" fmla="*/ 13 w 28"/>
                  <a:gd name="T49" fmla="*/ 37 h 63"/>
                  <a:gd name="T50" fmla="*/ 17 w 28"/>
                  <a:gd name="T51" fmla="*/ 39 h 63"/>
                  <a:gd name="T52" fmla="*/ 18 w 28"/>
                  <a:gd name="T53" fmla="*/ 42 h 63"/>
                  <a:gd name="T54" fmla="*/ 20 w 28"/>
                  <a:gd name="T55" fmla="*/ 45 h 63"/>
                  <a:gd name="T56" fmla="*/ 20 w 28"/>
                  <a:gd name="T57" fmla="*/ 48 h 63"/>
                  <a:gd name="T58" fmla="*/ 21 w 28"/>
                  <a:gd name="T59" fmla="*/ 52 h 63"/>
                  <a:gd name="T60" fmla="*/ 15 w 28"/>
                  <a:gd name="T61" fmla="*/ 50 h 63"/>
                  <a:gd name="T62" fmla="*/ 12 w 28"/>
                  <a:gd name="T63" fmla="*/ 48 h 63"/>
                  <a:gd name="T64" fmla="*/ 10 w 28"/>
                  <a:gd name="T65" fmla="*/ 45 h 63"/>
                  <a:gd name="T66" fmla="*/ 7 w 28"/>
                  <a:gd name="T67" fmla="*/ 39 h 63"/>
                  <a:gd name="T68" fmla="*/ 9 w 28"/>
                  <a:gd name="T69" fmla="*/ 44 h 63"/>
                  <a:gd name="T70" fmla="*/ 10 w 28"/>
                  <a:gd name="T71" fmla="*/ 50 h 63"/>
                  <a:gd name="T72" fmla="*/ 10 w 28"/>
                  <a:gd name="T73" fmla="*/ 53 h 63"/>
                  <a:gd name="T74" fmla="*/ 10 w 28"/>
                  <a:gd name="T75" fmla="*/ 58 h 63"/>
                  <a:gd name="T76" fmla="*/ 10 w 28"/>
                  <a:gd name="T77" fmla="*/ 62 h 63"/>
                  <a:gd name="T78" fmla="*/ 5 w 28"/>
                  <a:gd name="T79" fmla="*/ 57 h 63"/>
                  <a:gd name="T80" fmla="*/ 2 w 28"/>
                  <a:gd name="T81" fmla="*/ 51 h 63"/>
                  <a:gd name="T82" fmla="*/ 1 w 28"/>
                  <a:gd name="T83" fmla="*/ 45 h 63"/>
                  <a:gd name="T84" fmla="*/ 2 w 28"/>
                  <a:gd name="T85" fmla="*/ 38 h 63"/>
                  <a:gd name="T86" fmla="*/ 2 w 28"/>
                  <a:gd name="T87" fmla="*/ 33 h 63"/>
                  <a:gd name="T88" fmla="*/ 3 w 28"/>
                  <a:gd name="T89" fmla="*/ 30 h 63"/>
                  <a:gd name="T90" fmla="*/ 3 w 28"/>
                  <a:gd name="T91" fmla="*/ 26 h 6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8"/>
                  <a:gd name="T139" fmla="*/ 0 h 63"/>
                  <a:gd name="T140" fmla="*/ 28 w 28"/>
                  <a:gd name="T141" fmla="*/ 63 h 6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8" h="63">
                    <a:moveTo>
                      <a:pt x="3" y="26"/>
                    </a:moveTo>
                    <a:lnTo>
                      <a:pt x="1" y="22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1" y="6"/>
                    </a:lnTo>
                    <a:lnTo>
                      <a:pt x="3" y="0"/>
                    </a:lnTo>
                    <a:lnTo>
                      <a:pt x="7" y="6"/>
                    </a:lnTo>
                    <a:lnTo>
                      <a:pt x="9" y="10"/>
                    </a:lnTo>
                    <a:lnTo>
                      <a:pt x="9" y="16"/>
                    </a:lnTo>
                    <a:lnTo>
                      <a:pt x="9" y="22"/>
                    </a:lnTo>
                    <a:lnTo>
                      <a:pt x="8" y="27"/>
                    </a:lnTo>
                    <a:lnTo>
                      <a:pt x="7" y="29"/>
                    </a:lnTo>
                    <a:lnTo>
                      <a:pt x="9" y="27"/>
                    </a:lnTo>
                    <a:lnTo>
                      <a:pt x="13" y="23"/>
                    </a:lnTo>
                    <a:lnTo>
                      <a:pt x="16" y="21"/>
                    </a:lnTo>
                    <a:lnTo>
                      <a:pt x="19" y="19"/>
                    </a:lnTo>
                    <a:lnTo>
                      <a:pt x="24" y="18"/>
                    </a:lnTo>
                    <a:lnTo>
                      <a:pt x="27" y="18"/>
                    </a:lnTo>
                    <a:lnTo>
                      <a:pt x="26" y="22"/>
                    </a:lnTo>
                    <a:lnTo>
                      <a:pt x="24" y="26"/>
                    </a:lnTo>
                    <a:lnTo>
                      <a:pt x="20" y="30"/>
                    </a:lnTo>
                    <a:lnTo>
                      <a:pt x="18" y="32"/>
                    </a:lnTo>
                    <a:lnTo>
                      <a:pt x="13" y="34"/>
                    </a:lnTo>
                    <a:lnTo>
                      <a:pt x="8" y="34"/>
                    </a:lnTo>
                    <a:lnTo>
                      <a:pt x="13" y="37"/>
                    </a:lnTo>
                    <a:lnTo>
                      <a:pt x="17" y="39"/>
                    </a:lnTo>
                    <a:lnTo>
                      <a:pt x="18" y="42"/>
                    </a:lnTo>
                    <a:lnTo>
                      <a:pt x="20" y="45"/>
                    </a:lnTo>
                    <a:lnTo>
                      <a:pt x="20" y="48"/>
                    </a:lnTo>
                    <a:lnTo>
                      <a:pt x="21" y="52"/>
                    </a:lnTo>
                    <a:lnTo>
                      <a:pt x="15" y="50"/>
                    </a:lnTo>
                    <a:lnTo>
                      <a:pt x="12" y="48"/>
                    </a:lnTo>
                    <a:lnTo>
                      <a:pt x="10" y="45"/>
                    </a:lnTo>
                    <a:lnTo>
                      <a:pt x="7" y="39"/>
                    </a:lnTo>
                    <a:lnTo>
                      <a:pt x="9" y="44"/>
                    </a:lnTo>
                    <a:lnTo>
                      <a:pt x="10" y="50"/>
                    </a:lnTo>
                    <a:lnTo>
                      <a:pt x="10" y="53"/>
                    </a:lnTo>
                    <a:lnTo>
                      <a:pt x="10" y="58"/>
                    </a:lnTo>
                    <a:lnTo>
                      <a:pt x="10" y="62"/>
                    </a:lnTo>
                    <a:lnTo>
                      <a:pt x="5" y="57"/>
                    </a:lnTo>
                    <a:lnTo>
                      <a:pt x="2" y="51"/>
                    </a:lnTo>
                    <a:lnTo>
                      <a:pt x="1" y="45"/>
                    </a:lnTo>
                    <a:lnTo>
                      <a:pt x="2" y="38"/>
                    </a:lnTo>
                    <a:lnTo>
                      <a:pt x="2" y="33"/>
                    </a:lnTo>
                    <a:lnTo>
                      <a:pt x="3" y="30"/>
                    </a:lnTo>
                    <a:lnTo>
                      <a:pt x="3" y="26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97" name="Freeform 48"/>
              <p:cNvSpPr>
                <a:spLocks/>
              </p:cNvSpPr>
              <p:nvPr/>
            </p:nvSpPr>
            <p:spPr bwMode="auto">
              <a:xfrm>
                <a:off x="494" y="2123"/>
                <a:ext cx="21" cy="29"/>
              </a:xfrm>
              <a:custGeom>
                <a:avLst/>
                <a:gdLst>
                  <a:gd name="T0" fmla="*/ 8 w 21"/>
                  <a:gd name="T1" fmla="*/ 25 h 29"/>
                  <a:gd name="T2" fmla="*/ 5 w 21"/>
                  <a:gd name="T3" fmla="*/ 23 h 29"/>
                  <a:gd name="T4" fmla="*/ 3 w 21"/>
                  <a:gd name="T5" fmla="*/ 20 h 29"/>
                  <a:gd name="T6" fmla="*/ 2 w 21"/>
                  <a:gd name="T7" fmla="*/ 17 h 29"/>
                  <a:gd name="T8" fmla="*/ 1 w 21"/>
                  <a:gd name="T9" fmla="*/ 14 h 29"/>
                  <a:gd name="T10" fmla="*/ 0 w 21"/>
                  <a:gd name="T11" fmla="*/ 10 h 29"/>
                  <a:gd name="T12" fmla="*/ 6 w 21"/>
                  <a:gd name="T13" fmla="*/ 12 h 29"/>
                  <a:gd name="T14" fmla="*/ 10 w 21"/>
                  <a:gd name="T15" fmla="*/ 15 h 29"/>
                  <a:gd name="T16" fmla="*/ 12 w 21"/>
                  <a:gd name="T17" fmla="*/ 17 h 29"/>
                  <a:gd name="T18" fmla="*/ 15 w 21"/>
                  <a:gd name="T19" fmla="*/ 23 h 29"/>
                  <a:gd name="T20" fmla="*/ 12 w 21"/>
                  <a:gd name="T21" fmla="*/ 18 h 29"/>
                  <a:gd name="T22" fmla="*/ 12 w 21"/>
                  <a:gd name="T23" fmla="*/ 12 h 29"/>
                  <a:gd name="T24" fmla="*/ 11 w 21"/>
                  <a:gd name="T25" fmla="*/ 9 h 29"/>
                  <a:gd name="T26" fmla="*/ 12 w 21"/>
                  <a:gd name="T27" fmla="*/ 4 h 29"/>
                  <a:gd name="T28" fmla="*/ 12 w 21"/>
                  <a:gd name="T29" fmla="*/ 0 h 29"/>
                  <a:gd name="T30" fmla="*/ 17 w 21"/>
                  <a:gd name="T31" fmla="*/ 5 h 29"/>
                  <a:gd name="T32" fmla="*/ 19 w 21"/>
                  <a:gd name="T33" fmla="*/ 11 h 29"/>
                  <a:gd name="T34" fmla="*/ 20 w 21"/>
                  <a:gd name="T35" fmla="*/ 17 h 29"/>
                  <a:gd name="T36" fmla="*/ 20 w 21"/>
                  <a:gd name="T37" fmla="*/ 28 h 29"/>
                  <a:gd name="T38" fmla="*/ 14 w 21"/>
                  <a:gd name="T39" fmla="*/ 28 h 29"/>
                  <a:gd name="T40" fmla="*/ 8 w 21"/>
                  <a:gd name="T41" fmla="*/ 25 h 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1"/>
                  <a:gd name="T64" fmla="*/ 0 h 29"/>
                  <a:gd name="T65" fmla="*/ 21 w 21"/>
                  <a:gd name="T66" fmla="*/ 29 h 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1" h="29">
                    <a:moveTo>
                      <a:pt x="8" y="25"/>
                    </a:moveTo>
                    <a:lnTo>
                      <a:pt x="5" y="23"/>
                    </a:lnTo>
                    <a:lnTo>
                      <a:pt x="3" y="20"/>
                    </a:lnTo>
                    <a:lnTo>
                      <a:pt x="2" y="17"/>
                    </a:lnTo>
                    <a:lnTo>
                      <a:pt x="1" y="14"/>
                    </a:lnTo>
                    <a:lnTo>
                      <a:pt x="0" y="10"/>
                    </a:lnTo>
                    <a:lnTo>
                      <a:pt x="6" y="12"/>
                    </a:lnTo>
                    <a:lnTo>
                      <a:pt x="10" y="15"/>
                    </a:lnTo>
                    <a:lnTo>
                      <a:pt x="12" y="17"/>
                    </a:lnTo>
                    <a:lnTo>
                      <a:pt x="15" y="23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11" y="9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17" y="5"/>
                    </a:lnTo>
                    <a:lnTo>
                      <a:pt x="19" y="11"/>
                    </a:lnTo>
                    <a:lnTo>
                      <a:pt x="20" y="17"/>
                    </a:lnTo>
                    <a:lnTo>
                      <a:pt x="20" y="28"/>
                    </a:lnTo>
                    <a:lnTo>
                      <a:pt x="14" y="28"/>
                    </a:lnTo>
                    <a:lnTo>
                      <a:pt x="8" y="2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98" name="Oval 49"/>
              <p:cNvSpPr>
                <a:spLocks noChangeArrowheads="1"/>
              </p:cNvSpPr>
              <p:nvPr/>
            </p:nvSpPr>
            <p:spPr bwMode="auto">
              <a:xfrm>
                <a:off x="505" y="2133"/>
                <a:ext cx="27" cy="48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99" name="Freeform 50"/>
              <p:cNvSpPr>
                <a:spLocks/>
              </p:cNvSpPr>
              <p:nvPr/>
            </p:nvSpPr>
            <p:spPr bwMode="auto">
              <a:xfrm>
                <a:off x="510" y="2140"/>
                <a:ext cx="25" cy="37"/>
              </a:xfrm>
              <a:custGeom>
                <a:avLst/>
                <a:gdLst>
                  <a:gd name="T0" fmla="*/ 1 w 25"/>
                  <a:gd name="T1" fmla="*/ 3 h 37"/>
                  <a:gd name="T2" fmla="*/ 3 w 25"/>
                  <a:gd name="T3" fmla="*/ 3 h 37"/>
                  <a:gd name="T4" fmla="*/ 5 w 25"/>
                  <a:gd name="T5" fmla="*/ 3 h 37"/>
                  <a:gd name="T6" fmla="*/ 6 w 25"/>
                  <a:gd name="T7" fmla="*/ 2 h 37"/>
                  <a:gd name="T8" fmla="*/ 7 w 25"/>
                  <a:gd name="T9" fmla="*/ 1 h 37"/>
                  <a:gd name="T10" fmla="*/ 8 w 25"/>
                  <a:gd name="T11" fmla="*/ 0 h 37"/>
                  <a:gd name="T12" fmla="*/ 19 w 25"/>
                  <a:gd name="T13" fmla="*/ 0 h 37"/>
                  <a:gd name="T14" fmla="*/ 19 w 25"/>
                  <a:gd name="T15" fmla="*/ 30 h 37"/>
                  <a:gd name="T16" fmla="*/ 20 w 25"/>
                  <a:gd name="T17" fmla="*/ 32 h 37"/>
                  <a:gd name="T18" fmla="*/ 21 w 25"/>
                  <a:gd name="T19" fmla="*/ 33 h 37"/>
                  <a:gd name="T20" fmla="*/ 23 w 25"/>
                  <a:gd name="T21" fmla="*/ 34 h 37"/>
                  <a:gd name="T22" fmla="*/ 24 w 25"/>
                  <a:gd name="T23" fmla="*/ 34 h 37"/>
                  <a:gd name="T24" fmla="*/ 24 w 25"/>
                  <a:gd name="T25" fmla="*/ 36 h 37"/>
                  <a:gd name="T26" fmla="*/ 0 w 25"/>
                  <a:gd name="T27" fmla="*/ 36 h 37"/>
                  <a:gd name="T28" fmla="*/ 0 w 25"/>
                  <a:gd name="T29" fmla="*/ 34 h 37"/>
                  <a:gd name="T30" fmla="*/ 2 w 25"/>
                  <a:gd name="T31" fmla="*/ 34 h 37"/>
                  <a:gd name="T32" fmla="*/ 4 w 25"/>
                  <a:gd name="T33" fmla="*/ 33 h 37"/>
                  <a:gd name="T34" fmla="*/ 5 w 25"/>
                  <a:gd name="T35" fmla="*/ 32 h 37"/>
                  <a:gd name="T36" fmla="*/ 5 w 25"/>
                  <a:gd name="T37" fmla="*/ 30 h 37"/>
                  <a:gd name="T38" fmla="*/ 5 w 25"/>
                  <a:gd name="T39" fmla="*/ 7 h 37"/>
                  <a:gd name="T40" fmla="*/ 5 w 25"/>
                  <a:gd name="T41" fmla="*/ 6 h 37"/>
                  <a:gd name="T42" fmla="*/ 4 w 25"/>
                  <a:gd name="T43" fmla="*/ 5 h 37"/>
                  <a:gd name="T44" fmla="*/ 2 w 25"/>
                  <a:gd name="T45" fmla="*/ 5 h 37"/>
                  <a:gd name="T46" fmla="*/ 1 w 25"/>
                  <a:gd name="T47" fmla="*/ 5 h 37"/>
                  <a:gd name="T48" fmla="*/ 1 w 25"/>
                  <a:gd name="T49" fmla="*/ 3 h 3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5"/>
                  <a:gd name="T76" fmla="*/ 0 h 37"/>
                  <a:gd name="T77" fmla="*/ 25 w 25"/>
                  <a:gd name="T78" fmla="*/ 37 h 3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5" h="37">
                    <a:moveTo>
                      <a:pt x="1" y="3"/>
                    </a:moveTo>
                    <a:lnTo>
                      <a:pt x="3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7" y="1"/>
                    </a:lnTo>
                    <a:lnTo>
                      <a:pt x="8" y="0"/>
                    </a:lnTo>
                    <a:lnTo>
                      <a:pt x="19" y="0"/>
                    </a:lnTo>
                    <a:lnTo>
                      <a:pt x="19" y="30"/>
                    </a:lnTo>
                    <a:lnTo>
                      <a:pt x="20" y="32"/>
                    </a:lnTo>
                    <a:lnTo>
                      <a:pt x="21" y="33"/>
                    </a:lnTo>
                    <a:lnTo>
                      <a:pt x="23" y="34"/>
                    </a:lnTo>
                    <a:lnTo>
                      <a:pt x="24" y="34"/>
                    </a:lnTo>
                    <a:lnTo>
                      <a:pt x="24" y="36"/>
                    </a:lnTo>
                    <a:lnTo>
                      <a:pt x="0" y="36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4" y="33"/>
                    </a:lnTo>
                    <a:lnTo>
                      <a:pt x="5" y="32"/>
                    </a:lnTo>
                    <a:lnTo>
                      <a:pt x="5" y="30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1" y="3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392" name="Group 51"/>
            <p:cNvGrpSpPr>
              <a:grpSpLocks/>
            </p:cNvGrpSpPr>
            <p:nvPr/>
          </p:nvGrpSpPr>
          <p:grpSpPr bwMode="auto">
            <a:xfrm>
              <a:off x="850" y="2123"/>
              <a:ext cx="74" cy="69"/>
              <a:chOff x="850" y="2123"/>
              <a:chExt cx="74" cy="69"/>
            </a:xfrm>
          </p:grpSpPr>
          <p:sp>
            <p:nvSpPr>
              <p:cNvPr id="100792" name="Freeform 52"/>
              <p:cNvSpPr>
                <a:spLocks/>
              </p:cNvSpPr>
              <p:nvPr/>
            </p:nvSpPr>
            <p:spPr bwMode="auto">
              <a:xfrm>
                <a:off x="850" y="2129"/>
                <a:ext cx="28" cy="63"/>
              </a:xfrm>
              <a:custGeom>
                <a:avLst/>
                <a:gdLst>
                  <a:gd name="T0" fmla="*/ 24 w 28"/>
                  <a:gd name="T1" fmla="*/ 26 h 63"/>
                  <a:gd name="T2" fmla="*/ 26 w 28"/>
                  <a:gd name="T3" fmla="*/ 22 h 63"/>
                  <a:gd name="T4" fmla="*/ 27 w 28"/>
                  <a:gd name="T5" fmla="*/ 18 h 63"/>
                  <a:gd name="T6" fmla="*/ 27 w 28"/>
                  <a:gd name="T7" fmla="*/ 12 h 63"/>
                  <a:gd name="T8" fmla="*/ 26 w 28"/>
                  <a:gd name="T9" fmla="*/ 6 h 63"/>
                  <a:gd name="T10" fmla="*/ 24 w 28"/>
                  <a:gd name="T11" fmla="*/ 0 h 63"/>
                  <a:gd name="T12" fmla="*/ 20 w 28"/>
                  <a:gd name="T13" fmla="*/ 6 h 63"/>
                  <a:gd name="T14" fmla="*/ 19 w 28"/>
                  <a:gd name="T15" fmla="*/ 10 h 63"/>
                  <a:gd name="T16" fmla="*/ 18 w 28"/>
                  <a:gd name="T17" fmla="*/ 16 h 63"/>
                  <a:gd name="T18" fmla="*/ 18 w 28"/>
                  <a:gd name="T19" fmla="*/ 22 h 63"/>
                  <a:gd name="T20" fmla="*/ 19 w 28"/>
                  <a:gd name="T21" fmla="*/ 27 h 63"/>
                  <a:gd name="T22" fmla="*/ 20 w 28"/>
                  <a:gd name="T23" fmla="*/ 29 h 63"/>
                  <a:gd name="T24" fmla="*/ 18 w 28"/>
                  <a:gd name="T25" fmla="*/ 27 h 63"/>
                  <a:gd name="T26" fmla="*/ 15 w 28"/>
                  <a:gd name="T27" fmla="*/ 23 h 63"/>
                  <a:gd name="T28" fmla="*/ 11 w 28"/>
                  <a:gd name="T29" fmla="*/ 21 h 63"/>
                  <a:gd name="T30" fmla="*/ 8 w 28"/>
                  <a:gd name="T31" fmla="*/ 19 h 63"/>
                  <a:gd name="T32" fmla="*/ 3 w 28"/>
                  <a:gd name="T33" fmla="*/ 18 h 63"/>
                  <a:gd name="T34" fmla="*/ 0 w 28"/>
                  <a:gd name="T35" fmla="*/ 18 h 63"/>
                  <a:gd name="T36" fmla="*/ 2 w 28"/>
                  <a:gd name="T37" fmla="*/ 22 h 63"/>
                  <a:gd name="T38" fmla="*/ 3 w 28"/>
                  <a:gd name="T39" fmla="*/ 26 h 63"/>
                  <a:gd name="T40" fmla="*/ 7 w 28"/>
                  <a:gd name="T41" fmla="*/ 30 h 63"/>
                  <a:gd name="T42" fmla="*/ 10 w 28"/>
                  <a:gd name="T43" fmla="*/ 32 h 63"/>
                  <a:gd name="T44" fmla="*/ 15 w 28"/>
                  <a:gd name="T45" fmla="*/ 34 h 63"/>
                  <a:gd name="T46" fmla="*/ 19 w 28"/>
                  <a:gd name="T47" fmla="*/ 34 h 63"/>
                  <a:gd name="T48" fmla="*/ 14 w 28"/>
                  <a:gd name="T49" fmla="*/ 37 h 63"/>
                  <a:gd name="T50" fmla="*/ 10 w 28"/>
                  <a:gd name="T51" fmla="*/ 39 h 63"/>
                  <a:gd name="T52" fmla="*/ 9 w 28"/>
                  <a:gd name="T53" fmla="*/ 42 h 63"/>
                  <a:gd name="T54" fmla="*/ 7 w 28"/>
                  <a:gd name="T55" fmla="*/ 45 h 63"/>
                  <a:gd name="T56" fmla="*/ 7 w 28"/>
                  <a:gd name="T57" fmla="*/ 48 h 63"/>
                  <a:gd name="T58" fmla="*/ 6 w 28"/>
                  <a:gd name="T59" fmla="*/ 52 h 63"/>
                  <a:gd name="T60" fmla="*/ 12 w 28"/>
                  <a:gd name="T61" fmla="*/ 50 h 63"/>
                  <a:gd name="T62" fmla="*/ 16 w 28"/>
                  <a:gd name="T63" fmla="*/ 48 h 63"/>
                  <a:gd name="T64" fmla="*/ 18 w 28"/>
                  <a:gd name="T65" fmla="*/ 45 h 63"/>
                  <a:gd name="T66" fmla="*/ 20 w 28"/>
                  <a:gd name="T67" fmla="*/ 39 h 63"/>
                  <a:gd name="T68" fmla="*/ 18 w 28"/>
                  <a:gd name="T69" fmla="*/ 44 h 63"/>
                  <a:gd name="T70" fmla="*/ 17 w 28"/>
                  <a:gd name="T71" fmla="*/ 50 h 63"/>
                  <a:gd name="T72" fmla="*/ 17 w 28"/>
                  <a:gd name="T73" fmla="*/ 53 h 63"/>
                  <a:gd name="T74" fmla="*/ 17 w 28"/>
                  <a:gd name="T75" fmla="*/ 58 h 63"/>
                  <a:gd name="T76" fmla="*/ 17 w 28"/>
                  <a:gd name="T77" fmla="*/ 62 h 63"/>
                  <a:gd name="T78" fmla="*/ 23 w 28"/>
                  <a:gd name="T79" fmla="*/ 57 h 63"/>
                  <a:gd name="T80" fmla="*/ 25 w 28"/>
                  <a:gd name="T81" fmla="*/ 51 h 63"/>
                  <a:gd name="T82" fmla="*/ 26 w 28"/>
                  <a:gd name="T83" fmla="*/ 45 h 63"/>
                  <a:gd name="T84" fmla="*/ 25 w 28"/>
                  <a:gd name="T85" fmla="*/ 38 h 63"/>
                  <a:gd name="T86" fmla="*/ 25 w 28"/>
                  <a:gd name="T87" fmla="*/ 33 h 63"/>
                  <a:gd name="T88" fmla="*/ 24 w 28"/>
                  <a:gd name="T89" fmla="*/ 30 h 63"/>
                  <a:gd name="T90" fmla="*/ 24 w 28"/>
                  <a:gd name="T91" fmla="*/ 26 h 6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8"/>
                  <a:gd name="T139" fmla="*/ 0 h 63"/>
                  <a:gd name="T140" fmla="*/ 28 w 28"/>
                  <a:gd name="T141" fmla="*/ 63 h 6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8" h="63">
                    <a:moveTo>
                      <a:pt x="24" y="26"/>
                    </a:moveTo>
                    <a:lnTo>
                      <a:pt x="26" y="22"/>
                    </a:lnTo>
                    <a:lnTo>
                      <a:pt x="27" y="18"/>
                    </a:lnTo>
                    <a:lnTo>
                      <a:pt x="27" y="12"/>
                    </a:lnTo>
                    <a:lnTo>
                      <a:pt x="26" y="6"/>
                    </a:lnTo>
                    <a:lnTo>
                      <a:pt x="24" y="0"/>
                    </a:lnTo>
                    <a:lnTo>
                      <a:pt x="20" y="6"/>
                    </a:lnTo>
                    <a:lnTo>
                      <a:pt x="19" y="10"/>
                    </a:lnTo>
                    <a:lnTo>
                      <a:pt x="18" y="16"/>
                    </a:lnTo>
                    <a:lnTo>
                      <a:pt x="18" y="22"/>
                    </a:lnTo>
                    <a:lnTo>
                      <a:pt x="19" y="27"/>
                    </a:lnTo>
                    <a:lnTo>
                      <a:pt x="20" y="29"/>
                    </a:lnTo>
                    <a:lnTo>
                      <a:pt x="18" y="27"/>
                    </a:lnTo>
                    <a:lnTo>
                      <a:pt x="15" y="23"/>
                    </a:lnTo>
                    <a:lnTo>
                      <a:pt x="11" y="21"/>
                    </a:lnTo>
                    <a:lnTo>
                      <a:pt x="8" y="19"/>
                    </a:lnTo>
                    <a:lnTo>
                      <a:pt x="3" y="18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3" y="26"/>
                    </a:lnTo>
                    <a:lnTo>
                      <a:pt x="7" y="30"/>
                    </a:lnTo>
                    <a:lnTo>
                      <a:pt x="10" y="32"/>
                    </a:lnTo>
                    <a:lnTo>
                      <a:pt x="15" y="34"/>
                    </a:lnTo>
                    <a:lnTo>
                      <a:pt x="19" y="34"/>
                    </a:lnTo>
                    <a:lnTo>
                      <a:pt x="14" y="37"/>
                    </a:lnTo>
                    <a:lnTo>
                      <a:pt x="10" y="39"/>
                    </a:lnTo>
                    <a:lnTo>
                      <a:pt x="9" y="42"/>
                    </a:lnTo>
                    <a:lnTo>
                      <a:pt x="7" y="45"/>
                    </a:lnTo>
                    <a:lnTo>
                      <a:pt x="7" y="48"/>
                    </a:lnTo>
                    <a:lnTo>
                      <a:pt x="6" y="52"/>
                    </a:lnTo>
                    <a:lnTo>
                      <a:pt x="12" y="50"/>
                    </a:lnTo>
                    <a:lnTo>
                      <a:pt x="16" y="48"/>
                    </a:lnTo>
                    <a:lnTo>
                      <a:pt x="18" y="45"/>
                    </a:lnTo>
                    <a:lnTo>
                      <a:pt x="20" y="39"/>
                    </a:lnTo>
                    <a:lnTo>
                      <a:pt x="18" y="44"/>
                    </a:lnTo>
                    <a:lnTo>
                      <a:pt x="17" y="50"/>
                    </a:lnTo>
                    <a:lnTo>
                      <a:pt x="17" y="53"/>
                    </a:lnTo>
                    <a:lnTo>
                      <a:pt x="17" y="58"/>
                    </a:lnTo>
                    <a:lnTo>
                      <a:pt x="17" y="62"/>
                    </a:lnTo>
                    <a:lnTo>
                      <a:pt x="23" y="57"/>
                    </a:lnTo>
                    <a:lnTo>
                      <a:pt x="25" y="51"/>
                    </a:lnTo>
                    <a:lnTo>
                      <a:pt x="26" y="45"/>
                    </a:lnTo>
                    <a:lnTo>
                      <a:pt x="25" y="38"/>
                    </a:lnTo>
                    <a:lnTo>
                      <a:pt x="25" y="33"/>
                    </a:lnTo>
                    <a:lnTo>
                      <a:pt x="24" y="30"/>
                    </a:lnTo>
                    <a:lnTo>
                      <a:pt x="24" y="26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93" name="Freeform 53"/>
              <p:cNvSpPr>
                <a:spLocks/>
              </p:cNvSpPr>
              <p:nvPr/>
            </p:nvSpPr>
            <p:spPr bwMode="auto">
              <a:xfrm>
                <a:off x="903" y="2123"/>
                <a:ext cx="21" cy="29"/>
              </a:xfrm>
              <a:custGeom>
                <a:avLst/>
                <a:gdLst>
                  <a:gd name="T0" fmla="*/ 12 w 21"/>
                  <a:gd name="T1" fmla="*/ 25 h 29"/>
                  <a:gd name="T2" fmla="*/ 15 w 21"/>
                  <a:gd name="T3" fmla="*/ 23 h 29"/>
                  <a:gd name="T4" fmla="*/ 17 w 21"/>
                  <a:gd name="T5" fmla="*/ 20 h 29"/>
                  <a:gd name="T6" fmla="*/ 19 w 21"/>
                  <a:gd name="T7" fmla="*/ 17 h 29"/>
                  <a:gd name="T8" fmla="*/ 19 w 21"/>
                  <a:gd name="T9" fmla="*/ 14 h 29"/>
                  <a:gd name="T10" fmla="*/ 20 w 21"/>
                  <a:gd name="T11" fmla="*/ 10 h 29"/>
                  <a:gd name="T12" fmla="*/ 14 w 21"/>
                  <a:gd name="T13" fmla="*/ 12 h 29"/>
                  <a:gd name="T14" fmla="*/ 10 w 21"/>
                  <a:gd name="T15" fmla="*/ 15 h 29"/>
                  <a:gd name="T16" fmla="*/ 8 w 21"/>
                  <a:gd name="T17" fmla="*/ 17 h 29"/>
                  <a:gd name="T18" fmla="*/ 5 w 21"/>
                  <a:gd name="T19" fmla="*/ 23 h 29"/>
                  <a:gd name="T20" fmla="*/ 8 w 21"/>
                  <a:gd name="T21" fmla="*/ 18 h 29"/>
                  <a:gd name="T22" fmla="*/ 9 w 21"/>
                  <a:gd name="T23" fmla="*/ 12 h 29"/>
                  <a:gd name="T24" fmla="*/ 9 w 21"/>
                  <a:gd name="T25" fmla="*/ 9 h 29"/>
                  <a:gd name="T26" fmla="*/ 8 w 21"/>
                  <a:gd name="T27" fmla="*/ 4 h 29"/>
                  <a:gd name="T28" fmla="*/ 8 w 21"/>
                  <a:gd name="T29" fmla="*/ 0 h 29"/>
                  <a:gd name="T30" fmla="*/ 3 w 21"/>
                  <a:gd name="T31" fmla="*/ 5 h 29"/>
                  <a:gd name="T32" fmla="*/ 1 w 21"/>
                  <a:gd name="T33" fmla="*/ 11 h 29"/>
                  <a:gd name="T34" fmla="*/ 0 w 21"/>
                  <a:gd name="T35" fmla="*/ 17 h 29"/>
                  <a:gd name="T36" fmla="*/ 0 w 21"/>
                  <a:gd name="T37" fmla="*/ 28 h 29"/>
                  <a:gd name="T38" fmla="*/ 6 w 21"/>
                  <a:gd name="T39" fmla="*/ 28 h 29"/>
                  <a:gd name="T40" fmla="*/ 12 w 21"/>
                  <a:gd name="T41" fmla="*/ 25 h 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1"/>
                  <a:gd name="T64" fmla="*/ 0 h 29"/>
                  <a:gd name="T65" fmla="*/ 21 w 21"/>
                  <a:gd name="T66" fmla="*/ 29 h 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1" h="29">
                    <a:moveTo>
                      <a:pt x="12" y="25"/>
                    </a:moveTo>
                    <a:lnTo>
                      <a:pt x="15" y="23"/>
                    </a:lnTo>
                    <a:lnTo>
                      <a:pt x="17" y="20"/>
                    </a:lnTo>
                    <a:lnTo>
                      <a:pt x="19" y="17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4" y="12"/>
                    </a:lnTo>
                    <a:lnTo>
                      <a:pt x="10" y="15"/>
                    </a:lnTo>
                    <a:lnTo>
                      <a:pt x="8" y="17"/>
                    </a:lnTo>
                    <a:lnTo>
                      <a:pt x="5" y="23"/>
                    </a:lnTo>
                    <a:lnTo>
                      <a:pt x="8" y="18"/>
                    </a:lnTo>
                    <a:lnTo>
                      <a:pt x="9" y="12"/>
                    </a:lnTo>
                    <a:lnTo>
                      <a:pt x="9" y="9"/>
                    </a:lnTo>
                    <a:lnTo>
                      <a:pt x="8" y="4"/>
                    </a:lnTo>
                    <a:lnTo>
                      <a:pt x="8" y="0"/>
                    </a:lnTo>
                    <a:lnTo>
                      <a:pt x="3" y="5"/>
                    </a:lnTo>
                    <a:lnTo>
                      <a:pt x="1" y="11"/>
                    </a:lnTo>
                    <a:lnTo>
                      <a:pt x="0" y="17"/>
                    </a:lnTo>
                    <a:lnTo>
                      <a:pt x="0" y="28"/>
                    </a:lnTo>
                    <a:lnTo>
                      <a:pt x="6" y="28"/>
                    </a:lnTo>
                    <a:lnTo>
                      <a:pt x="12" y="2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94" name="Oval 54"/>
              <p:cNvSpPr>
                <a:spLocks noChangeArrowheads="1"/>
              </p:cNvSpPr>
              <p:nvPr/>
            </p:nvSpPr>
            <p:spPr bwMode="auto">
              <a:xfrm>
                <a:off x="877" y="2133"/>
                <a:ext cx="27" cy="48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95" name="Freeform 55"/>
              <p:cNvSpPr>
                <a:spLocks/>
              </p:cNvSpPr>
              <p:nvPr/>
            </p:nvSpPr>
            <p:spPr bwMode="auto">
              <a:xfrm>
                <a:off x="883" y="2140"/>
                <a:ext cx="25" cy="37"/>
              </a:xfrm>
              <a:custGeom>
                <a:avLst/>
                <a:gdLst>
                  <a:gd name="T0" fmla="*/ 1 w 25"/>
                  <a:gd name="T1" fmla="*/ 3 h 37"/>
                  <a:gd name="T2" fmla="*/ 3 w 25"/>
                  <a:gd name="T3" fmla="*/ 3 h 37"/>
                  <a:gd name="T4" fmla="*/ 5 w 25"/>
                  <a:gd name="T5" fmla="*/ 3 h 37"/>
                  <a:gd name="T6" fmla="*/ 6 w 25"/>
                  <a:gd name="T7" fmla="*/ 2 h 37"/>
                  <a:gd name="T8" fmla="*/ 7 w 25"/>
                  <a:gd name="T9" fmla="*/ 1 h 37"/>
                  <a:gd name="T10" fmla="*/ 8 w 25"/>
                  <a:gd name="T11" fmla="*/ 0 h 37"/>
                  <a:gd name="T12" fmla="*/ 19 w 25"/>
                  <a:gd name="T13" fmla="*/ 0 h 37"/>
                  <a:gd name="T14" fmla="*/ 19 w 25"/>
                  <a:gd name="T15" fmla="*/ 30 h 37"/>
                  <a:gd name="T16" fmla="*/ 20 w 25"/>
                  <a:gd name="T17" fmla="*/ 32 h 37"/>
                  <a:gd name="T18" fmla="*/ 20 w 25"/>
                  <a:gd name="T19" fmla="*/ 33 h 37"/>
                  <a:gd name="T20" fmla="*/ 22 w 25"/>
                  <a:gd name="T21" fmla="*/ 34 h 37"/>
                  <a:gd name="T22" fmla="*/ 24 w 25"/>
                  <a:gd name="T23" fmla="*/ 34 h 37"/>
                  <a:gd name="T24" fmla="*/ 24 w 25"/>
                  <a:gd name="T25" fmla="*/ 36 h 37"/>
                  <a:gd name="T26" fmla="*/ 0 w 25"/>
                  <a:gd name="T27" fmla="*/ 36 h 37"/>
                  <a:gd name="T28" fmla="*/ 0 w 25"/>
                  <a:gd name="T29" fmla="*/ 34 h 37"/>
                  <a:gd name="T30" fmla="*/ 2 w 25"/>
                  <a:gd name="T31" fmla="*/ 34 h 37"/>
                  <a:gd name="T32" fmla="*/ 4 w 25"/>
                  <a:gd name="T33" fmla="*/ 33 h 37"/>
                  <a:gd name="T34" fmla="*/ 5 w 25"/>
                  <a:gd name="T35" fmla="*/ 32 h 37"/>
                  <a:gd name="T36" fmla="*/ 5 w 25"/>
                  <a:gd name="T37" fmla="*/ 30 h 37"/>
                  <a:gd name="T38" fmla="*/ 5 w 25"/>
                  <a:gd name="T39" fmla="*/ 7 h 37"/>
                  <a:gd name="T40" fmla="*/ 5 w 25"/>
                  <a:gd name="T41" fmla="*/ 6 h 37"/>
                  <a:gd name="T42" fmla="*/ 4 w 25"/>
                  <a:gd name="T43" fmla="*/ 5 h 37"/>
                  <a:gd name="T44" fmla="*/ 2 w 25"/>
                  <a:gd name="T45" fmla="*/ 5 h 37"/>
                  <a:gd name="T46" fmla="*/ 1 w 25"/>
                  <a:gd name="T47" fmla="*/ 5 h 37"/>
                  <a:gd name="T48" fmla="*/ 1 w 25"/>
                  <a:gd name="T49" fmla="*/ 3 h 3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5"/>
                  <a:gd name="T76" fmla="*/ 0 h 37"/>
                  <a:gd name="T77" fmla="*/ 25 w 25"/>
                  <a:gd name="T78" fmla="*/ 37 h 3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5" h="37">
                    <a:moveTo>
                      <a:pt x="1" y="3"/>
                    </a:moveTo>
                    <a:lnTo>
                      <a:pt x="3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7" y="1"/>
                    </a:lnTo>
                    <a:lnTo>
                      <a:pt x="8" y="0"/>
                    </a:lnTo>
                    <a:lnTo>
                      <a:pt x="19" y="0"/>
                    </a:lnTo>
                    <a:lnTo>
                      <a:pt x="19" y="30"/>
                    </a:lnTo>
                    <a:lnTo>
                      <a:pt x="20" y="32"/>
                    </a:lnTo>
                    <a:lnTo>
                      <a:pt x="20" y="33"/>
                    </a:lnTo>
                    <a:lnTo>
                      <a:pt x="22" y="34"/>
                    </a:lnTo>
                    <a:lnTo>
                      <a:pt x="24" y="34"/>
                    </a:lnTo>
                    <a:lnTo>
                      <a:pt x="24" y="36"/>
                    </a:lnTo>
                    <a:lnTo>
                      <a:pt x="0" y="36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4" y="33"/>
                    </a:lnTo>
                    <a:lnTo>
                      <a:pt x="5" y="32"/>
                    </a:lnTo>
                    <a:lnTo>
                      <a:pt x="5" y="30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1" y="3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393" name="Oval 56"/>
            <p:cNvSpPr>
              <a:spLocks noChangeArrowheads="1"/>
            </p:cNvSpPr>
            <p:nvPr/>
          </p:nvSpPr>
          <p:spPr bwMode="auto">
            <a:xfrm>
              <a:off x="498" y="2253"/>
              <a:ext cx="25" cy="32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94" name="Oval 57"/>
            <p:cNvSpPr>
              <a:spLocks noChangeArrowheads="1"/>
            </p:cNvSpPr>
            <p:nvPr/>
          </p:nvSpPr>
          <p:spPr bwMode="auto">
            <a:xfrm>
              <a:off x="503" y="2258"/>
              <a:ext cx="16" cy="22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95" name="Freeform 58"/>
            <p:cNvSpPr>
              <a:spLocks/>
            </p:cNvSpPr>
            <p:nvPr/>
          </p:nvSpPr>
          <p:spPr bwMode="auto">
            <a:xfrm>
              <a:off x="507" y="2261"/>
              <a:ext cx="16" cy="24"/>
            </a:xfrm>
            <a:custGeom>
              <a:avLst/>
              <a:gdLst>
                <a:gd name="T0" fmla="*/ 1 w 16"/>
                <a:gd name="T1" fmla="*/ 3 h 24"/>
                <a:gd name="T2" fmla="*/ 2 w 16"/>
                <a:gd name="T3" fmla="*/ 3 h 24"/>
                <a:gd name="T4" fmla="*/ 3 w 16"/>
                <a:gd name="T5" fmla="*/ 2 h 24"/>
                <a:gd name="T6" fmla="*/ 4 w 16"/>
                <a:gd name="T7" fmla="*/ 2 h 24"/>
                <a:gd name="T8" fmla="*/ 4 w 16"/>
                <a:gd name="T9" fmla="*/ 1 h 24"/>
                <a:gd name="T10" fmla="*/ 5 w 16"/>
                <a:gd name="T11" fmla="*/ 0 h 24"/>
                <a:gd name="T12" fmla="*/ 12 w 16"/>
                <a:gd name="T13" fmla="*/ 0 h 24"/>
                <a:gd name="T14" fmla="*/ 12 w 16"/>
                <a:gd name="T15" fmla="*/ 20 h 24"/>
                <a:gd name="T16" fmla="*/ 12 w 16"/>
                <a:gd name="T17" fmla="*/ 21 h 24"/>
                <a:gd name="T18" fmla="*/ 13 w 16"/>
                <a:gd name="T19" fmla="*/ 22 h 24"/>
                <a:gd name="T20" fmla="*/ 14 w 16"/>
                <a:gd name="T21" fmla="*/ 22 h 24"/>
                <a:gd name="T22" fmla="*/ 15 w 16"/>
                <a:gd name="T23" fmla="*/ 22 h 24"/>
                <a:gd name="T24" fmla="*/ 15 w 16"/>
                <a:gd name="T25" fmla="*/ 23 h 24"/>
                <a:gd name="T26" fmla="*/ 0 w 16"/>
                <a:gd name="T27" fmla="*/ 23 h 24"/>
                <a:gd name="T28" fmla="*/ 0 w 16"/>
                <a:gd name="T29" fmla="*/ 22 h 24"/>
                <a:gd name="T30" fmla="*/ 1 w 16"/>
                <a:gd name="T31" fmla="*/ 22 h 24"/>
                <a:gd name="T32" fmla="*/ 2 w 16"/>
                <a:gd name="T33" fmla="*/ 22 h 24"/>
                <a:gd name="T34" fmla="*/ 3 w 16"/>
                <a:gd name="T35" fmla="*/ 21 h 24"/>
                <a:gd name="T36" fmla="*/ 3 w 16"/>
                <a:gd name="T37" fmla="*/ 20 h 24"/>
                <a:gd name="T38" fmla="*/ 3 w 16"/>
                <a:gd name="T39" fmla="*/ 5 h 24"/>
                <a:gd name="T40" fmla="*/ 2 w 16"/>
                <a:gd name="T41" fmla="*/ 4 h 24"/>
                <a:gd name="T42" fmla="*/ 1 w 16"/>
                <a:gd name="T43" fmla="*/ 4 h 24"/>
                <a:gd name="T44" fmla="*/ 1 w 16"/>
                <a:gd name="T45" fmla="*/ 3 h 2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6"/>
                <a:gd name="T70" fmla="*/ 0 h 24"/>
                <a:gd name="T71" fmla="*/ 16 w 16"/>
                <a:gd name="T72" fmla="*/ 24 h 2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6" h="24">
                  <a:moveTo>
                    <a:pt x="1" y="3"/>
                  </a:moveTo>
                  <a:lnTo>
                    <a:pt x="2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12" y="0"/>
                  </a:lnTo>
                  <a:lnTo>
                    <a:pt x="12" y="20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2" y="22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3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396" name="Oval 59"/>
            <p:cNvSpPr>
              <a:spLocks noChangeArrowheads="1"/>
            </p:cNvSpPr>
            <p:nvPr/>
          </p:nvSpPr>
          <p:spPr bwMode="auto">
            <a:xfrm>
              <a:off x="888" y="2254"/>
              <a:ext cx="25" cy="32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97" name="Oval 60"/>
            <p:cNvSpPr>
              <a:spLocks noChangeArrowheads="1"/>
            </p:cNvSpPr>
            <p:nvPr/>
          </p:nvSpPr>
          <p:spPr bwMode="auto">
            <a:xfrm>
              <a:off x="893" y="2259"/>
              <a:ext cx="15" cy="22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98" name="Freeform 61"/>
            <p:cNvSpPr>
              <a:spLocks/>
            </p:cNvSpPr>
            <p:nvPr/>
          </p:nvSpPr>
          <p:spPr bwMode="auto">
            <a:xfrm>
              <a:off x="897" y="2262"/>
              <a:ext cx="16" cy="24"/>
            </a:xfrm>
            <a:custGeom>
              <a:avLst/>
              <a:gdLst>
                <a:gd name="T0" fmla="*/ 0 w 16"/>
                <a:gd name="T1" fmla="*/ 3 h 24"/>
                <a:gd name="T2" fmla="*/ 1 w 16"/>
                <a:gd name="T3" fmla="*/ 3 h 24"/>
                <a:gd name="T4" fmla="*/ 3 w 16"/>
                <a:gd name="T5" fmla="*/ 2 h 24"/>
                <a:gd name="T6" fmla="*/ 4 w 16"/>
                <a:gd name="T7" fmla="*/ 2 h 24"/>
                <a:gd name="T8" fmla="*/ 4 w 16"/>
                <a:gd name="T9" fmla="*/ 1 h 24"/>
                <a:gd name="T10" fmla="*/ 5 w 16"/>
                <a:gd name="T11" fmla="*/ 0 h 24"/>
                <a:gd name="T12" fmla="*/ 12 w 16"/>
                <a:gd name="T13" fmla="*/ 0 h 24"/>
                <a:gd name="T14" fmla="*/ 12 w 16"/>
                <a:gd name="T15" fmla="*/ 19 h 24"/>
                <a:gd name="T16" fmla="*/ 12 w 16"/>
                <a:gd name="T17" fmla="*/ 21 h 24"/>
                <a:gd name="T18" fmla="*/ 13 w 16"/>
                <a:gd name="T19" fmla="*/ 21 h 24"/>
                <a:gd name="T20" fmla="*/ 14 w 16"/>
                <a:gd name="T21" fmla="*/ 22 h 24"/>
                <a:gd name="T22" fmla="*/ 15 w 16"/>
                <a:gd name="T23" fmla="*/ 22 h 24"/>
                <a:gd name="T24" fmla="*/ 15 w 16"/>
                <a:gd name="T25" fmla="*/ 23 h 24"/>
                <a:gd name="T26" fmla="*/ 0 w 16"/>
                <a:gd name="T27" fmla="*/ 23 h 24"/>
                <a:gd name="T28" fmla="*/ 0 w 16"/>
                <a:gd name="T29" fmla="*/ 22 h 24"/>
                <a:gd name="T30" fmla="*/ 1 w 16"/>
                <a:gd name="T31" fmla="*/ 22 h 24"/>
                <a:gd name="T32" fmla="*/ 2 w 16"/>
                <a:gd name="T33" fmla="*/ 21 h 24"/>
                <a:gd name="T34" fmla="*/ 3 w 16"/>
                <a:gd name="T35" fmla="*/ 21 h 24"/>
                <a:gd name="T36" fmla="*/ 3 w 16"/>
                <a:gd name="T37" fmla="*/ 19 h 24"/>
                <a:gd name="T38" fmla="*/ 3 w 16"/>
                <a:gd name="T39" fmla="*/ 5 h 24"/>
                <a:gd name="T40" fmla="*/ 3 w 16"/>
                <a:gd name="T41" fmla="*/ 4 h 24"/>
                <a:gd name="T42" fmla="*/ 2 w 16"/>
                <a:gd name="T43" fmla="*/ 4 h 24"/>
                <a:gd name="T44" fmla="*/ 1 w 16"/>
                <a:gd name="T45" fmla="*/ 4 h 24"/>
                <a:gd name="T46" fmla="*/ 0 w 16"/>
                <a:gd name="T47" fmla="*/ 4 h 24"/>
                <a:gd name="T48" fmla="*/ 0 w 16"/>
                <a:gd name="T49" fmla="*/ 3 h 2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6"/>
                <a:gd name="T76" fmla="*/ 0 h 24"/>
                <a:gd name="T77" fmla="*/ 16 w 16"/>
                <a:gd name="T78" fmla="*/ 24 h 2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6" h="24">
                  <a:moveTo>
                    <a:pt x="0" y="3"/>
                  </a:move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12" y="0"/>
                  </a:lnTo>
                  <a:lnTo>
                    <a:pt x="12" y="19"/>
                  </a:lnTo>
                  <a:lnTo>
                    <a:pt x="12" y="21"/>
                  </a:lnTo>
                  <a:lnTo>
                    <a:pt x="13" y="21"/>
                  </a:lnTo>
                  <a:lnTo>
                    <a:pt x="14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5"/>
                  </a:lnTo>
                  <a:lnTo>
                    <a:pt x="3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3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0399" name="Group 62"/>
            <p:cNvGrpSpPr>
              <a:grpSpLocks/>
            </p:cNvGrpSpPr>
            <p:nvPr/>
          </p:nvGrpSpPr>
          <p:grpSpPr bwMode="auto">
            <a:xfrm>
              <a:off x="577" y="2190"/>
              <a:ext cx="34" cy="33"/>
              <a:chOff x="577" y="2190"/>
              <a:chExt cx="34" cy="33"/>
            </a:xfrm>
          </p:grpSpPr>
          <p:sp>
            <p:nvSpPr>
              <p:cNvPr id="100790" name="Oval 63"/>
              <p:cNvSpPr>
                <a:spLocks noChangeArrowheads="1"/>
              </p:cNvSpPr>
              <p:nvPr/>
            </p:nvSpPr>
            <p:spPr bwMode="auto">
              <a:xfrm>
                <a:off x="577" y="2190"/>
                <a:ext cx="34" cy="33"/>
              </a:xfrm>
              <a:prstGeom prst="ellipse">
                <a:avLst/>
              </a:prstGeom>
              <a:solidFill>
                <a:srgbClr val="3F5F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91" name="Oval 64"/>
              <p:cNvSpPr>
                <a:spLocks noChangeArrowheads="1"/>
              </p:cNvSpPr>
              <p:nvPr/>
            </p:nvSpPr>
            <p:spPr bwMode="auto">
              <a:xfrm>
                <a:off x="589" y="2201"/>
                <a:ext cx="10" cy="10"/>
              </a:xfrm>
              <a:prstGeom prst="ellipse">
                <a:avLst/>
              </a:prstGeom>
              <a:solidFill>
                <a:srgbClr val="9FFF9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00" name="Group 65"/>
            <p:cNvGrpSpPr>
              <a:grpSpLocks/>
            </p:cNvGrpSpPr>
            <p:nvPr/>
          </p:nvGrpSpPr>
          <p:grpSpPr bwMode="auto">
            <a:xfrm>
              <a:off x="798" y="2195"/>
              <a:ext cx="33" cy="34"/>
              <a:chOff x="798" y="2195"/>
              <a:chExt cx="33" cy="34"/>
            </a:xfrm>
          </p:grpSpPr>
          <p:sp>
            <p:nvSpPr>
              <p:cNvPr id="100788" name="Oval 66"/>
              <p:cNvSpPr>
                <a:spLocks noChangeArrowheads="1"/>
              </p:cNvSpPr>
              <p:nvPr/>
            </p:nvSpPr>
            <p:spPr bwMode="auto">
              <a:xfrm>
                <a:off x="798" y="2195"/>
                <a:ext cx="33" cy="34"/>
              </a:xfrm>
              <a:prstGeom prst="ellipse">
                <a:avLst/>
              </a:prstGeom>
              <a:solidFill>
                <a:srgbClr val="0080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89" name="Oval 67"/>
              <p:cNvSpPr>
                <a:spLocks noChangeArrowheads="1"/>
              </p:cNvSpPr>
              <p:nvPr/>
            </p:nvSpPr>
            <p:spPr bwMode="auto">
              <a:xfrm>
                <a:off x="810" y="2207"/>
                <a:ext cx="9" cy="10"/>
              </a:xfrm>
              <a:prstGeom prst="ellipse">
                <a:avLst/>
              </a:prstGeom>
              <a:solidFill>
                <a:srgbClr val="BFFFB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01" name="Group 68"/>
            <p:cNvGrpSpPr>
              <a:grpSpLocks/>
            </p:cNvGrpSpPr>
            <p:nvPr/>
          </p:nvGrpSpPr>
          <p:grpSpPr bwMode="auto">
            <a:xfrm>
              <a:off x="625" y="2277"/>
              <a:ext cx="158" cy="11"/>
              <a:chOff x="625" y="2277"/>
              <a:chExt cx="158" cy="11"/>
            </a:xfrm>
          </p:grpSpPr>
          <p:grpSp>
            <p:nvGrpSpPr>
              <p:cNvPr id="100767" name="Group 69"/>
              <p:cNvGrpSpPr>
                <a:grpSpLocks/>
              </p:cNvGrpSpPr>
              <p:nvPr/>
            </p:nvGrpSpPr>
            <p:grpSpPr bwMode="auto">
              <a:xfrm>
                <a:off x="773" y="2277"/>
                <a:ext cx="10" cy="11"/>
                <a:chOff x="773" y="2277"/>
                <a:chExt cx="10" cy="11"/>
              </a:xfrm>
            </p:grpSpPr>
            <p:sp>
              <p:nvSpPr>
                <p:cNvPr id="100786" name="Freeform 70"/>
                <p:cNvSpPr>
                  <a:spLocks/>
                </p:cNvSpPr>
                <p:nvPr/>
              </p:nvSpPr>
              <p:spPr bwMode="auto">
                <a:xfrm>
                  <a:off x="773" y="2278"/>
                  <a:ext cx="10" cy="10"/>
                </a:xfrm>
                <a:custGeom>
                  <a:avLst/>
                  <a:gdLst>
                    <a:gd name="T0" fmla="*/ 0 w 10"/>
                    <a:gd name="T1" fmla="*/ 0 h 10"/>
                    <a:gd name="T2" fmla="*/ 6 w 10"/>
                    <a:gd name="T3" fmla="*/ 0 h 10"/>
                    <a:gd name="T4" fmla="*/ 7 w 10"/>
                    <a:gd name="T5" fmla="*/ 1 h 10"/>
                    <a:gd name="T6" fmla="*/ 8 w 10"/>
                    <a:gd name="T7" fmla="*/ 2 h 10"/>
                    <a:gd name="T8" fmla="*/ 8 w 10"/>
                    <a:gd name="T9" fmla="*/ 3 h 10"/>
                    <a:gd name="T10" fmla="*/ 7 w 10"/>
                    <a:gd name="T11" fmla="*/ 4 h 10"/>
                    <a:gd name="T12" fmla="*/ 7 w 10"/>
                    <a:gd name="T13" fmla="*/ 5 h 10"/>
                    <a:gd name="T14" fmla="*/ 6 w 10"/>
                    <a:gd name="T15" fmla="*/ 5 h 10"/>
                    <a:gd name="T16" fmla="*/ 7 w 10"/>
                    <a:gd name="T17" fmla="*/ 5 h 10"/>
                    <a:gd name="T18" fmla="*/ 7 w 10"/>
                    <a:gd name="T19" fmla="*/ 6 h 10"/>
                    <a:gd name="T20" fmla="*/ 8 w 10"/>
                    <a:gd name="T21" fmla="*/ 7 h 10"/>
                    <a:gd name="T22" fmla="*/ 8 w 10"/>
                    <a:gd name="T23" fmla="*/ 8 h 10"/>
                    <a:gd name="T24" fmla="*/ 9 w 10"/>
                    <a:gd name="T25" fmla="*/ 8 h 10"/>
                    <a:gd name="T26" fmla="*/ 9 w 10"/>
                    <a:gd name="T27" fmla="*/ 9 h 10"/>
                    <a:gd name="T28" fmla="*/ 5 w 10"/>
                    <a:gd name="T29" fmla="*/ 9 h 10"/>
                    <a:gd name="T30" fmla="*/ 5 w 10"/>
                    <a:gd name="T31" fmla="*/ 8 h 10"/>
                    <a:gd name="T32" fmla="*/ 6 w 10"/>
                    <a:gd name="T33" fmla="*/ 8 h 10"/>
                    <a:gd name="T34" fmla="*/ 6 w 10"/>
                    <a:gd name="T35" fmla="*/ 7 h 10"/>
                    <a:gd name="T36" fmla="*/ 5 w 10"/>
                    <a:gd name="T37" fmla="*/ 7 h 10"/>
                    <a:gd name="T38" fmla="*/ 5 w 10"/>
                    <a:gd name="T39" fmla="*/ 6 h 10"/>
                    <a:gd name="T40" fmla="*/ 4 w 10"/>
                    <a:gd name="T41" fmla="*/ 5 h 10"/>
                    <a:gd name="T42" fmla="*/ 4 w 10"/>
                    <a:gd name="T43" fmla="*/ 8 h 10"/>
                    <a:gd name="T44" fmla="*/ 4 w 10"/>
                    <a:gd name="T45" fmla="*/ 9 h 10"/>
                    <a:gd name="T46" fmla="*/ 0 w 10"/>
                    <a:gd name="T47" fmla="*/ 9 h 10"/>
                    <a:gd name="T48" fmla="*/ 0 w 10"/>
                    <a:gd name="T49" fmla="*/ 8 h 10"/>
                    <a:gd name="T50" fmla="*/ 1 w 10"/>
                    <a:gd name="T51" fmla="*/ 8 h 10"/>
                    <a:gd name="T52" fmla="*/ 1 w 10"/>
                    <a:gd name="T53" fmla="*/ 1 h 10"/>
                    <a:gd name="T54" fmla="*/ 0 w 10"/>
                    <a:gd name="T55" fmla="*/ 1 h 10"/>
                    <a:gd name="T56" fmla="*/ 0 w 10"/>
                    <a:gd name="T57" fmla="*/ 0 h 1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10"/>
                    <a:gd name="T88" fmla="*/ 0 h 10"/>
                    <a:gd name="T89" fmla="*/ 10 w 10"/>
                    <a:gd name="T90" fmla="*/ 10 h 10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10" h="10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8" y="2"/>
                      </a:lnTo>
                      <a:lnTo>
                        <a:pt x="8" y="3"/>
                      </a:lnTo>
                      <a:lnTo>
                        <a:pt x="7" y="4"/>
                      </a:lnTo>
                      <a:lnTo>
                        <a:pt x="7" y="5"/>
                      </a:lnTo>
                      <a:lnTo>
                        <a:pt x="6" y="5"/>
                      </a:lnTo>
                      <a:lnTo>
                        <a:pt x="7" y="5"/>
                      </a:lnTo>
                      <a:lnTo>
                        <a:pt x="7" y="6"/>
                      </a:lnTo>
                      <a:lnTo>
                        <a:pt x="8" y="7"/>
                      </a:lnTo>
                      <a:lnTo>
                        <a:pt x="8" y="8"/>
                      </a:lnTo>
                      <a:lnTo>
                        <a:pt x="9" y="8"/>
                      </a:lnTo>
                      <a:lnTo>
                        <a:pt x="9" y="9"/>
                      </a:lnTo>
                      <a:lnTo>
                        <a:pt x="5" y="9"/>
                      </a:lnTo>
                      <a:lnTo>
                        <a:pt x="5" y="8"/>
                      </a:lnTo>
                      <a:lnTo>
                        <a:pt x="6" y="8"/>
                      </a:lnTo>
                      <a:lnTo>
                        <a:pt x="6" y="7"/>
                      </a:lnTo>
                      <a:lnTo>
                        <a:pt x="5" y="7"/>
                      </a:lnTo>
                      <a:lnTo>
                        <a:pt x="5" y="6"/>
                      </a:lnTo>
                      <a:lnTo>
                        <a:pt x="4" y="5"/>
                      </a:lnTo>
                      <a:lnTo>
                        <a:pt x="4" y="8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87" name="Freeform 71"/>
                <p:cNvSpPr>
                  <a:spLocks/>
                </p:cNvSpPr>
                <p:nvPr/>
              </p:nvSpPr>
              <p:spPr bwMode="auto">
                <a:xfrm>
                  <a:off x="775" y="2277"/>
                  <a:ext cx="6" cy="5"/>
                </a:xfrm>
                <a:custGeom>
                  <a:avLst/>
                  <a:gdLst>
                    <a:gd name="T0" fmla="*/ 5 w 6"/>
                    <a:gd name="T1" fmla="*/ 4 h 5"/>
                    <a:gd name="T2" fmla="*/ 5 w 6"/>
                    <a:gd name="T3" fmla="*/ 0 h 5"/>
                    <a:gd name="T4" fmla="*/ 2 w 6"/>
                    <a:gd name="T5" fmla="*/ 0 h 5"/>
                    <a:gd name="T6" fmla="*/ 0 w 6"/>
                    <a:gd name="T7" fmla="*/ 1 h 5"/>
                    <a:gd name="T8" fmla="*/ 0 w 6"/>
                    <a:gd name="T9" fmla="*/ 3 h 5"/>
                    <a:gd name="T10" fmla="*/ 2 w 6"/>
                    <a:gd name="T11" fmla="*/ 4 h 5"/>
                    <a:gd name="T12" fmla="*/ 5 w 6"/>
                    <a:gd name="T13" fmla="*/ 4 h 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"/>
                    <a:gd name="T22" fmla="*/ 0 h 5"/>
                    <a:gd name="T23" fmla="*/ 6 w 6"/>
                    <a:gd name="T24" fmla="*/ 5 h 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" h="5">
                      <a:moveTo>
                        <a:pt x="5" y="4"/>
                      </a:moveTo>
                      <a:lnTo>
                        <a:pt x="5" y="0"/>
                      </a:ln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5" y="4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68" name="Group 72"/>
              <p:cNvGrpSpPr>
                <a:grpSpLocks/>
              </p:cNvGrpSpPr>
              <p:nvPr/>
            </p:nvGrpSpPr>
            <p:grpSpPr bwMode="auto">
              <a:xfrm>
                <a:off x="625" y="2278"/>
                <a:ext cx="10" cy="10"/>
                <a:chOff x="625" y="2278"/>
                <a:chExt cx="10" cy="10"/>
              </a:xfrm>
            </p:grpSpPr>
            <p:sp>
              <p:nvSpPr>
                <p:cNvPr id="100784" name="Freeform 73"/>
                <p:cNvSpPr>
                  <a:spLocks/>
                </p:cNvSpPr>
                <p:nvPr/>
              </p:nvSpPr>
              <p:spPr bwMode="auto">
                <a:xfrm>
                  <a:off x="625" y="2278"/>
                  <a:ext cx="10" cy="10"/>
                </a:xfrm>
                <a:custGeom>
                  <a:avLst/>
                  <a:gdLst>
                    <a:gd name="T0" fmla="*/ 3 w 10"/>
                    <a:gd name="T1" fmla="*/ 0 h 10"/>
                    <a:gd name="T2" fmla="*/ 6 w 10"/>
                    <a:gd name="T3" fmla="*/ 0 h 10"/>
                    <a:gd name="T4" fmla="*/ 7 w 10"/>
                    <a:gd name="T5" fmla="*/ 1 h 10"/>
                    <a:gd name="T6" fmla="*/ 8 w 10"/>
                    <a:gd name="T7" fmla="*/ 1 h 10"/>
                    <a:gd name="T8" fmla="*/ 8 w 10"/>
                    <a:gd name="T9" fmla="*/ 2 h 10"/>
                    <a:gd name="T10" fmla="*/ 9 w 10"/>
                    <a:gd name="T11" fmla="*/ 4 h 10"/>
                    <a:gd name="T12" fmla="*/ 9 w 10"/>
                    <a:gd name="T13" fmla="*/ 5 h 10"/>
                    <a:gd name="T14" fmla="*/ 8 w 10"/>
                    <a:gd name="T15" fmla="*/ 7 h 10"/>
                    <a:gd name="T16" fmla="*/ 8 w 10"/>
                    <a:gd name="T17" fmla="*/ 8 h 10"/>
                    <a:gd name="T18" fmla="*/ 7 w 10"/>
                    <a:gd name="T19" fmla="*/ 9 h 10"/>
                    <a:gd name="T20" fmla="*/ 6 w 10"/>
                    <a:gd name="T21" fmla="*/ 9 h 10"/>
                    <a:gd name="T22" fmla="*/ 3 w 10"/>
                    <a:gd name="T23" fmla="*/ 9 h 10"/>
                    <a:gd name="T24" fmla="*/ 2 w 10"/>
                    <a:gd name="T25" fmla="*/ 9 h 10"/>
                    <a:gd name="T26" fmla="*/ 1 w 10"/>
                    <a:gd name="T27" fmla="*/ 8 h 10"/>
                    <a:gd name="T28" fmla="*/ 1 w 10"/>
                    <a:gd name="T29" fmla="*/ 7 h 10"/>
                    <a:gd name="T30" fmla="*/ 0 w 10"/>
                    <a:gd name="T31" fmla="*/ 6 h 10"/>
                    <a:gd name="T32" fmla="*/ 0 w 10"/>
                    <a:gd name="T33" fmla="*/ 4 h 10"/>
                    <a:gd name="T34" fmla="*/ 1 w 10"/>
                    <a:gd name="T35" fmla="*/ 2 h 10"/>
                    <a:gd name="T36" fmla="*/ 1 w 10"/>
                    <a:gd name="T37" fmla="*/ 1 h 10"/>
                    <a:gd name="T38" fmla="*/ 2 w 10"/>
                    <a:gd name="T39" fmla="*/ 1 h 10"/>
                    <a:gd name="T40" fmla="*/ 3 w 10"/>
                    <a:gd name="T41" fmla="*/ 0 h 1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0"/>
                    <a:gd name="T64" fmla="*/ 0 h 10"/>
                    <a:gd name="T65" fmla="*/ 10 w 10"/>
                    <a:gd name="T66" fmla="*/ 10 h 10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0" h="10">
                      <a:moveTo>
                        <a:pt x="3" y="0"/>
                      </a:move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8" y="2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8" y="7"/>
                      </a:lnTo>
                      <a:lnTo>
                        <a:pt x="8" y="8"/>
                      </a:lnTo>
                      <a:lnTo>
                        <a:pt x="7" y="9"/>
                      </a:lnTo>
                      <a:lnTo>
                        <a:pt x="6" y="9"/>
                      </a:lnTo>
                      <a:lnTo>
                        <a:pt x="3" y="9"/>
                      </a:lnTo>
                      <a:lnTo>
                        <a:pt x="2" y="9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85" name="Freeform 74"/>
                <p:cNvSpPr>
                  <a:spLocks/>
                </p:cNvSpPr>
                <p:nvPr/>
              </p:nvSpPr>
              <p:spPr bwMode="auto">
                <a:xfrm>
                  <a:off x="627" y="2280"/>
                  <a:ext cx="5" cy="7"/>
                </a:xfrm>
                <a:custGeom>
                  <a:avLst/>
                  <a:gdLst>
                    <a:gd name="T0" fmla="*/ 2 w 5"/>
                    <a:gd name="T1" fmla="*/ 0 h 7"/>
                    <a:gd name="T2" fmla="*/ 3 w 5"/>
                    <a:gd name="T3" fmla="*/ 0 h 7"/>
                    <a:gd name="T4" fmla="*/ 4 w 5"/>
                    <a:gd name="T5" fmla="*/ 1 h 7"/>
                    <a:gd name="T6" fmla="*/ 4 w 5"/>
                    <a:gd name="T7" fmla="*/ 5 h 7"/>
                    <a:gd name="T8" fmla="*/ 3 w 5"/>
                    <a:gd name="T9" fmla="*/ 6 h 7"/>
                    <a:gd name="T10" fmla="*/ 2 w 5"/>
                    <a:gd name="T11" fmla="*/ 6 h 7"/>
                    <a:gd name="T12" fmla="*/ 1 w 5"/>
                    <a:gd name="T13" fmla="*/ 6 h 7"/>
                    <a:gd name="T14" fmla="*/ 0 w 5"/>
                    <a:gd name="T15" fmla="*/ 6 h 7"/>
                    <a:gd name="T16" fmla="*/ 0 w 5"/>
                    <a:gd name="T17" fmla="*/ 5 h 7"/>
                    <a:gd name="T18" fmla="*/ 0 w 5"/>
                    <a:gd name="T19" fmla="*/ 1 h 7"/>
                    <a:gd name="T20" fmla="*/ 0 w 5"/>
                    <a:gd name="T21" fmla="*/ 0 h 7"/>
                    <a:gd name="T22" fmla="*/ 1 w 5"/>
                    <a:gd name="T23" fmla="*/ 0 h 7"/>
                    <a:gd name="T24" fmla="*/ 2 w 5"/>
                    <a:gd name="T25" fmla="*/ 0 h 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"/>
                    <a:gd name="T40" fmla="*/ 0 h 7"/>
                    <a:gd name="T41" fmla="*/ 5 w 5"/>
                    <a:gd name="T42" fmla="*/ 7 h 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" h="7">
                      <a:moveTo>
                        <a:pt x="2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5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69" name="Group 75"/>
              <p:cNvGrpSpPr>
                <a:grpSpLocks/>
              </p:cNvGrpSpPr>
              <p:nvPr/>
            </p:nvGrpSpPr>
            <p:grpSpPr bwMode="auto">
              <a:xfrm>
                <a:off x="642" y="2279"/>
                <a:ext cx="28" cy="9"/>
                <a:chOff x="642" y="2279"/>
                <a:chExt cx="28" cy="9"/>
              </a:xfrm>
            </p:grpSpPr>
            <p:sp>
              <p:nvSpPr>
                <p:cNvPr id="100782" name="Freeform 76"/>
                <p:cNvSpPr>
                  <a:spLocks/>
                </p:cNvSpPr>
                <p:nvPr/>
              </p:nvSpPr>
              <p:spPr bwMode="auto">
                <a:xfrm>
                  <a:off x="642" y="2279"/>
                  <a:ext cx="12" cy="9"/>
                </a:xfrm>
                <a:custGeom>
                  <a:avLst/>
                  <a:gdLst>
                    <a:gd name="T0" fmla="*/ 1 w 12"/>
                    <a:gd name="T1" fmla="*/ 8 h 9"/>
                    <a:gd name="T2" fmla="*/ 3 w 12"/>
                    <a:gd name="T3" fmla="*/ 8 h 9"/>
                    <a:gd name="T4" fmla="*/ 2 w 12"/>
                    <a:gd name="T5" fmla="*/ 8 h 9"/>
                    <a:gd name="T6" fmla="*/ 2 w 12"/>
                    <a:gd name="T7" fmla="*/ 2 h 9"/>
                    <a:gd name="T8" fmla="*/ 7 w 12"/>
                    <a:gd name="T9" fmla="*/ 8 h 9"/>
                    <a:gd name="T10" fmla="*/ 10 w 12"/>
                    <a:gd name="T11" fmla="*/ 8 h 9"/>
                    <a:gd name="T12" fmla="*/ 10 w 12"/>
                    <a:gd name="T13" fmla="*/ 1 h 9"/>
                    <a:gd name="T14" fmla="*/ 11 w 12"/>
                    <a:gd name="T15" fmla="*/ 1 h 9"/>
                    <a:gd name="T16" fmla="*/ 11 w 12"/>
                    <a:gd name="T17" fmla="*/ 0 h 9"/>
                    <a:gd name="T18" fmla="*/ 8 w 12"/>
                    <a:gd name="T19" fmla="*/ 0 h 9"/>
                    <a:gd name="T20" fmla="*/ 8 w 12"/>
                    <a:gd name="T21" fmla="*/ 1 h 9"/>
                    <a:gd name="T22" fmla="*/ 9 w 12"/>
                    <a:gd name="T23" fmla="*/ 1 h 9"/>
                    <a:gd name="T24" fmla="*/ 9 w 12"/>
                    <a:gd name="T25" fmla="*/ 6 h 9"/>
                    <a:gd name="T26" fmla="*/ 5 w 12"/>
                    <a:gd name="T27" fmla="*/ 0 h 9"/>
                    <a:gd name="T28" fmla="*/ 0 w 12"/>
                    <a:gd name="T29" fmla="*/ 0 h 9"/>
                    <a:gd name="T30" fmla="*/ 0 w 12"/>
                    <a:gd name="T31" fmla="*/ 1 h 9"/>
                    <a:gd name="T32" fmla="*/ 1 w 12"/>
                    <a:gd name="T33" fmla="*/ 1 h 9"/>
                    <a:gd name="T34" fmla="*/ 1 w 12"/>
                    <a:gd name="T35" fmla="*/ 8 h 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2"/>
                    <a:gd name="T55" fmla="*/ 0 h 9"/>
                    <a:gd name="T56" fmla="*/ 12 w 12"/>
                    <a:gd name="T57" fmla="*/ 9 h 9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2" h="9">
                      <a:moveTo>
                        <a:pt x="1" y="8"/>
                      </a:moveTo>
                      <a:lnTo>
                        <a:pt x="3" y="8"/>
                      </a:lnTo>
                      <a:lnTo>
                        <a:pt x="2" y="8"/>
                      </a:lnTo>
                      <a:lnTo>
                        <a:pt x="2" y="2"/>
                      </a:lnTo>
                      <a:lnTo>
                        <a:pt x="7" y="8"/>
                      </a:lnTo>
                      <a:lnTo>
                        <a:pt x="10" y="8"/>
                      </a:lnTo>
                      <a:lnTo>
                        <a:pt x="10" y="1"/>
                      </a:lnTo>
                      <a:lnTo>
                        <a:pt x="11" y="1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9" y="6"/>
                      </a:ln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" y="8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83" name="Freeform 77"/>
                <p:cNvSpPr>
                  <a:spLocks/>
                </p:cNvSpPr>
                <p:nvPr/>
              </p:nvSpPr>
              <p:spPr bwMode="auto">
                <a:xfrm>
                  <a:off x="661" y="2279"/>
                  <a:ext cx="9" cy="9"/>
                </a:xfrm>
                <a:custGeom>
                  <a:avLst/>
                  <a:gdLst>
                    <a:gd name="T0" fmla="*/ 0 w 9"/>
                    <a:gd name="T1" fmla="*/ 0 h 9"/>
                    <a:gd name="T2" fmla="*/ 8 w 9"/>
                    <a:gd name="T3" fmla="*/ 0 h 9"/>
                    <a:gd name="T4" fmla="*/ 8 w 9"/>
                    <a:gd name="T5" fmla="*/ 2 h 9"/>
                    <a:gd name="T6" fmla="*/ 7 w 9"/>
                    <a:gd name="T7" fmla="*/ 2 h 9"/>
                    <a:gd name="T8" fmla="*/ 5 w 9"/>
                    <a:gd name="T9" fmla="*/ 1 h 9"/>
                    <a:gd name="T10" fmla="*/ 4 w 9"/>
                    <a:gd name="T11" fmla="*/ 1 h 9"/>
                    <a:gd name="T12" fmla="*/ 4 w 9"/>
                    <a:gd name="T13" fmla="*/ 4 h 9"/>
                    <a:gd name="T14" fmla="*/ 5 w 9"/>
                    <a:gd name="T15" fmla="*/ 4 h 9"/>
                    <a:gd name="T16" fmla="*/ 6 w 9"/>
                    <a:gd name="T17" fmla="*/ 3 h 9"/>
                    <a:gd name="T18" fmla="*/ 6 w 9"/>
                    <a:gd name="T19" fmla="*/ 6 h 9"/>
                    <a:gd name="T20" fmla="*/ 5 w 9"/>
                    <a:gd name="T21" fmla="*/ 5 h 9"/>
                    <a:gd name="T22" fmla="*/ 4 w 9"/>
                    <a:gd name="T23" fmla="*/ 5 h 9"/>
                    <a:gd name="T24" fmla="*/ 4 w 9"/>
                    <a:gd name="T25" fmla="*/ 7 h 9"/>
                    <a:gd name="T26" fmla="*/ 5 w 9"/>
                    <a:gd name="T27" fmla="*/ 7 h 9"/>
                    <a:gd name="T28" fmla="*/ 8 w 9"/>
                    <a:gd name="T29" fmla="*/ 6 h 9"/>
                    <a:gd name="T30" fmla="*/ 8 w 9"/>
                    <a:gd name="T31" fmla="*/ 8 h 9"/>
                    <a:gd name="T32" fmla="*/ 0 w 9"/>
                    <a:gd name="T33" fmla="*/ 8 h 9"/>
                    <a:gd name="T34" fmla="*/ 1 w 9"/>
                    <a:gd name="T35" fmla="*/ 8 h 9"/>
                    <a:gd name="T36" fmla="*/ 1 w 9"/>
                    <a:gd name="T37" fmla="*/ 1 h 9"/>
                    <a:gd name="T38" fmla="*/ 0 w 9"/>
                    <a:gd name="T39" fmla="*/ 1 h 9"/>
                    <a:gd name="T40" fmla="*/ 0 w 9"/>
                    <a:gd name="T41" fmla="*/ 0 h 9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"/>
                    <a:gd name="T64" fmla="*/ 0 h 9"/>
                    <a:gd name="T65" fmla="*/ 9 w 9"/>
                    <a:gd name="T66" fmla="*/ 9 h 9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" h="9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8" y="2"/>
                      </a:lnTo>
                      <a:lnTo>
                        <a:pt x="7" y="2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6" y="6"/>
                      </a:lnTo>
                      <a:lnTo>
                        <a:pt x="5" y="5"/>
                      </a:lnTo>
                      <a:lnTo>
                        <a:pt x="4" y="5"/>
                      </a:lnTo>
                      <a:lnTo>
                        <a:pt x="4" y="7"/>
                      </a:lnTo>
                      <a:lnTo>
                        <a:pt x="5" y="7"/>
                      </a:lnTo>
                      <a:lnTo>
                        <a:pt x="8" y="6"/>
                      </a:lnTo>
                      <a:lnTo>
                        <a:pt x="8" y="8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70" name="Group 78"/>
              <p:cNvGrpSpPr>
                <a:grpSpLocks/>
              </p:cNvGrpSpPr>
              <p:nvPr/>
            </p:nvGrpSpPr>
            <p:grpSpPr bwMode="auto">
              <a:xfrm>
                <a:off x="705" y="2278"/>
                <a:ext cx="9" cy="10"/>
                <a:chOff x="705" y="2278"/>
                <a:chExt cx="9" cy="10"/>
              </a:xfrm>
            </p:grpSpPr>
            <p:sp>
              <p:nvSpPr>
                <p:cNvPr id="100780" name="Freeform 79"/>
                <p:cNvSpPr>
                  <a:spLocks/>
                </p:cNvSpPr>
                <p:nvPr/>
              </p:nvSpPr>
              <p:spPr bwMode="auto">
                <a:xfrm>
                  <a:off x="705" y="2278"/>
                  <a:ext cx="9" cy="10"/>
                </a:xfrm>
                <a:custGeom>
                  <a:avLst/>
                  <a:gdLst>
                    <a:gd name="T0" fmla="*/ 2 w 9"/>
                    <a:gd name="T1" fmla="*/ 0 h 10"/>
                    <a:gd name="T2" fmla="*/ 6 w 9"/>
                    <a:gd name="T3" fmla="*/ 0 h 10"/>
                    <a:gd name="T4" fmla="*/ 6 w 9"/>
                    <a:gd name="T5" fmla="*/ 1 h 10"/>
                    <a:gd name="T6" fmla="*/ 7 w 9"/>
                    <a:gd name="T7" fmla="*/ 1 h 10"/>
                    <a:gd name="T8" fmla="*/ 8 w 9"/>
                    <a:gd name="T9" fmla="*/ 2 h 10"/>
                    <a:gd name="T10" fmla="*/ 8 w 9"/>
                    <a:gd name="T11" fmla="*/ 4 h 10"/>
                    <a:gd name="T12" fmla="*/ 8 w 9"/>
                    <a:gd name="T13" fmla="*/ 5 h 10"/>
                    <a:gd name="T14" fmla="*/ 8 w 9"/>
                    <a:gd name="T15" fmla="*/ 6 h 10"/>
                    <a:gd name="T16" fmla="*/ 7 w 9"/>
                    <a:gd name="T17" fmla="*/ 8 h 10"/>
                    <a:gd name="T18" fmla="*/ 6 w 9"/>
                    <a:gd name="T19" fmla="*/ 8 h 10"/>
                    <a:gd name="T20" fmla="*/ 5 w 9"/>
                    <a:gd name="T21" fmla="*/ 9 h 10"/>
                    <a:gd name="T22" fmla="*/ 2 w 9"/>
                    <a:gd name="T23" fmla="*/ 9 h 10"/>
                    <a:gd name="T24" fmla="*/ 2 w 9"/>
                    <a:gd name="T25" fmla="*/ 8 h 10"/>
                    <a:gd name="T26" fmla="*/ 1 w 9"/>
                    <a:gd name="T27" fmla="*/ 8 h 10"/>
                    <a:gd name="T28" fmla="*/ 0 w 9"/>
                    <a:gd name="T29" fmla="*/ 7 h 10"/>
                    <a:gd name="T30" fmla="*/ 0 w 9"/>
                    <a:gd name="T31" fmla="*/ 5 h 10"/>
                    <a:gd name="T32" fmla="*/ 0 w 9"/>
                    <a:gd name="T33" fmla="*/ 4 h 10"/>
                    <a:gd name="T34" fmla="*/ 0 w 9"/>
                    <a:gd name="T35" fmla="*/ 2 h 10"/>
                    <a:gd name="T36" fmla="*/ 1 w 9"/>
                    <a:gd name="T37" fmla="*/ 1 h 10"/>
                    <a:gd name="T38" fmla="*/ 2 w 9"/>
                    <a:gd name="T39" fmla="*/ 1 h 10"/>
                    <a:gd name="T40" fmla="*/ 2 w 9"/>
                    <a:gd name="T41" fmla="*/ 0 h 1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"/>
                    <a:gd name="T64" fmla="*/ 0 h 10"/>
                    <a:gd name="T65" fmla="*/ 9 w 9"/>
                    <a:gd name="T66" fmla="*/ 10 h 10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" h="10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8" y="5"/>
                      </a:lnTo>
                      <a:lnTo>
                        <a:pt x="8" y="6"/>
                      </a:lnTo>
                      <a:lnTo>
                        <a:pt x="7" y="8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2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81" name="Freeform 80"/>
                <p:cNvSpPr>
                  <a:spLocks/>
                </p:cNvSpPr>
                <p:nvPr/>
              </p:nvSpPr>
              <p:spPr bwMode="auto">
                <a:xfrm>
                  <a:off x="707" y="2280"/>
                  <a:ext cx="4" cy="6"/>
                </a:xfrm>
                <a:custGeom>
                  <a:avLst/>
                  <a:gdLst>
                    <a:gd name="T0" fmla="*/ 2 w 4"/>
                    <a:gd name="T1" fmla="*/ 0 h 6"/>
                    <a:gd name="T2" fmla="*/ 3 w 4"/>
                    <a:gd name="T3" fmla="*/ 1 h 6"/>
                    <a:gd name="T4" fmla="*/ 3 w 4"/>
                    <a:gd name="T5" fmla="*/ 4 h 6"/>
                    <a:gd name="T6" fmla="*/ 2 w 4"/>
                    <a:gd name="T7" fmla="*/ 5 h 6"/>
                    <a:gd name="T8" fmla="*/ 1 w 4"/>
                    <a:gd name="T9" fmla="*/ 5 h 6"/>
                    <a:gd name="T10" fmla="*/ 0 w 4"/>
                    <a:gd name="T11" fmla="*/ 4 h 6"/>
                    <a:gd name="T12" fmla="*/ 0 w 4"/>
                    <a:gd name="T13" fmla="*/ 1 h 6"/>
                    <a:gd name="T14" fmla="*/ 1 w 4"/>
                    <a:gd name="T15" fmla="*/ 0 h 6"/>
                    <a:gd name="T16" fmla="*/ 2 w 4"/>
                    <a:gd name="T17" fmla="*/ 0 h 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4"/>
                    <a:gd name="T28" fmla="*/ 0 h 6"/>
                    <a:gd name="T29" fmla="*/ 4 w 4"/>
                    <a:gd name="T30" fmla="*/ 6 h 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4" h="6">
                      <a:moveTo>
                        <a:pt x="2" y="0"/>
                      </a:moveTo>
                      <a:lnTo>
                        <a:pt x="3" y="1"/>
                      </a:lnTo>
                      <a:lnTo>
                        <a:pt x="3" y="4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71" name="Group 81"/>
              <p:cNvGrpSpPr>
                <a:grpSpLocks/>
              </p:cNvGrpSpPr>
              <p:nvPr/>
            </p:nvGrpSpPr>
            <p:grpSpPr bwMode="auto">
              <a:xfrm>
                <a:off x="721" y="2278"/>
                <a:ext cx="24" cy="10"/>
                <a:chOff x="721" y="2278"/>
                <a:chExt cx="24" cy="10"/>
              </a:xfrm>
            </p:grpSpPr>
            <p:sp>
              <p:nvSpPr>
                <p:cNvPr id="100778" name="Freeform 82"/>
                <p:cNvSpPr>
                  <a:spLocks/>
                </p:cNvSpPr>
                <p:nvPr/>
              </p:nvSpPr>
              <p:spPr bwMode="auto">
                <a:xfrm>
                  <a:off x="721" y="2278"/>
                  <a:ext cx="9" cy="10"/>
                </a:xfrm>
                <a:custGeom>
                  <a:avLst/>
                  <a:gdLst>
                    <a:gd name="T0" fmla="*/ 0 w 9"/>
                    <a:gd name="T1" fmla="*/ 0 h 10"/>
                    <a:gd name="T2" fmla="*/ 5 w 9"/>
                    <a:gd name="T3" fmla="*/ 0 h 10"/>
                    <a:gd name="T4" fmla="*/ 5 w 9"/>
                    <a:gd name="T5" fmla="*/ 1 h 10"/>
                    <a:gd name="T6" fmla="*/ 4 w 9"/>
                    <a:gd name="T7" fmla="*/ 1 h 10"/>
                    <a:gd name="T8" fmla="*/ 4 w 9"/>
                    <a:gd name="T9" fmla="*/ 8 h 10"/>
                    <a:gd name="T10" fmla="*/ 5 w 9"/>
                    <a:gd name="T11" fmla="*/ 8 h 10"/>
                    <a:gd name="T12" fmla="*/ 7 w 9"/>
                    <a:gd name="T13" fmla="*/ 6 h 10"/>
                    <a:gd name="T14" fmla="*/ 8 w 9"/>
                    <a:gd name="T15" fmla="*/ 6 h 10"/>
                    <a:gd name="T16" fmla="*/ 8 w 9"/>
                    <a:gd name="T17" fmla="*/ 9 h 10"/>
                    <a:gd name="T18" fmla="*/ 1 w 9"/>
                    <a:gd name="T19" fmla="*/ 9 h 10"/>
                    <a:gd name="T20" fmla="*/ 1 w 9"/>
                    <a:gd name="T21" fmla="*/ 8 h 10"/>
                    <a:gd name="T22" fmla="*/ 1 w 9"/>
                    <a:gd name="T23" fmla="*/ 1 h 10"/>
                    <a:gd name="T24" fmla="*/ 0 w 9"/>
                    <a:gd name="T25" fmla="*/ 1 h 10"/>
                    <a:gd name="T26" fmla="*/ 0 w 9"/>
                    <a:gd name="T27" fmla="*/ 0 h 1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"/>
                    <a:gd name="T43" fmla="*/ 0 h 10"/>
                    <a:gd name="T44" fmla="*/ 9 w 9"/>
                    <a:gd name="T45" fmla="*/ 10 h 1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" h="10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4" y="8"/>
                      </a:lnTo>
                      <a:lnTo>
                        <a:pt x="5" y="8"/>
                      </a:lnTo>
                      <a:lnTo>
                        <a:pt x="7" y="6"/>
                      </a:lnTo>
                      <a:lnTo>
                        <a:pt x="8" y="6"/>
                      </a:lnTo>
                      <a:lnTo>
                        <a:pt x="8" y="9"/>
                      </a:lnTo>
                      <a:lnTo>
                        <a:pt x="1" y="9"/>
                      </a:lnTo>
                      <a:lnTo>
                        <a:pt x="1" y="8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79" name="Freeform 83"/>
                <p:cNvSpPr>
                  <a:spLocks/>
                </p:cNvSpPr>
                <p:nvPr/>
              </p:nvSpPr>
              <p:spPr bwMode="auto">
                <a:xfrm>
                  <a:off x="737" y="2278"/>
                  <a:ext cx="8" cy="10"/>
                </a:xfrm>
                <a:custGeom>
                  <a:avLst/>
                  <a:gdLst>
                    <a:gd name="T0" fmla="*/ 0 w 8"/>
                    <a:gd name="T1" fmla="*/ 0 h 10"/>
                    <a:gd name="T2" fmla="*/ 4 w 8"/>
                    <a:gd name="T3" fmla="*/ 0 h 10"/>
                    <a:gd name="T4" fmla="*/ 4 w 8"/>
                    <a:gd name="T5" fmla="*/ 1 h 10"/>
                    <a:gd name="T6" fmla="*/ 3 w 8"/>
                    <a:gd name="T7" fmla="*/ 1 h 10"/>
                    <a:gd name="T8" fmla="*/ 3 w 8"/>
                    <a:gd name="T9" fmla="*/ 8 h 10"/>
                    <a:gd name="T10" fmla="*/ 4 w 8"/>
                    <a:gd name="T11" fmla="*/ 8 h 10"/>
                    <a:gd name="T12" fmla="*/ 6 w 8"/>
                    <a:gd name="T13" fmla="*/ 6 h 10"/>
                    <a:gd name="T14" fmla="*/ 7 w 8"/>
                    <a:gd name="T15" fmla="*/ 6 h 10"/>
                    <a:gd name="T16" fmla="*/ 7 w 8"/>
                    <a:gd name="T17" fmla="*/ 9 h 10"/>
                    <a:gd name="T18" fmla="*/ 0 w 8"/>
                    <a:gd name="T19" fmla="*/ 9 h 10"/>
                    <a:gd name="T20" fmla="*/ 0 w 8"/>
                    <a:gd name="T21" fmla="*/ 8 h 10"/>
                    <a:gd name="T22" fmla="*/ 0 w 8"/>
                    <a:gd name="T23" fmla="*/ 1 h 10"/>
                    <a:gd name="T24" fmla="*/ 0 w 8"/>
                    <a:gd name="T25" fmla="*/ 0 h 1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"/>
                    <a:gd name="T40" fmla="*/ 0 h 10"/>
                    <a:gd name="T41" fmla="*/ 8 w 8"/>
                    <a:gd name="T42" fmla="*/ 10 h 1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" h="10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3" y="1"/>
                      </a:lnTo>
                      <a:lnTo>
                        <a:pt x="3" y="8"/>
                      </a:lnTo>
                      <a:lnTo>
                        <a:pt x="4" y="8"/>
                      </a:lnTo>
                      <a:lnTo>
                        <a:pt x="6" y="6"/>
                      </a:lnTo>
                      <a:lnTo>
                        <a:pt x="7" y="6"/>
                      </a:lnTo>
                      <a:lnTo>
                        <a:pt x="7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72" name="Group 84"/>
              <p:cNvGrpSpPr>
                <a:grpSpLocks/>
              </p:cNvGrpSpPr>
              <p:nvPr/>
            </p:nvGrpSpPr>
            <p:grpSpPr bwMode="auto">
              <a:xfrm>
                <a:off x="751" y="2278"/>
                <a:ext cx="15" cy="10"/>
                <a:chOff x="751" y="2278"/>
                <a:chExt cx="15" cy="10"/>
              </a:xfrm>
            </p:grpSpPr>
            <p:sp>
              <p:nvSpPr>
                <p:cNvPr id="100776" name="Freeform 85"/>
                <p:cNvSpPr>
                  <a:spLocks/>
                </p:cNvSpPr>
                <p:nvPr/>
              </p:nvSpPr>
              <p:spPr bwMode="auto">
                <a:xfrm>
                  <a:off x="751" y="2278"/>
                  <a:ext cx="15" cy="10"/>
                </a:xfrm>
                <a:custGeom>
                  <a:avLst/>
                  <a:gdLst>
                    <a:gd name="T0" fmla="*/ 8 w 15"/>
                    <a:gd name="T1" fmla="*/ 0 h 10"/>
                    <a:gd name="T2" fmla="*/ 13 w 15"/>
                    <a:gd name="T3" fmla="*/ 8 h 10"/>
                    <a:gd name="T4" fmla="*/ 14 w 15"/>
                    <a:gd name="T5" fmla="*/ 8 h 10"/>
                    <a:gd name="T6" fmla="*/ 14 w 15"/>
                    <a:gd name="T7" fmla="*/ 9 h 10"/>
                    <a:gd name="T8" fmla="*/ 6 w 15"/>
                    <a:gd name="T9" fmla="*/ 9 h 10"/>
                    <a:gd name="T10" fmla="*/ 6 w 15"/>
                    <a:gd name="T11" fmla="*/ 8 h 10"/>
                    <a:gd name="T12" fmla="*/ 8 w 15"/>
                    <a:gd name="T13" fmla="*/ 8 h 10"/>
                    <a:gd name="T14" fmla="*/ 6 w 15"/>
                    <a:gd name="T15" fmla="*/ 6 h 10"/>
                    <a:gd name="T16" fmla="*/ 4 w 15"/>
                    <a:gd name="T17" fmla="*/ 6 h 10"/>
                    <a:gd name="T18" fmla="*/ 3 w 15"/>
                    <a:gd name="T19" fmla="*/ 8 h 10"/>
                    <a:gd name="T20" fmla="*/ 4 w 15"/>
                    <a:gd name="T21" fmla="*/ 8 h 10"/>
                    <a:gd name="T22" fmla="*/ 4 w 15"/>
                    <a:gd name="T23" fmla="*/ 9 h 10"/>
                    <a:gd name="T24" fmla="*/ 0 w 15"/>
                    <a:gd name="T25" fmla="*/ 9 h 10"/>
                    <a:gd name="T26" fmla="*/ 0 w 15"/>
                    <a:gd name="T27" fmla="*/ 8 h 10"/>
                    <a:gd name="T28" fmla="*/ 1 w 15"/>
                    <a:gd name="T29" fmla="*/ 8 h 10"/>
                    <a:gd name="T30" fmla="*/ 5 w 15"/>
                    <a:gd name="T31" fmla="*/ 0 h 10"/>
                    <a:gd name="T32" fmla="*/ 8 w 15"/>
                    <a:gd name="T33" fmla="*/ 0 h 1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5"/>
                    <a:gd name="T52" fmla="*/ 0 h 10"/>
                    <a:gd name="T53" fmla="*/ 15 w 15"/>
                    <a:gd name="T54" fmla="*/ 10 h 1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5" h="10">
                      <a:moveTo>
                        <a:pt x="8" y="0"/>
                      </a:move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4" y="9"/>
                      </a:lnTo>
                      <a:lnTo>
                        <a:pt x="6" y="9"/>
                      </a:lnTo>
                      <a:lnTo>
                        <a:pt x="6" y="8"/>
                      </a:lnTo>
                      <a:lnTo>
                        <a:pt x="8" y="8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8"/>
                      </a:lnTo>
                      <a:lnTo>
                        <a:pt x="4" y="8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5" y="0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77" name="Freeform 86"/>
                <p:cNvSpPr>
                  <a:spLocks/>
                </p:cNvSpPr>
                <p:nvPr/>
              </p:nvSpPr>
              <p:spPr bwMode="auto">
                <a:xfrm>
                  <a:off x="753" y="2279"/>
                  <a:ext cx="5" cy="5"/>
                </a:xfrm>
                <a:custGeom>
                  <a:avLst/>
                  <a:gdLst>
                    <a:gd name="T0" fmla="*/ 2 w 5"/>
                    <a:gd name="T1" fmla="*/ 4 h 5"/>
                    <a:gd name="T2" fmla="*/ 4 w 5"/>
                    <a:gd name="T3" fmla="*/ 0 h 5"/>
                    <a:gd name="T4" fmla="*/ 0 w 5"/>
                    <a:gd name="T5" fmla="*/ 0 h 5"/>
                    <a:gd name="T6" fmla="*/ 2 w 5"/>
                    <a:gd name="T7" fmla="*/ 4 h 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"/>
                    <a:gd name="T13" fmla="*/ 0 h 5"/>
                    <a:gd name="T14" fmla="*/ 5 w 5"/>
                    <a:gd name="T15" fmla="*/ 5 h 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" h="5">
                      <a:moveTo>
                        <a:pt x="2" y="4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" y="4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73" name="Group 87"/>
              <p:cNvGrpSpPr>
                <a:grpSpLocks/>
              </p:cNvGrpSpPr>
              <p:nvPr/>
            </p:nvGrpSpPr>
            <p:grpSpPr bwMode="auto">
              <a:xfrm>
                <a:off x="684" y="2279"/>
                <a:ext cx="12" cy="9"/>
                <a:chOff x="684" y="2279"/>
                <a:chExt cx="12" cy="9"/>
              </a:xfrm>
            </p:grpSpPr>
            <p:sp>
              <p:nvSpPr>
                <p:cNvPr id="100774" name="Freeform 88"/>
                <p:cNvSpPr>
                  <a:spLocks/>
                </p:cNvSpPr>
                <p:nvPr/>
              </p:nvSpPr>
              <p:spPr bwMode="auto">
                <a:xfrm>
                  <a:off x="684" y="2279"/>
                  <a:ext cx="12" cy="9"/>
                </a:xfrm>
                <a:custGeom>
                  <a:avLst/>
                  <a:gdLst>
                    <a:gd name="T0" fmla="*/ 5 w 12"/>
                    <a:gd name="T1" fmla="*/ 0 h 9"/>
                    <a:gd name="T2" fmla="*/ 8 w 12"/>
                    <a:gd name="T3" fmla="*/ 0 h 9"/>
                    <a:gd name="T4" fmla="*/ 9 w 12"/>
                    <a:gd name="T5" fmla="*/ 0 h 9"/>
                    <a:gd name="T6" fmla="*/ 10 w 12"/>
                    <a:gd name="T7" fmla="*/ 1 h 9"/>
                    <a:gd name="T8" fmla="*/ 10 w 12"/>
                    <a:gd name="T9" fmla="*/ 2 h 9"/>
                    <a:gd name="T10" fmla="*/ 11 w 12"/>
                    <a:gd name="T11" fmla="*/ 3 h 9"/>
                    <a:gd name="T12" fmla="*/ 11 w 12"/>
                    <a:gd name="T13" fmla="*/ 5 h 9"/>
                    <a:gd name="T14" fmla="*/ 10 w 12"/>
                    <a:gd name="T15" fmla="*/ 6 h 9"/>
                    <a:gd name="T16" fmla="*/ 10 w 12"/>
                    <a:gd name="T17" fmla="*/ 7 h 9"/>
                    <a:gd name="T18" fmla="*/ 9 w 12"/>
                    <a:gd name="T19" fmla="*/ 8 h 9"/>
                    <a:gd name="T20" fmla="*/ 8 w 12"/>
                    <a:gd name="T21" fmla="*/ 8 h 9"/>
                    <a:gd name="T22" fmla="*/ 5 w 12"/>
                    <a:gd name="T23" fmla="*/ 8 h 9"/>
                    <a:gd name="T24" fmla="*/ 0 w 12"/>
                    <a:gd name="T25" fmla="*/ 8 h 9"/>
                    <a:gd name="T26" fmla="*/ 0 w 12"/>
                    <a:gd name="T27" fmla="*/ 7 h 9"/>
                    <a:gd name="T28" fmla="*/ 2 w 12"/>
                    <a:gd name="T29" fmla="*/ 7 h 9"/>
                    <a:gd name="T30" fmla="*/ 2 w 12"/>
                    <a:gd name="T31" fmla="*/ 5 h 9"/>
                    <a:gd name="T32" fmla="*/ 2 w 12"/>
                    <a:gd name="T33" fmla="*/ 3 h 9"/>
                    <a:gd name="T34" fmla="*/ 2 w 12"/>
                    <a:gd name="T35" fmla="*/ 2 h 9"/>
                    <a:gd name="T36" fmla="*/ 2 w 12"/>
                    <a:gd name="T37" fmla="*/ 1 h 9"/>
                    <a:gd name="T38" fmla="*/ 0 w 12"/>
                    <a:gd name="T39" fmla="*/ 1 h 9"/>
                    <a:gd name="T40" fmla="*/ 0 w 12"/>
                    <a:gd name="T41" fmla="*/ 0 h 9"/>
                    <a:gd name="T42" fmla="*/ 5 w 12"/>
                    <a:gd name="T43" fmla="*/ 0 h 9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2"/>
                    <a:gd name="T67" fmla="*/ 0 h 9"/>
                    <a:gd name="T68" fmla="*/ 12 w 12"/>
                    <a:gd name="T69" fmla="*/ 9 h 9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2" h="9">
                      <a:moveTo>
                        <a:pt x="5" y="0"/>
                      </a:move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10" y="1"/>
                      </a:lnTo>
                      <a:lnTo>
                        <a:pt x="10" y="2"/>
                      </a:lnTo>
                      <a:lnTo>
                        <a:pt x="11" y="3"/>
                      </a:lnTo>
                      <a:lnTo>
                        <a:pt x="11" y="5"/>
                      </a:lnTo>
                      <a:lnTo>
                        <a:pt x="10" y="6"/>
                      </a:lnTo>
                      <a:lnTo>
                        <a:pt x="10" y="7"/>
                      </a:lnTo>
                      <a:lnTo>
                        <a:pt x="9" y="8"/>
                      </a:lnTo>
                      <a:lnTo>
                        <a:pt x="8" y="8"/>
                      </a:lnTo>
                      <a:lnTo>
                        <a:pt x="5" y="8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2" y="7"/>
                      </a:ln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75" name="Freeform 89"/>
                <p:cNvSpPr>
                  <a:spLocks/>
                </p:cNvSpPr>
                <p:nvPr/>
              </p:nvSpPr>
              <p:spPr bwMode="auto">
                <a:xfrm>
                  <a:off x="689" y="2281"/>
                  <a:ext cx="5" cy="5"/>
                </a:xfrm>
                <a:custGeom>
                  <a:avLst/>
                  <a:gdLst>
                    <a:gd name="T0" fmla="*/ 3 w 5"/>
                    <a:gd name="T1" fmla="*/ 0 h 5"/>
                    <a:gd name="T2" fmla="*/ 4 w 5"/>
                    <a:gd name="T3" fmla="*/ 0 h 5"/>
                    <a:gd name="T4" fmla="*/ 4 w 5"/>
                    <a:gd name="T5" fmla="*/ 4 h 5"/>
                    <a:gd name="T6" fmla="*/ 3 w 5"/>
                    <a:gd name="T7" fmla="*/ 4 h 5"/>
                    <a:gd name="T8" fmla="*/ 1 w 5"/>
                    <a:gd name="T9" fmla="*/ 4 h 5"/>
                    <a:gd name="T10" fmla="*/ 0 w 5"/>
                    <a:gd name="T11" fmla="*/ 4 h 5"/>
                    <a:gd name="T12" fmla="*/ 0 w 5"/>
                    <a:gd name="T13" fmla="*/ 3 h 5"/>
                    <a:gd name="T14" fmla="*/ 0 w 5"/>
                    <a:gd name="T15" fmla="*/ 1 h 5"/>
                    <a:gd name="T16" fmla="*/ 0 w 5"/>
                    <a:gd name="T17" fmla="*/ 0 h 5"/>
                    <a:gd name="T18" fmla="*/ 1 w 5"/>
                    <a:gd name="T19" fmla="*/ 0 h 5"/>
                    <a:gd name="T20" fmla="*/ 3 w 5"/>
                    <a:gd name="T21" fmla="*/ 0 h 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"/>
                    <a:gd name="T34" fmla="*/ 0 h 5"/>
                    <a:gd name="T35" fmla="*/ 5 w 5"/>
                    <a:gd name="T36" fmla="*/ 5 h 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" h="5"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02" name="Group 90"/>
            <p:cNvGrpSpPr>
              <a:grpSpLocks/>
            </p:cNvGrpSpPr>
            <p:nvPr/>
          </p:nvGrpSpPr>
          <p:grpSpPr bwMode="auto">
            <a:xfrm>
              <a:off x="578" y="2142"/>
              <a:ext cx="255" cy="8"/>
              <a:chOff x="578" y="2142"/>
              <a:chExt cx="255" cy="8"/>
            </a:xfrm>
          </p:grpSpPr>
          <p:grpSp>
            <p:nvGrpSpPr>
              <p:cNvPr id="100738" name="Group 91"/>
              <p:cNvGrpSpPr>
                <a:grpSpLocks/>
              </p:cNvGrpSpPr>
              <p:nvPr/>
            </p:nvGrpSpPr>
            <p:grpSpPr bwMode="auto">
              <a:xfrm>
                <a:off x="578" y="2142"/>
                <a:ext cx="22" cy="8"/>
                <a:chOff x="578" y="2142"/>
                <a:chExt cx="22" cy="8"/>
              </a:xfrm>
            </p:grpSpPr>
            <p:sp>
              <p:nvSpPr>
                <p:cNvPr id="100764" name="Freeform 92"/>
                <p:cNvSpPr>
                  <a:spLocks/>
                </p:cNvSpPr>
                <p:nvPr/>
              </p:nvSpPr>
              <p:spPr bwMode="auto">
                <a:xfrm>
                  <a:off x="578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7 h 8"/>
                    <a:gd name="T6" fmla="*/ 0 w 1"/>
                    <a:gd name="T7" fmla="*/ 1 h 8"/>
                    <a:gd name="T8" fmla="*/ 0 w 1"/>
                    <a:gd name="T9" fmla="*/ 0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"/>
                    <a:gd name="T16" fmla="*/ 0 h 8"/>
                    <a:gd name="T17" fmla="*/ 1 w 1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5" name="Freeform 93"/>
                <p:cNvSpPr>
                  <a:spLocks/>
                </p:cNvSpPr>
                <p:nvPr/>
              </p:nvSpPr>
              <p:spPr bwMode="auto">
                <a:xfrm>
                  <a:off x="587" y="2142"/>
                  <a:ext cx="4" cy="8"/>
                </a:xfrm>
                <a:custGeom>
                  <a:avLst/>
                  <a:gdLst>
                    <a:gd name="T0" fmla="*/ 0 w 4"/>
                    <a:gd name="T1" fmla="*/ 0 h 8"/>
                    <a:gd name="T2" fmla="*/ 1 w 4"/>
                    <a:gd name="T3" fmla="*/ 0 h 8"/>
                    <a:gd name="T4" fmla="*/ 1 w 4"/>
                    <a:gd name="T5" fmla="*/ 3 h 8"/>
                    <a:gd name="T6" fmla="*/ 2 w 4"/>
                    <a:gd name="T7" fmla="*/ 3 h 8"/>
                    <a:gd name="T8" fmla="*/ 2 w 4"/>
                    <a:gd name="T9" fmla="*/ 0 h 8"/>
                    <a:gd name="T10" fmla="*/ 3 w 4"/>
                    <a:gd name="T11" fmla="*/ 0 h 8"/>
                    <a:gd name="T12" fmla="*/ 3 w 4"/>
                    <a:gd name="T13" fmla="*/ 7 h 8"/>
                    <a:gd name="T14" fmla="*/ 2 w 4"/>
                    <a:gd name="T15" fmla="*/ 7 h 8"/>
                    <a:gd name="T16" fmla="*/ 2 w 4"/>
                    <a:gd name="T17" fmla="*/ 4 h 8"/>
                    <a:gd name="T18" fmla="*/ 1 w 4"/>
                    <a:gd name="T19" fmla="*/ 4 h 8"/>
                    <a:gd name="T20" fmla="*/ 1 w 4"/>
                    <a:gd name="T21" fmla="*/ 7 h 8"/>
                    <a:gd name="T22" fmla="*/ 0 w 4"/>
                    <a:gd name="T23" fmla="*/ 7 h 8"/>
                    <a:gd name="T24" fmla="*/ 0 w 4"/>
                    <a:gd name="T25" fmla="*/ 0 h 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"/>
                    <a:gd name="T40" fmla="*/ 0 h 8"/>
                    <a:gd name="T41" fmla="*/ 4 w 4"/>
                    <a:gd name="T42" fmla="*/ 8 h 8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2" y="4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6" name="Freeform 94"/>
                <p:cNvSpPr>
                  <a:spLocks/>
                </p:cNvSpPr>
                <p:nvPr/>
              </p:nvSpPr>
              <p:spPr bwMode="auto">
                <a:xfrm>
                  <a:off x="599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3 h 8"/>
                    <a:gd name="T6" fmla="*/ 0 w 1"/>
                    <a:gd name="T7" fmla="*/ 4 h 8"/>
                    <a:gd name="T8" fmla="*/ 0 w 1"/>
                    <a:gd name="T9" fmla="*/ 6 h 8"/>
                    <a:gd name="T10" fmla="*/ 0 w 1"/>
                    <a:gd name="T11" fmla="*/ 7 h 8"/>
                    <a:gd name="T12" fmla="*/ 0 w 1"/>
                    <a:gd name="T13" fmla="*/ 0 h 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"/>
                    <a:gd name="T22" fmla="*/ 0 h 8"/>
                    <a:gd name="T23" fmla="*/ 1 w 1"/>
                    <a:gd name="T24" fmla="*/ 8 h 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39" name="Group 95"/>
              <p:cNvGrpSpPr>
                <a:grpSpLocks/>
              </p:cNvGrpSpPr>
              <p:nvPr/>
            </p:nvGrpSpPr>
            <p:grpSpPr bwMode="auto">
              <a:xfrm>
                <a:off x="613" y="2142"/>
                <a:ext cx="50" cy="8"/>
                <a:chOff x="613" y="2142"/>
                <a:chExt cx="50" cy="8"/>
              </a:xfrm>
            </p:grpSpPr>
            <p:sp>
              <p:nvSpPr>
                <p:cNvPr id="100758" name="Freeform 96"/>
                <p:cNvSpPr>
                  <a:spLocks/>
                </p:cNvSpPr>
                <p:nvPr/>
              </p:nvSpPr>
              <p:spPr bwMode="auto">
                <a:xfrm>
                  <a:off x="613" y="2142"/>
                  <a:ext cx="3" cy="8"/>
                </a:xfrm>
                <a:custGeom>
                  <a:avLst/>
                  <a:gdLst>
                    <a:gd name="T0" fmla="*/ 0 w 3"/>
                    <a:gd name="T1" fmla="*/ 0 h 8"/>
                    <a:gd name="T2" fmla="*/ 1 w 3"/>
                    <a:gd name="T3" fmla="*/ 0 h 8"/>
                    <a:gd name="T4" fmla="*/ 1 w 3"/>
                    <a:gd name="T5" fmla="*/ 6 h 8"/>
                    <a:gd name="T6" fmla="*/ 1 w 3"/>
                    <a:gd name="T7" fmla="*/ 0 h 8"/>
                    <a:gd name="T8" fmla="*/ 2 w 3"/>
                    <a:gd name="T9" fmla="*/ 0 h 8"/>
                    <a:gd name="T10" fmla="*/ 2 w 3"/>
                    <a:gd name="T11" fmla="*/ 6 h 8"/>
                    <a:gd name="T12" fmla="*/ 1 w 3"/>
                    <a:gd name="T13" fmla="*/ 7 h 8"/>
                    <a:gd name="T14" fmla="*/ 0 w 3"/>
                    <a:gd name="T15" fmla="*/ 6 h 8"/>
                    <a:gd name="T16" fmla="*/ 0 w 3"/>
                    <a:gd name="T17" fmla="*/ 0 h 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"/>
                    <a:gd name="T28" fmla="*/ 0 h 8"/>
                    <a:gd name="T29" fmla="*/ 3 w 3"/>
                    <a:gd name="T30" fmla="*/ 8 h 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6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2" y="6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9" name="Freeform 97"/>
                <p:cNvSpPr>
                  <a:spLocks/>
                </p:cNvSpPr>
                <p:nvPr/>
              </p:nvSpPr>
              <p:spPr bwMode="auto">
                <a:xfrm>
                  <a:off x="624" y="2142"/>
                  <a:ext cx="4" cy="8"/>
                </a:xfrm>
                <a:custGeom>
                  <a:avLst/>
                  <a:gdLst>
                    <a:gd name="T0" fmla="*/ 0 w 4"/>
                    <a:gd name="T1" fmla="*/ 0 h 8"/>
                    <a:gd name="T2" fmla="*/ 1 w 4"/>
                    <a:gd name="T3" fmla="*/ 0 h 8"/>
                    <a:gd name="T4" fmla="*/ 2 w 4"/>
                    <a:gd name="T5" fmla="*/ 3 h 8"/>
                    <a:gd name="T6" fmla="*/ 2 w 4"/>
                    <a:gd name="T7" fmla="*/ 0 h 8"/>
                    <a:gd name="T8" fmla="*/ 3 w 4"/>
                    <a:gd name="T9" fmla="*/ 0 h 8"/>
                    <a:gd name="T10" fmla="*/ 3 w 4"/>
                    <a:gd name="T11" fmla="*/ 7 h 8"/>
                    <a:gd name="T12" fmla="*/ 2 w 4"/>
                    <a:gd name="T13" fmla="*/ 7 h 8"/>
                    <a:gd name="T14" fmla="*/ 1 w 4"/>
                    <a:gd name="T15" fmla="*/ 4 h 8"/>
                    <a:gd name="T16" fmla="*/ 1 w 4"/>
                    <a:gd name="T17" fmla="*/ 7 h 8"/>
                    <a:gd name="T18" fmla="*/ 0 w 4"/>
                    <a:gd name="T19" fmla="*/ 7 h 8"/>
                    <a:gd name="T20" fmla="*/ 0 w 4"/>
                    <a:gd name="T21" fmla="*/ 0 h 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"/>
                    <a:gd name="T34" fmla="*/ 0 h 8"/>
                    <a:gd name="T35" fmla="*/ 4 w 4"/>
                    <a:gd name="T36" fmla="*/ 8 h 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0" name="Freeform 98"/>
                <p:cNvSpPr>
                  <a:spLocks/>
                </p:cNvSpPr>
                <p:nvPr/>
              </p:nvSpPr>
              <p:spPr bwMode="auto">
                <a:xfrm>
                  <a:off x="632" y="2142"/>
                  <a:ext cx="5" cy="8"/>
                </a:xfrm>
                <a:custGeom>
                  <a:avLst/>
                  <a:gdLst>
                    <a:gd name="T0" fmla="*/ 4 w 5"/>
                    <a:gd name="T1" fmla="*/ 0 h 8"/>
                    <a:gd name="T2" fmla="*/ 0 w 5"/>
                    <a:gd name="T3" fmla="*/ 0 h 8"/>
                    <a:gd name="T4" fmla="*/ 0 w 5"/>
                    <a:gd name="T5" fmla="*/ 7 h 8"/>
                    <a:gd name="T6" fmla="*/ 4 w 5"/>
                    <a:gd name="T7" fmla="*/ 7 h 8"/>
                    <a:gd name="T8" fmla="*/ 4 w 5"/>
                    <a:gd name="T9" fmla="*/ 0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8"/>
                    <a:gd name="T17" fmla="*/ 5 w 5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8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4" y="7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1" name="Freeform 99"/>
                <p:cNvSpPr>
                  <a:spLocks/>
                </p:cNvSpPr>
                <p:nvPr/>
              </p:nvSpPr>
              <p:spPr bwMode="auto">
                <a:xfrm>
                  <a:off x="641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7 h 8"/>
                    <a:gd name="T6" fmla="*/ 0 w 1"/>
                    <a:gd name="T7" fmla="*/ 1 h 8"/>
                    <a:gd name="T8" fmla="*/ 0 w 1"/>
                    <a:gd name="T9" fmla="*/ 0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"/>
                    <a:gd name="T16" fmla="*/ 0 h 8"/>
                    <a:gd name="T17" fmla="*/ 1 w 1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2" name="Freeform 100"/>
                <p:cNvSpPr>
                  <a:spLocks/>
                </p:cNvSpPr>
                <p:nvPr/>
              </p:nvSpPr>
              <p:spPr bwMode="auto">
                <a:xfrm>
                  <a:off x="650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3 h 8"/>
                    <a:gd name="T6" fmla="*/ 0 w 1"/>
                    <a:gd name="T7" fmla="*/ 4 h 8"/>
                    <a:gd name="T8" fmla="*/ 0 w 1"/>
                    <a:gd name="T9" fmla="*/ 6 h 8"/>
                    <a:gd name="T10" fmla="*/ 0 w 1"/>
                    <a:gd name="T11" fmla="*/ 7 h 8"/>
                    <a:gd name="T12" fmla="*/ 0 w 1"/>
                    <a:gd name="T13" fmla="*/ 0 h 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"/>
                    <a:gd name="T22" fmla="*/ 0 h 8"/>
                    <a:gd name="T23" fmla="*/ 1 w 1"/>
                    <a:gd name="T24" fmla="*/ 8 h 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63" name="Freeform 101"/>
                <p:cNvSpPr>
                  <a:spLocks/>
                </p:cNvSpPr>
                <p:nvPr/>
              </p:nvSpPr>
              <p:spPr bwMode="auto">
                <a:xfrm>
                  <a:off x="660" y="2142"/>
                  <a:ext cx="3" cy="8"/>
                </a:xfrm>
                <a:custGeom>
                  <a:avLst/>
                  <a:gdLst>
                    <a:gd name="T0" fmla="*/ 0 w 3"/>
                    <a:gd name="T1" fmla="*/ 0 h 8"/>
                    <a:gd name="T2" fmla="*/ 1 w 3"/>
                    <a:gd name="T3" fmla="*/ 0 h 8"/>
                    <a:gd name="T4" fmla="*/ 2 w 3"/>
                    <a:gd name="T5" fmla="*/ 1 h 8"/>
                    <a:gd name="T6" fmla="*/ 2 w 3"/>
                    <a:gd name="T7" fmla="*/ 6 h 8"/>
                    <a:gd name="T8" fmla="*/ 1 w 3"/>
                    <a:gd name="T9" fmla="*/ 7 h 8"/>
                    <a:gd name="T10" fmla="*/ 0 w 3"/>
                    <a:gd name="T11" fmla="*/ 7 h 8"/>
                    <a:gd name="T12" fmla="*/ 0 w 3"/>
                    <a:gd name="T13" fmla="*/ 1 h 8"/>
                    <a:gd name="T14" fmla="*/ 1 w 3"/>
                    <a:gd name="T15" fmla="*/ 1 h 8"/>
                    <a:gd name="T16" fmla="*/ 1 w 3"/>
                    <a:gd name="T17" fmla="*/ 6 h 8"/>
                    <a:gd name="T18" fmla="*/ 1 w 3"/>
                    <a:gd name="T19" fmla="*/ 1 h 8"/>
                    <a:gd name="T20" fmla="*/ 0 w 3"/>
                    <a:gd name="T21" fmla="*/ 1 h 8"/>
                    <a:gd name="T22" fmla="*/ 0 w 3"/>
                    <a:gd name="T23" fmla="*/ 0 h 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"/>
                    <a:gd name="T37" fmla="*/ 0 h 8"/>
                    <a:gd name="T38" fmla="*/ 3 w 3"/>
                    <a:gd name="T39" fmla="*/ 8 h 8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2" y="1"/>
                      </a:lnTo>
                      <a:lnTo>
                        <a:pt x="2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" y="6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40" name="Group 102"/>
              <p:cNvGrpSpPr>
                <a:grpSpLocks/>
              </p:cNvGrpSpPr>
              <p:nvPr/>
            </p:nvGrpSpPr>
            <p:grpSpPr bwMode="auto">
              <a:xfrm>
                <a:off x="677" y="2142"/>
                <a:ext cx="50" cy="8"/>
                <a:chOff x="677" y="2142"/>
                <a:chExt cx="50" cy="8"/>
              </a:xfrm>
            </p:grpSpPr>
            <p:sp>
              <p:nvSpPr>
                <p:cNvPr id="100752" name="Freeform 103"/>
                <p:cNvSpPr>
                  <a:spLocks/>
                </p:cNvSpPr>
                <p:nvPr/>
              </p:nvSpPr>
              <p:spPr bwMode="auto">
                <a:xfrm>
                  <a:off x="677" y="2142"/>
                  <a:ext cx="2" cy="8"/>
                </a:xfrm>
                <a:custGeom>
                  <a:avLst/>
                  <a:gdLst>
                    <a:gd name="T0" fmla="*/ 0 w 2"/>
                    <a:gd name="T1" fmla="*/ 0 h 8"/>
                    <a:gd name="T2" fmla="*/ 1 w 2"/>
                    <a:gd name="T3" fmla="*/ 0 h 8"/>
                    <a:gd name="T4" fmla="*/ 1 w 2"/>
                    <a:gd name="T5" fmla="*/ 1 h 8"/>
                    <a:gd name="T6" fmla="*/ 1 w 2"/>
                    <a:gd name="T7" fmla="*/ 2 h 8"/>
                    <a:gd name="T8" fmla="*/ 1 w 2"/>
                    <a:gd name="T9" fmla="*/ 1 h 8"/>
                    <a:gd name="T10" fmla="*/ 0 w 2"/>
                    <a:gd name="T11" fmla="*/ 1 h 8"/>
                    <a:gd name="T12" fmla="*/ 0 w 2"/>
                    <a:gd name="T13" fmla="*/ 3 h 8"/>
                    <a:gd name="T14" fmla="*/ 1 w 2"/>
                    <a:gd name="T15" fmla="*/ 3 h 8"/>
                    <a:gd name="T16" fmla="*/ 1 w 2"/>
                    <a:gd name="T17" fmla="*/ 4 h 8"/>
                    <a:gd name="T18" fmla="*/ 1 w 2"/>
                    <a:gd name="T19" fmla="*/ 6 h 8"/>
                    <a:gd name="T20" fmla="*/ 1 w 2"/>
                    <a:gd name="T21" fmla="*/ 7 h 8"/>
                    <a:gd name="T22" fmla="*/ 0 w 2"/>
                    <a:gd name="T23" fmla="*/ 7 h 8"/>
                    <a:gd name="T24" fmla="*/ 0 w 2"/>
                    <a:gd name="T25" fmla="*/ 6 h 8"/>
                    <a:gd name="T26" fmla="*/ 0 w 2"/>
                    <a:gd name="T27" fmla="*/ 5 h 8"/>
                    <a:gd name="T28" fmla="*/ 0 w 2"/>
                    <a:gd name="T29" fmla="*/ 6 h 8"/>
                    <a:gd name="T30" fmla="*/ 1 w 2"/>
                    <a:gd name="T31" fmla="*/ 6 h 8"/>
                    <a:gd name="T32" fmla="*/ 1 w 2"/>
                    <a:gd name="T33" fmla="*/ 4 h 8"/>
                    <a:gd name="T34" fmla="*/ 0 w 2"/>
                    <a:gd name="T35" fmla="*/ 4 h 8"/>
                    <a:gd name="T36" fmla="*/ 0 w 2"/>
                    <a:gd name="T37" fmla="*/ 3 h 8"/>
                    <a:gd name="T38" fmla="*/ 0 w 2"/>
                    <a:gd name="T39" fmla="*/ 1 h 8"/>
                    <a:gd name="T40" fmla="*/ 0 w 2"/>
                    <a:gd name="T41" fmla="*/ 0 h 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"/>
                    <a:gd name="T64" fmla="*/ 0 h 8"/>
                    <a:gd name="T65" fmla="*/ 2 w 2"/>
                    <a:gd name="T66" fmla="*/ 8 h 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1" y="6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3" name="Freeform 104"/>
                <p:cNvSpPr>
                  <a:spLocks/>
                </p:cNvSpPr>
                <p:nvPr/>
              </p:nvSpPr>
              <p:spPr bwMode="auto">
                <a:xfrm>
                  <a:off x="687" y="2142"/>
                  <a:ext cx="2" cy="8"/>
                </a:xfrm>
                <a:custGeom>
                  <a:avLst/>
                  <a:gdLst>
                    <a:gd name="T0" fmla="*/ 0 w 2"/>
                    <a:gd name="T1" fmla="*/ 0 h 8"/>
                    <a:gd name="T2" fmla="*/ 1 w 2"/>
                    <a:gd name="T3" fmla="*/ 0 h 8"/>
                    <a:gd name="T4" fmla="*/ 1 w 2"/>
                    <a:gd name="T5" fmla="*/ 1 h 8"/>
                    <a:gd name="T6" fmla="*/ 1 w 2"/>
                    <a:gd name="T7" fmla="*/ 7 h 8"/>
                    <a:gd name="T8" fmla="*/ 0 w 2"/>
                    <a:gd name="T9" fmla="*/ 7 h 8"/>
                    <a:gd name="T10" fmla="*/ 0 w 2"/>
                    <a:gd name="T11" fmla="*/ 1 h 8"/>
                    <a:gd name="T12" fmla="*/ 0 w 2"/>
                    <a:gd name="T13" fmla="*/ 0 h 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"/>
                    <a:gd name="T22" fmla="*/ 0 h 8"/>
                    <a:gd name="T23" fmla="*/ 2 w 2"/>
                    <a:gd name="T24" fmla="*/ 8 h 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4" name="Freeform 105"/>
                <p:cNvSpPr>
                  <a:spLocks/>
                </p:cNvSpPr>
                <p:nvPr/>
              </p:nvSpPr>
              <p:spPr bwMode="auto">
                <a:xfrm>
                  <a:off x="695" y="2142"/>
                  <a:ext cx="4" cy="8"/>
                </a:xfrm>
                <a:custGeom>
                  <a:avLst/>
                  <a:gdLst>
                    <a:gd name="T0" fmla="*/ 1 w 4"/>
                    <a:gd name="T1" fmla="*/ 0 h 8"/>
                    <a:gd name="T2" fmla="*/ 2 w 4"/>
                    <a:gd name="T3" fmla="*/ 0 h 8"/>
                    <a:gd name="T4" fmla="*/ 3 w 4"/>
                    <a:gd name="T5" fmla="*/ 7 h 8"/>
                    <a:gd name="T6" fmla="*/ 2 w 4"/>
                    <a:gd name="T7" fmla="*/ 7 h 8"/>
                    <a:gd name="T8" fmla="*/ 2 w 4"/>
                    <a:gd name="T9" fmla="*/ 6 h 8"/>
                    <a:gd name="T10" fmla="*/ 2 w 4"/>
                    <a:gd name="T11" fmla="*/ 5 h 8"/>
                    <a:gd name="T12" fmla="*/ 1 w 4"/>
                    <a:gd name="T13" fmla="*/ 1 h 8"/>
                    <a:gd name="T14" fmla="*/ 1 w 4"/>
                    <a:gd name="T15" fmla="*/ 5 h 8"/>
                    <a:gd name="T16" fmla="*/ 2 w 4"/>
                    <a:gd name="T17" fmla="*/ 5 h 8"/>
                    <a:gd name="T18" fmla="*/ 2 w 4"/>
                    <a:gd name="T19" fmla="*/ 6 h 8"/>
                    <a:gd name="T20" fmla="*/ 1 w 4"/>
                    <a:gd name="T21" fmla="*/ 6 h 8"/>
                    <a:gd name="T22" fmla="*/ 1 w 4"/>
                    <a:gd name="T23" fmla="*/ 7 h 8"/>
                    <a:gd name="T24" fmla="*/ 0 w 4"/>
                    <a:gd name="T25" fmla="*/ 7 h 8"/>
                    <a:gd name="T26" fmla="*/ 1 w 4"/>
                    <a:gd name="T27" fmla="*/ 0 h 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4"/>
                    <a:gd name="T43" fmla="*/ 0 h 8"/>
                    <a:gd name="T44" fmla="*/ 4 w 4"/>
                    <a:gd name="T45" fmla="*/ 8 h 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4" h="8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2" y="5"/>
                      </a:lnTo>
                      <a:lnTo>
                        <a:pt x="1" y="1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5" name="Freeform 106"/>
                <p:cNvSpPr>
                  <a:spLocks/>
                </p:cNvSpPr>
                <p:nvPr/>
              </p:nvSpPr>
              <p:spPr bwMode="auto">
                <a:xfrm>
                  <a:off x="705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7 h 8"/>
                    <a:gd name="T6" fmla="*/ 0 w 1"/>
                    <a:gd name="T7" fmla="*/ 1 h 8"/>
                    <a:gd name="T8" fmla="*/ 0 w 1"/>
                    <a:gd name="T9" fmla="*/ 0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"/>
                    <a:gd name="T16" fmla="*/ 0 h 8"/>
                    <a:gd name="T17" fmla="*/ 1 w 1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6" name="Freeform 107"/>
                <p:cNvSpPr>
                  <a:spLocks/>
                </p:cNvSpPr>
                <p:nvPr/>
              </p:nvSpPr>
              <p:spPr bwMode="auto">
                <a:xfrm>
                  <a:off x="715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3 h 8"/>
                    <a:gd name="T6" fmla="*/ 0 w 1"/>
                    <a:gd name="T7" fmla="*/ 4 h 8"/>
                    <a:gd name="T8" fmla="*/ 0 w 1"/>
                    <a:gd name="T9" fmla="*/ 6 h 8"/>
                    <a:gd name="T10" fmla="*/ 0 w 1"/>
                    <a:gd name="T11" fmla="*/ 7 h 8"/>
                    <a:gd name="T12" fmla="*/ 0 w 1"/>
                    <a:gd name="T13" fmla="*/ 0 h 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"/>
                    <a:gd name="T22" fmla="*/ 0 h 8"/>
                    <a:gd name="T23" fmla="*/ 1 w 1"/>
                    <a:gd name="T24" fmla="*/ 8 h 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7" name="Freeform 108"/>
                <p:cNvSpPr>
                  <a:spLocks/>
                </p:cNvSpPr>
                <p:nvPr/>
              </p:nvSpPr>
              <p:spPr bwMode="auto">
                <a:xfrm>
                  <a:off x="725" y="2142"/>
                  <a:ext cx="2" cy="8"/>
                </a:xfrm>
                <a:custGeom>
                  <a:avLst/>
                  <a:gdLst>
                    <a:gd name="T0" fmla="*/ 0 w 2"/>
                    <a:gd name="T1" fmla="*/ 0 h 8"/>
                    <a:gd name="T2" fmla="*/ 1 w 2"/>
                    <a:gd name="T3" fmla="*/ 0 h 8"/>
                    <a:gd name="T4" fmla="*/ 1 w 2"/>
                    <a:gd name="T5" fmla="*/ 1 h 8"/>
                    <a:gd name="T6" fmla="*/ 1 w 2"/>
                    <a:gd name="T7" fmla="*/ 2 h 8"/>
                    <a:gd name="T8" fmla="*/ 1 w 2"/>
                    <a:gd name="T9" fmla="*/ 1 h 8"/>
                    <a:gd name="T10" fmla="*/ 0 w 2"/>
                    <a:gd name="T11" fmla="*/ 1 h 8"/>
                    <a:gd name="T12" fmla="*/ 0 w 2"/>
                    <a:gd name="T13" fmla="*/ 3 h 8"/>
                    <a:gd name="T14" fmla="*/ 1 w 2"/>
                    <a:gd name="T15" fmla="*/ 3 h 8"/>
                    <a:gd name="T16" fmla="*/ 1 w 2"/>
                    <a:gd name="T17" fmla="*/ 4 h 8"/>
                    <a:gd name="T18" fmla="*/ 1 w 2"/>
                    <a:gd name="T19" fmla="*/ 6 h 8"/>
                    <a:gd name="T20" fmla="*/ 1 w 2"/>
                    <a:gd name="T21" fmla="*/ 7 h 8"/>
                    <a:gd name="T22" fmla="*/ 0 w 2"/>
                    <a:gd name="T23" fmla="*/ 7 h 8"/>
                    <a:gd name="T24" fmla="*/ 0 w 2"/>
                    <a:gd name="T25" fmla="*/ 6 h 8"/>
                    <a:gd name="T26" fmla="*/ 0 w 2"/>
                    <a:gd name="T27" fmla="*/ 5 h 8"/>
                    <a:gd name="T28" fmla="*/ 0 w 2"/>
                    <a:gd name="T29" fmla="*/ 6 h 8"/>
                    <a:gd name="T30" fmla="*/ 1 w 2"/>
                    <a:gd name="T31" fmla="*/ 6 h 8"/>
                    <a:gd name="T32" fmla="*/ 1 w 2"/>
                    <a:gd name="T33" fmla="*/ 4 h 8"/>
                    <a:gd name="T34" fmla="*/ 0 w 2"/>
                    <a:gd name="T35" fmla="*/ 4 h 8"/>
                    <a:gd name="T36" fmla="*/ 0 w 2"/>
                    <a:gd name="T37" fmla="*/ 3 h 8"/>
                    <a:gd name="T38" fmla="*/ 0 w 2"/>
                    <a:gd name="T39" fmla="*/ 1 h 8"/>
                    <a:gd name="T40" fmla="*/ 0 w 2"/>
                    <a:gd name="T41" fmla="*/ 0 h 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"/>
                    <a:gd name="T64" fmla="*/ 0 h 8"/>
                    <a:gd name="T65" fmla="*/ 2 w 2"/>
                    <a:gd name="T66" fmla="*/ 8 h 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1" y="6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41" name="Group 109"/>
              <p:cNvGrpSpPr>
                <a:grpSpLocks/>
              </p:cNvGrpSpPr>
              <p:nvPr/>
            </p:nvGrpSpPr>
            <p:grpSpPr bwMode="auto">
              <a:xfrm>
                <a:off x="740" y="2142"/>
                <a:ext cx="13" cy="8"/>
                <a:chOff x="740" y="2142"/>
                <a:chExt cx="13" cy="8"/>
              </a:xfrm>
            </p:grpSpPr>
            <p:sp>
              <p:nvSpPr>
                <p:cNvPr id="100750" name="Freeform 110"/>
                <p:cNvSpPr>
                  <a:spLocks/>
                </p:cNvSpPr>
                <p:nvPr/>
              </p:nvSpPr>
              <p:spPr bwMode="auto">
                <a:xfrm>
                  <a:off x="740" y="2142"/>
                  <a:ext cx="3" cy="8"/>
                </a:xfrm>
                <a:custGeom>
                  <a:avLst/>
                  <a:gdLst>
                    <a:gd name="T0" fmla="*/ 1 w 3"/>
                    <a:gd name="T1" fmla="*/ 0 h 8"/>
                    <a:gd name="T2" fmla="*/ 2 w 3"/>
                    <a:gd name="T3" fmla="*/ 0 h 8"/>
                    <a:gd name="T4" fmla="*/ 2 w 3"/>
                    <a:gd name="T5" fmla="*/ 1 h 8"/>
                    <a:gd name="T6" fmla="*/ 2 w 3"/>
                    <a:gd name="T7" fmla="*/ 6 h 8"/>
                    <a:gd name="T8" fmla="*/ 2 w 3"/>
                    <a:gd name="T9" fmla="*/ 7 h 8"/>
                    <a:gd name="T10" fmla="*/ 1 w 3"/>
                    <a:gd name="T11" fmla="*/ 7 h 8"/>
                    <a:gd name="T12" fmla="*/ 0 w 3"/>
                    <a:gd name="T13" fmla="*/ 6 h 8"/>
                    <a:gd name="T14" fmla="*/ 1 w 3"/>
                    <a:gd name="T15" fmla="*/ 6 h 8"/>
                    <a:gd name="T16" fmla="*/ 1 w 3"/>
                    <a:gd name="T17" fmla="*/ 1 h 8"/>
                    <a:gd name="T18" fmla="*/ 1 w 3"/>
                    <a:gd name="T19" fmla="*/ 6 h 8"/>
                    <a:gd name="T20" fmla="*/ 0 w 3"/>
                    <a:gd name="T21" fmla="*/ 6 h 8"/>
                    <a:gd name="T22" fmla="*/ 0 w 3"/>
                    <a:gd name="T23" fmla="*/ 1 h 8"/>
                    <a:gd name="T24" fmla="*/ 1 w 3"/>
                    <a:gd name="T25" fmla="*/ 0 h 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3"/>
                    <a:gd name="T40" fmla="*/ 0 h 8"/>
                    <a:gd name="T41" fmla="*/ 3 w 3"/>
                    <a:gd name="T42" fmla="*/ 8 h 8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3" h="8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2" y="6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1" y="6"/>
                      </a:lnTo>
                      <a:lnTo>
                        <a:pt x="1" y="1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51" name="Freeform 111"/>
                <p:cNvSpPr>
                  <a:spLocks/>
                </p:cNvSpPr>
                <p:nvPr/>
              </p:nvSpPr>
              <p:spPr bwMode="auto">
                <a:xfrm>
                  <a:off x="752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3 h 8"/>
                    <a:gd name="T6" fmla="*/ 0 w 1"/>
                    <a:gd name="T7" fmla="*/ 4 h 8"/>
                    <a:gd name="T8" fmla="*/ 0 w 1"/>
                    <a:gd name="T9" fmla="*/ 7 h 8"/>
                    <a:gd name="T10" fmla="*/ 0 w 1"/>
                    <a:gd name="T11" fmla="*/ 0 h 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"/>
                    <a:gd name="T19" fmla="*/ 0 h 8"/>
                    <a:gd name="T20" fmla="*/ 1 w 1"/>
                    <a:gd name="T21" fmla="*/ 8 h 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42" name="Group 112"/>
              <p:cNvGrpSpPr>
                <a:grpSpLocks/>
              </p:cNvGrpSpPr>
              <p:nvPr/>
            </p:nvGrpSpPr>
            <p:grpSpPr bwMode="auto">
              <a:xfrm>
                <a:off x="765" y="2142"/>
                <a:ext cx="68" cy="8"/>
                <a:chOff x="765" y="2142"/>
                <a:chExt cx="68" cy="8"/>
              </a:xfrm>
            </p:grpSpPr>
            <p:sp>
              <p:nvSpPr>
                <p:cNvPr id="100743" name="Freeform 113"/>
                <p:cNvSpPr>
                  <a:spLocks/>
                </p:cNvSpPr>
                <p:nvPr/>
              </p:nvSpPr>
              <p:spPr bwMode="auto">
                <a:xfrm>
                  <a:off x="765" y="2142"/>
                  <a:ext cx="4" cy="8"/>
                </a:xfrm>
                <a:custGeom>
                  <a:avLst/>
                  <a:gdLst>
                    <a:gd name="T0" fmla="*/ 1 w 4"/>
                    <a:gd name="T1" fmla="*/ 0 h 8"/>
                    <a:gd name="T2" fmla="*/ 2 w 4"/>
                    <a:gd name="T3" fmla="*/ 0 h 8"/>
                    <a:gd name="T4" fmla="*/ 3 w 4"/>
                    <a:gd name="T5" fmla="*/ 7 h 8"/>
                    <a:gd name="T6" fmla="*/ 2 w 4"/>
                    <a:gd name="T7" fmla="*/ 7 h 8"/>
                    <a:gd name="T8" fmla="*/ 2 w 4"/>
                    <a:gd name="T9" fmla="*/ 6 h 8"/>
                    <a:gd name="T10" fmla="*/ 2 w 4"/>
                    <a:gd name="T11" fmla="*/ 5 h 8"/>
                    <a:gd name="T12" fmla="*/ 2 w 4"/>
                    <a:gd name="T13" fmla="*/ 1 h 8"/>
                    <a:gd name="T14" fmla="*/ 1 w 4"/>
                    <a:gd name="T15" fmla="*/ 5 h 8"/>
                    <a:gd name="T16" fmla="*/ 2 w 4"/>
                    <a:gd name="T17" fmla="*/ 5 h 8"/>
                    <a:gd name="T18" fmla="*/ 2 w 4"/>
                    <a:gd name="T19" fmla="*/ 6 h 8"/>
                    <a:gd name="T20" fmla="*/ 1 w 4"/>
                    <a:gd name="T21" fmla="*/ 6 h 8"/>
                    <a:gd name="T22" fmla="*/ 1 w 4"/>
                    <a:gd name="T23" fmla="*/ 7 h 8"/>
                    <a:gd name="T24" fmla="*/ 0 w 4"/>
                    <a:gd name="T25" fmla="*/ 7 h 8"/>
                    <a:gd name="T26" fmla="*/ 1 w 4"/>
                    <a:gd name="T27" fmla="*/ 0 h 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4"/>
                    <a:gd name="T43" fmla="*/ 0 h 8"/>
                    <a:gd name="T44" fmla="*/ 4 w 4"/>
                    <a:gd name="T45" fmla="*/ 8 h 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4" h="8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2" y="5"/>
                      </a:lnTo>
                      <a:lnTo>
                        <a:pt x="2" y="1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4" name="Freeform 114"/>
                <p:cNvSpPr>
                  <a:spLocks/>
                </p:cNvSpPr>
                <p:nvPr/>
              </p:nvSpPr>
              <p:spPr bwMode="auto">
                <a:xfrm>
                  <a:off x="777" y="2142"/>
                  <a:ext cx="6" cy="8"/>
                </a:xfrm>
                <a:custGeom>
                  <a:avLst/>
                  <a:gdLst>
                    <a:gd name="T0" fmla="*/ 0 w 6"/>
                    <a:gd name="T1" fmla="*/ 7 h 8"/>
                    <a:gd name="T2" fmla="*/ 2 w 6"/>
                    <a:gd name="T3" fmla="*/ 7 h 8"/>
                    <a:gd name="T4" fmla="*/ 2 w 6"/>
                    <a:gd name="T5" fmla="*/ 3 h 8"/>
                    <a:gd name="T6" fmla="*/ 2 w 6"/>
                    <a:gd name="T7" fmla="*/ 7 h 8"/>
                    <a:gd name="T8" fmla="*/ 3 w 6"/>
                    <a:gd name="T9" fmla="*/ 7 h 8"/>
                    <a:gd name="T10" fmla="*/ 3 w 6"/>
                    <a:gd name="T11" fmla="*/ 3 h 8"/>
                    <a:gd name="T12" fmla="*/ 3 w 6"/>
                    <a:gd name="T13" fmla="*/ 7 h 8"/>
                    <a:gd name="T14" fmla="*/ 5 w 6"/>
                    <a:gd name="T15" fmla="*/ 7 h 8"/>
                    <a:gd name="T16" fmla="*/ 5 w 6"/>
                    <a:gd name="T17" fmla="*/ 0 h 8"/>
                    <a:gd name="T18" fmla="*/ 3 w 6"/>
                    <a:gd name="T19" fmla="*/ 0 h 8"/>
                    <a:gd name="T20" fmla="*/ 3 w 6"/>
                    <a:gd name="T21" fmla="*/ 3 h 8"/>
                    <a:gd name="T22" fmla="*/ 2 w 6"/>
                    <a:gd name="T23" fmla="*/ 0 h 8"/>
                    <a:gd name="T24" fmla="*/ 0 w 6"/>
                    <a:gd name="T25" fmla="*/ 0 h 8"/>
                    <a:gd name="T26" fmla="*/ 0 w 6"/>
                    <a:gd name="T27" fmla="*/ 7 h 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"/>
                    <a:gd name="T43" fmla="*/ 0 h 8"/>
                    <a:gd name="T44" fmla="*/ 6 w 6"/>
                    <a:gd name="T45" fmla="*/ 8 h 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" h="8">
                      <a:moveTo>
                        <a:pt x="0" y="7"/>
                      </a:moveTo>
                      <a:lnTo>
                        <a:pt x="2" y="7"/>
                      </a:lnTo>
                      <a:lnTo>
                        <a:pt x="2" y="3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3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3" y="3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7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5" name="Freeform 115"/>
                <p:cNvSpPr>
                  <a:spLocks/>
                </p:cNvSpPr>
                <p:nvPr/>
              </p:nvSpPr>
              <p:spPr bwMode="auto">
                <a:xfrm>
                  <a:off x="792" y="2142"/>
                  <a:ext cx="1" cy="8"/>
                </a:xfrm>
                <a:custGeom>
                  <a:avLst/>
                  <a:gdLst>
                    <a:gd name="T0" fmla="*/ 0 w 1"/>
                    <a:gd name="T1" fmla="*/ 0 h 8"/>
                    <a:gd name="T2" fmla="*/ 0 w 1"/>
                    <a:gd name="T3" fmla="*/ 1 h 8"/>
                    <a:gd name="T4" fmla="*/ 0 w 1"/>
                    <a:gd name="T5" fmla="*/ 3 h 8"/>
                    <a:gd name="T6" fmla="*/ 0 w 1"/>
                    <a:gd name="T7" fmla="*/ 4 h 8"/>
                    <a:gd name="T8" fmla="*/ 0 w 1"/>
                    <a:gd name="T9" fmla="*/ 6 h 8"/>
                    <a:gd name="T10" fmla="*/ 0 w 1"/>
                    <a:gd name="T11" fmla="*/ 7 h 8"/>
                    <a:gd name="T12" fmla="*/ 0 w 1"/>
                    <a:gd name="T13" fmla="*/ 0 h 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"/>
                    <a:gd name="T22" fmla="*/ 0 h 8"/>
                    <a:gd name="T23" fmla="*/ 1 w 1"/>
                    <a:gd name="T24" fmla="*/ 8 h 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" h="8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6" name="Freeform 116"/>
                <p:cNvSpPr>
                  <a:spLocks/>
                </p:cNvSpPr>
                <p:nvPr/>
              </p:nvSpPr>
              <p:spPr bwMode="auto">
                <a:xfrm>
                  <a:off x="802" y="2142"/>
                  <a:ext cx="2" cy="8"/>
                </a:xfrm>
                <a:custGeom>
                  <a:avLst/>
                  <a:gdLst>
                    <a:gd name="T0" fmla="*/ 0 w 2"/>
                    <a:gd name="T1" fmla="*/ 0 h 8"/>
                    <a:gd name="T2" fmla="*/ 1 w 2"/>
                    <a:gd name="T3" fmla="*/ 0 h 8"/>
                    <a:gd name="T4" fmla="*/ 1 w 2"/>
                    <a:gd name="T5" fmla="*/ 1 h 8"/>
                    <a:gd name="T6" fmla="*/ 1 w 2"/>
                    <a:gd name="T7" fmla="*/ 3 h 8"/>
                    <a:gd name="T8" fmla="*/ 1 w 2"/>
                    <a:gd name="T9" fmla="*/ 4 h 8"/>
                    <a:gd name="T10" fmla="*/ 1 w 2"/>
                    <a:gd name="T11" fmla="*/ 7 h 8"/>
                    <a:gd name="T12" fmla="*/ 1 w 2"/>
                    <a:gd name="T13" fmla="*/ 4 h 8"/>
                    <a:gd name="T14" fmla="*/ 1 w 2"/>
                    <a:gd name="T15" fmla="*/ 3 h 8"/>
                    <a:gd name="T16" fmla="*/ 0 w 2"/>
                    <a:gd name="T17" fmla="*/ 3 h 8"/>
                    <a:gd name="T18" fmla="*/ 0 w 2"/>
                    <a:gd name="T19" fmla="*/ 1 h 8"/>
                    <a:gd name="T20" fmla="*/ 1 w 2"/>
                    <a:gd name="T21" fmla="*/ 1 h 8"/>
                    <a:gd name="T22" fmla="*/ 1 w 2"/>
                    <a:gd name="T23" fmla="*/ 3 h 8"/>
                    <a:gd name="T24" fmla="*/ 1 w 2"/>
                    <a:gd name="T25" fmla="*/ 4 h 8"/>
                    <a:gd name="T26" fmla="*/ 0 w 2"/>
                    <a:gd name="T27" fmla="*/ 4 h 8"/>
                    <a:gd name="T28" fmla="*/ 0 w 2"/>
                    <a:gd name="T29" fmla="*/ 7 h 8"/>
                    <a:gd name="T30" fmla="*/ 0 w 2"/>
                    <a:gd name="T31" fmla="*/ 0 h 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"/>
                    <a:gd name="T49" fmla="*/ 0 h 8"/>
                    <a:gd name="T50" fmla="*/ 2 w 2"/>
                    <a:gd name="T51" fmla="*/ 8 h 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" h="8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1" y="4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7" name="Freeform 117"/>
                <p:cNvSpPr>
                  <a:spLocks/>
                </p:cNvSpPr>
                <p:nvPr/>
              </p:nvSpPr>
              <p:spPr bwMode="auto">
                <a:xfrm>
                  <a:off x="808" y="2142"/>
                  <a:ext cx="6" cy="8"/>
                </a:xfrm>
                <a:custGeom>
                  <a:avLst/>
                  <a:gdLst>
                    <a:gd name="T0" fmla="*/ 5 w 6"/>
                    <a:gd name="T1" fmla="*/ 0 h 8"/>
                    <a:gd name="T2" fmla="*/ 0 w 6"/>
                    <a:gd name="T3" fmla="*/ 0 h 8"/>
                    <a:gd name="T4" fmla="*/ 0 w 6"/>
                    <a:gd name="T5" fmla="*/ 7 h 8"/>
                    <a:gd name="T6" fmla="*/ 5 w 6"/>
                    <a:gd name="T7" fmla="*/ 7 h 8"/>
                    <a:gd name="T8" fmla="*/ 5 w 6"/>
                    <a:gd name="T9" fmla="*/ 0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"/>
                    <a:gd name="T16" fmla="*/ 0 h 8"/>
                    <a:gd name="T17" fmla="*/ 6 w 6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" h="8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5" y="7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8" name="Freeform 118"/>
                <p:cNvSpPr>
                  <a:spLocks/>
                </p:cNvSpPr>
                <p:nvPr/>
              </p:nvSpPr>
              <p:spPr bwMode="auto">
                <a:xfrm>
                  <a:off x="818" y="2142"/>
                  <a:ext cx="3" cy="8"/>
                </a:xfrm>
                <a:custGeom>
                  <a:avLst/>
                  <a:gdLst>
                    <a:gd name="T0" fmla="*/ 1 w 3"/>
                    <a:gd name="T1" fmla="*/ 0 h 8"/>
                    <a:gd name="T2" fmla="*/ 2 w 3"/>
                    <a:gd name="T3" fmla="*/ 1 h 8"/>
                    <a:gd name="T4" fmla="*/ 2 w 3"/>
                    <a:gd name="T5" fmla="*/ 3 h 8"/>
                    <a:gd name="T6" fmla="*/ 1 w 3"/>
                    <a:gd name="T7" fmla="*/ 3 h 8"/>
                    <a:gd name="T8" fmla="*/ 1 w 3"/>
                    <a:gd name="T9" fmla="*/ 1 h 8"/>
                    <a:gd name="T10" fmla="*/ 1 w 3"/>
                    <a:gd name="T11" fmla="*/ 6 h 8"/>
                    <a:gd name="T12" fmla="*/ 1 w 3"/>
                    <a:gd name="T13" fmla="*/ 4 h 8"/>
                    <a:gd name="T14" fmla="*/ 2 w 3"/>
                    <a:gd name="T15" fmla="*/ 4 h 8"/>
                    <a:gd name="T16" fmla="*/ 2 w 3"/>
                    <a:gd name="T17" fmla="*/ 6 h 8"/>
                    <a:gd name="T18" fmla="*/ 1 w 3"/>
                    <a:gd name="T19" fmla="*/ 7 h 8"/>
                    <a:gd name="T20" fmla="*/ 0 w 3"/>
                    <a:gd name="T21" fmla="*/ 6 h 8"/>
                    <a:gd name="T22" fmla="*/ 0 w 3"/>
                    <a:gd name="T23" fmla="*/ 1 h 8"/>
                    <a:gd name="T24" fmla="*/ 1 w 3"/>
                    <a:gd name="T25" fmla="*/ 0 h 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3"/>
                    <a:gd name="T40" fmla="*/ 0 h 8"/>
                    <a:gd name="T41" fmla="*/ 3 w 3"/>
                    <a:gd name="T42" fmla="*/ 8 h 8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3" h="8">
                      <a:moveTo>
                        <a:pt x="1" y="0"/>
                      </a:moveTo>
                      <a:lnTo>
                        <a:pt x="2" y="1"/>
                      </a:lnTo>
                      <a:lnTo>
                        <a:pt x="2" y="3"/>
                      </a:lnTo>
                      <a:lnTo>
                        <a:pt x="1" y="3"/>
                      </a:lnTo>
                      <a:lnTo>
                        <a:pt x="1" y="1"/>
                      </a:lnTo>
                      <a:lnTo>
                        <a:pt x="1" y="6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49" name="Freeform 119"/>
                <p:cNvSpPr>
                  <a:spLocks/>
                </p:cNvSpPr>
                <p:nvPr/>
              </p:nvSpPr>
              <p:spPr bwMode="auto">
                <a:xfrm>
                  <a:off x="829" y="2142"/>
                  <a:ext cx="4" cy="8"/>
                </a:xfrm>
                <a:custGeom>
                  <a:avLst/>
                  <a:gdLst>
                    <a:gd name="T0" fmla="*/ 1 w 4"/>
                    <a:gd name="T1" fmla="*/ 0 h 8"/>
                    <a:gd name="T2" fmla="*/ 2 w 4"/>
                    <a:gd name="T3" fmla="*/ 0 h 8"/>
                    <a:gd name="T4" fmla="*/ 3 w 4"/>
                    <a:gd name="T5" fmla="*/ 7 h 8"/>
                    <a:gd name="T6" fmla="*/ 2 w 4"/>
                    <a:gd name="T7" fmla="*/ 7 h 8"/>
                    <a:gd name="T8" fmla="*/ 2 w 4"/>
                    <a:gd name="T9" fmla="*/ 6 h 8"/>
                    <a:gd name="T10" fmla="*/ 2 w 4"/>
                    <a:gd name="T11" fmla="*/ 5 h 8"/>
                    <a:gd name="T12" fmla="*/ 1 w 4"/>
                    <a:gd name="T13" fmla="*/ 1 h 8"/>
                    <a:gd name="T14" fmla="*/ 1 w 4"/>
                    <a:gd name="T15" fmla="*/ 5 h 8"/>
                    <a:gd name="T16" fmla="*/ 2 w 4"/>
                    <a:gd name="T17" fmla="*/ 5 h 8"/>
                    <a:gd name="T18" fmla="*/ 2 w 4"/>
                    <a:gd name="T19" fmla="*/ 6 h 8"/>
                    <a:gd name="T20" fmla="*/ 1 w 4"/>
                    <a:gd name="T21" fmla="*/ 6 h 8"/>
                    <a:gd name="T22" fmla="*/ 1 w 4"/>
                    <a:gd name="T23" fmla="*/ 7 h 8"/>
                    <a:gd name="T24" fmla="*/ 0 w 4"/>
                    <a:gd name="T25" fmla="*/ 7 h 8"/>
                    <a:gd name="T26" fmla="*/ 1 w 4"/>
                    <a:gd name="T27" fmla="*/ 0 h 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4"/>
                    <a:gd name="T43" fmla="*/ 0 h 8"/>
                    <a:gd name="T44" fmla="*/ 4 w 4"/>
                    <a:gd name="T45" fmla="*/ 8 h 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4" h="8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2" y="5"/>
                      </a:lnTo>
                      <a:lnTo>
                        <a:pt x="1" y="1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03" name="Group 120"/>
            <p:cNvGrpSpPr>
              <a:grpSpLocks/>
            </p:cNvGrpSpPr>
            <p:nvPr/>
          </p:nvGrpSpPr>
          <p:grpSpPr bwMode="auto">
            <a:xfrm>
              <a:off x="485" y="2394"/>
              <a:ext cx="502" cy="251"/>
              <a:chOff x="485" y="2394"/>
              <a:chExt cx="502" cy="251"/>
            </a:xfrm>
          </p:grpSpPr>
          <p:sp>
            <p:nvSpPr>
              <p:cNvPr id="100735" name="Rectangle 121"/>
              <p:cNvSpPr>
                <a:spLocks noChangeArrowheads="1"/>
              </p:cNvSpPr>
              <p:nvPr/>
            </p:nvSpPr>
            <p:spPr bwMode="auto">
              <a:xfrm>
                <a:off x="485" y="2394"/>
                <a:ext cx="502" cy="251"/>
              </a:xfrm>
              <a:prstGeom prst="rect">
                <a:avLst/>
              </a:prstGeom>
              <a:solidFill>
                <a:srgbClr val="BFFFB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36" name="Rectangle 122"/>
              <p:cNvSpPr>
                <a:spLocks noChangeArrowheads="1"/>
              </p:cNvSpPr>
              <p:nvPr/>
            </p:nvSpPr>
            <p:spPr bwMode="auto">
              <a:xfrm>
                <a:off x="496" y="2407"/>
                <a:ext cx="480" cy="225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DFFFB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37" name="Freeform 123"/>
              <p:cNvSpPr>
                <a:spLocks/>
              </p:cNvSpPr>
              <p:nvPr/>
            </p:nvSpPr>
            <p:spPr bwMode="auto">
              <a:xfrm>
                <a:off x="527" y="2424"/>
                <a:ext cx="424" cy="197"/>
              </a:xfrm>
              <a:custGeom>
                <a:avLst/>
                <a:gdLst>
                  <a:gd name="T0" fmla="*/ 0 w 424"/>
                  <a:gd name="T1" fmla="*/ 0 h 197"/>
                  <a:gd name="T2" fmla="*/ 423 w 424"/>
                  <a:gd name="T3" fmla="*/ 0 h 197"/>
                  <a:gd name="T4" fmla="*/ 423 w 424"/>
                  <a:gd name="T5" fmla="*/ 196 h 197"/>
                  <a:gd name="T6" fmla="*/ 0 w 424"/>
                  <a:gd name="T7" fmla="*/ 196 h 197"/>
                  <a:gd name="T8" fmla="*/ 0 w 424"/>
                  <a:gd name="T9" fmla="*/ 0 h 1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4"/>
                  <a:gd name="T16" fmla="*/ 0 h 197"/>
                  <a:gd name="T17" fmla="*/ 424 w 424"/>
                  <a:gd name="T18" fmla="*/ 197 h 1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4" h="197">
                    <a:moveTo>
                      <a:pt x="0" y="0"/>
                    </a:moveTo>
                    <a:lnTo>
                      <a:pt x="423" y="0"/>
                    </a:lnTo>
                    <a:lnTo>
                      <a:pt x="423" y="196"/>
                    </a:lnTo>
                    <a:lnTo>
                      <a:pt x="0" y="19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D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04" name="Group 124"/>
            <p:cNvGrpSpPr>
              <a:grpSpLocks/>
            </p:cNvGrpSpPr>
            <p:nvPr/>
          </p:nvGrpSpPr>
          <p:grpSpPr bwMode="auto">
            <a:xfrm>
              <a:off x="670" y="2582"/>
              <a:ext cx="129" cy="25"/>
              <a:chOff x="670" y="2582"/>
              <a:chExt cx="129" cy="25"/>
            </a:xfrm>
          </p:grpSpPr>
          <p:grpSp>
            <p:nvGrpSpPr>
              <p:cNvPr id="100727" name="Group 125"/>
              <p:cNvGrpSpPr>
                <a:grpSpLocks/>
              </p:cNvGrpSpPr>
              <p:nvPr/>
            </p:nvGrpSpPr>
            <p:grpSpPr bwMode="auto">
              <a:xfrm>
                <a:off x="670" y="2582"/>
                <a:ext cx="17" cy="25"/>
                <a:chOff x="670" y="2582"/>
                <a:chExt cx="17" cy="25"/>
              </a:xfrm>
            </p:grpSpPr>
            <p:sp>
              <p:nvSpPr>
                <p:cNvPr id="100732" name="Freeform 126"/>
                <p:cNvSpPr>
                  <a:spLocks/>
                </p:cNvSpPr>
                <p:nvPr/>
              </p:nvSpPr>
              <p:spPr bwMode="auto">
                <a:xfrm>
                  <a:off x="671" y="2591"/>
                  <a:ext cx="15" cy="14"/>
                </a:xfrm>
                <a:custGeom>
                  <a:avLst/>
                  <a:gdLst>
                    <a:gd name="T0" fmla="*/ 14 w 15"/>
                    <a:gd name="T1" fmla="*/ 13 h 14"/>
                    <a:gd name="T2" fmla="*/ 9 w 15"/>
                    <a:gd name="T3" fmla="*/ 10 h 14"/>
                    <a:gd name="T4" fmla="*/ 4 w 15"/>
                    <a:gd name="T5" fmla="*/ 6 h 14"/>
                    <a:gd name="T6" fmla="*/ 0 w 15"/>
                    <a:gd name="T7" fmla="*/ 0 h 14"/>
                    <a:gd name="T8" fmla="*/ 3 w 15"/>
                    <a:gd name="T9" fmla="*/ 1 h 14"/>
                    <a:gd name="T10" fmla="*/ 8 w 15"/>
                    <a:gd name="T11" fmla="*/ 3 h 14"/>
                    <a:gd name="T12" fmla="*/ 11 w 15"/>
                    <a:gd name="T13" fmla="*/ 7 h 14"/>
                    <a:gd name="T14" fmla="*/ 14 w 15"/>
                    <a:gd name="T15" fmla="*/ 13 h 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5"/>
                    <a:gd name="T25" fmla="*/ 0 h 14"/>
                    <a:gd name="T26" fmla="*/ 15 w 15"/>
                    <a:gd name="T27" fmla="*/ 14 h 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5" h="14">
                      <a:moveTo>
                        <a:pt x="14" y="13"/>
                      </a:moveTo>
                      <a:lnTo>
                        <a:pt x="9" y="10"/>
                      </a:lnTo>
                      <a:lnTo>
                        <a:pt x="4" y="6"/>
                      </a:lnTo>
                      <a:lnTo>
                        <a:pt x="0" y="0"/>
                      </a:lnTo>
                      <a:lnTo>
                        <a:pt x="3" y="1"/>
                      </a:lnTo>
                      <a:lnTo>
                        <a:pt x="8" y="3"/>
                      </a:lnTo>
                      <a:lnTo>
                        <a:pt x="11" y="7"/>
                      </a:lnTo>
                      <a:lnTo>
                        <a:pt x="14" y="1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33" name="Freeform 127"/>
                <p:cNvSpPr>
                  <a:spLocks/>
                </p:cNvSpPr>
                <p:nvPr/>
              </p:nvSpPr>
              <p:spPr bwMode="auto">
                <a:xfrm>
                  <a:off x="677" y="2582"/>
                  <a:ext cx="10" cy="20"/>
                </a:xfrm>
                <a:custGeom>
                  <a:avLst/>
                  <a:gdLst>
                    <a:gd name="T0" fmla="*/ 9 w 10"/>
                    <a:gd name="T1" fmla="*/ 19 h 20"/>
                    <a:gd name="T2" fmla="*/ 5 w 10"/>
                    <a:gd name="T3" fmla="*/ 14 h 20"/>
                    <a:gd name="T4" fmla="*/ 3 w 10"/>
                    <a:gd name="T5" fmla="*/ 9 h 20"/>
                    <a:gd name="T6" fmla="*/ 2 w 10"/>
                    <a:gd name="T7" fmla="*/ 5 h 20"/>
                    <a:gd name="T8" fmla="*/ 0 w 10"/>
                    <a:gd name="T9" fmla="*/ 0 h 20"/>
                    <a:gd name="T10" fmla="*/ 3 w 10"/>
                    <a:gd name="T11" fmla="*/ 2 h 20"/>
                    <a:gd name="T12" fmla="*/ 5 w 10"/>
                    <a:gd name="T13" fmla="*/ 5 h 20"/>
                    <a:gd name="T14" fmla="*/ 7 w 10"/>
                    <a:gd name="T15" fmla="*/ 9 h 20"/>
                    <a:gd name="T16" fmla="*/ 8 w 10"/>
                    <a:gd name="T17" fmla="*/ 14 h 20"/>
                    <a:gd name="T18" fmla="*/ 9 w 10"/>
                    <a:gd name="T19" fmla="*/ 19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9" y="19"/>
                      </a:moveTo>
                      <a:lnTo>
                        <a:pt x="5" y="14"/>
                      </a:lnTo>
                      <a:lnTo>
                        <a:pt x="3" y="9"/>
                      </a:lnTo>
                      <a:lnTo>
                        <a:pt x="2" y="5"/>
                      </a:lnTo>
                      <a:lnTo>
                        <a:pt x="0" y="0"/>
                      </a:lnTo>
                      <a:lnTo>
                        <a:pt x="3" y="2"/>
                      </a:lnTo>
                      <a:lnTo>
                        <a:pt x="5" y="5"/>
                      </a:lnTo>
                      <a:lnTo>
                        <a:pt x="7" y="9"/>
                      </a:lnTo>
                      <a:lnTo>
                        <a:pt x="8" y="14"/>
                      </a:lnTo>
                      <a:lnTo>
                        <a:pt x="9" y="19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34" name="Freeform 128"/>
                <p:cNvSpPr>
                  <a:spLocks/>
                </p:cNvSpPr>
                <p:nvPr/>
              </p:nvSpPr>
              <p:spPr bwMode="auto">
                <a:xfrm>
                  <a:off x="670" y="2603"/>
                  <a:ext cx="14" cy="4"/>
                </a:xfrm>
                <a:custGeom>
                  <a:avLst/>
                  <a:gdLst>
                    <a:gd name="T0" fmla="*/ 13 w 14"/>
                    <a:gd name="T1" fmla="*/ 3 h 4"/>
                    <a:gd name="T2" fmla="*/ 9 w 14"/>
                    <a:gd name="T3" fmla="*/ 2 h 4"/>
                    <a:gd name="T4" fmla="*/ 4 w 14"/>
                    <a:gd name="T5" fmla="*/ 1 h 4"/>
                    <a:gd name="T6" fmla="*/ 0 w 14"/>
                    <a:gd name="T7" fmla="*/ 0 h 4"/>
                    <a:gd name="T8" fmla="*/ 4 w 14"/>
                    <a:gd name="T9" fmla="*/ 0 h 4"/>
                    <a:gd name="T10" fmla="*/ 7 w 14"/>
                    <a:gd name="T11" fmla="*/ 1 h 4"/>
                    <a:gd name="T12" fmla="*/ 11 w 14"/>
                    <a:gd name="T13" fmla="*/ 1 h 4"/>
                    <a:gd name="T14" fmla="*/ 13 w 14"/>
                    <a:gd name="T15" fmla="*/ 3 h 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"/>
                    <a:gd name="T25" fmla="*/ 0 h 4"/>
                    <a:gd name="T26" fmla="*/ 14 w 14"/>
                    <a:gd name="T27" fmla="*/ 4 h 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" h="4">
                      <a:moveTo>
                        <a:pt x="13" y="3"/>
                      </a:moveTo>
                      <a:lnTo>
                        <a:pt x="9" y="2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1"/>
                      </a:lnTo>
                      <a:lnTo>
                        <a:pt x="11" y="1"/>
                      </a:lnTo>
                      <a:lnTo>
                        <a:pt x="13" y="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728" name="Group 129"/>
              <p:cNvGrpSpPr>
                <a:grpSpLocks/>
              </p:cNvGrpSpPr>
              <p:nvPr/>
            </p:nvGrpSpPr>
            <p:grpSpPr bwMode="auto">
              <a:xfrm>
                <a:off x="783" y="2583"/>
                <a:ext cx="16" cy="24"/>
                <a:chOff x="783" y="2583"/>
                <a:chExt cx="16" cy="24"/>
              </a:xfrm>
            </p:grpSpPr>
            <p:sp>
              <p:nvSpPr>
                <p:cNvPr id="100729" name="Freeform 130"/>
                <p:cNvSpPr>
                  <a:spLocks/>
                </p:cNvSpPr>
                <p:nvPr/>
              </p:nvSpPr>
              <p:spPr bwMode="auto">
                <a:xfrm>
                  <a:off x="784" y="2591"/>
                  <a:ext cx="15" cy="15"/>
                </a:xfrm>
                <a:custGeom>
                  <a:avLst/>
                  <a:gdLst>
                    <a:gd name="T0" fmla="*/ 0 w 15"/>
                    <a:gd name="T1" fmla="*/ 14 h 15"/>
                    <a:gd name="T2" fmla="*/ 5 w 15"/>
                    <a:gd name="T3" fmla="*/ 11 h 15"/>
                    <a:gd name="T4" fmla="*/ 10 w 15"/>
                    <a:gd name="T5" fmla="*/ 6 h 15"/>
                    <a:gd name="T6" fmla="*/ 14 w 15"/>
                    <a:gd name="T7" fmla="*/ 0 h 15"/>
                    <a:gd name="T8" fmla="*/ 10 w 15"/>
                    <a:gd name="T9" fmla="*/ 1 h 15"/>
                    <a:gd name="T10" fmla="*/ 6 w 15"/>
                    <a:gd name="T11" fmla="*/ 3 h 15"/>
                    <a:gd name="T12" fmla="*/ 3 w 15"/>
                    <a:gd name="T13" fmla="*/ 8 h 15"/>
                    <a:gd name="T14" fmla="*/ 0 w 15"/>
                    <a:gd name="T15" fmla="*/ 14 h 1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5"/>
                    <a:gd name="T25" fmla="*/ 0 h 15"/>
                    <a:gd name="T26" fmla="*/ 15 w 15"/>
                    <a:gd name="T27" fmla="*/ 15 h 1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5" h="15">
                      <a:moveTo>
                        <a:pt x="0" y="14"/>
                      </a:moveTo>
                      <a:lnTo>
                        <a:pt x="5" y="11"/>
                      </a:lnTo>
                      <a:lnTo>
                        <a:pt x="10" y="6"/>
                      </a:lnTo>
                      <a:lnTo>
                        <a:pt x="14" y="0"/>
                      </a:lnTo>
                      <a:lnTo>
                        <a:pt x="10" y="1"/>
                      </a:lnTo>
                      <a:lnTo>
                        <a:pt x="6" y="3"/>
                      </a:lnTo>
                      <a:lnTo>
                        <a:pt x="3" y="8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30" name="Freeform 131"/>
                <p:cNvSpPr>
                  <a:spLocks/>
                </p:cNvSpPr>
                <p:nvPr/>
              </p:nvSpPr>
              <p:spPr bwMode="auto">
                <a:xfrm>
                  <a:off x="783" y="2583"/>
                  <a:ext cx="9" cy="20"/>
                </a:xfrm>
                <a:custGeom>
                  <a:avLst/>
                  <a:gdLst>
                    <a:gd name="T0" fmla="*/ 0 w 9"/>
                    <a:gd name="T1" fmla="*/ 19 h 20"/>
                    <a:gd name="T2" fmla="*/ 4 w 9"/>
                    <a:gd name="T3" fmla="*/ 13 h 20"/>
                    <a:gd name="T4" fmla="*/ 6 w 9"/>
                    <a:gd name="T5" fmla="*/ 9 h 20"/>
                    <a:gd name="T6" fmla="*/ 7 w 9"/>
                    <a:gd name="T7" fmla="*/ 5 h 20"/>
                    <a:gd name="T8" fmla="*/ 8 w 9"/>
                    <a:gd name="T9" fmla="*/ 0 h 20"/>
                    <a:gd name="T10" fmla="*/ 6 w 9"/>
                    <a:gd name="T11" fmla="*/ 2 h 20"/>
                    <a:gd name="T12" fmla="*/ 4 w 9"/>
                    <a:gd name="T13" fmla="*/ 5 h 20"/>
                    <a:gd name="T14" fmla="*/ 2 w 9"/>
                    <a:gd name="T15" fmla="*/ 9 h 20"/>
                    <a:gd name="T16" fmla="*/ 0 w 9"/>
                    <a:gd name="T17" fmla="*/ 14 h 20"/>
                    <a:gd name="T18" fmla="*/ 0 w 9"/>
                    <a:gd name="T19" fmla="*/ 19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20"/>
                    <a:gd name="T32" fmla="*/ 9 w 9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20">
                      <a:moveTo>
                        <a:pt x="0" y="19"/>
                      </a:moveTo>
                      <a:lnTo>
                        <a:pt x="4" y="13"/>
                      </a:lnTo>
                      <a:lnTo>
                        <a:pt x="6" y="9"/>
                      </a:lnTo>
                      <a:lnTo>
                        <a:pt x="7" y="5"/>
                      </a:lnTo>
                      <a:lnTo>
                        <a:pt x="8" y="0"/>
                      </a:lnTo>
                      <a:lnTo>
                        <a:pt x="6" y="2"/>
                      </a:lnTo>
                      <a:lnTo>
                        <a:pt x="4" y="5"/>
                      </a:lnTo>
                      <a:lnTo>
                        <a:pt x="2" y="9"/>
                      </a:lnTo>
                      <a:lnTo>
                        <a:pt x="0" y="14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731" name="Freeform 132"/>
                <p:cNvSpPr>
                  <a:spLocks/>
                </p:cNvSpPr>
                <p:nvPr/>
              </p:nvSpPr>
              <p:spPr bwMode="auto">
                <a:xfrm>
                  <a:off x="786" y="2603"/>
                  <a:ext cx="13" cy="4"/>
                </a:xfrm>
                <a:custGeom>
                  <a:avLst/>
                  <a:gdLst>
                    <a:gd name="T0" fmla="*/ 0 w 13"/>
                    <a:gd name="T1" fmla="*/ 3 h 4"/>
                    <a:gd name="T2" fmla="*/ 4 w 13"/>
                    <a:gd name="T3" fmla="*/ 2 h 4"/>
                    <a:gd name="T4" fmla="*/ 9 w 13"/>
                    <a:gd name="T5" fmla="*/ 2 h 4"/>
                    <a:gd name="T6" fmla="*/ 12 w 13"/>
                    <a:gd name="T7" fmla="*/ 0 h 4"/>
                    <a:gd name="T8" fmla="*/ 9 w 13"/>
                    <a:gd name="T9" fmla="*/ 0 h 4"/>
                    <a:gd name="T10" fmla="*/ 5 w 13"/>
                    <a:gd name="T11" fmla="*/ 1 h 4"/>
                    <a:gd name="T12" fmla="*/ 2 w 13"/>
                    <a:gd name="T13" fmla="*/ 2 h 4"/>
                    <a:gd name="T14" fmla="*/ 0 w 13"/>
                    <a:gd name="T15" fmla="*/ 3 h 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3"/>
                    <a:gd name="T25" fmla="*/ 0 h 4"/>
                    <a:gd name="T26" fmla="*/ 13 w 13"/>
                    <a:gd name="T27" fmla="*/ 4 h 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3" h="4">
                      <a:moveTo>
                        <a:pt x="0" y="3"/>
                      </a:moveTo>
                      <a:lnTo>
                        <a:pt x="4" y="2"/>
                      </a:lnTo>
                      <a:lnTo>
                        <a:pt x="9" y="2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5" y="1"/>
                      </a:lnTo>
                      <a:lnTo>
                        <a:pt x="2" y="2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05" name="Group 133"/>
            <p:cNvGrpSpPr>
              <a:grpSpLocks/>
            </p:cNvGrpSpPr>
            <p:nvPr/>
          </p:nvGrpSpPr>
          <p:grpSpPr bwMode="auto">
            <a:xfrm>
              <a:off x="631" y="2460"/>
              <a:ext cx="216" cy="182"/>
              <a:chOff x="631" y="2460"/>
              <a:chExt cx="216" cy="182"/>
            </a:xfrm>
          </p:grpSpPr>
          <p:grpSp>
            <p:nvGrpSpPr>
              <p:cNvPr id="100706" name="Group 134"/>
              <p:cNvGrpSpPr>
                <a:grpSpLocks/>
              </p:cNvGrpSpPr>
              <p:nvPr/>
            </p:nvGrpSpPr>
            <p:grpSpPr bwMode="auto">
              <a:xfrm>
                <a:off x="678" y="2460"/>
                <a:ext cx="120" cy="165"/>
                <a:chOff x="678" y="2460"/>
                <a:chExt cx="120" cy="165"/>
              </a:xfrm>
            </p:grpSpPr>
            <p:grpSp>
              <p:nvGrpSpPr>
                <p:cNvPr id="100708" name="Group 135"/>
                <p:cNvGrpSpPr>
                  <a:grpSpLocks/>
                </p:cNvGrpSpPr>
                <p:nvPr/>
              </p:nvGrpSpPr>
              <p:grpSpPr bwMode="auto">
                <a:xfrm>
                  <a:off x="678" y="2460"/>
                  <a:ext cx="120" cy="165"/>
                  <a:chOff x="678" y="2460"/>
                  <a:chExt cx="120" cy="165"/>
                </a:xfrm>
              </p:grpSpPr>
              <p:grpSp>
                <p:nvGrpSpPr>
                  <p:cNvPr id="100723" name="Group 136"/>
                  <p:cNvGrpSpPr>
                    <a:grpSpLocks/>
                  </p:cNvGrpSpPr>
                  <p:nvPr/>
                </p:nvGrpSpPr>
                <p:grpSpPr bwMode="auto">
                  <a:xfrm>
                    <a:off x="678" y="2460"/>
                    <a:ext cx="120" cy="36"/>
                    <a:chOff x="678" y="2460"/>
                    <a:chExt cx="120" cy="36"/>
                  </a:xfrm>
                </p:grpSpPr>
                <p:sp>
                  <p:nvSpPr>
                    <p:cNvPr id="100725" name="Freeform 137"/>
                    <p:cNvSpPr>
                      <a:spLocks/>
                    </p:cNvSpPr>
                    <p:nvPr/>
                  </p:nvSpPr>
                  <p:spPr bwMode="auto">
                    <a:xfrm>
                      <a:off x="678" y="2460"/>
                      <a:ext cx="59" cy="36"/>
                    </a:xfrm>
                    <a:custGeom>
                      <a:avLst/>
                      <a:gdLst>
                        <a:gd name="T0" fmla="*/ 0 w 59"/>
                        <a:gd name="T1" fmla="*/ 0 h 36"/>
                        <a:gd name="T2" fmla="*/ 58 w 59"/>
                        <a:gd name="T3" fmla="*/ 0 h 36"/>
                        <a:gd name="T4" fmla="*/ 58 w 59"/>
                        <a:gd name="T5" fmla="*/ 35 h 36"/>
                        <a:gd name="T6" fmla="*/ 17 w 59"/>
                        <a:gd name="T7" fmla="*/ 35 h 36"/>
                        <a:gd name="T8" fmla="*/ 17 w 59"/>
                        <a:gd name="T9" fmla="*/ 17 h 36"/>
                        <a:gd name="T10" fmla="*/ 16 w 59"/>
                        <a:gd name="T11" fmla="*/ 14 h 36"/>
                        <a:gd name="T12" fmla="*/ 15 w 59"/>
                        <a:gd name="T13" fmla="*/ 13 h 36"/>
                        <a:gd name="T14" fmla="*/ 12 w 59"/>
                        <a:gd name="T15" fmla="*/ 12 h 36"/>
                        <a:gd name="T16" fmla="*/ 0 w 59"/>
                        <a:gd name="T17" fmla="*/ 12 h 36"/>
                        <a:gd name="T18" fmla="*/ 0 w 59"/>
                        <a:gd name="T19" fmla="*/ 0 h 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59"/>
                        <a:gd name="T31" fmla="*/ 0 h 36"/>
                        <a:gd name="T32" fmla="*/ 59 w 59"/>
                        <a:gd name="T33" fmla="*/ 36 h 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59" h="36">
                          <a:moveTo>
                            <a:pt x="0" y="0"/>
                          </a:moveTo>
                          <a:lnTo>
                            <a:pt x="58" y="0"/>
                          </a:lnTo>
                          <a:lnTo>
                            <a:pt x="58" y="35"/>
                          </a:lnTo>
                          <a:lnTo>
                            <a:pt x="17" y="35"/>
                          </a:lnTo>
                          <a:lnTo>
                            <a:pt x="17" y="17"/>
                          </a:lnTo>
                          <a:lnTo>
                            <a:pt x="16" y="14"/>
                          </a:lnTo>
                          <a:lnTo>
                            <a:pt x="15" y="13"/>
                          </a:lnTo>
                          <a:lnTo>
                            <a:pt x="12" y="12"/>
                          </a:lnTo>
                          <a:lnTo>
                            <a:pt x="0" y="12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26" name="Freeform 138"/>
                    <p:cNvSpPr>
                      <a:spLocks/>
                    </p:cNvSpPr>
                    <p:nvPr/>
                  </p:nvSpPr>
                  <p:spPr bwMode="auto">
                    <a:xfrm>
                      <a:off x="739" y="2460"/>
                      <a:ext cx="59" cy="36"/>
                    </a:xfrm>
                    <a:custGeom>
                      <a:avLst/>
                      <a:gdLst>
                        <a:gd name="T0" fmla="*/ 58 w 59"/>
                        <a:gd name="T1" fmla="*/ 0 h 36"/>
                        <a:gd name="T2" fmla="*/ 0 w 59"/>
                        <a:gd name="T3" fmla="*/ 0 h 36"/>
                        <a:gd name="T4" fmla="*/ 0 w 59"/>
                        <a:gd name="T5" fmla="*/ 35 h 36"/>
                        <a:gd name="T6" fmla="*/ 42 w 59"/>
                        <a:gd name="T7" fmla="*/ 35 h 36"/>
                        <a:gd name="T8" fmla="*/ 42 w 59"/>
                        <a:gd name="T9" fmla="*/ 17 h 36"/>
                        <a:gd name="T10" fmla="*/ 42 w 59"/>
                        <a:gd name="T11" fmla="*/ 14 h 36"/>
                        <a:gd name="T12" fmla="*/ 44 w 59"/>
                        <a:gd name="T13" fmla="*/ 13 h 36"/>
                        <a:gd name="T14" fmla="*/ 46 w 59"/>
                        <a:gd name="T15" fmla="*/ 12 h 36"/>
                        <a:gd name="T16" fmla="*/ 58 w 59"/>
                        <a:gd name="T17" fmla="*/ 12 h 36"/>
                        <a:gd name="T18" fmla="*/ 58 w 59"/>
                        <a:gd name="T19" fmla="*/ 0 h 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59"/>
                        <a:gd name="T31" fmla="*/ 0 h 36"/>
                        <a:gd name="T32" fmla="*/ 59 w 59"/>
                        <a:gd name="T33" fmla="*/ 36 h 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59" h="36">
                          <a:moveTo>
                            <a:pt x="58" y="0"/>
                          </a:moveTo>
                          <a:lnTo>
                            <a:pt x="0" y="0"/>
                          </a:lnTo>
                          <a:lnTo>
                            <a:pt x="0" y="35"/>
                          </a:lnTo>
                          <a:lnTo>
                            <a:pt x="42" y="35"/>
                          </a:lnTo>
                          <a:lnTo>
                            <a:pt x="42" y="17"/>
                          </a:lnTo>
                          <a:lnTo>
                            <a:pt x="42" y="14"/>
                          </a:lnTo>
                          <a:lnTo>
                            <a:pt x="44" y="13"/>
                          </a:lnTo>
                          <a:lnTo>
                            <a:pt x="46" y="12"/>
                          </a:lnTo>
                          <a:lnTo>
                            <a:pt x="58" y="12"/>
                          </a:lnTo>
                          <a:lnTo>
                            <a:pt x="58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724" name="Oval 139"/>
                  <p:cNvSpPr>
                    <a:spLocks noChangeArrowheads="1"/>
                  </p:cNvSpPr>
                  <p:nvPr/>
                </p:nvSpPr>
                <p:spPr bwMode="auto">
                  <a:xfrm>
                    <a:off x="684" y="2463"/>
                    <a:ext cx="101" cy="162"/>
                  </a:xfrm>
                  <a:prstGeom prst="ellipse">
                    <a:avLst/>
                  </a:prstGeom>
                  <a:solidFill>
                    <a:srgbClr val="3F5F00"/>
                  </a:solidFill>
                  <a:ln w="12700">
                    <a:solidFill>
                      <a:srgbClr val="DFFFB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0709" name="Group 140"/>
                <p:cNvGrpSpPr>
                  <a:grpSpLocks/>
                </p:cNvGrpSpPr>
                <p:nvPr/>
              </p:nvGrpSpPr>
              <p:grpSpPr bwMode="auto">
                <a:xfrm>
                  <a:off x="684" y="2466"/>
                  <a:ext cx="99" cy="146"/>
                  <a:chOff x="684" y="2466"/>
                  <a:chExt cx="99" cy="146"/>
                </a:xfrm>
              </p:grpSpPr>
              <p:sp>
                <p:nvSpPr>
                  <p:cNvPr id="100710" name="Freeform 141"/>
                  <p:cNvSpPr>
                    <a:spLocks/>
                  </p:cNvSpPr>
                  <p:nvPr/>
                </p:nvSpPr>
                <p:spPr bwMode="auto">
                  <a:xfrm>
                    <a:off x="754" y="2556"/>
                    <a:ext cx="29" cy="56"/>
                  </a:xfrm>
                  <a:custGeom>
                    <a:avLst/>
                    <a:gdLst>
                      <a:gd name="T0" fmla="*/ 0 w 29"/>
                      <a:gd name="T1" fmla="*/ 0 h 56"/>
                      <a:gd name="T2" fmla="*/ 5 w 29"/>
                      <a:gd name="T3" fmla="*/ 3 h 56"/>
                      <a:gd name="T4" fmla="*/ 6 w 29"/>
                      <a:gd name="T5" fmla="*/ 11 h 56"/>
                      <a:gd name="T6" fmla="*/ 14 w 29"/>
                      <a:gd name="T7" fmla="*/ 15 h 56"/>
                      <a:gd name="T8" fmla="*/ 23 w 29"/>
                      <a:gd name="T9" fmla="*/ 17 h 56"/>
                      <a:gd name="T10" fmla="*/ 28 w 29"/>
                      <a:gd name="T11" fmla="*/ 21 h 56"/>
                      <a:gd name="T12" fmla="*/ 27 w 29"/>
                      <a:gd name="T13" fmla="*/ 24 h 56"/>
                      <a:gd name="T14" fmla="*/ 26 w 29"/>
                      <a:gd name="T15" fmla="*/ 29 h 56"/>
                      <a:gd name="T16" fmla="*/ 24 w 29"/>
                      <a:gd name="T17" fmla="*/ 33 h 56"/>
                      <a:gd name="T18" fmla="*/ 23 w 29"/>
                      <a:gd name="T19" fmla="*/ 38 h 56"/>
                      <a:gd name="T20" fmla="*/ 21 w 29"/>
                      <a:gd name="T21" fmla="*/ 41 h 56"/>
                      <a:gd name="T22" fmla="*/ 19 w 29"/>
                      <a:gd name="T23" fmla="*/ 45 h 56"/>
                      <a:gd name="T24" fmla="*/ 16 w 29"/>
                      <a:gd name="T25" fmla="*/ 51 h 56"/>
                      <a:gd name="T26" fmla="*/ 13 w 29"/>
                      <a:gd name="T27" fmla="*/ 55 h 56"/>
                      <a:gd name="T28" fmla="*/ 4 w 29"/>
                      <a:gd name="T29" fmla="*/ 16 h 56"/>
                      <a:gd name="T30" fmla="*/ 0 w 29"/>
                      <a:gd name="T31" fmla="*/ 10 h 56"/>
                      <a:gd name="T32" fmla="*/ 0 w 29"/>
                      <a:gd name="T33" fmla="*/ 0 h 5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29"/>
                      <a:gd name="T52" fmla="*/ 0 h 56"/>
                      <a:gd name="T53" fmla="*/ 29 w 29"/>
                      <a:gd name="T54" fmla="*/ 56 h 5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29" h="56">
                        <a:moveTo>
                          <a:pt x="0" y="0"/>
                        </a:moveTo>
                        <a:lnTo>
                          <a:pt x="5" y="3"/>
                        </a:lnTo>
                        <a:lnTo>
                          <a:pt x="6" y="11"/>
                        </a:lnTo>
                        <a:lnTo>
                          <a:pt x="14" y="15"/>
                        </a:lnTo>
                        <a:lnTo>
                          <a:pt x="23" y="17"/>
                        </a:lnTo>
                        <a:lnTo>
                          <a:pt x="28" y="21"/>
                        </a:lnTo>
                        <a:lnTo>
                          <a:pt x="27" y="24"/>
                        </a:lnTo>
                        <a:lnTo>
                          <a:pt x="26" y="29"/>
                        </a:lnTo>
                        <a:lnTo>
                          <a:pt x="24" y="33"/>
                        </a:lnTo>
                        <a:lnTo>
                          <a:pt x="23" y="38"/>
                        </a:lnTo>
                        <a:lnTo>
                          <a:pt x="21" y="41"/>
                        </a:lnTo>
                        <a:lnTo>
                          <a:pt x="19" y="45"/>
                        </a:lnTo>
                        <a:lnTo>
                          <a:pt x="16" y="51"/>
                        </a:lnTo>
                        <a:lnTo>
                          <a:pt x="13" y="55"/>
                        </a:lnTo>
                        <a:lnTo>
                          <a:pt x="4" y="16"/>
                        </a:lnTo>
                        <a:lnTo>
                          <a:pt x="0" y="1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711" name="Freeform 142"/>
                  <p:cNvSpPr>
                    <a:spLocks/>
                  </p:cNvSpPr>
                  <p:nvPr/>
                </p:nvSpPr>
                <p:spPr bwMode="auto">
                  <a:xfrm>
                    <a:off x="720" y="2548"/>
                    <a:ext cx="44" cy="64"/>
                  </a:xfrm>
                  <a:custGeom>
                    <a:avLst/>
                    <a:gdLst>
                      <a:gd name="T0" fmla="*/ 43 w 44"/>
                      <a:gd name="T1" fmla="*/ 63 h 64"/>
                      <a:gd name="T2" fmla="*/ 24 w 44"/>
                      <a:gd name="T3" fmla="*/ 63 h 64"/>
                      <a:gd name="T4" fmla="*/ 16 w 44"/>
                      <a:gd name="T5" fmla="*/ 63 h 64"/>
                      <a:gd name="T6" fmla="*/ 16 w 44"/>
                      <a:gd name="T7" fmla="*/ 51 h 64"/>
                      <a:gd name="T8" fmla="*/ 12 w 44"/>
                      <a:gd name="T9" fmla="*/ 36 h 64"/>
                      <a:gd name="T10" fmla="*/ 8 w 44"/>
                      <a:gd name="T11" fmla="*/ 21 h 64"/>
                      <a:gd name="T12" fmla="*/ 8 w 44"/>
                      <a:gd name="T13" fmla="*/ 12 h 64"/>
                      <a:gd name="T14" fmla="*/ 3 w 44"/>
                      <a:gd name="T15" fmla="*/ 7 h 64"/>
                      <a:gd name="T16" fmla="*/ 0 w 44"/>
                      <a:gd name="T17" fmla="*/ 0 h 64"/>
                      <a:gd name="T18" fmla="*/ 5 w 44"/>
                      <a:gd name="T19" fmla="*/ 4 h 64"/>
                      <a:gd name="T20" fmla="*/ 11 w 44"/>
                      <a:gd name="T21" fmla="*/ 8 h 64"/>
                      <a:gd name="T22" fmla="*/ 17 w 44"/>
                      <a:gd name="T23" fmla="*/ 9 h 64"/>
                      <a:gd name="T24" fmla="*/ 19 w 44"/>
                      <a:gd name="T25" fmla="*/ 10 h 64"/>
                      <a:gd name="T26" fmla="*/ 22 w 44"/>
                      <a:gd name="T27" fmla="*/ 10 h 64"/>
                      <a:gd name="T28" fmla="*/ 26 w 44"/>
                      <a:gd name="T29" fmla="*/ 9 h 64"/>
                      <a:gd name="T30" fmla="*/ 29 w 44"/>
                      <a:gd name="T31" fmla="*/ 7 h 64"/>
                      <a:gd name="T32" fmla="*/ 30 w 44"/>
                      <a:gd name="T33" fmla="*/ 17 h 64"/>
                      <a:gd name="T34" fmla="*/ 33 w 44"/>
                      <a:gd name="T35" fmla="*/ 23 h 64"/>
                      <a:gd name="T36" fmla="*/ 39 w 44"/>
                      <a:gd name="T37" fmla="*/ 47 h 64"/>
                      <a:gd name="T38" fmla="*/ 43 w 44"/>
                      <a:gd name="T39" fmla="*/ 63 h 64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44"/>
                      <a:gd name="T61" fmla="*/ 0 h 64"/>
                      <a:gd name="T62" fmla="*/ 44 w 44"/>
                      <a:gd name="T63" fmla="*/ 64 h 64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44" h="64">
                        <a:moveTo>
                          <a:pt x="43" y="63"/>
                        </a:moveTo>
                        <a:lnTo>
                          <a:pt x="24" y="63"/>
                        </a:lnTo>
                        <a:lnTo>
                          <a:pt x="16" y="63"/>
                        </a:lnTo>
                        <a:lnTo>
                          <a:pt x="16" y="51"/>
                        </a:lnTo>
                        <a:lnTo>
                          <a:pt x="12" y="36"/>
                        </a:lnTo>
                        <a:lnTo>
                          <a:pt x="8" y="21"/>
                        </a:lnTo>
                        <a:lnTo>
                          <a:pt x="8" y="12"/>
                        </a:lnTo>
                        <a:lnTo>
                          <a:pt x="3" y="7"/>
                        </a:lnTo>
                        <a:lnTo>
                          <a:pt x="0" y="0"/>
                        </a:lnTo>
                        <a:lnTo>
                          <a:pt x="5" y="4"/>
                        </a:lnTo>
                        <a:lnTo>
                          <a:pt x="11" y="8"/>
                        </a:lnTo>
                        <a:lnTo>
                          <a:pt x="17" y="9"/>
                        </a:lnTo>
                        <a:lnTo>
                          <a:pt x="19" y="10"/>
                        </a:lnTo>
                        <a:lnTo>
                          <a:pt x="22" y="10"/>
                        </a:lnTo>
                        <a:lnTo>
                          <a:pt x="26" y="9"/>
                        </a:lnTo>
                        <a:lnTo>
                          <a:pt x="29" y="7"/>
                        </a:lnTo>
                        <a:lnTo>
                          <a:pt x="30" y="17"/>
                        </a:lnTo>
                        <a:lnTo>
                          <a:pt x="33" y="23"/>
                        </a:lnTo>
                        <a:lnTo>
                          <a:pt x="39" y="47"/>
                        </a:lnTo>
                        <a:lnTo>
                          <a:pt x="43" y="63"/>
                        </a:lnTo>
                      </a:path>
                    </a:pathLst>
                  </a:custGeom>
                  <a:solidFill>
                    <a:srgbClr val="D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712" name="Freeform 143"/>
                  <p:cNvSpPr>
                    <a:spLocks/>
                  </p:cNvSpPr>
                  <p:nvPr/>
                </p:nvSpPr>
                <p:spPr bwMode="auto">
                  <a:xfrm>
                    <a:off x="712" y="2472"/>
                    <a:ext cx="47" cy="80"/>
                  </a:xfrm>
                  <a:custGeom>
                    <a:avLst/>
                    <a:gdLst>
                      <a:gd name="T0" fmla="*/ 5 w 47"/>
                      <a:gd name="T1" fmla="*/ 63 h 80"/>
                      <a:gd name="T2" fmla="*/ 5 w 47"/>
                      <a:gd name="T3" fmla="*/ 54 h 80"/>
                      <a:gd name="T4" fmla="*/ 2 w 47"/>
                      <a:gd name="T5" fmla="*/ 43 h 80"/>
                      <a:gd name="T6" fmla="*/ 0 w 47"/>
                      <a:gd name="T7" fmla="*/ 27 h 80"/>
                      <a:gd name="T8" fmla="*/ 6 w 47"/>
                      <a:gd name="T9" fmla="*/ 10 h 80"/>
                      <a:gd name="T10" fmla="*/ 14 w 47"/>
                      <a:gd name="T11" fmla="*/ 4 h 80"/>
                      <a:gd name="T12" fmla="*/ 24 w 47"/>
                      <a:gd name="T13" fmla="*/ 1 h 80"/>
                      <a:gd name="T14" fmla="*/ 32 w 47"/>
                      <a:gd name="T15" fmla="*/ 0 h 80"/>
                      <a:gd name="T16" fmla="*/ 39 w 47"/>
                      <a:gd name="T17" fmla="*/ 5 h 80"/>
                      <a:gd name="T18" fmla="*/ 44 w 47"/>
                      <a:gd name="T19" fmla="*/ 18 h 80"/>
                      <a:gd name="T20" fmla="*/ 46 w 47"/>
                      <a:gd name="T21" fmla="*/ 29 h 80"/>
                      <a:gd name="T22" fmla="*/ 46 w 47"/>
                      <a:gd name="T23" fmla="*/ 43 h 80"/>
                      <a:gd name="T24" fmla="*/ 45 w 47"/>
                      <a:gd name="T25" fmla="*/ 54 h 80"/>
                      <a:gd name="T26" fmla="*/ 44 w 47"/>
                      <a:gd name="T27" fmla="*/ 58 h 80"/>
                      <a:gd name="T28" fmla="*/ 43 w 47"/>
                      <a:gd name="T29" fmla="*/ 62 h 80"/>
                      <a:gd name="T30" fmla="*/ 41 w 47"/>
                      <a:gd name="T31" fmla="*/ 66 h 80"/>
                      <a:gd name="T32" fmla="*/ 38 w 47"/>
                      <a:gd name="T33" fmla="*/ 68 h 80"/>
                      <a:gd name="T34" fmla="*/ 36 w 47"/>
                      <a:gd name="T35" fmla="*/ 70 h 80"/>
                      <a:gd name="T36" fmla="*/ 36 w 47"/>
                      <a:gd name="T37" fmla="*/ 77 h 80"/>
                      <a:gd name="T38" fmla="*/ 33 w 47"/>
                      <a:gd name="T39" fmla="*/ 78 h 80"/>
                      <a:gd name="T40" fmla="*/ 30 w 47"/>
                      <a:gd name="T41" fmla="*/ 79 h 80"/>
                      <a:gd name="T42" fmla="*/ 24 w 47"/>
                      <a:gd name="T43" fmla="*/ 79 h 80"/>
                      <a:gd name="T44" fmla="*/ 19 w 47"/>
                      <a:gd name="T45" fmla="*/ 77 h 80"/>
                      <a:gd name="T46" fmla="*/ 12 w 47"/>
                      <a:gd name="T47" fmla="*/ 73 h 80"/>
                      <a:gd name="T48" fmla="*/ 7 w 47"/>
                      <a:gd name="T49" fmla="*/ 69 h 80"/>
                      <a:gd name="T50" fmla="*/ 5 w 47"/>
                      <a:gd name="T51" fmla="*/ 63 h 80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7"/>
                      <a:gd name="T79" fmla="*/ 0 h 80"/>
                      <a:gd name="T80" fmla="*/ 47 w 47"/>
                      <a:gd name="T81" fmla="*/ 80 h 80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7" h="80">
                        <a:moveTo>
                          <a:pt x="5" y="63"/>
                        </a:moveTo>
                        <a:lnTo>
                          <a:pt x="5" y="54"/>
                        </a:lnTo>
                        <a:lnTo>
                          <a:pt x="2" y="43"/>
                        </a:lnTo>
                        <a:lnTo>
                          <a:pt x="0" y="27"/>
                        </a:lnTo>
                        <a:lnTo>
                          <a:pt x="6" y="10"/>
                        </a:lnTo>
                        <a:lnTo>
                          <a:pt x="14" y="4"/>
                        </a:lnTo>
                        <a:lnTo>
                          <a:pt x="24" y="1"/>
                        </a:lnTo>
                        <a:lnTo>
                          <a:pt x="32" y="0"/>
                        </a:lnTo>
                        <a:lnTo>
                          <a:pt x="39" y="5"/>
                        </a:lnTo>
                        <a:lnTo>
                          <a:pt x="44" y="18"/>
                        </a:lnTo>
                        <a:lnTo>
                          <a:pt x="46" y="29"/>
                        </a:lnTo>
                        <a:lnTo>
                          <a:pt x="46" y="43"/>
                        </a:lnTo>
                        <a:lnTo>
                          <a:pt x="45" y="54"/>
                        </a:lnTo>
                        <a:lnTo>
                          <a:pt x="44" y="58"/>
                        </a:lnTo>
                        <a:lnTo>
                          <a:pt x="43" y="62"/>
                        </a:lnTo>
                        <a:lnTo>
                          <a:pt x="41" y="66"/>
                        </a:lnTo>
                        <a:lnTo>
                          <a:pt x="38" y="68"/>
                        </a:lnTo>
                        <a:lnTo>
                          <a:pt x="36" y="70"/>
                        </a:lnTo>
                        <a:lnTo>
                          <a:pt x="36" y="77"/>
                        </a:lnTo>
                        <a:lnTo>
                          <a:pt x="33" y="78"/>
                        </a:lnTo>
                        <a:lnTo>
                          <a:pt x="30" y="79"/>
                        </a:lnTo>
                        <a:lnTo>
                          <a:pt x="24" y="79"/>
                        </a:lnTo>
                        <a:lnTo>
                          <a:pt x="19" y="77"/>
                        </a:lnTo>
                        <a:lnTo>
                          <a:pt x="12" y="73"/>
                        </a:lnTo>
                        <a:lnTo>
                          <a:pt x="7" y="69"/>
                        </a:lnTo>
                        <a:lnTo>
                          <a:pt x="5" y="63"/>
                        </a:lnTo>
                      </a:path>
                    </a:pathLst>
                  </a:custGeom>
                  <a:solidFill>
                    <a:srgbClr val="B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713" name="Freeform 144"/>
                  <p:cNvSpPr>
                    <a:spLocks/>
                  </p:cNvSpPr>
                  <p:nvPr/>
                </p:nvSpPr>
                <p:spPr bwMode="auto">
                  <a:xfrm>
                    <a:off x="712" y="2508"/>
                    <a:ext cx="33" cy="53"/>
                  </a:xfrm>
                  <a:custGeom>
                    <a:avLst/>
                    <a:gdLst>
                      <a:gd name="T0" fmla="*/ 10 w 33"/>
                      <a:gd name="T1" fmla="*/ 0 h 53"/>
                      <a:gd name="T2" fmla="*/ 12 w 33"/>
                      <a:gd name="T3" fmla="*/ 10 h 53"/>
                      <a:gd name="T4" fmla="*/ 14 w 33"/>
                      <a:gd name="T5" fmla="*/ 17 h 53"/>
                      <a:gd name="T6" fmla="*/ 15 w 33"/>
                      <a:gd name="T7" fmla="*/ 23 h 53"/>
                      <a:gd name="T8" fmla="*/ 18 w 33"/>
                      <a:gd name="T9" fmla="*/ 29 h 53"/>
                      <a:gd name="T10" fmla="*/ 18 w 33"/>
                      <a:gd name="T11" fmla="*/ 31 h 53"/>
                      <a:gd name="T12" fmla="*/ 21 w 33"/>
                      <a:gd name="T13" fmla="*/ 34 h 53"/>
                      <a:gd name="T14" fmla="*/ 22 w 33"/>
                      <a:gd name="T15" fmla="*/ 35 h 53"/>
                      <a:gd name="T16" fmla="*/ 25 w 33"/>
                      <a:gd name="T17" fmla="*/ 36 h 53"/>
                      <a:gd name="T18" fmla="*/ 27 w 33"/>
                      <a:gd name="T19" fmla="*/ 36 h 53"/>
                      <a:gd name="T20" fmla="*/ 29 w 33"/>
                      <a:gd name="T21" fmla="*/ 36 h 53"/>
                      <a:gd name="T22" fmla="*/ 30 w 33"/>
                      <a:gd name="T23" fmla="*/ 36 h 53"/>
                      <a:gd name="T24" fmla="*/ 32 w 33"/>
                      <a:gd name="T25" fmla="*/ 36 h 53"/>
                      <a:gd name="T26" fmla="*/ 30 w 33"/>
                      <a:gd name="T27" fmla="*/ 39 h 53"/>
                      <a:gd name="T28" fmla="*/ 26 w 33"/>
                      <a:gd name="T29" fmla="*/ 42 h 53"/>
                      <a:gd name="T30" fmla="*/ 24 w 33"/>
                      <a:gd name="T31" fmla="*/ 45 h 53"/>
                      <a:gd name="T32" fmla="*/ 22 w 33"/>
                      <a:gd name="T33" fmla="*/ 49 h 53"/>
                      <a:gd name="T34" fmla="*/ 20 w 33"/>
                      <a:gd name="T35" fmla="*/ 51 h 53"/>
                      <a:gd name="T36" fmla="*/ 16 w 33"/>
                      <a:gd name="T37" fmla="*/ 52 h 53"/>
                      <a:gd name="T38" fmla="*/ 11 w 33"/>
                      <a:gd name="T39" fmla="*/ 52 h 53"/>
                      <a:gd name="T40" fmla="*/ 2 w 33"/>
                      <a:gd name="T41" fmla="*/ 44 h 53"/>
                      <a:gd name="T42" fmla="*/ 0 w 33"/>
                      <a:gd name="T43" fmla="*/ 38 h 53"/>
                      <a:gd name="T44" fmla="*/ 3 w 33"/>
                      <a:gd name="T45" fmla="*/ 25 h 53"/>
                      <a:gd name="T46" fmla="*/ 6 w 33"/>
                      <a:gd name="T47" fmla="*/ 12 h 53"/>
                      <a:gd name="T48" fmla="*/ 10 w 33"/>
                      <a:gd name="T49" fmla="*/ 0 h 53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33"/>
                      <a:gd name="T76" fmla="*/ 0 h 53"/>
                      <a:gd name="T77" fmla="*/ 33 w 33"/>
                      <a:gd name="T78" fmla="*/ 53 h 53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33" h="53">
                        <a:moveTo>
                          <a:pt x="10" y="0"/>
                        </a:moveTo>
                        <a:lnTo>
                          <a:pt x="12" y="10"/>
                        </a:lnTo>
                        <a:lnTo>
                          <a:pt x="14" y="17"/>
                        </a:lnTo>
                        <a:lnTo>
                          <a:pt x="15" y="23"/>
                        </a:lnTo>
                        <a:lnTo>
                          <a:pt x="18" y="29"/>
                        </a:lnTo>
                        <a:lnTo>
                          <a:pt x="18" y="31"/>
                        </a:lnTo>
                        <a:lnTo>
                          <a:pt x="21" y="34"/>
                        </a:lnTo>
                        <a:lnTo>
                          <a:pt x="22" y="35"/>
                        </a:lnTo>
                        <a:lnTo>
                          <a:pt x="25" y="36"/>
                        </a:lnTo>
                        <a:lnTo>
                          <a:pt x="27" y="36"/>
                        </a:lnTo>
                        <a:lnTo>
                          <a:pt x="29" y="36"/>
                        </a:lnTo>
                        <a:lnTo>
                          <a:pt x="30" y="36"/>
                        </a:lnTo>
                        <a:lnTo>
                          <a:pt x="32" y="36"/>
                        </a:lnTo>
                        <a:lnTo>
                          <a:pt x="30" y="39"/>
                        </a:lnTo>
                        <a:lnTo>
                          <a:pt x="26" y="42"/>
                        </a:lnTo>
                        <a:lnTo>
                          <a:pt x="24" y="45"/>
                        </a:lnTo>
                        <a:lnTo>
                          <a:pt x="22" y="49"/>
                        </a:lnTo>
                        <a:lnTo>
                          <a:pt x="20" y="51"/>
                        </a:lnTo>
                        <a:lnTo>
                          <a:pt x="16" y="52"/>
                        </a:lnTo>
                        <a:lnTo>
                          <a:pt x="11" y="52"/>
                        </a:lnTo>
                        <a:lnTo>
                          <a:pt x="2" y="44"/>
                        </a:lnTo>
                        <a:lnTo>
                          <a:pt x="0" y="38"/>
                        </a:lnTo>
                        <a:lnTo>
                          <a:pt x="3" y="25"/>
                        </a:lnTo>
                        <a:lnTo>
                          <a:pt x="6" y="12"/>
                        </a:lnTo>
                        <a:lnTo>
                          <a:pt x="10" y="0"/>
                        </a:lnTo>
                      </a:path>
                    </a:pathLst>
                  </a:custGeom>
                  <a:solidFill>
                    <a:srgbClr val="3F5F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00714" name="Group 145"/>
                  <p:cNvGrpSpPr>
                    <a:grpSpLocks/>
                  </p:cNvGrpSpPr>
                  <p:nvPr/>
                </p:nvGrpSpPr>
                <p:grpSpPr bwMode="auto">
                  <a:xfrm>
                    <a:off x="734" y="2495"/>
                    <a:ext cx="25" cy="36"/>
                    <a:chOff x="734" y="2495"/>
                    <a:chExt cx="25" cy="36"/>
                  </a:xfrm>
                </p:grpSpPr>
                <p:sp>
                  <p:nvSpPr>
                    <p:cNvPr id="100717" name="Freeform 146"/>
                    <p:cNvSpPr>
                      <a:spLocks/>
                    </p:cNvSpPr>
                    <p:nvPr/>
                  </p:nvSpPr>
                  <p:spPr bwMode="auto">
                    <a:xfrm>
                      <a:off x="746" y="2525"/>
                      <a:ext cx="6" cy="6"/>
                    </a:xfrm>
                    <a:custGeom>
                      <a:avLst/>
                      <a:gdLst>
                        <a:gd name="T0" fmla="*/ 0 w 6"/>
                        <a:gd name="T1" fmla="*/ 3 h 6"/>
                        <a:gd name="T2" fmla="*/ 0 w 6"/>
                        <a:gd name="T3" fmla="*/ 5 h 6"/>
                        <a:gd name="T4" fmla="*/ 1 w 6"/>
                        <a:gd name="T5" fmla="*/ 5 h 6"/>
                        <a:gd name="T6" fmla="*/ 2 w 6"/>
                        <a:gd name="T7" fmla="*/ 5 h 6"/>
                        <a:gd name="T8" fmla="*/ 3 w 6"/>
                        <a:gd name="T9" fmla="*/ 5 h 6"/>
                        <a:gd name="T10" fmla="*/ 4 w 6"/>
                        <a:gd name="T11" fmla="*/ 5 h 6"/>
                        <a:gd name="T12" fmla="*/ 5 w 6"/>
                        <a:gd name="T13" fmla="*/ 3 h 6"/>
                        <a:gd name="T14" fmla="*/ 4 w 6"/>
                        <a:gd name="T15" fmla="*/ 2 h 6"/>
                        <a:gd name="T16" fmla="*/ 3 w 6"/>
                        <a:gd name="T17" fmla="*/ 0 h 6"/>
                        <a:gd name="T18" fmla="*/ 1 w 6"/>
                        <a:gd name="T19" fmla="*/ 0 h 6"/>
                        <a:gd name="T20" fmla="*/ 0 w 6"/>
                        <a:gd name="T21" fmla="*/ 2 h 6"/>
                        <a:gd name="T22" fmla="*/ 0 w 6"/>
                        <a:gd name="T23" fmla="*/ 3 h 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6"/>
                        <a:gd name="T37" fmla="*/ 0 h 6"/>
                        <a:gd name="T38" fmla="*/ 6 w 6"/>
                        <a:gd name="T39" fmla="*/ 6 h 6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6" h="6">
                          <a:moveTo>
                            <a:pt x="0" y="3"/>
                          </a:moveTo>
                          <a:lnTo>
                            <a:pt x="0" y="5"/>
                          </a:lnTo>
                          <a:lnTo>
                            <a:pt x="1" y="5"/>
                          </a:lnTo>
                          <a:lnTo>
                            <a:pt x="2" y="5"/>
                          </a:lnTo>
                          <a:lnTo>
                            <a:pt x="3" y="5"/>
                          </a:lnTo>
                          <a:lnTo>
                            <a:pt x="4" y="5"/>
                          </a:lnTo>
                          <a:lnTo>
                            <a:pt x="5" y="3"/>
                          </a:lnTo>
                          <a:lnTo>
                            <a:pt x="4" y="2"/>
                          </a:lnTo>
                          <a:lnTo>
                            <a:pt x="3" y="0"/>
                          </a:lnTo>
                          <a:lnTo>
                            <a:pt x="1" y="0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18" name="Freeform 147"/>
                    <p:cNvSpPr>
                      <a:spLocks/>
                    </p:cNvSpPr>
                    <p:nvPr/>
                  </p:nvSpPr>
                  <p:spPr bwMode="auto">
                    <a:xfrm>
                      <a:off x="746" y="2517"/>
                      <a:ext cx="4" cy="5"/>
                    </a:xfrm>
                    <a:custGeom>
                      <a:avLst/>
                      <a:gdLst>
                        <a:gd name="T0" fmla="*/ 1 w 4"/>
                        <a:gd name="T1" fmla="*/ 3 h 5"/>
                        <a:gd name="T2" fmla="*/ 0 w 4"/>
                        <a:gd name="T3" fmla="*/ 4 h 5"/>
                        <a:gd name="T4" fmla="*/ 0 w 4"/>
                        <a:gd name="T5" fmla="*/ 3 h 5"/>
                        <a:gd name="T6" fmla="*/ 0 w 4"/>
                        <a:gd name="T7" fmla="*/ 2 h 5"/>
                        <a:gd name="T8" fmla="*/ 0 w 4"/>
                        <a:gd name="T9" fmla="*/ 1 h 5"/>
                        <a:gd name="T10" fmla="*/ 1 w 4"/>
                        <a:gd name="T11" fmla="*/ 1 h 5"/>
                        <a:gd name="T12" fmla="*/ 2 w 4"/>
                        <a:gd name="T13" fmla="*/ 0 h 5"/>
                        <a:gd name="T14" fmla="*/ 2 w 4"/>
                        <a:gd name="T15" fmla="*/ 1 h 5"/>
                        <a:gd name="T16" fmla="*/ 3 w 4"/>
                        <a:gd name="T17" fmla="*/ 2 h 5"/>
                        <a:gd name="T18" fmla="*/ 3 w 4"/>
                        <a:gd name="T19" fmla="*/ 3 h 5"/>
                        <a:gd name="T20" fmla="*/ 2 w 4"/>
                        <a:gd name="T21" fmla="*/ 3 h 5"/>
                        <a:gd name="T22" fmla="*/ 2 w 4"/>
                        <a:gd name="T23" fmla="*/ 2 h 5"/>
                        <a:gd name="T24" fmla="*/ 2 w 4"/>
                        <a:gd name="T25" fmla="*/ 3 h 5"/>
                        <a:gd name="T26" fmla="*/ 1 w 4"/>
                        <a:gd name="T27" fmla="*/ 3 h 5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4"/>
                        <a:gd name="T43" fmla="*/ 0 h 5"/>
                        <a:gd name="T44" fmla="*/ 4 w 4"/>
                        <a:gd name="T45" fmla="*/ 5 h 5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4" h="5">
                          <a:moveTo>
                            <a:pt x="1" y="3"/>
                          </a:moveTo>
                          <a:lnTo>
                            <a:pt x="0" y="4"/>
                          </a:lnTo>
                          <a:lnTo>
                            <a:pt x="0" y="3"/>
                          </a:lnTo>
                          <a:lnTo>
                            <a:pt x="0" y="2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3" y="3"/>
                          </a:lnTo>
                          <a:lnTo>
                            <a:pt x="2" y="3"/>
                          </a:lnTo>
                          <a:lnTo>
                            <a:pt x="2" y="2"/>
                          </a:lnTo>
                          <a:lnTo>
                            <a:pt x="2" y="3"/>
                          </a:lnTo>
                          <a:lnTo>
                            <a:pt x="1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19" name="Freeform 148"/>
                    <p:cNvSpPr>
                      <a:spLocks/>
                    </p:cNvSpPr>
                    <p:nvPr/>
                  </p:nvSpPr>
                  <p:spPr bwMode="auto">
                    <a:xfrm>
                      <a:off x="734" y="2499"/>
                      <a:ext cx="11" cy="14"/>
                    </a:xfrm>
                    <a:custGeom>
                      <a:avLst/>
                      <a:gdLst>
                        <a:gd name="T0" fmla="*/ 0 w 11"/>
                        <a:gd name="T1" fmla="*/ 2 h 14"/>
                        <a:gd name="T2" fmla="*/ 2 w 11"/>
                        <a:gd name="T3" fmla="*/ 1 h 14"/>
                        <a:gd name="T4" fmla="*/ 3 w 11"/>
                        <a:gd name="T5" fmla="*/ 0 h 14"/>
                        <a:gd name="T6" fmla="*/ 4 w 11"/>
                        <a:gd name="T7" fmla="*/ 0 h 14"/>
                        <a:gd name="T8" fmla="*/ 7 w 11"/>
                        <a:gd name="T9" fmla="*/ 0 h 14"/>
                        <a:gd name="T10" fmla="*/ 8 w 11"/>
                        <a:gd name="T11" fmla="*/ 1 h 14"/>
                        <a:gd name="T12" fmla="*/ 9 w 11"/>
                        <a:gd name="T13" fmla="*/ 2 h 14"/>
                        <a:gd name="T14" fmla="*/ 9 w 11"/>
                        <a:gd name="T15" fmla="*/ 6 h 14"/>
                        <a:gd name="T16" fmla="*/ 10 w 11"/>
                        <a:gd name="T17" fmla="*/ 9 h 14"/>
                        <a:gd name="T18" fmla="*/ 10 w 11"/>
                        <a:gd name="T19" fmla="*/ 13 h 14"/>
                        <a:gd name="T20" fmla="*/ 9 w 11"/>
                        <a:gd name="T21" fmla="*/ 12 h 14"/>
                        <a:gd name="T22" fmla="*/ 8 w 11"/>
                        <a:gd name="T23" fmla="*/ 12 h 14"/>
                        <a:gd name="T24" fmla="*/ 7 w 11"/>
                        <a:gd name="T25" fmla="*/ 12 h 14"/>
                        <a:gd name="T26" fmla="*/ 8 w 11"/>
                        <a:gd name="T27" fmla="*/ 9 h 14"/>
                        <a:gd name="T28" fmla="*/ 8 w 11"/>
                        <a:gd name="T29" fmla="*/ 5 h 14"/>
                        <a:gd name="T30" fmla="*/ 8 w 11"/>
                        <a:gd name="T31" fmla="*/ 3 h 14"/>
                        <a:gd name="T32" fmla="*/ 7 w 11"/>
                        <a:gd name="T33" fmla="*/ 2 h 14"/>
                        <a:gd name="T34" fmla="*/ 4 w 11"/>
                        <a:gd name="T35" fmla="*/ 1 h 14"/>
                        <a:gd name="T36" fmla="*/ 0 w 11"/>
                        <a:gd name="T37" fmla="*/ 2 h 14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11"/>
                        <a:gd name="T58" fmla="*/ 0 h 14"/>
                        <a:gd name="T59" fmla="*/ 11 w 11"/>
                        <a:gd name="T60" fmla="*/ 14 h 14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11" h="14">
                          <a:moveTo>
                            <a:pt x="0" y="2"/>
                          </a:moveTo>
                          <a:lnTo>
                            <a:pt x="2" y="1"/>
                          </a:lnTo>
                          <a:lnTo>
                            <a:pt x="3" y="0"/>
                          </a:lnTo>
                          <a:lnTo>
                            <a:pt x="4" y="0"/>
                          </a:lnTo>
                          <a:lnTo>
                            <a:pt x="7" y="0"/>
                          </a:lnTo>
                          <a:lnTo>
                            <a:pt x="8" y="1"/>
                          </a:lnTo>
                          <a:lnTo>
                            <a:pt x="9" y="2"/>
                          </a:lnTo>
                          <a:lnTo>
                            <a:pt x="9" y="6"/>
                          </a:lnTo>
                          <a:lnTo>
                            <a:pt x="10" y="9"/>
                          </a:lnTo>
                          <a:lnTo>
                            <a:pt x="10" y="13"/>
                          </a:lnTo>
                          <a:lnTo>
                            <a:pt x="9" y="12"/>
                          </a:lnTo>
                          <a:lnTo>
                            <a:pt x="8" y="12"/>
                          </a:lnTo>
                          <a:lnTo>
                            <a:pt x="7" y="12"/>
                          </a:lnTo>
                          <a:lnTo>
                            <a:pt x="8" y="9"/>
                          </a:lnTo>
                          <a:lnTo>
                            <a:pt x="8" y="5"/>
                          </a:lnTo>
                          <a:lnTo>
                            <a:pt x="8" y="3"/>
                          </a:lnTo>
                          <a:lnTo>
                            <a:pt x="7" y="2"/>
                          </a:lnTo>
                          <a:lnTo>
                            <a:pt x="4" y="1"/>
                          </a:lnTo>
                          <a:lnTo>
                            <a:pt x="0" y="2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20" name="Freeform 149"/>
                    <p:cNvSpPr>
                      <a:spLocks/>
                    </p:cNvSpPr>
                    <p:nvPr/>
                  </p:nvSpPr>
                  <p:spPr bwMode="auto">
                    <a:xfrm>
                      <a:off x="752" y="2495"/>
                      <a:ext cx="7" cy="5"/>
                    </a:xfrm>
                    <a:custGeom>
                      <a:avLst/>
                      <a:gdLst>
                        <a:gd name="T0" fmla="*/ 0 w 7"/>
                        <a:gd name="T1" fmla="*/ 0 h 5"/>
                        <a:gd name="T2" fmla="*/ 1 w 7"/>
                        <a:gd name="T3" fmla="*/ 3 h 5"/>
                        <a:gd name="T4" fmla="*/ 2 w 7"/>
                        <a:gd name="T5" fmla="*/ 4 h 5"/>
                        <a:gd name="T6" fmla="*/ 4 w 7"/>
                        <a:gd name="T7" fmla="*/ 4 h 5"/>
                        <a:gd name="T8" fmla="*/ 5 w 7"/>
                        <a:gd name="T9" fmla="*/ 2 h 5"/>
                        <a:gd name="T10" fmla="*/ 6 w 7"/>
                        <a:gd name="T11" fmla="*/ 0 h 5"/>
                        <a:gd name="T12" fmla="*/ 4 w 7"/>
                        <a:gd name="T13" fmla="*/ 1 h 5"/>
                        <a:gd name="T14" fmla="*/ 3 w 7"/>
                        <a:gd name="T15" fmla="*/ 2 h 5"/>
                        <a:gd name="T16" fmla="*/ 1 w 7"/>
                        <a:gd name="T17" fmla="*/ 0 h 5"/>
                        <a:gd name="T18" fmla="*/ 0 w 7"/>
                        <a:gd name="T19" fmla="*/ 0 h 5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7"/>
                        <a:gd name="T31" fmla="*/ 0 h 5"/>
                        <a:gd name="T32" fmla="*/ 7 w 7"/>
                        <a:gd name="T33" fmla="*/ 5 h 5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7" h="5">
                          <a:moveTo>
                            <a:pt x="0" y="0"/>
                          </a:moveTo>
                          <a:lnTo>
                            <a:pt x="1" y="3"/>
                          </a:lnTo>
                          <a:lnTo>
                            <a:pt x="2" y="4"/>
                          </a:lnTo>
                          <a:lnTo>
                            <a:pt x="4" y="4"/>
                          </a:lnTo>
                          <a:lnTo>
                            <a:pt x="5" y="2"/>
                          </a:lnTo>
                          <a:lnTo>
                            <a:pt x="6" y="0"/>
                          </a:lnTo>
                          <a:lnTo>
                            <a:pt x="4" y="1"/>
                          </a:lnTo>
                          <a:lnTo>
                            <a:pt x="3" y="2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21" name="Freeform 150"/>
                    <p:cNvSpPr>
                      <a:spLocks/>
                    </p:cNvSpPr>
                    <p:nvPr/>
                  </p:nvSpPr>
                  <p:spPr bwMode="auto">
                    <a:xfrm>
                      <a:off x="738" y="2499"/>
                      <a:ext cx="2" cy="6"/>
                    </a:xfrm>
                    <a:custGeom>
                      <a:avLst/>
                      <a:gdLst>
                        <a:gd name="T0" fmla="*/ 0 w 2"/>
                        <a:gd name="T1" fmla="*/ 3 h 6"/>
                        <a:gd name="T2" fmla="*/ 0 w 2"/>
                        <a:gd name="T3" fmla="*/ 5 h 6"/>
                        <a:gd name="T4" fmla="*/ 1 w 2"/>
                        <a:gd name="T5" fmla="*/ 5 h 6"/>
                        <a:gd name="T6" fmla="*/ 1 w 2"/>
                        <a:gd name="T7" fmla="*/ 3 h 6"/>
                        <a:gd name="T8" fmla="*/ 1 w 2"/>
                        <a:gd name="T9" fmla="*/ 2 h 6"/>
                        <a:gd name="T10" fmla="*/ 1 w 2"/>
                        <a:gd name="T11" fmla="*/ 0 h 6"/>
                        <a:gd name="T12" fmla="*/ 0 w 2"/>
                        <a:gd name="T13" fmla="*/ 0 h 6"/>
                        <a:gd name="T14" fmla="*/ 0 w 2"/>
                        <a:gd name="T15" fmla="*/ 3 h 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2"/>
                        <a:gd name="T25" fmla="*/ 0 h 6"/>
                        <a:gd name="T26" fmla="*/ 2 w 2"/>
                        <a:gd name="T27" fmla="*/ 6 h 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2" h="6">
                          <a:moveTo>
                            <a:pt x="0" y="3"/>
                          </a:moveTo>
                          <a:lnTo>
                            <a:pt x="0" y="5"/>
                          </a:lnTo>
                          <a:lnTo>
                            <a:pt x="1" y="5"/>
                          </a:lnTo>
                          <a:lnTo>
                            <a:pt x="1" y="3"/>
                          </a:lnTo>
                          <a:lnTo>
                            <a:pt x="1" y="2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722" name="Freeform 151"/>
                    <p:cNvSpPr>
                      <a:spLocks/>
                    </p:cNvSpPr>
                    <p:nvPr/>
                  </p:nvSpPr>
                  <p:spPr bwMode="auto">
                    <a:xfrm>
                      <a:off x="754" y="2499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3 h 6"/>
                        <a:gd name="T2" fmla="*/ 0 w 1"/>
                        <a:gd name="T3" fmla="*/ 5 h 6"/>
                        <a:gd name="T4" fmla="*/ 0 w 1"/>
                        <a:gd name="T5" fmla="*/ 3 h 6"/>
                        <a:gd name="T6" fmla="*/ 0 w 1"/>
                        <a:gd name="T7" fmla="*/ 2 h 6"/>
                        <a:gd name="T8" fmla="*/ 0 w 1"/>
                        <a:gd name="T9" fmla="*/ 0 h 6"/>
                        <a:gd name="T10" fmla="*/ 0 w 1"/>
                        <a:gd name="T11" fmla="*/ 2 h 6"/>
                        <a:gd name="T12" fmla="*/ 0 w 1"/>
                        <a:gd name="T13" fmla="*/ 3 h 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"/>
                        <a:gd name="T22" fmla="*/ 0 h 6"/>
                        <a:gd name="T23" fmla="*/ 1 w 1"/>
                        <a:gd name="T24" fmla="*/ 6 h 6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" h="6">
                          <a:moveTo>
                            <a:pt x="0" y="3"/>
                          </a:moveTo>
                          <a:lnTo>
                            <a:pt x="0" y="5"/>
                          </a:lnTo>
                          <a:lnTo>
                            <a:pt x="0" y="3"/>
                          </a:lnTo>
                          <a:lnTo>
                            <a:pt x="0" y="2"/>
                          </a:lnTo>
                          <a:lnTo>
                            <a:pt x="0" y="0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715" name="Freeform 152"/>
                  <p:cNvSpPr>
                    <a:spLocks/>
                  </p:cNvSpPr>
                  <p:nvPr/>
                </p:nvSpPr>
                <p:spPr bwMode="auto">
                  <a:xfrm>
                    <a:off x="695" y="2466"/>
                    <a:ext cx="75" cy="65"/>
                  </a:xfrm>
                  <a:custGeom>
                    <a:avLst/>
                    <a:gdLst>
                      <a:gd name="T0" fmla="*/ 37 w 75"/>
                      <a:gd name="T1" fmla="*/ 2 h 65"/>
                      <a:gd name="T2" fmla="*/ 29 w 75"/>
                      <a:gd name="T3" fmla="*/ 3 h 65"/>
                      <a:gd name="T4" fmla="*/ 23 w 75"/>
                      <a:gd name="T5" fmla="*/ 6 h 65"/>
                      <a:gd name="T6" fmla="*/ 14 w 75"/>
                      <a:gd name="T7" fmla="*/ 13 h 65"/>
                      <a:gd name="T8" fmla="*/ 10 w 75"/>
                      <a:gd name="T9" fmla="*/ 24 h 65"/>
                      <a:gd name="T10" fmla="*/ 6 w 75"/>
                      <a:gd name="T11" fmla="*/ 31 h 65"/>
                      <a:gd name="T12" fmla="*/ 3 w 75"/>
                      <a:gd name="T13" fmla="*/ 36 h 65"/>
                      <a:gd name="T14" fmla="*/ 0 w 75"/>
                      <a:gd name="T15" fmla="*/ 41 h 65"/>
                      <a:gd name="T16" fmla="*/ 3 w 75"/>
                      <a:gd name="T17" fmla="*/ 47 h 65"/>
                      <a:gd name="T18" fmla="*/ 6 w 75"/>
                      <a:gd name="T19" fmla="*/ 51 h 65"/>
                      <a:gd name="T20" fmla="*/ 13 w 75"/>
                      <a:gd name="T21" fmla="*/ 54 h 65"/>
                      <a:gd name="T22" fmla="*/ 19 w 75"/>
                      <a:gd name="T23" fmla="*/ 57 h 65"/>
                      <a:gd name="T24" fmla="*/ 22 w 75"/>
                      <a:gd name="T25" fmla="*/ 60 h 65"/>
                      <a:gd name="T26" fmla="*/ 28 w 75"/>
                      <a:gd name="T27" fmla="*/ 64 h 65"/>
                      <a:gd name="T28" fmla="*/ 32 w 75"/>
                      <a:gd name="T29" fmla="*/ 62 h 65"/>
                      <a:gd name="T30" fmla="*/ 30 w 75"/>
                      <a:gd name="T31" fmla="*/ 44 h 65"/>
                      <a:gd name="T32" fmla="*/ 32 w 75"/>
                      <a:gd name="T33" fmla="*/ 28 h 65"/>
                      <a:gd name="T34" fmla="*/ 35 w 75"/>
                      <a:gd name="T35" fmla="*/ 19 h 65"/>
                      <a:gd name="T36" fmla="*/ 42 w 75"/>
                      <a:gd name="T37" fmla="*/ 12 h 65"/>
                      <a:gd name="T38" fmla="*/ 46 w 75"/>
                      <a:gd name="T39" fmla="*/ 11 h 65"/>
                      <a:gd name="T40" fmla="*/ 51 w 75"/>
                      <a:gd name="T41" fmla="*/ 11 h 65"/>
                      <a:gd name="T42" fmla="*/ 55 w 75"/>
                      <a:gd name="T43" fmla="*/ 13 h 65"/>
                      <a:gd name="T44" fmla="*/ 60 w 75"/>
                      <a:gd name="T45" fmla="*/ 17 h 65"/>
                      <a:gd name="T46" fmla="*/ 61 w 75"/>
                      <a:gd name="T47" fmla="*/ 20 h 65"/>
                      <a:gd name="T48" fmla="*/ 63 w 75"/>
                      <a:gd name="T49" fmla="*/ 25 h 65"/>
                      <a:gd name="T50" fmla="*/ 63 w 75"/>
                      <a:gd name="T51" fmla="*/ 29 h 65"/>
                      <a:gd name="T52" fmla="*/ 62 w 75"/>
                      <a:gd name="T53" fmla="*/ 33 h 65"/>
                      <a:gd name="T54" fmla="*/ 62 w 75"/>
                      <a:gd name="T55" fmla="*/ 36 h 65"/>
                      <a:gd name="T56" fmla="*/ 64 w 75"/>
                      <a:gd name="T57" fmla="*/ 44 h 65"/>
                      <a:gd name="T58" fmla="*/ 63 w 75"/>
                      <a:gd name="T59" fmla="*/ 50 h 65"/>
                      <a:gd name="T60" fmla="*/ 63 w 75"/>
                      <a:gd name="T61" fmla="*/ 55 h 65"/>
                      <a:gd name="T62" fmla="*/ 69 w 75"/>
                      <a:gd name="T63" fmla="*/ 56 h 65"/>
                      <a:gd name="T64" fmla="*/ 72 w 75"/>
                      <a:gd name="T65" fmla="*/ 53 h 65"/>
                      <a:gd name="T66" fmla="*/ 74 w 75"/>
                      <a:gd name="T67" fmla="*/ 49 h 65"/>
                      <a:gd name="T68" fmla="*/ 73 w 75"/>
                      <a:gd name="T69" fmla="*/ 41 h 65"/>
                      <a:gd name="T70" fmla="*/ 69 w 75"/>
                      <a:gd name="T71" fmla="*/ 32 h 65"/>
                      <a:gd name="T72" fmla="*/ 65 w 75"/>
                      <a:gd name="T73" fmla="*/ 23 h 65"/>
                      <a:gd name="T74" fmla="*/ 62 w 75"/>
                      <a:gd name="T75" fmla="*/ 16 h 65"/>
                      <a:gd name="T76" fmla="*/ 59 w 75"/>
                      <a:gd name="T77" fmla="*/ 10 h 65"/>
                      <a:gd name="T78" fmla="*/ 56 w 75"/>
                      <a:gd name="T79" fmla="*/ 7 h 65"/>
                      <a:gd name="T80" fmla="*/ 51 w 75"/>
                      <a:gd name="T81" fmla="*/ 4 h 65"/>
                      <a:gd name="T82" fmla="*/ 42 w 75"/>
                      <a:gd name="T83" fmla="*/ 0 h 65"/>
                      <a:gd name="T84" fmla="*/ 37 w 75"/>
                      <a:gd name="T85" fmla="*/ 2 h 65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75"/>
                      <a:gd name="T130" fmla="*/ 0 h 65"/>
                      <a:gd name="T131" fmla="*/ 75 w 75"/>
                      <a:gd name="T132" fmla="*/ 65 h 65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75" h="65">
                        <a:moveTo>
                          <a:pt x="37" y="2"/>
                        </a:moveTo>
                        <a:lnTo>
                          <a:pt x="29" y="3"/>
                        </a:lnTo>
                        <a:lnTo>
                          <a:pt x="23" y="6"/>
                        </a:lnTo>
                        <a:lnTo>
                          <a:pt x="14" y="13"/>
                        </a:lnTo>
                        <a:lnTo>
                          <a:pt x="10" y="24"/>
                        </a:lnTo>
                        <a:lnTo>
                          <a:pt x="6" y="31"/>
                        </a:lnTo>
                        <a:lnTo>
                          <a:pt x="3" y="36"/>
                        </a:lnTo>
                        <a:lnTo>
                          <a:pt x="0" y="41"/>
                        </a:lnTo>
                        <a:lnTo>
                          <a:pt x="3" y="47"/>
                        </a:lnTo>
                        <a:lnTo>
                          <a:pt x="6" y="51"/>
                        </a:lnTo>
                        <a:lnTo>
                          <a:pt x="13" y="54"/>
                        </a:lnTo>
                        <a:lnTo>
                          <a:pt x="19" y="57"/>
                        </a:lnTo>
                        <a:lnTo>
                          <a:pt x="22" y="60"/>
                        </a:lnTo>
                        <a:lnTo>
                          <a:pt x="28" y="64"/>
                        </a:lnTo>
                        <a:lnTo>
                          <a:pt x="32" y="62"/>
                        </a:lnTo>
                        <a:lnTo>
                          <a:pt x="30" y="44"/>
                        </a:lnTo>
                        <a:lnTo>
                          <a:pt x="32" y="28"/>
                        </a:lnTo>
                        <a:lnTo>
                          <a:pt x="35" y="19"/>
                        </a:lnTo>
                        <a:lnTo>
                          <a:pt x="42" y="12"/>
                        </a:lnTo>
                        <a:lnTo>
                          <a:pt x="46" y="11"/>
                        </a:lnTo>
                        <a:lnTo>
                          <a:pt x="51" y="11"/>
                        </a:lnTo>
                        <a:lnTo>
                          <a:pt x="55" y="13"/>
                        </a:lnTo>
                        <a:lnTo>
                          <a:pt x="60" y="17"/>
                        </a:lnTo>
                        <a:lnTo>
                          <a:pt x="61" y="20"/>
                        </a:lnTo>
                        <a:lnTo>
                          <a:pt x="63" y="25"/>
                        </a:lnTo>
                        <a:lnTo>
                          <a:pt x="63" y="29"/>
                        </a:lnTo>
                        <a:lnTo>
                          <a:pt x="62" y="33"/>
                        </a:lnTo>
                        <a:lnTo>
                          <a:pt x="62" y="36"/>
                        </a:lnTo>
                        <a:lnTo>
                          <a:pt x="64" y="44"/>
                        </a:lnTo>
                        <a:lnTo>
                          <a:pt x="63" y="50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2" y="53"/>
                        </a:lnTo>
                        <a:lnTo>
                          <a:pt x="74" y="49"/>
                        </a:lnTo>
                        <a:lnTo>
                          <a:pt x="73" y="41"/>
                        </a:lnTo>
                        <a:lnTo>
                          <a:pt x="69" y="32"/>
                        </a:lnTo>
                        <a:lnTo>
                          <a:pt x="65" y="23"/>
                        </a:lnTo>
                        <a:lnTo>
                          <a:pt x="62" y="16"/>
                        </a:lnTo>
                        <a:lnTo>
                          <a:pt x="59" y="10"/>
                        </a:lnTo>
                        <a:lnTo>
                          <a:pt x="56" y="7"/>
                        </a:lnTo>
                        <a:lnTo>
                          <a:pt x="51" y="4"/>
                        </a:lnTo>
                        <a:lnTo>
                          <a:pt x="42" y="0"/>
                        </a:lnTo>
                        <a:lnTo>
                          <a:pt x="37" y="2"/>
                        </a:lnTo>
                      </a:path>
                    </a:pathLst>
                  </a:custGeom>
                  <a:solidFill>
                    <a:srgbClr val="9FFF9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716" name="Freeform 153"/>
                  <p:cNvSpPr>
                    <a:spLocks/>
                  </p:cNvSpPr>
                  <p:nvPr/>
                </p:nvSpPr>
                <p:spPr bwMode="auto">
                  <a:xfrm>
                    <a:off x="684" y="2532"/>
                    <a:ext cx="49" cy="80"/>
                  </a:xfrm>
                  <a:custGeom>
                    <a:avLst/>
                    <a:gdLst>
                      <a:gd name="T0" fmla="*/ 29 w 49"/>
                      <a:gd name="T1" fmla="*/ 0 h 80"/>
                      <a:gd name="T2" fmla="*/ 29 w 49"/>
                      <a:gd name="T3" fmla="*/ 9 h 80"/>
                      <a:gd name="T4" fmla="*/ 33 w 49"/>
                      <a:gd name="T5" fmla="*/ 19 h 80"/>
                      <a:gd name="T6" fmla="*/ 36 w 49"/>
                      <a:gd name="T7" fmla="*/ 25 h 80"/>
                      <a:gd name="T8" fmla="*/ 40 w 49"/>
                      <a:gd name="T9" fmla="*/ 29 h 80"/>
                      <a:gd name="T10" fmla="*/ 39 w 49"/>
                      <a:gd name="T11" fmla="*/ 36 h 80"/>
                      <a:gd name="T12" fmla="*/ 43 w 49"/>
                      <a:gd name="T13" fmla="*/ 47 h 80"/>
                      <a:gd name="T14" fmla="*/ 46 w 49"/>
                      <a:gd name="T15" fmla="*/ 63 h 80"/>
                      <a:gd name="T16" fmla="*/ 48 w 49"/>
                      <a:gd name="T17" fmla="*/ 79 h 80"/>
                      <a:gd name="T18" fmla="*/ 20 w 49"/>
                      <a:gd name="T19" fmla="*/ 79 h 80"/>
                      <a:gd name="T20" fmla="*/ 16 w 49"/>
                      <a:gd name="T21" fmla="*/ 75 h 80"/>
                      <a:gd name="T22" fmla="*/ 13 w 49"/>
                      <a:gd name="T23" fmla="*/ 70 h 80"/>
                      <a:gd name="T24" fmla="*/ 9 w 49"/>
                      <a:gd name="T25" fmla="*/ 64 h 80"/>
                      <a:gd name="T26" fmla="*/ 7 w 49"/>
                      <a:gd name="T27" fmla="*/ 56 h 80"/>
                      <a:gd name="T28" fmla="*/ 3 w 49"/>
                      <a:gd name="T29" fmla="*/ 48 h 80"/>
                      <a:gd name="T30" fmla="*/ 1 w 49"/>
                      <a:gd name="T31" fmla="*/ 39 h 80"/>
                      <a:gd name="T32" fmla="*/ 1 w 49"/>
                      <a:gd name="T33" fmla="*/ 32 h 80"/>
                      <a:gd name="T34" fmla="*/ 0 w 49"/>
                      <a:gd name="T35" fmla="*/ 28 h 80"/>
                      <a:gd name="T36" fmla="*/ 6 w 49"/>
                      <a:gd name="T37" fmla="*/ 28 h 80"/>
                      <a:gd name="T38" fmla="*/ 11 w 49"/>
                      <a:gd name="T39" fmla="*/ 26 h 80"/>
                      <a:gd name="T40" fmla="*/ 17 w 49"/>
                      <a:gd name="T41" fmla="*/ 21 h 80"/>
                      <a:gd name="T42" fmla="*/ 22 w 49"/>
                      <a:gd name="T43" fmla="*/ 13 h 80"/>
                      <a:gd name="T44" fmla="*/ 29 w 49"/>
                      <a:gd name="T45" fmla="*/ 0 h 8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9"/>
                      <a:gd name="T70" fmla="*/ 0 h 80"/>
                      <a:gd name="T71" fmla="*/ 49 w 49"/>
                      <a:gd name="T72" fmla="*/ 80 h 8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9" h="80">
                        <a:moveTo>
                          <a:pt x="29" y="0"/>
                        </a:moveTo>
                        <a:lnTo>
                          <a:pt x="29" y="9"/>
                        </a:lnTo>
                        <a:lnTo>
                          <a:pt x="33" y="19"/>
                        </a:lnTo>
                        <a:lnTo>
                          <a:pt x="36" y="25"/>
                        </a:lnTo>
                        <a:lnTo>
                          <a:pt x="40" y="29"/>
                        </a:lnTo>
                        <a:lnTo>
                          <a:pt x="39" y="36"/>
                        </a:lnTo>
                        <a:lnTo>
                          <a:pt x="43" y="47"/>
                        </a:lnTo>
                        <a:lnTo>
                          <a:pt x="46" y="63"/>
                        </a:lnTo>
                        <a:lnTo>
                          <a:pt x="48" y="79"/>
                        </a:lnTo>
                        <a:lnTo>
                          <a:pt x="20" y="79"/>
                        </a:lnTo>
                        <a:lnTo>
                          <a:pt x="16" y="75"/>
                        </a:lnTo>
                        <a:lnTo>
                          <a:pt x="13" y="70"/>
                        </a:lnTo>
                        <a:lnTo>
                          <a:pt x="9" y="64"/>
                        </a:lnTo>
                        <a:lnTo>
                          <a:pt x="7" y="56"/>
                        </a:lnTo>
                        <a:lnTo>
                          <a:pt x="3" y="48"/>
                        </a:lnTo>
                        <a:lnTo>
                          <a:pt x="1" y="39"/>
                        </a:lnTo>
                        <a:lnTo>
                          <a:pt x="1" y="32"/>
                        </a:lnTo>
                        <a:lnTo>
                          <a:pt x="0" y="28"/>
                        </a:lnTo>
                        <a:lnTo>
                          <a:pt x="6" y="28"/>
                        </a:lnTo>
                        <a:lnTo>
                          <a:pt x="11" y="26"/>
                        </a:lnTo>
                        <a:lnTo>
                          <a:pt x="17" y="21"/>
                        </a:lnTo>
                        <a:lnTo>
                          <a:pt x="22" y="13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00707" name="Freeform 154"/>
              <p:cNvSpPr>
                <a:spLocks/>
              </p:cNvSpPr>
              <p:nvPr/>
            </p:nvSpPr>
            <p:spPr bwMode="auto">
              <a:xfrm>
                <a:off x="631" y="2606"/>
                <a:ext cx="216" cy="36"/>
              </a:xfrm>
              <a:custGeom>
                <a:avLst/>
                <a:gdLst>
                  <a:gd name="T0" fmla="*/ 0 w 216"/>
                  <a:gd name="T1" fmla="*/ 0 h 36"/>
                  <a:gd name="T2" fmla="*/ 215 w 216"/>
                  <a:gd name="T3" fmla="*/ 0 h 36"/>
                  <a:gd name="T4" fmla="*/ 215 w 216"/>
                  <a:gd name="T5" fmla="*/ 35 h 36"/>
                  <a:gd name="T6" fmla="*/ 0 w 216"/>
                  <a:gd name="T7" fmla="*/ 35 h 36"/>
                  <a:gd name="T8" fmla="*/ 0 w 216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36"/>
                  <a:gd name="T17" fmla="*/ 216 w 216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36">
                    <a:moveTo>
                      <a:pt x="0" y="0"/>
                    </a:moveTo>
                    <a:lnTo>
                      <a:pt x="215" y="0"/>
                    </a:lnTo>
                    <a:lnTo>
                      <a:pt x="215" y="35"/>
                    </a:lnTo>
                    <a:lnTo>
                      <a:pt x="0" y="3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06" name="Rectangle 155"/>
            <p:cNvSpPr>
              <a:spLocks noChangeArrowheads="1"/>
            </p:cNvSpPr>
            <p:nvPr/>
          </p:nvSpPr>
          <p:spPr bwMode="auto">
            <a:xfrm>
              <a:off x="628" y="2407"/>
              <a:ext cx="213" cy="6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DFFFB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0407" name="Group 156"/>
            <p:cNvGrpSpPr>
              <a:grpSpLocks/>
            </p:cNvGrpSpPr>
            <p:nvPr/>
          </p:nvGrpSpPr>
          <p:grpSpPr bwMode="auto">
            <a:xfrm>
              <a:off x="496" y="2405"/>
              <a:ext cx="84" cy="92"/>
              <a:chOff x="496" y="2405"/>
              <a:chExt cx="84" cy="92"/>
            </a:xfrm>
          </p:grpSpPr>
          <p:sp>
            <p:nvSpPr>
              <p:cNvPr id="100702" name="Freeform 157"/>
              <p:cNvSpPr>
                <a:spLocks/>
              </p:cNvSpPr>
              <p:nvPr/>
            </p:nvSpPr>
            <p:spPr bwMode="auto">
              <a:xfrm>
                <a:off x="548" y="2413"/>
                <a:ext cx="32" cy="84"/>
              </a:xfrm>
              <a:custGeom>
                <a:avLst/>
                <a:gdLst>
                  <a:gd name="T0" fmla="*/ 3 w 32"/>
                  <a:gd name="T1" fmla="*/ 35 h 84"/>
                  <a:gd name="T2" fmla="*/ 2 w 32"/>
                  <a:gd name="T3" fmla="*/ 30 h 84"/>
                  <a:gd name="T4" fmla="*/ 0 w 32"/>
                  <a:gd name="T5" fmla="*/ 24 h 84"/>
                  <a:gd name="T6" fmla="*/ 0 w 32"/>
                  <a:gd name="T7" fmla="*/ 16 h 84"/>
                  <a:gd name="T8" fmla="*/ 1 w 32"/>
                  <a:gd name="T9" fmla="*/ 9 h 84"/>
                  <a:gd name="T10" fmla="*/ 4 w 32"/>
                  <a:gd name="T11" fmla="*/ 0 h 84"/>
                  <a:gd name="T12" fmla="*/ 8 w 32"/>
                  <a:gd name="T13" fmla="*/ 8 h 84"/>
                  <a:gd name="T14" fmla="*/ 10 w 32"/>
                  <a:gd name="T15" fmla="*/ 14 h 84"/>
                  <a:gd name="T16" fmla="*/ 11 w 32"/>
                  <a:gd name="T17" fmla="*/ 21 h 84"/>
                  <a:gd name="T18" fmla="*/ 10 w 32"/>
                  <a:gd name="T19" fmla="*/ 29 h 84"/>
                  <a:gd name="T20" fmla="*/ 9 w 32"/>
                  <a:gd name="T21" fmla="*/ 36 h 84"/>
                  <a:gd name="T22" fmla="*/ 8 w 32"/>
                  <a:gd name="T23" fmla="*/ 40 h 84"/>
                  <a:gd name="T24" fmla="*/ 10 w 32"/>
                  <a:gd name="T25" fmla="*/ 36 h 84"/>
                  <a:gd name="T26" fmla="*/ 14 w 32"/>
                  <a:gd name="T27" fmla="*/ 31 h 84"/>
                  <a:gd name="T28" fmla="*/ 18 w 32"/>
                  <a:gd name="T29" fmla="*/ 28 h 84"/>
                  <a:gd name="T30" fmla="*/ 22 w 32"/>
                  <a:gd name="T31" fmla="*/ 26 h 84"/>
                  <a:gd name="T32" fmla="*/ 27 w 32"/>
                  <a:gd name="T33" fmla="*/ 24 h 84"/>
                  <a:gd name="T34" fmla="*/ 31 w 32"/>
                  <a:gd name="T35" fmla="*/ 24 h 84"/>
                  <a:gd name="T36" fmla="*/ 29 w 32"/>
                  <a:gd name="T37" fmla="*/ 29 h 84"/>
                  <a:gd name="T38" fmla="*/ 27 w 32"/>
                  <a:gd name="T39" fmla="*/ 35 h 84"/>
                  <a:gd name="T40" fmla="*/ 23 w 32"/>
                  <a:gd name="T41" fmla="*/ 40 h 84"/>
                  <a:gd name="T42" fmla="*/ 20 w 32"/>
                  <a:gd name="T43" fmla="*/ 43 h 84"/>
                  <a:gd name="T44" fmla="*/ 14 w 32"/>
                  <a:gd name="T45" fmla="*/ 45 h 84"/>
                  <a:gd name="T46" fmla="*/ 9 w 32"/>
                  <a:gd name="T47" fmla="*/ 46 h 84"/>
                  <a:gd name="T48" fmla="*/ 15 w 32"/>
                  <a:gd name="T49" fmla="*/ 49 h 84"/>
                  <a:gd name="T50" fmla="*/ 19 w 32"/>
                  <a:gd name="T51" fmla="*/ 53 h 84"/>
                  <a:gd name="T52" fmla="*/ 21 w 32"/>
                  <a:gd name="T53" fmla="*/ 56 h 84"/>
                  <a:gd name="T54" fmla="*/ 23 w 32"/>
                  <a:gd name="T55" fmla="*/ 60 h 84"/>
                  <a:gd name="T56" fmla="*/ 23 w 32"/>
                  <a:gd name="T57" fmla="*/ 64 h 84"/>
                  <a:gd name="T58" fmla="*/ 24 w 32"/>
                  <a:gd name="T59" fmla="*/ 70 h 84"/>
                  <a:gd name="T60" fmla="*/ 17 w 32"/>
                  <a:gd name="T61" fmla="*/ 67 h 84"/>
                  <a:gd name="T62" fmla="*/ 13 w 32"/>
                  <a:gd name="T63" fmla="*/ 64 h 84"/>
                  <a:gd name="T64" fmla="*/ 11 w 32"/>
                  <a:gd name="T65" fmla="*/ 60 h 84"/>
                  <a:gd name="T66" fmla="*/ 8 w 32"/>
                  <a:gd name="T67" fmla="*/ 53 h 84"/>
                  <a:gd name="T68" fmla="*/ 10 w 32"/>
                  <a:gd name="T69" fmla="*/ 60 h 84"/>
                  <a:gd name="T70" fmla="*/ 11 w 32"/>
                  <a:gd name="T71" fmla="*/ 67 h 84"/>
                  <a:gd name="T72" fmla="*/ 12 w 32"/>
                  <a:gd name="T73" fmla="*/ 72 h 84"/>
                  <a:gd name="T74" fmla="*/ 11 w 32"/>
                  <a:gd name="T75" fmla="*/ 78 h 84"/>
                  <a:gd name="T76" fmla="*/ 11 w 32"/>
                  <a:gd name="T77" fmla="*/ 83 h 84"/>
                  <a:gd name="T78" fmla="*/ 5 w 32"/>
                  <a:gd name="T79" fmla="*/ 77 h 84"/>
                  <a:gd name="T80" fmla="*/ 2 w 32"/>
                  <a:gd name="T81" fmla="*/ 69 h 84"/>
                  <a:gd name="T82" fmla="*/ 1 w 32"/>
                  <a:gd name="T83" fmla="*/ 60 h 84"/>
                  <a:gd name="T84" fmla="*/ 3 w 32"/>
                  <a:gd name="T85" fmla="*/ 51 h 84"/>
                  <a:gd name="T86" fmla="*/ 3 w 32"/>
                  <a:gd name="T87" fmla="*/ 44 h 84"/>
                  <a:gd name="T88" fmla="*/ 3 w 32"/>
                  <a:gd name="T89" fmla="*/ 40 h 84"/>
                  <a:gd name="T90" fmla="*/ 3 w 32"/>
                  <a:gd name="T91" fmla="*/ 35 h 8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2"/>
                  <a:gd name="T139" fmla="*/ 0 h 84"/>
                  <a:gd name="T140" fmla="*/ 32 w 32"/>
                  <a:gd name="T141" fmla="*/ 84 h 8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2" h="84">
                    <a:moveTo>
                      <a:pt x="3" y="35"/>
                    </a:moveTo>
                    <a:lnTo>
                      <a:pt x="2" y="30"/>
                    </a:lnTo>
                    <a:lnTo>
                      <a:pt x="0" y="24"/>
                    </a:lnTo>
                    <a:lnTo>
                      <a:pt x="0" y="16"/>
                    </a:lnTo>
                    <a:lnTo>
                      <a:pt x="1" y="9"/>
                    </a:lnTo>
                    <a:lnTo>
                      <a:pt x="4" y="0"/>
                    </a:lnTo>
                    <a:lnTo>
                      <a:pt x="8" y="8"/>
                    </a:lnTo>
                    <a:lnTo>
                      <a:pt x="10" y="14"/>
                    </a:lnTo>
                    <a:lnTo>
                      <a:pt x="11" y="21"/>
                    </a:lnTo>
                    <a:lnTo>
                      <a:pt x="10" y="29"/>
                    </a:lnTo>
                    <a:lnTo>
                      <a:pt x="9" y="36"/>
                    </a:lnTo>
                    <a:lnTo>
                      <a:pt x="8" y="40"/>
                    </a:lnTo>
                    <a:lnTo>
                      <a:pt x="10" y="36"/>
                    </a:lnTo>
                    <a:lnTo>
                      <a:pt x="14" y="31"/>
                    </a:lnTo>
                    <a:lnTo>
                      <a:pt x="18" y="28"/>
                    </a:lnTo>
                    <a:lnTo>
                      <a:pt x="22" y="26"/>
                    </a:lnTo>
                    <a:lnTo>
                      <a:pt x="27" y="24"/>
                    </a:lnTo>
                    <a:lnTo>
                      <a:pt x="31" y="24"/>
                    </a:lnTo>
                    <a:lnTo>
                      <a:pt x="29" y="29"/>
                    </a:lnTo>
                    <a:lnTo>
                      <a:pt x="27" y="35"/>
                    </a:lnTo>
                    <a:lnTo>
                      <a:pt x="23" y="40"/>
                    </a:lnTo>
                    <a:lnTo>
                      <a:pt x="20" y="43"/>
                    </a:lnTo>
                    <a:lnTo>
                      <a:pt x="14" y="45"/>
                    </a:lnTo>
                    <a:lnTo>
                      <a:pt x="9" y="46"/>
                    </a:lnTo>
                    <a:lnTo>
                      <a:pt x="15" y="49"/>
                    </a:lnTo>
                    <a:lnTo>
                      <a:pt x="19" y="53"/>
                    </a:lnTo>
                    <a:lnTo>
                      <a:pt x="21" y="56"/>
                    </a:lnTo>
                    <a:lnTo>
                      <a:pt x="23" y="60"/>
                    </a:lnTo>
                    <a:lnTo>
                      <a:pt x="23" y="64"/>
                    </a:lnTo>
                    <a:lnTo>
                      <a:pt x="24" y="70"/>
                    </a:lnTo>
                    <a:lnTo>
                      <a:pt x="17" y="67"/>
                    </a:lnTo>
                    <a:lnTo>
                      <a:pt x="13" y="64"/>
                    </a:lnTo>
                    <a:lnTo>
                      <a:pt x="11" y="60"/>
                    </a:lnTo>
                    <a:lnTo>
                      <a:pt x="8" y="53"/>
                    </a:lnTo>
                    <a:lnTo>
                      <a:pt x="10" y="60"/>
                    </a:lnTo>
                    <a:lnTo>
                      <a:pt x="11" y="67"/>
                    </a:lnTo>
                    <a:lnTo>
                      <a:pt x="12" y="72"/>
                    </a:lnTo>
                    <a:lnTo>
                      <a:pt x="11" y="78"/>
                    </a:lnTo>
                    <a:lnTo>
                      <a:pt x="11" y="83"/>
                    </a:lnTo>
                    <a:lnTo>
                      <a:pt x="5" y="77"/>
                    </a:lnTo>
                    <a:lnTo>
                      <a:pt x="2" y="69"/>
                    </a:lnTo>
                    <a:lnTo>
                      <a:pt x="1" y="60"/>
                    </a:lnTo>
                    <a:lnTo>
                      <a:pt x="3" y="51"/>
                    </a:lnTo>
                    <a:lnTo>
                      <a:pt x="3" y="44"/>
                    </a:lnTo>
                    <a:lnTo>
                      <a:pt x="3" y="40"/>
                    </a:lnTo>
                    <a:lnTo>
                      <a:pt x="3" y="3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03" name="Freeform 158"/>
              <p:cNvSpPr>
                <a:spLocks/>
              </p:cNvSpPr>
              <p:nvPr/>
            </p:nvSpPr>
            <p:spPr bwMode="auto">
              <a:xfrm>
                <a:off x="496" y="2405"/>
                <a:ext cx="24" cy="39"/>
              </a:xfrm>
              <a:custGeom>
                <a:avLst/>
                <a:gdLst>
                  <a:gd name="T0" fmla="*/ 9 w 24"/>
                  <a:gd name="T1" fmla="*/ 34 h 39"/>
                  <a:gd name="T2" fmla="*/ 5 w 24"/>
                  <a:gd name="T3" fmla="*/ 30 h 39"/>
                  <a:gd name="T4" fmla="*/ 3 w 24"/>
                  <a:gd name="T5" fmla="*/ 27 h 39"/>
                  <a:gd name="T6" fmla="*/ 2 w 24"/>
                  <a:gd name="T7" fmla="*/ 23 h 39"/>
                  <a:gd name="T8" fmla="*/ 1 w 24"/>
                  <a:gd name="T9" fmla="*/ 19 h 39"/>
                  <a:gd name="T10" fmla="*/ 0 w 24"/>
                  <a:gd name="T11" fmla="*/ 13 h 39"/>
                  <a:gd name="T12" fmla="*/ 7 w 24"/>
                  <a:gd name="T13" fmla="*/ 16 h 39"/>
                  <a:gd name="T14" fmla="*/ 11 w 24"/>
                  <a:gd name="T15" fmla="*/ 19 h 39"/>
                  <a:gd name="T16" fmla="*/ 13 w 24"/>
                  <a:gd name="T17" fmla="*/ 23 h 39"/>
                  <a:gd name="T18" fmla="*/ 17 w 24"/>
                  <a:gd name="T19" fmla="*/ 31 h 39"/>
                  <a:gd name="T20" fmla="*/ 14 w 24"/>
                  <a:gd name="T21" fmla="*/ 24 h 39"/>
                  <a:gd name="T22" fmla="*/ 13 w 24"/>
                  <a:gd name="T23" fmla="*/ 17 h 39"/>
                  <a:gd name="T24" fmla="*/ 13 w 24"/>
                  <a:gd name="T25" fmla="*/ 12 h 39"/>
                  <a:gd name="T26" fmla="*/ 13 w 24"/>
                  <a:gd name="T27" fmla="*/ 5 h 39"/>
                  <a:gd name="T28" fmla="*/ 13 w 24"/>
                  <a:gd name="T29" fmla="*/ 0 h 39"/>
                  <a:gd name="T30" fmla="*/ 19 w 24"/>
                  <a:gd name="T31" fmla="*/ 7 h 39"/>
                  <a:gd name="T32" fmla="*/ 22 w 24"/>
                  <a:gd name="T33" fmla="*/ 14 h 39"/>
                  <a:gd name="T34" fmla="*/ 22 w 24"/>
                  <a:gd name="T35" fmla="*/ 23 h 39"/>
                  <a:gd name="T36" fmla="*/ 23 w 24"/>
                  <a:gd name="T37" fmla="*/ 37 h 39"/>
                  <a:gd name="T38" fmla="*/ 16 w 24"/>
                  <a:gd name="T39" fmla="*/ 38 h 39"/>
                  <a:gd name="T40" fmla="*/ 9 w 24"/>
                  <a:gd name="T41" fmla="*/ 34 h 3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4"/>
                  <a:gd name="T64" fmla="*/ 0 h 39"/>
                  <a:gd name="T65" fmla="*/ 24 w 24"/>
                  <a:gd name="T66" fmla="*/ 39 h 3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4" h="39">
                    <a:moveTo>
                      <a:pt x="9" y="34"/>
                    </a:moveTo>
                    <a:lnTo>
                      <a:pt x="5" y="30"/>
                    </a:lnTo>
                    <a:lnTo>
                      <a:pt x="3" y="27"/>
                    </a:lnTo>
                    <a:lnTo>
                      <a:pt x="2" y="23"/>
                    </a:lnTo>
                    <a:lnTo>
                      <a:pt x="1" y="19"/>
                    </a:lnTo>
                    <a:lnTo>
                      <a:pt x="0" y="13"/>
                    </a:lnTo>
                    <a:lnTo>
                      <a:pt x="7" y="16"/>
                    </a:lnTo>
                    <a:lnTo>
                      <a:pt x="11" y="19"/>
                    </a:lnTo>
                    <a:lnTo>
                      <a:pt x="13" y="23"/>
                    </a:lnTo>
                    <a:lnTo>
                      <a:pt x="17" y="31"/>
                    </a:lnTo>
                    <a:lnTo>
                      <a:pt x="14" y="24"/>
                    </a:lnTo>
                    <a:lnTo>
                      <a:pt x="13" y="17"/>
                    </a:lnTo>
                    <a:lnTo>
                      <a:pt x="13" y="12"/>
                    </a:lnTo>
                    <a:lnTo>
                      <a:pt x="13" y="5"/>
                    </a:lnTo>
                    <a:lnTo>
                      <a:pt x="13" y="0"/>
                    </a:lnTo>
                    <a:lnTo>
                      <a:pt x="19" y="7"/>
                    </a:lnTo>
                    <a:lnTo>
                      <a:pt x="22" y="14"/>
                    </a:lnTo>
                    <a:lnTo>
                      <a:pt x="22" y="23"/>
                    </a:lnTo>
                    <a:lnTo>
                      <a:pt x="23" y="37"/>
                    </a:lnTo>
                    <a:lnTo>
                      <a:pt x="16" y="38"/>
                    </a:lnTo>
                    <a:lnTo>
                      <a:pt x="9" y="34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04" name="Oval 159"/>
              <p:cNvSpPr>
                <a:spLocks noChangeArrowheads="1"/>
              </p:cNvSpPr>
              <p:nvPr/>
            </p:nvSpPr>
            <p:spPr bwMode="auto">
              <a:xfrm>
                <a:off x="508" y="2417"/>
                <a:ext cx="32" cy="70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05" name="Freeform 160"/>
              <p:cNvSpPr>
                <a:spLocks/>
              </p:cNvSpPr>
              <p:nvPr/>
            </p:nvSpPr>
            <p:spPr bwMode="auto">
              <a:xfrm>
                <a:off x="514" y="2428"/>
                <a:ext cx="28" cy="49"/>
              </a:xfrm>
              <a:custGeom>
                <a:avLst/>
                <a:gdLst>
                  <a:gd name="T0" fmla="*/ 1 w 28"/>
                  <a:gd name="T1" fmla="*/ 4 h 49"/>
                  <a:gd name="T2" fmla="*/ 3 w 28"/>
                  <a:gd name="T3" fmla="*/ 4 h 49"/>
                  <a:gd name="T4" fmla="*/ 5 w 28"/>
                  <a:gd name="T5" fmla="*/ 4 h 49"/>
                  <a:gd name="T6" fmla="*/ 7 w 28"/>
                  <a:gd name="T7" fmla="*/ 2 h 49"/>
                  <a:gd name="T8" fmla="*/ 8 w 28"/>
                  <a:gd name="T9" fmla="*/ 1 h 49"/>
                  <a:gd name="T10" fmla="*/ 9 w 28"/>
                  <a:gd name="T11" fmla="*/ 0 h 49"/>
                  <a:gd name="T12" fmla="*/ 22 w 28"/>
                  <a:gd name="T13" fmla="*/ 0 h 49"/>
                  <a:gd name="T14" fmla="*/ 22 w 28"/>
                  <a:gd name="T15" fmla="*/ 40 h 49"/>
                  <a:gd name="T16" fmla="*/ 22 w 28"/>
                  <a:gd name="T17" fmla="*/ 42 h 49"/>
                  <a:gd name="T18" fmla="*/ 23 w 28"/>
                  <a:gd name="T19" fmla="*/ 44 h 49"/>
                  <a:gd name="T20" fmla="*/ 25 w 28"/>
                  <a:gd name="T21" fmla="*/ 45 h 49"/>
                  <a:gd name="T22" fmla="*/ 27 w 28"/>
                  <a:gd name="T23" fmla="*/ 45 h 49"/>
                  <a:gd name="T24" fmla="*/ 27 w 28"/>
                  <a:gd name="T25" fmla="*/ 48 h 49"/>
                  <a:gd name="T26" fmla="*/ 0 w 28"/>
                  <a:gd name="T27" fmla="*/ 48 h 49"/>
                  <a:gd name="T28" fmla="*/ 0 w 28"/>
                  <a:gd name="T29" fmla="*/ 45 h 49"/>
                  <a:gd name="T30" fmla="*/ 2 w 28"/>
                  <a:gd name="T31" fmla="*/ 45 h 49"/>
                  <a:gd name="T32" fmla="*/ 4 w 28"/>
                  <a:gd name="T33" fmla="*/ 44 h 49"/>
                  <a:gd name="T34" fmla="*/ 5 w 28"/>
                  <a:gd name="T35" fmla="*/ 42 h 49"/>
                  <a:gd name="T36" fmla="*/ 6 w 28"/>
                  <a:gd name="T37" fmla="*/ 40 h 49"/>
                  <a:gd name="T38" fmla="*/ 6 w 28"/>
                  <a:gd name="T39" fmla="*/ 10 h 49"/>
                  <a:gd name="T40" fmla="*/ 5 w 28"/>
                  <a:gd name="T41" fmla="*/ 8 h 49"/>
                  <a:gd name="T42" fmla="*/ 4 w 28"/>
                  <a:gd name="T43" fmla="*/ 7 h 49"/>
                  <a:gd name="T44" fmla="*/ 2 w 28"/>
                  <a:gd name="T45" fmla="*/ 6 h 49"/>
                  <a:gd name="T46" fmla="*/ 1 w 28"/>
                  <a:gd name="T47" fmla="*/ 6 h 49"/>
                  <a:gd name="T48" fmla="*/ 1 w 28"/>
                  <a:gd name="T49" fmla="*/ 4 h 4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8"/>
                  <a:gd name="T76" fmla="*/ 0 h 49"/>
                  <a:gd name="T77" fmla="*/ 28 w 28"/>
                  <a:gd name="T78" fmla="*/ 49 h 4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8" h="49">
                    <a:moveTo>
                      <a:pt x="1" y="4"/>
                    </a:moveTo>
                    <a:lnTo>
                      <a:pt x="3" y="4"/>
                    </a:lnTo>
                    <a:lnTo>
                      <a:pt x="5" y="4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0"/>
                    </a:lnTo>
                    <a:lnTo>
                      <a:pt x="22" y="0"/>
                    </a:lnTo>
                    <a:lnTo>
                      <a:pt x="22" y="40"/>
                    </a:lnTo>
                    <a:lnTo>
                      <a:pt x="22" y="42"/>
                    </a:lnTo>
                    <a:lnTo>
                      <a:pt x="23" y="44"/>
                    </a:lnTo>
                    <a:lnTo>
                      <a:pt x="25" y="45"/>
                    </a:lnTo>
                    <a:lnTo>
                      <a:pt x="27" y="45"/>
                    </a:lnTo>
                    <a:lnTo>
                      <a:pt x="27" y="48"/>
                    </a:lnTo>
                    <a:lnTo>
                      <a:pt x="0" y="48"/>
                    </a:lnTo>
                    <a:lnTo>
                      <a:pt x="0" y="45"/>
                    </a:lnTo>
                    <a:lnTo>
                      <a:pt x="2" y="45"/>
                    </a:lnTo>
                    <a:lnTo>
                      <a:pt x="4" y="44"/>
                    </a:lnTo>
                    <a:lnTo>
                      <a:pt x="5" y="42"/>
                    </a:lnTo>
                    <a:lnTo>
                      <a:pt x="6" y="40"/>
                    </a:lnTo>
                    <a:lnTo>
                      <a:pt x="6" y="10"/>
                    </a:lnTo>
                    <a:lnTo>
                      <a:pt x="5" y="8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1" y="4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08" name="Group 161"/>
            <p:cNvGrpSpPr>
              <a:grpSpLocks/>
            </p:cNvGrpSpPr>
            <p:nvPr/>
          </p:nvGrpSpPr>
          <p:grpSpPr bwMode="auto">
            <a:xfrm>
              <a:off x="899" y="2405"/>
              <a:ext cx="84" cy="92"/>
              <a:chOff x="899" y="2405"/>
              <a:chExt cx="84" cy="92"/>
            </a:xfrm>
          </p:grpSpPr>
          <p:sp>
            <p:nvSpPr>
              <p:cNvPr id="100698" name="Freeform 162"/>
              <p:cNvSpPr>
                <a:spLocks/>
              </p:cNvSpPr>
              <p:nvPr/>
            </p:nvSpPr>
            <p:spPr bwMode="auto">
              <a:xfrm>
                <a:off x="899" y="2413"/>
                <a:ext cx="32" cy="84"/>
              </a:xfrm>
              <a:custGeom>
                <a:avLst/>
                <a:gdLst>
                  <a:gd name="T0" fmla="*/ 28 w 32"/>
                  <a:gd name="T1" fmla="*/ 35 h 84"/>
                  <a:gd name="T2" fmla="*/ 29 w 32"/>
                  <a:gd name="T3" fmla="*/ 30 h 84"/>
                  <a:gd name="T4" fmla="*/ 30 w 32"/>
                  <a:gd name="T5" fmla="*/ 24 h 84"/>
                  <a:gd name="T6" fmla="*/ 31 w 32"/>
                  <a:gd name="T7" fmla="*/ 16 h 84"/>
                  <a:gd name="T8" fmla="*/ 30 w 32"/>
                  <a:gd name="T9" fmla="*/ 9 h 84"/>
                  <a:gd name="T10" fmla="*/ 27 w 32"/>
                  <a:gd name="T11" fmla="*/ 0 h 84"/>
                  <a:gd name="T12" fmla="*/ 23 w 32"/>
                  <a:gd name="T13" fmla="*/ 8 h 84"/>
                  <a:gd name="T14" fmla="*/ 21 w 32"/>
                  <a:gd name="T15" fmla="*/ 14 h 84"/>
                  <a:gd name="T16" fmla="*/ 20 w 32"/>
                  <a:gd name="T17" fmla="*/ 21 h 84"/>
                  <a:gd name="T18" fmla="*/ 21 w 32"/>
                  <a:gd name="T19" fmla="*/ 29 h 84"/>
                  <a:gd name="T20" fmla="*/ 22 w 32"/>
                  <a:gd name="T21" fmla="*/ 36 h 84"/>
                  <a:gd name="T22" fmla="*/ 23 w 32"/>
                  <a:gd name="T23" fmla="*/ 40 h 84"/>
                  <a:gd name="T24" fmla="*/ 21 w 32"/>
                  <a:gd name="T25" fmla="*/ 36 h 84"/>
                  <a:gd name="T26" fmla="*/ 17 w 32"/>
                  <a:gd name="T27" fmla="*/ 31 h 84"/>
                  <a:gd name="T28" fmla="*/ 12 w 32"/>
                  <a:gd name="T29" fmla="*/ 28 h 84"/>
                  <a:gd name="T30" fmla="*/ 9 w 32"/>
                  <a:gd name="T31" fmla="*/ 26 h 84"/>
                  <a:gd name="T32" fmla="*/ 4 w 32"/>
                  <a:gd name="T33" fmla="*/ 24 h 84"/>
                  <a:gd name="T34" fmla="*/ 0 w 32"/>
                  <a:gd name="T35" fmla="*/ 24 h 84"/>
                  <a:gd name="T36" fmla="*/ 2 w 32"/>
                  <a:gd name="T37" fmla="*/ 29 h 84"/>
                  <a:gd name="T38" fmla="*/ 4 w 32"/>
                  <a:gd name="T39" fmla="*/ 35 h 84"/>
                  <a:gd name="T40" fmla="*/ 8 w 32"/>
                  <a:gd name="T41" fmla="*/ 40 h 84"/>
                  <a:gd name="T42" fmla="*/ 11 w 32"/>
                  <a:gd name="T43" fmla="*/ 43 h 84"/>
                  <a:gd name="T44" fmla="*/ 17 w 32"/>
                  <a:gd name="T45" fmla="*/ 45 h 84"/>
                  <a:gd name="T46" fmla="*/ 22 w 32"/>
                  <a:gd name="T47" fmla="*/ 46 h 84"/>
                  <a:gd name="T48" fmla="*/ 16 w 32"/>
                  <a:gd name="T49" fmla="*/ 49 h 84"/>
                  <a:gd name="T50" fmla="*/ 12 w 32"/>
                  <a:gd name="T51" fmla="*/ 53 h 84"/>
                  <a:gd name="T52" fmla="*/ 10 w 32"/>
                  <a:gd name="T53" fmla="*/ 56 h 84"/>
                  <a:gd name="T54" fmla="*/ 8 w 32"/>
                  <a:gd name="T55" fmla="*/ 60 h 84"/>
                  <a:gd name="T56" fmla="*/ 8 w 32"/>
                  <a:gd name="T57" fmla="*/ 64 h 84"/>
                  <a:gd name="T58" fmla="*/ 7 w 32"/>
                  <a:gd name="T59" fmla="*/ 70 h 84"/>
                  <a:gd name="T60" fmla="*/ 14 w 32"/>
                  <a:gd name="T61" fmla="*/ 67 h 84"/>
                  <a:gd name="T62" fmla="*/ 18 w 32"/>
                  <a:gd name="T63" fmla="*/ 64 h 84"/>
                  <a:gd name="T64" fmla="*/ 20 w 32"/>
                  <a:gd name="T65" fmla="*/ 60 h 84"/>
                  <a:gd name="T66" fmla="*/ 23 w 32"/>
                  <a:gd name="T67" fmla="*/ 53 h 84"/>
                  <a:gd name="T68" fmla="*/ 21 w 32"/>
                  <a:gd name="T69" fmla="*/ 60 h 84"/>
                  <a:gd name="T70" fmla="*/ 20 w 32"/>
                  <a:gd name="T71" fmla="*/ 67 h 84"/>
                  <a:gd name="T72" fmla="*/ 19 w 32"/>
                  <a:gd name="T73" fmla="*/ 72 h 84"/>
                  <a:gd name="T74" fmla="*/ 20 w 32"/>
                  <a:gd name="T75" fmla="*/ 78 h 84"/>
                  <a:gd name="T76" fmla="*/ 20 w 32"/>
                  <a:gd name="T77" fmla="*/ 83 h 84"/>
                  <a:gd name="T78" fmla="*/ 26 w 32"/>
                  <a:gd name="T79" fmla="*/ 77 h 84"/>
                  <a:gd name="T80" fmla="*/ 29 w 32"/>
                  <a:gd name="T81" fmla="*/ 69 h 84"/>
                  <a:gd name="T82" fmla="*/ 30 w 32"/>
                  <a:gd name="T83" fmla="*/ 60 h 84"/>
                  <a:gd name="T84" fmla="*/ 28 w 32"/>
                  <a:gd name="T85" fmla="*/ 51 h 84"/>
                  <a:gd name="T86" fmla="*/ 28 w 32"/>
                  <a:gd name="T87" fmla="*/ 44 h 84"/>
                  <a:gd name="T88" fmla="*/ 28 w 32"/>
                  <a:gd name="T89" fmla="*/ 40 h 84"/>
                  <a:gd name="T90" fmla="*/ 28 w 32"/>
                  <a:gd name="T91" fmla="*/ 35 h 8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2"/>
                  <a:gd name="T139" fmla="*/ 0 h 84"/>
                  <a:gd name="T140" fmla="*/ 32 w 32"/>
                  <a:gd name="T141" fmla="*/ 84 h 8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2" h="84">
                    <a:moveTo>
                      <a:pt x="28" y="35"/>
                    </a:moveTo>
                    <a:lnTo>
                      <a:pt x="29" y="30"/>
                    </a:lnTo>
                    <a:lnTo>
                      <a:pt x="30" y="24"/>
                    </a:lnTo>
                    <a:lnTo>
                      <a:pt x="31" y="16"/>
                    </a:lnTo>
                    <a:lnTo>
                      <a:pt x="30" y="9"/>
                    </a:lnTo>
                    <a:lnTo>
                      <a:pt x="27" y="0"/>
                    </a:lnTo>
                    <a:lnTo>
                      <a:pt x="23" y="8"/>
                    </a:lnTo>
                    <a:lnTo>
                      <a:pt x="21" y="14"/>
                    </a:lnTo>
                    <a:lnTo>
                      <a:pt x="20" y="21"/>
                    </a:lnTo>
                    <a:lnTo>
                      <a:pt x="21" y="29"/>
                    </a:lnTo>
                    <a:lnTo>
                      <a:pt x="22" y="36"/>
                    </a:lnTo>
                    <a:lnTo>
                      <a:pt x="23" y="40"/>
                    </a:lnTo>
                    <a:lnTo>
                      <a:pt x="21" y="36"/>
                    </a:lnTo>
                    <a:lnTo>
                      <a:pt x="17" y="31"/>
                    </a:lnTo>
                    <a:lnTo>
                      <a:pt x="12" y="28"/>
                    </a:lnTo>
                    <a:lnTo>
                      <a:pt x="9" y="26"/>
                    </a:lnTo>
                    <a:lnTo>
                      <a:pt x="4" y="24"/>
                    </a:lnTo>
                    <a:lnTo>
                      <a:pt x="0" y="24"/>
                    </a:lnTo>
                    <a:lnTo>
                      <a:pt x="2" y="29"/>
                    </a:lnTo>
                    <a:lnTo>
                      <a:pt x="4" y="35"/>
                    </a:lnTo>
                    <a:lnTo>
                      <a:pt x="8" y="40"/>
                    </a:lnTo>
                    <a:lnTo>
                      <a:pt x="11" y="43"/>
                    </a:lnTo>
                    <a:lnTo>
                      <a:pt x="17" y="45"/>
                    </a:lnTo>
                    <a:lnTo>
                      <a:pt x="22" y="46"/>
                    </a:lnTo>
                    <a:lnTo>
                      <a:pt x="16" y="49"/>
                    </a:lnTo>
                    <a:lnTo>
                      <a:pt x="12" y="53"/>
                    </a:lnTo>
                    <a:lnTo>
                      <a:pt x="10" y="56"/>
                    </a:lnTo>
                    <a:lnTo>
                      <a:pt x="8" y="60"/>
                    </a:lnTo>
                    <a:lnTo>
                      <a:pt x="8" y="64"/>
                    </a:lnTo>
                    <a:lnTo>
                      <a:pt x="7" y="70"/>
                    </a:lnTo>
                    <a:lnTo>
                      <a:pt x="14" y="67"/>
                    </a:lnTo>
                    <a:lnTo>
                      <a:pt x="18" y="64"/>
                    </a:lnTo>
                    <a:lnTo>
                      <a:pt x="20" y="60"/>
                    </a:lnTo>
                    <a:lnTo>
                      <a:pt x="23" y="53"/>
                    </a:lnTo>
                    <a:lnTo>
                      <a:pt x="21" y="60"/>
                    </a:lnTo>
                    <a:lnTo>
                      <a:pt x="20" y="67"/>
                    </a:lnTo>
                    <a:lnTo>
                      <a:pt x="19" y="72"/>
                    </a:lnTo>
                    <a:lnTo>
                      <a:pt x="20" y="78"/>
                    </a:lnTo>
                    <a:lnTo>
                      <a:pt x="20" y="83"/>
                    </a:lnTo>
                    <a:lnTo>
                      <a:pt x="26" y="77"/>
                    </a:lnTo>
                    <a:lnTo>
                      <a:pt x="29" y="69"/>
                    </a:lnTo>
                    <a:lnTo>
                      <a:pt x="30" y="60"/>
                    </a:lnTo>
                    <a:lnTo>
                      <a:pt x="28" y="51"/>
                    </a:lnTo>
                    <a:lnTo>
                      <a:pt x="28" y="44"/>
                    </a:lnTo>
                    <a:lnTo>
                      <a:pt x="28" y="40"/>
                    </a:lnTo>
                    <a:lnTo>
                      <a:pt x="28" y="3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699" name="Freeform 163"/>
              <p:cNvSpPr>
                <a:spLocks/>
              </p:cNvSpPr>
              <p:nvPr/>
            </p:nvSpPr>
            <p:spPr bwMode="auto">
              <a:xfrm>
                <a:off x="959" y="2405"/>
                <a:ext cx="24" cy="39"/>
              </a:xfrm>
              <a:custGeom>
                <a:avLst/>
                <a:gdLst>
                  <a:gd name="T0" fmla="*/ 14 w 24"/>
                  <a:gd name="T1" fmla="*/ 34 h 39"/>
                  <a:gd name="T2" fmla="*/ 18 w 24"/>
                  <a:gd name="T3" fmla="*/ 30 h 39"/>
                  <a:gd name="T4" fmla="*/ 19 w 24"/>
                  <a:gd name="T5" fmla="*/ 27 h 39"/>
                  <a:gd name="T6" fmla="*/ 21 w 24"/>
                  <a:gd name="T7" fmla="*/ 23 h 39"/>
                  <a:gd name="T8" fmla="*/ 21 w 24"/>
                  <a:gd name="T9" fmla="*/ 19 h 39"/>
                  <a:gd name="T10" fmla="*/ 23 w 24"/>
                  <a:gd name="T11" fmla="*/ 13 h 39"/>
                  <a:gd name="T12" fmla="*/ 16 w 24"/>
                  <a:gd name="T13" fmla="*/ 16 h 39"/>
                  <a:gd name="T14" fmla="*/ 12 w 24"/>
                  <a:gd name="T15" fmla="*/ 19 h 39"/>
                  <a:gd name="T16" fmla="*/ 10 w 24"/>
                  <a:gd name="T17" fmla="*/ 23 h 39"/>
                  <a:gd name="T18" fmla="*/ 6 w 24"/>
                  <a:gd name="T19" fmla="*/ 31 h 39"/>
                  <a:gd name="T20" fmla="*/ 9 w 24"/>
                  <a:gd name="T21" fmla="*/ 24 h 39"/>
                  <a:gd name="T22" fmla="*/ 10 w 24"/>
                  <a:gd name="T23" fmla="*/ 17 h 39"/>
                  <a:gd name="T24" fmla="*/ 10 w 24"/>
                  <a:gd name="T25" fmla="*/ 12 h 39"/>
                  <a:gd name="T26" fmla="*/ 10 w 24"/>
                  <a:gd name="T27" fmla="*/ 5 h 39"/>
                  <a:gd name="T28" fmla="*/ 10 w 24"/>
                  <a:gd name="T29" fmla="*/ 0 h 39"/>
                  <a:gd name="T30" fmla="*/ 4 w 24"/>
                  <a:gd name="T31" fmla="*/ 7 h 39"/>
                  <a:gd name="T32" fmla="*/ 1 w 24"/>
                  <a:gd name="T33" fmla="*/ 14 h 39"/>
                  <a:gd name="T34" fmla="*/ 0 w 24"/>
                  <a:gd name="T35" fmla="*/ 23 h 39"/>
                  <a:gd name="T36" fmla="*/ 0 w 24"/>
                  <a:gd name="T37" fmla="*/ 37 h 39"/>
                  <a:gd name="T38" fmla="*/ 7 w 24"/>
                  <a:gd name="T39" fmla="*/ 38 h 39"/>
                  <a:gd name="T40" fmla="*/ 14 w 24"/>
                  <a:gd name="T41" fmla="*/ 34 h 3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4"/>
                  <a:gd name="T64" fmla="*/ 0 h 39"/>
                  <a:gd name="T65" fmla="*/ 24 w 24"/>
                  <a:gd name="T66" fmla="*/ 39 h 3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4" h="39">
                    <a:moveTo>
                      <a:pt x="14" y="34"/>
                    </a:moveTo>
                    <a:lnTo>
                      <a:pt x="18" y="30"/>
                    </a:lnTo>
                    <a:lnTo>
                      <a:pt x="19" y="27"/>
                    </a:lnTo>
                    <a:lnTo>
                      <a:pt x="21" y="23"/>
                    </a:lnTo>
                    <a:lnTo>
                      <a:pt x="21" y="19"/>
                    </a:lnTo>
                    <a:lnTo>
                      <a:pt x="23" y="13"/>
                    </a:lnTo>
                    <a:lnTo>
                      <a:pt x="16" y="16"/>
                    </a:lnTo>
                    <a:lnTo>
                      <a:pt x="12" y="19"/>
                    </a:lnTo>
                    <a:lnTo>
                      <a:pt x="10" y="23"/>
                    </a:lnTo>
                    <a:lnTo>
                      <a:pt x="6" y="31"/>
                    </a:lnTo>
                    <a:lnTo>
                      <a:pt x="9" y="24"/>
                    </a:lnTo>
                    <a:lnTo>
                      <a:pt x="10" y="17"/>
                    </a:lnTo>
                    <a:lnTo>
                      <a:pt x="10" y="12"/>
                    </a:lnTo>
                    <a:lnTo>
                      <a:pt x="10" y="5"/>
                    </a:lnTo>
                    <a:lnTo>
                      <a:pt x="10" y="0"/>
                    </a:lnTo>
                    <a:lnTo>
                      <a:pt x="4" y="7"/>
                    </a:lnTo>
                    <a:lnTo>
                      <a:pt x="1" y="14"/>
                    </a:lnTo>
                    <a:lnTo>
                      <a:pt x="0" y="23"/>
                    </a:lnTo>
                    <a:lnTo>
                      <a:pt x="0" y="37"/>
                    </a:lnTo>
                    <a:lnTo>
                      <a:pt x="7" y="38"/>
                    </a:lnTo>
                    <a:lnTo>
                      <a:pt x="14" y="34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700" name="Oval 164"/>
              <p:cNvSpPr>
                <a:spLocks noChangeArrowheads="1"/>
              </p:cNvSpPr>
              <p:nvPr/>
            </p:nvSpPr>
            <p:spPr bwMode="auto">
              <a:xfrm>
                <a:off x="930" y="2417"/>
                <a:ext cx="32" cy="70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701" name="Freeform 165"/>
              <p:cNvSpPr>
                <a:spLocks/>
              </p:cNvSpPr>
              <p:nvPr/>
            </p:nvSpPr>
            <p:spPr bwMode="auto">
              <a:xfrm>
                <a:off x="937" y="2428"/>
                <a:ext cx="28" cy="49"/>
              </a:xfrm>
              <a:custGeom>
                <a:avLst/>
                <a:gdLst>
                  <a:gd name="T0" fmla="*/ 1 w 28"/>
                  <a:gd name="T1" fmla="*/ 4 h 49"/>
                  <a:gd name="T2" fmla="*/ 2 w 28"/>
                  <a:gd name="T3" fmla="*/ 4 h 49"/>
                  <a:gd name="T4" fmla="*/ 5 w 28"/>
                  <a:gd name="T5" fmla="*/ 4 h 49"/>
                  <a:gd name="T6" fmla="*/ 6 w 28"/>
                  <a:gd name="T7" fmla="*/ 2 h 49"/>
                  <a:gd name="T8" fmla="*/ 8 w 28"/>
                  <a:gd name="T9" fmla="*/ 1 h 49"/>
                  <a:gd name="T10" fmla="*/ 9 w 28"/>
                  <a:gd name="T11" fmla="*/ 0 h 49"/>
                  <a:gd name="T12" fmla="*/ 21 w 28"/>
                  <a:gd name="T13" fmla="*/ 0 h 49"/>
                  <a:gd name="T14" fmla="*/ 21 w 28"/>
                  <a:gd name="T15" fmla="*/ 40 h 49"/>
                  <a:gd name="T16" fmla="*/ 22 w 28"/>
                  <a:gd name="T17" fmla="*/ 42 h 49"/>
                  <a:gd name="T18" fmla="*/ 23 w 28"/>
                  <a:gd name="T19" fmla="*/ 44 h 49"/>
                  <a:gd name="T20" fmla="*/ 25 w 28"/>
                  <a:gd name="T21" fmla="*/ 45 h 49"/>
                  <a:gd name="T22" fmla="*/ 27 w 28"/>
                  <a:gd name="T23" fmla="*/ 45 h 49"/>
                  <a:gd name="T24" fmla="*/ 27 w 28"/>
                  <a:gd name="T25" fmla="*/ 48 h 49"/>
                  <a:gd name="T26" fmla="*/ 0 w 28"/>
                  <a:gd name="T27" fmla="*/ 48 h 49"/>
                  <a:gd name="T28" fmla="*/ 0 w 28"/>
                  <a:gd name="T29" fmla="*/ 45 h 49"/>
                  <a:gd name="T30" fmla="*/ 1 w 28"/>
                  <a:gd name="T31" fmla="*/ 45 h 49"/>
                  <a:gd name="T32" fmla="*/ 4 w 28"/>
                  <a:gd name="T33" fmla="*/ 44 h 49"/>
                  <a:gd name="T34" fmla="*/ 5 w 28"/>
                  <a:gd name="T35" fmla="*/ 42 h 49"/>
                  <a:gd name="T36" fmla="*/ 5 w 28"/>
                  <a:gd name="T37" fmla="*/ 40 h 49"/>
                  <a:gd name="T38" fmla="*/ 5 w 28"/>
                  <a:gd name="T39" fmla="*/ 10 h 49"/>
                  <a:gd name="T40" fmla="*/ 5 w 28"/>
                  <a:gd name="T41" fmla="*/ 8 h 49"/>
                  <a:gd name="T42" fmla="*/ 4 w 28"/>
                  <a:gd name="T43" fmla="*/ 7 h 49"/>
                  <a:gd name="T44" fmla="*/ 2 w 28"/>
                  <a:gd name="T45" fmla="*/ 6 h 49"/>
                  <a:gd name="T46" fmla="*/ 1 w 28"/>
                  <a:gd name="T47" fmla="*/ 6 h 49"/>
                  <a:gd name="T48" fmla="*/ 1 w 28"/>
                  <a:gd name="T49" fmla="*/ 4 h 4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8"/>
                  <a:gd name="T76" fmla="*/ 0 h 49"/>
                  <a:gd name="T77" fmla="*/ 28 w 28"/>
                  <a:gd name="T78" fmla="*/ 49 h 4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8" h="49">
                    <a:moveTo>
                      <a:pt x="1" y="4"/>
                    </a:moveTo>
                    <a:lnTo>
                      <a:pt x="2" y="4"/>
                    </a:lnTo>
                    <a:lnTo>
                      <a:pt x="5" y="4"/>
                    </a:lnTo>
                    <a:lnTo>
                      <a:pt x="6" y="2"/>
                    </a:lnTo>
                    <a:lnTo>
                      <a:pt x="8" y="1"/>
                    </a:lnTo>
                    <a:lnTo>
                      <a:pt x="9" y="0"/>
                    </a:lnTo>
                    <a:lnTo>
                      <a:pt x="21" y="0"/>
                    </a:lnTo>
                    <a:lnTo>
                      <a:pt x="21" y="40"/>
                    </a:lnTo>
                    <a:lnTo>
                      <a:pt x="22" y="42"/>
                    </a:lnTo>
                    <a:lnTo>
                      <a:pt x="23" y="44"/>
                    </a:lnTo>
                    <a:lnTo>
                      <a:pt x="25" y="45"/>
                    </a:lnTo>
                    <a:lnTo>
                      <a:pt x="27" y="45"/>
                    </a:lnTo>
                    <a:lnTo>
                      <a:pt x="27" y="48"/>
                    </a:lnTo>
                    <a:lnTo>
                      <a:pt x="0" y="48"/>
                    </a:lnTo>
                    <a:lnTo>
                      <a:pt x="0" y="45"/>
                    </a:lnTo>
                    <a:lnTo>
                      <a:pt x="1" y="45"/>
                    </a:lnTo>
                    <a:lnTo>
                      <a:pt x="4" y="44"/>
                    </a:lnTo>
                    <a:lnTo>
                      <a:pt x="5" y="42"/>
                    </a:lnTo>
                    <a:lnTo>
                      <a:pt x="5" y="40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1" y="4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09" name="Oval 166"/>
            <p:cNvSpPr>
              <a:spLocks noChangeArrowheads="1"/>
            </p:cNvSpPr>
            <p:nvPr/>
          </p:nvSpPr>
          <p:spPr bwMode="auto">
            <a:xfrm>
              <a:off x="500" y="2577"/>
              <a:ext cx="30" cy="49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10" name="Oval 167"/>
            <p:cNvSpPr>
              <a:spLocks noChangeArrowheads="1"/>
            </p:cNvSpPr>
            <p:nvPr/>
          </p:nvSpPr>
          <p:spPr bwMode="auto">
            <a:xfrm>
              <a:off x="506" y="2584"/>
              <a:ext cx="19" cy="35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11" name="Freeform 168"/>
            <p:cNvSpPr>
              <a:spLocks/>
            </p:cNvSpPr>
            <p:nvPr/>
          </p:nvSpPr>
          <p:spPr bwMode="auto">
            <a:xfrm>
              <a:off x="511" y="2590"/>
              <a:ext cx="18" cy="32"/>
            </a:xfrm>
            <a:custGeom>
              <a:avLst/>
              <a:gdLst>
                <a:gd name="T0" fmla="*/ 0 w 18"/>
                <a:gd name="T1" fmla="*/ 4 h 32"/>
                <a:gd name="T2" fmla="*/ 2 w 18"/>
                <a:gd name="T3" fmla="*/ 4 h 32"/>
                <a:gd name="T4" fmla="*/ 3 w 18"/>
                <a:gd name="T5" fmla="*/ 3 h 32"/>
                <a:gd name="T6" fmla="*/ 4 w 18"/>
                <a:gd name="T7" fmla="*/ 2 h 32"/>
                <a:gd name="T8" fmla="*/ 5 w 18"/>
                <a:gd name="T9" fmla="*/ 1 h 32"/>
                <a:gd name="T10" fmla="*/ 5 w 18"/>
                <a:gd name="T11" fmla="*/ 0 h 32"/>
                <a:gd name="T12" fmla="*/ 13 w 18"/>
                <a:gd name="T13" fmla="*/ 0 h 32"/>
                <a:gd name="T14" fmla="*/ 13 w 18"/>
                <a:gd name="T15" fmla="*/ 26 h 32"/>
                <a:gd name="T16" fmla="*/ 14 w 18"/>
                <a:gd name="T17" fmla="*/ 27 h 32"/>
                <a:gd name="T18" fmla="*/ 14 w 18"/>
                <a:gd name="T19" fmla="*/ 29 h 32"/>
                <a:gd name="T20" fmla="*/ 16 w 18"/>
                <a:gd name="T21" fmla="*/ 29 h 32"/>
                <a:gd name="T22" fmla="*/ 17 w 18"/>
                <a:gd name="T23" fmla="*/ 29 h 32"/>
                <a:gd name="T24" fmla="*/ 17 w 18"/>
                <a:gd name="T25" fmla="*/ 31 h 32"/>
                <a:gd name="T26" fmla="*/ 0 w 18"/>
                <a:gd name="T27" fmla="*/ 31 h 32"/>
                <a:gd name="T28" fmla="*/ 0 w 18"/>
                <a:gd name="T29" fmla="*/ 29 h 32"/>
                <a:gd name="T30" fmla="*/ 1 w 18"/>
                <a:gd name="T31" fmla="*/ 29 h 32"/>
                <a:gd name="T32" fmla="*/ 2 w 18"/>
                <a:gd name="T33" fmla="*/ 29 h 32"/>
                <a:gd name="T34" fmla="*/ 3 w 18"/>
                <a:gd name="T35" fmla="*/ 27 h 32"/>
                <a:gd name="T36" fmla="*/ 3 w 18"/>
                <a:gd name="T37" fmla="*/ 26 h 32"/>
                <a:gd name="T38" fmla="*/ 3 w 18"/>
                <a:gd name="T39" fmla="*/ 7 h 32"/>
                <a:gd name="T40" fmla="*/ 3 w 18"/>
                <a:gd name="T41" fmla="*/ 6 h 32"/>
                <a:gd name="T42" fmla="*/ 2 w 18"/>
                <a:gd name="T43" fmla="*/ 5 h 32"/>
                <a:gd name="T44" fmla="*/ 1 w 18"/>
                <a:gd name="T45" fmla="*/ 4 h 32"/>
                <a:gd name="T46" fmla="*/ 0 w 18"/>
                <a:gd name="T47" fmla="*/ 4 h 3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8"/>
                <a:gd name="T73" fmla="*/ 0 h 32"/>
                <a:gd name="T74" fmla="*/ 18 w 18"/>
                <a:gd name="T75" fmla="*/ 32 h 3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8" h="32">
                  <a:moveTo>
                    <a:pt x="0" y="4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13" y="0"/>
                  </a:lnTo>
                  <a:lnTo>
                    <a:pt x="13" y="26"/>
                  </a:lnTo>
                  <a:lnTo>
                    <a:pt x="14" y="27"/>
                  </a:lnTo>
                  <a:lnTo>
                    <a:pt x="14" y="29"/>
                  </a:lnTo>
                  <a:lnTo>
                    <a:pt x="16" y="29"/>
                  </a:lnTo>
                  <a:lnTo>
                    <a:pt x="17" y="29"/>
                  </a:lnTo>
                  <a:lnTo>
                    <a:pt x="17" y="3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1" y="29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5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412" name="Oval 169"/>
            <p:cNvSpPr>
              <a:spLocks noChangeArrowheads="1"/>
            </p:cNvSpPr>
            <p:nvPr/>
          </p:nvSpPr>
          <p:spPr bwMode="auto">
            <a:xfrm>
              <a:off x="942" y="2579"/>
              <a:ext cx="30" cy="48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13" name="Oval 170"/>
            <p:cNvSpPr>
              <a:spLocks noChangeArrowheads="1"/>
            </p:cNvSpPr>
            <p:nvPr/>
          </p:nvSpPr>
          <p:spPr bwMode="auto">
            <a:xfrm>
              <a:off x="947" y="2586"/>
              <a:ext cx="20" cy="34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14" name="Freeform 171"/>
            <p:cNvSpPr>
              <a:spLocks/>
            </p:cNvSpPr>
            <p:nvPr/>
          </p:nvSpPr>
          <p:spPr bwMode="auto">
            <a:xfrm>
              <a:off x="952" y="2592"/>
              <a:ext cx="18" cy="31"/>
            </a:xfrm>
            <a:custGeom>
              <a:avLst/>
              <a:gdLst>
                <a:gd name="T0" fmla="*/ 1 w 18"/>
                <a:gd name="T1" fmla="*/ 3 h 31"/>
                <a:gd name="T2" fmla="*/ 2 w 18"/>
                <a:gd name="T3" fmla="*/ 3 h 31"/>
                <a:gd name="T4" fmla="*/ 3 w 18"/>
                <a:gd name="T5" fmla="*/ 2 h 31"/>
                <a:gd name="T6" fmla="*/ 5 w 18"/>
                <a:gd name="T7" fmla="*/ 1 h 31"/>
                <a:gd name="T8" fmla="*/ 6 w 18"/>
                <a:gd name="T9" fmla="*/ 0 h 31"/>
                <a:gd name="T10" fmla="*/ 14 w 18"/>
                <a:gd name="T11" fmla="*/ 0 h 31"/>
                <a:gd name="T12" fmla="*/ 14 w 18"/>
                <a:gd name="T13" fmla="*/ 25 h 31"/>
                <a:gd name="T14" fmla="*/ 14 w 18"/>
                <a:gd name="T15" fmla="*/ 27 h 31"/>
                <a:gd name="T16" fmla="*/ 15 w 18"/>
                <a:gd name="T17" fmla="*/ 28 h 31"/>
                <a:gd name="T18" fmla="*/ 17 w 18"/>
                <a:gd name="T19" fmla="*/ 29 h 31"/>
                <a:gd name="T20" fmla="*/ 17 w 18"/>
                <a:gd name="T21" fmla="*/ 30 h 31"/>
                <a:gd name="T22" fmla="*/ 0 w 18"/>
                <a:gd name="T23" fmla="*/ 30 h 31"/>
                <a:gd name="T24" fmla="*/ 0 w 18"/>
                <a:gd name="T25" fmla="*/ 29 h 31"/>
                <a:gd name="T26" fmla="*/ 1 w 18"/>
                <a:gd name="T27" fmla="*/ 29 h 31"/>
                <a:gd name="T28" fmla="*/ 3 w 18"/>
                <a:gd name="T29" fmla="*/ 28 h 31"/>
                <a:gd name="T30" fmla="*/ 3 w 18"/>
                <a:gd name="T31" fmla="*/ 27 h 31"/>
                <a:gd name="T32" fmla="*/ 4 w 18"/>
                <a:gd name="T33" fmla="*/ 25 h 31"/>
                <a:gd name="T34" fmla="*/ 4 w 18"/>
                <a:gd name="T35" fmla="*/ 6 h 31"/>
                <a:gd name="T36" fmla="*/ 3 w 18"/>
                <a:gd name="T37" fmla="*/ 5 h 31"/>
                <a:gd name="T38" fmla="*/ 3 w 18"/>
                <a:gd name="T39" fmla="*/ 4 h 31"/>
                <a:gd name="T40" fmla="*/ 2 w 18"/>
                <a:gd name="T41" fmla="*/ 4 h 31"/>
                <a:gd name="T42" fmla="*/ 1 w 18"/>
                <a:gd name="T43" fmla="*/ 4 h 31"/>
                <a:gd name="T44" fmla="*/ 1 w 18"/>
                <a:gd name="T45" fmla="*/ 3 h 3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8"/>
                <a:gd name="T70" fmla="*/ 0 h 31"/>
                <a:gd name="T71" fmla="*/ 18 w 18"/>
                <a:gd name="T72" fmla="*/ 31 h 3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8" h="31">
                  <a:moveTo>
                    <a:pt x="1" y="3"/>
                  </a:moveTo>
                  <a:lnTo>
                    <a:pt x="2" y="3"/>
                  </a:lnTo>
                  <a:lnTo>
                    <a:pt x="3" y="2"/>
                  </a:lnTo>
                  <a:lnTo>
                    <a:pt x="5" y="1"/>
                  </a:lnTo>
                  <a:lnTo>
                    <a:pt x="6" y="0"/>
                  </a:lnTo>
                  <a:lnTo>
                    <a:pt x="14" y="0"/>
                  </a:lnTo>
                  <a:lnTo>
                    <a:pt x="14" y="25"/>
                  </a:lnTo>
                  <a:lnTo>
                    <a:pt x="14" y="27"/>
                  </a:lnTo>
                  <a:lnTo>
                    <a:pt x="15" y="28"/>
                  </a:lnTo>
                  <a:lnTo>
                    <a:pt x="17" y="29"/>
                  </a:lnTo>
                  <a:lnTo>
                    <a:pt x="17" y="30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1" y="29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4" y="25"/>
                  </a:lnTo>
                  <a:lnTo>
                    <a:pt x="4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0415" name="Group 172"/>
            <p:cNvGrpSpPr>
              <a:grpSpLocks/>
            </p:cNvGrpSpPr>
            <p:nvPr/>
          </p:nvGrpSpPr>
          <p:grpSpPr bwMode="auto">
            <a:xfrm>
              <a:off x="590" y="2494"/>
              <a:ext cx="39" cy="48"/>
              <a:chOff x="590" y="2494"/>
              <a:chExt cx="39" cy="48"/>
            </a:xfrm>
          </p:grpSpPr>
          <p:sp>
            <p:nvSpPr>
              <p:cNvPr id="100696" name="Oval 173"/>
              <p:cNvSpPr>
                <a:spLocks noChangeArrowheads="1"/>
              </p:cNvSpPr>
              <p:nvPr/>
            </p:nvSpPr>
            <p:spPr bwMode="auto">
              <a:xfrm>
                <a:off x="590" y="2494"/>
                <a:ext cx="39" cy="48"/>
              </a:xfrm>
              <a:prstGeom prst="ellipse">
                <a:avLst/>
              </a:prstGeom>
              <a:solidFill>
                <a:srgbClr val="3F5F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97" name="Oval 174"/>
              <p:cNvSpPr>
                <a:spLocks noChangeArrowheads="1"/>
              </p:cNvSpPr>
              <p:nvPr/>
            </p:nvSpPr>
            <p:spPr bwMode="auto">
              <a:xfrm>
                <a:off x="603" y="2509"/>
                <a:ext cx="13" cy="19"/>
              </a:xfrm>
              <a:prstGeom prst="ellipse">
                <a:avLst/>
              </a:prstGeom>
              <a:solidFill>
                <a:srgbClr val="9FFF9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16" name="Group 175"/>
            <p:cNvGrpSpPr>
              <a:grpSpLocks/>
            </p:cNvGrpSpPr>
            <p:nvPr/>
          </p:nvGrpSpPr>
          <p:grpSpPr bwMode="auto">
            <a:xfrm>
              <a:off x="840" y="2501"/>
              <a:ext cx="39" cy="48"/>
              <a:chOff x="840" y="2501"/>
              <a:chExt cx="39" cy="48"/>
            </a:xfrm>
          </p:grpSpPr>
          <p:sp>
            <p:nvSpPr>
              <p:cNvPr id="100694" name="Oval 176"/>
              <p:cNvSpPr>
                <a:spLocks noChangeArrowheads="1"/>
              </p:cNvSpPr>
              <p:nvPr/>
            </p:nvSpPr>
            <p:spPr bwMode="auto">
              <a:xfrm>
                <a:off x="840" y="2501"/>
                <a:ext cx="39" cy="48"/>
              </a:xfrm>
              <a:prstGeom prst="ellipse">
                <a:avLst/>
              </a:prstGeom>
              <a:solidFill>
                <a:srgbClr val="0080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95" name="Oval 177"/>
              <p:cNvSpPr>
                <a:spLocks noChangeArrowheads="1"/>
              </p:cNvSpPr>
              <p:nvPr/>
            </p:nvSpPr>
            <p:spPr bwMode="auto">
              <a:xfrm>
                <a:off x="853" y="2516"/>
                <a:ext cx="13" cy="19"/>
              </a:xfrm>
              <a:prstGeom prst="ellipse">
                <a:avLst/>
              </a:prstGeom>
              <a:solidFill>
                <a:srgbClr val="BFFFB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17" name="Group 178"/>
            <p:cNvGrpSpPr>
              <a:grpSpLocks/>
            </p:cNvGrpSpPr>
            <p:nvPr/>
          </p:nvGrpSpPr>
          <p:grpSpPr bwMode="auto">
            <a:xfrm>
              <a:off x="645" y="2612"/>
              <a:ext cx="179" cy="17"/>
              <a:chOff x="645" y="2612"/>
              <a:chExt cx="179" cy="17"/>
            </a:xfrm>
          </p:grpSpPr>
          <p:grpSp>
            <p:nvGrpSpPr>
              <p:cNvPr id="100673" name="Group 179"/>
              <p:cNvGrpSpPr>
                <a:grpSpLocks/>
              </p:cNvGrpSpPr>
              <p:nvPr/>
            </p:nvGrpSpPr>
            <p:grpSpPr bwMode="auto">
              <a:xfrm>
                <a:off x="812" y="2612"/>
                <a:ext cx="12" cy="16"/>
                <a:chOff x="812" y="2612"/>
                <a:chExt cx="12" cy="16"/>
              </a:xfrm>
            </p:grpSpPr>
            <p:sp>
              <p:nvSpPr>
                <p:cNvPr id="100692" name="Freeform 180"/>
                <p:cNvSpPr>
                  <a:spLocks/>
                </p:cNvSpPr>
                <p:nvPr/>
              </p:nvSpPr>
              <p:spPr bwMode="auto">
                <a:xfrm>
                  <a:off x="812" y="2612"/>
                  <a:ext cx="12" cy="16"/>
                </a:xfrm>
                <a:custGeom>
                  <a:avLst/>
                  <a:gdLst>
                    <a:gd name="T0" fmla="*/ 0 w 12"/>
                    <a:gd name="T1" fmla="*/ 0 h 16"/>
                    <a:gd name="T2" fmla="*/ 8 w 12"/>
                    <a:gd name="T3" fmla="*/ 0 h 16"/>
                    <a:gd name="T4" fmla="*/ 9 w 12"/>
                    <a:gd name="T5" fmla="*/ 1 h 16"/>
                    <a:gd name="T6" fmla="*/ 9 w 12"/>
                    <a:gd name="T7" fmla="*/ 2 h 16"/>
                    <a:gd name="T8" fmla="*/ 10 w 12"/>
                    <a:gd name="T9" fmla="*/ 3 h 16"/>
                    <a:gd name="T10" fmla="*/ 10 w 12"/>
                    <a:gd name="T11" fmla="*/ 6 h 16"/>
                    <a:gd name="T12" fmla="*/ 9 w 12"/>
                    <a:gd name="T13" fmla="*/ 7 h 16"/>
                    <a:gd name="T14" fmla="*/ 9 w 12"/>
                    <a:gd name="T15" fmla="*/ 8 h 16"/>
                    <a:gd name="T16" fmla="*/ 8 w 12"/>
                    <a:gd name="T17" fmla="*/ 8 h 16"/>
                    <a:gd name="T18" fmla="*/ 9 w 12"/>
                    <a:gd name="T19" fmla="*/ 9 h 16"/>
                    <a:gd name="T20" fmla="*/ 9 w 12"/>
                    <a:gd name="T21" fmla="*/ 10 h 16"/>
                    <a:gd name="T22" fmla="*/ 10 w 12"/>
                    <a:gd name="T23" fmla="*/ 11 h 16"/>
                    <a:gd name="T24" fmla="*/ 10 w 12"/>
                    <a:gd name="T25" fmla="*/ 12 h 16"/>
                    <a:gd name="T26" fmla="*/ 10 w 12"/>
                    <a:gd name="T27" fmla="*/ 14 h 16"/>
                    <a:gd name="T28" fmla="*/ 11 w 12"/>
                    <a:gd name="T29" fmla="*/ 14 h 16"/>
                    <a:gd name="T30" fmla="*/ 11 w 12"/>
                    <a:gd name="T31" fmla="*/ 15 h 16"/>
                    <a:gd name="T32" fmla="*/ 7 w 12"/>
                    <a:gd name="T33" fmla="*/ 15 h 16"/>
                    <a:gd name="T34" fmla="*/ 7 w 12"/>
                    <a:gd name="T35" fmla="*/ 14 h 16"/>
                    <a:gd name="T36" fmla="*/ 8 w 12"/>
                    <a:gd name="T37" fmla="*/ 14 h 16"/>
                    <a:gd name="T38" fmla="*/ 8 w 12"/>
                    <a:gd name="T39" fmla="*/ 12 h 16"/>
                    <a:gd name="T40" fmla="*/ 7 w 12"/>
                    <a:gd name="T41" fmla="*/ 11 h 16"/>
                    <a:gd name="T42" fmla="*/ 6 w 12"/>
                    <a:gd name="T43" fmla="*/ 10 h 16"/>
                    <a:gd name="T44" fmla="*/ 6 w 12"/>
                    <a:gd name="T45" fmla="*/ 9 h 16"/>
                    <a:gd name="T46" fmla="*/ 5 w 12"/>
                    <a:gd name="T47" fmla="*/ 8 h 16"/>
                    <a:gd name="T48" fmla="*/ 5 w 12"/>
                    <a:gd name="T49" fmla="*/ 14 h 16"/>
                    <a:gd name="T50" fmla="*/ 6 w 12"/>
                    <a:gd name="T51" fmla="*/ 14 h 16"/>
                    <a:gd name="T52" fmla="*/ 6 w 12"/>
                    <a:gd name="T53" fmla="*/ 15 h 16"/>
                    <a:gd name="T54" fmla="*/ 0 w 12"/>
                    <a:gd name="T55" fmla="*/ 15 h 16"/>
                    <a:gd name="T56" fmla="*/ 0 w 12"/>
                    <a:gd name="T57" fmla="*/ 14 h 16"/>
                    <a:gd name="T58" fmla="*/ 1 w 12"/>
                    <a:gd name="T59" fmla="*/ 14 h 16"/>
                    <a:gd name="T60" fmla="*/ 1 w 12"/>
                    <a:gd name="T61" fmla="*/ 1 h 16"/>
                    <a:gd name="T62" fmla="*/ 0 w 12"/>
                    <a:gd name="T63" fmla="*/ 1 h 16"/>
                    <a:gd name="T64" fmla="*/ 0 w 12"/>
                    <a:gd name="T65" fmla="*/ 0 h 1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2"/>
                    <a:gd name="T100" fmla="*/ 0 h 16"/>
                    <a:gd name="T101" fmla="*/ 12 w 12"/>
                    <a:gd name="T102" fmla="*/ 16 h 1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2" h="16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9" y="1"/>
                      </a:lnTo>
                      <a:lnTo>
                        <a:pt x="9" y="2"/>
                      </a:lnTo>
                      <a:lnTo>
                        <a:pt x="10" y="3"/>
                      </a:lnTo>
                      <a:lnTo>
                        <a:pt x="10" y="6"/>
                      </a:lnTo>
                      <a:lnTo>
                        <a:pt x="9" y="7"/>
                      </a:lnTo>
                      <a:lnTo>
                        <a:pt x="9" y="8"/>
                      </a:lnTo>
                      <a:lnTo>
                        <a:pt x="8" y="8"/>
                      </a:lnTo>
                      <a:lnTo>
                        <a:pt x="9" y="9"/>
                      </a:lnTo>
                      <a:lnTo>
                        <a:pt x="9" y="10"/>
                      </a:lnTo>
                      <a:lnTo>
                        <a:pt x="10" y="11"/>
                      </a:lnTo>
                      <a:lnTo>
                        <a:pt x="10" y="12"/>
                      </a:lnTo>
                      <a:lnTo>
                        <a:pt x="10" y="14"/>
                      </a:lnTo>
                      <a:lnTo>
                        <a:pt x="11" y="14"/>
                      </a:lnTo>
                      <a:lnTo>
                        <a:pt x="11" y="15"/>
                      </a:lnTo>
                      <a:lnTo>
                        <a:pt x="7" y="15"/>
                      </a:lnTo>
                      <a:lnTo>
                        <a:pt x="7" y="14"/>
                      </a:lnTo>
                      <a:lnTo>
                        <a:pt x="8" y="14"/>
                      </a:lnTo>
                      <a:lnTo>
                        <a:pt x="8" y="12"/>
                      </a:lnTo>
                      <a:lnTo>
                        <a:pt x="7" y="11"/>
                      </a:lnTo>
                      <a:lnTo>
                        <a:pt x="6" y="10"/>
                      </a:lnTo>
                      <a:lnTo>
                        <a:pt x="6" y="9"/>
                      </a:lnTo>
                      <a:lnTo>
                        <a:pt x="5" y="8"/>
                      </a:lnTo>
                      <a:lnTo>
                        <a:pt x="5" y="14"/>
                      </a:lnTo>
                      <a:lnTo>
                        <a:pt x="6" y="14"/>
                      </a:lnTo>
                      <a:lnTo>
                        <a:pt x="6" y="15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1" y="14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93" name="Freeform 181"/>
                <p:cNvSpPr>
                  <a:spLocks/>
                </p:cNvSpPr>
                <p:nvPr/>
              </p:nvSpPr>
              <p:spPr bwMode="auto">
                <a:xfrm>
                  <a:off x="815" y="2614"/>
                  <a:ext cx="6" cy="3"/>
                </a:xfrm>
                <a:custGeom>
                  <a:avLst/>
                  <a:gdLst>
                    <a:gd name="T0" fmla="*/ 5 w 6"/>
                    <a:gd name="T1" fmla="*/ 2 h 3"/>
                    <a:gd name="T2" fmla="*/ 5 w 6"/>
                    <a:gd name="T3" fmla="*/ 0 h 3"/>
                    <a:gd name="T4" fmla="*/ 2 w 6"/>
                    <a:gd name="T5" fmla="*/ 0 h 3"/>
                    <a:gd name="T6" fmla="*/ 0 w 6"/>
                    <a:gd name="T7" fmla="*/ 0 h 3"/>
                    <a:gd name="T8" fmla="*/ 0 w 6"/>
                    <a:gd name="T9" fmla="*/ 1 h 3"/>
                    <a:gd name="T10" fmla="*/ 0 w 6"/>
                    <a:gd name="T11" fmla="*/ 2 h 3"/>
                    <a:gd name="T12" fmla="*/ 2 w 6"/>
                    <a:gd name="T13" fmla="*/ 2 h 3"/>
                    <a:gd name="T14" fmla="*/ 5 w 6"/>
                    <a:gd name="T15" fmla="*/ 2 h 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"/>
                    <a:gd name="T25" fmla="*/ 0 h 3"/>
                    <a:gd name="T26" fmla="*/ 6 w 6"/>
                    <a:gd name="T27" fmla="*/ 3 h 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" h="3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5" y="2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4" name="Group 182"/>
              <p:cNvGrpSpPr>
                <a:grpSpLocks/>
              </p:cNvGrpSpPr>
              <p:nvPr/>
            </p:nvGrpSpPr>
            <p:grpSpPr bwMode="auto">
              <a:xfrm>
                <a:off x="645" y="2612"/>
                <a:ext cx="11" cy="17"/>
                <a:chOff x="645" y="2612"/>
                <a:chExt cx="11" cy="17"/>
              </a:xfrm>
            </p:grpSpPr>
            <p:sp>
              <p:nvSpPr>
                <p:cNvPr id="100690" name="Freeform 183"/>
                <p:cNvSpPr>
                  <a:spLocks/>
                </p:cNvSpPr>
                <p:nvPr/>
              </p:nvSpPr>
              <p:spPr bwMode="auto">
                <a:xfrm>
                  <a:off x="645" y="2612"/>
                  <a:ext cx="11" cy="17"/>
                </a:xfrm>
                <a:custGeom>
                  <a:avLst/>
                  <a:gdLst>
                    <a:gd name="T0" fmla="*/ 3 w 11"/>
                    <a:gd name="T1" fmla="*/ 0 h 17"/>
                    <a:gd name="T2" fmla="*/ 7 w 11"/>
                    <a:gd name="T3" fmla="*/ 0 h 17"/>
                    <a:gd name="T4" fmla="*/ 8 w 11"/>
                    <a:gd name="T5" fmla="*/ 1 h 17"/>
                    <a:gd name="T6" fmla="*/ 9 w 11"/>
                    <a:gd name="T7" fmla="*/ 3 h 17"/>
                    <a:gd name="T8" fmla="*/ 10 w 11"/>
                    <a:gd name="T9" fmla="*/ 4 h 17"/>
                    <a:gd name="T10" fmla="*/ 10 w 11"/>
                    <a:gd name="T11" fmla="*/ 7 h 17"/>
                    <a:gd name="T12" fmla="*/ 10 w 11"/>
                    <a:gd name="T13" fmla="*/ 9 h 17"/>
                    <a:gd name="T14" fmla="*/ 10 w 11"/>
                    <a:gd name="T15" fmla="*/ 11 h 17"/>
                    <a:gd name="T16" fmla="*/ 9 w 11"/>
                    <a:gd name="T17" fmla="*/ 13 h 17"/>
                    <a:gd name="T18" fmla="*/ 7 w 11"/>
                    <a:gd name="T19" fmla="*/ 15 h 17"/>
                    <a:gd name="T20" fmla="*/ 7 w 11"/>
                    <a:gd name="T21" fmla="*/ 16 h 17"/>
                    <a:gd name="T22" fmla="*/ 3 w 11"/>
                    <a:gd name="T23" fmla="*/ 16 h 17"/>
                    <a:gd name="T24" fmla="*/ 2 w 11"/>
                    <a:gd name="T25" fmla="*/ 15 h 17"/>
                    <a:gd name="T26" fmla="*/ 1 w 11"/>
                    <a:gd name="T27" fmla="*/ 14 h 17"/>
                    <a:gd name="T28" fmla="*/ 0 w 11"/>
                    <a:gd name="T29" fmla="*/ 12 h 17"/>
                    <a:gd name="T30" fmla="*/ 0 w 11"/>
                    <a:gd name="T31" fmla="*/ 10 h 17"/>
                    <a:gd name="T32" fmla="*/ 0 w 11"/>
                    <a:gd name="T33" fmla="*/ 7 h 17"/>
                    <a:gd name="T34" fmla="*/ 0 w 11"/>
                    <a:gd name="T35" fmla="*/ 4 h 17"/>
                    <a:gd name="T36" fmla="*/ 1 w 11"/>
                    <a:gd name="T37" fmla="*/ 3 h 17"/>
                    <a:gd name="T38" fmla="*/ 2 w 11"/>
                    <a:gd name="T39" fmla="*/ 1 h 17"/>
                    <a:gd name="T40" fmla="*/ 3 w 11"/>
                    <a:gd name="T41" fmla="*/ 0 h 1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1"/>
                    <a:gd name="T64" fmla="*/ 0 h 17"/>
                    <a:gd name="T65" fmla="*/ 11 w 11"/>
                    <a:gd name="T66" fmla="*/ 17 h 1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1" h="17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8" y="1"/>
                      </a:lnTo>
                      <a:lnTo>
                        <a:pt x="9" y="3"/>
                      </a:lnTo>
                      <a:lnTo>
                        <a:pt x="10" y="4"/>
                      </a:lnTo>
                      <a:lnTo>
                        <a:pt x="10" y="7"/>
                      </a:lnTo>
                      <a:lnTo>
                        <a:pt x="10" y="9"/>
                      </a:lnTo>
                      <a:lnTo>
                        <a:pt x="10" y="11"/>
                      </a:lnTo>
                      <a:lnTo>
                        <a:pt x="9" y="13"/>
                      </a:lnTo>
                      <a:lnTo>
                        <a:pt x="7" y="15"/>
                      </a:lnTo>
                      <a:lnTo>
                        <a:pt x="7" y="16"/>
                      </a:lnTo>
                      <a:lnTo>
                        <a:pt x="3" y="16"/>
                      </a:lnTo>
                      <a:lnTo>
                        <a:pt x="2" y="15"/>
                      </a:lnTo>
                      <a:lnTo>
                        <a:pt x="1" y="14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2" y="1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91" name="Freeform 184"/>
                <p:cNvSpPr>
                  <a:spLocks/>
                </p:cNvSpPr>
                <p:nvPr/>
              </p:nvSpPr>
              <p:spPr bwMode="auto">
                <a:xfrm>
                  <a:off x="648" y="2615"/>
                  <a:ext cx="4" cy="11"/>
                </a:xfrm>
                <a:custGeom>
                  <a:avLst/>
                  <a:gdLst>
                    <a:gd name="T0" fmla="*/ 2 w 4"/>
                    <a:gd name="T1" fmla="*/ 0 h 11"/>
                    <a:gd name="T2" fmla="*/ 2 w 4"/>
                    <a:gd name="T3" fmla="*/ 1 h 11"/>
                    <a:gd name="T4" fmla="*/ 3 w 4"/>
                    <a:gd name="T5" fmla="*/ 2 h 11"/>
                    <a:gd name="T6" fmla="*/ 3 w 4"/>
                    <a:gd name="T7" fmla="*/ 8 h 11"/>
                    <a:gd name="T8" fmla="*/ 2 w 4"/>
                    <a:gd name="T9" fmla="*/ 9 h 11"/>
                    <a:gd name="T10" fmla="*/ 2 w 4"/>
                    <a:gd name="T11" fmla="*/ 10 h 11"/>
                    <a:gd name="T12" fmla="*/ 1 w 4"/>
                    <a:gd name="T13" fmla="*/ 10 h 11"/>
                    <a:gd name="T14" fmla="*/ 0 w 4"/>
                    <a:gd name="T15" fmla="*/ 9 h 11"/>
                    <a:gd name="T16" fmla="*/ 0 w 4"/>
                    <a:gd name="T17" fmla="*/ 8 h 11"/>
                    <a:gd name="T18" fmla="*/ 0 w 4"/>
                    <a:gd name="T19" fmla="*/ 2 h 11"/>
                    <a:gd name="T20" fmla="*/ 0 w 4"/>
                    <a:gd name="T21" fmla="*/ 1 h 11"/>
                    <a:gd name="T22" fmla="*/ 1 w 4"/>
                    <a:gd name="T23" fmla="*/ 0 h 11"/>
                    <a:gd name="T24" fmla="*/ 2 w 4"/>
                    <a:gd name="T25" fmla="*/ 0 h 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"/>
                    <a:gd name="T40" fmla="*/ 0 h 11"/>
                    <a:gd name="T41" fmla="*/ 4 w 4"/>
                    <a:gd name="T42" fmla="*/ 11 h 1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" h="11">
                      <a:moveTo>
                        <a:pt x="2" y="0"/>
                      </a:moveTo>
                      <a:lnTo>
                        <a:pt x="2" y="1"/>
                      </a:lnTo>
                      <a:lnTo>
                        <a:pt x="3" y="2"/>
                      </a:lnTo>
                      <a:lnTo>
                        <a:pt x="3" y="8"/>
                      </a:lnTo>
                      <a:lnTo>
                        <a:pt x="2" y="9"/>
                      </a:lnTo>
                      <a:lnTo>
                        <a:pt x="2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5" name="Group 185"/>
              <p:cNvGrpSpPr>
                <a:grpSpLocks/>
              </p:cNvGrpSpPr>
              <p:nvPr/>
            </p:nvGrpSpPr>
            <p:grpSpPr bwMode="auto">
              <a:xfrm>
                <a:off x="664" y="2613"/>
                <a:ext cx="32" cy="16"/>
                <a:chOff x="664" y="2613"/>
                <a:chExt cx="32" cy="16"/>
              </a:xfrm>
            </p:grpSpPr>
            <p:sp>
              <p:nvSpPr>
                <p:cNvPr id="100688" name="Freeform 186"/>
                <p:cNvSpPr>
                  <a:spLocks/>
                </p:cNvSpPr>
                <p:nvPr/>
              </p:nvSpPr>
              <p:spPr bwMode="auto">
                <a:xfrm>
                  <a:off x="664" y="2613"/>
                  <a:ext cx="14" cy="16"/>
                </a:xfrm>
                <a:custGeom>
                  <a:avLst/>
                  <a:gdLst>
                    <a:gd name="T0" fmla="*/ 0 w 14"/>
                    <a:gd name="T1" fmla="*/ 15 h 16"/>
                    <a:gd name="T2" fmla="*/ 3 w 14"/>
                    <a:gd name="T3" fmla="*/ 15 h 16"/>
                    <a:gd name="T4" fmla="*/ 3 w 14"/>
                    <a:gd name="T5" fmla="*/ 14 h 16"/>
                    <a:gd name="T6" fmla="*/ 2 w 14"/>
                    <a:gd name="T7" fmla="*/ 14 h 16"/>
                    <a:gd name="T8" fmla="*/ 2 w 14"/>
                    <a:gd name="T9" fmla="*/ 3 h 16"/>
                    <a:gd name="T10" fmla="*/ 8 w 14"/>
                    <a:gd name="T11" fmla="*/ 15 h 16"/>
                    <a:gd name="T12" fmla="*/ 12 w 14"/>
                    <a:gd name="T13" fmla="*/ 15 h 16"/>
                    <a:gd name="T14" fmla="*/ 12 w 14"/>
                    <a:gd name="T15" fmla="*/ 1 h 16"/>
                    <a:gd name="T16" fmla="*/ 13 w 14"/>
                    <a:gd name="T17" fmla="*/ 1 h 16"/>
                    <a:gd name="T18" fmla="*/ 13 w 14"/>
                    <a:gd name="T19" fmla="*/ 0 h 16"/>
                    <a:gd name="T20" fmla="*/ 9 w 14"/>
                    <a:gd name="T21" fmla="*/ 0 h 16"/>
                    <a:gd name="T22" fmla="*/ 9 w 14"/>
                    <a:gd name="T23" fmla="*/ 1 h 16"/>
                    <a:gd name="T24" fmla="*/ 11 w 14"/>
                    <a:gd name="T25" fmla="*/ 1 h 16"/>
                    <a:gd name="T26" fmla="*/ 11 w 14"/>
                    <a:gd name="T27" fmla="*/ 10 h 16"/>
                    <a:gd name="T28" fmla="*/ 6 w 14"/>
                    <a:gd name="T29" fmla="*/ 1 h 16"/>
                    <a:gd name="T30" fmla="*/ 0 w 14"/>
                    <a:gd name="T31" fmla="*/ 1 h 16"/>
                    <a:gd name="T32" fmla="*/ 1 w 14"/>
                    <a:gd name="T33" fmla="*/ 1 h 16"/>
                    <a:gd name="T34" fmla="*/ 1 w 14"/>
                    <a:gd name="T35" fmla="*/ 14 h 16"/>
                    <a:gd name="T36" fmla="*/ 0 w 14"/>
                    <a:gd name="T37" fmla="*/ 14 h 16"/>
                    <a:gd name="T38" fmla="*/ 0 w 14"/>
                    <a:gd name="T39" fmla="*/ 15 h 1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4"/>
                    <a:gd name="T61" fmla="*/ 0 h 16"/>
                    <a:gd name="T62" fmla="*/ 14 w 14"/>
                    <a:gd name="T63" fmla="*/ 16 h 1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4" h="16">
                      <a:moveTo>
                        <a:pt x="0" y="15"/>
                      </a:moveTo>
                      <a:lnTo>
                        <a:pt x="3" y="15"/>
                      </a:lnTo>
                      <a:lnTo>
                        <a:pt x="3" y="14"/>
                      </a:lnTo>
                      <a:lnTo>
                        <a:pt x="2" y="14"/>
                      </a:lnTo>
                      <a:lnTo>
                        <a:pt x="2" y="3"/>
                      </a:lnTo>
                      <a:lnTo>
                        <a:pt x="8" y="15"/>
                      </a:lnTo>
                      <a:lnTo>
                        <a:pt x="12" y="15"/>
                      </a:lnTo>
                      <a:lnTo>
                        <a:pt x="12" y="1"/>
                      </a:lnTo>
                      <a:lnTo>
                        <a:pt x="13" y="1"/>
                      </a:lnTo>
                      <a:lnTo>
                        <a:pt x="13" y="0"/>
                      </a:lnTo>
                      <a:lnTo>
                        <a:pt x="9" y="0"/>
                      </a:lnTo>
                      <a:lnTo>
                        <a:pt x="9" y="1"/>
                      </a:lnTo>
                      <a:lnTo>
                        <a:pt x="11" y="1"/>
                      </a:lnTo>
                      <a:lnTo>
                        <a:pt x="11" y="10"/>
                      </a:lnTo>
                      <a:lnTo>
                        <a:pt x="6" y="1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" y="14"/>
                      </a:lnTo>
                      <a:lnTo>
                        <a:pt x="0" y="14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89" name="Freeform 187"/>
                <p:cNvSpPr>
                  <a:spLocks/>
                </p:cNvSpPr>
                <p:nvPr/>
              </p:nvSpPr>
              <p:spPr bwMode="auto">
                <a:xfrm>
                  <a:off x="685" y="2613"/>
                  <a:ext cx="11" cy="16"/>
                </a:xfrm>
                <a:custGeom>
                  <a:avLst/>
                  <a:gdLst>
                    <a:gd name="T0" fmla="*/ 0 w 11"/>
                    <a:gd name="T1" fmla="*/ 0 h 16"/>
                    <a:gd name="T2" fmla="*/ 9 w 11"/>
                    <a:gd name="T3" fmla="*/ 0 h 16"/>
                    <a:gd name="T4" fmla="*/ 9 w 11"/>
                    <a:gd name="T5" fmla="*/ 4 h 16"/>
                    <a:gd name="T6" fmla="*/ 6 w 11"/>
                    <a:gd name="T7" fmla="*/ 1 h 16"/>
                    <a:gd name="T8" fmla="*/ 4 w 11"/>
                    <a:gd name="T9" fmla="*/ 1 h 16"/>
                    <a:gd name="T10" fmla="*/ 4 w 11"/>
                    <a:gd name="T11" fmla="*/ 7 h 16"/>
                    <a:gd name="T12" fmla="*/ 6 w 11"/>
                    <a:gd name="T13" fmla="*/ 7 h 16"/>
                    <a:gd name="T14" fmla="*/ 7 w 11"/>
                    <a:gd name="T15" fmla="*/ 5 h 16"/>
                    <a:gd name="T16" fmla="*/ 7 w 11"/>
                    <a:gd name="T17" fmla="*/ 10 h 16"/>
                    <a:gd name="T18" fmla="*/ 6 w 11"/>
                    <a:gd name="T19" fmla="*/ 8 h 16"/>
                    <a:gd name="T20" fmla="*/ 4 w 11"/>
                    <a:gd name="T21" fmla="*/ 8 h 16"/>
                    <a:gd name="T22" fmla="*/ 4 w 11"/>
                    <a:gd name="T23" fmla="*/ 13 h 16"/>
                    <a:gd name="T24" fmla="*/ 6 w 11"/>
                    <a:gd name="T25" fmla="*/ 13 h 16"/>
                    <a:gd name="T26" fmla="*/ 9 w 11"/>
                    <a:gd name="T27" fmla="*/ 10 h 16"/>
                    <a:gd name="T28" fmla="*/ 10 w 11"/>
                    <a:gd name="T29" fmla="*/ 10 h 16"/>
                    <a:gd name="T30" fmla="*/ 10 w 11"/>
                    <a:gd name="T31" fmla="*/ 15 h 16"/>
                    <a:gd name="T32" fmla="*/ 0 w 11"/>
                    <a:gd name="T33" fmla="*/ 15 h 16"/>
                    <a:gd name="T34" fmla="*/ 0 w 11"/>
                    <a:gd name="T35" fmla="*/ 14 h 16"/>
                    <a:gd name="T36" fmla="*/ 1 w 11"/>
                    <a:gd name="T37" fmla="*/ 14 h 16"/>
                    <a:gd name="T38" fmla="*/ 1 w 11"/>
                    <a:gd name="T39" fmla="*/ 1 h 16"/>
                    <a:gd name="T40" fmla="*/ 0 w 11"/>
                    <a:gd name="T41" fmla="*/ 1 h 16"/>
                    <a:gd name="T42" fmla="*/ 0 w 11"/>
                    <a:gd name="T43" fmla="*/ 0 h 1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1"/>
                    <a:gd name="T67" fmla="*/ 0 h 16"/>
                    <a:gd name="T68" fmla="*/ 11 w 11"/>
                    <a:gd name="T69" fmla="*/ 16 h 1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1" h="16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6" y="1"/>
                      </a:lnTo>
                      <a:lnTo>
                        <a:pt x="4" y="1"/>
                      </a:lnTo>
                      <a:lnTo>
                        <a:pt x="4" y="7"/>
                      </a:lnTo>
                      <a:lnTo>
                        <a:pt x="6" y="7"/>
                      </a:lnTo>
                      <a:lnTo>
                        <a:pt x="7" y="5"/>
                      </a:lnTo>
                      <a:lnTo>
                        <a:pt x="7" y="10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4" y="13"/>
                      </a:lnTo>
                      <a:lnTo>
                        <a:pt x="6" y="13"/>
                      </a:lnTo>
                      <a:lnTo>
                        <a:pt x="9" y="10"/>
                      </a:lnTo>
                      <a:lnTo>
                        <a:pt x="10" y="10"/>
                      </a:lnTo>
                      <a:lnTo>
                        <a:pt x="10" y="15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1" y="14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6" name="Group 188"/>
              <p:cNvGrpSpPr>
                <a:grpSpLocks/>
              </p:cNvGrpSpPr>
              <p:nvPr/>
            </p:nvGrpSpPr>
            <p:grpSpPr bwMode="auto">
              <a:xfrm>
                <a:off x="734" y="2612"/>
                <a:ext cx="12" cy="16"/>
                <a:chOff x="734" y="2612"/>
                <a:chExt cx="12" cy="16"/>
              </a:xfrm>
            </p:grpSpPr>
            <p:sp>
              <p:nvSpPr>
                <p:cNvPr id="100686" name="Freeform 189"/>
                <p:cNvSpPr>
                  <a:spLocks/>
                </p:cNvSpPr>
                <p:nvPr/>
              </p:nvSpPr>
              <p:spPr bwMode="auto">
                <a:xfrm>
                  <a:off x="734" y="2612"/>
                  <a:ext cx="12" cy="16"/>
                </a:xfrm>
                <a:custGeom>
                  <a:avLst/>
                  <a:gdLst>
                    <a:gd name="T0" fmla="*/ 3 w 12"/>
                    <a:gd name="T1" fmla="*/ 0 h 16"/>
                    <a:gd name="T2" fmla="*/ 8 w 12"/>
                    <a:gd name="T3" fmla="*/ 0 h 16"/>
                    <a:gd name="T4" fmla="*/ 8 w 12"/>
                    <a:gd name="T5" fmla="*/ 1 h 16"/>
                    <a:gd name="T6" fmla="*/ 10 w 12"/>
                    <a:gd name="T7" fmla="*/ 3 h 16"/>
                    <a:gd name="T8" fmla="*/ 10 w 12"/>
                    <a:gd name="T9" fmla="*/ 4 h 16"/>
                    <a:gd name="T10" fmla="*/ 11 w 12"/>
                    <a:gd name="T11" fmla="*/ 7 h 16"/>
                    <a:gd name="T12" fmla="*/ 11 w 12"/>
                    <a:gd name="T13" fmla="*/ 8 h 16"/>
                    <a:gd name="T14" fmla="*/ 10 w 12"/>
                    <a:gd name="T15" fmla="*/ 11 h 16"/>
                    <a:gd name="T16" fmla="*/ 10 w 12"/>
                    <a:gd name="T17" fmla="*/ 13 h 16"/>
                    <a:gd name="T18" fmla="*/ 8 w 12"/>
                    <a:gd name="T19" fmla="*/ 15 h 16"/>
                    <a:gd name="T20" fmla="*/ 3 w 12"/>
                    <a:gd name="T21" fmla="*/ 15 h 16"/>
                    <a:gd name="T22" fmla="*/ 1 w 12"/>
                    <a:gd name="T23" fmla="*/ 13 h 16"/>
                    <a:gd name="T24" fmla="*/ 1 w 12"/>
                    <a:gd name="T25" fmla="*/ 11 h 16"/>
                    <a:gd name="T26" fmla="*/ 0 w 12"/>
                    <a:gd name="T27" fmla="*/ 9 h 16"/>
                    <a:gd name="T28" fmla="*/ 0 w 12"/>
                    <a:gd name="T29" fmla="*/ 7 h 16"/>
                    <a:gd name="T30" fmla="*/ 1 w 12"/>
                    <a:gd name="T31" fmla="*/ 4 h 16"/>
                    <a:gd name="T32" fmla="*/ 1 w 12"/>
                    <a:gd name="T33" fmla="*/ 3 h 16"/>
                    <a:gd name="T34" fmla="*/ 3 w 12"/>
                    <a:gd name="T35" fmla="*/ 1 h 16"/>
                    <a:gd name="T36" fmla="*/ 3 w 12"/>
                    <a:gd name="T37" fmla="*/ 0 h 1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2"/>
                    <a:gd name="T58" fmla="*/ 0 h 16"/>
                    <a:gd name="T59" fmla="*/ 12 w 12"/>
                    <a:gd name="T60" fmla="*/ 16 h 1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2" h="16">
                      <a:moveTo>
                        <a:pt x="3" y="0"/>
                      </a:moveTo>
                      <a:lnTo>
                        <a:pt x="8" y="0"/>
                      </a:lnTo>
                      <a:lnTo>
                        <a:pt x="8" y="1"/>
                      </a:lnTo>
                      <a:lnTo>
                        <a:pt x="10" y="3"/>
                      </a:lnTo>
                      <a:lnTo>
                        <a:pt x="10" y="4"/>
                      </a:lnTo>
                      <a:lnTo>
                        <a:pt x="11" y="7"/>
                      </a:lnTo>
                      <a:lnTo>
                        <a:pt x="11" y="8"/>
                      </a:lnTo>
                      <a:lnTo>
                        <a:pt x="10" y="11"/>
                      </a:lnTo>
                      <a:lnTo>
                        <a:pt x="10" y="13"/>
                      </a:lnTo>
                      <a:lnTo>
                        <a:pt x="8" y="15"/>
                      </a:lnTo>
                      <a:lnTo>
                        <a:pt x="3" y="15"/>
                      </a:lnTo>
                      <a:lnTo>
                        <a:pt x="1" y="13"/>
                      </a:lnTo>
                      <a:lnTo>
                        <a:pt x="1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1" y="4"/>
                      </a:lnTo>
                      <a:lnTo>
                        <a:pt x="1" y="3"/>
                      </a:lnTo>
                      <a:lnTo>
                        <a:pt x="3" y="1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87" name="Freeform 190"/>
                <p:cNvSpPr>
                  <a:spLocks/>
                </p:cNvSpPr>
                <p:nvPr/>
              </p:nvSpPr>
              <p:spPr bwMode="auto">
                <a:xfrm>
                  <a:off x="738" y="2615"/>
                  <a:ext cx="4" cy="11"/>
                </a:xfrm>
                <a:custGeom>
                  <a:avLst/>
                  <a:gdLst>
                    <a:gd name="T0" fmla="*/ 2 w 4"/>
                    <a:gd name="T1" fmla="*/ 0 h 11"/>
                    <a:gd name="T2" fmla="*/ 2 w 4"/>
                    <a:gd name="T3" fmla="*/ 1 h 11"/>
                    <a:gd name="T4" fmla="*/ 3 w 4"/>
                    <a:gd name="T5" fmla="*/ 2 h 11"/>
                    <a:gd name="T6" fmla="*/ 3 w 4"/>
                    <a:gd name="T7" fmla="*/ 8 h 11"/>
                    <a:gd name="T8" fmla="*/ 2 w 4"/>
                    <a:gd name="T9" fmla="*/ 9 h 11"/>
                    <a:gd name="T10" fmla="*/ 2 w 4"/>
                    <a:gd name="T11" fmla="*/ 10 h 11"/>
                    <a:gd name="T12" fmla="*/ 1 w 4"/>
                    <a:gd name="T13" fmla="*/ 10 h 11"/>
                    <a:gd name="T14" fmla="*/ 0 w 4"/>
                    <a:gd name="T15" fmla="*/ 9 h 11"/>
                    <a:gd name="T16" fmla="*/ 0 w 4"/>
                    <a:gd name="T17" fmla="*/ 8 h 11"/>
                    <a:gd name="T18" fmla="*/ 0 w 4"/>
                    <a:gd name="T19" fmla="*/ 2 h 11"/>
                    <a:gd name="T20" fmla="*/ 0 w 4"/>
                    <a:gd name="T21" fmla="*/ 1 h 11"/>
                    <a:gd name="T22" fmla="*/ 1 w 4"/>
                    <a:gd name="T23" fmla="*/ 0 h 11"/>
                    <a:gd name="T24" fmla="*/ 2 w 4"/>
                    <a:gd name="T25" fmla="*/ 0 h 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"/>
                    <a:gd name="T40" fmla="*/ 0 h 11"/>
                    <a:gd name="T41" fmla="*/ 4 w 4"/>
                    <a:gd name="T42" fmla="*/ 11 h 1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" h="11">
                      <a:moveTo>
                        <a:pt x="2" y="0"/>
                      </a:moveTo>
                      <a:lnTo>
                        <a:pt x="2" y="1"/>
                      </a:lnTo>
                      <a:lnTo>
                        <a:pt x="3" y="2"/>
                      </a:lnTo>
                      <a:lnTo>
                        <a:pt x="3" y="8"/>
                      </a:lnTo>
                      <a:lnTo>
                        <a:pt x="2" y="9"/>
                      </a:lnTo>
                      <a:lnTo>
                        <a:pt x="2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7" name="Group 191"/>
              <p:cNvGrpSpPr>
                <a:grpSpLocks/>
              </p:cNvGrpSpPr>
              <p:nvPr/>
            </p:nvGrpSpPr>
            <p:grpSpPr bwMode="auto">
              <a:xfrm>
                <a:off x="753" y="2612"/>
                <a:ext cx="28" cy="16"/>
                <a:chOff x="753" y="2612"/>
                <a:chExt cx="28" cy="16"/>
              </a:xfrm>
            </p:grpSpPr>
            <p:sp>
              <p:nvSpPr>
                <p:cNvPr id="100684" name="Freeform 192"/>
                <p:cNvSpPr>
                  <a:spLocks/>
                </p:cNvSpPr>
                <p:nvPr/>
              </p:nvSpPr>
              <p:spPr bwMode="auto">
                <a:xfrm>
                  <a:off x="753" y="2612"/>
                  <a:ext cx="11" cy="16"/>
                </a:xfrm>
                <a:custGeom>
                  <a:avLst/>
                  <a:gdLst>
                    <a:gd name="T0" fmla="*/ 0 w 11"/>
                    <a:gd name="T1" fmla="*/ 0 h 16"/>
                    <a:gd name="T2" fmla="*/ 6 w 11"/>
                    <a:gd name="T3" fmla="*/ 0 h 16"/>
                    <a:gd name="T4" fmla="*/ 6 w 11"/>
                    <a:gd name="T5" fmla="*/ 1 h 16"/>
                    <a:gd name="T6" fmla="*/ 4 w 11"/>
                    <a:gd name="T7" fmla="*/ 1 h 16"/>
                    <a:gd name="T8" fmla="*/ 4 w 11"/>
                    <a:gd name="T9" fmla="*/ 13 h 16"/>
                    <a:gd name="T10" fmla="*/ 6 w 11"/>
                    <a:gd name="T11" fmla="*/ 13 h 16"/>
                    <a:gd name="T12" fmla="*/ 9 w 11"/>
                    <a:gd name="T13" fmla="*/ 11 h 16"/>
                    <a:gd name="T14" fmla="*/ 10 w 11"/>
                    <a:gd name="T15" fmla="*/ 11 h 16"/>
                    <a:gd name="T16" fmla="*/ 10 w 11"/>
                    <a:gd name="T17" fmla="*/ 15 h 16"/>
                    <a:gd name="T18" fmla="*/ 1 w 11"/>
                    <a:gd name="T19" fmla="*/ 15 h 16"/>
                    <a:gd name="T20" fmla="*/ 1 w 11"/>
                    <a:gd name="T21" fmla="*/ 14 h 16"/>
                    <a:gd name="T22" fmla="*/ 1 w 11"/>
                    <a:gd name="T23" fmla="*/ 1 h 16"/>
                    <a:gd name="T24" fmla="*/ 0 w 11"/>
                    <a:gd name="T25" fmla="*/ 1 h 16"/>
                    <a:gd name="T26" fmla="*/ 0 w 11"/>
                    <a:gd name="T27" fmla="*/ 0 h 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1"/>
                    <a:gd name="T43" fmla="*/ 0 h 16"/>
                    <a:gd name="T44" fmla="*/ 11 w 11"/>
                    <a:gd name="T45" fmla="*/ 16 h 1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1" h="16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4" y="1"/>
                      </a:lnTo>
                      <a:lnTo>
                        <a:pt x="4" y="13"/>
                      </a:lnTo>
                      <a:lnTo>
                        <a:pt x="6" y="13"/>
                      </a:lnTo>
                      <a:lnTo>
                        <a:pt x="9" y="11"/>
                      </a:lnTo>
                      <a:lnTo>
                        <a:pt x="10" y="11"/>
                      </a:lnTo>
                      <a:lnTo>
                        <a:pt x="10" y="15"/>
                      </a:lnTo>
                      <a:lnTo>
                        <a:pt x="1" y="15"/>
                      </a:lnTo>
                      <a:lnTo>
                        <a:pt x="1" y="14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85" name="Freeform 193"/>
                <p:cNvSpPr>
                  <a:spLocks/>
                </p:cNvSpPr>
                <p:nvPr/>
              </p:nvSpPr>
              <p:spPr bwMode="auto">
                <a:xfrm>
                  <a:off x="771" y="2612"/>
                  <a:ext cx="10" cy="16"/>
                </a:xfrm>
                <a:custGeom>
                  <a:avLst/>
                  <a:gdLst>
                    <a:gd name="T0" fmla="*/ 0 w 10"/>
                    <a:gd name="T1" fmla="*/ 0 h 16"/>
                    <a:gd name="T2" fmla="*/ 5 w 10"/>
                    <a:gd name="T3" fmla="*/ 0 h 16"/>
                    <a:gd name="T4" fmla="*/ 5 w 10"/>
                    <a:gd name="T5" fmla="*/ 1 h 16"/>
                    <a:gd name="T6" fmla="*/ 4 w 10"/>
                    <a:gd name="T7" fmla="*/ 1 h 16"/>
                    <a:gd name="T8" fmla="*/ 4 w 10"/>
                    <a:gd name="T9" fmla="*/ 13 h 16"/>
                    <a:gd name="T10" fmla="*/ 5 w 10"/>
                    <a:gd name="T11" fmla="*/ 13 h 16"/>
                    <a:gd name="T12" fmla="*/ 8 w 10"/>
                    <a:gd name="T13" fmla="*/ 11 h 16"/>
                    <a:gd name="T14" fmla="*/ 9 w 10"/>
                    <a:gd name="T15" fmla="*/ 11 h 16"/>
                    <a:gd name="T16" fmla="*/ 9 w 10"/>
                    <a:gd name="T17" fmla="*/ 15 h 16"/>
                    <a:gd name="T18" fmla="*/ 0 w 10"/>
                    <a:gd name="T19" fmla="*/ 15 h 16"/>
                    <a:gd name="T20" fmla="*/ 0 w 10"/>
                    <a:gd name="T21" fmla="*/ 14 h 16"/>
                    <a:gd name="T22" fmla="*/ 1 w 10"/>
                    <a:gd name="T23" fmla="*/ 14 h 16"/>
                    <a:gd name="T24" fmla="*/ 1 w 10"/>
                    <a:gd name="T25" fmla="*/ 1 h 16"/>
                    <a:gd name="T26" fmla="*/ 0 w 10"/>
                    <a:gd name="T27" fmla="*/ 1 h 16"/>
                    <a:gd name="T28" fmla="*/ 0 w 10"/>
                    <a:gd name="T29" fmla="*/ 0 h 1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"/>
                    <a:gd name="T46" fmla="*/ 0 h 16"/>
                    <a:gd name="T47" fmla="*/ 10 w 10"/>
                    <a:gd name="T48" fmla="*/ 16 h 1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" h="1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4" y="13"/>
                      </a:lnTo>
                      <a:lnTo>
                        <a:pt x="5" y="13"/>
                      </a:lnTo>
                      <a:lnTo>
                        <a:pt x="8" y="11"/>
                      </a:lnTo>
                      <a:lnTo>
                        <a:pt x="9" y="11"/>
                      </a:lnTo>
                      <a:lnTo>
                        <a:pt x="9" y="15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1" y="14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8" name="Group 194"/>
              <p:cNvGrpSpPr>
                <a:grpSpLocks/>
              </p:cNvGrpSpPr>
              <p:nvPr/>
            </p:nvGrpSpPr>
            <p:grpSpPr bwMode="auto">
              <a:xfrm>
                <a:off x="787" y="2613"/>
                <a:ext cx="18" cy="15"/>
                <a:chOff x="787" y="2613"/>
                <a:chExt cx="18" cy="15"/>
              </a:xfrm>
            </p:grpSpPr>
            <p:sp>
              <p:nvSpPr>
                <p:cNvPr id="100682" name="Freeform 195"/>
                <p:cNvSpPr>
                  <a:spLocks/>
                </p:cNvSpPr>
                <p:nvPr/>
              </p:nvSpPr>
              <p:spPr bwMode="auto">
                <a:xfrm>
                  <a:off x="787" y="2613"/>
                  <a:ext cx="18" cy="15"/>
                </a:xfrm>
                <a:custGeom>
                  <a:avLst/>
                  <a:gdLst>
                    <a:gd name="T0" fmla="*/ 10 w 18"/>
                    <a:gd name="T1" fmla="*/ 0 h 15"/>
                    <a:gd name="T2" fmla="*/ 16 w 18"/>
                    <a:gd name="T3" fmla="*/ 13 h 15"/>
                    <a:gd name="T4" fmla="*/ 17 w 18"/>
                    <a:gd name="T5" fmla="*/ 13 h 15"/>
                    <a:gd name="T6" fmla="*/ 17 w 18"/>
                    <a:gd name="T7" fmla="*/ 14 h 15"/>
                    <a:gd name="T8" fmla="*/ 8 w 18"/>
                    <a:gd name="T9" fmla="*/ 14 h 15"/>
                    <a:gd name="T10" fmla="*/ 8 w 18"/>
                    <a:gd name="T11" fmla="*/ 13 h 15"/>
                    <a:gd name="T12" fmla="*/ 9 w 18"/>
                    <a:gd name="T13" fmla="*/ 13 h 15"/>
                    <a:gd name="T14" fmla="*/ 7 w 18"/>
                    <a:gd name="T15" fmla="*/ 9 h 15"/>
                    <a:gd name="T16" fmla="*/ 5 w 18"/>
                    <a:gd name="T17" fmla="*/ 9 h 15"/>
                    <a:gd name="T18" fmla="*/ 3 w 18"/>
                    <a:gd name="T19" fmla="*/ 13 h 15"/>
                    <a:gd name="T20" fmla="*/ 5 w 18"/>
                    <a:gd name="T21" fmla="*/ 13 h 15"/>
                    <a:gd name="T22" fmla="*/ 5 w 18"/>
                    <a:gd name="T23" fmla="*/ 14 h 15"/>
                    <a:gd name="T24" fmla="*/ 0 w 18"/>
                    <a:gd name="T25" fmla="*/ 14 h 15"/>
                    <a:gd name="T26" fmla="*/ 0 w 18"/>
                    <a:gd name="T27" fmla="*/ 13 h 15"/>
                    <a:gd name="T28" fmla="*/ 1 w 18"/>
                    <a:gd name="T29" fmla="*/ 13 h 15"/>
                    <a:gd name="T30" fmla="*/ 6 w 18"/>
                    <a:gd name="T31" fmla="*/ 0 h 15"/>
                    <a:gd name="T32" fmla="*/ 10 w 18"/>
                    <a:gd name="T33" fmla="*/ 0 h 1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8"/>
                    <a:gd name="T52" fmla="*/ 0 h 15"/>
                    <a:gd name="T53" fmla="*/ 18 w 18"/>
                    <a:gd name="T54" fmla="*/ 15 h 1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8" h="15">
                      <a:moveTo>
                        <a:pt x="10" y="0"/>
                      </a:moveTo>
                      <a:lnTo>
                        <a:pt x="16" y="13"/>
                      </a:lnTo>
                      <a:lnTo>
                        <a:pt x="17" y="13"/>
                      </a:lnTo>
                      <a:lnTo>
                        <a:pt x="17" y="14"/>
                      </a:lnTo>
                      <a:lnTo>
                        <a:pt x="8" y="14"/>
                      </a:lnTo>
                      <a:lnTo>
                        <a:pt x="8" y="13"/>
                      </a:lnTo>
                      <a:lnTo>
                        <a:pt x="9" y="13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3" y="13"/>
                      </a:lnTo>
                      <a:lnTo>
                        <a:pt x="5" y="13"/>
                      </a:lnTo>
                      <a:lnTo>
                        <a:pt x="5" y="14"/>
                      </a:lnTo>
                      <a:lnTo>
                        <a:pt x="0" y="14"/>
                      </a:lnTo>
                      <a:lnTo>
                        <a:pt x="0" y="13"/>
                      </a:lnTo>
                      <a:lnTo>
                        <a:pt x="1" y="13"/>
                      </a:lnTo>
                      <a:lnTo>
                        <a:pt x="6" y="0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83" name="Freeform 196"/>
                <p:cNvSpPr>
                  <a:spLocks/>
                </p:cNvSpPr>
                <p:nvPr/>
              </p:nvSpPr>
              <p:spPr bwMode="auto">
                <a:xfrm>
                  <a:off x="790" y="2617"/>
                  <a:ext cx="5" cy="3"/>
                </a:xfrm>
                <a:custGeom>
                  <a:avLst/>
                  <a:gdLst>
                    <a:gd name="T0" fmla="*/ 2 w 5"/>
                    <a:gd name="T1" fmla="*/ 2 h 3"/>
                    <a:gd name="T2" fmla="*/ 4 w 5"/>
                    <a:gd name="T3" fmla="*/ 0 h 3"/>
                    <a:gd name="T4" fmla="*/ 0 w 5"/>
                    <a:gd name="T5" fmla="*/ 0 h 3"/>
                    <a:gd name="T6" fmla="*/ 2 w 5"/>
                    <a:gd name="T7" fmla="*/ 2 h 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"/>
                    <a:gd name="T13" fmla="*/ 0 h 3"/>
                    <a:gd name="T14" fmla="*/ 5 w 5"/>
                    <a:gd name="T15" fmla="*/ 3 h 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" h="3">
                      <a:moveTo>
                        <a:pt x="2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" y="2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79" name="Group 197"/>
              <p:cNvGrpSpPr>
                <a:grpSpLocks/>
              </p:cNvGrpSpPr>
              <p:nvPr/>
            </p:nvGrpSpPr>
            <p:grpSpPr bwMode="auto">
              <a:xfrm>
                <a:off x="711" y="2613"/>
                <a:ext cx="15" cy="15"/>
                <a:chOff x="711" y="2613"/>
                <a:chExt cx="15" cy="15"/>
              </a:xfrm>
            </p:grpSpPr>
            <p:sp>
              <p:nvSpPr>
                <p:cNvPr id="100680" name="Freeform 198"/>
                <p:cNvSpPr>
                  <a:spLocks/>
                </p:cNvSpPr>
                <p:nvPr/>
              </p:nvSpPr>
              <p:spPr bwMode="auto">
                <a:xfrm>
                  <a:off x="711" y="2613"/>
                  <a:ext cx="15" cy="15"/>
                </a:xfrm>
                <a:custGeom>
                  <a:avLst/>
                  <a:gdLst>
                    <a:gd name="T0" fmla="*/ 6 w 15"/>
                    <a:gd name="T1" fmla="*/ 0 h 15"/>
                    <a:gd name="T2" fmla="*/ 10 w 15"/>
                    <a:gd name="T3" fmla="*/ 0 h 15"/>
                    <a:gd name="T4" fmla="*/ 11 w 15"/>
                    <a:gd name="T5" fmla="*/ 1 h 15"/>
                    <a:gd name="T6" fmla="*/ 13 w 15"/>
                    <a:gd name="T7" fmla="*/ 2 h 15"/>
                    <a:gd name="T8" fmla="*/ 13 w 15"/>
                    <a:gd name="T9" fmla="*/ 4 h 15"/>
                    <a:gd name="T10" fmla="*/ 14 w 15"/>
                    <a:gd name="T11" fmla="*/ 6 h 15"/>
                    <a:gd name="T12" fmla="*/ 14 w 15"/>
                    <a:gd name="T13" fmla="*/ 8 h 15"/>
                    <a:gd name="T14" fmla="*/ 13 w 15"/>
                    <a:gd name="T15" fmla="*/ 10 h 15"/>
                    <a:gd name="T16" fmla="*/ 13 w 15"/>
                    <a:gd name="T17" fmla="*/ 12 h 15"/>
                    <a:gd name="T18" fmla="*/ 11 w 15"/>
                    <a:gd name="T19" fmla="*/ 14 h 15"/>
                    <a:gd name="T20" fmla="*/ 10 w 15"/>
                    <a:gd name="T21" fmla="*/ 14 h 15"/>
                    <a:gd name="T22" fmla="*/ 6 w 15"/>
                    <a:gd name="T23" fmla="*/ 14 h 15"/>
                    <a:gd name="T24" fmla="*/ 0 w 15"/>
                    <a:gd name="T25" fmla="*/ 14 h 15"/>
                    <a:gd name="T26" fmla="*/ 1 w 15"/>
                    <a:gd name="T27" fmla="*/ 13 h 15"/>
                    <a:gd name="T28" fmla="*/ 2 w 15"/>
                    <a:gd name="T29" fmla="*/ 13 h 15"/>
                    <a:gd name="T30" fmla="*/ 2 w 15"/>
                    <a:gd name="T31" fmla="*/ 9 h 15"/>
                    <a:gd name="T32" fmla="*/ 2 w 15"/>
                    <a:gd name="T33" fmla="*/ 6 h 15"/>
                    <a:gd name="T34" fmla="*/ 2 w 15"/>
                    <a:gd name="T35" fmla="*/ 4 h 15"/>
                    <a:gd name="T36" fmla="*/ 2 w 15"/>
                    <a:gd name="T37" fmla="*/ 2 h 15"/>
                    <a:gd name="T38" fmla="*/ 0 w 15"/>
                    <a:gd name="T39" fmla="*/ 2 h 15"/>
                    <a:gd name="T40" fmla="*/ 0 w 15"/>
                    <a:gd name="T41" fmla="*/ 0 h 15"/>
                    <a:gd name="T42" fmla="*/ 6 w 15"/>
                    <a:gd name="T43" fmla="*/ 0 h 15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5"/>
                    <a:gd name="T67" fmla="*/ 0 h 15"/>
                    <a:gd name="T68" fmla="*/ 15 w 15"/>
                    <a:gd name="T69" fmla="*/ 15 h 15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5" h="15">
                      <a:moveTo>
                        <a:pt x="6" y="0"/>
                      </a:moveTo>
                      <a:lnTo>
                        <a:pt x="10" y="0"/>
                      </a:lnTo>
                      <a:lnTo>
                        <a:pt x="11" y="1"/>
                      </a:lnTo>
                      <a:lnTo>
                        <a:pt x="13" y="2"/>
                      </a:lnTo>
                      <a:lnTo>
                        <a:pt x="13" y="4"/>
                      </a:lnTo>
                      <a:lnTo>
                        <a:pt x="14" y="6"/>
                      </a:lnTo>
                      <a:lnTo>
                        <a:pt x="14" y="8"/>
                      </a:lnTo>
                      <a:lnTo>
                        <a:pt x="13" y="10"/>
                      </a:lnTo>
                      <a:lnTo>
                        <a:pt x="13" y="12"/>
                      </a:lnTo>
                      <a:lnTo>
                        <a:pt x="11" y="14"/>
                      </a:lnTo>
                      <a:lnTo>
                        <a:pt x="10" y="14"/>
                      </a:lnTo>
                      <a:lnTo>
                        <a:pt x="6" y="14"/>
                      </a:lnTo>
                      <a:lnTo>
                        <a:pt x="0" y="14"/>
                      </a:lnTo>
                      <a:lnTo>
                        <a:pt x="1" y="13"/>
                      </a:lnTo>
                      <a:lnTo>
                        <a:pt x="2" y="13"/>
                      </a:lnTo>
                      <a:lnTo>
                        <a:pt x="2" y="9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81" name="Freeform 199"/>
                <p:cNvSpPr>
                  <a:spLocks/>
                </p:cNvSpPr>
                <p:nvPr/>
              </p:nvSpPr>
              <p:spPr bwMode="auto">
                <a:xfrm>
                  <a:off x="718" y="2616"/>
                  <a:ext cx="4" cy="10"/>
                </a:xfrm>
                <a:custGeom>
                  <a:avLst/>
                  <a:gdLst>
                    <a:gd name="T0" fmla="*/ 2 w 4"/>
                    <a:gd name="T1" fmla="*/ 0 h 10"/>
                    <a:gd name="T2" fmla="*/ 3 w 4"/>
                    <a:gd name="T3" fmla="*/ 0 h 10"/>
                    <a:gd name="T4" fmla="*/ 3 w 4"/>
                    <a:gd name="T5" fmla="*/ 9 h 10"/>
                    <a:gd name="T6" fmla="*/ 2 w 4"/>
                    <a:gd name="T7" fmla="*/ 9 h 10"/>
                    <a:gd name="T8" fmla="*/ 1 w 4"/>
                    <a:gd name="T9" fmla="*/ 9 h 10"/>
                    <a:gd name="T10" fmla="*/ 1 w 4"/>
                    <a:gd name="T11" fmla="*/ 8 h 10"/>
                    <a:gd name="T12" fmla="*/ 0 w 4"/>
                    <a:gd name="T13" fmla="*/ 7 h 10"/>
                    <a:gd name="T14" fmla="*/ 0 w 4"/>
                    <a:gd name="T15" fmla="*/ 2 h 10"/>
                    <a:gd name="T16" fmla="*/ 1 w 4"/>
                    <a:gd name="T17" fmla="*/ 1 h 10"/>
                    <a:gd name="T18" fmla="*/ 1 w 4"/>
                    <a:gd name="T19" fmla="*/ 0 h 10"/>
                    <a:gd name="T20" fmla="*/ 2 w 4"/>
                    <a:gd name="T21" fmla="*/ 0 h 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"/>
                    <a:gd name="T34" fmla="*/ 0 h 10"/>
                    <a:gd name="T35" fmla="*/ 4 w 4"/>
                    <a:gd name="T36" fmla="*/ 10 h 1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" h="10">
                      <a:moveTo>
                        <a:pt x="2" y="0"/>
                      </a:moveTo>
                      <a:lnTo>
                        <a:pt x="3" y="0"/>
                      </a:lnTo>
                      <a:lnTo>
                        <a:pt x="3" y="9"/>
                      </a:lnTo>
                      <a:lnTo>
                        <a:pt x="2" y="9"/>
                      </a:lnTo>
                      <a:lnTo>
                        <a:pt x="1" y="9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18" name="Group 200"/>
            <p:cNvGrpSpPr>
              <a:grpSpLocks/>
            </p:cNvGrpSpPr>
            <p:nvPr/>
          </p:nvGrpSpPr>
          <p:grpSpPr bwMode="auto">
            <a:xfrm>
              <a:off x="591" y="2431"/>
              <a:ext cx="290" cy="13"/>
              <a:chOff x="591" y="2431"/>
              <a:chExt cx="290" cy="13"/>
            </a:xfrm>
          </p:grpSpPr>
          <p:grpSp>
            <p:nvGrpSpPr>
              <p:cNvPr id="100644" name="Group 201"/>
              <p:cNvGrpSpPr>
                <a:grpSpLocks/>
              </p:cNvGrpSpPr>
              <p:nvPr/>
            </p:nvGrpSpPr>
            <p:grpSpPr bwMode="auto">
              <a:xfrm>
                <a:off x="591" y="2431"/>
                <a:ext cx="26" cy="13"/>
                <a:chOff x="591" y="2431"/>
                <a:chExt cx="26" cy="13"/>
              </a:xfrm>
            </p:grpSpPr>
            <p:sp>
              <p:nvSpPr>
                <p:cNvPr id="100670" name="Freeform 202"/>
                <p:cNvSpPr>
                  <a:spLocks/>
                </p:cNvSpPr>
                <p:nvPr/>
              </p:nvSpPr>
              <p:spPr bwMode="auto">
                <a:xfrm>
                  <a:off x="591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1 w 2"/>
                    <a:gd name="T7" fmla="*/ 12 h 13"/>
                    <a:gd name="T8" fmla="*/ 0 w 2"/>
                    <a:gd name="T9" fmla="*/ 12 h 13"/>
                    <a:gd name="T10" fmla="*/ 0 w 2"/>
                    <a:gd name="T11" fmla="*/ 2 h 13"/>
                    <a:gd name="T12" fmla="*/ 0 w 2"/>
                    <a:gd name="T13" fmla="*/ 0 h 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"/>
                    <a:gd name="T22" fmla="*/ 0 h 13"/>
                    <a:gd name="T23" fmla="*/ 2 w 2"/>
                    <a:gd name="T24" fmla="*/ 13 h 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71" name="Freeform 203"/>
                <p:cNvSpPr>
                  <a:spLocks/>
                </p:cNvSpPr>
                <p:nvPr/>
              </p:nvSpPr>
              <p:spPr bwMode="auto">
                <a:xfrm>
                  <a:off x="601" y="2431"/>
                  <a:ext cx="5" cy="13"/>
                </a:xfrm>
                <a:custGeom>
                  <a:avLst/>
                  <a:gdLst>
                    <a:gd name="T0" fmla="*/ 0 w 5"/>
                    <a:gd name="T1" fmla="*/ 0 h 13"/>
                    <a:gd name="T2" fmla="*/ 1 w 5"/>
                    <a:gd name="T3" fmla="*/ 0 h 13"/>
                    <a:gd name="T4" fmla="*/ 1 w 5"/>
                    <a:gd name="T5" fmla="*/ 4 h 13"/>
                    <a:gd name="T6" fmla="*/ 3 w 5"/>
                    <a:gd name="T7" fmla="*/ 4 h 13"/>
                    <a:gd name="T8" fmla="*/ 3 w 5"/>
                    <a:gd name="T9" fmla="*/ 0 h 13"/>
                    <a:gd name="T10" fmla="*/ 4 w 5"/>
                    <a:gd name="T11" fmla="*/ 0 h 13"/>
                    <a:gd name="T12" fmla="*/ 4 w 5"/>
                    <a:gd name="T13" fmla="*/ 12 h 13"/>
                    <a:gd name="T14" fmla="*/ 3 w 5"/>
                    <a:gd name="T15" fmla="*/ 12 h 13"/>
                    <a:gd name="T16" fmla="*/ 3 w 5"/>
                    <a:gd name="T17" fmla="*/ 7 h 13"/>
                    <a:gd name="T18" fmla="*/ 1 w 5"/>
                    <a:gd name="T19" fmla="*/ 7 h 13"/>
                    <a:gd name="T20" fmla="*/ 1 w 5"/>
                    <a:gd name="T21" fmla="*/ 12 h 13"/>
                    <a:gd name="T22" fmla="*/ 0 w 5"/>
                    <a:gd name="T23" fmla="*/ 12 h 13"/>
                    <a:gd name="T24" fmla="*/ 0 w 5"/>
                    <a:gd name="T25" fmla="*/ 0 h 1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"/>
                    <a:gd name="T40" fmla="*/ 0 h 13"/>
                    <a:gd name="T41" fmla="*/ 5 w 5"/>
                    <a:gd name="T42" fmla="*/ 13 h 13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4"/>
                      </a:lnTo>
                      <a:lnTo>
                        <a:pt x="3" y="4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4" y="12"/>
                      </a:lnTo>
                      <a:lnTo>
                        <a:pt x="3" y="12"/>
                      </a:lnTo>
                      <a:lnTo>
                        <a:pt x="3" y="7"/>
                      </a:lnTo>
                      <a:lnTo>
                        <a:pt x="1" y="7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72" name="Freeform 204"/>
                <p:cNvSpPr>
                  <a:spLocks/>
                </p:cNvSpPr>
                <p:nvPr/>
              </p:nvSpPr>
              <p:spPr bwMode="auto">
                <a:xfrm>
                  <a:off x="614" y="2431"/>
                  <a:ext cx="3" cy="13"/>
                </a:xfrm>
                <a:custGeom>
                  <a:avLst/>
                  <a:gdLst>
                    <a:gd name="T0" fmla="*/ 0 w 3"/>
                    <a:gd name="T1" fmla="*/ 0 h 13"/>
                    <a:gd name="T2" fmla="*/ 2 w 3"/>
                    <a:gd name="T3" fmla="*/ 0 h 13"/>
                    <a:gd name="T4" fmla="*/ 2 w 3"/>
                    <a:gd name="T5" fmla="*/ 2 h 13"/>
                    <a:gd name="T6" fmla="*/ 1 w 3"/>
                    <a:gd name="T7" fmla="*/ 2 h 13"/>
                    <a:gd name="T8" fmla="*/ 1 w 3"/>
                    <a:gd name="T9" fmla="*/ 4 h 13"/>
                    <a:gd name="T10" fmla="*/ 2 w 3"/>
                    <a:gd name="T11" fmla="*/ 4 h 13"/>
                    <a:gd name="T12" fmla="*/ 2 w 3"/>
                    <a:gd name="T13" fmla="*/ 7 h 13"/>
                    <a:gd name="T14" fmla="*/ 1 w 3"/>
                    <a:gd name="T15" fmla="*/ 7 h 13"/>
                    <a:gd name="T16" fmla="*/ 1 w 3"/>
                    <a:gd name="T17" fmla="*/ 10 h 13"/>
                    <a:gd name="T18" fmla="*/ 2 w 3"/>
                    <a:gd name="T19" fmla="*/ 10 h 13"/>
                    <a:gd name="T20" fmla="*/ 2 w 3"/>
                    <a:gd name="T21" fmla="*/ 12 h 13"/>
                    <a:gd name="T22" fmla="*/ 0 w 3"/>
                    <a:gd name="T23" fmla="*/ 12 h 13"/>
                    <a:gd name="T24" fmla="*/ 0 w 3"/>
                    <a:gd name="T25" fmla="*/ 0 h 1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3"/>
                    <a:gd name="T40" fmla="*/ 0 h 13"/>
                    <a:gd name="T41" fmla="*/ 3 w 3"/>
                    <a:gd name="T42" fmla="*/ 13 h 13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3" h="1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45" name="Group 205"/>
              <p:cNvGrpSpPr>
                <a:grpSpLocks/>
              </p:cNvGrpSpPr>
              <p:nvPr/>
            </p:nvGrpSpPr>
            <p:grpSpPr bwMode="auto">
              <a:xfrm>
                <a:off x="631" y="2431"/>
                <a:ext cx="57" cy="13"/>
                <a:chOff x="631" y="2431"/>
                <a:chExt cx="57" cy="13"/>
              </a:xfrm>
            </p:grpSpPr>
            <p:sp>
              <p:nvSpPr>
                <p:cNvPr id="100664" name="Freeform 206"/>
                <p:cNvSpPr>
                  <a:spLocks/>
                </p:cNvSpPr>
                <p:nvPr/>
              </p:nvSpPr>
              <p:spPr bwMode="auto">
                <a:xfrm>
                  <a:off x="631" y="2431"/>
                  <a:ext cx="4" cy="13"/>
                </a:xfrm>
                <a:custGeom>
                  <a:avLst/>
                  <a:gdLst>
                    <a:gd name="T0" fmla="*/ 0 w 4"/>
                    <a:gd name="T1" fmla="*/ 0 h 13"/>
                    <a:gd name="T2" fmla="*/ 1 w 4"/>
                    <a:gd name="T3" fmla="*/ 0 h 13"/>
                    <a:gd name="T4" fmla="*/ 1 w 4"/>
                    <a:gd name="T5" fmla="*/ 10 h 13"/>
                    <a:gd name="T6" fmla="*/ 2 w 4"/>
                    <a:gd name="T7" fmla="*/ 10 h 13"/>
                    <a:gd name="T8" fmla="*/ 2 w 4"/>
                    <a:gd name="T9" fmla="*/ 0 h 13"/>
                    <a:gd name="T10" fmla="*/ 3 w 4"/>
                    <a:gd name="T11" fmla="*/ 0 h 13"/>
                    <a:gd name="T12" fmla="*/ 3 w 4"/>
                    <a:gd name="T13" fmla="*/ 10 h 13"/>
                    <a:gd name="T14" fmla="*/ 2 w 4"/>
                    <a:gd name="T15" fmla="*/ 12 h 13"/>
                    <a:gd name="T16" fmla="*/ 1 w 4"/>
                    <a:gd name="T17" fmla="*/ 12 h 13"/>
                    <a:gd name="T18" fmla="*/ 0 w 4"/>
                    <a:gd name="T19" fmla="*/ 10 h 13"/>
                    <a:gd name="T20" fmla="*/ 0 w 4"/>
                    <a:gd name="T21" fmla="*/ 0 h 1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"/>
                    <a:gd name="T34" fmla="*/ 0 h 13"/>
                    <a:gd name="T35" fmla="*/ 4 w 4"/>
                    <a:gd name="T36" fmla="*/ 13 h 1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5" name="Freeform 207"/>
                <p:cNvSpPr>
                  <a:spLocks/>
                </p:cNvSpPr>
                <p:nvPr/>
              </p:nvSpPr>
              <p:spPr bwMode="auto">
                <a:xfrm>
                  <a:off x="643" y="2431"/>
                  <a:ext cx="5" cy="13"/>
                </a:xfrm>
                <a:custGeom>
                  <a:avLst/>
                  <a:gdLst>
                    <a:gd name="T0" fmla="*/ 0 w 5"/>
                    <a:gd name="T1" fmla="*/ 0 h 13"/>
                    <a:gd name="T2" fmla="*/ 1 w 5"/>
                    <a:gd name="T3" fmla="*/ 0 h 13"/>
                    <a:gd name="T4" fmla="*/ 3 w 5"/>
                    <a:gd name="T5" fmla="*/ 5 h 13"/>
                    <a:gd name="T6" fmla="*/ 3 w 5"/>
                    <a:gd name="T7" fmla="*/ 0 h 13"/>
                    <a:gd name="T8" fmla="*/ 4 w 5"/>
                    <a:gd name="T9" fmla="*/ 0 h 13"/>
                    <a:gd name="T10" fmla="*/ 4 w 5"/>
                    <a:gd name="T11" fmla="*/ 12 h 13"/>
                    <a:gd name="T12" fmla="*/ 3 w 5"/>
                    <a:gd name="T13" fmla="*/ 12 h 13"/>
                    <a:gd name="T14" fmla="*/ 2 w 5"/>
                    <a:gd name="T15" fmla="*/ 6 h 13"/>
                    <a:gd name="T16" fmla="*/ 2 w 5"/>
                    <a:gd name="T17" fmla="*/ 12 h 13"/>
                    <a:gd name="T18" fmla="*/ 0 w 5"/>
                    <a:gd name="T19" fmla="*/ 12 h 13"/>
                    <a:gd name="T20" fmla="*/ 0 w 5"/>
                    <a:gd name="T21" fmla="*/ 0 h 1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5"/>
                    <a:gd name="T34" fmla="*/ 0 h 13"/>
                    <a:gd name="T35" fmla="*/ 5 w 5"/>
                    <a:gd name="T36" fmla="*/ 13 h 1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5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3" y="5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4" y="12"/>
                      </a:lnTo>
                      <a:lnTo>
                        <a:pt x="3" y="12"/>
                      </a:lnTo>
                      <a:lnTo>
                        <a:pt x="2" y="6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6" name="Freeform 208"/>
                <p:cNvSpPr>
                  <a:spLocks/>
                </p:cNvSpPr>
                <p:nvPr/>
              </p:nvSpPr>
              <p:spPr bwMode="auto">
                <a:xfrm>
                  <a:off x="653" y="2431"/>
                  <a:ext cx="5" cy="13"/>
                </a:xfrm>
                <a:custGeom>
                  <a:avLst/>
                  <a:gdLst>
                    <a:gd name="T0" fmla="*/ 4 w 5"/>
                    <a:gd name="T1" fmla="*/ 0 h 13"/>
                    <a:gd name="T2" fmla="*/ 0 w 5"/>
                    <a:gd name="T3" fmla="*/ 0 h 13"/>
                    <a:gd name="T4" fmla="*/ 0 w 5"/>
                    <a:gd name="T5" fmla="*/ 12 h 13"/>
                    <a:gd name="T6" fmla="*/ 4 w 5"/>
                    <a:gd name="T7" fmla="*/ 12 h 13"/>
                    <a:gd name="T8" fmla="*/ 4 w 5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3"/>
                    <a:gd name="T17" fmla="*/ 5 w 5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3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4" y="12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7" name="Freeform 209"/>
                <p:cNvSpPr>
                  <a:spLocks/>
                </p:cNvSpPr>
                <p:nvPr/>
              </p:nvSpPr>
              <p:spPr bwMode="auto">
                <a:xfrm>
                  <a:off x="662" y="2431"/>
                  <a:ext cx="3" cy="13"/>
                </a:xfrm>
                <a:custGeom>
                  <a:avLst/>
                  <a:gdLst>
                    <a:gd name="T0" fmla="*/ 0 w 3"/>
                    <a:gd name="T1" fmla="*/ 0 h 13"/>
                    <a:gd name="T2" fmla="*/ 2 w 3"/>
                    <a:gd name="T3" fmla="*/ 0 h 13"/>
                    <a:gd name="T4" fmla="*/ 2 w 3"/>
                    <a:gd name="T5" fmla="*/ 2 h 13"/>
                    <a:gd name="T6" fmla="*/ 1 w 3"/>
                    <a:gd name="T7" fmla="*/ 2 h 13"/>
                    <a:gd name="T8" fmla="*/ 1 w 3"/>
                    <a:gd name="T9" fmla="*/ 12 h 13"/>
                    <a:gd name="T10" fmla="*/ 1 w 3"/>
                    <a:gd name="T11" fmla="*/ 2 h 13"/>
                    <a:gd name="T12" fmla="*/ 0 w 3"/>
                    <a:gd name="T13" fmla="*/ 2 h 13"/>
                    <a:gd name="T14" fmla="*/ 0 w 3"/>
                    <a:gd name="T15" fmla="*/ 0 h 1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"/>
                    <a:gd name="T25" fmla="*/ 0 h 13"/>
                    <a:gd name="T26" fmla="*/ 3 w 3"/>
                    <a:gd name="T27" fmla="*/ 13 h 1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" h="1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12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8" name="Freeform 210"/>
                <p:cNvSpPr>
                  <a:spLocks/>
                </p:cNvSpPr>
                <p:nvPr/>
              </p:nvSpPr>
              <p:spPr bwMode="auto">
                <a:xfrm>
                  <a:off x="673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1 w 2"/>
                    <a:gd name="T7" fmla="*/ 4 h 13"/>
                    <a:gd name="T8" fmla="*/ 1 w 2"/>
                    <a:gd name="T9" fmla="*/ 7 h 13"/>
                    <a:gd name="T10" fmla="*/ 1 w 2"/>
                    <a:gd name="T11" fmla="*/ 10 h 13"/>
                    <a:gd name="T12" fmla="*/ 1 w 2"/>
                    <a:gd name="T13" fmla="*/ 12 h 13"/>
                    <a:gd name="T14" fmla="*/ 0 w 2"/>
                    <a:gd name="T15" fmla="*/ 12 h 13"/>
                    <a:gd name="T16" fmla="*/ 0 w 2"/>
                    <a:gd name="T17" fmla="*/ 0 h 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"/>
                    <a:gd name="T28" fmla="*/ 0 h 13"/>
                    <a:gd name="T29" fmla="*/ 2 w 2"/>
                    <a:gd name="T30" fmla="*/ 13 h 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1" y="10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9" name="Freeform 211"/>
                <p:cNvSpPr>
                  <a:spLocks/>
                </p:cNvSpPr>
                <p:nvPr/>
              </p:nvSpPr>
              <p:spPr bwMode="auto">
                <a:xfrm>
                  <a:off x="684" y="2431"/>
                  <a:ext cx="4" cy="13"/>
                </a:xfrm>
                <a:custGeom>
                  <a:avLst/>
                  <a:gdLst>
                    <a:gd name="T0" fmla="*/ 0 w 4"/>
                    <a:gd name="T1" fmla="*/ 0 h 13"/>
                    <a:gd name="T2" fmla="*/ 2 w 4"/>
                    <a:gd name="T3" fmla="*/ 0 h 13"/>
                    <a:gd name="T4" fmla="*/ 3 w 4"/>
                    <a:gd name="T5" fmla="*/ 1 h 13"/>
                    <a:gd name="T6" fmla="*/ 3 w 4"/>
                    <a:gd name="T7" fmla="*/ 10 h 13"/>
                    <a:gd name="T8" fmla="*/ 2 w 4"/>
                    <a:gd name="T9" fmla="*/ 12 h 13"/>
                    <a:gd name="T10" fmla="*/ 0 w 4"/>
                    <a:gd name="T11" fmla="*/ 12 h 13"/>
                    <a:gd name="T12" fmla="*/ 0 w 4"/>
                    <a:gd name="T13" fmla="*/ 2 h 13"/>
                    <a:gd name="T14" fmla="*/ 1 w 4"/>
                    <a:gd name="T15" fmla="*/ 2 h 13"/>
                    <a:gd name="T16" fmla="*/ 1 w 4"/>
                    <a:gd name="T17" fmla="*/ 10 h 13"/>
                    <a:gd name="T18" fmla="*/ 2 w 4"/>
                    <a:gd name="T19" fmla="*/ 10 h 13"/>
                    <a:gd name="T20" fmla="*/ 2 w 4"/>
                    <a:gd name="T21" fmla="*/ 2 h 13"/>
                    <a:gd name="T22" fmla="*/ 1 w 4"/>
                    <a:gd name="T23" fmla="*/ 2 h 13"/>
                    <a:gd name="T24" fmla="*/ 0 w 4"/>
                    <a:gd name="T25" fmla="*/ 2 h 13"/>
                    <a:gd name="T26" fmla="*/ 0 w 4"/>
                    <a:gd name="T27" fmla="*/ 0 h 1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4"/>
                    <a:gd name="T43" fmla="*/ 0 h 13"/>
                    <a:gd name="T44" fmla="*/ 4 w 4"/>
                    <a:gd name="T45" fmla="*/ 13 h 1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4" h="1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46" name="Group 212"/>
              <p:cNvGrpSpPr>
                <a:grpSpLocks/>
              </p:cNvGrpSpPr>
              <p:nvPr/>
            </p:nvGrpSpPr>
            <p:grpSpPr bwMode="auto">
              <a:xfrm>
                <a:off x="703" y="2431"/>
                <a:ext cx="58" cy="13"/>
                <a:chOff x="703" y="2431"/>
                <a:chExt cx="58" cy="13"/>
              </a:xfrm>
            </p:grpSpPr>
            <p:sp>
              <p:nvSpPr>
                <p:cNvPr id="100658" name="Freeform 213"/>
                <p:cNvSpPr>
                  <a:spLocks/>
                </p:cNvSpPr>
                <p:nvPr/>
              </p:nvSpPr>
              <p:spPr bwMode="auto">
                <a:xfrm>
                  <a:off x="703" y="2431"/>
                  <a:ext cx="4" cy="13"/>
                </a:xfrm>
                <a:custGeom>
                  <a:avLst/>
                  <a:gdLst>
                    <a:gd name="T0" fmla="*/ 1 w 4"/>
                    <a:gd name="T1" fmla="*/ 0 h 13"/>
                    <a:gd name="T2" fmla="*/ 2 w 4"/>
                    <a:gd name="T3" fmla="*/ 0 h 13"/>
                    <a:gd name="T4" fmla="*/ 3 w 4"/>
                    <a:gd name="T5" fmla="*/ 1 h 13"/>
                    <a:gd name="T6" fmla="*/ 3 w 4"/>
                    <a:gd name="T7" fmla="*/ 4 h 13"/>
                    <a:gd name="T8" fmla="*/ 2 w 4"/>
                    <a:gd name="T9" fmla="*/ 4 h 13"/>
                    <a:gd name="T10" fmla="*/ 2 w 4"/>
                    <a:gd name="T11" fmla="*/ 2 h 13"/>
                    <a:gd name="T12" fmla="*/ 1 w 4"/>
                    <a:gd name="T13" fmla="*/ 2 h 13"/>
                    <a:gd name="T14" fmla="*/ 1 w 4"/>
                    <a:gd name="T15" fmla="*/ 5 h 13"/>
                    <a:gd name="T16" fmla="*/ 2 w 4"/>
                    <a:gd name="T17" fmla="*/ 5 h 13"/>
                    <a:gd name="T18" fmla="*/ 3 w 4"/>
                    <a:gd name="T19" fmla="*/ 7 h 13"/>
                    <a:gd name="T20" fmla="*/ 3 w 4"/>
                    <a:gd name="T21" fmla="*/ 10 h 13"/>
                    <a:gd name="T22" fmla="*/ 2 w 4"/>
                    <a:gd name="T23" fmla="*/ 12 h 13"/>
                    <a:gd name="T24" fmla="*/ 1 w 4"/>
                    <a:gd name="T25" fmla="*/ 12 h 13"/>
                    <a:gd name="T26" fmla="*/ 0 w 4"/>
                    <a:gd name="T27" fmla="*/ 10 h 13"/>
                    <a:gd name="T28" fmla="*/ 0 w 4"/>
                    <a:gd name="T29" fmla="*/ 8 h 13"/>
                    <a:gd name="T30" fmla="*/ 1 w 4"/>
                    <a:gd name="T31" fmla="*/ 8 h 13"/>
                    <a:gd name="T32" fmla="*/ 1 w 4"/>
                    <a:gd name="T33" fmla="*/ 10 h 13"/>
                    <a:gd name="T34" fmla="*/ 2 w 4"/>
                    <a:gd name="T35" fmla="*/ 10 h 13"/>
                    <a:gd name="T36" fmla="*/ 2 w 4"/>
                    <a:gd name="T37" fmla="*/ 7 h 13"/>
                    <a:gd name="T38" fmla="*/ 1 w 4"/>
                    <a:gd name="T39" fmla="*/ 7 h 13"/>
                    <a:gd name="T40" fmla="*/ 0 w 4"/>
                    <a:gd name="T41" fmla="*/ 5 h 13"/>
                    <a:gd name="T42" fmla="*/ 0 w 4"/>
                    <a:gd name="T43" fmla="*/ 1 h 13"/>
                    <a:gd name="T44" fmla="*/ 1 w 4"/>
                    <a:gd name="T45" fmla="*/ 0 h 1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4"/>
                    <a:gd name="T70" fmla="*/ 0 h 13"/>
                    <a:gd name="T71" fmla="*/ 4 w 4"/>
                    <a:gd name="T72" fmla="*/ 13 h 13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4" h="13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9" name="Freeform 214"/>
                <p:cNvSpPr>
                  <a:spLocks/>
                </p:cNvSpPr>
                <p:nvPr/>
              </p:nvSpPr>
              <p:spPr bwMode="auto">
                <a:xfrm>
                  <a:off x="715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1 w 2"/>
                    <a:gd name="T7" fmla="*/ 12 h 13"/>
                    <a:gd name="T8" fmla="*/ 0 w 2"/>
                    <a:gd name="T9" fmla="*/ 12 h 13"/>
                    <a:gd name="T10" fmla="*/ 0 w 2"/>
                    <a:gd name="T11" fmla="*/ 2 h 13"/>
                    <a:gd name="T12" fmla="*/ 0 w 2"/>
                    <a:gd name="T13" fmla="*/ 0 h 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"/>
                    <a:gd name="T22" fmla="*/ 0 h 13"/>
                    <a:gd name="T23" fmla="*/ 2 w 2"/>
                    <a:gd name="T24" fmla="*/ 13 h 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0" name="Freeform 215"/>
                <p:cNvSpPr>
                  <a:spLocks/>
                </p:cNvSpPr>
                <p:nvPr/>
              </p:nvSpPr>
              <p:spPr bwMode="auto">
                <a:xfrm>
                  <a:off x="723" y="2431"/>
                  <a:ext cx="6" cy="13"/>
                </a:xfrm>
                <a:custGeom>
                  <a:avLst/>
                  <a:gdLst>
                    <a:gd name="T0" fmla="*/ 2 w 6"/>
                    <a:gd name="T1" fmla="*/ 0 h 13"/>
                    <a:gd name="T2" fmla="*/ 4 w 6"/>
                    <a:gd name="T3" fmla="*/ 0 h 13"/>
                    <a:gd name="T4" fmla="*/ 5 w 6"/>
                    <a:gd name="T5" fmla="*/ 12 h 13"/>
                    <a:gd name="T6" fmla="*/ 3 w 6"/>
                    <a:gd name="T7" fmla="*/ 12 h 13"/>
                    <a:gd name="T8" fmla="*/ 3 w 6"/>
                    <a:gd name="T9" fmla="*/ 10 h 13"/>
                    <a:gd name="T10" fmla="*/ 3 w 6"/>
                    <a:gd name="T11" fmla="*/ 7 h 13"/>
                    <a:gd name="T12" fmla="*/ 3 w 6"/>
                    <a:gd name="T13" fmla="*/ 2 h 13"/>
                    <a:gd name="T14" fmla="*/ 2 w 6"/>
                    <a:gd name="T15" fmla="*/ 7 h 13"/>
                    <a:gd name="T16" fmla="*/ 3 w 6"/>
                    <a:gd name="T17" fmla="*/ 7 h 13"/>
                    <a:gd name="T18" fmla="*/ 3 w 6"/>
                    <a:gd name="T19" fmla="*/ 10 h 13"/>
                    <a:gd name="T20" fmla="*/ 2 w 6"/>
                    <a:gd name="T21" fmla="*/ 10 h 13"/>
                    <a:gd name="T22" fmla="*/ 2 w 6"/>
                    <a:gd name="T23" fmla="*/ 12 h 13"/>
                    <a:gd name="T24" fmla="*/ 0 w 6"/>
                    <a:gd name="T25" fmla="*/ 12 h 13"/>
                    <a:gd name="T26" fmla="*/ 2 w 6"/>
                    <a:gd name="T27" fmla="*/ 0 h 1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"/>
                    <a:gd name="T43" fmla="*/ 0 h 13"/>
                    <a:gd name="T44" fmla="*/ 6 w 6"/>
                    <a:gd name="T45" fmla="*/ 13 h 1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" h="13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5" y="12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3" y="7"/>
                      </a:lnTo>
                      <a:lnTo>
                        <a:pt x="3" y="2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1" name="Freeform 216"/>
                <p:cNvSpPr>
                  <a:spLocks/>
                </p:cNvSpPr>
                <p:nvPr/>
              </p:nvSpPr>
              <p:spPr bwMode="auto">
                <a:xfrm>
                  <a:off x="735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1 w 2"/>
                    <a:gd name="T7" fmla="*/ 12 h 13"/>
                    <a:gd name="T8" fmla="*/ 0 w 2"/>
                    <a:gd name="T9" fmla="*/ 12 h 13"/>
                    <a:gd name="T10" fmla="*/ 0 w 2"/>
                    <a:gd name="T11" fmla="*/ 2 h 13"/>
                    <a:gd name="T12" fmla="*/ 0 w 2"/>
                    <a:gd name="T13" fmla="*/ 0 h 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"/>
                    <a:gd name="T22" fmla="*/ 0 h 13"/>
                    <a:gd name="T23" fmla="*/ 2 w 2"/>
                    <a:gd name="T24" fmla="*/ 13 h 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2" name="Freeform 217"/>
                <p:cNvSpPr>
                  <a:spLocks/>
                </p:cNvSpPr>
                <p:nvPr/>
              </p:nvSpPr>
              <p:spPr bwMode="auto">
                <a:xfrm>
                  <a:off x="746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1 w 2"/>
                    <a:gd name="T7" fmla="*/ 4 h 13"/>
                    <a:gd name="T8" fmla="*/ 1 w 2"/>
                    <a:gd name="T9" fmla="*/ 7 h 13"/>
                    <a:gd name="T10" fmla="*/ 1 w 2"/>
                    <a:gd name="T11" fmla="*/ 10 h 13"/>
                    <a:gd name="T12" fmla="*/ 1 w 2"/>
                    <a:gd name="T13" fmla="*/ 12 h 13"/>
                    <a:gd name="T14" fmla="*/ 0 w 2"/>
                    <a:gd name="T15" fmla="*/ 12 h 13"/>
                    <a:gd name="T16" fmla="*/ 0 w 2"/>
                    <a:gd name="T17" fmla="*/ 0 h 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"/>
                    <a:gd name="T28" fmla="*/ 0 h 13"/>
                    <a:gd name="T29" fmla="*/ 2 w 2"/>
                    <a:gd name="T30" fmla="*/ 13 h 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1" y="10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63" name="Freeform 218"/>
                <p:cNvSpPr>
                  <a:spLocks/>
                </p:cNvSpPr>
                <p:nvPr/>
              </p:nvSpPr>
              <p:spPr bwMode="auto">
                <a:xfrm>
                  <a:off x="757" y="2431"/>
                  <a:ext cx="4" cy="13"/>
                </a:xfrm>
                <a:custGeom>
                  <a:avLst/>
                  <a:gdLst>
                    <a:gd name="T0" fmla="*/ 1 w 4"/>
                    <a:gd name="T1" fmla="*/ 0 h 13"/>
                    <a:gd name="T2" fmla="*/ 2 w 4"/>
                    <a:gd name="T3" fmla="*/ 0 h 13"/>
                    <a:gd name="T4" fmla="*/ 3 w 4"/>
                    <a:gd name="T5" fmla="*/ 1 h 13"/>
                    <a:gd name="T6" fmla="*/ 3 w 4"/>
                    <a:gd name="T7" fmla="*/ 4 h 13"/>
                    <a:gd name="T8" fmla="*/ 2 w 4"/>
                    <a:gd name="T9" fmla="*/ 4 h 13"/>
                    <a:gd name="T10" fmla="*/ 2 w 4"/>
                    <a:gd name="T11" fmla="*/ 2 h 13"/>
                    <a:gd name="T12" fmla="*/ 1 w 4"/>
                    <a:gd name="T13" fmla="*/ 2 h 13"/>
                    <a:gd name="T14" fmla="*/ 1 w 4"/>
                    <a:gd name="T15" fmla="*/ 5 h 13"/>
                    <a:gd name="T16" fmla="*/ 2 w 4"/>
                    <a:gd name="T17" fmla="*/ 5 h 13"/>
                    <a:gd name="T18" fmla="*/ 3 w 4"/>
                    <a:gd name="T19" fmla="*/ 7 h 13"/>
                    <a:gd name="T20" fmla="*/ 3 w 4"/>
                    <a:gd name="T21" fmla="*/ 10 h 13"/>
                    <a:gd name="T22" fmla="*/ 2 w 4"/>
                    <a:gd name="T23" fmla="*/ 12 h 13"/>
                    <a:gd name="T24" fmla="*/ 1 w 4"/>
                    <a:gd name="T25" fmla="*/ 12 h 13"/>
                    <a:gd name="T26" fmla="*/ 0 w 4"/>
                    <a:gd name="T27" fmla="*/ 10 h 13"/>
                    <a:gd name="T28" fmla="*/ 0 w 4"/>
                    <a:gd name="T29" fmla="*/ 8 h 13"/>
                    <a:gd name="T30" fmla="*/ 1 w 4"/>
                    <a:gd name="T31" fmla="*/ 8 h 13"/>
                    <a:gd name="T32" fmla="*/ 1 w 4"/>
                    <a:gd name="T33" fmla="*/ 10 h 13"/>
                    <a:gd name="T34" fmla="*/ 2 w 4"/>
                    <a:gd name="T35" fmla="*/ 10 h 13"/>
                    <a:gd name="T36" fmla="*/ 2 w 4"/>
                    <a:gd name="T37" fmla="*/ 7 h 13"/>
                    <a:gd name="T38" fmla="*/ 1 w 4"/>
                    <a:gd name="T39" fmla="*/ 7 h 13"/>
                    <a:gd name="T40" fmla="*/ 0 w 4"/>
                    <a:gd name="T41" fmla="*/ 5 h 13"/>
                    <a:gd name="T42" fmla="*/ 0 w 4"/>
                    <a:gd name="T43" fmla="*/ 1 h 13"/>
                    <a:gd name="T44" fmla="*/ 1 w 4"/>
                    <a:gd name="T45" fmla="*/ 0 h 1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4"/>
                    <a:gd name="T70" fmla="*/ 0 h 13"/>
                    <a:gd name="T71" fmla="*/ 4 w 4"/>
                    <a:gd name="T72" fmla="*/ 13 h 13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4" h="13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47" name="Group 219"/>
              <p:cNvGrpSpPr>
                <a:grpSpLocks/>
              </p:cNvGrpSpPr>
              <p:nvPr/>
            </p:nvGrpSpPr>
            <p:grpSpPr bwMode="auto">
              <a:xfrm>
                <a:off x="775" y="2431"/>
                <a:ext cx="16" cy="13"/>
                <a:chOff x="775" y="2431"/>
                <a:chExt cx="16" cy="13"/>
              </a:xfrm>
            </p:grpSpPr>
            <p:sp>
              <p:nvSpPr>
                <p:cNvPr id="100656" name="Freeform 220"/>
                <p:cNvSpPr>
                  <a:spLocks/>
                </p:cNvSpPr>
                <p:nvPr/>
              </p:nvSpPr>
              <p:spPr bwMode="auto">
                <a:xfrm>
                  <a:off x="775" y="2431"/>
                  <a:ext cx="4" cy="13"/>
                </a:xfrm>
                <a:custGeom>
                  <a:avLst/>
                  <a:gdLst>
                    <a:gd name="T0" fmla="*/ 1 w 4"/>
                    <a:gd name="T1" fmla="*/ 0 h 13"/>
                    <a:gd name="T2" fmla="*/ 2 w 4"/>
                    <a:gd name="T3" fmla="*/ 0 h 13"/>
                    <a:gd name="T4" fmla="*/ 3 w 4"/>
                    <a:gd name="T5" fmla="*/ 2 h 13"/>
                    <a:gd name="T6" fmla="*/ 3 w 4"/>
                    <a:gd name="T7" fmla="*/ 10 h 13"/>
                    <a:gd name="T8" fmla="*/ 2 w 4"/>
                    <a:gd name="T9" fmla="*/ 12 h 13"/>
                    <a:gd name="T10" fmla="*/ 1 w 4"/>
                    <a:gd name="T11" fmla="*/ 12 h 13"/>
                    <a:gd name="T12" fmla="*/ 0 w 4"/>
                    <a:gd name="T13" fmla="*/ 10 h 13"/>
                    <a:gd name="T14" fmla="*/ 1 w 4"/>
                    <a:gd name="T15" fmla="*/ 10 h 13"/>
                    <a:gd name="T16" fmla="*/ 2 w 4"/>
                    <a:gd name="T17" fmla="*/ 10 h 13"/>
                    <a:gd name="T18" fmla="*/ 2 w 4"/>
                    <a:gd name="T19" fmla="*/ 2 h 13"/>
                    <a:gd name="T20" fmla="*/ 1 w 4"/>
                    <a:gd name="T21" fmla="*/ 2 h 13"/>
                    <a:gd name="T22" fmla="*/ 1 w 4"/>
                    <a:gd name="T23" fmla="*/ 10 h 13"/>
                    <a:gd name="T24" fmla="*/ 0 w 4"/>
                    <a:gd name="T25" fmla="*/ 10 h 13"/>
                    <a:gd name="T26" fmla="*/ 0 w 4"/>
                    <a:gd name="T27" fmla="*/ 2 h 13"/>
                    <a:gd name="T28" fmla="*/ 1 w 4"/>
                    <a:gd name="T29" fmla="*/ 0 h 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"/>
                    <a:gd name="T46" fmla="*/ 0 h 13"/>
                    <a:gd name="T47" fmla="*/ 4 w 4"/>
                    <a:gd name="T48" fmla="*/ 13 h 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" h="13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2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10"/>
                      </a:lnTo>
                      <a:lnTo>
                        <a:pt x="0" y="10"/>
                      </a:lnTo>
                      <a:lnTo>
                        <a:pt x="0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7" name="Freeform 221"/>
                <p:cNvSpPr>
                  <a:spLocks/>
                </p:cNvSpPr>
                <p:nvPr/>
              </p:nvSpPr>
              <p:spPr bwMode="auto">
                <a:xfrm>
                  <a:off x="789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0 w 2"/>
                    <a:gd name="T7" fmla="*/ 2 h 13"/>
                    <a:gd name="T8" fmla="*/ 0 w 2"/>
                    <a:gd name="T9" fmla="*/ 4 h 13"/>
                    <a:gd name="T10" fmla="*/ 1 w 2"/>
                    <a:gd name="T11" fmla="*/ 4 h 13"/>
                    <a:gd name="T12" fmla="*/ 1 w 2"/>
                    <a:gd name="T13" fmla="*/ 7 h 13"/>
                    <a:gd name="T14" fmla="*/ 0 w 2"/>
                    <a:gd name="T15" fmla="*/ 7 h 13"/>
                    <a:gd name="T16" fmla="*/ 0 w 2"/>
                    <a:gd name="T17" fmla="*/ 12 h 13"/>
                    <a:gd name="T18" fmla="*/ 0 w 2"/>
                    <a:gd name="T19" fmla="*/ 0 h 1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"/>
                    <a:gd name="T31" fmla="*/ 0 h 13"/>
                    <a:gd name="T32" fmla="*/ 2 w 2"/>
                    <a:gd name="T33" fmla="*/ 13 h 1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48" name="Group 222"/>
              <p:cNvGrpSpPr>
                <a:grpSpLocks/>
              </p:cNvGrpSpPr>
              <p:nvPr/>
            </p:nvGrpSpPr>
            <p:grpSpPr bwMode="auto">
              <a:xfrm>
                <a:off x="803" y="2431"/>
                <a:ext cx="78" cy="13"/>
                <a:chOff x="803" y="2431"/>
                <a:chExt cx="78" cy="13"/>
              </a:xfrm>
            </p:grpSpPr>
            <p:sp>
              <p:nvSpPr>
                <p:cNvPr id="100649" name="Freeform 223"/>
                <p:cNvSpPr>
                  <a:spLocks/>
                </p:cNvSpPr>
                <p:nvPr/>
              </p:nvSpPr>
              <p:spPr bwMode="auto">
                <a:xfrm>
                  <a:off x="803" y="2431"/>
                  <a:ext cx="6" cy="13"/>
                </a:xfrm>
                <a:custGeom>
                  <a:avLst/>
                  <a:gdLst>
                    <a:gd name="T0" fmla="*/ 1 w 6"/>
                    <a:gd name="T1" fmla="*/ 0 h 13"/>
                    <a:gd name="T2" fmla="*/ 3 w 6"/>
                    <a:gd name="T3" fmla="*/ 0 h 13"/>
                    <a:gd name="T4" fmla="*/ 5 w 6"/>
                    <a:gd name="T5" fmla="*/ 12 h 13"/>
                    <a:gd name="T6" fmla="*/ 3 w 6"/>
                    <a:gd name="T7" fmla="*/ 12 h 13"/>
                    <a:gd name="T8" fmla="*/ 3 w 6"/>
                    <a:gd name="T9" fmla="*/ 10 h 13"/>
                    <a:gd name="T10" fmla="*/ 3 w 6"/>
                    <a:gd name="T11" fmla="*/ 7 h 13"/>
                    <a:gd name="T12" fmla="*/ 2 w 6"/>
                    <a:gd name="T13" fmla="*/ 2 h 13"/>
                    <a:gd name="T14" fmla="*/ 2 w 6"/>
                    <a:gd name="T15" fmla="*/ 7 h 13"/>
                    <a:gd name="T16" fmla="*/ 3 w 6"/>
                    <a:gd name="T17" fmla="*/ 7 h 13"/>
                    <a:gd name="T18" fmla="*/ 3 w 6"/>
                    <a:gd name="T19" fmla="*/ 10 h 13"/>
                    <a:gd name="T20" fmla="*/ 2 w 6"/>
                    <a:gd name="T21" fmla="*/ 10 h 13"/>
                    <a:gd name="T22" fmla="*/ 2 w 6"/>
                    <a:gd name="T23" fmla="*/ 12 h 13"/>
                    <a:gd name="T24" fmla="*/ 0 w 6"/>
                    <a:gd name="T25" fmla="*/ 12 h 13"/>
                    <a:gd name="T26" fmla="*/ 1 w 6"/>
                    <a:gd name="T27" fmla="*/ 0 h 1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"/>
                    <a:gd name="T43" fmla="*/ 0 h 13"/>
                    <a:gd name="T44" fmla="*/ 6 w 6"/>
                    <a:gd name="T45" fmla="*/ 13 h 1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" h="13">
                      <a:moveTo>
                        <a:pt x="1" y="0"/>
                      </a:moveTo>
                      <a:lnTo>
                        <a:pt x="3" y="0"/>
                      </a:lnTo>
                      <a:lnTo>
                        <a:pt x="5" y="12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3" y="7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0" name="Freeform 224"/>
                <p:cNvSpPr>
                  <a:spLocks/>
                </p:cNvSpPr>
                <p:nvPr/>
              </p:nvSpPr>
              <p:spPr bwMode="auto">
                <a:xfrm>
                  <a:off x="817" y="2431"/>
                  <a:ext cx="7" cy="13"/>
                </a:xfrm>
                <a:custGeom>
                  <a:avLst/>
                  <a:gdLst>
                    <a:gd name="T0" fmla="*/ 0 w 7"/>
                    <a:gd name="T1" fmla="*/ 12 h 13"/>
                    <a:gd name="T2" fmla="*/ 2 w 7"/>
                    <a:gd name="T3" fmla="*/ 12 h 13"/>
                    <a:gd name="T4" fmla="*/ 2 w 7"/>
                    <a:gd name="T5" fmla="*/ 5 h 13"/>
                    <a:gd name="T6" fmla="*/ 3 w 7"/>
                    <a:gd name="T7" fmla="*/ 12 h 13"/>
                    <a:gd name="T8" fmla="*/ 4 w 7"/>
                    <a:gd name="T9" fmla="*/ 5 h 13"/>
                    <a:gd name="T10" fmla="*/ 4 w 7"/>
                    <a:gd name="T11" fmla="*/ 12 h 13"/>
                    <a:gd name="T12" fmla="*/ 6 w 7"/>
                    <a:gd name="T13" fmla="*/ 12 h 13"/>
                    <a:gd name="T14" fmla="*/ 6 w 7"/>
                    <a:gd name="T15" fmla="*/ 0 h 13"/>
                    <a:gd name="T16" fmla="*/ 3 w 7"/>
                    <a:gd name="T17" fmla="*/ 0 h 13"/>
                    <a:gd name="T18" fmla="*/ 3 w 7"/>
                    <a:gd name="T19" fmla="*/ 5 h 13"/>
                    <a:gd name="T20" fmla="*/ 2 w 7"/>
                    <a:gd name="T21" fmla="*/ 0 h 13"/>
                    <a:gd name="T22" fmla="*/ 0 w 7"/>
                    <a:gd name="T23" fmla="*/ 0 h 13"/>
                    <a:gd name="T24" fmla="*/ 0 w 7"/>
                    <a:gd name="T25" fmla="*/ 12 h 1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7"/>
                    <a:gd name="T40" fmla="*/ 0 h 13"/>
                    <a:gd name="T41" fmla="*/ 7 w 7"/>
                    <a:gd name="T42" fmla="*/ 13 h 13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7" h="13">
                      <a:moveTo>
                        <a:pt x="0" y="12"/>
                      </a:moveTo>
                      <a:lnTo>
                        <a:pt x="2" y="12"/>
                      </a:lnTo>
                      <a:lnTo>
                        <a:pt x="2" y="5"/>
                      </a:lnTo>
                      <a:lnTo>
                        <a:pt x="3" y="12"/>
                      </a:lnTo>
                      <a:lnTo>
                        <a:pt x="4" y="5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3" y="5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2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1" name="Freeform 225"/>
                <p:cNvSpPr>
                  <a:spLocks/>
                </p:cNvSpPr>
                <p:nvPr/>
              </p:nvSpPr>
              <p:spPr bwMode="auto">
                <a:xfrm>
                  <a:off x="834" y="2431"/>
                  <a:ext cx="2" cy="13"/>
                </a:xfrm>
                <a:custGeom>
                  <a:avLst/>
                  <a:gdLst>
                    <a:gd name="T0" fmla="*/ 0 w 2"/>
                    <a:gd name="T1" fmla="*/ 0 h 13"/>
                    <a:gd name="T2" fmla="*/ 1 w 2"/>
                    <a:gd name="T3" fmla="*/ 0 h 13"/>
                    <a:gd name="T4" fmla="*/ 1 w 2"/>
                    <a:gd name="T5" fmla="*/ 2 h 13"/>
                    <a:gd name="T6" fmla="*/ 0 w 2"/>
                    <a:gd name="T7" fmla="*/ 2 h 13"/>
                    <a:gd name="T8" fmla="*/ 0 w 2"/>
                    <a:gd name="T9" fmla="*/ 4 h 13"/>
                    <a:gd name="T10" fmla="*/ 1 w 2"/>
                    <a:gd name="T11" fmla="*/ 4 h 13"/>
                    <a:gd name="T12" fmla="*/ 1 w 2"/>
                    <a:gd name="T13" fmla="*/ 7 h 13"/>
                    <a:gd name="T14" fmla="*/ 0 w 2"/>
                    <a:gd name="T15" fmla="*/ 7 h 13"/>
                    <a:gd name="T16" fmla="*/ 0 w 2"/>
                    <a:gd name="T17" fmla="*/ 10 h 13"/>
                    <a:gd name="T18" fmla="*/ 1 w 2"/>
                    <a:gd name="T19" fmla="*/ 10 h 13"/>
                    <a:gd name="T20" fmla="*/ 1 w 2"/>
                    <a:gd name="T21" fmla="*/ 12 h 13"/>
                    <a:gd name="T22" fmla="*/ 0 w 2"/>
                    <a:gd name="T23" fmla="*/ 12 h 13"/>
                    <a:gd name="T24" fmla="*/ 0 w 2"/>
                    <a:gd name="T25" fmla="*/ 0 h 1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"/>
                    <a:gd name="T40" fmla="*/ 0 h 13"/>
                    <a:gd name="T41" fmla="*/ 2 w 2"/>
                    <a:gd name="T42" fmla="*/ 13 h 13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" h="13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1" y="10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2" name="Freeform 226"/>
                <p:cNvSpPr>
                  <a:spLocks/>
                </p:cNvSpPr>
                <p:nvPr/>
              </p:nvSpPr>
              <p:spPr bwMode="auto">
                <a:xfrm>
                  <a:off x="844" y="2431"/>
                  <a:ext cx="4" cy="13"/>
                </a:xfrm>
                <a:custGeom>
                  <a:avLst/>
                  <a:gdLst>
                    <a:gd name="T0" fmla="*/ 0 w 4"/>
                    <a:gd name="T1" fmla="*/ 0 h 13"/>
                    <a:gd name="T2" fmla="*/ 2 w 4"/>
                    <a:gd name="T3" fmla="*/ 0 h 13"/>
                    <a:gd name="T4" fmla="*/ 3 w 4"/>
                    <a:gd name="T5" fmla="*/ 1 h 13"/>
                    <a:gd name="T6" fmla="*/ 3 w 4"/>
                    <a:gd name="T7" fmla="*/ 4 h 13"/>
                    <a:gd name="T8" fmla="*/ 2 w 4"/>
                    <a:gd name="T9" fmla="*/ 6 h 13"/>
                    <a:gd name="T10" fmla="*/ 3 w 4"/>
                    <a:gd name="T11" fmla="*/ 7 h 13"/>
                    <a:gd name="T12" fmla="*/ 3 w 4"/>
                    <a:gd name="T13" fmla="*/ 12 h 13"/>
                    <a:gd name="T14" fmla="*/ 2 w 4"/>
                    <a:gd name="T15" fmla="*/ 12 h 13"/>
                    <a:gd name="T16" fmla="*/ 2 w 4"/>
                    <a:gd name="T17" fmla="*/ 7 h 13"/>
                    <a:gd name="T18" fmla="*/ 2 w 4"/>
                    <a:gd name="T19" fmla="*/ 5 h 13"/>
                    <a:gd name="T20" fmla="*/ 1 w 4"/>
                    <a:gd name="T21" fmla="*/ 5 h 13"/>
                    <a:gd name="T22" fmla="*/ 1 w 4"/>
                    <a:gd name="T23" fmla="*/ 2 h 13"/>
                    <a:gd name="T24" fmla="*/ 2 w 4"/>
                    <a:gd name="T25" fmla="*/ 2 h 13"/>
                    <a:gd name="T26" fmla="*/ 2 w 4"/>
                    <a:gd name="T27" fmla="*/ 5 h 13"/>
                    <a:gd name="T28" fmla="*/ 2 w 4"/>
                    <a:gd name="T29" fmla="*/ 7 h 13"/>
                    <a:gd name="T30" fmla="*/ 1 w 4"/>
                    <a:gd name="T31" fmla="*/ 7 h 13"/>
                    <a:gd name="T32" fmla="*/ 1 w 4"/>
                    <a:gd name="T33" fmla="*/ 12 h 13"/>
                    <a:gd name="T34" fmla="*/ 0 w 4"/>
                    <a:gd name="T35" fmla="*/ 12 h 13"/>
                    <a:gd name="T36" fmla="*/ 0 w 4"/>
                    <a:gd name="T37" fmla="*/ 0 h 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4"/>
                    <a:gd name="T58" fmla="*/ 0 h 13"/>
                    <a:gd name="T59" fmla="*/ 4 w 4"/>
                    <a:gd name="T60" fmla="*/ 13 h 13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4" h="1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4"/>
                      </a:lnTo>
                      <a:lnTo>
                        <a:pt x="2" y="6"/>
                      </a:lnTo>
                      <a:lnTo>
                        <a:pt x="3" y="7"/>
                      </a:lnTo>
                      <a:lnTo>
                        <a:pt x="3" y="12"/>
                      </a:lnTo>
                      <a:lnTo>
                        <a:pt x="2" y="12"/>
                      </a:lnTo>
                      <a:lnTo>
                        <a:pt x="2" y="7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1" y="2"/>
                      </a:lnTo>
                      <a:lnTo>
                        <a:pt x="2" y="2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3" name="Freeform 227"/>
                <p:cNvSpPr>
                  <a:spLocks/>
                </p:cNvSpPr>
                <p:nvPr/>
              </p:nvSpPr>
              <p:spPr bwMode="auto">
                <a:xfrm>
                  <a:off x="853" y="2431"/>
                  <a:ext cx="5" cy="13"/>
                </a:xfrm>
                <a:custGeom>
                  <a:avLst/>
                  <a:gdLst>
                    <a:gd name="T0" fmla="*/ 4 w 5"/>
                    <a:gd name="T1" fmla="*/ 0 h 13"/>
                    <a:gd name="T2" fmla="*/ 0 w 5"/>
                    <a:gd name="T3" fmla="*/ 0 h 13"/>
                    <a:gd name="T4" fmla="*/ 0 w 5"/>
                    <a:gd name="T5" fmla="*/ 12 h 13"/>
                    <a:gd name="T6" fmla="*/ 4 w 5"/>
                    <a:gd name="T7" fmla="*/ 12 h 13"/>
                    <a:gd name="T8" fmla="*/ 4 w 5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3"/>
                    <a:gd name="T17" fmla="*/ 5 w 5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3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4" y="12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4" name="Freeform 228"/>
                <p:cNvSpPr>
                  <a:spLocks/>
                </p:cNvSpPr>
                <p:nvPr/>
              </p:nvSpPr>
              <p:spPr bwMode="auto">
                <a:xfrm>
                  <a:off x="863" y="2431"/>
                  <a:ext cx="4" cy="13"/>
                </a:xfrm>
                <a:custGeom>
                  <a:avLst/>
                  <a:gdLst>
                    <a:gd name="T0" fmla="*/ 1 w 4"/>
                    <a:gd name="T1" fmla="*/ 0 h 13"/>
                    <a:gd name="T2" fmla="*/ 2 w 4"/>
                    <a:gd name="T3" fmla="*/ 0 h 13"/>
                    <a:gd name="T4" fmla="*/ 3 w 4"/>
                    <a:gd name="T5" fmla="*/ 1 h 13"/>
                    <a:gd name="T6" fmla="*/ 3 w 4"/>
                    <a:gd name="T7" fmla="*/ 4 h 13"/>
                    <a:gd name="T8" fmla="*/ 2 w 4"/>
                    <a:gd name="T9" fmla="*/ 4 h 13"/>
                    <a:gd name="T10" fmla="*/ 2 w 4"/>
                    <a:gd name="T11" fmla="*/ 2 h 13"/>
                    <a:gd name="T12" fmla="*/ 1 w 4"/>
                    <a:gd name="T13" fmla="*/ 2 h 13"/>
                    <a:gd name="T14" fmla="*/ 1 w 4"/>
                    <a:gd name="T15" fmla="*/ 10 h 13"/>
                    <a:gd name="T16" fmla="*/ 2 w 4"/>
                    <a:gd name="T17" fmla="*/ 10 h 13"/>
                    <a:gd name="T18" fmla="*/ 2 w 4"/>
                    <a:gd name="T19" fmla="*/ 7 h 13"/>
                    <a:gd name="T20" fmla="*/ 3 w 4"/>
                    <a:gd name="T21" fmla="*/ 7 h 13"/>
                    <a:gd name="T22" fmla="*/ 3 w 4"/>
                    <a:gd name="T23" fmla="*/ 10 h 13"/>
                    <a:gd name="T24" fmla="*/ 2 w 4"/>
                    <a:gd name="T25" fmla="*/ 12 h 13"/>
                    <a:gd name="T26" fmla="*/ 1 w 4"/>
                    <a:gd name="T27" fmla="*/ 12 h 13"/>
                    <a:gd name="T28" fmla="*/ 0 w 4"/>
                    <a:gd name="T29" fmla="*/ 10 h 13"/>
                    <a:gd name="T30" fmla="*/ 0 w 4"/>
                    <a:gd name="T31" fmla="*/ 1 h 13"/>
                    <a:gd name="T32" fmla="*/ 1 w 4"/>
                    <a:gd name="T33" fmla="*/ 0 h 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"/>
                    <a:gd name="T52" fmla="*/ 0 h 13"/>
                    <a:gd name="T53" fmla="*/ 4 w 4"/>
                    <a:gd name="T54" fmla="*/ 13 h 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" h="13">
                      <a:moveTo>
                        <a:pt x="1" y="0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1" y="10"/>
                      </a:lnTo>
                      <a:lnTo>
                        <a:pt x="2" y="10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55" name="Freeform 229"/>
                <p:cNvSpPr>
                  <a:spLocks/>
                </p:cNvSpPr>
                <p:nvPr/>
              </p:nvSpPr>
              <p:spPr bwMode="auto">
                <a:xfrm>
                  <a:off x="875" y="2431"/>
                  <a:ext cx="6" cy="13"/>
                </a:xfrm>
                <a:custGeom>
                  <a:avLst/>
                  <a:gdLst>
                    <a:gd name="T0" fmla="*/ 2 w 6"/>
                    <a:gd name="T1" fmla="*/ 0 h 13"/>
                    <a:gd name="T2" fmla="*/ 4 w 6"/>
                    <a:gd name="T3" fmla="*/ 0 h 13"/>
                    <a:gd name="T4" fmla="*/ 5 w 6"/>
                    <a:gd name="T5" fmla="*/ 12 h 13"/>
                    <a:gd name="T6" fmla="*/ 3 w 6"/>
                    <a:gd name="T7" fmla="*/ 12 h 13"/>
                    <a:gd name="T8" fmla="*/ 3 w 6"/>
                    <a:gd name="T9" fmla="*/ 10 h 13"/>
                    <a:gd name="T10" fmla="*/ 3 w 6"/>
                    <a:gd name="T11" fmla="*/ 7 h 13"/>
                    <a:gd name="T12" fmla="*/ 3 w 6"/>
                    <a:gd name="T13" fmla="*/ 2 h 13"/>
                    <a:gd name="T14" fmla="*/ 2 w 6"/>
                    <a:gd name="T15" fmla="*/ 7 h 13"/>
                    <a:gd name="T16" fmla="*/ 3 w 6"/>
                    <a:gd name="T17" fmla="*/ 7 h 13"/>
                    <a:gd name="T18" fmla="*/ 3 w 6"/>
                    <a:gd name="T19" fmla="*/ 10 h 13"/>
                    <a:gd name="T20" fmla="*/ 2 w 6"/>
                    <a:gd name="T21" fmla="*/ 10 h 13"/>
                    <a:gd name="T22" fmla="*/ 2 w 6"/>
                    <a:gd name="T23" fmla="*/ 12 h 13"/>
                    <a:gd name="T24" fmla="*/ 0 w 6"/>
                    <a:gd name="T25" fmla="*/ 12 h 13"/>
                    <a:gd name="T26" fmla="*/ 2 w 6"/>
                    <a:gd name="T27" fmla="*/ 0 h 1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"/>
                    <a:gd name="T43" fmla="*/ 0 h 13"/>
                    <a:gd name="T44" fmla="*/ 6 w 6"/>
                    <a:gd name="T45" fmla="*/ 13 h 1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" h="13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5" y="12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3" y="7"/>
                      </a:lnTo>
                      <a:lnTo>
                        <a:pt x="3" y="2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19" name="Group 230"/>
            <p:cNvGrpSpPr>
              <a:grpSpLocks/>
            </p:cNvGrpSpPr>
            <p:nvPr/>
          </p:nvGrpSpPr>
          <p:grpSpPr bwMode="auto">
            <a:xfrm>
              <a:off x="486" y="3460"/>
              <a:ext cx="1098" cy="572"/>
              <a:chOff x="486" y="3222"/>
              <a:chExt cx="994" cy="500"/>
            </a:xfrm>
          </p:grpSpPr>
          <p:sp>
            <p:nvSpPr>
              <p:cNvPr id="100641" name="Rectangle 231"/>
              <p:cNvSpPr>
                <a:spLocks noChangeArrowheads="1"/>
              </p:cNvSpPr>
              <p:nvPr/>
            </p:nvSpPr>
            <p:spPr bwMode="auto">
              <a:xfrm>
                <a:off x="486" y="3222"/>
                <a:ext cx="994" cy="500"/>
              </a:xfrm>
              <a:prstGeom prst="rect">
                <a:avLst/>
              </a:prstGeom>
              <a:solidFill>
                <a:srgbClr val="BFFFB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42" name="Rectangle 232"/>
              <p:cNvSpPr>
                <a:spLocks noChangeArrowheads="1"/>
              </p:cNvSpPr>
              <p:nvPr/>
            </p:nvSpPr>
            <p:spPr bwMode="auto">
              <a:xfrm>
                <a:off x="507" y="3247"/>
                <a:ext cx="951" cy="449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DFFFB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43" name="Freeform 233"/>
              <p:cNvSpPr>
                <a:spLocks/>
              </p:cNvSpPr>
              <p:nvPr/>
            </p:nvSpPr>
            <p:spPr bwMode="auto">
              <a:xfrm>
                <a:off x="571" y="3284"/>
                <a:ext cx="827" cy="380"/>
              </a:xfrm>
              <a:custGeom>
                <a:avLst/>
                <a:gdLst>
                  <a:gd name="T0" fmla="*/ 0 w 827"/>
                  <a:gd name="T1" fmla="*/ 0 h 380"/>
                  <a:gd name="T2" fmla="*/ 826 w 827"/>
                  <a:gd name="T3" fmla="*/ 0 h 380"/>
                  <a:gd name="T4" fmla="*/ 826 w 827"/>
                  <a:gd name="T5" fmla="*/ 379 h 380"/>
                  <a:gd name="T6" fmla="*/ 0 w 827"/>
                  <a:gd name="T7" fmla="*/ 379 h 380"/>
                  <a:gd name="T8" fmla="*/ 0 w 827"/>
                  <a:gd name="T9" fmla="*/ 0 h 3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7"/>
                  <a:gd name="T16" fmla="*/ 0 h 380"/>
                  <a:gd name="T17" fmla="*/ 827 w 827"/>
                  <a:gd name="T18" fmla="*/ 380 h 3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7" h="380">
                    <a:moveTo>
                      <a:pt x="0" y="0"/>
                    </a:moveTo>
                    <a:lnTo>
                      <a:pt x="826" y="0"/>
                    </a:lnTo>
                    <a:lnTo>
                      <a:pt x="826" y="379"/>
                    </a:lnTo>
                    <a:lnTo>
                      <a:pt x="0" y="37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D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20" name="Group 234"/>
            <p:cNvGrpSpPr>
              <a:grpSpLocks/>
            </p:cNvGrpSpPr>
            <p:nvPr/>
          </p:nvGrpSpPr>
          <p:grpSpPr bwMode="auto">
            <a:xfrm>
              <a:off x="851" y="3827"/>
              <a:ext cx="271" cy="61"/>
              <a:chOff x="851" y="3589"/>
              <a:chExt cx="259" cy="56"/>
            </a:xfrm>
          </p:grpSpPr>
          <p:grpSp>
            <p:nvGrpSpPr>
              <p:cNvPr id="100633" name="Group 235"/>
              <p:cNvGrpSpPr>
                <a:grpSpLocks/>
              </p:cNvGrpSpPr>
              <p:nvPr/>
            </p:nvGrpSpPr>
            <p:grpSpPr bwMode="auto">
              <a:xfrm>
                <a:off x="851" y="3589"/>
                <a:ext cx="39" cy="54"/>
                <a:chOff x="851" y="3589"/>
                <a:chExt cx="39" cy="54"/>
              </a:xfrm>
            </p:grpSpPr>
            <p:sp>
              <p:nvSpPr>
                <p:cNvPr id="100638" name="Freeform 236"/>
                <p:cNvSpPr>
                  <a:spLocks/>
                </p:cNvSpPr>
                <p:nvPr/>
              </p:nvSpPr>
              <p:spPr bwMode="auto">
                <a:xfrm>
                  <a:off x="853" y="3606"/>
                  <a:ext cx="35" cy="34"/>
                </a:xfrm>
                <a:custGeom>
                  <a:avLst/>
                  <a:gdLst>
                    <a:gd name="T0" fmla="*/ 34 w 35"/>
                    <a:gd name="T1" fmla="*/ 33 h 34"/>
                    <a:gd name="T2" fmla="*/ 21 w 35"/>
                    <a:gd name="T3" fmla="*/ 26 h 34"/>
                    <a:gd name="T4" fmla="*/ 9 w 35"/>
                    <a:gd name="T5" fmla="*/ 15 h 34"/>
                    <a:gd name="T6" fmla="*/ 0 w 35"/>
                    <a:gd name="T7" fmla="*/ 0 h 34"/>
                    <a:gd name="T8" fmla="*/ 8 w 35"/>
                    <a:gd name="T9" fmla="*/ 2 h 34"/>
                    <a:gd name="T10" fmla="*/ 19 w 35"/>
                    <a:gd name="T11" fmla="*/ 8 h 34"/>
                    <a:gd name="T12" fmla="*/ 27 w 35"/>
                    <a:gd name="T13" fmla="*/ 19 h 34"/>
                    <a:gd name="T14" fmla="*/ 34 w 35"/>
                    <a:gd name="T15" fmla="*/ 33 h 3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"/>
                    <a:gd name="T25" fmla="*/ 0 h 34"/>
                    <a:gd name="T26" fmla="*/ 35 w 35"/>
                    <a:gd name="T27" fmla="*/ 34 h 3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" h="34">
                      <a:moveTo>
                        <a:pt x="34" y="33"/>
                      </a:moveTo>
                      <a:lnTo>
                        <a:pt x="21" y="26"/>
                      </a:lnTo>
                      <a:lnTo>
                        <a:pt x="9" y="15"/>
                      </a:lnTo>
                      <a:lnTo>
                        <a:pt x="0" y="0"/>
                      </a:lnTo>
                      <a:lnTo>
                        <a:pt x="8" y="2"/>
                      </a:lnTo>
                      <a:lnTo>
                        <a:pt x="19" y="8"/>
                      </a:lnTo>
                      <a:lnTo>
                        <a:pt x="27" y="19"/>
                      </a:lnTo>
                      <a:lnTo>
                        <a:pt x="34" y="3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39" name="Freeform 237"/>
                <p:cNvSpPr>
                  <a:spLocks/>
                </p:cNvSpPr>
                <p:nvPr/>
              </p:nvSpPr>
              <p:spPr bwMode="auto">
                <a:xfrm>
                  <a:off x="865" y="3589"/>
                  <a:ext cx="25" cy="45"/>
                </a:xfrm>
                <a:custGeom>
                  <a:avLst/>
                  <a:gdLst>
                    <a:gd name="T0" fmla="*/ 24 w 25"/>
                    <a:gd name="T1" fmla="*/ 44 h 45"/>
                    <a:gd name="T2" fmla="*/ 14 w 25"/>
                    <a:gd name="T3" fmla="*/ 32 h 45"/>
                    <a:gd name="T4" fmla="*/ 7 w 25"/>
                    <a:gd name="T5" fmla="*/ 21 h 45"/>
                    <a:gd name="T6" fmla="*/ 4 w 25"/>
                    <a:gd name="T7" fmla="*/ 12 h 45"/>
                    <a:gd name="T8" fmla="*/ 0 w 25"/>
                    <a:gd name="T9" fmla="*/ 0 h 45"/>
                    <a:gd name="T10" fmla="*/ 8 w 25"/>
                    <a:gd name="T11" fmla="*/ 6 h 45"/>
                    <a:gd name="T12" fmla="*/ 14 w 25"/>
                    <a:gd name="T13" fmla="*/ 12 h 45"/>
                    <a:gd name="T14" fmla="*/ 20 w 25"/>
                    <a:gd name="T15" fmla="*/ 22 h 45"/>
                    <a:gd name="T16" fmla="*/ 23 w 25"/>
                    <a:gd name="T17" fmla="*/ 33 h 45"/>
                    <a:gd name="T18" fmla="*/ 24 w 25"/>
                    <a:gd name="T19" fmla="*/ 44 h 4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5"/>
                    <a:gd name="T31" fmla="*/ 0 h 45"/>
                    <a:gd name="T32" fmla="*/ 25 w 25"/>
                    <a:gd name="T33" fmla="*/ 45 h 4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5" h="45">
                      <a:moveTo>
                        <a:pt x="24" y="44"/>
                      </a:moveTo>
                      <a:lnTo>
                        <a:pt x="14" y="32"/>
                      </a:lnTo>
                      <a:lnTo>
                        <a:pt x="7" y="21"/>
                      </a:lnTo>
                      <a:lnTo>
                        <a:pt x="4" y="12"/>
                      </a:lnTo>
                      <a:lnTo>
                        <a:pt x="0" y="0"/>
                      </a:lnTo>
                      <a:lnTo>
                        <a:pt x="8" y="6"/>
                      </a:lnTo>
                      <a:lnTo>
                        <a:pt x="14" y="12"/>
                      </a:lnTo>
                      <a:lnTo>
                        <a:pt x="20" y="22"/>
                      </a:lnTo>
                      <a:lnTo>
                        <a:pt x="23" y="33"/>
                      </a:lnTo>
                      <a:lnTo>
                        <a:pt x="24" y="4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40" name="Freeform 238"/>
                <p:cNvSpPr>
                  <a:spLocks/>
                </p:cNvSpPr>
                <p:nvPr/>
              </p:nvSpPr>
              <p:spPr bwMode="auto">
                <a:xfrm>
                  <a:off x="851" y="3629"/>
                  <a:ext cx="33" cy="14"/>
                </a:xfrm>
                <a:custGeom>
                  <a:avLst/>
                  <a:gdLst>
                    <a:gd name="T0" fmla="*/ 32 w 33"/>
                    <a:gd name="T1" fmla="*/ 13 h 14"/>
                    <a:gd name="T2" fmla="*/ 21 w 33"/>
                    <a:gd name="T3" fmla="*/ 11 h 14"/>
                    <a:gd name="T4" fmla="*/ 9 w 33"/>
                    <a:gd name="T5" fmla="*/ 6 h 14"/>
                    <a:gd name="T6" fmla="*/ 0 w 33"/>
                    <a:gd name="T7" fmla="*/ 0 h 14"/>
                    <a:gd name="T8" fmla="*/ 9 w 33"/>
                    <a:gd name="T9" fmla="*/ 1 h 14"/>
                    <a:gd name="T10" fmla="*/ 18 w 33"/>
                    <a:gd name="T11" fmla="*/ 3 h 14"/>
                    <a:gd name="T12" fmla="*/ 26 w 33"/>
                    <a:gd name="T13" fmla="*/ 7 h 14"/>
                    <a:gd name="T14" fmla="*/ 32 w 33"/>
                    <a:gd name="T15" fmla="*/ 13 h 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3"/>
                    <a:gd name="T25" fmla="*/ 0 h 14"/>
                    <a:gd name="T26" fmla="*/ 33 w 33"/>
                    <a:gd name="T27" fmla="*/ 14 h 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3" h="14">
                      <a:moveTo>
                        <a:pt x="32" y="13"/>
                      </a:moveTo>
                      <a:lnTo>
                        <a:pt x="21" y="11"/>
                      </a:lnTo>
                      <a:lnTo>
                        <a:pt x="9" y="6"/>
                      </a:lnTo>
                      <a:lnTo>
                        <a:pt x="0" y="0"/>
                      </a:lnTo>
                      <a:lnTo>
                        <a:pt x="9" y="1"/>
                      </a:lnTo>
                      <a:lnTo>
                        <a:pt x="18" y="3"/>
                      </a:lnTo>
                      <a:lnTo>
                        <a:pt x="26" y="7"/>
                      </a:lnTo>
                      <a:lnTo>
                        <a:pt x="32" y="1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634" name="Group 239"/>
              <p:cNvGrpSpPr>
                <a:grpSpLocks/>
              </p:cNvGrpSpPr>
              <p:nvPr/>
            </p:nvGrpSpPr>
            <p:grpSpPr bwMode="auto">
              <a:xfrm>
                <a:off x="1071" y="3590"/>
                <a:ext cx="39" cy="55"/>
                <a:chOff x="1071" y="3590"/>
                <a:chExt cx="39" cy="55"/>
              </a:xfrm>
            </p:grpSpPr>
            <p:sp>
              <p:nvSpPr>
                <p:cNvPr id="100635" name="Freeform 240"/>
                <p:cNvSpPr>
                  <a:spLocks/>
                </p:cNvSpPr>
                <p:nvPr/>
              </p:nvSpPr>
              <p:spPr bwMode="auto">
                <a:xfrm>
                  <a:off x="1073" y="3607"/>
                  <a:ext cx="35" cy="35"/>
                </a:xfrm>
                <a:custGeom>
                  <a:avLst/>
                  <a:gdLst>
                    <a:gd name="T0" fmla="*/ 0 w 35"/>
                    <a:gd name="T1" fmla="*/ 34 h 35"/>
                    <a:gd name="T2" fmla="*/ 12 w 35"/>
                    <a:gd name="T3" fmla="*/ 27 h 35"/>
                    <a:gd name="T4" fmla="*/ 25 w 35"/>
                    <a:gd name="T5" fmla="*/ 15 h 35"/>
                    <a:gd name="T6" fmla="*/ 34 w 35"/>
                    <a:gd name="T7" fmla="*/ 0 h 35"/>
                    <a:gd name="T8" fmla="*/ 26 w 35"/>
                    <a:gd name="T9" fmla="*/ 2 h 35"/>
                    <a:gd name="T10" fmla="*/ 15 w 35"/>
                    <a:gd name="T11" fmla="*/ 8 h 35"/>
                    <a:gd name="T12" fmla="*/ 6 w 35"/>
                    <a:gd name="T13" fmla="*/ 19 h 35"/>
                    <a:gd name="T14" fmla="*/ 0 w 35"/>
                    <a:gd name="T15" fmla="*/ 34 h 3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"/>
                    <a:gd name="T25" fmla="*/ 0 h 35"/>
                    <a:gd name="T26" fmla="*/ 35 w 35"/>
                    <a:gd name="T27" fmla="*/ 35 h 3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" h="35">
                      <a:moveTo>
                        <a:pt x="0" y="34"/>
                      </a:moveTo>
                      <a:lnTo>
                        <a:pt x="12" y="27"/>
                      </a:lnTo>
                      <a:lnTo>
                        <a:pt x="25" y="15"/>
                      </a:lnTo>
                      <a:lnTo>
                        <a:pt x="34" y="0"/>
                      </a:lnTo>
                      <a:lnTo>
                        <a:pt x="26" y="2"/>
                      </a:lnTo>
                      <a:lnTo>
                        <a:pt x="15" y="8"/>
                      </a:lnTo>
                      <a:lnTo>
                        <a:pt x="6" y="19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36" name="Freeform 241"/>
                <p:cNvSpPr>
                  <a:spLocks/>
                </p:cNvSpPr>
                <p:nvPr/>
              </p:nvSpPr>
              <p:spPr bwMode="auto">
                <a:xfrm>
                  <a:off x="1071" y="3590"/>
                  <a:ext cx="25" cy="46"/>
                </a:xfrm>
                <a:custGeom>
                  <a:avLst/>
                  <a:gdLst>
                    <a:gd name="T0" fmla="*/ 0 w 25"/>
                    <a:gd name="T1" fmla="*/ 45 h 46"/>
                    <a:gd name="T2" fmla="*/ 10 w 25"/>
                    <a:gd name="T3" fmla="*/ 32 h 46"/>
                    <a:gd name="T4" fmla="*/ 17 w 25"/>
                    <a:gd name="T5" fmla="*/ 21 h 46"/>
                    <a:gd name="T6" fmla="*/ 20 w 25"/>
                    <a:gd name="T7" fmla="*/ 12 h 46"/>
                    <a:gd name="T8" fmla="*/ 24 w 25"/>
                    <a:gd name="T9" fmla="*/ 0 h 46"/>
                    <a:gd name="T10" fmla="*/ 16 w 25"/>
                    <a:gd name="T11" fmla="*/ 6 h 46"/>
                    <a:gd name="T12" fmla="*/ 10 w 25"/>
                    <a:gd name="T13" fmla="*/ 12 h 46"/>
                    <a:gd name="T14" fmla="*/ 5 w 25"/>
                    <a:gd name="T15" fmla="*/ 22 h 46"/>
                    <a:gd name="T16" fmla="*/ 1 w 25"/>
                    <a:gd name="T17" fmla="*/ 33 h 46"/>
                    <a:gd name="T18" fmla="*/ 0 w 25"/>
                    <a:gd name="T19" fmla="*/ 45 h 4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5"/>
                    <a:gd name="T31" fmla="*/ 0 h 46"/>
                    <a:gd name="T32" fmla="*/ 25 w 25"/>
                    <a:gd name="T33" fmla="*/ 46 h 4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5" h="46">
                      <a:moveTo>
                        <a:pt x="0" y="45"/>
                      </a:moveTo>
                      <a:lnTo>
                        <a:pt x="10" y="32"/>
                      </a:lnTo>
                      <a:lnTo>
                        <a:pt x="17" y="21"/>
                      </a:lnTo>
                      <a:lnTo>
                        <a:pt x="20" y="12"/>
                      </a:lnTo>
                      <a:lnTo>
                        <a:pt x="24" y="0"/>
                      </a:lnTo>
                      <a:lnTo>
                        <a:pt x="16" y="6"/>
                      </a:lnTo>
                      <a:lnTo>
                        <a:pt x="10" y="12"/>
                      </a:lnTo>
                      <a:lnTo>
                        <a:pt x="5" y="22"/>
                      </a:lnTo>
                      <a:lnTo>
                        <a:pt x="1" y="33"/>
                      </a:lnTo>
                      <a:lnTo>
                        <a:pt x="0" y="45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637" name="Freeform 242"/>
                <p:cNvSpPr>
                  <a:spLocks/>
                </p:cNvSpPr>
                <p:nvPr/>
              </p:nvSpPr>
              <p:spPr bwMode="auto">
                <a:xfrm>
                  <a:off x="1076" y="3630"/>
                  <a:ext cx="34" cy="15"/>
                </a:xfrm>
                <a:custGeom>
                  <a:avLst/>
                  <a:gdLst>
                    <a:gd name="T0" fmla="*/ 0 w 34"/>
                    <a:gd name="T1" fmla="*/ 14 h 15"/>
                    <a:gd name="T2" fmla="*/ 12 w 34"/>
                    <a:gd name="T3" fmla="*/ 11 h 15"/>
                    <a:gd name="T4" fmla="*/ 24 w 34"/>
                    <a:gd name="T5" fmla="*/ 6 h 15"/>
                    <a:gd name="T6" fmla="*/ 33 w 34"/>
                    <a:gd name="T7" fmla="*/ 0 h 15"/>
                    <a:gd name="T8" fmla="*/ 24 w 34"/>
                    <a:gd name="T9" fmla="*/ 1 h 15"/>
                    <a:gd name="T10" fmla="*/ 14 w 34"/>
                    <a:gd name="T11" fmla="*/ 3 h 15"/>
                    <a:gd name="T12" fmla="*/ 6 w 34"/>
                    <a:gd name="T13" fmla="*/ 7 h 15"/>
                    <a:gd name="T14" fmla="*/ 0 w 34"/>
                    <a:gd name="T15" fmla="*/ 14 h 1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4"/>
                    <a:gd name="T25" fmla="*/ 0 h 15"/>
                    <a:gd name="T26" fmla="*/ 34 w 34"/>
                    <a:gd name="T27" fmla="*/ 15 h 1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4" h="15">
                      <a:moveTo>
                        <a:pt x="0" y="14"/>
                      </a:moveTo>
                      <a:lnTo>
                        <a:pt x="12" y="11"/>
                      </a:lnTo>
                      <a:lnTo>
                        <a:pt x="24" y="6"/>
                      </a:lnTo>
                      <a:lnTo>
                        <a:pt x="33" y="0"/>
                      </a:lnTo>
                      <a:lnTo>
                        <a:pt x="24" y="1"/>
                      </a:lnTo>
                      <a:lnTo>
                        <a:pt x="14" y="3"/>
                      </a:lnTo>
                      <a:lnTo>
                        <a:pt x="6" y="7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21" name="Group 243"/>
            <p:cNvGrpSpPr>
              <a:grpSpLocks/>
            </p:cNvGrpSpPr>
            <p:nvPr/>
          </p:nvGrpSpPr>
          <p:grpSpPr bwMode="auto">
            <a:xfrm>
              <a:off x="775" y="3592"/>
              <a:ext cx="439" cy="384"/>
              <a:chOff x="775" y="3354"/>
              <a:chExt cx="420" cy="350"/>
            </a:xfrm>
          </p:grpSpPr>
          <p:grpSp>
            <p:nvGrpSpPr>
              <p:cNvPr id="100612" name="Group 244"/>
              <p:cNvGrpSpPr>
                <a:grpSpLocks/>
              </p:cNvGrpSpPr>
              <p:nvPr/>
            </p:nvGrpSpPr>
            <p:grpSpPr bwMode="auto">
              <a:xfrm>
                <a:off x="867" y="3354"/>
                <a:ext cx="232" cy="329"/>
                <a:chOff x="867" y="3354"/>
                <a:chExt cx="232" cy="329"/>
              </a:xfrm>
            </p:grpSpPr>
            <p:grpSp>
              <p:nvGrpSpPr>
                <p:cNvPr id="100614" name="Group 245"/>
                <p:cNvGrpSpPr>
                  <a:grpSpLocks/>
                </p:cNvGrpSpPr>
                <p:nvPr/>
              </p:nvGrpSpPr>
              <p:grpSpPr bwMode="auto">
                <a:xfrm>
                  <a:off x="867" y="3354"/>
                  <a:ext cx="232" cy="329"/>
                  <a:chOff x="867" y="3354"/>
                  <a:chExt cx="232" cy="329"/>
                </a:xfrm>
              </p:grpSpPr>
              <p:grpSp>
                <p:nvGrpSpPr>
                  <p:cNvPr id="100629" name="Group 246"/>
                  <p:cNvGrpSpPr>
                    <a:grpSpLocks/>
                  </p:cNvGrpSpPr>
                  <p:nvPr/>
                </p:nvGrpSpPr>
                <p:grpSpPr bwMode="auto">
                  <a:xfrm>
                    <a:off x="867" y="3354"/>
                    <a:ext cx="232" cy="68"/>
                    <a:chOff x="867" y="3354"/>
                    <a:chExt cx="232" cy="68"/>
                  </a:xfrm>
                </p:grpSpPr>
                <p:sp>
                  <p:nvSpPr>
                    <p:cNvPr id="100631" name="Freeform 247"/>
                    <p:cNvSpPr>
                      <a:spLocks/>
                    </p:cNvSpPr>
                    <p:nvPr/>
                  </p:nvSpPr>
                  <p:spPr bwMode="auto">
                    <a:xfrm>
                      <a:off x="867" y="3354"/>
                      <a:ext cx="114" cy="68"/>
                    </a:xfrm>
                    <a:custGeom>
                      <a:avLst/>
                      <a:gdLst>
                        <a:gd name="T0" fmla="*/ 0 w 114"/>
                        <a:gd name="T1" fmla="*/ 0 h 68"/>
                        <a:gd name="T2" fmla="*/ 113 w 114"/>
                        <a:gd name="T3" fmla="*/ 0 h 68"/>
                        <a:gd name="T4" fmla="*/ 113 w 114"/>
                        <a:gd name="T5" fmla="*/ 67 h 68"/>
                        <a:gd name="T6" fmla="*/ 32 w 114"/>
                        <a:gd name="T7" fmla="*/ 67 h 68"/>
                        <a:gd name="T8" fmla="*/ 32 w 114"/>
                        <a:gd name="T9" fmla="*/ 32 h 68"/>
                        <a:gd name="T10" fmla="*/ 31 w 114"/>
                        <a:gd name="T11" fmla="*/ 27 h 68"/>
                        <a:gd name="T12" fmla="*/ 28 w 114"/>
                        <a:gd name="T13" fmla="*/ 24 h 68"/>
                        <a:gd name="T14" fmla="*/ 23 w 114"/>
                        <a:gd name="T15" fmla="*/ 22 h 68"/>
                        <a:gd name="T16" fmla="*/ 0 w 114"/>
                        <a:gd name="T17" fmla="*/ 22 h 68"/>
                        <a:gd name="T18" fmla="*/ 0 w 114"/>
                        <a:gd name="T19" fmla="*/ 0 h 68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14"/>
                        <a:gd name="T31" fmla="*/ 0 h 68"/>
                        <a:gd name="T32" fmla="*/ 114 w 114"/>
                        <a:gd name="T33" fmla="*/ 68 h 68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14" h="68">
                          <a:moveTo>
                            <a:pt x="0" y="0"/>
                          </a:moveTo>
                          <a:lnTo>
                            <a:pt x="113" y="0"/>
                          </a:lnTo>
                          <a:lnTo>
                            <a:pt x="113" y="67"/>
                          </a:lnTo>
                          <a:lnTo>
                            <a:pt x="32" y="67"/>
                          </a:lnTo>
                          <a:lnTo>
                            <a:pt x="32" y="32"/>
                          </a:lnTo>
                          <a:lnTo>
                            <a:pt x="31" y="27"/>
                          </a:lnTo>
                          <a:lnTo>
                            <a:pt x="28" y="24"/>
                          </a:lnTo>
                          <a:lnTo>
                            <a:pt x="23" y="22"/>
                          </a:lnTo>
                          <a:lnTo>
                            <a:pt x="0" y="22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32" name="Freeform 248"/>
                    <p:cNvSpPr>
                      <a:spLocks/>
                    </p:cNvSpPr>
                    <p:nvPr/>
                  </p:nvSpPr>
                  <p:spPr bwMode="auto">
                    <a:xfrm>
                      <a:off x="985" y="3354"/>
                      <a:ext cx="114" cy="68"/>
                    </a:xfrm>
                    <a:custGeom>
                      <a:avLst/>
                      <a:gdLst>
                        <a:gd name="T0" fmla="*/ 113 w 114"/>
                        <a:gd name="T1" fmla="*/ 0 h 68"/>
                        <a:gd name="T2" fmla="*/ 0 w 114"/>
                        <a:gd name="T3" fmla="*/ 0 h 68"/>
                        <a:gd name="T4" fmla="*/ 0 w 114"/>
                        <a:gd name="T5" fmla="*/ 67 h 68"/>
                        <a:gd name="T6" fmla="*/ 81 w 114"/>
                        <a:gd name="T7" fmla="*/ 67 h 68"/>
                        <a:gd name="T8" fmla="*/ 81 w 114"/>
                        <a:gd name="T9" fmla="*/ 32 h 68"/>
                        <a:gd name="T10" fmla="*/ 82 w 114"/>
                        <a:gd name="T11" fmla="*/ 27 h 68"/>
                        <a:gd name="T12" fmla="*/ 85 w 114"/>
                        <a:gd name="T13" fmla="*/ 24 h 68"/>
                        <a:gd name="T14" fmla="*/ 90 w 114"/>
                        <a:gd name="T15" fmla="*/ 22 h 68"/>
                        <a:gd name="T16" fmla="*/ 113 w 114"/>
                        <a:gd name="T17" fmla="*/ 22 h 68"/>
                        <a:gd name="T18" fmla="*/ 113 w 114"/>
                        <a:gd name="T19" fmla="*/ 0 h 68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14"/>
                        <a:gd name="T31" fmla="*/ 0 h 68"/>
                        <a:gd name="T32" fmla="*/ 114 w 114"/>
                        <a:gd name="T33" fmla="*/ 68 h 68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14" h="68">
                          <a:moveTo>
                            <a:pt x="113" y="0"/>
                          </a:moveTo>
                          <a:lnTo>
                            <a:pt x="0" y="0"/>
                          </a:lnTo>
                          <a:lnTo>
                            <a:pt x="0" y="67"/>
                          </a:lnTo>
                          <a:lnTo>
                            <a:pt x="81" y="67"/>
                          </a:lnTo>
                          <a:lnTo>
                            <a:pt x="81" y="32"/>
                          </a:lnTo>
                          <a:lnTo>
                            <a:pt x="82" y="27"/>
                          </a:lnTo>
                          <a:lnTo>
                            <a:pt x="85" y="24"/>
                          </a:lnTo>
                          <a:lnTo>
                            <a:pt x="90" y="22"/>
                          </a:lnTo>
                          <a:lnTo>
                            <a:pt x="113" y="22"/>
                          </a:lnTo>
                          <a:lnTo>
                            <a:pt x="113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630" name="Oval 249"/>
                  <p:cNvSpPr>
                    <a:spLocks noChangeArrowheads="1"/>
                  </p:cNvSpPr>
                  <p:nvPr/>
                </p:nvSpPr>
                <p:spPr bwMode="auto">
                  <a:xfrm>
                    <a:off x="875" y="3356"/>
                    <a:ext cx="211" cy="327"/>
                  </a:xfrm>
                  <a:prstGeom prst="ellipse">
                    <a:avLst/>
                  </a:prstGeom>
                  <a:solidFill>
                    <a:srgbClr val="3F5F00"/>
                  </a:solidFill>
                  <a:ln w="12700">
                    <a:solidFill>
                      <a:srgbClr val="DFFFB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0615" name="Group 250"/>
                <p:cNvGrpSpPr>
                  <a:grpSpLocks/>
                </p:cNvGrpSpPr>
                <p:nvPr/>
              </p:nvGrpSpPr>
              <p:grpSpPr bwMode="auto">
                <a:xfrm>
                  <a:off x="877" y="3366"/>
                  <a:ext cx="201" cy="288"/>
                  <a:chOff x="877" y="3366"/>
                  <a:chExt cx="201" cy="288"/>
                </a:xfrm>
              </p:grpSpPr>
              <p:sp>
                <p:nvSpPr>
                  <p:cNvPr id="100616" name="Freeform 251"/>
                  <p:cNvSpPr>
                    <a:spLocks/>
                  </p:cNvSpPr>
                  <p:nvPr/>
                </p:nvSpPr>
                <p:spPr bwMode="auto">
                  <a:xfrm>
                    <a:off x="1014" y="3539"/>
                    <a:ext cx="64" cy="115"/>
                  </a:xfrm>
                  <a:custGeom>
                    <a:avLst/>
                    <a:gdLst>
                      <a:gd name="T0" fmla="*/ 0 w 64"/>
                      <a:gd name="T1" fmla="*/ 0 h 115"/>
                      <a:gd name="T2" fmla="*/ 13 w 64"/>
                      <a:gd name="T3" fmla="*/ 7 h 115"/>
                      <a:gd name="T4" fmla="*/ 14 w 64"/>
                      <a:gd name="T5" fmla="*/ 22 h 115"/>
                      <a:gd name="T6" fmla="*/ 31 w 64"/>
                      <a:gd name="T7" fmla="*/ 31 h 115"/>
                      <a:gd name="T8" fmla="*/ 51 w 64"/>
                      <a:gd name="T9" fmla="*/ 36 h 115"/>
                      <a:gd name="T10" fmla="*/ 63 w 64"/>
                      <a:gd name="T11" fmla="*/ 43 h 115"/>
                      <a:gd name="T12" fmla="*/ 61 w 64"/>
                      <a:gd name="T13" fmla="*/ 50 h 115"/>
                      <a:gd name="T14" fmla="*/ 59 w 64"/>
                      <a:gd name="T15" fmla="*/ 59 h 115"/>
                      <a:gd name="T16" fmla="*/ 54 w 64"/>
                      <a:gd name="T17" fmla="*/ 69 h 115"/>
                      <a:gd name="T18" fmla="*/ 51 w 64"/>
                      <a:gd name="T19" fmla="*/ 78 h 115"/>
                      <a:gd name="T20" fmla="*/ 47 w 64"/>
                      <a:gd name="T21" fmla="*/ 85 h 115"/>
                      <a:gd name="T22" fmla="*/ 43 w 64"/>
                      <a:gd name="T23" fmla="*/ 94 h 115"/>
                      <a:gd name="T24" fmla="*/ 35 w 64"/>
                      <a:gd name="T25" fmla="*/ 105 h 115"/>
                      <a:gd name="T26" fmla="*/ 29 w 64"/>
                      <a:gd name="T27" fmla="*/ 114 h 115"/>
                      <a:gd name="T28" fmla="*/ 9 w 64"/>
                      <a:gd name="T29" fmla="*/ 32 h 115"/>
                      <a:gd name="T30" fmla="*/ 1 w 64"/>
                      <a:gd name="T31" fmla="*/ 21 h 115"/>
                      <a:gd name="T32" fmla="*/ 0 w 64"/>
                      <a:gd name="T33" fmla="*/ 0 h 11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64"/>
                      <a:gd name="T52" fmla="*/ 0 h 115"/>
                      <a:gd name="T53" fmla="*/ 64 w 64"/>
                      <a:gd name="T54" fmla="*/ 115 h 115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64" h="115">
                        <a:moveTo>
                          <a:pt x="0" y="0"/>
                        </a:moveTo>
                        <a:lnTo>
                          <a:pt x="13" y="7"/>
                        </a:lnTo>
                        <a:lnTo>
                          <a:pt x="14" y="22"/>
                        </a:lnTo>
                        <a:lnTo>
                          <a:pt x="31" y="31"/>
                        </a:lnTo>
                        <a:lnTo>
                          <a:pt x="51" y="36"/>
                        </a:lnTo>
                        <a:lnTo>
                          <a:pt x="63" y="43"/>
                        </a:lnTo>
                        <a:lnTo>
                          <a:pt x="61" y="50"/>
                        </a:lnTo>
                        <a:lnTo>
                          <a:pt x="59" y="59"/>
                        </a:lnTo>
                        <a:lnTo>
                          <a:pt x="54" y="69"/>
                        </a:lnTo>
                        <a:lnTo>
                          <a:pt x="51" y="78"/>
                        </a:lnTo>
                        <a:lnTo>
                          <a:pt x="47" y="85"/>
                        </a:lnTo>
                        <a:lnTo>
                          <a:pt x="43" y="94"/>
                        </a:lnTo>
                        <a:lnTo>
                          <a:pt x="35" y="105"/>
                        </a:lnTo>
                        <a:lnTo>
                          <a:pt x="29" y="114"/>
                        </a:lnTo>
                        <a:lnTo>
                          <a:pt x="9" y="32"/>
                        </a:lnTo>
                        <a:lnTo>
                          <a:pt x="1" y="2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617" name="Freeform 252"/>
                  <p:cNvSpPr>
                    <a:spLocks/>
                  </p:cNvSpPr>
                  <p:nvPr/>
                </p:nvSpPr>
                <p:spPr bwMode="auto">
                  <a:xfrm>
                    <a:off x="948" y="3524"/>
                    <a:ext cx="92" cy="130"/>
                  </a:xfrm>
                  <a:custGeom>
                    <a:avLst/>
                    <a:gdLst>
                      <a:gd name="T0" fmla="*/ 91 w 92"/>
                      <a:gd name="T1" fmla="*/ 129 h 130"/>
                      <a:gd name="T2" fmla="*/ 51 w 92"/>
                      <a:gd name="T3" fmla="*/ 129 h 130"/>
                      <a:gd name="T4" fmla="*/ 33 w 92"/>
                      <a:gd name="T5" fmla="*/ 129 h 130"/>
                      <a:gd name="T6" fmla="*/ 33 w 92"/>
                      <a:gd name="T7" fmla="*/ 105 h 130"/>
                      <a:gd name="T8" fmla="*/ 26 w 92"/>
                      <a:gd name="T9" fmla="*/ 73 h 130"/>
                      <a:gd name="T10" fmla="*/ 17 w 92"/>
                      <a:gd name="T11" fmla="*/ 42 h 130"/>
                      <a:gd name="T12" fmla="*/ 17 w 92"/>
                      <a:gd name="T13" fmla="*/ 24 h 130"/>
                      <a:gd name="T14" fmla="*/ 6 w 92"/>
                      <a:gd name="T15" fmla="*/ 14 h 130"/>
                      <a:gd name="T16" fmla="*/ 0 w 92"/>
                      <a:gd name="T17" fmla="*/ 0 h 130"/>
                      <a:gd name="T18" fmla="*/ 11 w 92"/>
                      <a:gd name="T19" fmla="*/ 8 h 130"/>
                      <a:gd name="T20" fmla="*/ 23 w 92"/>
                      <a:gd name="T21" fmla="*/ 15 h 130"/>
                      <a:gd name="T22" fmla="*/ 36 w 92"/>
                      <a:gd name="T23" fmla="*/ 18 h 130"/>
                      <a:gd name="T24" fmla="*/ 42 w 92"/>
                      <a:gd name="T25" fmla="*/ 21 h 130"/>
                      <a:gd name="T26" fmla="*/ 48 w 92"/>
                      <a:gd name="T27" fmla="*/ 21 h 130"/>
                      <a:gd name="T28" fmla="*/ 56 w 92"/>
                      <a:gd name="T29" fmla="*/ 18 h 130"/>
                      <a:gd name="T30" fmla="*/ 62 w 92"/>
                      <a:gd name="T31" fmla="*/ 15 h 130"/>
                      <a:gd name="T32" fmla="*/ 62 w 92"/>
                      <a:gd name="T33" fmla="*/ 35 h 130"/>
                      <a:gd name="T34" fmla="*/ 71 w 92"/>
                      <a:gd name="T35" fmla="*/ 47 h 130"/>
                      <a:gd name="T36" fmla="*/ 83 w 92"/>
                      <a:gd name="T37" fmla="*/ 96 h 130"/>
                      <a:gd name="T38" fmla="*/ 91 w 92"/>
                      <a:gd name="T39" fmla="*/ 129 h 130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"/>
                      <a:gd name="T61" fmla="*/ 0 h 130"/>
                      <a:gd name="T62" fmla="*/ 92 w 92"/>
                      <a:gd name="T63" fmla="*/ 130 h 130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" h="130">
                        <a:moveTo>
                          <a:pt x="91" y="129"/>
                        </a:moveTo>
                        <a:lnTo>
                          <a:pt x="51" y="129"/>
                        </a:lnTo>
                        <a:lnTo>
                          <a:pt x="33" y="129"/>
                        </a:lnTo>
                        <a:lnTo>
                          <a:pt x="33" y="105"/>
                        </a:lnTo>
                        <a:lnTo>
                          <a:pt x="26" y="73"/>
                        </a:lnTo>
                        <a:lnTo>
                          <a:pt x="17" y="42"/>
                        </a:lnTo>
                        <a:lnTo>
                          <a:pt x="17" y="24"/>
                        </a:lnTo>
                        <a:lnTo>
                          <a:pt x="6" y="14"/>
                        </a:lnTo>
                        <a:lnTo>
                          <a:pt x="0" y="0"/>
                        </a:lnTo>
                        <a:lnTo>
                          <a:pt x="11" y="8"/>
                        </a:lnTo>
                        <a:lnTo>
                          <a:pt x="23" y="15"/>
                        </a:lnTo>
                        <a:lnTo>
                          <a:pt x="36" y="18"/>
                        </a:lnTo>
                        <a:lnTo>
                          <a:pt x="42" y="21"/>
                        </a:lnTo>
                        <a:lnTo>
                          <a:pt x="48" y="21"/>
                        </a:lnTo>
                        <a:lnTo>
                          <a:pt x="56" y="18"/>
                        </a:lnTo>
                        <a:lnTo>
                          <a:pt x="62" y="15"/>
                        </a:lnTo>
                        <a:lnTo>
                          <a:pt x="62" y="35"/>
                        </a:lnTo>
                        <a:lnTo>
                          <a:pt x="71" y="47"/>
                        </a:lnTo>
                        <a:lnTo>
                          <a:pt x="83" y="96"/>
                        </a:lnTo>
                        <a:lnTo>
                          <a:pt x="91" y="129"/>
                        </a:lnTo>
                      </a:path>
                    </a:pathLst>
                  </a:custGeom>
                  <a:solidFill>
                    <a:srgbClr val="D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618" name="Freeform 253"/>
                  <p:cNvSpPr>
                    <a:spLocks/>
                  </p:cNvSpPr>
                  <p:nvPr/>
                </p:nvSpPr>
                <p:spPr bwMode="auto">
                  <a:xfrm>
                    <a:off x="933" y="3377"/>
                    <a:ext cx="98" cy="162"/>
                  </a:xfrm>
                  <a:custGeom>
                    <a:avLst/>
                    <a:gdLst>
                      <a:gd name="T0" fmla="*/ 11 w 98"/>
                      <a:gd name="T1" fmla="*/ 126 h 162"/>
                      <a:gd name="T2" fmla="*/ 9 w 98"/>
                      <a:gd name="T3" fmla="*/ 108 h 162"/>
                      <a:gd name="T4" fmla="*/ 3 w 98"/>
                      <a:gd name="T5" fmla="*/ 87 h 162"/>
                      <a:gd name="T6" fmla="*/ 0 w 98"/>
                      <a:gd name="T7" fmla="*/ 54 h 162"/>
                      <a:gd name="T8" fmla="*/ 13 w 98"/>
                      <a:gd name="T9" fmla="*/ 21 h 162"/>
                      <a:gd name="T10" fmla="*/ 29 w 98"/>
                      <a:gd name="T11" fmla="*/ 7 h 162"/>
                      <a:gd name="T12" fmla="*/ 49 w 98"/>
                      <a:gd name="T13" fmla="*/ 1 h 162"/>
                      <a:gd name="T14" fmla="*/ 67 w 98"/>
                      <a:gd name="T15" fmla="*/ 0 h 162"/>
                      <a:gd name="T16" fmla="*/ 82 w 98"/>
                      <a:gd name="T17" fmla="*/ 10 h 162"/>
                      <a:gd name="T18" fmla="*/ 93 w 98"/>
                      <a:gd name="T19" fmla="*/ 36 h 162"/>
                      <a:gd name="T20" fmla="*/ 97 w 98"/>
                      <a:gd name="T21" fmla="*/ 57 h 162"/>
                      <a:gd name="T22" fmla="*/ 96 w 98"/>
                      <a:gd name="T23" fmla="*/ 86 h 162"/>
                      <a:gd name="T24" fmla="*/ 94 w 98"/>
                      <a:gd name="T25" fmla="*/ 108 h 162"/>
                      <a:gd name="T26" fmla="*/ 93 w 98"/>
                      <a:gd name="T27" fmla="*/ 117 h 162"/>
                      <a:gd name="T28" fmla="*/ 91 w 98"/>
                      <a:gd name="T29" fmla="*/ 126 h 162"/>
                      <a:gd name="T30" fmla="*/ 86 w 98"/>
                      <a:gd name="T31" fmla="*/ 134 h 162"/>
                      <a:gd name="T32" fmla="*/ 80 w 98"/>
                      <a:gd name="T33" fmla="*/ 138 h 162"/>
                      <a:gd name="T34" fmla="*/ 75 w 98"/>
                      <a:gd name="T35" fmla="*/ 141 h 162"/>
                      <a:gd name="T36" fmla="*/ 76 w 98"/>
                      <a:gd name="T37" fmla="*/ 155 h 162"/>
                      <a:gd name="T38" fmla="*/ 70 w 98"/>
                      <a:gd name="T39" fmla="*/ 158 h 162"/>
                      <a:gd name="T40" fmla="*/ 63 w 98"/>
                      <a:gd name="T41" fmla="*/ 161 h 162"/>
                      <a:gd name="T42" fmla="*/ 50 w 98"/>
                      <a:gd name="T43" fmla="*/ 160 h 162"/>
                      <a:gd name="T44" fmla="*/ 40 w 98"/>
                      <a:gd name="T45" fmla="*/ 155 h 162"/>
                      <a:gd name="T46" fmla="*/ 24 w 98"/>
                      <a:gd name="T47" fmla="*/ 147 h 162"/>
                      <a:gd name="T48" fmla="*/ 14 w 98"/>
                      <a:gd name="T49" fmla="*/ 140 h 162"/>
                      <a:gd name="T50" fmla="*/ 11 w 98"/>
                      <a:gd name="T51" fmla="*/ 126 h 16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98"/>
                      <a:gd name="T79" fmla="*/ 0 h 162"/>
                      <a:gd name="T80" fmla="*/ 98 w 98"/>
                      <a:gd name="T81" fmla="*/ 162 h 16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98" h="162">
                        <a:moveTo>
                          <a:pt x="11" y="126"/>
                        </a:moveTo>
                        <a:lnTo>
                          <a:pt x="9" y="108"/>
                        </a:lnTo>
                        <a:lnTo>
                          <a:pt x="3" y="87"/>
                        </a:lnTo>
                        <a:lnTo>
                          <a:pt x="0" y="54"/>
                        </a:lnTo>
                        <a:lnTo>
                          <a:pt x="13" y="21"/>
                        </a:lnTo>
                        <a:lnTo>
                          <a:pt x="29" y="7"/>
                        </a:lnTo>
                        <a:lnTo>
                          <a:pt x="49" y="1"/>
                        </a:lnTo>
                        <a:lnTo>
                          <a:pt x="67" y="0"/>
                        </a:lnTo>
                        <a:lnTo>
                          <a:pt x="82" y="10"/>
                        </a:lnTo>
                        <a:lnTo>
                          <a:pt x="93" y="36"/>
                        </a:lnTo>
                        <a:lnTo>
                          <a:pt x="97" y="57"/>
                        </a:lnTo>
                        <a:lnTo>
                          <a:pt x="96" y="86"/>
                        </a:lnTo>
                        <a:lnTo>
                          <a:pt x="94" y="108"/>
                        </a:lnTo>
                        <a:lnTo>
                          <a:pt x="93" y="117"/>
                        </a:lnTo>
                        <a:lnTo>
                          <a:pt x="91" y="126"/>
                        </a:lnTo>
                        <a:lnTo>
                          <a:pt x="86" y="134"/>
                        </a:lnTo>
                        <a:lnTo>
                          <a:pt x="80" y="138"/>
                        </a:lnTo>
                        <a:lnTo>
                          <a:pt x="75" y="141"/>
                        </a:lnTo>
                        <a:lnTo>
                          <a:pt x="76" y="155"/>
                        </a:lnTo>
                        <a:lnTo>
                          <a:pt x="70" y="158"/>
                        </a:lnTo>
                        <a:lnTo>
                          <a:pt x="63" y="161"/>
                        </a:lnTo>
                        <a:lnTo>
                          <a:pt x="50" y="160"/>
                        </a:lnTo>
                        <a:lnTo>
                          <a:pt x="40" y="155"/>
                        </a:lnTo>
                        <a:lnTo>
                          <a:pt x="24" y="147"/>
                        </a:lnTo>
                        <a:lnTo>
                          <a:pt x="14" y="140"/>
                        </a:lnTo>
                        <a:lnTo>
                          <a:pt x="11" y="126"/>
                        </a:lnTo>
                      </a:path>
                    </a:pathLst>
                  </a:custGeom>
                  <a:solidFill>
                    <a:srgbClr val="B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619" name="Freeform 254"/>
                  <p:cNvSpPr>
                    <a:spLocks/>
                  </p:cNvSpPr>
                  <p:nvPr/>
                </p:nvSpPr>
                <p:spPr bwMode="auto">
                  <a:xfrm>
                    <a:off x="933" y="3446"/>
                    <a:ext cx="71" cy="109"/>
                  </a:xfrm>
                  <a:custGeom>
                    <a:avLst/>
                    <a:gdLst>
                      <a:gd name="T0" fmla="*/ 22 w 71"/>
                      <a:gd name="T1" fmla="*/ 0 h 109"/>
                      <a:gd name="T2" fmla="*/ 26 w 71"/>
                      <a:gd name="T3" fmla="*/ 21 h 109"/>
                      <a:gd name="T4" fmla="*/ 29 w 71"/>
                      <a:gd name="T5" fmla="*/ 36 h 109"/>
                      <a:gd name="T6" fmla="*/ 32 w 71"/>
                      <a:gd name="T7" fmla="*/ 49 h 109"/>
                      <a:gd name="T8" fmla="*/ 39 w 71"/>
                      <a:gd name="T9" fmla="*/ 62 h 109"/>
                      <a:gd name="T10" fmla="*/ 40 w 71"/>
                      <a:gd name="T11" fmla="*/ 65 h 109"/>
                      <a:gd name="T12" fmla="*/ 45 w 71"/>
                      <a:gd name="T13" fmla="*/ 69 h 109"/>
                      <a:gd name="T14" fmla="*/ 48 w 71"/>
                      <a:gd name="T15" fmla="*/ 72 h 109"/>
                      <a:gd name="T16" fmla="*/ 55 w 71"/>
                      <a:gd name="T17" fmla="*/ 74 h 109"/>
                      <a:gd name="T18" fmla="*/ 58 w 71"/>
                      <a:gd name="T19" fmla="*/ 75 h 109"/>
                      <a:gd name="T20" fmla="*/ 62 w 71"/>
                      <a:gd name="T21" fmla="*/ 76 h 109"/>
                      <a:gd name="T22" fmla="*/ 66 w 71"/>
                      <a:gd name="T23" fmla="*/ 76 h 109"/>
                      <a:gd name="T24" fmla="*/ 70 w 71"/>
                      <a:gd name="T25" fmla="*/ 74 h 109"/>
                      <a:gd name="T26" fmla="*/ 66 w 71"/>
                      <a:gd name="T27" fmla="*/ 81 h 109"/>
                      <a:gd name="T28" fmla="*/ 57 w 71"/>
                      <a:gd name="T29" fmla="*/ 88 h 109"/>
                      <a:gd name="T30" fmla="*/ 52 w 71"/>
                      <a:gd name="T31" fmla="*/ 94 h 109"/>
                      <a:gd name="T32" fmla="*/ 48 w 71"/>
                      <a:gd name="T33" fmla="*/ 101 h 109"/>
                      <a:gd name="T34" fmla="*/ 44 w 71"/>
                      <a:gd name="T35" fmla="*/ 106 h 109"/>
                      <a:gd name="T36" fmla="*/ 35 w 71"/>
                      <a:gd name="T37" fmla="*/ 108 h 109"/>
                      <a:gd name="T38" fmla="*/ 23 w 71"/>
                      <a:gd name="T39" fmla="*/ 108 h 109"/>
                      <a:gd name="T40" fmla="*/ 5 w 71"/>
                      <a:gd name="T41" fmla="*/ 92 h 109"/>
                      <a:gd name="T42" fmla="*/ 0 w 71"/>
                      <a:gd name="T43" fmla="*/ 79 h 109"/>
                      <a:gd name="T44" fmla="*/ 7 w 71"/>
                      <a:gd name="T45" fmla="*/ 52 h 109"/>
                      <a:gd name="T46" fmla="*/ 11 w 71"/>
                      <a:gd name="T47" fmla="*/ 24 h 109"/>
                      <a:gd name="T48" fmla="*/ 22 w 71"/>
                      <a:gd name="T49" fmla="*/ 0 h 109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71"/>
                      <a:gd name="T76" fmla="*/ 0 h 109"/>
                      <a:gd name="T77" fmla="*/ 71 w 71"/>
                      <a:gd name="T78" fmla="*/ 109 h 109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71" h="109">
                        <a:moveTo>
                          <a:pt x="22" y="0"/>
                        </a:moveTo>
                        <a:lnTo>
                          <a:pt x="26" y="21"/>
                        </a:lnTo>
                        <a:lnTo>
                          <a:pt x="29" y="36"/>
                        </a:lnTo>
                        <a:lnTo>
                          <a:pt x="32" y="49"/>
                        </a:lnTo>
                        <a:lnTo>
                          <a:pt x="39" y="62"/>
                        </a:lnTo>
                        <a:lnTo>
                          <a:pt x="40" y="65"/>
                        </a:lnTo>
                        <a:lnTo>
                          <a:pt x="45" y="69"/>
                        </a:lnTo>
                        <a:lnTo>
                          <a:pt x="48" y="72"/>
                        </a:lnTo>
                        <a:lnTo>
                          <a:pt x="55" y="74"/>
                        </a:lnTo>
                        <a:lnTo>
                          <a:pt x="58" y="75"/>
                        </a:lnTo>
                        <a:lnTo>
                          <a:pt x="62" y="76"/>
                        </a:lnTo>
                        <a:lnTo>
                          <a:pt x="66" y="76"/>
                        </a:lnTo>
                        <a:lnTo>
                          <a:pt x="70" y="74"/>
                        </a:lnTo>
                        <a:lnTo>
                          <a:pt x="66" y="81"/>
                        </a:lnTo>
                        <a:lnTo>
                          <a:pt x="57" y="88"/>
                        </a:lnTo>
                        <a:lnTo>
                          <a:pt x="52" y="94"/>
                        </a:lnTo>
                        <a:lnTo>
                          <a:pt x="48" y="101"/>
                        </a:lnTo>
                        <a:lnTo>
                          <a:pt x="44" y="106"/>
                        </a:lnTo>
                        <a:lnTo>
                          <a:pt x="35" y="108"/>
                        </a:lnTo>
                        <a:lnTo>
                          <a:pt x="23" y="108"/>
                        </a:lnTo>
                        <a:lnTo>
                          <a:pt x="5" y="92"/>
                        </a:lnTo>
                        <a:lnTo>
                          <a:pt x="0" y="79"/>
                        </a:lnTo>
                        <a:lnTo>
                          <a:pt x="7" y="52"/>
                        </a:lnTo>
                        <a:lnTo>
                          <a:pt x="11" y="24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3F5F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00620" name="Group 255"/>
                  <p:cNvGrpSpPr>
                    <a:grpSpLocks/>
                  </p:cNvGrpSpPr>
                  <p:nvPr/>
                </p:nvGrpSpPr>
                <p:grpSpPr bwMode="auto">
                  <a:xfrm>
                    <a:off x="976" y="3428"/>
                    <a:ext cx="54" cy="61"/>
                    <a:chOff x="976" y="3428"/>
                    <a:chExt cx="54" cy="61"/>
                  </a:xfrm>
                </p:grpSpPr>
                <p:sp>
                  <p:nvSpPr>
                    <p:cNvPr id="100623" name="Freeform 256"/>
                    <p:cNvSpPr>
                      <a:spLocks/>
                    </p:cNvSpPr>
                    <p:nvPr/>
                  </p:nvSpPr>
                  <p:spPr bwMode="auto">
                    <a:xfrm>
                      <a:off x="998" y="3486"/>
                      <a:ext cx="18" cy="3"/>
                    </a:xfrm>
                    <a:custGeom>
                      <a:avLst/>
                      <a:gdLst>
                        <a:gd name="T0" fmla="*/ 0 w 18"/>
                        <a:gd name="T1" fmla="*/ 1 h 3"/>
                        <a:gd name="T2" fmla="*/ 1 w 18"/>
                        <a:gd name="T3" fmla="*/ 2 h 3"/>
                        <a:gd name="T4" fmla="*/ 4 w 18"/>
                        <a:gd name="T5" fmla="*/ 2 h 3"/>
                        <a:gd name="T6" fmla="*/ 7 w 18"/>
                        <a:gd name="T7" fmla="*/ 2 h 3"/>
                        <a:gd name="T8" fmla="*/ 9 w 18"/>
                        <a:gd name="T9" fmla="*/ 2 h 3"/>
                        <a:gd name="T10" fmla="*/ 12 w 18"/>
                        <a:gd name="T11" fmla="*/ 2 h 3"/>
                        <a:gd name="T12" fmla="*/ 14 w 18"/>
                        <a:gd name="T13" fmla="*/ 2 h 3"/>
                        <a:gd name="T14" fmla="*/ 16 w 18"/>
                        <a:gd name="T15" fmla="*/ 2 h 3"/>
                        <a:gd name="T16" fmla="*/ 17 w 18"/>
                        <a:gd name="T17" fmla="*/ 1 h 3"/>
                        <a:gd name="T18" fmla="*/ 15 w 18"/>
                        <a:gd name="T19" fmla="*/ 0 h 3"/>
                        <a:gd name="T20" fmla="*/ 10 w 18"/>
                        <a:gd name="T21" fmla="*/ 0 h 3"/>
                        <a:gd name="T22" fmla="*/ 5 w 18"/>
                        <a:gd name="T23" fmla="*/ 0 h 3"/>
                        <a:gd name="T24" fmla="*/ 2 w 18"/>
                        <a:gd name="T25" fmla="*/ 0 h 3"/>
                        <a:gd name="T26" fmla="*/ 0 w 18"/>
                        <a:gd name="T27" fmla="*/ 1 h 3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8"/>
                        <a:gd name="T43" fmla="*/ 0 h 3"/>
                        <a:gd name="T44" fmla="*/ 18 w 18"/>
                        <a:gd name="T45" fmla="*/ 3 h 3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8" h="3">
                          <a:moveTo>
                            <a:pt x="0" y="1"/>
                          </a:moveTo>
                          <a:lnTo>
                            <a:pt x="1" y="2"/>
                          </a:lnTo>
                          <a:lnTo>
                            <a:pt x="4" y="2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2" y="2"/>
                          </a:lnTo>
                          <a:lnTo>
                            <a:pt x="14" y="2"/>
                          </a:lnTo>
                          <a:lnTo>
                            <a:pt x="16" y="2"/>
                          </a:lnTo>
                          <a:lnTo>
                            <a:pt x="17" y="1"/>
                          </a:lnTo>
                          <a:lnTo>
                            <a:pt x="15" y="0"/>
                          </a:lnTo>
                          <a:lnTo>
                            <a:pt x="10" y="0"/>
                          </a:lnTo>
                          <a:lnTo>
                            <a:pt x="5" y="0"/>
                          </a:lnTo>
                          <a:lnTo>
                            <a:pt x="2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24" name="Freeform 257"/>
                    <p:cNvSpPr>
                      <a:spLocks/>
                    </p:cNvSpPr>
                    <p:nvPr/>
                  </p:nvSpPr>
                  <p:spPr bwMode="auto">
                    <a:xfrm>
                      <a:off x="998" y="3471"/>
                      <a:ext cx="15" cy="2"/>
                    </a:xfrm>
                    <a:custGeom>
                      <a:avLst/>
                      <a:gdLst>
                        <a:gd name="T0" fmla="*/ 3 w 15"/>
                        <a:gd name="T1" fmla="*/ 1 h 2"/>
                        <a:gd name="T2" fmla="*/ 1 w 15"/>
                        <a:gd name="T3" fmla="*/ 1 h 2"/>
                        <a:gd name="T4" fmla="*/ 0 w 15"/>
                        <a:gd name="T5" fmla="*/ 1 h 2"/>
                        <a:gd name="T6" fmla="*/ 1 w 15"/>
                        <a:gd name="T7" fmla="*/ 0 h 2"/>
                        <a:gd name="T8" fmla="*/ 3 w 15"/>
                        <a:gd name="T9" fmla="*/ 0 h 2"/>
                        <a:gd name="T10" fmla="*/ 5 w 15"/>
                        <a:gd name="T11" fmla="*/ 0 h 2"/>
                        <a:gd name="T12" fmla="*/ 7 w 15"/>
                        <a:gd name="T13" fmla="*/ 0 h 2"/>
                        <a:gd name="T14" fmla="*/ 9 w 15"/>
                        <a:gd name="T15" fmla="*/ 0 h 2"/>
                        <a:gd name="T16" fmla="*/ 11 w 15"/>
                        <a:gd name="T17" fmla="*/ 0 h 2"/>
                        <a:gd name="T18" fmla="*/ 12 w 15"/>
                        <a:gd name="T19" fmla="*/ 0 h 2"/>
                        <a:gd name="T20" fmla="*/ 13 w 15"/>
                        <a:gd name="T21" fmla="*/ 0 h 2"/>
                        <a:gd name="T22" fmla="*/ 14 w 15"/>
                        <a:gd name="T23" fmla="*/ 1 h 2"/>
                        <a:gd name="T24" fmla="*/ 12 w 15"/>
                        <a:gd name="T25" fmla="*/ 1 h 2"/>
                        <a:gd name="T26" fmla="*/ 11 w 15"/>
                        <a:gd name="T27" fmla="*/ 1 h 2"/>
                        <a:gd name="T28" fmla="*/ 9 w 15"/>
                        <a:gd name="T29" fmla="*/ 1 h 2"/>
                        <a:gd name="T30" fmla="*/ 8 w 15"/>
                        <a:gd name="T31" fmla="*/ 1 h 2"/>
                        <a:gd name="T32" fmla="*/ 7 w 15"/>
                        <a:gd name="T33" fmla="*/ 1 h 2"/>
                        <a:gd name="T34" fmla="*/ 5 w 15"/>
                        <a:gd name="T35" fmla="*/ 1 h 2"/>
                        <a:gd name="T36" fmla="*/ 3 w 15"/>
                        <a:gd name="T37" fmla="*/ 1 h 2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15"/>
                        <a:gd name="T58" fmla="*/ 0 h 2"/>
                        <a:gd name="T59" fmla="*/ 15 w 15"/>
                        <a:gd name="T60" fmla="*/ 2 h 2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15" h="2">
                          <a:moveTo>
                            <a:pt x="3" y="1"/>
                          </a:move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3" y="0"/>
                          </a:lnTo>
                          <a:lnTo>
                            <a:pt x="5" y="0"/>
                          </a:lnTo>
                          <a:lnTo>
                            <a:pt x="7" y="0"/>
                          </a:lnTo>
                          <a:lnTo>
                            <a:pt x="9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3" y="0"/>
                          </a:lnTo>
                          <a:lnTo>
                            <a:pt x="14" y="1"/>
                          </a:lnTo>
                          <a:lnTo>
                            <a:pt x="12" y="1"/>
                          </a:lnTo>
                          <a:lnTo>
                            <a:pt x="11" y="1"/>
                          </a:lnTo>
                          <a:lnTo>
                            <a:pt x="9" y="1"/>
                          </a:lnTo>
                          <a:lnTo>
                            <a:pt x="8" y="1"/>
                          </a:lnTo>
                          <a:lnTo>
                            <a:pt x="7" y="1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25" name="Freeform 258"/>
                    <p:cNvSpPr>
                      <a:spLocks/>
                    </p:cNvSpPr>
                    <p:nvPr/>
                  </p:nvSpPr>
                  <p:spPr bwMode="auto">
                    <a:xfrm>
                      <a:off x="976" y="3428"/>
                      <a:ext cx="28" cy="34"/>
                    </a:xfrm>
                    <a:custGeom>
                      <a:avLst/>
                      <a:gdLst>
                        <a:gd name="T0" fmla="*/ 0 w 28"/>
                        <a:gd name="T1" fmla="*/ 6 h 34"/>
                        <a:gd name="T2" fmla="*/ 3 w 28"/>
                        <a:gd name="T3" fmla="*/ 2 h 34"/>
                        <a:gd name="T4" fmla="*/ 8 w 28"/>
                        <a:gd name="T5" fmla="*/ 1 h 34"/>
                        <a:gd name="T6" fmla="*/ 12 w 28"/>
                        <a:gd name="T7" fmla="*/ 0 h 34"/>
                        <a:gd name="T8" fmla="*/ 17 w 28"/>
                        <a:gd name="T9" fmla="*/ 0 h 34"/>
                        <a:gd name="T10" fmla="*/ 20 w 28"/>
                        <a:gd name="T11" fmla="*/ 2 h 34"/>
                        <a:gd name="T12" fmla="*/ 23 w 28"/>
                        <a:gd name="T13" fmla="*/ 7 h 34"/>
                        <a:gd name="T14" fmla="*/ 25 w 28"/>
                        <a:gd name="T15" fmla="*/ 16 h 34"/>
                        <a:gd name="T16" fmla="*/ 26 w 28"/>
                        <a:gd name="T17" fmla="*/ 24 h 34"/>
                        <a:gd name="T18" fmla="*/ 27 w 28"/>
                        <a:gd name="T19" fmla="*/ 33 h 34"/>
                        <a:gd name="T20" fmla="*/ 24 w 28"/>
                        <a:gd name="T21" fmla="*/ 31 h 34"/>
                        <a:gd name="T22" fmla="*/ 22 w 28"/>
                        <a:gd name="T23" fmla="*/ 31 h 34"/>
                        <a:gd name="T24" fmla="*/ 19 w 28"/>
                        <a:gd name="T25" fmla="*/ 32 h 34"/>
                        <a:gd name="T26" fmla="*/ 20 w 28"/>
                        <a:gd name="T27" fmla="*/ 23 h 34"/>
                        <a:gd name="T28" fmla="*/ 22 w 28"/>
                        <a:gd name="T29" fmla="*/ 14 h 34"/>
                        <a:gd name="T30" fmla="*/ 21 w 28"/>
                        <a:gd name="T31" fmla="*/ 9 h 34"/>
                        <a:gd name="T32" fmla="*/ 18 w 28"/>
                        <a:gd name="T33" fmla="*/ 5 h 34"/>
                        <a:gd name="T34" fmla="*/ 10 w 28"/>
                        <a:gd name="T35" fmla="*/ 3 h 34"/>
                        <a:gd name="T36" fmla="*/ 0 w 28"/>
                        <a:gd name="T37" fmla="*/ 6 h 34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28"/>
                        <a:gd name="T58" fmla="*/ 0 h 34"/>
                        <a:gd name="T59" fmla="*/ 28 w 28"/>
                        <a:gd name="T60" fmla="*/ 34 h 34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28" h="34">
                          <a:moveTo>
                            <a:pt x="0" y="6"/>
                          </a:moveTo>
                          <a:lnTo>
                            <a:pt x="3" y="2"/>
                          </a:lnTo>
                          <a:lnTo>
                            <a:pt x="8" y="1"/>
                          </a:lnTo>
                          <a:lnTo>
                            <a:pt x="12" y="0"/>
                          </a:lnTo>
                          <a:lnTo>
                            <a:pt x="17" y="0"/>
                          </a:lnTo>
                          <a:lnTo>
                            <a:pt x="20" y="2"/>
                          </a:lnTo>
                          <a:lnTo>
                            <a:pt x="23" y="7"/>
                          </a:lnTo>
                          <a:lnTo>
                            <a:pt x="25" y="16"/>
                          </a:lnTo>
                          <a:lnTo>
                            <a:pt x="26" y="24"/>
                          </a:lnTo>
                          <a:lnTo>
                            <a:pt x="27" y="33"/>
                          </a:lnTo>
                          <a:lnTo>
                            <a:pt x="24" y="31"/>
                          </a:lnTo>
                          <a:lnTo>
                            <a:pt x="22" y="31"/>
                          </a:lnTo>
                          <a:lnTo>
                            <a:pt x="19" y="32"/>
                          </a:lnTo>
                          <a:lnTo>
                            <a:pt x="20" y="23"/>
                          </a:lnTo>
                          <a:lnTo>
                            <a:pt x="22" y="14"/>
                          </a:lnTo>
                          <a:lnTo>
                            <a:pt x="21" y="9"/>
                          </a:lnTo>
                          <a:lnTo>
                            <a:pt x="18" y="5"/>
                          </a:lnTo>
                          <a:lnTo>
                            <a:pt x="10" y="3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26" name="Freeform 259"/>
                    <p:cNvSpPr>
                      <a:spLocks/>
                    </p:cNvSpPr>
                    <p:nvPr/>
                  </p:nvSpPr>
                  <p:spPr bwMode="auto">
                    <a:xfrm>
                      <a:off x="1010" y="3429"/>
                      <a:ext cx="20" cy="1"/>
                    </a:xfrm>
                    <a:custGeom>
                      <a:avLst/>
                      <a:gdLst>
                        <a:gd name="T0" fmla="*/ 0 w 20"/>
                        <a:gd name="T1" fmla="*/ 0 h 1"/>
                        <a:gd name="T2" fmla="*/ 4 w 20"/>
                        <a:gd name="T3" fmla="*/ 0 h 1"/>
                        <a:gd name="T4" fmla="*/ 7 w 20"/>
                        <a:gd name="T5" fmla="*/ 0 h 1"/>
                        <a:gd name="T6" fmla="*/ 12 w 20"/>
                        <a:gd name="T7" fmla="*/ 0 h 1"/>
                        <a:gd name="T8" fmla="*/ 17 w 20"/>
                        <a:gd name="T9" fmla="*/ 0 h 1"/>
                        <a:gd name="T10" fmla="*/ 19 w 20"/>
                        <a:gd name="T11" fmla="*/ 0 h 1"/>
                        <a:gd name="T12" fmla="*/ 18 w 20"/>
                        <a:gd name="T13" fmla="*/ 0 h 1"/>
                        <a:gd name="T14" fmla="*/ 15 w 20"/>
                        <a:gd name="T15" fmla="*/ 0 h 1"/>
                        <a:gd name="T16" fmla="*/ 9 w 20"/>
                        <a:gd name="T17" fmla="*/ 0 h 1"/>
                        <a:gd name="T18" fmla="*/ 4 w 20"/>
                        <a:gd name="T19" fmla="*/ 0 h 1"/>
                        <a:gd name="T20" fmla="*/ 0 w 20"/>
                        <a:gd name="T21" fmla="*/ 0 h 1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20"/>
                        <a:gd name="T34" fmla="*/ 0 h 1"/>
                        <a:gd name="T35" fmla="*/ 20 w 20"/>
                        <a:gd name="T36" fmla="*/ 1 h 1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20" h="1">
                          <a:moveTo>
                            <a:pt x="0" y="0"/>
                          </a:moveTo>
                          <a:lnTo>
                            <a:pt x="4" y="0"/>
                          </a:lnTo>
                          <a:lnTo>
                            <a:pt x="7" y="0"/>
                          </a:lnTo>
                          <a:lnTo>
                            <a:pt x="12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8" y="0"/>
                          </a:lnTo>
                          <a:lnTo>
                            <a:pt x="15" y="0"/>
                          </a:lnTo>
                          <a:lnTo>
                            <a:pt x="9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27" name="Freeform 260"/>
                    <p:cNvSpPr>
                      <a:spLocks/>
                    </p:cNvSpPr>
                    <p:nvPr/>
                  </p:nvSpPr>
                  <p:spPr bwMode="auto">
                    <a:xfrm>
                      <a:off x="984" y="3436"/>
                      <a:ext cx="9" cy="3"/>
                    </a:xfrm>
                    <a:custGeom>
                      <a:avLst/>
                      <a:gdLst>
                        <a:gd name="T0" fmla="*/ 0 w 9"/>
                        <a:gd name="T1" fmla="*/ 1 h 3"/>
                        <a:gd name="T2" fmla="*/ 1 w 9"/>
                        <a:gd name="T3" fmla="*/ 2 h 3"/>
                        <a:gd name="T4" fmla="*/ 4 w 9"/>
                        <a:gd name="T5" fmla="*/ 2 h 3"/>
                        <a:gd name="T6" fmla="*/ 5 w 9"/>
                        <a:gd name="T7" fmla="*/ 2 h 3"/>
                        <a:gd name="T8" fmla="*/ 7 w 9"/>
                        <a:gd name="T9" fmla="*/ 1 h 3"/>
                        <a:gd name="T10" fmla="*/ 8 w 9"/>
                        <a:gd name="T11" fmla="*/ 1 h 3"/>
                        <a:gd name="T12" fmla="*/ 6 w 9"/>
                        <a:gd name="T13" fmla="*/ 0 h 3"/>
                        <a:gd name="T14" fmla="*/ 4 w 9"/>
                        <a:gd name="T15" fmla="*/ 0 h 3"/>
                        <a:gd name="T16" fmla="*/ 2 w 9"/>
                        <a:gd name="T17" fmla="*/ 0 h 3"/>
                        <a:gd name="T18" fmla="*/ 0 w 9"/>
                        <a:gd name="T19" fmla="*/ 1 h 3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9"/>
                        <a:gd name="T31" fmla="*/ 0 h 3"/>
                        <a:gd name="T32" fmla="*/ 9 w 9"/>
                        <a:gd name="T33" fmla="*/ 3 h 3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9" h="3">
                          <a:moveTo>
                            <a:pt x="0" y="1"/>
                          </a:moveTo>
                          <a:lnTo>
                            <a:pt x="1" y="2"/>
                          </a:lnTo>
                          <a:lnTo>
                            <a:pt x="4" y="2"/>
                          </a:lnTo>
                          <a:lnTo>
                            <a:pt x="5" y="2"/>
                          </a:lnTo>
                          <a:lnTo>
                            <a:pt x="7" y="1"/>
                          </a:lnTo>
                          <a:lnTo>
                            <a:pt x="8" y="1"/>
                          </a:lnTo>
                          <a:lnTo>
                            <a:pt x="6" y="0"/>
                          </a:lnTo>
                          <a:lnTo>
                            <a:pt x="4" y="0"/>
                          </a:lnTo>
                          <a:lnTo>
                            <a:pt x="2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628" name="Freeform 261"/>
                    <p:cNvSpPr>
                      <a:spLocks/>
                    </p:cNvSpPr>
                    <p:nvPr/>
                  </p:nvSpPr>
                  <p:spPr bwMode="auto">
                    <a:xfrm>
                      <a:off x="1015" y="3435"/>
                      <a:ext cx="9" cy="3"/>
                    </a:xfrm>
                    <a:custGeom>
                      <a:avLst/>
                      <a:gdLst>
                        <a:gd name="T0" fmla="*/ 8 w 9"/>
                        <a:gd name="T1" fmla="*/ 1 h 3"/>
                        <a:gd name="T2" fmla="*/ 7 w 9"/>
                        <a:gd name="T3" fmla="*/ 1 h 3"/>
                        <a:gd name="T4" fmla="*/ 5 w 9"/>
                        <a:gd name="T5" fmla="*/ 2 h 3"/>
                        <a:gd name="T6" fmla="*/ 3 w 9"/>
                        <a:gd name="T7" fmla="*/ 2 h 3"/>
                        <a:gd name="T8" fmla="*/ 1 w 9"/>
                        <a:gd name="T9" fmla="*/ 1 h 3"/>
                        <a:gd name="T10" fmla="*/ 0 w 9"/>
                        <a:gd name="T11" fmla="*/ 1 h 3"/>
                        <a:gd name="T12" fmla="*/ 2 w 9"/>
                        <a:gd name="T13" fmla="*/ 0 h 3"/>
                        <a:gd name="T14" fmla="*/ 4 w 9"/>
                        <a:gd name="T15" fmla="*/ 0 h 3"/>
                        <a:gd name="T16" fmla="*/ 6 w 9"/>
                        <a:gd name="T17" fmla="*/ 0 h 3"/>
                        <a:gd name="T18" fmla="*/ 8 w 9"/>
                        <a:gd name="T19" fmla="*/ 1 h 3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9"/>
                        <a:gd name="T31" fmla="*/ 0 h 3"/>
                        <a:gd name="T32" fmla="*/ 9 w 9"/>
                        <a:gd name="T33" fmla="*/ 3 h 3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9" h="3">
                          <a:moveTo>
                            <a:pt x="8" y="1"/>
                          </a:moveTo>
                          <a:lnTo>
                            <a:pt x="7" y="1"/>
                          </a:lnTo>
                          <a:lnTo>
                            <a:pt x="5" y="2"/>
                          </a:lnTo>
                          <a:lnTo>
                            <a:pt x="3" y="2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2" y="0"/>
                          </a:lnTo>
                          <a:lnTo>
                            <a:pt x="4" y="0"/>
                          </a:lnTo>
                          <a:lnTo>
                            <a:pt x="6" y="0"/>
                          </a:lnTo>
                          <a:lnTo>
                            <a:pt x="8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621" name="Freeform 262"/>
                  <p:cNvSpPr>
                    <a:spLocks/>
                  </p:cNvSpPr>
                  <p:nvPr/>
                </p:nvSpPr>
                <p:spPr bwMode="auto">
                  <a:xfrm>
                    <a:off x="900" y="3366"/>
                    <a:ext cx="152" cy="131"/>
                  </a:xfrm>
                  <a:custGeom>
                    <a:avLst/>
                    <a:gdLst>
                      <a:gd name="T0" fmla="*/ 75 w 152"/>
                      <a:gd name="T1" fmla="*/ 3 h 131"/>
                      <a:gd name="T2" fmla="*/ 59 w 152"/>
                      <a:gd name="T3" fmla="*/ 5 h 131"/>
                      <a:gd name="T4" fmla="*/ 46 w 152"/>
                      <a:gd name="T5" fmla="*/ 12 h 131"/>
                      <a:gd name="T6" fmla="*/ 29 w 152"/>
                      <a:gd name="T7" fmla="*/ 26 h 131"/>
                      <a:gd name="T8" fmla="*/ 20 w 152"/>
                      <a:gd name="T9" fmla="*/ 47 h 131"/>
                      <a:gd name="T10" fmla="*/ 13 w 152"/>
                      <a:gd name="T11" fmla="*/ 62 h 131"/>
                      <a:gd name="T12" fmla="*/ 4 w 152"/>
                      <a:gd name="T13" fmla="*/ 73 h 131"/>
                      <a:gd name="T14" fmla="*/ 0 w 152"/>
                      <a:gd name="T15" fmla="*/ 82 h 131"/>
                      <a:gd name="T16" fmla="*/ 6 w 152"/>
                      <a:gd name="T17" fmla="*/ 95 h 131"/>
                      <a:gd name="T18" fmla="*/ 12 w 152"/>
                      <a:gd name="T19" fmla="*/ 104 h 131"/>
                      <a:gd name="T20" fmla="*/ 25 w 152"/>
                      <a:gd name="T21" fmla="*/ 109 h 131"/>
                      <a:gd name="T22" fmla="*/ 38 w 152"/>
                      <a:gd name="T23" fmla="*/ 116 h 131"/>
                      <a:gd name="T24" fmla="*/ 43 w 152"/>
                      <a:gd name="T25" fmla="*/ 122 h 131"/>
                      <a:gd name="T26" fmla="*/ 57 w 152"/>
                      <a:gd name="T27" fmla="*/ 130 h 131"/>
                      <a:gd name="T28" fmla="*/ 64 w 152"/>
                      <a:gd name="T29" fmla="*/ 126 h 131"/>
                      <a:gd name="T30" fmla="*/ 61 w 152"/>
                      <a:gd name="T31" fmla="*/ 88 h 131"/>
                      <a:gd name="T32" fmla="*/ 65 w 152"/>
                      <a:gd name="T33" fmla="*/ 57 h 131"/>
                      <a:gd name="T34" fmla="*/ 72 w 152"/>
                      <a:gd name="T35" fmla="*/ 37 h 131"/>
                      <a:gd name="T36" fmla="*/ 85 w 152"/>
                      <a:gd name="T37" fmla="*/ 24 h 131"/>
                      <a:gd name="T38" fmla="*/ 93 w 152"/>
                      <a:gd name="T39" fmla="*/ 21 h 131"/>
                      <a:gd name="T40" fmla="*/ 103 w 152"/>
                      <a:gd name="T41" fmla="*/ 22 h 131"/>
                      <a:gd name="T42" fmla="*/ 111 w 152"/>
                      <a:gd name="T43" fmla="*/ 26 h 131"/>
                      <a:gd name="T44" fmla="*/ 121 w 152"/>
                      <a:gd name="T45" fmla="*/ 34 h 131"/>
                      <a:gd name="T46" fmla="*/ 124 w 152"/>
                      <a:gd name="T47" fmla="*/ 41 h 131"/>
                      <a:gd name="T48" fmla="*/ 128 w 152"/>
                      <a:gd name="T49" fmla="*/ 50 h 131"/>
                      <a:gd name="T50" fmla="*/ 129 w 152"/>
                      <a:gd name="T51" fmla="*/ 58 h 131"/>
                      <a:gd name="T52" fmla="*/ 127 w 152"/>
                      <a:gd name="T53" fmla="*/ 66 h 131"/>
                      <a:gd name="T54" fmla="*/ 127 w 152"/>
                      <a:gd name="T55" fmla="*/ 73 h 131"/>
                      <a:gd name="T56" fmla="*/ 130 w 152"/>
                      <a:gd name="T57" fmla="*/ 90 h 131"/>
                      <a:gd name="T58" fmla="*/ 128 w 152"/>
                      <a:gd name="T59" fmla="*/ 100 h 131"/>
                      <a:gd name="T60" fmla="*/ 128 w 152"/>
                      <a:gd name="T61" fmla="*/ 111 h 131"/>
                      <a:gd name="T62" fmla="*/ 140 w 152"/>
                      <a:gd name="T63" fmla="*/ 113 h 131"/>
                      <a:gd name="T64" fmla="*/ 147 w 152"/>
                      <a:gd name="T65" fmla="*/ 108 h 131"/>
                      <a:gd name="T66" fmla="*/ 151 w 152"/>
                      <a:gd name="T67" fmla="*/ 99 h 131"/>
                      <a:gd name="T68" fmla="*/ 149 w 152"/>
                      <a:gd name="T69" fmla="*/ 82 h 131"/>
                      <a:gd name="T70" fmla="*/ 142 w 152"/>
                      <a:gd name="T71" fmla="*/ 65 h 131"/>
                      <a:gd name="T72" fmla="*/ 132 w 152"/>
                      <a:gd name="T73" fmla="*/ 47 h 131"/>
                      <a:gd name="T74" fmla="*/ 126 w 152"/>
                      <a:gd name="T75" fmla="*/ 32 h 131"/>
                      <a:gd name="T76" fmla="*/ 120 w 152"/>
                      <a:gd name="T77" fmla="*/ 20 h 131"/>
                      <a:gd name="T78" fmla="*/ 114 w 152"/>
                      <a:gd name="T79" fmla="*/ 13 h 131"/>
                      <a:gd name="T80" fmla="*/ 104 w 152"/>
                      <a:gd name="T81" fmla="*/ 7 h 131"/>
                      <a:gd name="T82" fmla="*/ 86 w 152"/>
                      <a:gd name="T83" fmla="*/ 0 h 131"/>
                      <a:gd name="T84" fmla="*/ 75 w 152"/>
                      <a:gd name="T85" fmla="*/ 3 h 1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152"/>
                      <a:gd name="T130" fmla="*/ 0 h 131"/>
                      <a:gd name="T131" fmla="*/ 152 w 152"/>
                      <a:gd name="T132" fmla="*/ 131 h 1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152" h="131">
                        <a:moveTo>
                          <a:pt x="75" y="3"/>
                        </a:moveTo>
                        <a:lnTo>
                          <a:pt x="59" y="5"/>
                        </a:lnTo>
                        <a:lnTo>
                          <a:pt x="46" y="12"/>
                        </a:lnTo>
                        <a:lnTo>
                          <a:pt x="29" y="26"/>
                        </a:lnTo>
                        <a:lnTo>
                          <a:pt x="20" y="47"/>
                        </a:lnTo>
                        <a:lnTo>
                          <a:pt x="13" y="62"/>
                        </a:lnTo>
                        <a:lnTo>
                          <a:pt x="4" y="73"/>
                        </a:lnTo>
                        <a:lnTo>
                          <a:pt x="0" y="82"/>
                        </a:lnTo>
                        <a:lnTo>
                          <a:pt x="6" y="95"/>
                        </a:lnTo>
                        <a:lnTo>
                          <a:pt x="12" y="104"/>
                        </a:lnTo>
                        <a:lnTo>
                          <a:pt x="25" y="109"/>
                        </a:lnTo>
                        <a:lnTo>
                          <a:pt x="38" y="116"/>
                        </a:lnTo>
                        <a:lnTo>
                          <a:pt x="43" y="122"/>
                        </a:lnTo>
                        <a:lnTo>
                          <a:pt x="57" y="130"/>
                        </a:lnTo>
                        <a:lnTo>
                          <a:pt x="64" y="126"/>
                        </a:lnTo>
                        <a:lnTo>
                          <a:pt x="61" y="88"/>
                        </a:lnTo>
                        <a:lnTo>
                          <a:pt x="65" y="57"/>
                        </a:lnTo>
                        <a:lnTo>
                          <a:pt x="72" y="37"/>
                        </a:lnTo>
                        <a:lnTo>
                          <a:pt x="85" y="24"/>
                        </a:lnTo>
                        <a:lnTo>
                          <a:pt x="93" y="21"/>
                        </a:lnTo>
                        <a:lnTo>
                          <a:pt x="103" y="22"/>
                        </a:lnTo>
                        <a:lnTo>
                          <a:pt x="111" y="26"/>
                        </a:lnTo>
                        <a:lnTo>
                          <a:pt x="121" y="34"/>
                        </a:lnTo>
                        <a:lnTo>
                          <a:pt x="124" y="41"/>
                        </a:lnTo>
                        <a:lnTo>
                          <a:pt x="128" y="50"/>
                        </a:lnTo>
                        <a:lnTo>
                          <a:pt x="129" y="58"/>
                        </a:lnTo>
                        <a:lnTo>
                          <a:pt x="127" y="66"/>
                        </a:lnTo>
                        <a:lnTo>
                          <a:pt x="127" y="73"/>
                        </a:lnTo>
                        <a:lnTo>
                          <a:pt x="130" y="90"/>
                        </a:lnTo>
                        <a:lnTo>
                          <a:pt x="128" y="100"/>
                        </a:lnTo>
                        <a:lnTo>
                          <a:pt x="128" y="111"/>
                        </a:lnTo>
                        <a:lnTo>
                          <a:pt x="140" y="113"/>
                        </a:lnTo>
                        <a:lnTo>
                          <a:pt x="147" y="108"/>
                        </a:lnTo>
                        <a:lnTo>
                          <a:pt x="151" y="99"/>
                        </a:lnTo>
                        <a:lnTo>
                          <a:pt x="149" y="82"/>
                        </a:lnTo>
                        <a:lnTo>
                          <a:pt x="142" y="65"/>
                        </a:lnTo>
                        <a:lnTo>
                          <a:pt x="132" y="47"/>
                        </a:lnTo>
                        <a:lnTo>
                          <a:pt x="126" y="32"/>
                        </a:lnTo>
                        <a:lnTo>
                          <a:pt x="120" y="20"/>
                        </a:lnTo>
                        <a:lnTo>
                          <a:pt x="114" y="13"/>
                        </a:lnTo>
                        <a:lnTo>
                          <a:pt x="104" y="7"/>
                        </a:lnTo>
                        <a:lnTo>
                          <a:pt x="86" y="0"/>
                        </a:lnTo>
                        <a:lnTo>
                          <a:pt x="75" y="3"/>
                        </a:lnTo>
                      </a:path>
                    </a:pathLst>
                  </a:custGeom>
                  <a:solidFill>
                    <a:srgbClr val="9FFF9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622" name="Freeform 263"/>
                  <p:cNvSpPr>
                    <a:spLocks/>
                  </p:cNvSpPr>
                  <p:nvPr/>
                </p:nvSpPr>
                <p:spPr bwMode="auto">
                  <a:xfrm>
                    <a:off x="877" y="3492"/>
                    <a:ext cx="103" cy="162"/>
                  </a:xfrm>
                  <a:custGeom>
                    <a:avLst/>
                    <a:gdLst>
                      <a:gd name="T0" fmla="*/ 61 w 103"/>
                      <a:gd name="T1" fmla="*/ 0 h 162"/>
                      <a:gd name="T2" fmla="*/ 63 w 103"/>
                      <a:gd name="T3" fmla="*/ 20 h 162"/>
                      <a:gd name="T4" fmla="*/ 69 w 103"/>
                      <a:gd name="T5" fmla="*/ 38 h 162"/>
                      <a:gd name="T6" fmla="*/ 77 w 103"/>
                      <a:gd name="T7" fmla="*/ 50 h 162"/>
                      <a:gd name="T8" fmla="*/ 85 w 103"/>
                      <a:gd name="T9" fmla="*/ 58 h 162"/>
                      <a:gd name="T10" fmla="*/ 83 w 103"/>
                      <a:gd name="T11" fmla="*/ 73 h 162"/>
                      <a:gd name="T12" fmla="*/ 91 w 103"/>
                      <a:gd name="T13" fmla="*/ 97 h 162"/>
                      <a:gd name="T14" fmla="*/ 99 w 103"/>
                      <a:gd name="T15" fmla="*/ 127 h 162"/>
                      <a:gd name="T16" fmla="*/ 102 w 103"/>
                      <a:gd name="T17" fmla="*/ 161 h 162"/>
                      <a:gd name="T18" fmla="*/ 43 w 103"/>
                      <a:gd name="T19" fmla="*/ 161 h 162"/>
                      <a:gd name="T20" fmla="*/ 36 w 103"/>
                      <a:gd name="T21" fmla="*/ 153 h 162"/>
                      <a:gd name="T22" fmla="*/ 28 w 103"/>
                      <a:gd name="T23" fmla="*/ 143 h 162"/>
                      <a:gd name="T24" fmla="*/ 21 w 103"/>
                      <a:gd name="T25" fmla="*/ 130 h 162"/>
                      <a:gd name="T26" fmla="*/ 15 w 103"/>
                      <a:gd name="T27" fmla="*/ 115 h 162"/>
                      <a:gd name="T28" fmla="*/ 8 w 103"/>
                      <a:gd name="T29" fmla="*/ 98 h 162"/>
                      <a:gd name="T30" fmla="*/ 4 w 103"/>
                      <a:gd name="T31" fmla="*/ 80 h 162"/>
                      <a:gd name="T32" fmla="*/ 2 w 103"/>
                      <a:gd name="T33" fmla="*/ 65 h 162"/>
                      <a:gd name="T34" fmla="*/ 0 w 103"/>
                      <a:gd name="T35" fmla="*/ 56 h 162"/>
                      <a:gd name="T36" fmla="*/ 14 w 103"/>
                      <a:gd name="T37" fmla="*/ 56 h 162"/>
                      <a:gd name="T38" fmla="*/ 25 w 103"/>
                      <a:gd name="T39" fmla="*/ 54 h 162"/>
                      <a:gd name="T40" fmla="*/ 37 w 103"/>
                      <a:gd name="T41" fmla="*/ 42 h 162"/>
                      <a:gd name="T42" fmla="*/ 47 w 103"/>
                      <a:gd name="T43" fmla="*/ 27 h 162"/>
                      <a:gd name="T44" fmla="*/ 61 w 103"/>
                      <a:gd name="T45" fmla="*/ 0 h 162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103"/>
                      <a:gd name="T70" fmla="*/ 0 h 162"/>
                      <a:gd name="T71" fmla="*/ 103 w 103"/>
                      <a:gd name="T72" fmla="*/ 162 h 162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103" h="162">
                        <a:moveTo>
                          <a:pt x="61" y="0"/>
                        </a:moveTo>
                        <a:lnTo>
                          <a:pt x="63" y="20"/>
                        </a:lnTo>
                        <a:lnTo>
                          <a:pt x="69" y="38"/>
                        </a:lnTo>
                        <a:lnTo>
                          <a:pt x="77" y="50"/>
                        </a:lnTo>
                        <a:lnTo>
                          <a:pt x="85" y="58"/>
                        </a:lnTo>
                        <a:lnTo>
                          <a:pt x="83" y="73"/>
                        </a:lnTo>
                        <a:lnTo>
                          <a:pt x="91" y="97"/>
                        </a:lnTo>
                        <a:lnTo>
                          <a:pt x="99" y="127"/>
                        </a:lnTo>
                        <a:lnTo>
                          <a:pt x="102" y="161"/>
                        </a:lnTo>
                        <a:lnTo>
                          <a:pt x="43" y="161"/>
                        </a:lnTo>
                        <a:lnTo>
                          <a:pt x="36" y="153"/>
                        </a:lnTo>
                        <a:lnTo>
                          <a:pt x="28" y="143"/>
                        </a:lnTo>
                        <a:lnTo>
                          <a:pt x="21" y="130"/>
                        </a:lnTo>
                        <a:lnTo>
                          <a:pt x="15" y="115"/>
                        </a:lnTo>
                        <a:lnTo>
                          <a:pt x="8" y="98"/>
                        </a:lnTo>
                        <a:lnTo>
                          <a:pt x="4" y="80"/>
                        </a:lnTo>
                        <a:lnTo>
                          <a:pt x="2" y="65"/>
                        </a:lnTo>
                        <a:lnTo>
                          <a:pt x="0" y="56"/>
                        </a:lnTo>
                        <a:lnTo>
                          <a:pt x="14" y="56"/>
                        </a:lnTo>
                        <a:lnTo>
                          <a:pt x="25" y="54"/>
                        </a:lnTo>
                        <a:lnTo>
                          <a:pt x="37" y="42"/>
                        </a:lnTo>
                        <a:lnTo>
                          <a:pt x="47" y="27"/>
                        </a:lnTo>
                        <a:lnTo>
                          <a:pt x="61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00613" name="Freeform 264"/>
              <p:cNvSpPr>
                <a:spLocks/>
              </p:cNvSpPr>
              <p:nvPr/>
            </p:nvSpPr>
            <p:spPr bwMode="auto">
              <a:xfrm>
                <a:off x="775" y="3636"/>
                <a:ext cx="420" cy="68"/>
              </a:xfrm>
              <a:custGeom>
                <a:avLst/>
                <a:gdLst>
                  <a:gd name="T0" fmla="*/ 0 w 420"/>
                  <a:gd name="T1" fmla="*/ 0 h 68"/>
                  <a:gd name="T2" fmla="*/ 419 w 420"/>
                  <a:gd name="T3" fmla="*/ 0 h 68"/>
                  <a:gd name="T4" fmla="*/ 419 w 420"/>
                  <a:gd name="T5" fmla="*/ 67 h 68"/>
                  <a:gd name="T6" fmla="*/ 0 w 420"/>
                  <a:gd name="T7" fmla="*/ 67 h 68"/>
                  <a:gd name="T8" fmla="*/ 0 w 420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0"/>
                  <a:gd name="T16" fmla="*/ 0 h 68"/>
                  <a:gd name="T17" fmla="*/ 420 w 420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0" h="68">
                    <a:moveTo>
                      <a:pt x="0" y="0"/>
                    </a:moveTo>
                    <a:lnTo>
                      <a:pt x="419" y="0"/>
                    </a:lnTo>
                    <a:lnTo>
                      <a:pt x="419" y="67"/>
                    </a:lnTo>
                    <a:lnTo>
                      <a:pt x="0" y="6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22" name="Rectangle 265"/>
            <p:cNvSpPr>
              <a:spLocks noChangeArrowheads="1"/>
            </p:cNvSpPr>
            <p:nvPr/>
          </p:nvSpPr>
          <p:spPr bwMode="auto">
            <a:xfrm>
              <a:off x="766" y="3484"/>
              <a:ext cx="449" cy="4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DFFFB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0423" name="Group 266"/>
            <p:cNvGrpSpPr>
              <a:grpSpLocks/>
            </p:cNvGrpSpPr>
            <p:nvPr/>
          </p:nvGrpSpPr>
          <p:grpSpPr bwMode="auto">
            <a:xfrm>
              <a:off x="512" y="3485"/>
              <a:ext cx="168" cy="194"/>
              <a:chOff x="512" y="3247"/>
              <a:chExt cx="161" cy="177"/>
            </a:xfrm>
          </p:grpSpPr>
          <p:sp>
            <p:nvSpPr>
              <p:cNvPr id="100608" name="Freeform 267"/>
              <p:cNvSpPr>
                <a:spLocks/>
              </p:cNvSpPr>
              <p:nvPr/>
            </p:nvSpPr>
            <p:spPr bwMode="auto">
              <a:xfrm>
                <a:off x="612" y="3262"/>
                <a:ext cx="61" cy="162"/>
              </a:xfrm>
              <a:custGeom>
                <a:avLst/>
                <a:gdLst>
                  <a:gd name="T0" fmla="*/ 6 w 61"/>
                  <a:gd name="T1" fmla="*/ 68 h 162"/>
                  <a:gd name="T2" fmla="*/ 4 w 61"/>
                  <a:gd name="T3" fmla="*/ 58 h 162"/>
                  <a:gd name="T4" fmla="*/ 1 w 61"/>
                  <a:gd name="T5" fmla="*/ 46 h 162"/>
                  <a:gd name="T6" fmla="*/ 0 w 61"/>
                  <a:gd name="T7" fmla="*/ 32 h 162"/>
                  <a:gd name="T8" fmla="*/ 3 w 61"/>
                  <a:gd name="T9" fmla="*/ 17 h 162"/>
                  <a:gd name="T10" fmla="*/ 8 w 61"/>
                  <a:gd name="T11" fmla="*/ 0 h 162"/>
                  <a:gd name="T12" fmla="*/ 15 w 61"/>
                  <a:gd name="T13" fmla="*/ 15 h 162"/>
                  <a:gd name="T14" fmla="*/ 20 w 61"/>
                  <a:gd name="T15" fmla="*/ 27 h 162"/>
                  <a:gd name="T16" fmla="*/ 21 w 61"/>
                  <a:gd name="T17" fmla="*/ 41 h 162"/>
                  <a:gd name="T18" fmla="*/ 20 w 61"/>
                  <a:gd name="T19" fmla="*/ 57 h 162"/>
                  <a:gd name="T20" fmla="*/ 18 w 61"/>
                  <a:gd name="T21" fmla="*/ 69 h 162"/>
                  <a:gd name="T22" fmla="*/ 16 w 61"/>
                  <a:gd name="T23" fmla="*/ 77 h 162"/>
                  <a:gd name="T24" fmla="*/ 21 w 61"/>
                  <a:gd name="T25" fmla="*/ 69 h 162"/>
                  <a:gd name="T26" fmla="*/ 29 w 61"/>
                  <a:gd name="T27" fmla="*/ 60 h 162"/>
                  <a:gd name="T28" fmla="*/ 36 w 61"/>
                  <a:gd name="T29" fmla="*/ 54 h 162"/>
                  <a:gd name="T30" fmla="*/ 43 w 61"/>
                  <a:gd name="T31" fmla="*/ 50 h 162"/>
                  <a:gd name="T32" fmla="*/ 53 w 61"/>
                  <a:gd name="T33" fmla="*/ 48 h 162"/>
                  <a:gd name="T34" fmla="*/ 60 w 61"/>
                  <a:gd name="T35" fmla="*/ 46 h 162"/>
                  <a:gd name="T36" fmla="*/ 57 w 61"/>
                  <a:gd name="T37" fmla="*/ 57 h 162"/>
                  <a:gd name="T38" fmla="*/ 53 w 61"/>
                  <a:gd name="T39" fmla="*/ 69 h 162"/>
                  <a:gd name="T40" fmla="*/ 46 w 61"/>
                  <a:gd name="T41" fmla="*/ 78 h 162"/>
                  <a:gd name="T42" fmla="*/ 39 w 61"/>
                  <a:gd name="T43" fmla="*/ 84 h 162"/>
                  <a:gd name="T44" fmla="*/ 29 w 61"/>
                  <a:gd name="T45" fmla="*/ 88 h 162"/>
                  <a:gd name="T46" fmla="*/ 19 w 61"/>
                  <a:gd name="T47" fmla="*/ 89 h 162"/>
                  <a:gd name="T48" fmla="*/ 30 w 61"/>
                  <a:gd name="T49" fmla="*/ 96 h 162"/>
                  <a:gd name="T50" fmla="*/ 38 w 61"/>
                  <a:gd name="T51" fmla="*/ 102 h 162"/>
                  <a:gd name="T52" fmla="*/ 41 w 61"/>
                  <a:gd name="T53" fmla="*/ 109 h 162"/>
                  <a:gd name="T54" fmla="*/ 45 w 61"/>
                  <a:gd name="T55" fmla="*/ 117 h 162"/>
                  <a:gd name="T56" fmla="*/ 45 w 61"/>
                  <a:gd name="T57" fmla="*/ 124 h 162"/>
                  <a:gd name="T58" fmla="*/ 47 w 61"/>
                  <a:gd name="T59" fmla="*/ 136 h 162"/>
                  <a:gd name="T60" fmla="*/ 34 w 61"/>
                  <a:gd name="T61" fmla="*/ 130 h 162"/>
                  <a:gd name="T62" fmla="*/ 26 w 61"/>
                  <a:gd name="T63" fmla="*/ 124 h 162"/>
                  <a:gd name="T64" fmla="*/ 22 w 61"/>
                  <a:gd name="T65" fmla="*/ 117 h 162"/>
                  <a:gd name="T66" fmla="*/ 15 w 61"/>
                  <a:gd name="T67" fmla="*/ 102 h 162"/>
                  <a:gd name="T68" fmla="*/ 21 w 61"/>
                  <a:gd name="T69" fmla="*/ 116 h 162"/>
                  <a:gd name="T70" fmla="*/ 23 w 61"/>
                  <a:gd name="T71" fmla="*/ 129 h 162"/>
                  <a:gd name="T72" fmla="*/ 24 w 61"/>
                  <a:gd name="T73" fmla="*/ 139 h 162"/>
                  <a:gd name="T74" fmla="*/ 22 w 61"/>
                  <a:gd name="T75" fmla="*/ 152 h 162"/>
                  <a:gd name="T76" fmla="*/ 22 w 61"/>
                  <a:gd name="T77" fmla="*/ 161 h 162"/>
                  <a:gd name="T78" fmla="*/ 10 w 61"/>
                  <a:gd name="T79" fmla="*/ 149 h 162"/>
                  <a:gd name="T80" fmla="*/ 5 w 61"/>
                  <a:gd name="T81" fmla="*/ 133 h 162"/>
                  <a:gd name="T82" fmla="*/ 3 w 61"/>
                  <a:gd name="T83" fmla="*/ 117 h 162"/>
                  <a:gd name="T84" fmla="*/ 6 w 61"/>
                  <a:gd name="T85" fmla="*/ 99 h 162"/>
                  <a:gd name="T86" fmla="*/ 6 w 61"/>
                  <a:gd name="T87" fmla="*/ 86 h 162"/>
                  <a:gd name="T88" fmla="*/ 6 w 61"/>
                  <a:gd name="T89" fmla="*/ 78 h 162"/>
                  <a:gd name="T90" fmla="*/ 6 w 61"/>
                  <a:gd name="T91" fmla="*/ 68 h 16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61"/>
                  <a:gd name="T139" fmla="*/ 0 h 162"/>
                  <a:gd name="T140" fmla="*/ 61 w 61"/>
                  <a:gd name="T141" fmla="*/ 162 h 16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61" h="162">
                    <a:moveTo>
                      <a:pt x="6" y="68"/>
                    </a:moveTo>
                    <a:lnTo>
                      <a:pt x="4" y="58"/>
                    </a:lnTo>
                    <a:lnTo>
                      <a:pt x="1" y="46"/>
                    </a:lnTo>
                    <a:lnTo>
                      <a:pt x="0" y="32"/>
                    </a:lnTo>
                    <a:lnTo>
                      <a:pt x="3" y="17"/>
                    </a:lnTo>
                    <a:lnTo>
                      <a:pt x="8" y="0"/>
                    </a:lnTo>
                    <a:lnTo>
                      <a:pt x="15" y="15"/>
                    </a:lnTo>
                    <a:lnTo>
                      <a:pt x="20" y="27"/>
                    </a:lnTo>
                    <a:lnTo>
                      <a:pt x="21" y="41"/>
                    </a:lnTo>
                    <a:lnTo>
                      <a:pt x="20" y="57"/>
                    </a:lnTo>
                    <a:lnTo>
                      <a:pt x="18" y="69"/>
                    </a:lnTo>
                    <a:lnTo>
                      <a:pt x="16" y="77"/>
                    </a:lnTo>
                    <a:lnTo>
                      <a:pt x="21" y="69"/>
                    </a:lnTo>
                    <a:lnTo>
                      <a:pt x="29" y="60"/>
                    </a:lnTo>
                    <a:lnTo>
                      <a:pt x="36" y="54"/>
                    </a:lnTo>
                    <a:lnTo>
                      <a:pt x="43" y="50"/>
                    </a:lnTo>
                    <a:lnTo>
                      <a:pt x="53" y="48"/>
                    </a:lnTo>
                    <a:lnTo>
                      <a:pt x="60" y="46"/>
                    </a:lnTo>
                    <a:lnTo>
                      <a:pt x="57" y="57"/>
                    </a:lnTo>
                    <a:lnTo>
                      <a:pt x="53" y="69"/>
                    </a:lnTo>
                    <a:lnTo>
                      <a:pt x="46" y="78"/>
                    </a:lnTo>
                    <a:lnTo>
                      <a:pt x="39" y="84"/>
                    </a:lnTo>
                    <a:lnTo>
                      <a:pt x="29" y="88"/>
                    </a:lnTo>
                    <a:lnTo>
                      <a:pt x="19" y="89"/>
                    </a:lnTo>
                    <a:lnTo>
                      <a:pt x="30" y="96"/>
                    </a:lnTo>
                    <a:lnTo>
                      <a:pt x="38" y="102"/>
                    </a:lnTo>
                    <a:lnTo>
                      <a:pt x="41" y="109"/>
                    </a:lnTo>
                    <a:lnTo>
                      <a:pt x="45" y="117"/>
                    </a:lnTo>
                    <a:lnTo>
                      <a:pt x="45" y="124"/>
                    </a:lnTo>
                    <a:lnTo>
                      <a:pt x="47" y="136"/>
                    </a:lnTo>
                    <a:lnTo>
                      <a:pt x="34" y="130"/>
                    </a:lnTo>
                    <a:lnTo>
                      <a:pt x="26" y="124"/>
                    </a:lnTo>
                    <a:lnTo>
                      <a:pt x="22" y="117"/>
                    </a:lnTo>
                    <a:lnTo>
                      <a:pt x="15" y="102"/>
                    </a:lnTo>
                    <a:lnTo>
                      <a:pt x="21" y="116"/>
                    </a:lnTo>
                    <a:lnTo>
                      <a:pt x="23" y="129"/>
                    </a:lnTo>
                    <a:lnTo>
                      <a:pt x="24" y="139"/>
                    </a:lnTo>
                    <a:lnTo>
                      <a:pt x="22" y="152"/>
                    </a:lnTo>
                    <a:lnTo>
                      <a:pt x="22" y="161"/>
                    </a:lnTo>
                    <a:lnTo>
                      <a:pt x="10" y="149"/>
                    </a:lnTo>
                    <a:lnTo>
                      <a:pt x="5" y="133"/>
                    </a:lnTo>
                    <a:lnTo>
                      <a:pt x="3" y="117"/>
                    </a:lnTo>
                    <a:lnTo>
                      <a:pt x="6" y="99"/>
                    </a:lnTo>
                    <a:lnTo>
                      <a:pt x="6" y="86"/>
                    </a:lnTo>
                    <a:lnTo>
                      <a:pt x="6" y="78"/>
                    </a:lnTo>
                    <a:lnTo>
                      <a:pt x="6" y="68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609" name="Freeform 268"/>
              <p:cNvSpPr>
                <a:spLocks/>
              </p:cNvSpPr>
              <p:nvPr/>
            </p:nvSpPr>
            <p:spPr bwMode="auto">
              <a:xfrm>
                <a:off x="512" y="3247"/>
                <a:ext cx="44" cy="74"/>
              </a:xfrm>
              <a:custGeom>
                <a:avLst/>
                <a:gdLst>
                  <a:gd name="T0" fmla="*/ 17 w 44"/>
                  <a:gd name="T1" fmla="*/ 65 h 74"/>
                  <a:gd name="T2" fmla="*/ 10 w 44"/>
                  <a:gd name="T3" fmla="*/ 59 h 74"/>
                  <a:gd name="T4" fmla="*/ 6 w 44"/>
                  <a:gd name="T5" fmla="*/ 52 h 74"/>
                  <a:gd name="T6" fmla="*/ 2 w 44"/>
                  <a:gd name="T7" fmla="*/ 44 h 74"/>
                  <a:gd name="T8" fmla="*/ 2 w 44"/>
                  <a:gd name="T9" fmla="*/ 37 h 74"/>
                  <a:gd name="T10" fmla="*/ 0 w 44"/>
                  <a:gd name="T11" fmla="*/ 26 h 74"/>
                  <a:gd name="T12" fmla="*/ 13 w 44"/>
                  <a:gd name="T13" fmla="*/ 31 h 74"/>
                  <a:gd name="T14" fmla="*/ 21 w 44"/>
                  <a:gd name="T15" fmla="*/ 38 h 74"/>
                  <a:gd name="T16" fmla="*/ 25 w 44"/>
                  <a:gd name="T17" fmla="*/ 44 h 74"/>
                  <a:gd name="T18" fmla="*/ 32 w 44"/>
                  <a:gd name="T19" fmla="*/ 59 h 74"/>
                  <a:gd name="T20" fmla="*/ 27 w 44"/>
                  <a:gd name="T21" fmla="*/ 46 h 74"/>
                  <a:gd name="T22" fmla="*/ 24 w 44"/>
                  <a:gd name="T23" fmla="*/ 32 h 74"/>
                  <a:gd name="T24" fmla="*/ 24 w 44"/>
                  <a:gd name="T25" fmla="*/ 22 h 74"/>
                  <a:gd name="T26" fmla="*/ 25 w 44"/>
                  <a:gd name="T27" fmla="*/ 10 h 74"/>
                  <a:gd name="T28" fmla="*/ 25 w 44"/>
                  <a:gd name="T29" fmla="*/ 0 h 74"/>
                  <a:gd name="T30" fmla="*/ 36 w 44"/>
                  <a:gd name="T31" fmla="*/ 13 h 74"/>
                  <a:gd name="T32" fmla="*/ 42 w 44"/>
                  <a:gd name="T33" fmla="*/ 28 h 74"/>
                  <a:gd name="T34" fmla="*/ 43 w 44"/>
                  <a:gd name="T35" fmla="*/ 44 h 74"/>
                  <a:gd name="T36" fmla="*/ 43 w 44"/>
                  <a:gd name="T37" fmla="*/ 72 h 74"/>
                  <a:gd name="T38" fmla="*/ 30 w 44"/>
                  <a:gd name="T39" fmla="*/ 73 h 74"/>
                  <a:gd name="T40" fmla="*/ 17 w 44"/>
                  <a:gd name="T41" fmla="*/ 65 h 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4"/>
                  <a:gd name="T64" fmla="*/ 0 h 74"/>
                  <a:gd name="T65" fmla="*/ 44 w 44"/>
                  <a:gd name="T66" fmla="*/ 74 h 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4" h="74">
                    <a:moveTo>
                      <a:pt x="17" y="65"/>
                    </a:moveTo>
                    <a:lnTo>
                      <a:pt x="10" y="59"/>
                    </a:lnTo>
                    <a:lnTo>
                      <a:pt x="6" y="52"/>
                    </a:lnTo>
                    <a:lnTo>
                      <a:pt x="2" y="44"/>
                    </a:lnTo>
                    <a:lnTo>
                      <a:pt x="2" y="37"/>
                    </a:lnTo>
                    <a:lnTo>
                      <a:pt x="0" y="26"/>
                    </a:lnTo>
                    <a:lnTo>
                      <a:pt x="13" y="31"/>
                    </a:lnTo>
                    <a:lnTo>
                      <a:pt x="21" y="38"/>
                    </a:lnTo>
                    <a:lnTo>
                      <a:pt x="25" y="44"/>
                    </a:lnTo>
                    <a:lnTo>
                      <a:pt x="32" y="59"/>
                    </a:lnTo>
                    <a:lnTo>
                      <a:pt x="27" y="46"/>
                    </a:lnTo>
                    <a:lnTo>
                      <a:pt x="24" y="32"/>
                    </a:lnTo>
                    <a:lnTo>
                      <a:pt x="24" y="22"/>
                    </a:lnTo>
                    <a:lnTo>
                      <a:pt x="25" y="10"/>
                    </a:lnTo>
                    <a:lnTo>
                      <a:pt x="25" y="0"/>
                    </a:lnTo>
                    <a:lnTo>
                      <a:pt x="36" y="13"/>
                    </a:lnTo>
                    <a:lnTo>
                      <a:pt x="42" y="28"/>
                    </a:lnTo>
                    <a:lnTo>
                      <a:pt x="43" y="44"/>
                    </a:lnTo>
                    <a:lnTo>
                      <a:pt x="43" y="72"/>
                    </a:lnTo>
                    <a:lnTo>
                      <a:pt x="30" y="73"/>
                    </a:lnTo>
                    <a:lnTo>
                      <a:pt x="17" y="6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610" name="Oval 269"/>
              <p:cNvSpPr>
                <a:spLocks noChangeArrowheads="1"/>
              </p:cNvSpPr>
              <p:nvPr/>
            </p:nvSpPr>
            <p:spPr bwMode="auto">
              <a:xfrm>
                <a:off x="530" y="3266"/>
                <a:ext cx="79" cy="151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11" name="Freeform 270"/>
              <p:cNvSpPr>
                <a:spLocks/>
              </p:cNvSpPr>
              <p:nvPr/>
            </p:nvSpPr>
            <p:spPr bwMode="auto">
              <a:xfrm>
                <a:off x="547" y="3291"/>
                <a:ext cx="53" cy="93"/>
              </a:xfrm>
              <a:custGeom>
                <a:avLst/>
                <a:gdLst>
                  <a:gd name="T0" fmla="*/ 2 w 53"/>
                  <a:gd name="T1" fmla="*/ 9 h 93"/>
                  <a:gd name="T2" fmla="*/ 5 w 53"/>
                  <a:gd name="T3" fmla="*/ 9 h 93"/>
                  <a:gd name="T4" fmla="*/ 10 w 53"/>
                  <a:gd name="T5" fmla="*/ 8 h 93"/>
                  <a:gd name="T6" fmla="*/ 13 w 53"/>
                  <a:gd name="T7" fmla="*/ 5 h 93"/>
                  <a:gd name="T8" fmla="*/ 15 w 53"/>
                  <a:gd name="T9" fmla="*/ 3 h 93"/>
                  <a:gd name="T10" fmla="*/ 18 w 53"/>
                  <a:gd name="T11" fmla="*/ 0 h 93"/>
                  <a:gd name="T12" fmla="*/ 41 w 53"/>
                  <a:gd name="T13" fmla="*/ 0 h 93"/>
                  <a:gd name="T14" fmla="*/ 41 w 53"/>
                  <a:gd name="T15" fmla="*/ 77 h 93"/>
                  <a:gd name="T16" fmla="*/ 43 w 53"/>
                  <a:gd name="T17" fmla="*/ 82 h 93"/>
                  <a:gd name="T18" fmla="*/ 45 w 53"/>
                  <a:gd name="T19" fmla="*/ 85 h 93"/>
                  <a:gd name="T20" fmla="*/ 49 w 53"/>
                  <a:gd name="T21" fmla="*/ 88 h 93"/>
                  <a:gd name="T22" fmla="*/ 52 w 53"/>
                  <a:gd name="T23" fmla="*/ 88 h 93"/>
                  <a:gd name="T24" fmla="*/ 52 w 53"/>
                  <a:gd name="T25" fmla="*/ 92 h 93"/>
                  <a:gd name="T26" fmla="*/ 0 w 53"/>
                  <a:gd name="T27" fmla="*/ 92 h 93"/>
                  <a:gd name="T28" fmla="*/ 0 w 53"/>
                  <a:gd name="T29" fmla="*/ 88 h 93"/>
                  <a:gd name="T30" fmla="*/ 3 w 53"/>
                  <a:gd name="T31" fmla="*/ 88 h 93"/>
                  <a:gd name="T32" fmla="*/ 8 w 53"/>
                  <a:gd name="T33" fmla="*/ 85 h 93"/>
                  <a:gd name="T34" fmla="*/ 10 w 53"/>
                  <a:gd name="T35" fmla="*/ 82 h 93"/>
                  <a:gd name="T36" fmla="*/ 11 w 53"/>
                  <a:gd name="T37" fmla="*/ 77 h 93"/>
                  <a:gd name="T38" fmla="*/ 11 w 53"/>
                  <a:gd name="T39" fmla="*/ 19 h 93"/>
                  <a:gd name="T40" fmla="*/ 10 w 53"/>
                  <a:gd name="T41" fmla="*/ 16 h 93"/>
                  <a:gd name="T42" fmla="*/ 8 w 53"/>
                  <a:gd name="T43" fmla="*/ 13 h 93"/>
                  <a:gd name="T44" fmla="*/ 4 w 53"/>
                  <a:gd name="T45" fmla="*/ 12 h 93"/>
                  <a:gd name="T46" fmla="*/ 2 w 53"/>
                  <a:gd name="T47" fmla="*/ 12 h 93"/>
                  <a:gd name="T48" fmla="*/ 2 w 53"/>
                  <a:gd name="T49" fmla="*/ 9 h 9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3"/>
                  <a:gd name="T76" fmla="*/ 0 h 93"/>
                  <a:gd name="T77" fmla="*/ 53 w 53"/>
                  <a:gd name="T78" fmla="*/ 93 h 9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3" h="93">
                    <a:moveTo>
                      <a:pt x="2" y="9"/>
                    </a:moveTo>
                    <a:lnTo>
                      <a:pt x="5" y="9"/>
                    </a:lnTo>
                    <a:lnTo>
                      <a:pt x="10" y="8"/>
                    </a:lnTo>
                    <a:lnTo>
                      <a:pt x="13" y="5"/>
                    </a:lnTo>
                    <a:lnTo>
                      <a:pt x="15" y="3"/>
                    </a:lnTo>
                    <a:lnTo>
                      <a:pt x="18" y="0"/>
                    </a:lnTo>
                    <a:lnTo>
                      <a:pt x="41" y="0"/>
                    </a:lnTo>
                    <a:lnTo>
                      <a:pt x="41" y="77"/>
                    </a:lnTo>
                    <a:lnTo>
                      <a:pt x="43" y="82"/>
                    </a:lnTo>
                    <a:lnTo>
                      <a:pt x="45" y="85"/>
                    </a:lnTo>
                    <a:lnTo>
                      <a:pt x="49" y="88"/>
                    </a:lnTo>
                    <a:lnTo>
                      <a:pt x="52" y="88"/>
                    </a:lnTo>
                    <a:lnTo>
                      <a:pt x="52" y="92"/>
                    </a:lnTo>
                    <a:lnTo>
                      <a:pt x="0" y="92"/>
                    </a:lnTo>
                    <a:lnTo>
                      <a:pt x="0" y="88"/>
                    </a:lnTo>
                    <a:lnTo>
                      <a:pt x="3" y="88"/>
                    </a:lnTo>
                    <a:lnTo>
                      <a:pt x="8" y="85"/>
                    </a:lnTo>
                    <a:lnTo>
                      <a:pt x="10" y="82"/>
                    </a:lnTo>
                    <a:lnTo>
                      <a:pt x="11" y="77"/>
                    </a:lnTo>
                    <a:lnTo>
                      <a:pt x="11" y="19"/>
                    </a:lnTo>
                    <a:lnTo>
                      <a:pt x="10" y="16"/>
                    </a:lnTo>
                    <a:lnTo>
                      <a:pt x="8" y="13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2" y="9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24" name="Group 271"/>
            <p:cNvGrpSpPr>
              <a:grpSpLocks/>
            </p:cNvGrpSpPr>
            <p:nvPr/>
          </p:nvGrpSpPr>
          <p:grpSpPr bwMode="auto">
            <a:xfrm>
              <a:off x="1297" y="3485"/>
              <a:ext cx="169" cy="194"/>
              <a:chOff x="1297" y="3247"/>
              <a:chExt cx="162" cy="177"/>
            </a:xfrm>
          </p:grpSpPr>
          <p:sp>
            <p:nvSpPr>
              <p:cNvPr id="100604" name="Freeform 272"/>
              <p:cNvSpPr>
                <a:spLocks/>
              </p:cNvSpPr>
              <p:nvPr/>
            </p:nvSpPr>
            <p:spPr bwMode="auto">
              <a:xfrm>
                <a:off x="1297" y="3262"/>
                <a:ext cx="62" cy="162"/>
              </a:xfrm>
              <a:custGeom>
                <a:avLst/>
                <a:gdLst>
                  <a:gd name="T0" fmla="*/ 55 w 62"/>
                  <a:gd name="T1" fmla="*/ 68 h 162"/>
                  <a:gd name="T2" fmla="*/ 57 w 62"/>
                  <a:gd name="T3" fmla="*/ 58 h 162"/>
                  <a:gd name="T4" fmla="*/ 59 w 62"/>
                  <a:gd name="T5" fmla="*/ 46 h 162"/>
                  <a:gd name="T6" fmla="*/ 61 w 62"/>
                  <a:gd name="T7" fmla="*/ 32 h 162"/>
                  <a:gd name="T8" fmla="*/ 58 w 62"/>
                  <a:gd name="T9" fmla="*/ 17 h 162"/>
                  <a:gd name="T10" fmla="*/ 53 w 62"/>
                  <a:gd name="T11" fmla="*/ 0 h 162"/>
                  <a:gd name="T12" fmla="*/ 46 w 62"/>
                  <a:gd name="T13" fmla="*/ 15 h 162"/>
                  <a:gd name="T14" fmla="*/ 41 w 62"/>
                  <a:gd name="T15" fmla="*/ 27 h 162"/>
                  <a:gd name="T16" fmla="*/ 40 w 62"/>
                  <a:gd name="T17" fmla="*/ 41 h 162"/>
                  <a:gd name="T18" fmla="*/ 41 w 62"/>
                  <a:gd name="T19" fmla="*/ 57 h 162"/>
                  <a:gd name="T20" fmla="*/ 42 w 62"/>
                  <a:gd name="T21" fmla="*/ 69 h 162"/>
                  <a:gd name="T22" fmla="*/ 45 w 62"/>
                  <a:gd name="T23" fmla="*/ 77 h 162"/>
                  <a:gd name="T24" fmla="*/ 40 w 62"/>
                  <a:gd name="T25" fmla="*/ 69 h 162"/>
                  <a:gd name="T26" fmla="*/ 32 w 62"/>
                  <a:gd name="T27" fmla="*/ 60 h 162"/>
                  <a:gd name="T28" fmla="*/ 24 w 62"/>
                  <a:gd name="T29" fmla="*/ 54 h 162"/>
                  <a:gd name="T30" fmla="*/ 18 w 62"/>
                  <a:gd name="T31" fmla="*/ 50 h 162"/>
                  <a:gd name="T32" fmla="*/ 8 w 62"/>
                  <a:gd name="T33" fmla="*/ 48 h 162"/>
                  <a:gd name="T34" fmla="*/ 0 w 62"/>
                  <a:gd name="T35" fmla="*/ 46 h 162"/>
                  <a:gd name="T36" fmla="*/ 4 w 62"/>
                  <a:gd name="T37" fmla="*/ 57 h 162"/>
                  <a:gd name="T38" fmla="*/ 8 w 62"/>
                  <a:gd name="T39" fmla="*/ 69 h 162"/>
                  <a:gd name="T40" fmla="*/ 15 w 62"/>
                  <a:gd name="T41" fmla="*/ 78 h 162"/>
                  <a:gd name="T42" fmla="*/ 21 w 62"/>
                  <a:gd name="T43" fmla="*/ 84 h 162"/>
                  <a:gd name="T44" fmla="*/ 32 w 62"/>
                  <a:gd name="T45" fmla="*/ 88 h 162"/>
                  <a:gd name="T46" fmla="*/ 42 w 62"/>
                  <a:gd name="T47" fmla="*/ 89 h 162"/>
                  <a:gd name="T48" fmla="*/ 31 w 62"/>
                  <a:gd name="T49" fmla="*/ 96 h 162"/>
                  <a:gd name="T50" fmla="*/ 24 w 62"/>
                  <a:gd name="T51" fmla="*/ 102 h 162"/>
                  <a:gd name="T52" fmla="*/ 20 w 62"/>
                  <a:gd name="T53" fmla="*/ 109 h 162"/>
                  <a:gd name="T54" fmla="*/ 16 w 62"/>
                  <a:gd name="T55" fmla="*/ 117 h 162"/>
                  <a:gd name="T56" fmla="*/ 16 w 62"/>
                  <a:gd name="T57" fmla="*/ 124 h 162"/>
                  <a:gd name="T58" fmla="*/ 14 w 62"/>
                  <a:gd name="T59" fmla="*/ 136 h 162"/>
                  <a:gd name="T60" fmla="*/ 27 w 62"/>
                  <a:gd name="T61" fmla="*/ 130 h 162"/>
                  <a:gd name="T62" fmla="*/ 35 w 62"/>
                  <a:gd name="T63" fmla="*/ 124 h 162"/>
                  <a:gd name="T64" fmla="*/ 39 w 62"/>
                  <a:gd name="T65" fmla="*/ 117 h 162"/>
                  <a:gd name="T66" fmla="*/ 46 w 62"/>
                  <a:gd name="T67" fmla="*/ 102 h 162"/>
                  <a:gd name="T68" fmla="*/ 40 w 62"/>
                  <a:gd name="T69" fmla="*/ 116 h 162"/>
                  <a:gd name="T70" fmla="*/ 38 w 62"/>
                  <a:gd name="T71" fmla="*/ 129 h 162"/>
                  <a:gd name="T72" fmla="*/ 37 w 62"/>
                  <a:gd name="T73" fmla="*/ 139 h 162"/>
                  <a:gd name="T74" fmla="*/ 39 w 62"/>
                  <a:gd name="T75" fmla="*/ 152 h 162"/>
                  <a:gd name="T76" fmla="*/ 39 w 62"/>
                  <a:gd name="T77" fmla="*/ 161 h 162"/>
                  <a:gd name="T78" fmla="*/ 51 w 62"/>
                  <a:gd name="T79" fmla="*/ 149 h 162"/>
                  <a:gd name="T80" fmla="*/ 56 w 62"/>
                  <a:gd name="T81" fmla="*/ 133 h 162"/>
                  <a:gd name="T82" fmla="*/ 58 w 62"/>
                  <a:gd name="T83" fmla="*/ 117 h 162"/>
                  <a:gd name="T84" fmla="*/ 55 w 62"/>
                  <a:gd name="T85" fmla="*/ 99 h 162"/>
                  <a:gd name="T86" fmla="*/ 55 w 62"/>
                  <a:gd name="T87" fmla="*/ 86 h 162"/>
                  <a:gd name="T88" fmla="*/ 55 w 62"/>
                  <a:gd name="T89" fmla="*/ 78 h 162"/>
                  <a:gd name="T90" fmla="*/ 55 w 62"/>
                  <a:gd name="T91" fmla="*/ 68 h 16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62"/>
                  <a:gd name="T139" fmla="*/ 0 h 162"/>
                  <a:gd name="T140" fmla="*/ 62 w 62"/>
                  <a:gd name="T141" fmla="*/ 162 h 16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62" h="162">
                    <a:moveTo>
                      <a:pt x="55" y="68"/>
                    </a:moveTo>
                    <a:lnTo>
                      <a:pt x="57" y="58"/>
                    </a:lnTo>
                    <a:lnTo>
                      <a:pt x="59" y="46"/>
                    </a:lnTo>
                    <a:lnTo>
                      <a:pt x="61" y="32"/>
                    </a:lnTo>
                    <a:lnTo>
                      <a:pt x="58" y="17"/>
                    </a:lnTo>
                    <a:lnTo>
                      <a:pt x="53" y="0"/>
                    </a:lnTo>
                    <a:lnTo>
                      <a:pt x="46" y="15"/>
                    </a:lnTo>
                    <a:lnTo>
                      <a:pt x="41" y="27"/>
                    </a:lnTo>
                    <a:lnTo>
                      <a:pt x="40" y="41"/>
                    </a:lnTo>
                    <a:lnTo>
                      <a:pt x="41" y="57"/>
                    </a:lnTo>
                    <a:lnTo>
                      <a:pt x="42" y="69"/>
                    </a:lnTo>
                    <a:lnTo>
                      <a:pt x="45" y="77"/>
                    </a:lnTo>
                    <a:lnTo>
                      <a:pt x="40" y="69"/>
                    </a:lnTo>
                    <a:lnTo>
                      <a:pt x="32" y="60"/>
                    </a:lnTo>
                    <a:lnTo>
                      <a:pt x="24" y="54"/>
                    </a:lnTo>
                    <a:lnTo>
                      <a:pt x="18" y="50"/>
                    </a:lnTo>
                    <a:lnTo>
                      <a:pt x="8" y="48"/>
                    </a:lnTo>
                    <a:lnTo>
                      <a:pt x="0" y="46"/>
                    </a:lnTo>
                    <a:lnTo>
                      <a:pt x="4" y="57"/>
                    </a:lnTo>
                    <a:lnTo>
                      <a:pt x="8" y="69"/>
                    </a:lnTo>
                    <a:lnTo>
                      <a:pt x="15" y="78"/>
                    </a:lnTo>
                    <a:lnTo>
                      <a:pt x="21" y="84"/>
                    </a:lnTo>
                    <a:lnTo>
                      <a:pt x="32" y="88"/>
                    </a:lnTo>
                    <a:lnTo>
                      <a:pt x="42" y="89"/>
                    </a:lnTo>
                    <a:lnTo>
                      <a:pt x="31" y="96"/>
                    </a:lnTo>
                    <a:lnTo>
                      <a:pt x="24" y="102"/>
                    </a:lnTo>
                    <a:lnTo>
                      <a:pt x="20" y="109"/>
                    </a:lnTo>
                    <a:lnTo>
                      <a:pt x="16" y="117"/>
                    </a:lnTo>
                    <a:lnTo>
                      <a:pt x="16" y="124"/>
                    </a:lnTo>
                    <a:lnTo>
                      <a:pt x="14" y="136"/>
                    </a:lnTo>
                    <a:lnTo>
                      <a:pt x="27" y="130"/>
                    </a:lnTo>
                    <a:lnTo>
                      <a:pt x="35" y="124"/>
                    </a:lnTo>
                    <a:lnTo>
                      <a:pt x="39" y="117"/>
                    </a:lnTo>
                    <a:lnTo>
                      <a:pt x="46" y="102"/>
                    </a:lnTo>
                    <a:lnTo>
                      <a:pt x="40" y="116"/>
                    </a:lnTo>
                    <a:lnTo>
                      <a:pt x="38" y="129"/>
                    </a:lnTo>
                    <a:lnTo>
                      <a:pt x="37" y="139"/>
                    </a:lnTo>
                    <a:lnTo>
                      <a:pt x="39" y="152"/>
                    </a:lnTo>
                    <a:lnTo>
                      <a:pt x="39" y="161"/>
                    </a:lnTo>
                    <a:lnTo>
                      <a:pt x="51" y="149"/>
                    </a:lnTo>
                    <a:lnTo>
                      <a:pt x="56" y="133"/>
                    </a:lnTo>
                    <a:lnTo>
                      <a:pt x="58" y="117"/>
                    </a:lnTo>
                    <a:lnTo>
                      <a:pt x="55" y="99"/>
                    </a:lnTo>
                    <a:lnTo>
                      <a:pt x="55" y="86"/>
                    </a:lnTo>
                    <a:lnTo>
                      <a:pt x="55" y="78"/>
                    </a:lnTo>
                    <a:lnTo>
                      <a:pt x="55" y="68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605" name="Freeform 273"/>
              <p:cNvSpPr>
                <a:spLocks/>
              </p:cNvSpPr>
              <p:nvPr/>
            </p:nvSpPr>
            <p:spPr bwMode="auto">
              <a:xfrm>
                <a:off x="1414" y="3247"/>
                <a:ext cx="45" cy="74"/>
              </a:xfrm>
              <a:custGeom>
                <a:avLst/>
                <a:gdLst>
                  <a:gd name="T0" fmla="*/ 27 w 45"/>
                  <a:gd name="T1" fmla="*/ 65 h 74"/>
                  <a:gd name="T2" fmla="*/ 34 w 45"/>
                  <a:gd name="T3" fmla="*/ 59 h 74"/>
                  <a:gd name="T4" fmla="*/ 38 w 45"/>
                  <a:gd name="T5" fmla="*/ 52 h 74"/>
                  <a:gd name="T6" fmla="*/ 42 w 45"/>
                  <a:gd name="T7" fmla="*/ 44 h 74"/>
                  <a:gd name="T8" fmla="*/ 42 w 45"/>
                  <a:gd name="T9" fmla="*/ 37 h 74"/>
                  <a:gd name="T10" fmla="*/ 44 w 45"/>
                  <a:gd name="T11" fmla="*/ 26 h 74"/>
                  <a:gd name="T12" fmla="*/ 31 w 45"/>
                  <a:gd name="T13" fmla="*/ 31 h 74"/>
                  <a:gd name="T14" fmla="*/ 23 w 45"/>
                  <a:gd name="T15" fmla="*/ 38 h 74"/>
                  <a:gd name="T16" fmla="*/ 19 w 45"/>
                  <a:gd name="T17" fmla="*/ 44 h 74"/>
                  <a:gd name="T18" fmla="*/ 12 w 45"/>
                  <a:gd name="T19" fmla="*/ 59 h 74"/>
                  <a:gd name="T20" fmla="*/ 18 w 45"/>
                  <a:gd name="T21" fmla="*/ 46 h 74"/>
                  <a:gd name="T22" fmla="*/ 19 w 45"/>
                  <a:gd name="T23" fmla="*/ 32 h 74"/>
                  <a:gd name="T24" fmla="*/ 20 w 45"/>
                  <a:gd name="T25" fmla="*/ 22 h 74"/>
                  <a:gd name="T26" fmla="*/ 19 w 45"/>
                  <a:gd name="T27" fmla="*/ 10 h 74"/>
                  <a:gd name="T28" fmla="*/ 19 w 45"/>
                  <a:gd name="T29" fmla="*/ 0 h 74"/>
                  <a:gd name="T30" fmla="*/ 8 w 45"/>
                  <a:gd name="T31" fmla="*/ 13 h 74"/>
                  <a:gd name="T32" fmla="*/ 2 w 45"/>
                  <a:gd name="T33" fmla="*/ 28 h 74"/>
                  <a:gd name="T34" fmla="*/ 1 w 45"/>
                  <a:gd name="T35" fmla="*/ 44 h 74"/>
                  <a:gd name="T36" fmla="*/ 0 w 45"/>
                  <a:gd name="T37" fmla="*/ 72 h 74"/>
                  <a:gd name="T38" fmla="*/ 14 w 45"/>
                  <a:gd name="T39" fmla="*/ 73 h 74"/>
                  <a:gd name="T40" fmla="*/ 27 w 45"/>
                  <a:gd name="T41" fmla="*/ 65 h 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5"/>
                  <a:gd name="T64" fmla="*/ 0 h 74"/>
                  <a:gd name="T65" fmla="*/ 45 w 45"/>
                  <a:gd name="T66" fmla="*/ 74 h 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5" h="74">
                    <a:moveTo>
                      <a:pt x="27" y="65"/>
                    </a:moveTo>
                    <a:lnTo>
                      <a:pt x="34" y="59"/>
                    </a:lnTo>
                    <a:lnTo>
                      <a:pt x="38" y="52"/>
                    </a:lnTo>
                    <a:lnTo>
                      <a:pt x="42" y="44"/>
                    </a:lnTo>
                    <a:lnTo>
                      <a:pt x="42" y="37"/>
                    </a:lnTo>
                    <a:lnTo>
                      <a:pt x="44" y="26"/>
                    </a:lnTo>
                    <a:lnTo>
                      <a:pt x="31" y="31"/>
                    </a:lnTo>
                    <a:lnTo>
                      <a:pt x="23" y="38"/>
                    </a:lnTo>
                    <a:lnTo>
                      <a:pt x="19" y="44"/>
                    </a:lnTo>
                    <a:lnTo>
                      <a:pt x="12" y="59"/>
                    </a:lnTo>
                    <a:lnTo>
                      <a:pt x="18" y="46"/>
                    </a:lnTo>
                    <a:lnTo>
                      <a:pt x="19" y="32"/>
                    </a:lnTo>
                    <a:lnTo>
                      <a:pt x="20" y="22"/>
                    </a:lnTo>
                    <a:lnTo>
                      <a:pt x="19" y="10"/>
                    </a:lnTo>
                    <a:lnTo>
                      <a:pt x="19" y="0"/>
                    </a:lnTo>
                    <a:lnTo>
                      <a:pt x="8" y="13"/>
                    </a:lnTo>
                    <a:lnTo>
                      <a:pt x="2" y="28"/>
                    </a:lnTo>
                    <a:lnTo>
                      <a:pt x="1" y="44"/>
                    </a:lnTo>
                    <a:lnTo>
                      <a:pt x="0" y="72"/>
                    </a:lnTo>
                    <a:lnTo>
                      <a:pt x="14" y="73"/>
                    </a:lnTo>
                    <a:lnTo>
                      <a:pt x="27" y="6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606" name="Oval 274"/>
              <p:cNvSpPr>
                <a:spLocks noChangeArrowheads="1"/>
              </p:cNvSpPr>
              <p:nvPr/>
            </p:nvSpPr>
            <p:spPr bwMode="auto">
              <a:xfrm>
                <a:off x="1353" y="3266"/>
                <a:ext cx="79" cy="151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07" name="Freeform 275"/>
              <p:cNvSpPr>
                <a:spLocks/>
              </p:cNvSpPr>
              <p:nvPr/>
            </p:nvSpPr>
            <p:spPr bwMode="auto">
              <a:xfrm>
                <a:off x="1371" y="3291"/>
                <a:ext cx="53" cy="93"/>
              </a:xfrm>
              <a:custGeom>
                <a:avLst/>
                <a:gdLst>
                  <a:gd name="T0" fmla="*/ 1 w 53"/>
                  <a:gd name="T1" fmla="*/ 9 h 93"/>
                  <a:gd name="T2" fmla="*/ 5 w 53"/>
                  <a:gd name="T3" fmla="*/ 9 h 93"/>
                  <a:gd name="T4" fmla="*/ 9 w 53"/>
                  <a:gd name="T5" fmla="*/ 8 h 93"/>
                  <a:gd name="T6" fmla="*/ 13 w 53"/>
                  <a:gd name="T7" fmla="*/ 5 h 93"/>
                  <a:gd name="T8" fmla="*/ 15 w 53"/>
                  <a:gd name="T9" fmla="*/ 3 h 93"/>
                  <a:gd name="T10" fmla="*/ 17 w 53"/>
                  <a:gd name="T11" fmla="*/ 0 h 93"/>
                  <a:gd name="T12" fmla="*/ 41 w 53"/>
                  <a:gd name="T13" fmla="*/ 0 h 93"/>
                  <a:gd name="T14" fmla="*/ 41 w 53"/>
                  <a:gd name="T15" fmla="*/ 77 h 93"/>
                  <a:gd name="T16" fmla="*/ 42 w 53"/>
                  <a:gd name="T17" fmla="*/ 82 h 93"/>
                  <a:gd name="T18" fmla="*/ 45 w 53"/>
                  <a:gd name="T19" fmla="*/ 85 h 93"/>
                  <a:gd name="T20" fmla="*/ 49 w 53"/>
                  <a:gd name="T21" fmla="*/ 88 h 93"/>
                  <a:gd name="T22" fmla="*/ 52 w 53"/>
                  <a:gd name="T23" fmla="*/ 88 h 93"/>
                  <a:gd name="T24" fmla="*/ 52 w 53"/>
                  <a:gd name="T25" fmla="*/ 92 h 93"/>
                  <a:gd name="T26" fmla="*/ 0 w 53"/>
                  <a:gd name="T27" fmla="*/ 92 h 93"/>
                  <a:gd name="T28" fmla="*/ 0 w 53"/>
                  <a:gd name="T29" fmla="*/ 88 h 93"/>
                  <a:gd name="T30" fmla="*/ 3 w 53"/>
                  <a:gd name="T31" fmla="*/ 88 h 93"/>
                  <a:gd name="T32" fmla="*/ 7 w 53"/>
                  <a:gd name="T33" fmla="*/ 85 h 93"/>
                  <a:gd name="T34" fmla="*/ 9 w 53"/>
                  <a:gd name="T35" fmla="*/ 82 h 93"/>
                  <a:gd name="T36" fmla="*/ 10 w 53"/>
                  <a:gd name="T37" fmla="*/ 77 h 93"/>
                  <a:gd name="T38" fmla="*/ 10 w 53"/>
                  <a:gd name="T39" fmla="*/ 19 h 93"/>
                  <a:gd name="T40" fmla="*/ 9 w 53"/>
                  <a:gd name="T41" fmla="*/ 16 h 93"/>
                  <a:gd name="T42" fmla="*/ 7 w 53"/>
                  <a:gd name="T43" fmla="*/ 13 h 93"/>
                  <a:gd name="T44" fmla="*/ 4 w 53"/>
                  <a:gd name="T45" fmla="*/ 12 h 93"/>
                  <a:gd name="T46" fmla="*/ 1 w 53"/>
                  <a:gd name="T47" fmla="*/ 12 h 93"/>
                  <a:gd name="T48" fmla="*/ 1 w 53"/>
                  <a:gd name="T49" fmla="*/ 9 h 9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3"/>
                  <a:gd name="T76" fmla="*/ 0 h 93"/>
                  <a:gd name="T77" fmla="*/ 53 w 53"/>
                  <a:gd name="T78" fmla="*/ 93 h 9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3" h="93">
                    <a:moveTo>
                      <a:pt x="1" y="9"/>
                    </a:moveTo>
                    <a:lnTo>
                      <a:pt x="5" y="9"/>
                    </a:lnTo>
                    <a:lnTo>
                      <a:pt x="9" y="8"/>
                    </a:lnTo>
                    <a:lnTo>
                      <a:pt x="13" y="5"/>
                    </a:lnTo>
                    <a:lnTo>
                      <a:pt x="15" y="3"/>
                    </a:lnTo>
                    <a:lnTo>
                      <a:pt x="17" y="0"/>
                    </a:lnTo>
                    <a:lnTo>
                      <a:pt x="41" y="0"/>
                    </a:lnTo>
                    <a:lnTo>
                      <a:pt x="41" y="77"/>
                    </a:lnTo>
                    <a:lnTo>
                      <a:pt x="42" y="82"/>
                    </a:lnTo>
                    <a:lnTo>
                      <a:pt x="45" y="85"/>
                    </a:lnTo>
                    <a:lnTo>
                      <a:pt x="49" y="88"/>
                    </a:lnTo>
                    <a:lnTo>
                      <a:pt x="52" y="88"/>
                    </a:lnTo>
                    <a:lnTo>
                      <a:pt x="52" y="92"/>
                    </a:lnTo>
                    <a:lnTo>
                      <a:pt x="0" y="92"/>
                    </a:lnTo>
                    <a:lnTo>
                      <a:pt x="0" y="88"/>
                    </a:lnTo>
                    <a:lnTo>
                      <a:pt x="3" y="88"/>
                    </a:lnTo>
                    <a:lnTo>
                      <a:pt x="7" y="85"/>
                    </a:lnTo>
                    <a:lnTo>
                      <a:pt x="9" y="82"/>
                    </a:lnTo>
                    <a:lnTo>
                      <a:pt x="10" y="77"/>
                    </a:lnTo>
                    <a:lnTo>
                      <a:pt x="10" y="19"/>
                    </a:lnTo>
                    <a:lnTo>
                      <a:pt x="9" y="16"/>
                    </a:lnTo>
                    <a:lnTo>
                      <a:pt x="7" y="13"/>
                    </a:lnTo>
                    <a:lnTo>
                      <a:pt x="4" y="12"/>
                    </a:lnTo>
                    <a:lnTo>
                      <a:pt x="1" y="12"/>
                    </a:lnTo>
                    <a:lnTo>
                      <a:pt x="1" y="9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25" name="Oval 276"/>
            <p:cNvSpPr>
              <a:spLocks noChangeArrowheads="1"/>
            </p:cNvSpPr>
            <p:nvPr/>
          </p:nvSpPr>
          <p:spPr bwMode="auto">
            <a:xfrm>
              <a:off x="516" y="3814"/>
              <a:ext cx="77" cy="119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26" name="Oval 277"/>
            <p:cNvSpPr>
              <a:spLocks noChangeArrowheads="1"/>
            </p:cNvSpPr>
            <p:nvPr/>
          </p:nvSpPr>
          <p:spPr bwMode="auto">
            <a:xfrm>
              <a:off x="526" y="3828"/>
              <a:ext cx="56" cy="90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27" name="Freeform 278"/>
            <p:cNvSpPr>
              <a:spLocks/>
            </p:cNvSpPr>
            <p:nvPr/>
          </p:nvSpPr>
          <p:spPr bwMode="auto">
            <a:xfrm>
              <a:off x="540" y="3843"/>
              <a:ext cx="47" cy="66"/>
            </a:xfrm>
            <a:custGeom>
              <a:avLst/>
              <a:gdLst>
                <a:gd name="T0" fmla="*/ 1 w 34"/>
                <a:gd name="T1" fmla="*/ 8 h 60"/>
                <a:gd name="T2" fmla="*/ 8 w 34"/>
                <a:gd name="T3" fmla="*/ 8 h 60"/>
                <a:gd name="T4" fmla="*/ 11 w 34"/>
                <a:gd name="T5" fmla="*/ 7 h 60"/>
                <a:gd name="T6" fmla="*/ 15 w 34"/>
                <a:gd name="T7" fmla="*/ 4 h 60"/>
                <a:gd name="T8" fmla="*/ 19 w 34"/>
                <a:gd name="T9" fmla="*/ 2 h 60"/>
                <a:gd name="T10" fmla="*/ 21 w 34"/>
                <a:gd name="T11" fmla="*/ 0 h 60"/>
                <a:gd name="T12" fmla="*/ 51 w 34"/>
                <a:gd name="T13" fmla="*/ 0 h 60"/>
                <a:gd name="T14" fmla="*/ 51 w 34"/>
                <a:gd name="T15" fmla="*/ 61 h 60"/>
                <a:gd name="T16" fmla="*/ 51 w 34"/>
                <a:gd name="T17" fmla="*/ 64 h 60"/>
                <a:gd name="T18" fmla="*/ 55 w 34"/>
                <a:gd name="T19" fmla="*/ 67 h 60"/>
                <a:gd name="T20" fmla="*/ 59 w 34"/>
                <a:gd name="T21" fmla="*/ 68 h 60"/>
                <a:gd name="T22" fmla="*/ 64 w 34"/>
                <a:gd name="T23" fmla="*/ 68 h 60"/>
                <a:gd name="T24" fmla="*/ 64 w 34"/>
                <a:gd name="T25" fmla="*/ 72 h 60"/>
                <a:gd name="T26" fmla="*/ 0 w 34"/>
                <a:gd name="T27" fmla="*/ 72 h 60"/>
                <a:gd name="T28" fmla="*/ 0 w 34"/>
                <a:gd name="T29" fmla="*/ 68 h 60"/>
                <a:gd name="T30" fmla="*/ 4 w 34"/>
                <a:gd name="T31" fmla="*/ 68 h 60"/>
                <a:gd name="T32" fmla="*/ 10 w 34"/>
                <a:gd name="T33" fmla="*/ 67 h 60"/>
                <a:gd name="T34" fmla="*/ 11 w 34"/>
                <a:gd name="T35" fmla="*/ 64 h 60"/>
                <a:gd name="T36" fmla="*/ 14 w 34"/>
                <a:gd name="T37" fmla="*/ 61 h 60"/>
                <a:gd name="T38" fmla="*/ 14 w 34"/>
                <a:gd name="T39" fmla="*/ 15 h 60"/>
                <a:gd name="T40" fmla="*/ 11 w 34"/>
                <a:gd name="T41" fmla="*/ 13 h 60"/>
                <a:gd name="T42" fmla="*/ 10 w 34"/>
                <a:gd name="T43" fmla="*/ 11 h 60"/>
                <a:gd name="T44" fmla="*/ 6 w 34"/>
                <a:gd name="T45" fmla="*/ 10 h 60"/>
                <a:gd name="T46" fmla="*/ 1 w 34"/>
                <a:gd name="T47" fmla="*/ 10 h 60"/>
                <a:gd name="T48" fmla="*/ 1 w 34"/>
                <a:gd name="T49" fmla="*/ 8 h 6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4"/>
                <a:gd name="T76" fmla="*/ 0 h 60"/>
                <a:gd name="T77" fmla="*/ 34 w 34"/>
                <a:gd name="T78" fmla="*/ 60 h 6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4" h="60">
                  <a:moveTo>
                    <a:pt x="1" y="6"/>
                  </a:moveTo>
                  <a:lnTo>
                    <a:pt x="4" y="6"/>
                  </a:lnTo>
                  <a:lnTo>
                    <a:pt x="6" y="5"/>
                  </a:lnTo>
                  <a:lnTo>
                    <a:pt x="8" y="4"/>
                  </a:lnTo>
                  <a:lnTo>
                    <a:pt x="10" y="2"/>
                  </a:lnTo>
                  <a:lnTo>
                    <a:pt x="11" y="0"/>
                  </a:lnTo>
                  <a:lnTo>
                    <a:pt x="27" y="0"/>
                  </a:lnTo>
                  <a:lnTo>
                    <a:pt x="27" y="50"/>
                  </a:lnTo>
                  <a:lnTo>
                    <a:pt x="27" y="53"/>
                  </a:lnTo>
                  <a:lnTo>
                    <a:pt x="29" y="55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3" y="59"/>
                  </a:lnTo>
                  <a:lnTo>
                    <a:pt x="0" y="59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5" y="55"/>
                  </a:lnTo>
                  <a:lnTo>
                    <a:pt x="6" y="53"/>
                  </a:lnTo>
                  <a:lnTo>
                    <a:pt x="7" y="50"/>
                  </a:lnTo>
                  <a:lnTo>
                    <a:pt x="7" y="13"/>
                  </a:lnTo>
                  <a:lnTo>
                    <a:pt x="6" y="11"/>
                  </a:lnTo>
                  <a:lnTo>
                    <a:pt x="5" y="9"/>
                  </a:lnTo>
                  <a:lnTo>
                    <a:pt x="3" y="8"/>
                  </a:lnTo>
                  <a:lnTo>
                    <a:pt x="1" y="8"/>
                  </a:lnTo>
                  <a:lnTo>
                    <a:pt x="1" y="6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428" name="Oval 279"/>
            <p:cNvSpPr>
              <a:spLocks noChangeArrowheads="1"/>
            </p:cNvSpPr>
            <p:nvPr/>
          </p:nvSpPr>
          <p:spPr bwMode="auto">
            <a:xfrm>
              <a:off x="1377" y="3817"/>
              <a:ext cx="77" cy="118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29" name="Oval 280"/>
            <p:cNvSpPr>
              <a:spLocks noChangeArrowheads="1"/>
            </p:cNvSpPr>
            <p:nvPr/>
          </p:nvSpPr>
          <p:spPr bwMode="auto">
            <a:xfrm>
              <a:off x="1387" y="3830"/>
              <a:ext cx="56" cy="90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30" name="Freeform 281"/>
            <p:cNvSpPr>
              <a:spLocks/>
            </p:cNvSpPr>
            <p:nvPr/>
          </p:nvSpPr>
          <p:spPr bwMode="auto">
            <a:xfrm>
              <a:off x="1401" y="3846"/>
              <a:ext cx="47" cy="65"/>
            </a:xfrm>
            <a:custGeom>
              <a:avLst/>
              <a:gdLst>
                <a:gd name="T0" fmla="*/ 1 w 34"/>
                <a:gd name="T1" fmla="*/ 8 h 59"/>
                <a:gd name="T2" fmla="*/ 8 w 34"/>
                <a:gd name="T3" fmla="*/ 8 h 59"/>
                <a:gd name="T4" fmla="*/ 11 w 34"/>
                <a:gd name="T5" fmla="*/ 7 h 59"/>
                <a:gd name="T6" fmla="*/ 15 w 34"/>
                <a:gd name="T7" fmla="*/ 3 h 59"/>
                <a:gd name="T8" fmla="*/ 19 w 34"/>
                <a:gd name="T9" fmla="*/ 2 h 59"/>
                <a:gd name="T10" fmla="*/ 21 w 34"/>
                <a:gd name="T11" fmla="*/ 0 h 59"/>
                <a:gd name="T12" fmla="*/ 51 w 34"/>
                <a:gd name="T13" fmla="*/ 0 h 59"/>
                <a:gd name="T14" fmla="*/ 51 w 34"/>
                <a:gd name="T15" fmla="*/ 59 h 59"/>
                <a:gd name="T16" fmla="*/ 51 w 34"/>
                <a:gd name="T17" fmla="*/ 63 h 59"/>
                <a:gd name="T18" fmla="*/ 55 w 34"/>
                <a:gd name="T19" fmla="*/ 65 h 59"/>
                <a:gd name="T20" fmla="*/ 61 w 34"/>
                <a:gd name="T21" fmla="*/ 68 h 59"/>
                <a:gd name="T22" fmla="*/ 64 w 34"/>
                <a:gd name="T23" fmla="*/ 68 h 59"/>
                <a:gd name="T24" fmla="*/ 64 w 34"/>
                <a:gd name="T25" fmla="*/ 71 h 59"/>
                <a:gd name="T26" fmla="*/ 0 w 34"/>
                <a:gd name="T27" fmla="*/ 71 h 59"/>
                <a:gd name="T28" fmla="*/ 0 w 34"/>
                <a:gd name="T29" fmla="*/ 68 h 59"/>
                <a:gd name="T30" fmla="*/ 4 w 34"/>
                <a:gd name="T31" fmla="*/ 68 h 59"/>
                <a:gd name="T32" fmla="*/ 10 w 34"/>
                <a:gd name="T33" fmla="*/ 65 h 59"/>
                <a:gd name="T34" fmla="*/ 11 w 34"/>
                <a:gd name="T35" fmla="*/ 63 h 59"/>
                <a:gd name="T36" fmla="*/ 14 w 34"/>
                <a:gd name="T37" fmla="*/ 59 h 59"/>
                <a:gd name="T38" fmla="*/ 14 w 34"/>
                <a:gd name="T39" fmla="*/ 14 h 59"/>
                <a:gd name="T40" fmla="*/ 11 w 34"/>
                <a:gd name="T41" fmla="*/ 12 h 59"/>
                <a:gd name="T42" fmla="*/ 10 w 34"/>
                <a:gd name="T43" fmla="*/ 10 h 59"/>
                <a:gd name="T44" fmla="*/ 6 w 34"/>
                <a:gd name="T45" fmla="*/ 10 h 59"/>
                <a:gd name="T46" fmla="*/ 1 w 34"/>
                <a:gd name="T47" fmla="*/ 10 h 59"/>
                <a:gd name="T48" fmla="*/ 1 w 34"/>
                <a:gd name="T49" fmla="*/ 8 h 5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4"/>
                <a:gd name="T76" fmla="*/ 0 h 59"/>
                <a:gd name="T77" fmla="*/ 34 w 34"/>
                <a:gd name="T78" fmla="*/ 59 h 5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4" h="59">
                  <a:moveTo>
                    <a:pt x="1" y="6"/>
                  </a:moveTo>
                  <a:lnTo>
                    <a:pt x="4" y="6"/>
                  </a:lnTo>
                  <a:lnTo>
                    <a:pt x="6" y="5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1" y="0"/>
                  </a:lnTo>
                  <a:lnTo>
                    <a:pt x="27" y="0"/>
                  </a:lnTo>
                  <a:lnTo>
                    <a:pt x="27" y="49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32" y="56"/>
                  </a:lnTo>
                  <a:lnTo>
                    <a:pt x="33" y="56"/>
                  </a:lnTo>
                  <a:lnTo>
                    <a:pt x="33" y="58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5" y="54"/>
                  </a:lnTo>
                  <a:lnTo>
                    <a:pt x="6" y="52"/>
                  </a:lnTo>
                  <a:lnTo>
                    <a:pt x="7" y="49"/>
                  </a:lnTo>
                  <a:lnTo>
                    <a:pt x="7" y="12"/>
                  </a:lnTo>
                  <a:lnTo>
                    <a:pt x="6" y="10"/>
                  </a:lnTo>
                  <a:lnTo>
                    <a:pt x="5" y="8"/>
                  </a:lnTo>
                  <a:lnTo>
                    <a:pt x="3" y="8"/>
                  </a:lnTo>
                  <a:lnTo>
                    <a:pt x="1" y="8"/>
                  </a:lnTo>
                  <a:lnTo>
                    <a:pt x="1" y="6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0431" name="Group 282"/>
            <p:cNvGrpSpPr>
              <a:grpSpLocks/>
            </p:cNvGrpSpPr>
            <p:nvPr/>
          </p:nvGrpSpPr>
          <p:grpSpPr bwMode="auto">
            <a:xfrm>
              <a:off x="695" y="3657"/>
              <a:ext cx="87" cy="110"/>
              <a:chOff x="695" y="3419"/>
              <a:chExt cx="83" cy="100"/>
            </a:xfrm>
          </p:grpSpPr>
          <p:sp>
            <p:nvSpPr>
              <p:cNvPr id="100602" name="Oval 283"/>
              <p:cNvSpPr>
                <a:spLocks noChangeArrowheads="1"/>
              </p:cNvSpPr>
              <p:nvPr/>
            </p:nvSpPr>
            <p:spPr bwMode="auto">
              <a:xfrm>
                <a:off x="695" y="3419"/>
                <a:ext cx="83" cy="100"/>
              </a:xfrm>
              <a:prstGeom prst="ellipse">
                <a:avLst/>
              </a:prstGeom>
              <a:solidFill>
                <a:srgbClr val="3F5F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03" name="Oval 284"/>
              <p:cNvSpPr>
                <a:spLocks noChangeArrowheads="1"/>
              </p:cNvSpPr>
              <p:nvPr/>
            </p:nvSpPr>
            <p:spPr bwMode="auto">
              <a:xfrm>
                <a:off x="716" y="3443"/>
                <a:ext cx="41" cy="52"/>
              </a:xfrm>
              <a:prstGeom prst="ellipse">
                <a:avLst/>
              </a:prstGeom>
              <a:solidFill>
                <a:srgbClr val="9FFF9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32" name="Group 285"/>
            <p:cNvGrpSpPr>
              <a:grpSpLocks/>
            </p:cNvGrpSpPr>
            <p:nvPr/>
          </p:nvGrpSpPr>
          <p:grpSpPr bwMode="auto">
            <a:xfrm>
              <a:off x="1183" y="3671"/>
              <a:ext cx="86" cy="110"/>
              <a:chOff x="1183" y="3433"/>
              <a:chExt cx="82" cy="100"/>
            </a:xfrm>
          </p:grpSpPr>
          <p:sp>
            <p:nvSpPr>
              <p:cNvPr id="100600" name="Oval 286"/>
              <p:cNvSpPr>
                <a:spLocks noChangeArrowheads="1"/>
              </p:cNvSpPr>
              <p:nvPr/>
            </p:nvSpPr>
            <p:spPr bwMode="auto">
              <a:xfrm>
                <a:off x="1183" y="3433"/>
                <a:ext cx="82" cy="100"/>
              </a:xfrm>
              <a:prstGeom prst="ellipse">
                <a:avLst/>
              </a:prstGeom>
              <a:solidFill>
                <a:srgbClr val="0080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601" name="Oval 287"/>
              <p:cNvSpPr>
                <a:spLocks noChangeArrowheads="1"/>
              </p:cNvSpPr>
              <p:nvPr/>
            </p:nvSpPr>
            <p:spPr bwMode="auto">
              <a:xfrm>
                <a:off x="1203" y="3457"/>
                <a:ext cx="41" cy="51"/>
              </a:xfrm>
              <a:prstGeom prst="ellipse">
                <a:avLst/>
              </a:prstGeom>
              <a:solidFill>
                <a:srgbClr val="BFFFB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33" name="Group 288"/>
            <p:cNvGrpSpPr>
              <a:grpSpLocks/>
            </p:cNvGrpSpPr>
            <p:nvPr/>
          </p:nvGrpSpPr>
          <p:grpSpPr bwMode="auto">
            <a:xfrm>
              <a:off x="801" y="3886"/>
              <a:ext cx="372" cy="47"/>
              <a:chOff x="801" y="3648"/>
              <a:chExt cx="356" cy="38"/>
            </a:xfrm>
          </p:grpSpPr>
          <p:grpSp>
            <p:nvGrpSpPr>
              <p:cNvPr id="100579" name="Group 289"/>
              <p:cNvGrpSpPr>
                <a:grpSpLocks/>
              </p:cNvGrpSpPr>
              <p:nvPr/>
            </p:nvGrpSpPr>
            <p:grpSpPr bwMode="auto">
              <a:xfrm>
                <a:off x="1127" y="3648"/>
                <a:ext cx="30" cy="36"/>
                <a:chOff x="1127" y="3648"/>
                <a:chExt cx="30" cy="36"/>
              </a:xfrm>
            </p:grpSpPr>
            <p:sp>
              <p:nvSpPr>
                <p:cNvPr id="100598" name="Freeform 290"/>
                <p:cNvSpPr>
                  <a:spLocks/>
                </p:cNvSpPr>
                <p:nvPr/>
              </p:nvSpPr>
              <p:spPr bwMode="auto">
                <a:xfrm>
                  <a:off x="1127" y="3648"/>
                  <a:ext cx="30" cy="36"/>
                </a:xfrm>
                <a:custGeom>
                  <a:avLst/>
                  <a:gdLst>
                    <a:gd name="T0" fmla="*/ 0 w 30"/>
                    <a:gd name="T1" fmla="*/ 0 h 36"/>
                    <a:gd name="T2" fmla="*/ 20 w 30"/>
                    <a:gd name="T3" fmla="*/ 0 h 36"/>
                    <a:gd name="T4" fmla="*/ 24 w 30"/>
                    <a:gd name="T5" fmla="*/ 2 h 36"/>
                    <a:gd name="T6" fmla="*/ 25 w 30"/>
                    <a:gd name="T7" fmla="*/ 3 h 36"/>
                    <a:gd name="T8" fmla="*/ 26 w 30"/>
                    <a:gd name="T9" fmla="*/ 7 h 36"/>
                    <a:gd name="T10" fmla="*/ 26 w 30"/>
                    <a:gd name="T11" fmla="*/ 13 h 36"/>
                    <a:gd name="T12" fmla="*/ 25 w 30"/>
                    <a:gd name="T13" fmla="*/ 17 h 36"/>
                    <a:gd name="T14" fmla="*/ 23 w 30"/>
                    <a:gd name="T15" fmla="*/ 19 h 36"/>
                    <a:gd name="T16" fmla="*/ 20 w 30"/>
                    <a:gd name="T17" fmla="*/ 20 h 36"/>
                    <a:gd name="T18" fmla="*/ 23 w 30"/>
                    <a:gd name="T19" fmla="*/ 21 h 36"/>
                    <a:gd name="T20" fmla="*/ 25 w 30"/>
                    <a:gd name="T21" fmla="*/ 23 h 36"/>
                    <a:gd name="T22" fmla="*/ 26 w 30"/>
                    <a:gd name="T23" fmla="*/ 27 h 36"/>
                    <a:gd name="T24" fmla="*/ 27 w 30"/>
                    <a:gd name="T25" fmla="*/ 30 h 36"/>
                    <a:gd name="T26" fmla="*/ 27 w 30"/>
                    <a:gd name="T27" fmla="*/ 33 h 36"/>
                    <a:gd name="T28" fmla="*/ 29 w 30"/>
                    <a:gd name="T29" fmla="*/ 33 h 36"/>
                    <a:gd name="T30" fmla="*/ 29 w 30"/>
                    <a:gd name="T31" fmla="*/ 35 h 36"/>
                    <a:gd name="T32" fmla="*/ 18 w 30"/>
                    <a:gd name="T33" fmla="*/ 35 h 36"/>
                    <a:gd name="T34" fmla="*/ 18 w 30"/>
                    <a:gd name="T35" fmla="*/ 33 h 36"/>
                    <a:gd name="T36" fmla="*/ 20 w 30"/>
                    <a:gd name="T37" fmla="*/ 33 h 36"/>
                    <a:gd name="T38" fmla="*/ 20 w 30"/>
                    <a:gd name="T39" fmla="*/ 29 h 36"/>
                    <a:gd name="T40" fmla="*/ 18 w 30"/>
                    <a:gd name="T41" fmla="*/ 27 h 36"/>
                    <a:gd name="T42" fmla="*/ 16 w 30"/>
                    <a:gd name="T43" fmla="*/ 24 h 36"/>
                    <a:gd name="T44" fmla="*/ 15 w 30"/>
                    <a:gd name="T45" fmla="*/ 21 h 36"/>
                    <a:gd name="T46" fmla="*/ 13 w 30"/>
                    <a:gd name="T47" fmla="*/ 20 h 36"/>
                    <a:gd name="T48" fmla="*/ 13 w 30"/>
                    <a:gd name="T49" fmla="*/ 33 h 36"/>
                    <a:gd name="T50" fmla="*/ 15 w 30"/>
                    <a:gd name="T51" fmla="*/ 33 h 36"/>
                    <a:gd name="T52" fmla="*/ 15 w 30"/>
                    <a:gd name="T53" fmla="*/ 35 h 36"/>
                    <a:gd name="T54" fmla="*/ 1 w 30"/>
                    <a:gd name="T55" fmla="*/ 35 h 36"/>
                    <a:gd name="T56" fmla="*/ 1 w 30"/>
                    <a:gd name="T57" fmla="*/ 33 h 36"/>
                    <a:gd name="T58" fmla="*/ 3 w 30"/>
                    <a:gd name="T59" fmla="*/ 33 h 36"/>
                    <a:gd name="T60" fmla="*/ 3 w 30"/>
                    <a:gd name="T61" fmla="*/ 2 h 36"/>
                    <a:gd name="T62" fmla="*/ 0 w 30"/>
                    <a:gd name="T63" fmla="*/ 2 h 36"/>
                    <a:gd name="T64" fmla="*/ 0 w 30"/>
                    <a:gd name="T65" fmla="*/ 0 h 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0"/>
                    <a:gd name="T100" fmla="*/ 0 h 36"/>
                    <a:gd name="T101" fmla="*/ 30 w 30"/>
                    <a:gd name="T102" fmla="*/ 36 h 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0" h="36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24" y="2"/>
                      </a:lnTo>
                      <a:lnTo>
                        <a:pt x="25" y="3"/>
                      </a:lnTo>
                      <a:lnTo>
                        <a:pt x="26" y="7"/>
                      </a:lnTo>
                      <a:lnTo>
                        <a:pt x="26" y="13"/>
                      </a:lnTo>
                      <a:lnTo>
                        <a:pt x="25" y="17"/>
                      </a:lnTo>
                      <a:lnTo>
                        <a:pt x="23" y="19"/>
                      </a:lnTo>
                      <a:lnTo>
                        <a:pt x="20" y="20"/>
                      </a:lnTo>
                      <a:lnTo>
                        <a:pt x="23" y="21"/>
                      </a:lnTo>
                      <a:lnTo>
                        <a:pt x="25" y="23"/>
                      </a:lnTo>
                      <a:lnTo>
                        <a:pt x="26" y="27"/>
                      </a:lnTo>
                      <a:lnTo>
                        <a:pt x="27" y="30"/>
                      </a:lnTo>
                      <a:lnTo>
                        <a:pt x="27" y="33"/>
                      </a:lnTo>
                      <a:lnTo>
                        <a:pt x="29" y="33"/>
                      </a:lnTo>
                      <a:lnTo>
                        <a:pt x="29" y="35"/>
                      </a:lnTo>
                      <a:lnTo>
                        <a:pt x="18" y="35"/>
                      </a:lnTo>
                      <a:lnTo>
                        <a:pt x="18" y="33"/>
                      </a:lnTo>
                      <a:lnTo>
                        <a:pt x="20" y="33"/>
                      </a:lnTo>
                      <a:lnTo>
                        <a:pt x="20" y="29"/>
                      </a:lnTo>
                      <a:lnTo>
                        <a:pt x="18" y="27"/>
                      </a:lnTo>
                      <a:lnTo>
                        <a:pt x="16" y="24"/>
                      </a:lnTo>
                      <a:lnTo>
                        <a:pt x="15" y="21"/>
                      </a:lnTo>
                      <a:lnTo>
                        <a:pt x="13" y="20"/>
                      </a:lnTo>
                      <a:lnTo>
                        <a:pt x="13" y="33"/>
                      </a:lnTo>
                      <a:lnTo>
                        <a:pt x="15" y="33"/>
                      </a:lnTo>
                      <a:lnTo>
                        <a:pt x="15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99" name="Freeform 291"/>
                <p:cNvSpPr>
                  <a:spLocks/>
                </p:cNvSpPr>
                <p:nvPr/>
              </p:nvSpPr>
              <p:spPr bwMode="auto">
                <a:xfrm>
                  <a:off x="1141" y="3655"/>
                  <a:ext cx="3" cy="4"/>
                </a:xfrm>
                <a:custGeom>
                  <a:avLst/>
                  <a:gdLst>
                    <a:gd name="T0" fmla="*/ 2 w 3"/>
                    <a:gd name="T1" fmla="*/ 0 h 4"/>
                    <a:gd name="T2" fmla="*/ 2 w 3"/>
                    <a:gd name="T3" fmla="*/ 3 h 4"/>
                    <a:gd name="T4" fmla="*/ 1 w 3"/>
                    <a:gd name="T5" fmla="*/ 3 h 4"/>
                    <a:gd name="T6" fmla="*/ 0 w 3"/>
                    <a:gd name="T7" fmla="*/ 3 h 4"/>
                    <a:gd name="T8" fmla="*/ 0 w 3"/>
                    <a:gd name="T9" fmla="*/ 2 h 4"/>
                    <a:gd name="T10" fmla="*/ 0 w 3"/>
                    <a:gd name="T11" fmla="*/ 1 h 4"/>
                    <a:gd name="T12" fmla="*/ 0 w 3"/>
                    <a:gd name="T13" fmla="*/ 0 h 4"/>
                    <a:gd name="T14" fmla="*/ 1 w 3"/>
                    <a:gd name="T15" fmla="*/ 0 h 4"/>
                    <a:gd name="T16" fmla="*/ 2 w 3"/>
                    <a:gd name="T17" fmla="*/ 0 h 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"/>
                    <a:gd name="T28" fmla="*/ 0 h 4"/>
                    <a:gd name="T29" fmla="*/ 3 w 3"/>
                    <a:gd name="T30" fmla="*/ 4 h 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" h="4">
                      <a:moveTo>
                        <a:pt x="2" y="0"/>
                      </a:moveTo>
                      <a:lnTo>
                        <a:pt x="2" y="3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0" name="Group 292"/>
              <p:cNvGrpSpPr>
                <a:grpSpLocks/>
              </p:cNvGrpSpPr>
              <p:nvPr/>
            </p:nvGrpSpPr>
            <p:grpSpPr bwMode="auto">
              <a:xfrm>
                <a:off x="801" y="3648"/>
                <a:ext cx="29" cy="38"/>
                <a:chOff x="801" y="3648"/>
                <a:chExt cx="29" cy="38"/>
              </a:xfrm>
            </p:grpSpPr>
            <p:sp>
              <p:nvSpPr>
                <p:cNvPr id="100596" name="Freeform 293"/>
                <p:cNvSpPr>
                  <a:spLocks/>
                </p:cNvSpPr>
                <p:nvPr/>
              </p:nvSpPr>
              <p:spPr bwMode="auto">
                <a:xfrm>
                  <a:off x="801" y="3648"/>
                  <a:ext cx="29" cy="38"/>
                </a:xfrm>
                <a:custGeom>
                  <a:avLst/>
                  <a:gdLst>
                    <a:gd name="T0" fmla="*/ 9 w 29"/>
                    <a:gd name="T1" fmla="*/ 0 h 38"/>
                    <a:gd name="T2" fmla="*/ 19 w 29"/>
                    <a:gd name="T3" fmla="*/ 0 h 38"/>
                    <a:gd name="T4" fmla="*/ 22 w 29"/>
                    <a:gd name="T5" fmla="*/ 2 h 38"/>
                    <a:gd name="T6" fmla="*/ 26 w 29"/>
                    <a:gd name="T7" fmla="*/ 5 h 38"/>
                    <a:gd name="T8" fmla="*/ 27 w 29"/>
                    <a:gd name="T9" fmla="*/ 10 h 38"/>
                    <a:gd name="T10" fmla="*/ 28 w 29"/>
                    <a:gd name="T11" fmla="*/ 15 h 38"/>
                    <a:gd name="T12" fmla="*/ 28 w 29"/>
                    <a:gd name="T13" fmla="*/ 21 h 38"/>
                    <a:gd name="T14" fmla="*/ 27 w 29"/>
                    <a:gd name="T15" fmla="*/ 27 h 38"/>
                    <a:gd name="T16" fmla="*/ 26 w 29"/>
                    <a:gd name="T17" fmla="*/ 31 h 38"/>
                    <a:gd name="T18" fmla="*/ 21 w 29"/>
                    <a:gd name="T19" fmla="*/ 35 h 38"/>
                    <a:gd name="T20" fmla="*/ 19 w 29"/>
                    <a:gd name="T21" fmla="*/ 37 h 38"/>
                    <a:gd name="T22" fmla="*/ 9 w 29"/>
                    <a:gd name="T23" fmla="*/ 37 h 38"/>
                    <a:gd name="T24" fmla="*/ 6 w 29"/>
                    <a:gd name="T25" fmla="*/ 35 h 38"/>
                    <a:gd name="T26" fmla="*/ 2 w 29"/>
                    <a:gd name="T27" fmla="*/ 32 h 38"/>
                    <a:gd name="T28" fmla="*/ 1 w 29"/>
                    <a:gd name="T29" fmla="*/ 28 h 38"/>
                    <a:gd name="T30" fmla="*/ 0 w 29"/>
                    <a:gd name="T31" fmla="*/ 23 h 38"/>
                    <a:gd name="T32" fmla="*/ 0 w 29"/>
                    <a:gd name="T33" fmla="*/ 15 h 38"/>
                    <a:gd name="T34" fmla="*/ 1 w 29"/>
                    <a:gd name="T35" fmla="*/ 10 h 38"/>
                    <a:gd name="T36" fmla="*/ 2 w 29"/>
                    <a:gd name="T37" fmla="*/ 5 h 38"/>
                    <a:gd name="T38" fmla="*/ 6 w 29"/>
                    <a:gd name="T39" fmla="*/ 2 h 38"/>
                    <a:gd name="T40" fmla="*/ 9 w 29"/>
                    <a:gd name="T41" fmla="*/ 0 h 3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9"/>
                    <a:gd name="T64" fmla="*/ 0 h 38"/>
                    <a:gd name="T65" fmla="*/ 29 w 29"/>
                    <a:gd name="T66" fmla="*/ 38 h 3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9" h="38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2" y="2"/>
                      </a:lnTo>
                      <a:lnTo>
                        <a:pt x="26" y="5"/>
                      </a:lnTo>
                      <a:lnTo>
                        <a:pt x="27" y="10"/>
                      </a:lnTo>
                      <a:lnTo>
                        <a:pt x="28" y="15"/>
                      </a:lnTo>
                      <a:lnTo>
                        <a:pt x="28" y="21"/>
                      </a:lnTo>
                      <a:lnTo>
                        <a:pt x="27" y="27"/>
                      </a:lnTo>
                      <a:lnTo>
                        <a:pt x="26" y="31"/>
                      </a:lnTo>
                      <a:lnTo>
                        <a:pt x="21" y="35"/>
                      </a:lnTo>
                      <a:lnTo>
                        <a:pt x="19" y="37"/>
                      </a:lnTo>
                      <a:lnTo>
                        <a:pt x="9" y="37"/>
                      </a:lnTo>
                      <a:lnTo>
                        <a:pt x="6" y="35"/>
                      </a:lnTo>
                      <a:lnTo>
                        <a:pt x="2" y="32"/>
                      </a:lnTo>
                      <a:lnTo>
                        <a:pt x="1" y="28"/>
                      </a:lnTo>
                      <a:lnTo>
                        <a:pt x="0" y="23"/>
                      </a:lnTo>
                      <a:lnTo>
                        <a:pt x="0" y="15"/>
                      </a:lnTo>
                      <a:lnTo>
                        <a:pt x="1" y="10"/>
                      </a:lnTo>
                      <a:lnTo>
                        <a:pt x="2" y="5"/>
                      </a:lnTo>
                      <a:lnTo>
                        <a:pt x="6" y="2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97" name="Freeform 294"/>
                <p:cNvSpPr>
                  <a:spLocks/>
                </p:cNvSpPr>
                <p:nvPr/>
              </p:nvSpPr>
              <p:spPr bwMode="auto">
                <a:xfrm>
                  <a:off x="814" y="3653"/>
                  <a:ext cx="3" cy="28"/>
                </a:xfrm>
                <a:custGeom>
                  <a:avLst/>
                  <a:gdLst>
                    <a:gd name="T0" fmla="*/ 1 w 3"/>
                    <a:gd name="T1" fmla="*/ 0 h 28"/>
                    <a:gd name="T2" fmla="*/ 0 w 3"/>
                    <a:gd name="T3" fmla="*/ 2 h 28"/>
                    <a:gd name="T4" fmla="*/ 0 w 3"/>
                    <a:gd name="T5" fmla="*/ 5 h 28"/>
                    <a:gd name="T6" fmla="*/ 0 w 3"/>
                    <a:gd name="T7" fmla="*/ 23 h 28"/>
                    <a:gd name="T8" fmla="*/ 0 w 3"/>
                    <a:gd name="T9" fmla="*/ 25 h 28"/>
                    <a:gd name="T10" fmla="*/ 1 w 3"/>
                    <a:gd name="T11" fmla="*/ 27 h 28"/>
                    <a:gd name="T12" fmla="*/ 2 w 3"/>
                    <a:gd name="T13" fmla="*/ 25 h 28"/>
                    <a:gd name="T14" fmla="*/ 2 w 3"/>
                    <a:gd name="T15" fmla="*/ 23 h 28"/>
                    <a:gd name="T16" fmla="*/ 2 w 3"/>
                    <a:gd name="T17" fmla="*/ 5 h 28"/>
                    <a:gd name="T18" fmla="*/ 2 w 3"/>
                    <a:gd name="T19" fmla="*/ 2 h 28"/>
                    <a:gd name="T20" fmla="*/ 1 w 3"/>
                    <a:gd name="T21" fmla="*/ 0 h 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"/>
                    <a:gd name="T34" fmla="*/ 0 h 28"/>
                    <a:gd name="T35" fmla="*/ 3 w 3"/>
                    <a:gd name="T36" fmla="*/ 28 h 2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" h="28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0" y="23"/>
                      </a:lnTo>
                      <a:lnTo>
                        <a:pt x="0" y="25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1" name="Group 295"/>
              <p:cNvGrpSpPr>
                <a:grpSpLocks/>
              </p:cNvGrpSpPr>
              <p:nvPr/>
            </p:nvGrpSpPr>
            <p:grpSpPr bwMode="auto">
              <a:xfrm>
                <a:off x="838" y="3650"/>
                <a:ext cx="70" cy="36"/>
                <a:chOff x="838" y="3650"/>
                <a:chExt cx="70" cy="36"/>
              </a:xfrm>
            </p:grpSpPr>
            <p:sp>
              <p:nvSpPr>
                <p:cNvPr id="100594" name="Freeform 296"/>
                <p:cNvSpPr>
                  <a:spLocks/>
                </p:cNvSpPr>
                <p:nvPr/>
              </p:nvSpPr>
              <p:spPr bwMode="auto">
                <a:xfrm>
                  <a:off x="838" y="3650"/>
                  <a:ext cx="34" cy="36"/>
                </a:xfrm>
                <a:custGeom>
                  <a:avLst/>
                  <a:gdLst>
                    <a:gd name="T0" fmla="*/ 1 w 34"/>
                    <a:gd name="T1" fmla="*/ 35 h 36"/>
                    <a:gd name="T2" fmla="*/ 9 w 34"/>
                    <a:gd name="T3" fmla="*/ 35 h 36"/>
                    <a:gd name="T4" fmla="*/ 9 w 34"/>
                    <a:gd name="T5" fmla="*/ 33 h 36"/>
                    <a:gd name="T6" fmla="*/ 6 w 34"/>
                    <a:gd name="T7" fmla="*/ 33 h 36"/>
                    <a:gd name="T8" fmla="*/ 6 w 34"/>
                    <a:gd name="T9" fmla="*/ 7 h 36"/>
                    <a:gd name="T10" fmla="*/ 20 w 34"/>
                    <a:gd name="T11" fmla="*/ 35 h 36"/>
                    <a:gd name="T12" fmla="*/ 30 w 34"/>
                    <a:gd name="T13" fmla="*/ 35 h 36"/>
                    <a:gd name="T14" fmla="*/ 30 w 34"/>
                    <a:gd name="T15" fmla="*/ 2 h 36"/>
                    <a:gd name="T16" fmla="*/ 33 w 34"/>
                    <a:gd name="T17" fmla="*/ 2 h 36"/>
                    <a:gd name="T18" fmla="*/ 33 w 34"/>
                    <a:gd name="T19" fmla="*/ 0 h 36"/>
                    <a:gd name="T20" fmla="*/ 24 w 34"/>
                    <a:gd name="T21" fmla="*/ 0 h 36"/>
                    <a:gd name="T22" fmla="*/ 24 w 34"/>
                    <a:gd name="T23" fmla="*/ 2 h 36"/>
                    <a:gd name="T24" fmla="*/ 27 w 34"/>
                    <a:gd name="T25" fmla="*/ 2 h 36"/>
                    <a:gd name="T26" fmla="*/ 27 w 34"/>
                    <a:gd name="T27" fmla="*/ 23 h 36"/>
                    <a:gd name="T28" fmla="*/ 14 w 34"/>
                    <a:gd name="T29" fmla="*/ 0 h 36"/>
                    <a:gd name="T30" fmla="*/ 0 w 34"/>
                    <a:gd name="T31" fmla="*/ 0 h 36"/>
                    <a:gd name="T32" fmla="*/ 0 w 34"/>
                    <a:gd name="T33" fmla="*/ 3 h 36"/>
                    <a:gd name="T34" fmla="*/ 3 w 34"/>
                    <a:gd name="T35" fmla="*/ 3 h 36"/>
                    <a:gd name="T36" fmla="*/ 3 w 34"/>
                    <a:gd name="T37" fmla="*/ 33 h 36"/>
                    <a:gd name="T38" fmla="*/ 1 w 34"/>
                    <a:gd name="T39" fmla="*/ 33 h 36"/>
                    <a:gd name="T40" fmla="*/ 1 w 34"/>
                    <a:gd name="T41" fmla="*/ 35 h 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4"/>
                    <a:gd name="T64" fmla="*/ 0 h 36"/>
                    <a:gd name="T65" fmla="*/ 34 w 34"/>
                    <a:gd name="T66" fmla="*/ 36 h 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4" h="36">
                      <a:moveTo>
                        <a:pt x="1" y="35"/>
                      </a:moveTo>
                      <a:lnTo>
                        <a:pt x="9" y="35"/>
                      </a:lnTo>
                      <a:lnTo>
                        <a:pt x="9" y="33"/>
                      </a:lnTo>
                      <a:lnTo>
                        <a:pt x="6" y="33"/>
                      </a:lnTo>
                      <a:lnTo>
                        <a:pt x="6" y="7"/>
                      </a:lnTo>
                      <a:lnTo>
                        <a:pt x="20" y="35"/>
                      </a:lnTo>
                      <a:lnTo>
                        <a:pt x="30" y="35"/>
                      </a:lnTo>
                      <a:lnTo>
                        <a:pt x="30" y="2"/>
                      </a:lnTo>
                      <a:lnTo>
                        <a:pt x="33" y="2"/>
                      </a:lnTo>
                      <a:lnTo>
                        <a:pt x="33" y="0"/>
                      </a:lnTo>
                      <a:lnTo>
                        <a:pt x="24" y="0"/>
                      </a:lnTo>
                      <a:lnTo>
                        <a:pt x="24" y="2"/>
                      </a:lnTo>
                      <a:lnTo>
                        <a:pt x="27" y="2"/>
                      </a:lnTo>
                      <a:lnTo>
                        <a:pt x="27" y="23"/>
                      </a:lnTo>
                      <a:lnTo>
                        <a:pt x="14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33"/>
                      </a:lnTo>
                      <a:lnTo>
                        <a:pt x="1" y="33"/>
                      </a:lnTo>
                      <a:lnTo>
                        <a:pt x="1" y="35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95" name="Freeform 297"/>
                <p:cNvSpPr>
                  <a:spLocks/>
                </p:cNvSpPr>
                <p:nvPr/>
              </p:nvSpPr>
              <p:spPr bwMode="auto">
                <a:xfrm>
                  <a:off x="879" y="3650"/>
                  <a:ext cx="29" cy="36"/>
                </a:xfrm>
                <a:custGeom>
                  <a:avLst/>
                  <a:gdLst>
                    <a:gd name="T0" fmla="*/ 0 w 29"/>
                    <a:gd name="T1" fmla="*/ 0 h 36"/>
                    <a:gd name="T2" fmla="*/ 27 w 29"/>
                    <a:gd name="T3" fmla="*/ 0 h 36"/>
                    <a:gd name="T4" fmla="*/ 27 w 29"/>
                    <a:gd name="T5" fmla="*/ 9 h 36"/>
                    <a:gd name="T6" fmla="*/ 25 w 29"/>
                    <a:gd name="T7" fmla="*/ 9 h 36"/>
                    <a:gd name="T8" fmla="*/ 16 w 29"/>
                    <a:gd name="T9" fmla="*/ 2 h 36"/>
                    <a:gd name="T10" fmla="*/ 12 w 29"/>
                    <a:gd name="T11" fmla="*/ 2 h 36"/>
                    <a:gd name="T12" fmla="*/ 12 w 29"/>
                    <a:gd name="T13" fmla="*/ 16 h 36"/>
                    <a:gd name="T14" fmla="*/ 16 w 29"/>
                    <a:gd name="T15" fmla="*/ 16 h 36"/>
                    <a:gd name="T16" fmla="*/ 21 w 29"/>
                    <a:gd name="T17" fmla="*/ 10 h 36"/>
                    <a:gd name="T18" fmla="*/ 21 w 29"/>
                    <a:gd name="T19" fmla="*/ 25 h 36"/>
                    <a:gd name="T20" fmla="*/ 16 w 29"/>
                    <a:gd name="T21" fmla="*/ 19 h 36"/>
                    <a:gd name="T22" fmla="*/ 12 w 29"/>
                    <a:gd name="T23" fmla="*/ 19 h 36"/>
                    <a:gd name="T24" fmla="*/ 12 w 29"/>
                    <a:gd name="T25" fmla="*/ 31 h 36"/>
                    <a:gd name="T26" fmla="*/ 16 w 29"/>
                    <a:gd name="T27" fmla="*/ 31 h 36"/>
                    <a:gd name="T28" fmla="*/ 26 w 29"/>
                    <a:gd name="T29" fmla="*/ 25 h 36"/>
                    <a:gd name="T30" fmla="*/ 28 w 29"/>
                    <a:gd name="T31" fmla="*/ 25 h 36"/>
                    <a:gd name="T32" fmla="*/ 28 w 29"/>
                    <a:gd name="T33" fmla="*/ 35 h 36"/>
                    <a:gd name="T34" fmla="*/ 1 w 29"/>
                    <a:gd name="T35" fmla="*/ 35 h 36"/>
                    <a:gd name="T36" fmla="*/ 1 w 29"/>
                    <a:gd name="T37" fmla="*/ 33 h 36"/>
                    <a:gd name="T38" fmla="*/ 3 w 29"/>
                    <a:gd name="T39" fmla="*/ 33 h 36"/>
                    <a:gd name="T40" fmla="*/ 3 w 29"/>
                    <a:gd name="T41" fmla="*/ 2 h 36"/>
                    <a:gd name="T42" fmla="*/ 0 w 29"/>
                    <a:gd name="T43" fmla="*/ 2 h 36"/>
                    <a:gd name="T44" fmla="*/ 0 w 29"/>
                    <a:gd name="T45" fmla="*/ 0 h 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9"/>
                    <a:gd name="T70" fmla="*/ 0 h 36"/>
                    <a:gd name="T71" fmla="*/ 29 w 29"/>
                    <a:gd name="T72" fmla="*/ 36 h 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9" h="36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27" y="9"/>
                      </a:lnTo>
                      <a:lnTo>
                        <a:pt x="25" y="9"/>
                      </a:lnTo>
                      <a:lnTo>
                        <a:pt x="16" y="2"/>
                      </a:lnTo>
                      <a:lnTo>
                        <a:pt x="12" y="2"/>
                      </a:lnTo>
                      <a:lnTo>
                        <a:pt x="12" y="16"/>
                      </a:lnTo>
                      <a:lnTo>
                        <a:pt x="16" y="16"/>
                      </a:lnTo>
                      <a:lnTo>
                        <a:pt x="21" y="10"/>
                      </a:lnTo>
                      <a:lnTo>
                        <a:pt x="21" y="25"/>
                      </a:lnTo>
                      <a:lnTo>
                        <a:pt x="16" y="19"/>
                      </a:lnTo>
                      <a:lnTo>
                        <a:pt x="12" y="19"/>
                      </a:lnTo>
                      <a:lnTo>
                        <a:pt x="12" y="31"/>
                      </a:lnTo>
                      <a:lnTo>
                        <a:pt x="16" y="31"/>
                      </a:lnTo>
                      <a:lnTo>
                        <a:pt x="26" y="25"/>
                      </a:lnTo>
                      <a:lnTo>
                        <a:pt x="28" y="25"/>
                      </a:lnTo>
                      <a:lnTo>
                        <a:pt x="28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2" name="Group 298"/>
              <p:cNvGrpSpPr>
                <a:grpSpLocks/>
              </p:cNvGrpSpPr>
              <p:nvPr/>
            </p:nvGrpSpPr>
            <p:grpSpPr bwMode="auto">
              <a:xfrm>
                <a:off x="976" y="3648"/>
                <a:ext cx="29" cy="37"/>
                <a:chOff x="976" y="3648"/>
                <a:chExt cx="29" cy="37"/>
              </a:xfrm>
            </p:grpSpPr>
            <p:sp>
              <p:nvSpPr>
                <p:cNvPr id="100592" name="Freeform 299"/>
                <p:cNvSpPr>
                  <a:spLocks/>
                </p:cNvSpPr>
                <p:nvPr/>
              </p:nvSpPr>
              <p:spPr bwMode="auto">
                <a:xfrm>
                  <a:off x="976" y="3648"/>
                  <a:ext cx="29" cy="37"/>
                </a:xfrm>
                <a:custGeom>
                  <a:avLst/>
                  <a:gdLst>
                    <a:gd name="T0" fmla="*/ 9 w 29"/>
                    <a:gd name="T1" fmla="*/ 0 h 37"/>
                    <a:gd name="T2" fmla="*/ 19 w 29"/>
                    <a:gd name="T3" fmla="*/ 0 h 37"/>
                    <a:gd name="T4" fmla="*/ 22 w 29"/>
                    <a:gd name="T5" fmla="*/ 2 h 37"/>
                    <a:gd name="T6" fmla="*/ 26 w 29"/>
                    <a:gd name="T7" fmla="*/ 5 h 37"/>
                    <a:gd name="T8" fmla="*/ 27 w 29"/>
                    <a:gd name="T9" fmla="*/ 9 h 37"/>
                    <a:gd name="T10" fmla="*/ 28 w 29"/>
                    <a:gd name="T11" fmla="*/ 15 h 37"/>
                    <a:gd name="T12" fmla="*/ 28 w 29"/>
                    <a:gd name="T13" fmla="*/ 20 h 37"/>
                    <a:gd name="T14" fmla="*/ 27 w 29"/>
                    <a:gd name="T15" fmla="*/ 26 h 37"/>
                    <a:gd name="T16" fmla="*/ 26 w 29"/>
                    <a:gd name="T17" fmla="*/ 31 h 37"/>
                    <a:gd name="T18" fmla="*/ 21 w 29"/>
                    <a:gd name="T19" fmla="*/ 35 h 37"/>
                    <a:gd name="T20" fmla="*/ 19 w 29"/>
                    <a:gd name="T21" fmla="*/ 36 h 37"/>
                    <a:gd name="T22" fmla="*/ 9 w 29"/>
                    <a:gd name="T23" fmla="*/ 36 h 37"/>
                    <a:gd name="T24" fmla="*/ 6 w 29"/>
                    <a:gd name="T25" fmla="*/ 35 h 37"/>
                    <a:gd name="T26" fmla="*/ 2 w 29"/>
                    <a:gd name="T27" fmla="*/ 31 h 37"/>
                    <a:gd name="T28" fmla="*/ 1 w 29"/>
                    <a:gd name="T29" fmla="*/ 27 h 37"/>
                    <a:gd name="T30" fmla="*/ 0 w 29"/>
                    <a:gd name="T31" fmla="*/ 22 h 37"/>
                    <a:gd name="T32" fmla="*/ 0 w 29"/>
                    <a:gd name="T33" fmla="*/ 15 h 37"/>
                    <a:gd name="T34" fmla="*/ 1 w 29"/>
                    <a:gd name="T35" fmla="*/ 9 h 37"/>
                    <a:gd name="T36" fmla="*/ 2 w 29"/>
                    <a:gd name="T37" fmla="*/ 5 h 37"/>
                    <a:gd name="T38" fmla="*/ 6 w 29"/>
                    <a:gd name="T39" fmla="*/ 2 h 37"/>
                    <a:gd name="T40" fmla="*/ 9 w 29"/>
                    <a:gd name="T41" fmla="*/ 0 h 3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9"/>
                    <a:gd name="T64" fmla="*/ 0 h 37"/>
                    <a:gd name="T65" fmla="*/ 29 w 29"/>
                    <a:gd name="T66" fmla="*/ 37 h 3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9" h="37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2" y="2"/>
                      </a:lnTo>
                      <a:lnTo>
                        <a:pt x="26" y="5"/>
                      </a:lnTo>
                      <a:lnTo>
                        <a:pt x="27" y="9"/>
                      </a:lnTo>
                      <a:lnTo>
                        <a:pt x="28" y="15"/>
                      </a:lnTo>
                      <a:lnTo>
                        <a:pt x="28" y="20"/>
                      </a:lnTo>
                      <a:lnTo>
                        <a:pt x="27" y="26"/>
                      </a:lnTo>
                      <a:lnTo>
                        <a:pt x="26" y="31"/>
                      </a:lnTo>
                      <a:lnTo>
                        <a:pt x="21" y="35"/>
                      </a:lnTo>
                      <a:lnTo>
                        <a:pt x="19" y="36"/>
                      </a:lnTo>
                      <a:lnTo>
                        <a:pt x="9" y="36"/>
                      </a:lnTo>
                      <a:lnTo>
                        <a:pt x="6" y="35"/>
                      </a:lnTo>
                      <a:lnTo>
                        <a:pt x="2" y="31"/>
                      </a:lnTo>
                      <a:lnTo>
                        <a:pt x="1" y="27"/>
                      </a:lnTo>
                      <a:lnTo>
                        <a:pt x="0" y="22"/>
                      </a:lnTo>
                      <a:lnTo>
                        <a:pt x="0" y="15"/>
                      </a:lnTo>
                      <a:lnTo>
                        <a:pt x="1" y="9"/>
                      </a:lnTo>
                      <a:lnTo>
                        <a:pt x="2" y="5"/>
                      </a:lnTo>
                      <a:lnTo>
                        <a:pt x="6" y="2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93" name="Freeform 300"/>
                <p:cNvSpPr>
                  <a:spLocks/>
                </p:cNvSpPr>
                <p:nvPr/>
              </p:nvSpPr>
              <p:spPr bwMode="auto">
                <a:xfrm>
                  <a:off x="989" y="3653"/>
                  <a:ext cx="3" cy="28"/>
                </a:xfrm>
                <a:custGeom>
                  <a:avLst/>
                  <a:gdLst>
                    <a:gd name="T0" fmla="*/ 1 w 3"/>
                    <a:gd name="T1" fmla="*/ 0 h 28"/>
                    <a:gd name="T2" fmla="*/ 0 w 3"/>
                    <a:gd name="T3" fmla="*/ 2 h 28"/>
                    <a:gd name="T4" fmla="*/ 0 w 3"/>
                    <a:gd name="T5" fmla="*/ 5 h 28"/>
                    <a:gd name="T6" fmla="*/ 0 w 3"/>
                    <a:gd name="T7" fmla="*/ 22 h 28"/>
                    <a:gd name="T8" fmla="*/ 0 w 3"/>
                    <a:gd name="T9" fmla="*/ 25 h 28"/>
                    <a:gd name="T10" fmla="*/ 1 w 3"/>
                    <a:gd name="T11" fmla="*/ 27 h 28"/>
                    <a:gd name="T12" fmla="*/ 2 w 3"/>
                    <a:gd name="T13" fmla="*/ 25 h 28"/>
                    <a:gd name="T14" fmla="*/ 2 w 3"/>
                    <a:gd name="T15" fmla="*/ 22 h 28"/>
                    <a:gd name="T16" fmla="*/ 2 w 3"/>
                    <a:gd name="T17" fmla="*/ 5 h 28"/>
                    <a:gd name="T18" fmla="*/ 2 w 3"/>
                    <a:gd name="T19" fmla="*/ 2 h 28"/>
                    <a:gd name="T20" fmla="*/ 1 w 3"/>
                    <a:gd name="T21" fmla="*/ 0 h 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"/>
                    <a:gd name="T34" fmla="*/ 0 h 28"/>
                    <a:gd name="T35" fmla="*/ 3 w 3"/>
                    <a:gd name="T36" fmla="*/ 28 h 2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" h="28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0" y="22"/>
                      </a:lnTo>
                      <a:lnTo>
                        <a:pt x="0" y="25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2" y="22"/>
                      </a:ln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3" name="Group 301"/>
              <p:cNvGrpSpPr>
                <a:grpSpLocks/>
              </p:cNvGrpSpPr>
              <p:nvPr/>
            </p:nvGrpSpPr>
            <p:grpSpPr bwMode="auto">
              <a:xfrm>
                <a:off x="1013" y="3648"/>
                <a:ext cx="60" cy="36"/>
                <a:chOff x="1013" y="3648"/>
                <a:chExt cx="60" cy="36"/>
              </a:xfrm>
            </p:grpSpPr>
            <p:sp>
              <p:nvSpPr>
                <p:cNvPr id="100590" name="Freeform 302"/>
                <p:cNvSpPr>
                  <a:spLocks/>
                </p:cNvSpPr>
                <p:nvPr/>
              </p:nvSpPr>
              <p:spPr bwMode="auto">
                <a:xfrm>
                  <a:off x="1013" y="3648"/>
                  <a:ext cx="27" cy="36"/>
                </a:xfrm>
                <a:custGeom>
                  <a:avLst/>
                  <a:gdLst>
                    <a:gd name="T0" fmla="*/ 0 w 27"/>
                    <a:gd name="T1" fmla="*/ 0 h 36"/>
                    <a:gd name="T2" fmla="*/ 16 w 27"/>
                    <a:gd name="T3" fmla="*/ 0 h 36"/>
                    <a:gd name="T4" fmla="*/ 16 w 27"/>
                    <a:gd name="T5" fmla="*/ 2 h 36"/>
                    <a:gd name="T6" fmla="*/ 12 w 27"/>
                    <a:gd name="T7" fmla="*/ 2 h 36"/>
                    <a:gd name="T8" fmla="*/ 12 w 27"/>
                    <a:gd name="T9" fmla="*/ 31 h 36"/>
                    <a:gd name="T10" fmla="*/ 16 w 27"/>
                    <a:gd name="T11" fmla="*/ 31 h 36"/>
                    <a:gd name="T12" fmla="*/ 23 w 27"/>
                    <a:gd name="T13" fmla="*/ 26 h 36"/>
                    <a:gd name="T14" fmla="*/ 26 w 27"/>
                    <a:gd name="T15" fmla="*/ 26 h 36"/>
                    <a:gd name="T16" fmla="*/ 26 w 27"/>
                    <a:gd name="T17" fmla="*/ 35 h 36"/>
                    <a:gd name="T18" fmla="*/ 1 w 27"/>
                    <a:gd name="T19" fmla="*/ 35 h 36"/>
                    <a:gd name="T20" fmla="*/ 1 w 27"/>
                    <a:gd name="T21" fmla="*/ 33 h 36"/>
                    <a:gd name="T22" fmla="*/ 3 w 27"/>
                    <a:gd name="T23" fmla="*/ 33 h 36"/>
                    <a:gd name="T24" fmla="*/ 3 w 27"/>
                    <a:gd name="T25" fmla="*/ 2 h 36"/>
                    <a:gd name="T26" fmla="*/ 0 w 27"/>
                    <a:gd name="T27" fmla="*/ 2 h 36"/>
                    <a:gd name="T28" fmla="*/ 0 w 27"/>
                    <a:gd name="T29" fmla="*/ 0 h 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7"/>
                    <a:gd name="T46" fmla="*/ 0 h 36"/>
                    <a:gd name="T47" fmla="*/ 27 w 27"/>
                    <a:gd name="T48" fmla="*/ 36 h 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7" h="36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2" y="2"/>
                      </a:lnTo>
                      <a:lnTo>
                        <a:pt x="12" y="31"/>
                      </a:lnTo>
                      <a:lnTo>
                        <a:pt x="16" y="31"/>
                      </a:lnTo>
                      <a:lnTo>
                        <a:pt x="23" y="26"/>
                      </a:lnTo>
                      <a:lnTo>
                        <a:pt x="26" y="26"/>
                      </a:lnTo>
                      <a:lnTo>
                        <a:pt x="26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91" name="Freeform 303"/>
                <p:cNvSpPr>
                  <a:spLocks/>
                </p:cNvSpPr>
                <p:nvPr/>
              </p:nvSpPr>
              <p:spPr bwMode="auto">
                <a:xfrm>
                  <a:off x="1047" y="3648"/>
                  <a:ext cx="26" cy="36"/>
                </a:xfrm>
                <a:custGeom>
                  <a:avLst/>
                  <a:gdLst>
                    <a:gd name="T0" fmla="*/ 0 w 26"/>
                    <a:gd name="T1" fmla="*/ 0 h 36"/>
                    <a:gd name="T2" fmla="*/ 16 w 26"/>
                    <a:gd name="T3" fmla="*/ 0 h 36"/>
                    <a:gd name="T4" fmla="*/ 16 w 26"/>
                    <a:gd name="T5" fmla="*/ 2 h 36"/>
                    <a:gd name="T6" fmla="*/ 11 w 26"/>
                    <a:gd name="T7" fmla="*/ 2 h 36"/>
                    <a:gd name="T8" fmla="*/ 11 w 26"/>
                    <a:gd name="T9" fmla="*/ 31 h 36"/>
                    <a:gd name="T10" fmla="*/ 16 w 26"/>
                    <a:gd name="T11" fmla="*/ 31 h 36"/>
                    <a:gd name="T12" fmla="*/ 22 w 26"/>
                    <a:gd name="T13" fmla="*/ 26 h 36"/>
                    <a:gd name="T14" fmla="*/ 25 w 26"/>
                    <a:gd name="T15" fmla="*/ 26 h 36"/>
                    <a:gd name="T16" fmla="*/ 25 w 26"/>
                    <a:gd name="T17" fmla="*/ 35 h 36"/>
                    <a:gd name="T18" fmla="*/ 0 w 26"/>
                    <a:gd name="T19" fmla="*/ 35 h 36"/>
                    <a:gd name="T20" fmla="*/ 0 w 26"/>
                    <a:gd name="T21" fmla="*/ 33 h 36"/>
                    <a:gd name="T22" fmla="*/ 3 w 26"/>
                    <a:gd name="T23" fmla="*/ 33 h 36"/>
                    <a:gd name="T24" fmla="*/ 3 w 26"/>
                    <a:gd name="T25" fmla="*/ 2 h 36"/>
                    <a:gd name="T26" fmla="*/ 0 w 26"/>
                    <a:gd name="T27" fmla="*/ 2 h 36"/>
                    <a:gd name="T28" fmla="*/ 0 w 26"/>
                    <a:gd name="T29" fmla="*/ 0 h 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6"/>
                    <a:gd name="T46" fmla="*/ 0 h 36"/>
                    <a:gd name="T47" fmla="*/ 26 w 26"/>
                    <a:gd name="T48" fmla="*/ 36 h 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6" h="36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1" y="2"/>
                      </a:lnTo>
                      <a:lnTo>
                        <a:pt x="11" y="31"/>
                      </a:lnTo>
                      <a:lnTo>
                        <a:pt x="16" y="31"/>
                      </a:lnTo>
                      <a:lnTo>
                        <a:pt x="22" y="26"/>
                      </a:lnTo>
                      <a:lnTo>
                        <a:pt x="25" y="26"/>
                      </a:lnTo>
                      <a:lnTo>
                        <a:pt x="25" y="35"/>
                      </a:lnTo>
                      <a:lnTo>
                        <a:pt x="0" y="35"/>
                      </a:lnTo>
                      <a:lnTo>
                        <a:pt x="0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4" name="Group 304"/>
              <p:cNvGrpSpPr>
                <a:grpSpLocks/>
              </p:cNvGrpSpPr>
              <p:nvPr/>
            </p:nvGrpSpPr>
            <p:grpSpPr bwMode="auto">
              <a:xfrm>
                <a:off x="1079" y="3649"/>
                <a:ext cx="42" cy="36"/>
                <a:chOff x="1079" y="3649"/>
                <a:chExt cx="42" cy="36"/>
              </a:xfrm>
            </p:grpSpPr>
            <p:sp>
              <p:nvSpPr>
                <p:cNvPr id="100588" name="Freeform 305"/>
                <p:cNvSpPr>
                  <a:spLocks/>
                </p:cNvSpPr>
                <p:nvPr/>
              </p:nvSpPr>
              <p:spPr bwMode="auto">
                <a:xfrm>
                  <a:off x="1079" y="3649"/>
                  <a:ext cx="42" cy="36"/>
                </a:xfrm>
                <a:custGeom>
                  <a:avLst/>
                  <a:gdLst>
                    <a:gd name="T0" fmla="*/ 24 w 42"/>
                    <a:gd name="T1" fmla="*/ 0 h 36"/>
                    <a:gd name="T2" fmla="*/ 38 w 42"/>
                    <a:gd name="T3" fmla="*/ 32 h 36"/>
                    <a:gd name="T4" fmla="*/ 41 w 42"/>
                    <a:gd name="T5" fmla="*/ 32 h 36"/>
                    <a:gd name="T6" fmla="*/ 41 w 42"/>
                    <a:gd name="T7" fmla="*/ 35 h 36"/>
                    <a:gd name="T8" fmla="*/ 18 w 42"/>
                    <a:gd name="T9" fmla="*/ 35 h 36"/>
                    <a:gd name="T10" fmla="*/ 18 w 42"/>
                    <a:gd name="T11" fmla="*/ 32 h 36"/>
                    <a:gd name="T12" fmla="*/ 22 w 42"/>
                    <a:gd name="T13" fmla="*/ 32 h 36"/>
                    <a:gd name="T14" fmla="*/ 18 w 42"/>
                    <a:gd name="T15" fmla="*/ 22 h 36"/>
                    <a:gd name="T16" fmla="*/ 10 w 42"/>
                    <a:gd name="T17" fmla="*/ 22 h 36"/>
                    <a:gd name="T18" fmla="*/ 7 w 42"/>
                    <a:gd name="T19" fmla="*/ 32 h 36"/>
                    <a:gd name="T20" fmla="*/ 11 w 42"/>
                    <a:gd name="T21" fmla="*/ 32 h 36"/>
                    <a:gd name="T22" fmla="*/ 11 w 42"/>
                    <a:gd name="T23" fmla="*/ 35 h 36"/>
                    <a:gd name="T24" fmla="*/ 0 w 42"/>
                    <a:gd name="T25" fmla="*/ 35 h 36"/>
                    <a:gd name="T26" fmla="*/ 0 w 42"/>
                    <a:gd name="T27" fmla="*/ 32 h 36"/>
                    <a:gd name="T28" fmla="*/ 3 w 42"/>
                    <a:gd name="T29" fmla="*/ 32 h 36"/>
                    <a:gd name="T30" fmla="*/ 14 w 42"/>
                    <a:gd name="T31" fmla="*/ 0 h 36"/>
                    <a:gd name="T32" fmla="*/ 24 w 42"/>
                    <a:gd name="T33" fmla="*/ 0 h 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2"/>
                    <a:gd name="T52" fmla="*/ 0 h 36"/>
                    <a:gd name="T53" fmla="*/ 42 w 42"/>
                    <a:gd name="T54" fmla="*/ 36 h 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2" h="36">
                      <a:moveTo>
                        <a:pt x="24" y="0"/>
                      </a:moveTo>
                      <a:lnTo>
                        <a:pt x="38" y="32"/>
                      </a:lnTo>
                      <a:lnTo>
                        <a:pt x="41" y="32"/>
                      </a:lnTo>
                      <a:lnTo>
                        <a:pt x="41" y="35"/>
                      </a:lnTo>
                      <a:lnTo>
                        <a:pt x="18" y="35"/>
                      </a:lnTo>
                      <a:lnTo>
                        <a:pt x="18" y="32"/>
                      </a:lnTo>
                      <a:lnTo>
                        <a:pt x="22" y="32"/>
                      </a:lnTo>
                      <a:lnTo>
                        <a:pt x="18" y="22"/>
                      </a:lnTo>
                      <a:lnTo>
                        <a:pt x="10" y="22"/>
                      </a:lnTo>
                      <a:lnTo>
                        <a:pt x="7" y="32"/>
                      </a:lnTo>
                      <a:lnTo>
                        <a:pt x="11" y="32"/>
                      </a:lnTo>
                      <a:lnTo>
                        <a:pt x="11" y="35"/>
                      </a:lnTo>
                      <a:lnTo>
                        <a:pt x="0" y="35"/>
                      </a:lnTo>
                      <a:lnTo>
                        <a:pt x="0" y="32"/>
                      </a:lnTo>
                      <a:lnTo>
                        <a:pt x="3" y="32"/>
                      </a:lnTo>
                      <a:lnTo>
                        <a:pt x="14" y="0"/>
                      </a:lnTo>
                      <a:lnTo>
                        <a:pt x="24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89" name="Freeform 306"/>
                <p:cNvSpPr>
                  <a:spLocks/>
                </p:cNvSpPr>
                <p:nvPr/>
              </p:nvSpPr>
              <p:spPr bwMode="auto">
                <a:xfrm>
                  <a:off x="1092" y="3660"/>
                  <a:ext cx="2" cy="4"/>
                </a:xfrm>
                <a:custGeom>
                  <a:avLst/>
                  <a:gdLst>
                    <a:gd name="T0" fmla="*/ 1 w 2"/>
                    <a:gd name="T1" fmla="*/ 0 h 4"/>
                    <a:gd name="T2" fmla="*/ 1 w 2"/>
                    <a:gd name="T3" fmla="*/ 3 h 4"/>
                    <a:gd name="T4" fmla="*/ 0 w 2"/>
                    <a:gd name="T5" fmla="*/ 3 h 4"/>
                    <a:gd name="T6" fmla="*/ 1 w 2"/>
                    <a:gd name="T7" fmla="*/ 0 h 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"/>
                    <a:gd name="T13" fmla="*/ 0 h 4"/>
                    <a:gd name="T14" fmla="*/ 2 w 2"/>
                    <a:gd name="T15" fmla="*/ 4 h 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" h="4">
                      <a:moveTo>
                        <a:pt x="1" y="0"/>
                      </a:move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85" name="Group 307"/>
              <p:cNvGrpSpPr>
                <a:grpSpLocks/>
              </p:cNvGrpSpPr>
              <p:nvPr/>
            </p:nvGrpSpPr>
            <p:grpSpPr bwMode="auto">
              <a:xfrm>
                <a:off x="931" y="3650"/>
                <a:ext cx="35" cy="35"/>
                <a:chOff x="931" y="3650"/>
                <a:chExt cx="35" cy="35"/>
              </a:xfrm>
            </p:grpSpPr>
            <p:sp>
              <p:nvSpPr>
                <p:cNvPr id="100586" name="Freeform 308"/>
                <p:cNvSpPr>
                  <a:spLocks/>
                </p:cNvSpPr>
                <p:nvPr/>
              </p:nvSpPr>
              <p:spPr bwMode="auto">
                <a:xfrm>
                  <a:off x="931" y="3650"/>
                  <a:ext cx="35" cy="35"/>
                </a:xfrm>
                <a:custGeom>
                  <a:avLst/>
                  <a:gdLst>
                    <a:gd name="T0" fmla="*/ 13 w 35"/>
                    <a:gd name="T1" fmla="*/ 0 h 35"/>
                    <a:gd name="T2" fmla="*/ 24 w 35"/>
                    <a:gd name="T3" fmla="*/ 0 h 35"/>
                    <a:gd name="T4" fmla="*/ 27 w 35"/>
                    <a:gd name="T5" fmla="*/ 1 h 35"/>
                    <a:gd name="T6" fmla="*/ 32 w 35"/>
                    <a:gd name="T7" fmla="*/ 4 h 35"/>
                    <a:gd name="T8" fmla="*/ 33 w 35"/>
                    <a:gd name="T9" fmla="*/ 9 h 35"/>
                    <a:gd name="T10" fmla="*/ 34 w 35"/>
                    <a:gd name="T11" fmla="*/ 14 h 35"/>
                    <a:gd name="T12" fmla="*/ 34 w 35"/>
                    <a:gd name="T13" fmla="*/ 19 h 35"/>
                    <a:gd name="T14" fmla="*/ 33 w 35"/>
                    <a:gd name="T15" fmla="*/ 25 h 35"/>
                    <a:gd name="T16" fmla="*/ 32 w 35"/>
                    <a:gd name="T17" fmla="*/ 29 h 35"/>
                    <a:gd name="T18" fmla="*/ 26 w 35"/>
                    <a:gd name="T19" fmla="*/ 33 h 35"/>
                    <a:gd name="T20" fmla="*/ 23 w 35"/>
                    <a:gd name="T21" fmla="*/ 34 h 35"/>
                    <a:gd name="T22" fmla="*/ 13 w 35"/>
                    <a:gd name="T23" fmla="*/ 34 h 35"/>
                    <a:gd name="T24" fmla="*/ 0 w 35"/>
                    <a:gd name="T25" fmla="*/ 34 h 35"/>
                    <a:gd name="T26" fmla="*/ 1 w 35"/>
                    <a:gd name="T27" fmla="*/ 31 h 35"/>
                    <a:gd name="T28" fmla="*/ 4 w 35"/>
                    <a:gd name="T29" fmla="*/ 31 h 35"/>
                    <a:gd name="T30" fmla="*/ 4 w 35"/>
                    <a:gd name="T31" fmla="*/ 21 h 35"/>
                    <a:gd name="T32" fmla="*/ 4 w 35"/>
                    <a:gd name="T33" fmla="*/ 14 h 35"/>
                    <a:gd name="T34" fmla="*/ 4 w 35"/>
                    <a:gd name="T35" fmla="*/ 9 h 35"/>
                    <a:gd name="T36" fmla="*/ 4 w 35"/>
                    <a:gd name="T37" fmla="*/ 3 h 35"/>
                    <a:gd name="T38" fmla="*/ 0 w 35"/>
                    <a:gd name="T39" fmla="*/ 3 h 35"/>
                    <a:gd name="T40" fmla="*/ 0 w 35"/>
                    <a:gd name="T41" fmla="*/ 0 h 35"/>
                    <a:gd name="T42" fmla="*/ 13 w 35"/>
                    <a:gd name="T43" fmla="*/ 0 h 35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35"/>
                    <a:gd name="T67" fmla="*/ 0 h 35"/>
                    <a:gd name="T68" fmla="*/ 35 w 35"/>
                    <a:gd name="T69" fmla="*/ 35 h 35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35" h="35">
                      <a:moveTo>
                        <a:pt x="13" y="0"/>
                      </a:moveTo>
                      <a:lnTo>
                        <a:pt x="24" y="0"/>
                      </a:lnTo>
                      <a:lnTo>
                        <a:pt x="27" y="1"/>
                      </a:lnTo>
                      <a:lnTo>
                        <a:pt x="32" y="4"/>
                      </a:lnTo>
                      <a:lnTo>
                        <a:pt x="33" y="9"/>
                      </a:lnTo>
                      <a:lnTo>
                        <a:pt x="34" y="14"/>
                      </a:lnTo>
                      <a:lnTo>
                        <a:pt x="34" y="19"/>
                      </a:lnTo>
                      <a:lnTo>
                        <a:pt x="33" y="25"/>
                      </a:lnTo>
                      <a:lnTo>
                        <a:pt x="32" y="29"/>
                      </a:lnTo>
                      <a:lnTo>
                        <a:pt x="26" y="33"/>
                      </a:lnTo>
                      <a:lnTo>
                        <a:pt x="23" y="34"/>
                      </a:lnTo>
                      <a:lnTo>
                        <a:pt x="13" y="34"/>
                      </a:lnTo>
                      <a:lnTo>
                        <a:pt x="0" y="34"/>
                      </a:lnTo>
                      <a:lnTo>
                        <a:pt x="1" y="31"/>
                      </a:lnTo>
                      <a:lnTo>
                        <a:pt x="4" y="31"/>
                      </a:lnTo>
                      <a:lnTo>
                        <a:pt x="4" y="21"/>
                      </a:lnTo>
                      <a:lnTo>
                        <a:pt x="4" y="14"/>
                      </a:lnTo>
                      <a:lnTo>
                        <a:pt x="4" y="9"/>
                      </a:lnTo>
                      <a:lnTo>
                        <a:pt x="4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13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87" name="Freeform 309"/>
                <p:cNvSpPr>
                  <a:spLocks/>
                </p:cNvSpPr>
                <p:nvPr/>
              </p:nvSpPr>
              <p:spPr bwMode="auto">
                <a:xfrm>
                  <a:off x="949" y="3655"/>
                  <a:ext cx="3" cy="26"/>
                </a:xfrm>
                <a:custGeom>
                  <a:avLst/>
                  <a:gdLst>
                    <a:gd name="T0" fmla="*/ 1 w 3"/>
                    <a:gd name="T1" fmla="*/ 0 h 26"/>
                    <a:gd name="T2" fmla="*/ 0 w 3"/>
                    <a:gd name="T3" fmla="*/ 0 h 26"/>
                    <a:gd name="T4" fmla="*/ 0 w 3"/>
                    <a:gd name="T5" fmla="*/ 25 h 26"/>
                    <a:gd name="T6" fmla="*/ 1 w 3"/>
                    <a:gd name="T7" fmla="*/ 25 h 26"/>
                    <a:gd name="T8" fmla="*/ 2 w 3"/>
                    <a:gd name="T9" fmla="*/ 23 h 26"/>
                    <a:gd name="T10" fmla="*/ 2 w 3"/>
                    <a:gd name="T11" fmla="*/ 21 h 26"/>
                    <a:gd name="T12" fmla="*/ 2 w 3"/>
                    <a:gd name="T13" fmla="*/ 4 h 26"/>
                    <a:gd name="T14" fmla="*/ 2 w 3"/>
                    <a:gd name="T15" fmla="*/ 2 h 26"/>
                    <a:gd name="T16" fmla="*/ 1 w 3"/>
                    <a:gd name="T17" fmla="*/ 0 h 2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"/>
                    <a:gd name="T28" fmla="*/ 0 h 26"/>
                    <a:gd name="T29" fmla="*/ 3 w 3"/>
                    <a:gd name="T30" fmla="*/ 26 h 2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" h="26">
                      <a:moveTo>
                        <a:pt x="1" y="0"/>
                      </a:moveTo>
                      <a:lnTo>
                        <a:pt x="0" y="0"/>
                      </a:lnTo>
                      <a:lnTo>
                        <a:pt x="0" y="25"/>
                      </a:lnTo>
                      <a:lnTo>
                        <a:pt x="1" y="25"/>
                      </a:lnTo>
                      <a:lnTo>
                        <a:pt x="2" y="23"/>
                      </a:lnTo>
                      <a:lnTo>
                        <a:pt x="2" y="21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34" name="Group 310"/>
            <p:cNvGrpSpPr>
              <a:grpSpLocks/>
            </p:cNvGrpSpPr>
            <p:nvPr/>
          </p:nvGrpSpPr>
          <p:grpSpPr bwMode="auto">
            <a:xfrm>
              <a:off x="696" y="3535"/>
              <a:ext cx="599" cy="47"/>
              <a:chOff x="696" y="3297"/>
              <a:chExt cx="573" cy="31"/>
            </a:xfrm>
          </p:grpSpPr>
          <p:grpSp>
            <p:nvGrpSpPr>
              <p:cNvPr id="100550" name="Group 311"/>
              <p:cNvGrpSpPr>
                <a:grpSpLocks/>
              </p:cNvGrpSpPr>
              <p:nvPr/>
            </p:nvGrpSpPr>
            <p:grpSpPr bwMode="auto">
              <a:xfrm>
                <a:off x="696" y="3297"/>
                <a:ext cx="57" cy="31"/>
                <a:chOff x="696" y="3297"/>
                <a:chExt cx="57" cy="31"/>
              </a:xfrm>
            </p:grpSpPr>
            <p:sp>
              <p:nvSpPr>
                <p:cNvPr id="100576" name="Freeform 312"/>
                <p:cNvSpPr>
                  <a:spLocks/>
                </p:cNvSpPr>
                <p:nvPr/>
              </p:nvSpPr>
              <p:spPr bwMode="auto">
                <a:xfrm>
                  <a:off x="696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8 w 11"/>
                    <a:gd name="T7" fmla="*/ 6 h 31"/>
                    <a:gd name="T8" fmla="*/ 8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7" name="Freeform 313"/>
                <p:cNvSpPr>
                  <a:spLocks/>
                </p:cNvSpPr>
                <p:nvPr/>
              </p:nvSpPr>
              <p:spPr bwMode="auto">
                <a:xfrm>
                  <a:off x="716" y="3297"/>
                  <a:ext cx="17" cy="31"/>
                </a:xfrm>
                <a:custGeom>
                  <a:avLst/>
                  <a:gdLst>
                    <a:gd name="T0" fmla="*/ 0 w 17"/>
                    <a:gd name="T1" fmla="*/ 0 h 31"/>
                    <a:gd name="T2" fmla="*/ 5 w 17"/>
                    <a:gd name="T3" fmla="*/ 0 h 31"/>
                    <a:gd name="T4" fmla="*/ 5 w 17"/>
                    <a:gd name="T5" fmla="*/ 12 h 31"/>
                    <a:gd name="T6" fmla="*/ 11 w 17"/>
                    <a:gd name="T7" fmla="*/ 12 h 31"/>
                    <a:gd name="T8" fmla="*/ 11 w 17"/>
                    <a:gd name="T9" fmla="*/ 0 h 31"/>
                    <a:gd name="T10" fmla="*/ 16 w 17"/>
                    <a:gd name="T11" fmla="*/ 0 h 31"/>
                    <a:gd name="T12" fmla="*/ 16 w 17"/>
                    <a:gd name="T13" fmla="*/ 30 h 31"/>
                    <a:gd name="T14" fmla="*/ 11 w 17"/>
                    <a:gd name="T15" fmla="*/ 30 h 31"/>
                    <a:gd name="T16" fmla="*/ 11 w 17"/>
                    <a:gd name="T17" fmla="*/ 17 h 31"/>
                    <a:gd name="T18" fmla="*/ 5 w 17"/>
                    <a:gd name="T19" fmla="*/ 17 h 31"/>
                    <a:gd name="T20" fmla="*/ 5 w 17"/>
                    <a:gd name="T21" fmla="*/ 30 h 31"/>
                    <a:gd name="T22" fmla="*/ 0 w 17"/>
                    <a:gd name="T23" fmla="*/ 30 h 31"/>
                    <a:gd name="T24" fmla="*/ 0 w 17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7"/>
                    <a:gd name="T40" fmla="*/ 0 h 31"/>
                    <a:gd name="T41" fmla="*/ 17 w 17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7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12"/>
                      </a:lnTo>
                      <a:lnTo>
                        <a:pt x="11" y="12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16" y="30"/>
                      </a:lnTo>
                      <a:lnTo>
                        <a:pt x="11" y="30"/>
                      </a:lnTo>
                      <a:lnTo>
                        <a:pt x="11" y="17"/>
                      </a:lnTo>
                      <a:lnTo>
                        <a:pt x="5" y="17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8" name="Freeform 314"/>
                <p:cNvSpPr>
                  <a:spLocks/>
                </p:cNvSpPr>
                <p:nvPr/>
              </p:nvSpPr>
              <p:spPr bwMode="auto">
                <a:xfrm>
                  <a:off x="742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5 w 11"/>
                    <a:gd name="T7" fmla="*/ 6 h 31"/>
                    <a:gd name="T8" fmla="*/ 5 w 11"/>
                    <a:gd name="T9" fmla="*/ 12 h 31"/>
                    <a:gd name="T10" fmla="*/ 9 w 11"/>
                    <a:gd name="T11" fmla="*/ 12 h 31"/>
                    <a:gd name="T12" fmla="*/ 9 w 11"/>
                    <a:gd name="T13" fmla="*/ 17 h 31"/>
                    <a:gd name="T14" fmla="*/ 5 w 11"/>
                    <a:gd name="T15" fmla="*/ 17 h 31"/>
                    <a:gd name="T16" fmla="*/ 5 w 11"/>
                    <a:gd name="T17" fmla="*/ 24 h 31"/>
                    <a:gd name="T18" fmla="*/ 10 w 11"/>
                    <a:gd name="T19" fmla="*/ 24 h 31"/>
                    <a:gd name="T20" fmla="*/ 10 w 11"/>
                    <a:gd name="T21" fmla="*/ 30 h 31"/>
                    <a:gd name="T22" fmla="*/ 0 w 11"/>
                    <a:gd name="T23" fmla="*/ 30 h 31"/>
                    <a:gd name="T24" fmla="*/ 0 w 11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1"/>
                    <a:gd name="T40" fmla="*/ 0 h 31"/>
                    <a:gd name="T41" fmla="*/ 11 w 11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51" name="Group 315"/>
              <p:cNvGrpSpPr>
                <a:grpSpLocks/>
              </p:cNvGrpSpPr>
              <p:nvPr/>
            </p:nvGrpSpPr>
            <p:grpSpPr bwMode="auto">
              <a:xfrm>
                <a:off x="774" y="3297"/>
                <a:ext cx="118" cy="31"/>
                <a:chOff x="774" y="3297"/>
                <a:chExt cx="118" cy="31"/>
              </a:xfrm>
            </p:grpSpPr>
            <p:sp>
              <p:nvSpPr>
                <p:cNvPr id="100570" name="Freeform 316"/>
                <p:cNvSpPr>
                  <a:spLocks/>
                </p:cNvSpPr>
                <p:nvPr/>
              </p:nvSpPr>
              <p:spPr bwMode="auto">
                <a:xfrm>
                  <a:off x="774" y="3297"/>
                  <a:ext cx="14" cy="31"/>
                </a:xfrm>
                <a:custGeom>
                  <a:avLst/>
                  <a:gdLst>
                    <a:gd name="T0" fmla="*/ 0 w 14"/>
                    <a:gd name="T1" fmla="*/ 0 h 31"/>
                    <a:gd name="T2" fmla="*/ 5 w 14"/>
                    <a:gd name="T3" fmla="*/ 0 h 31"/>
                    <a:gd name="T4" fmla="*/ 5 w 14"/>
                    <a:gd name="T5" fmla="*/ 24 h 31"/>
                    <a:gd name="T6" fmla="*/ 8 w 14"/>
                    <a:gd name="T7" fmla="*/ 24 h 31"/>
                    <a:gd name="T8" fmla="*/ 8 w 14"/>
                    <a:gd name="T9" fmla="*/ 0 h 31"/>
                    <a:gd name="T10" fmla="*/ 13 w 14"/>
                    <a:gd name="T11" fmla="*/ 0 h 31"/>
                    <a:gd name="T12" fmla="*/ 13 w 14"/>
                    <a:gd name="T13" fmla="*/ 26 h 31"/>
                    <a:gd name="T14" fmla="*/ 9 w 14"/>
                    <a:gd name="T15" fmla="*/ 30 h 31"/>
                    <a:gd name="T16" fmla="*/ 3 w 14"/>
                    <a:gd name="T17" fmla="*/ 30 h 31"/>
                    <a:gd name="T18" fmla="*/ 0 w 14"/>
                    <a:gd name="T19" fmla="*/ 26 h 31"/>
                    <a:gd name="T20" fmla="*/ 0 w 14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4"/>
                    <a:gd name="T34" fmla="*/ 0 h 31"/>
                    <a:gd name="T35" fmla="*/ 14 w 14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4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4"/>
                      </a:lnTo>
                      <a:lnTo>
                        <a:pt x="8" y="24"/>
                      </a:lnTo>
                      <a:lnTo>
                        <a:pt x="8" y="0"/>
                      </a:lnTo>
                      <a:lnTo>
                        <a:pt x="13" y="0"/>
                      </a:lnTo>
                      <a:lnTo>
                        <a:pt x="13" y="26"/>
                      </a:lnTo>
                      <a:lnTo>
                        <a:pt x="9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1" name="Freeform 317"/>
                <p:cNvSpPr>
                  <a:spLocks/>
                </p:cNvSpPr>
                <p:nvPr/>
              </p:nvSpPr>
              <p:spPr bwMode="auto">
                <a:xfrm>
                  <a:off x="799" y="3297"/>
                  <a:ext cx="16" cy="31"/>
                </a:xfrm>
                <a:custGeom>
                  <a:avLst/>
                  <a:gdLst>
                    <a:gd name="T0" fmla="*/ 0 w 16"/>
                    <a:gd name="T1" fmla="*/ 0 h 31"/>
                    <a:gd name="T2" fmla="*/ 5 w 16"/>
                    <a:gd name="T3" fmla="*/ 0 h 31"/>
                    <a:gd name="T4" fmla="*/ 9 w 16"/>
                    <a:gd name="T5" fmla="*/ 14 h 31"/>
                    <a:gd name="T6" fmla="*/ 9 w 16"/>
                    <a:gd name="T7" fmla="*/ 0 h 31"/>
                    <a:gd name="T8" fmla="*/ 15 w 16"/>
                    <a:gd name="T9" fmla="*/ 0 h 31"/>
                    <a:gd name="T10" fmla="*/ 15 w 16"/>
                    <a:gd name="T11" fmla="*/ 30 h 31"/>
                    <a:gd name="T12" fmla="*/ 9 w 16"/>
                    <a:gd name="T13" fmla="*/ 30 h 31"/>
                    <a:gd name="T14" fmla="*/ 6 w 16"/>
                    <a:gd name="T15" fmla="*/ 16 h 31"/>
                    <a:gd name="T16" fmla="*/ 6 w 16"/>
                    <a:gd name="T17" fmla="*/ 30 h 31"/>
                    <a:gd name="T18" fmla="*/ 0 w 16"/>
                    <a:gd name="T19" fmla="*/ 30 h 31"/>
                    <a:gd name="T20" fmla="*/ 0 w 16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"/>
                    <a:gd name="T34" fmla="*/ 0 h 31"/>
                    <a:gd name="T35" fmla="*/ 16 w 16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9" y="14"/>
                      </a:lnTo>
                      <a:lnTo>
                        <a:pt x="9" y="0"/>
                      </a:lnTo>
                      <a:lnTo>
                        <a:pt x="15" y="0"/>
                      </a:lnTo>
                      <a:lnTo>
                        <a:pt x="15" y="30"/>
                      </a:lnTo>
                      <a:lnTo>
                        <a:pt x="9" y="30"/>
                      </a:lnTo>
                      <a:lnTo>
                        <a:pt x="6" y="16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2" name="Freeform 318"/>
                <p:cNvSpPr>
                  <a:spLocks/>
                </p:cNvSpPr>
                <p:nvPr/>
              </p:nvSpPr>
              <p:spPr bwMode="auto">
                <a:xfrm>
                  <a:off x="825" y="3297"/>
                  <a:ext cx="1" cy="31"/>
                </a:xfrm>
                <a:custGeom>
                  <a:avLst/>
                  <a:gdLst>
                    <a:gd name="T0" fmla="*/ 0 w 1"/>
                    <a:gd name="T1" fmla="*/ 0 h 31"/>
                    <a:gd name="T2" fmla="*/ 0 w 1"/>
                    <a:gd name="T3" fmla="*/ 30 h 31"/>
                    <a:gd name="T4" fmla="*/ 0 w 1"/>
                    <a:gd name="T5" fmla="*/ 0 h 3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31"/>
                    <a:gd name="T11" fmla="*/ 1 w 1"/>
                    <a:gd name="T12" fmla="*/ 31 h 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31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3" name="Freeform 319"/>
                <p:cNvSpPr>
                  <a:spLocks/>
                </p:cNvSpPr>
                <p:nvPr/>
              </p:nvSpPr>
              <p:spPr bwMode="auto">
                <a:xfrm>
                  <a:off x="836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7 w 11"/>
                    <a:gd name="T7" fmla="*/ 6 h 31"/>
                    <a:gd name="T8" fmla="*/ 7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7" y="6"/>
                      </a:lnTo>
                      <a:lnTo>
                        <a:pt x="7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4" name="Freeform 320"/>
                <p:cNvSpPr>
                  <a:spLocks/>
                </p:cNvSpPr>
                <p:nvPr/>
              </p:nvSpPr>
              <p:spPr bwMode="auto">
                <a:xfrm>
                  <a:off x="857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4 w 10"/>
                    <a:gd name="T7" fmla="*/ 6 h 31"/>
                    <a:gd name="T8" fmla="*/ 4 w 10"/>
                    <a:gd name="T9" fmla="*/ 12 h 31"/>
                    <a:gd name="T10" fmla="*/ 8 w 10"/>
                    <a:gd name="T11" fmla="*/ 12 h 31"/>
                    <a:gd name="T12" fmla="*/ 8 w 10"/>
                    <a:gd name="T13" fmla="*/ 17 h 31"/>
                    <a:gd name="T14" fmla="*/ 4 w 10"/>
                    <a:gd name="T15" fmla="*/ 17 h 31"/>
                    <a:gd name="T16" fmla="*/ 4 w 10"/>
                    <a:gd name="T17" fmla="*/ 24 h 31"/>
                    <a:gd name="T18" fmla="*/ 9 w 10"/>
                    <a:gd name="T19" fmla="*/ 24 h 31"/>
                    <a:gd name="T20" fmla="*/ 9 w 10"/>
                    <a:gd name="T21" fmla="*/ 30 h 31"/>
                    <a:gd name="T22" fmla="*/ 0 w 10"/>
                    <a:gd name="T23" fmla="*/ 30 h 31"/>
                    <a:gd name="T24" fmla="*/ 0 w 10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0"/>
                    <a:gd name="T40" fmla="*/ 0 h 31"/>
                    <a:gd name="T41" fmla="*/ 10 w 10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8" y="12"/>
                      </a:lnTo>
                      <a:lnTo>
                        <a:pt x="8" y="17"/>
                      </a:lnTo>
                      <a:lnTo>
                        <a:pt x="4" y="17"/>
                      </a:lnTo>
                      <a:lnTo>
                        <a:pt x="4" y="24"/>
                      </a:lnTo>
                      <a:lnTo>
                        <a:pt x="9" y="24"/>
                      </a:lnTo>
                      <a:lnTo>
                        <a:pt x="9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75" name="Freeform 321"/>
                <p:cNvSpPr>
                  <a:spLocks/>
                </p:cNvSpPr>
                <p:nvPr/>
              </p:nvSpPr>
              <p:spPr bwMode="auto">
                <a:xfrm>
                  <a:off x="877" y="3297"/>
                  <a:ext cx="15" cy="31"/>
                </a:xfrm>
                <a:custGeom>
                  <a:avLst/>
                  <a:gdLst>
                    <a:gd name="T0" fmla="*/ 0 w 15"/>
                    <a:gd name="T1" fmla="*/ 0 h 31"/>
                    <a:gd name="T2" fmla="*/ 11 w 15"/>
                    <a:gd name="T3" fmla="*/ 0 h 31"/>
                    <a:gd name="T4" fmla="*/ 14 w 15"/>
                    <a:gd name="T5" fmla="*/ 4 h 31"/>
                    <a:gd name="T6" fmla="*/ 14 w 15"/>
                    <a:gd name="T7" fmla="*/ 26 h 31"/>
                    <a:gd name="T8" fmla="*/ 11 w 15"/>
                    <a:gd name="T9" fmla="*/ 30 h 31"/>
                    <a:gd name="T10" fmla="*/ 0 w 15"/>
                    <a:gd name="T11" fmla="*/ 30 h 31"/>
                    <a:gd name="T12" fmla="*/ 0 w 15"/>
                    <a:gd name="T13" fmla="*/ 6 h 31"/>
                    <a:gd name="T14" fmla="*/ 5 w 15"/>
                    <a:gd name="T15" fmla="*/ 6 h 31"/>
                    <a:gd name="T16" fmla="*/ 5 w 15"/>
                    <a:gd name="T17" fmla="*/ 24 h 31"/>
                    <a:gd name="T18" fmla="*/ 8 w 15"/>
                    <a:gd name="T19" fmla="*/ 24 h 31"/>
                    <a:gd name="T20" fmla="*/ 8 w 15"/>
                    <a:gd name="T21" fmla="*/ 6 h 31"/>
                    <a:gd name="T22" fmla="*/ 5 w 15"/>
                    <a:gd name="T23" fmla="*/ 6 h 31"/>
                    <a:gd name="T24" fmla="*/ 0 w 15"/>
                    <a:gd name="T25" fmla="*/ 6 h 31"/>
                    <a:gd name="T26" fmla="*/ 0 w 15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5"/>
                    <a:gd name="T43" fmla="*/ 0 h 31"/>
                    <a:gd name="T44" fmla="*/ 15 w 15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5" h="31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4" y="4"/>
                      </a:lnTo>
                      <a:lnTo>
                        <a:pt x="14" y="26"/>
                      </a:lnTo>
                      <a:lnTo>
                        <a:pt x="11" y="30"/>
                      </a:lnTo>
                      <a:lnTo>
                        <a:pt x="0" y="30"/>
                      </a:lnTo>
                      <a:lnTo>
                        <a:pt x="0" y="6"/>
                      </a:lnTo>
                      <a:lnTo>
                        <a:pt x="5" y="6"/>
                      </a:lnTo>
                      <a:lnTo>
                        <a:pt x="5" y="24"/>
                      </a:lnTo>
                      <a:lnTo>
                        <a:pt x="8" y="24"/>
                      </a:ln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52" name="Group 322"/>
              <p:cNvGrpSpPr>
                <a:grpSpLocks/>
              </p:cNvGrpSpPr>
              <p:nvPr/>
            </p:nvGrpSpPr>
            <p:grpSpPr bwMode="auto">
              <a:xfrm>
                <a:off x="915" y="3297"/>
                <a:ext cx="119" cy="31"/>
                <a:chOff x="915" y="3297"/>
                <a:chExt cx="119" cy="31"/>
              </a:xfrm>
            </p:grpSpPr>
            <p:sp>
              <p:nvSpPr>
                <p:cNvPr id="100564" name="Freeform 323"/>
                <p:cNvSpPr>
                  <a:spLocks/>
                </p:cNvSpPr>
                <p:nvPr/>
              </p:nvSpPr>
              <p:spPr bwMode="auto">
                <a:xfrm>
                  <a:off x="915" y="3297"/>
                  <a:ext cx="14" cy="31"/>
                </a:xfrm>
                <a:custGeom>
                  <a:avLst/>
                  <a:gdLst>
                    <a:gd name="T0" fmla="*/ 3 w 14"/>
                    <a:gd name="T1" fmla="*/ 0 h 31"/>
                    <a:gd name="T2" fmla="*/ 10 w 14"/>
                    <a:gd name="T3" fmla="*/ 0 h 31"/>
                    <a:gd name="T4" fmla="*/ 13 w 14"/>
                    <a:gd name="T5" fmla="*/ 4 h 31"/>
                    <a:gd name="T6" fmla="*/ 13 w 14"/>
                    <a:gd name="T7" fmla="*/ 9 h 31"/>
                    <a:gd name="T8" fmla="*/ 8 w 14"/>
                    <a:gd name="T9" fmla="*/ 9 h 31"/>
                    <a:gd name="T10" fmla="*/ 8 w 14"/>
                    <a:gd name="T11" fmla="*/ 6 h 31"/>
                    <a:gd name="T12" fmla="*/ 5 w 14"/>
                    <a:gd name="T13" fmla="*/ 6 h 31"/>
                    <a:gd name="T14" fmla="*/ 5 w 14"/>
                    <a:gd name="T15" fmla="*/ 12 h 31"/>
                    <a:gd name="T16" fmla="*/ 9 w 14"/>
                    <a:gd name="T17" fmla="*/ 12 h 31"/>
                    <a:gd name="T18" fmla="*/ 13 w 14"/>
                    <a:gd name="T19" fmla="*/ 17 h 31"/>
                    <a:gd name="T20" fmla="*/ 13 w 14"/>
                    <a:gd name="T21" fmla="*/ 26 h 31"/>
                    <a:gd name="T22" fmla="*/ 10 w 14"/>
                    <a:gd name="T23" fmla="*/ 30 h 31"/>
                    <a:gd name="T24" fmla="*/ 3 w 14"/>
                    <a:gd name="T25" fmla="*/ 30 h 31"/>
                    <a:gd name="T26" fmla="*/ 0 w 14"/>
                    <a:gd name="T27" fmla="*/ 26 h 31"/>
                    <a:gd name="T28" fmla="*/ 0 w 14"/>
                    <a:gd name="T29" fmla="*/ 21 h 31"/>
                    <a:gd name="T30" fmla="*/ 4 w 14"/>
                    <a:gd name="T31" fmla="*/ 21 h 31"/>
                    <a:gd name="T32" fmla="*/ 4 w 14"/>
                    <a:gd name="T33" fmla="*/ 24 h 31"/>
                    <a:gd name="T34" fmla="*/ 8 w 14"/>
                    <a:gd name="T35" fmla="*/ 24 h 31"/>
                    <a:gd name="T36" fmla="*/ 8 w 14"/>
                    <a:gd name="T37" fmla="*/ 18 h 31"/>
                    <a:gd name="T38" fmla="*/ 4 w 14"/>
                    <a:gd name="T39" fmla="*/ 18 h 31"/>
                    <a:gd name="T40" fmla="*/ 0 w 14"/>
                    <a:gd name="T41" fmla="*/ 14 h 31"/>
                    <a:gd name="T42" fmla="*/ 0 w 14"/>
                    <a:gd name="T43" fmla="*/ 4 h 31"/>
                    <a:gd name="T44" fmla="*/ 3 w 14"/>
                    <a:gd name="T45" fmla="*/ 0 h 31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4"/>
                    <a:gd name="T70" fmla="*/ 0 h 31"/>
                    <a:gd name="T71" fmla="*/ 14 w 14"/>
                    <a:gd name="T72" fmla="*/ 31 h 31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4" h="31">
                      <a:moveTo>
                        <a:pt x="3" y="0"/>
                      </a:moveTo>
                      <a:lnTo>
                        <a:pt x="10" y="0"/>
                      </a:lnTo>
                      <a:lnTo>
                        <a:pt x="13" y="4"/>
                      </a:lnTo>
                      <a:lnTo>
                        <a:pt x="13" y="9"/>
                      </a:lnTo>
                      <a:lnTo>
                        <a:pt x="8" y="9"/>
                      </a:ln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13" y="17"/>
                      </a:lnTo>
                      <a:lnTo>
                        <a:pt x="13" y="26"/>
                      </a:lnTo>
                      <a:lnTo>
                        <a:pt x="10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21"/>
                      </a:lnTo>
                      <a:lnTo>
                        <a:pt x="4" y="21"/>
                      </a:lnTo>
                      <a:lnTo>
                        <a:pt x="4" y="24"/>
                      </a:lnTo>
                      <a:lnTo>
                        <a:pt x="8" y="24"/>
                      </a:lnTo>
                      <a:lnTo>
                        <a:pt x="8" y="18"/>
                      </a:lnTo>
                      <a:lnTo>
                        <a:pt x="4" y="18"/>
                      </a:lnTo>
                      <a:lnTo>
                        <a:pt x="0" y="14"/>
                      </a:lnTo>
                      <a:lnTo>
                        <a:pt x="0" y="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5" name="Freeform 324"/>
                <p:cNvSpPr>
                  <a:spLocks/>
                </p:cNvSpPr>
                <p:nvPr/>
              </p:nvSpPr>
              <p:spPr bwMode="auto">
                <a:xfrm>
                  <a:off x="938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8 w 11"/>
                    <a:gd name="T7" fmla="*/ 6 h 31"/>
                    <a:gd name="T8" fmla="*/ 8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6" name="Freeform 325"/>
                <p:cNvSpPr>
                  <a:spLocks/>
                </p:cNvSpPr>
                <p:nvPr/>
              </p:nvSpPr>
              <p:spPr bwMode="auto">
                <a:xfrm>
                  <a:off x="954" y="3297"/>
                  <a:ext cx="18" cy="31"/>
                </a:xfrm>
                <a:custGeom>
                  <a:avLst/>
                  <a:gdLst>
                    <a:gd name="T0" fmla="*/ 5 w 18"/>
                    <a:gd name="T1" fmla="*/ 0 h 31"/>
                    <a:gd name="T2" fmla="*/ 13 w 18"/>
                    <a:gd name="T3" fmla="*/ 0 h 31"/>
                    <a:gd name="T4" fmla="*/ 17 w 18"/>
                    <a:gd name="T5" fmla="*/ 30 h 31"/>
                    <a:gd name="T6" fmla="*/ 12 w 18"/>
                    <a:gd name="T7" fmla="*/ 30 h 31"/>
                    <a:gd name="T8" fmla="*/ 11 w 18"/>
                    <a:gd name="T9" fmla="*/ 24 h 31"/>
                    <a:gd name="T10" fmla="*/ 11 w 18"/>
                    <a:gd name="T11" fmla="*/ 19 h 31"/>
                    <a:gd name="T12" fmla="*/ 9 w 18"/>
                    <a:gd name="T13" fmla="*/ 5 h 31"/>
                    <a:gd name="T14" fmla="*/ 7 w 18"/>
                    <a:gd name="T15" fmla="*/ 19 h 31"/>
                    <a:gd name="T16" fmla="*/ 11 w 18"/>
                    <a:gd name="T17" fmla="*/ 19 h 31"/>
                    <a:gd name="T18" fmla="*/ 11 w 18"/>
                    <a:gd name="T19" fmla="*/ 24 h 31"/>
                    <a:gd name="T20" fmla="*/ 7 w 18"/>
                    <a:gd name="T21" fmla="*/ 24 h 31"/>
                    <a:gd name="T22" fmla="*/ 6 w 18"/>
                    <a:gd name="T23" fmla="*/ 30 h 31"/>
                    <a:gd name="T24" fmla="*/ 0 w 18"/>
                    <a:gd name="T25" fmla="*/ 30 h 31"/>
                    <a:gd name="T26" fmla="*/ 5 w 18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8"/>
                    <a:gd name="T43" fmla="*/ 0 h 31"/>
                    <a:gd name="T44" fmla="*/ 18 w 18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8" h="31">
                      <a:moveTo>
                        <a:pt x="5" y="0"/>
                      </a:moveTo>
                      <a:lnTo>
                        <a:pt x="13" y="0"/>
                      </a:lnTo>
                      <a:lnTo>
                        <a:pt x="17" y="30"/>
                      </a:lnTo>
                      <a:lnTo>
                        <a:pt x="12" y="30"/>
                      </a:lnTo>
                      <a:lnTo>
                        <a:pt x="11" y="24"/>
                      </a:lnTo>
                      <a:lnTo>
                        <a:pt x="11" y="19"/>
                      </a:lnTo>
                      <a:lnTo>
                        <a:pt x="9" y="5"/>
                      </a:lnTo>
                      <a:lnTo>
                        <a:pt x="7" y="19"/>
                      </a:lnTo>
                      <a:lnTo>
                        <a:pt x="11" y="19"/>
                      </a:lnTo>
                      <a:lnTo>
                        <a:pt x="11" y="24"/>
                      </a:lnTo>
                      <a:lnTo>
                        <a:pt x="7" y="24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7" name="Freeform 326"/>
                <p:cNvSpPr>
                  <a:spLocks/>
                </p:cNvSpPr>
                <p:nvPr/>
              </p:nvSpPr>
              <p:spPr bwMode="auto">
                <a:xfrm>
                  <a:off x="977" y="3297"/>
                  <a:ext cx="12" cy="31"/>
                </a:xfrm>
                <a:custGeom>
                  <a:avLst/>
                  <a:gdLst>
                    <a:gd name="T0" fmla="*/ 0 w 12"/>
                    <a:gd name="T1" fmla="*/ 0 h 31"/>
                    <a:gd name="T2" fmla="*/ 11 w 12"/>
                    <a:gd name="T3" fmla="*/ 0 h 31"/>
                    <a:gd name="T4" fmla="*/ 11 w 12"/>
                    <a:gd name="T5" fmla="*/ 6 h 31"/>
                    <a:gd name="T6" fmla="*/ 8 w 12"/>
                    <a:gd name="T7" fmla="*/ 6 h 31"/>
                    <a:gd name="T8" fmla="*/ 8 w 12"/>
                    <a:gd name="T9" fmla="*/ 30 h 31"/>
                    <a:gd name="T10" fmla="*/ 3 w 12"/>
                    <a:gd name="T11" fmla="*/ 30 h 31"/>
                    <a:gd name="T12" fmla="*/ 3 w 12"/>
                    <a:gd name="T13" fmla="*/ 6 h 31"/>
                    <a:gd name="T14" fmla="*/ 0 w 12"/>
                    <a:gd name="T15" fmla="*/ 6 h 31"/>
                    <a:gd name="T16" fmla="*/ 0 w 1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2"/>
                    <a:gd name="T28" fmla="*/ 0 h 31"/>
                    <a:gd name="T29" fmla="*/ 12 w 1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2" h="31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8" name="Freeform 327"/>
                <p:cNvSpPr>
                  <a:spLocks/>
                </p:cNvSpPr>
                <p:nvPr/>
              </p:nvSpPr>
              <p:spPr bwMode="auto">
                <a:xfrm>
                  <a:off x="999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5 w 11"/>
                    <a:gd name="T7" fmla="*/ 6 h 31"/>
                    <a:gd name="T8" fmla="*/ 5 w 11"/>
                    <a:gd name="T9" fmla="*/ 12 h 31"/>
                    <a:gd name="T10" fmla="*/ 9 w 11"/>
                    <a:gd name="T11" fmla="*/ 12 h 31"/>
                    <a:gd name="T12" fmla="*/ 9 w 11"/>
                    <a:gd name="T13" fmla="*/ 17 h 31"/>
                    <a:gd name="T14" fmla="*/ 5 w 11"/>
                    <a:gd name="T15" fmla="*/ 17 h 31"/>
                    <a:gd name="T16" fmla="*/ 5 w 11"/>
                    <a:gd name="T17" fmla="*/ 24 h 31"/>
                    <a:gd name="T18" fmla="*/ 10 w 11"/>
                    <a:gd name="T19" fmla="*/ 24 h 31"/>
                    <a:gd name="T20" fmla="*/ 10 w 11"/>
                    <a:gd name="T21" fmla="*/ 30 h 31"/>
                    <a:gd name="T22" fmla="*/ 0 w 11"/>
                    <a:gd name="T23" fmla="*/ 30 h 31"/>
                    <a:gd name="T24" fmla="*/ 0 w 11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1"/>
                    <a:gd name="T40" fmla="*/ 0 h 31"/>
                    <a:gd name="T41" fmla="*/ 11 w 11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9" name="Freeform 328"/>
                <p:cNvSpPr>
                  <a:spLocks/>
                </p:cNvSpPr>
                <p:nvPr/>
              </p:nvSpPr>
              <p:spPr bwMode="auto">
                <a:xfrm>
                  <a:off x="1021" y="3297"/>
                  <a:ext cx="13" cy="31"/>
                </a:xfrm>
                <a:custGeom>
                  <a:avLst/>
                  <a:gdLst>
                    <a:gd name="T0" fmla="*/ 3 w 13"/>
                    <a:gd name="T1" fmla="*/ 0 h 31"/>
                    <a:gd name="T2" fmla="*/ 9 w 13"/>
                    <a:gd name="T3" fmla="*/ 0 h 31"/>
                    <a:gd name="T4" fmla="*/ 12 w 13"/>
                    <a:gd name="T5" fmla="*/ 4 h 31"/>
                    <a:gd name="T6" fmla="*/ 12 w 13"/>
                    <a:gd name="T7" fmla="*/ 9 h 31"/>
                    <a:gd name="T8" fmla="*/ 7 w 13"/>
                    <a:gd name="T9" fmla="*/ 9 h 31"/>
                    <a:gd name="T10" fmla="*/ 7 w 13"/>
                    <a:gd name="T11" fmla="*/ 6 h 31"/>
                    <a:gd name="T12" fmla="*/ 4 w 13"/>
                    <a:gd name="T13" fmla="*/ 6 h 31"/>
                    <a:gd name="T14" fmla="*/ 4 w 13"/>
                    <a:gd name="T15" fmla="*/ 12 h 31"/>
                    <a:gd name="T16" fmla="*/ 9 w 13"/>
                    <a:gd name="T17" fmla="*/ 12 h 31"/>
                    <a:gd name="T18" fmla="*/ 8 w 13"/>
                    <a:gd name="T19" fmla="*/ 12 h 31"/>
                    <a:gd name="T20" fmla="*/ 12 w 13"/>
                    <a:gd name="T21" fmla="*/ 17 h 31"/>
                    <a:gd name="T22" fmla="*/ 12 w 13"/>
                    <a:gd name="T23" fmla="*/ 26 h 31"/>
                    <a:gd name="T24" fmla="*/ 9 w 13"/>
                    <a:gd name="T25" fmla="*/ 30 h 31"/>
                    <a:gd name="T26" fmla="*/ 3 w 13"/>
                    <a:gd name="T27" fmla="*/ 30 h 31"/>
                    <a:gd name="T28" fmla="*/ 0 w 13"/>
                    <a:gd name="T29" fmla="*/ 26 h 31"/>
                    <a:gd name="T30" fmla="*/ 0 w 13"/>
                    <a:gd name="T31" fmla="*/ 21 h 31"/>
                    <a:gd name="T32" fmla="*/ 4 w 13"/>
                    <a:gd name="T33" fmla="*/ 21 h 31"/>
                    <a:gd name="T34" fmla="*/ 4 w 13"/>
                    <a:gd name="T35" fmla="*/ 24 h 31"/>
                    <a:gd name="T36" fmla="*/ 7 w 13"/>
                    <a:gd name="T37" fmla="*/ 24 h 31"/>
                    <a:gd name="T38" fmla="*/ 7 w 13"/>
                    <a:gd name="T39" fmla="*/ 18 h 31"/>
                    <a:gd name="T40" fmla="*/ 4 w 13"/>
                    <a:gd name="T41" fmla="*/ 18 h 31"/>
                    <a:gd name="T42" fmla="*/ 0 w 13"/>
                    <a:gd name="T43" fmla="*/ 14 h 31"/>
                    <a:gd name="T44" fmla="*/ 0 w 13"/>
                    <a:gd name="T45" fmla="*/ 4 h 31"/>
                    <a:gd name="T46" fmla="*/ 3 w 13"/>
                    <a:gd name="T47" fmla="*/ 0 h 3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3"/>
                    <a:gd name="T73" fmla="*/ 0 h 31"/>
                    <a:gd name="T74" fmla="*/ 13 w 13"/>
                    <a:gd name="T75" fmla="*/ 31 h 3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3" h="31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2" y="4"/>
                      </a:lnTo>
                      <a:lnTo>
                        <a:pt x="12" y="9"/>
                      </a:lnTo>
                      <a:lnTo>
                        <a:pt x="7" y="9"/>
                      </a:lnTo>
                      <a:lnTo>
                        <a:pt x="7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12" y="17"/>
                      </a:lnTo>
                      <a:lnTo>
                        <a:pt x="12" y="26"/>
                      </a:lnTo>
                      <a:lnTo>
                        <a:pt x="9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21"/>
                      </a:lnTo>
                      <a:lnTo>
                        <a:pt x="4" y="21"/>
                      </a:lnTo>
                      <a:lnTo>
                        <a:pt x="4" y="24"/>
                      </a:lnTo>
                      <a:lnTo>
                        <a:pt x="7" y="24"/>
                      </a:lnTo>
                      <a:lnTo>
                        <a:pt x="7" y="18"/>
                      </a:lnTo>
                      <a:lnTo>
                        <a:pt x="4" y="18"/>
                      </a:lnTo>
                      <a:lnTo>
                        <a:pt x="0" y="14"/>
                      </a:lnTo>
                      <a:lnTo>
                        <a:pt x="0" y="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53" name="Group 329"/>
              <p:cNvGrpSpPr>
                <a:grpSpLocks/>
              </p:cNvGrpSpPr>
              <p:nvPr/>
            </p:nvGrpSpPr>
            <p:grpSpPr bwMode="auto">
              <a:xfrm>
                <a:off x="1055" y="3297"/>
                <a:ext cx="37" cy="31"/>
                <a:chOff x="1055" y="3297"/>
                <a:chExt cx="37" cy="31"/>
              </a:xfrm>
            </p:grpSpPr>
            <p:sp>
              <p:nvSpPr>
                <p:cNvPr id="100562" name="Freeform 330"/>
                <p:cNvSpPr>
                  <a:spLocks/>
                </p:cNvSpPr>
                <p:nvPr/>
              </p:nvSpPr>
              <p:spPr bwMode="auto">
                <a:xfrm>
                  <a:off x="1055" y="3297"/>
                  <a:ext cx="15" cy="31"/>
                </a:xfrm>
                <a:custGeom>
                  <a:avLst/>
                  <a:gdLst>
                    <a:gd name="T0" fmla="*/ 4 w 15"/>
                    <a:gd name="T1" fmla="*/ 0 h 31"/>
                    <a:gd name="T2" fmla="*/ 11 w 15"/>
                    <a:gd name="T3" fmla="*/ 0 h 31"/>
                    <a:gd name="T4" fmla="*/ 14 w 15"/>
                    <a:gd name="T5" fmla="*/ 5 h 31"/>
                    <a:gd name="T6" fmla="*/ 14 w 15"/>
                    <a:gd name="T7" fmla="*/ 24 h 31"/>
                    <a:gd name="T8" fmla="*/ 11 w 15"/>
                    <a:gd name="T9" fmla="*/ 30 h 31"/>
                    <a:gd name="T10" fmla="*/ 9 w 15"/>
                    <a:gd name="T11" fmla="*/ 30 h 31"/>
                    <a:gd name="T12" fmla="*/ 5 w 15"/>
                    <a:gd name="T13" fmla="*/ 30 h 31"/>
                    <a:gd name="T14" fmla="*/ 4 w 15"/>
                    <a:gd name="T15" fmla="*/ 30 h 31"/>
                    <a:gd name="T16" fmla="*/ 0 w 15"/>
                    <a:gd name="T17" fmla="*/ 24 h 31"/>
                    <a:gd name="T18" fmla="*/ 6 w 15"/>
                    <a:gd name="T19" fmla="*/ 24 h 31"/>
                    <a:gd name="T20" fmla="*/ 9 w 15"/>
                    <a:gd name="T21" fmla="*/ 24 h 31"/>
                    <a:gd name="T22" fmla="*/ 9 w 15"/>
                    <a:gd name="T23" fmla="*/ 6 h 31"/>
                    <a:gd name="T24" fmla="*/ 6 w 15"/>
                    <a:gd name="T25" fmla="*/ 6 h 31"/>
                    <a:gd name="T26" fmla="*/ 6 w 15"/>
                    <a:gd name="T27" fmla="*/ 24 h 31"/>
                    <a:gd name="T28" fmla="*/ 0 w 15"/>
                    <a:gd name="T29" fmla="*/ 24 h 31"/>
                    <a:gd name="T30" fmla="*/ 0 w 15"/>
                    <a:gd name="T31" fmla="*/ 5 h 31"/>
                    <a:gd name="T32" fmla="*/ 4 w 15"/>
                    <a:gd name="T33" fmla="*/ 0 h 3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5"/>
                    <a:gd name="T52" fmla="*/ 0 h 31"/>
                    <a:gd name="T53" fmla="*/ 15 w 15"/>
                    <a:gd name="T54" fmla="*/ 31 h 3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5" h="31">
                      <a:moveTo>
                        <a:pt x="4" y="0"/>
                      </a:moveTo>
                      <a:lnTo>
                        <a:pt x="11" y="0"/>
                      </a:lnTo>
                      <a:lnTo>
                        <a:pt x="14" y="5"/>
                      </a:lnTo>
                      <a:lnTo>
                        <a:pt x="14" y="24"/>
                      </a:lnTo>
                      <a:lnTo>
                        <a:pt x="11" y="30"/>
                      </a:lnTo>
                      <a:lnTo>
                        <a:pt x="9" y="30"/>
                      </a:lnTo>
                      <a:lnTo>
                        <a:pt x="5" y="30"/>
                      </a:lnTo>
                      <a:lnTo>
                        <a:pt x="4" y="30"/>
                      </a:lnTo>
                      <a:lnTo>
                        <a:pt x="0" y="24"/>
                      </a:lnTo>
                      <a:lnTo>
                        <a:pt x="6" y="24"/>
                      </a:lnTo>
                      <a:lnTo>
                        <a:pt x="9" y="24"/>
                      </a:lnTo>
                      <a:lnTo>
                        <a:pt x="9" y="6"/>
                      </a:lnTo>
                      <a:lnTo>
                        <a:pt x="6" y="6"/>
                      </a:lnTo>
                      <a:lnTo>
                        <a:pt x="6" y="24"/>
                      </a:lnTo>
                      <a:lnTo>
                        <a:pt x="0" y="24"/>
                      </a:lnTo>
                      <a:lnTo>
                        <a:pt x="0" y="5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3" name="Freeform 331"/>
                <p:cNvSpPr>
                  <a:spLocks/>
                </p:cNvSpPr>
                <p:nvPr/>
              </p:nvSpPr>
              <p:spPr bwMode="auto">
                <a:xfrm>
                  <a:off x="1082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5 w 10"/>
                    <a:gd name="T7" fmla="*/ 6 h 31"/>
                    <a:gd name="T8" fmla="*/ 5 w 10"/>
                    <a:gd name="T9" fmla="*/ 12 h 31"/>
                    <a:gd name="T10" fmla="*/ 9 w 10"/>
                    <a:gd name="T11" fmla="*/ 12 h 31"/>
                    <a:gd name="T12" fmla="*/ 9 w 10"/>
                    <a:gd name="T13" fmla="*/ 17 h 31"/>
                    <a:gd name="T14" fmla="*/ 5 w 10"/>
                    <a:gd name="T15" fmla="*/ 17 h 31"/>
                    <a:gd name="T16" fmla="*/ 5 w 10"/>
                    <a:gd name="T17" fmla="*/ 30 h 31"/>
                    <a:gd name="T18" fmla="*/ 0 w 10"/>
                    <a:gd name="T19" fmla="*/ 30 h 31"/>
                    <a:gd name="T20" fmla="*/ 0 w 10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"/>
                    <a:gd name="T34" fmla="*/ 0 h 31"/>
                    <a:gd name="T35" fmla="*/ 10 w 10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54" name="Group 332"/>
              <p:cNvGrpSpPr>
                <a:grpSpLocks/>
              </p:cNvGrpSpPr>
              <p:nvPr/>
            </p:nvGrpSpPr>
            <p:grpSpPr bwMode="auto">
              <a:xfrm>
                <a:off x="1110" y="3297"/>
                <a:ext cx="159" cy="31"/>
                <a:chOff x="1110" y="3297"/>
                <a:chExt cx="159" cy="31"/>
              </a:xfrm>
            </p:grpSpPr>
            <p:sp>
              <p:nvSpPr>
                <p:cNvPr id="100555" name="Freeform 333"/>
                <p:cNvSpPr>
                  <a:spLocks/>
                </p:cNvSpPr>
                <p:nvPr/>
              </p:nvSpPr>
              <p:spPr bwMode="auto">
                <a:xfrm>
                  <a:off x="1110" y="3297"/>
                  <a:ext cx="18" cy="31"/>
                </a:xfrm>
                <a:custGeom>
                  <a:avLst/>
                  <a:gdLst>
                    <a:gd name="T0" fmla="*/ 5 w 18"/>
                    <a:gd name="T1" fmla="*/ 0 h 31"/>
                    <a:gd name="T2" fmla="*/ 12 w 18"/>
                    <a:gd name="T3" fmla="*/ 0 h 31"/>
                    <a:gd name="T4" fmla="*/ 17 w 18"/>
                    <a:gd name="T5" fmla="*/ 30 h 31"/>
                    <a:gd name="T6" fmla="*/ 11 w 18"/>
                    <a:gd name="T7" fmla="*/ 30 h 31"/>
                    <a:gd name="T8" fmla="*/ 10 w 18"/>
                    <a:gd name="T9" fmla="*/ 24 h 31"/>
                    <a:gd name="T10" fmla="*/ 10 w 18"/>
                    <a:gd name="T11" fmla="*/ 19 h 31"/>
                    <a:gd name="T12" fmla="*/ 8 w 18"/>
                    <a:gd name="T13" fmla="*/ 5 h 31"/>
                    <a:gd name="T14" fmla="*/ 7 w 18"/>
                    <a:gd name="T15" fmla="*/ 19 h 31"/>
                    <a:gd name="T16" fmla="*/ 10 w 18"/>
                    <a:gd name="T17" fmla="*/ 19 h 31"/>
                    <a:gd name="T18" fmla="*/ 10 w 18"/>
                    <a:gd name="T19" fmla="*/ 24 h 31"/>
                    <a:gd name="T20" fmla="*/ 7 w 18"/>
                    <a:gd name="T21" fmla="*/ 24 h 31"/>
                    <a:gd name="T22" fmla="*/ 5 w 18"/>
                    <a:gd name="T23" fmla="*/ 30 h 31"/>
                    <a:gd name="T24" fmla="*/ 0 w 18"/>
                    <a:gd name="T25" fmla="*/ 30 h 31"/>
                    <a:gd name="T26" fmla="*/ 5 w 18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8"/>
                    <a:gd name="T43" fmla="*/ 0 h 31"/>
                    <a:gd name="T44" fmla="*/ 18 w 18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8" h="31">
                      <a:moveTo>
                        <a:pt x="5" y="0"/>
                      </a:moveTo>
                      <a:lnTo>
                        <a:pt x="12" y="0"/>
                      </a:lnTo>
                      <a:lnTo>
                        <a:pt x="17" y="30"/>
                      </a:lnTo>
                      <a:lnTo>
                        <a:pt x="11" y="30"/>
                      </a:lnTo>
                      <a:lnTo>
                        <a:pt x="10" y="24"/>
                      </a:lnTo>
                      <a:lnTo>
                        <a:pt x="10" y="19"/>
                      </a:lnTo>
                      <a:lnTo>
                        <a:pt x="8" y="5"/>
                      </a:lnTo>
                      <a:lnTo>
                        <a:pt x="7" y="19"/>
                      </a:lnTo>
                      <a:lnTo>
                        <a:pt x="10" y="19"/>
                      </a:lnTo>
                      <a:lnTo>
                        <a:pt x="10" y="24"/>
                      </a:lnTo>
                      <a:lnTo>
                        <a:pt x="7" y="24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56" name="Freeform 334"/>
                <p:cNvSpPr>
                  <a:spLocks/>
                </p:cNvSpPr>
                <p:nvPr/>
              </p:nvSpPr>
              <p:spPr bwMode="auto">
                <a:xfrm>
                  <a:off x="1136" y="3297"/>
                  <a:ext cx="22" cy="31"/>
                </a:xfrm>
                <a:custGeom>
                  <a:avLst/>
                  <a:gdLst>
                    <a:gd name="T0" fmla="*/ 0 w 22"/>
                    <a:gd name="T1" fmla="*/ 30 h 31"/>
                    <a:gd name="T2" fmla="*/ 6 w 22"/>
                    <a:gd name="T3" fmla="*/ 30 h 31"/>
                    <a:gd name="T4" fmla="*/ 6 w 22"/>
                    <a:gd name="T5" fmla="*/ 14 h 31"/>
                    <a:gd name="T6" fmla="*/ 9 w 22"/>
                    <a:gd name="T7" fmla="*/ 30 h 31"/>
                    <a:gd name="T8" fmla="*/ 12 w 22"/>
                    <a:gd name="T9" fmla="*/ 30 h 31"/>
                    <a:gd name="T10" fmla="*/ 15 w 22"/>
                    <a:gd name="T11" fmla="*/ 14 h 31"/>
                    <a:gd name="T12" fmla="*/ 15 w 22"/>
                    <a:gd name="T13" fmla="*/ 30 h 31"/>
                    <a:gd name="T14" fmla="*/ 21 w 22"/>
                    <a:gd name="T15" fmla="*/ 30 h 31"/>
                    <a:gd name="T16" fmla="*/ 21 w 22"/>
                    <a:gd name="T17" fmla="*/ 0 h 31"/>
                    <a:gd name="T18" fmla="*/ 13 w 22"/>
                    <a:gd name="T19" fmla="*/ 0 h 31"/>
                    <a:gd name="T20" fmla="*/ 10 w 22"/>
                    <a:gd name="T21" fmla="*/ 14 h 31"/>
                    <a:gd name="T22" fmla="*/ 9 w 22"/>
                    <a:gd name="T23" fmla="*/ 0 h 31"/>
                    <a:gd name="T24" fmla="*/ 0 w 22"/>
                    <a:gd name="T25" fmla="*/ 0 h 31"/>
                    <a:gd name="T26" fmla="*/ 0 w 22"/>
                    <a:gd name="T27" fmla="*/ 3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2"/>
                    <a:gd name="T43" fmla="*/ 0 h 31"/>
                    <a:gd name="T44" fmla="*/ 22 w 22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2" h="31">
                      <a:moveTo>
                        <a:pt x="0" y="30"/>
                      </a:moveTo>
                      <a:lnTo>
                        <a:pt x="6" y="30"/>
                      </a:lnTo>
                      <a:lnTo>
                        <a:pt x="6" y="14"/>
                      </a:lnTo>
                      <a:lnTo>
                        <a:pt x="9" y="30"/>
                      </a:lnTo>
                      <a:lnTo>
                        <a:pt x="12" y="30"/>
                      </a:lnTo>
                      <a:lnTo>
                        <a:pt x="15" y="14"/>
                      </a:lnTo>
                      <a:lnTo>
                        <a:pt x="15" y="30"/>
                      </a:lnTo>
                      <a:lnTo>
                        <a:pt x="21" y="30"/>
                      </a:lnTo>
                      <a:lnTo>
                        <a:pt x="21" y="0"/>
                      </a:lnTo>
                      <a:lnTo>
                        <a:pt x="13" y="0"/>
                      </a:lnTo>
                      <a:lnTo>
                        <a:pt x="10" y="14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57" name="Freeform 335"/>
                <p:cNvSpPr>
                  <a:spLocks/>
                </p:cNvSpPr>
                <p:nvPr/>
              </p:nvSpPr>
              <p:spPr bwMode="auto">
                <a:xfrm>
                  <a:off x="1170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4 w 10"/>
                    <a:gd name="T7" fmla="*/ 6 h 31"/>
                    <a:gd name="T8" fmla="*/ 4 w 10"/>
                    <a:gd name="T9" fmla="*/ 12 h 31"/>
                    <a:gd name="T10" fmla="*/ 8 w 10"/>
                    <a:gd name="T11" fmla="*/ 12 h 31"/>
                    <a:gd name="T12" fmla="*/ 8 w 10"/>
                    <a:gd name="T13" fmla="*/ 17 h 31"/>
                    <a:gd name="T14" fmla="*/ 4 w 10"/>
                    <a:gd name="T15" fmla="*/ 17 h 31"/>
                    <a:gd name="T16" fmla="*/ 4 w 10"/>
                    <a:gd name="T17" fmla="*/ 24 h 31"/>
                    <a:gd name="T18" fmla="*/ 9 w 10"/>
                    <a:gd name="T19" fmla="*/ 24 h 31"/>
                    <a:gd name="T20" fmla="*/ 9 w 10"/>
                    <a:gd name="T21" fmla="*/ 30 h 31"/>
                    <a:gd name="T22" fmla="*/ 0 w 10"/>
                    <a:gd name="T23" fmla="*/ 30 h 31"/>
                    <a:gd name="T24" fmla="*/ 0 w 10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0"/>
                    <a:gd name="T40" fmla="*/ 0 h 31"/>
                    <a:gd name="T41" fmla="*/ 10 w 10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8" y="12"/>
                      </a:lnTo>
                      <a:lnTo>
                        <a:pt x="8" y="17"/>
                      </a:lnTo>
                      <a:lnTo>
                        <a:pt x="4" y="17"/>
                      </a:lnTo>
                      <a:lnTo>
                        <a:pt x="4" y="24"/>
                      </a:lnTo>
                      <a:lnTo>
                        <a:pt x="9" y="24"/>
                      </a:lnTo>
                      <a:lnTo>
                        <a:pt x="9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58" name="Freeform 336"/>
                <p:cNvSpPr>
                  <a:spLocks/>
                </p:cNvSpPr>
                <p:nvPr/>
              </p:nvSpPr>
              <p:spPr bwMode="auto">
                <a:xfrm>
                  <a:off x="1191" y="3297"/>
                  <a:ext cx="13" cy="31"/>
                </a:xfrm>
                <a:custGeom>
                  <a:avLst/>
                  <a:gdLst>
                    <a:gd name="T0" fmla="*/ 0 w 13"/>
                    <a:gd name="T1" fmla="*/ 0 h 31"/>
                    <a:gd name="T2" fmla="*/ 9 w 13"/>
                    <a:gd name="T3" fmla="*/ 0 h 31"/>
                    <a:gd name="T4" fmla="*/ 12 w 13"/>
                    <a:gd name="T5" fmla="*/ 3 h 31"/>
                    <a:gd name="T6" fmla="*/ 12 w 13"/>
                    <a:gd name="T7" fmla="*/ 12 h 31"/>
                    <a:gd name="T8" fmla="*/ 9 w 13"/>
                    <a:gd name="T9" fmla="*/ 15 h 31"/>
                    <a:gd name="T10" fmla="*/ 12 w 13"/>
                    <a:gd name="T11" fmla="*/ 18 h 31"/>
                    <a:gd name="T12" fmla="*/ 12 w 13"/>
                    <a:gd name="T13" fmla="*/ 30 h 31"/>
                    <a:gd name="T14" fmla="*/ 7 w 13"/>
                    <a:gd name="T15" fmla="*/ 30 h 31"/>
                    <a:gd name="T16" fmla="*/ 7 w 13"/>
                    <a:gd name="T17" fmla="*/ 18 h 31"/>
                    <a:gd name="T18" fmla="*/ 7 w 13"/>
                    <a:gd name="T19" fmla="*/ 12 h 31"/>
                    <a:gd name="T20" fmla="*/ 5 w 13"/>
                    <a:gd name="T21" fmla="*/ 12 h 31"/>
                    <a:gd name="T22" fmla="*/ 5 w 13"/>
                    <a:gd name="T23" fmla="*/ 5 h 31"/>
                    <a:gd name="T24" fmla="*/ 7 w 13"/>
                    <a:gd name="T25" fmla="*/ 5 h 31"/>
                    <a:gd name="T26" fmla="*/ 7 w 13"/>
                    <a:gd name="T27" fmla="*/ 12 h 31"/>
                    <a:gd name="T28" fmla="*/ 7 w 13"/>
                    <a:gd name="T29" fmla="*/ 18 h 31"/>
                    <a:gd name="T30" fmla="*/ 5 w 13"/>
                    <a:gd name="T31" fmla="*/ 18 h 31"/>
                    <a:gd name="T32" fmla="*/ 5 w 13"/>
                    <a:gd name="T33" fmla="*/ 30 h 31"/>
                    <a:gd name="T34" fmla="*/ 0 w 13"/>
                    <a:gd name="T35" fmla="*/ 30 h 31"/>
                    <a:gd name="T36" fmla="*/ 0 w 13"/>
                    <a:gd name="T37" fmla="*/ 0 h 3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"/>
                    <a:gd name="T58" fmla="*/ 0 h 31"/>
                    <a:gd name="T59" fmla="*/ 13 w 13"/>
                    <a:gd name="T60" fmla="*/ 31 h 3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12" y="3"/>
                      </a:lnTo>
                      <a:lnTo>
                        <a:pt x="12" y="12"/>
                      </a:lnTo>
                      <a:lnTo>
                        <a:pt x="9" y="15"/>
                      </a:lnTo>
                      <a:lnTo>
                        <a:pt x="12" y="18"/>
                      </a:lnTo>
                      <a:lnTo>
                        <a:pt x="12" y="30"/>
                      </a:lnTo>
                      <a:lnTo>
                        <a:pt x="7" y="30"/>
                      </a:lnTo>
                      <a:lnTo>
                        <a:pt x="7" y="18"/>
                      </a:lnTo>
                      <a:lnTo>
                        <a:pt x="7" y="12"/>
                      </a:lnTo>
                      <a:lnTo>
                        <a:pt x="5" y="12"/>
                      </a:lnTo>
                      <a:lnTo>
                        <a:pt x="5" y="5"/>
                      </a:lnTo>
                      <a:lnTo>
                        <a:pt x="7" y="5"/>
                      </a:lnTo>
                      <a:lnTo>
                        <a:pt x="7" y="12"/>
                      </a:lnTo>
                      <a:lnTo>
                        <a:pt x="7" y="18"/>
                      </a:lnTo>
                      <a:lnTo>
                        <a:pt x="5" y="18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59" name="Freeform 337"/>
                <p:cNvSpPr>
                  <a:spLocks/>
                </p:cNvSpPr>
                <p:nvPr/>
              </p:nvSpPr>
              <p:spPr bwMode="auto">
                <a:xfrm>
                  <a:off x="1215" y="3297"/>
                  <a:ext cx="1" cy="31"/>
                </a:xfrm>
                <a:custGeom>
                  <a:avLst/>
                  <a:gdLst>
                    <a:gd name="T0" fmla="*/ 0 w 1"/>
                    <a:gd name="T1" fmla="*/ 0 h 31"/>
                    <a:gd name="T2" fmla="*/ 0 w 1"/>
                    <a:gd name="T3" fmla="*/ 30 h 31"/>
                    <a:gd name="T4" fmla="*/ 0 w 1"/>
                    <a:gd name="T5" fmla="*/ 0 h 3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31"/>
                    <a:gd name="T11" fmla="*/ 1 w 1"/>
                    <a:gd name="T12" fmla="*/ 31 h 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31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0" name="Freeform 338"/>
                <p:cNvSpPr>
                  <a:spLocks/>
                </p:cNvSpPr>
                <p:nvPr/>
              </p:nvSpPr>
              <p:spPr bwMode="auto">
                <a:xfrm>
                  <a:off x="1226" y="3297"/>
                  <a:ext cx="15" cy="31"/>
                </a:xfrm>
                <a:custGeom>
                  <a:avLst/>
                  <a:gdLst>
                    <a:gd name="T0" fmla="*/ 4 w 15"/>
                    <a:gd name="T1" fmla="*/ 0 h 31"/>
                    <a:gd name="T2" fmla="*/ 10 w 15"/>
                    <a:gd name="T3" fmla="*/ 0 h 31"/>
                    <a:gd name="T4" fmla="*/ 14 w 15"/>
                    <a:gd name="T5" fmla="*/ 4 h 31"/>
                    <a:gd name="T6" fmla="*/ 14 w 15"/>
                    <a:gd name="T7" fmla="*/ 12 h 31"/>
                    <a:gd name="T8" fmla="*/ 10 w 15"/>
                    <a:gd name="T9" fmla="*/ 12 h 31"/>
                    <a:gd name="T10" fmla="*/ 10 w 15"/>
                    <a:gd name="T11" fmla="*/ 6 h 31"/>
                    <a:gd name="T12" fmla="*/ 5 w 15"/>
                    <a:gd name="T13" fmla="*/ 6 h 31"/>
                    <a:gd name="T14" fmla="*/ 5 w 15"/>
                    <a:gd name="T15" fmla="*/ 24 h 31"/>
                    <a:gd name="T16" fmla="*/ 10 w 15"/>
                    <a:gd name="T17" fmla="*/ 24 h 31"/>
                    <a:gd name="T18" fmla="*/ 10 w 15"/>
                    <a:gd name="T19" fmla="*/ 17 h 31"/>
                    <a:gd name="T20" fmla="*/ 14 w 15"/>
                    <a:gd name="T21" fmla="*/ 17 h 31"/>
                    <a:gd name="T22" fmla="*/ 14 w 15"/>
                    <a:gd name="T23" fmla="*/ 26 h 31"/>
                    <a:gd name="T24" fmla="*/ 10 w 15"/>
                    <a:gd name="T25" fmla="*/ 30 h 31"/>
                    <a:gd name="T26" fmla="*/ 4 w 15"/>
                    <a:gd name="T27" fmla="*/ 30 h 31"/>
                    <a:gd name="T28" fmla="*/ 0 w 15"/>
                    <a:gd name="T29" fmla="*/ 26 h 31"/>
                    <a:gd name="T30" fmla="*/ 0 w 15"/>
                    <a:gd name="T31" fmla="*/ 4 h 31"/>
                    <a:gd name="T32" fmla="*/ 4 w 15"/>
                    <a:gd name="T33" fmla="*/ 0 h 3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5"/>
                    <a:gd name="T52" fmla="*/ 0 h 31"/>
                    <a:gd name="T53" fmla="*/ 15 w 15"/>
                    <a:gd name="T54" fmla="*/ 31 h 3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5" h="31">
                      <a:moveTo>
                        <a:pt x="4" y="0"/>
                      </a:moveTo>
                      <a:lnTo>
                        <a:pt x="10" y="0"/>
                      </a:lnTo>
                      <a:lnTo>
                        <a:pt x="14" y="4"/>
                      </a:lnTo>
                      <a:lnTo>
                        <a:pt x="14" y="12"/>
                      </a:lnTo>
                      <a:lnTo>
                        <a:pt x="10" y="12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17"/>
                      </a:lnTo>
                      <a:lnTo>
                        <a:pt x="14" y="17"/>
                      </a:lnTo>
                      <a:lnTo>
                        <a:pt x="14" y="26"/>
                      </a:lnTo>
                      <a:lnTo>
                        <a:pt x="10" y="30"/>
                      </a:lnTo>
                      <a:lnTo>
                        <a:pt x="4" y="30"/>
                      </a:lnTo>
                      <a:lnTo>
                        <a:pt x="0" y="26"/>
                      </a:lnTo>
                      <a:lnTo>
                        <a:pt x="0" y="4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61" name="Freeform 339"/>
                <p:cNvSpPr>
                  <a:spLocks/>
                </p:cNvSpPr>
                <p:nvPr/>
              </p:nvSpPr>
              <p:spPr bwMode="auto">
                <a:xfrm>
                  <a:off x="1250" y="3297"/>
                  <a:ext cx="19" cy="31"/>
                </a:xfrm>
                <a:custGeom>
                  <a:avLst/>
                  <a:gdLst>
                    <a:gd name="T0" fmla="*/ 5 w 19"/>
                    <a:gd name="T1" fmla="*/ 0 h 31"/>
                    <a:gd name="T2" fmla="*/ 13 w 19"/>
                    <a:gd name="T3" fmla="*/ 0 h 31"/>
                    <a:gd name="T4" fmla="*/ 18 w 19"/>
                    <a:gd name="T5" fmla="*/ 30 h 31"/>
                    <a:gd name="T6" fmla="*/ 12 w 19"/>
                    <a:gd name="T7" fmla="*/ 30 h 31"/>
                    <a:gd name="T8" fmla="*/ 11 w 19"/>
                    <a:gd name="T9" fmla="*/ 24 h 31"/>
                    <a:gd name="T10" fmla="*/ 11 w 19"/>
                    <a:gd name="T11" fmla="*/ 19 h 31"/>
                    <a:gd name="T12" fmla="*/ 9 w 19"/>
                    <a:gd name="T13" fmla="*/ 5 h 31"/>
                    <a:gd name="T14" fmla="*/ 7 w 19"/>
                    <a:gd name="T15" fmla="*/ 19 h 31"/>
                    <a:gd name="T16" fmla="*/ 11 w 19"/>
                    <a:gd name="T17" fmla="*/ 19 h 31"/>
                    <a:gd name="T18" fmla="*/ 11 w 19"/>
                    <a:gd name="T19" fmla="*/ 24 h 31"/>
                    <a:gd name="T20" fmla="*/ 7 w 19"/>
                    <a:gd name="T21" fmla="*/ 24 h 31"/>
                    <a:gd name="T22" fmla="*/ 6 w 19"/>
                    <a:gd name="T23" fmla="*/ 30 h 31"/>
                    <a:gd name="T24" fmla="*/ 0 w 19"/>
                    <a:gd name="T25" fmla="*/ 30 h 31"/>
                    <a:gd name="T26" fmla="*/ 5 w 19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9"/>
                    <a:gd name="T43" fmla="*/ 0 h 31"/>
                    <a:gd name="T44" fmla="*/ 19 w 19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9" h="31">
                      <a:moveTo>
                        <a:pt x="5" y="0"/>
                      </a:moveTo>
                      <a:lnTo>
                        <a:pt x="13" y="0"/>
                      </a:lnTo>
                      <a:lnTo>
                        <a:pt x="18" y="30"/>
                      </a:lnTo>
                      <a:lnTo>
                        <a:pt x="12" y="30"/>
                      </a:lnTo>
                      <a:lnTo>
                        <a:pt x="11" y="24"/>
                      </a:lnTo>
                      <a:lnTo>
                        <a:pt x="11" y="19"/>
                      </a:lnTo>
                      <a:lnTo>
                        <a:pt x="9" y="5"/>
                      </a:lnTo>
                      <a:lnTo>
                        <a:pt x="7" y="19"/>
                      </a:lnTo>
                      <a:lnTo>
                        <a:pt x="11" y="19"/>
                      </a:lnTo>
                      <a:lnTo>
                        <a:pt x="11" y="24"/>
                      </a:lnTo>
                      <a:lnTo>
                        <a:pt x="7" y="24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00435" name="Rectangle 340"/>
            <p:cNvSpPr>
              <a:spLocks noChangeArrowheads="1"/>
            </p:cNvSpPr>
            <p:nvPr/>
          </p:nvSpPr>
          <p:spPr bwMode="auto">
            <a:xfrm>
              <a:off x="669" y="1293"/>
              <a:ext cx="1974" cy="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Bad Presentation</a:t>
              </a:r>
            </a:p>
          </p:txBody>
        </p:sp>
        <p:pic>
          <p:nvPicPr>
            <p:cNvPr id="100436" name="Picture 341" descr="j0295182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88" y="2160"/>
              <a:ext cx="285" cy="1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0437" name="Picture 342" descr="j0295182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2" y="2496"/>
              <a:ext cx="381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0438" name="Picture 343" descr="j0295182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" y="3694"/>
              <a:ext cx="621" cy="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00439" name="Group 344"/>
            <p:cNvGrpSpPr>
              <a:grpSpLocks/>
            </p:cNvGrpSpPr>
            <p:nvPr/>
          </p:nvGrpSpPr>
          <p:grpSpPr bwMode="auto">
            <a:xfrm>
              <a:off x="486" y="2784"/>
              <a:ext cx="1002" cy="528"/>
              <a:chOff x="486" y="3222"/>
              <a:chExt cx="994" cy="500"/>
            </a:xfrm>
          </p:grpSpPr>
          <p:sp>
            <p:nvSpPr>
              <p:cNvPr id="100547" name="Rectangle 345"/>
              <p:cNvSpPr>
                <a:spLocks noChangeArrowheads="1"/>
              </p:cNvSpPr>
              <p:nvPr/>
            </p:nvSpPr>
            <p:spPr bwMode="auto">
              <a:xfrm>
                <a:off x="486" y="3222"/>
                <a:ext cx="994" cy="500"/>
              </a:xfrm>
              <a:prstGeom prst="rect">
                <a:avLst/>
              </a:prstGeom>
              <a:solidFill>
                <a:srgbClr val="BFFFB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48" name="Rectangle 346"/>
              <p:cNvSpPr>
                <a:spLocks noChangeArrowheads="1"/>
              </p:cNvSpPr>
              <p:nvPr/>
            </p:nvSpPr>
            <p:spPr bwMode="auto">
              <a:xfrm>
                <a:off x="507" y="3247"/>
                <a:ext cx="951" cy="449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DFFFB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49" name="Freeform 347"/>
              <p:cNvSpPr>
                <a:spLocks/>
              </p:cNvSpPr>
              <p:nvPr/>
            </p:nvSpPr>
            <p:spPr bwMode="auto">
              <a:xfrm>
                <a:off x="571" y="3284"/>
                <a:ext cx="827" cy="380"/>
              </a:xfrm>
              <a:custGeom>
                <a:avLst/>
                <a:gdLst>
                  <a:gd name="T0" fmla="*/ 0 w 827"/>
                  <a:gd name="T1" fmla="*/ 0 h 380"/>
                  <a:gd name="T2" fmla="*/ 826 w 827"/>
                  <a:gd name="T3" fmla="*/ 0 h 380"/>
                  <a:gd name="T4" fmla="*/ 826 w 827"/>
                  <a:gd name="T5" fmla="*/ 379 h 380"/>
                  <a:gd name="T6" fmla="*/ 0 w 827"/>
                  <a:gd name="T7" fmla="*/ 379 h 380"/>
                  <a:gd name="T8" fmla="*/ 0 w 827"/>
                  <a:gd name="T9" fmla="*/ 0 h 3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7"/>
                  <a:gd name="T16" fmla="*/ 0 h 380"/>
                  <a:gd name="T17" fmla="*/ 827 w 827"/>
                  <a:gd name="T18" fmla="*/ 380 h 3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7" h="380">
                    <a:moveTo>
                      <a:pt x="0" y="0"/>
                    </a:moveTo>
                    <a:lnTo>
                      <a:pt x="826" y="0"/>
                    </a:lnTo>
                    <a:lnTo>
                      <a:pt x="826" y="379"/>
                    </a:lnTo>
                    <a:lnTo>
                      <a:pt x="0" y="37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D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40" name="Group 348"/>
            <p:cNvGrpSpPr>
              <a:grpSpLocks/>
            </p:cNvGrpSpPr>
            <p:nvPr/>
          </p:nvGrpSpPr>
          <p:grpSpPr bwMode="auto">
            <a:xfrm>
              <a:off x="851" y="3151"/>
              <a:ext cx="235" cy="56"/>
              <a:chOff x="851" y="3589"/>
              <a:chExt cx="259" cy="56"/>
            </a:xfrm>
          </p:grpSpPr>
          <p:grpSp>
            <p:nvGrpSpPr>
              <p:cNvPr id="100539" name="Group 349"/>
              <p:cNvGrpSpPr>
                <a:grpSpLocks/>
              </p:cNvGrpSpPr>
              <p:nvPr/>
            </p:nvGrpSpPr>
            <p:grpSpPr bwMode="auto">
              <a:xfrm>
                <a:off x="851" y="3589"/>
                <a:ext cx="39" cy="54"/>
                <a:chOff x="851" y="3589"/>
                <a:chExt cx="39" cy="54"/>
              </a:xfrm>
            </p:grpSpPr>
            <p:sp>
              <p:nvSpPr>
                <p:cNvPr id="100544" name="Freeform 350"/>
                <p:cNvSpPr>
                  <a:spLocks/>
                </p:cNvSpPr>
                <p:nvPr/>
              </p:nvSpPr>
              <p:spPr bwMode="auto">
                <a:xfrm>
                  <a:off x="853" y="3606"/>
                  <a:ext cx="35" cy="34"/>
                </a:xfrm>
                <a:custGeom>
                  <a:avLst/>
                  <a:gdLst>
                    <a:gd name="T0" fmla="*/ 34 w 35"/>
                    <a:gd name="T1" fmla="*/ 33 h 34"/>
                    <a:gd name="T2" fmla="*/ 21 w 35"/>
                    <a:gd name="T3" fmla="*/ 26 h 34"/>
                    <a:gd name="T4" fmla="*/ 9 w 35"/>
                    <a:gd name="T5" fmla="*/ 15 h 34"/>
                    <a:gd name="T6" fmla="*/ 0 w 35"/>
                    <a:gd name="T7" fmla="*/ 0 h 34"/>
                    <a:gd name="T8" fmla="*/ 8 w 35"/>
                    <a:gd name="T9" fmla="*/ 2 h 34"/>
                    <a:gd name="T10" fmla="*/ 19 w 35"/>
                    <a:gd name="T11" fmla="*/ 8 h 34"/>
                    <a:gd name="T12" fmla="*/ 27 w 35"/>
                    <a:gd name="T13" fmla="*/ 19 h 34"/>
                    <a:gd name="T14" fmla="*/ 34 w 35"/>
                    <a:gd name="T15" fmla="*/ 33 h 3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"/>
                    <a:gd name="T25" fmla="*/ 0 h 34"/>
                    <a:gd name="T26" fmla="*/ 35 w 35"/>
                    <a:gd name="T27" fmla="*/ 34 h 3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" h="34">
                      <a:moveTo>
                        <a:pt x="34" y="33"/>
                      </a:moveTo>
                      <a:lnTo>
                        <a:pt x="21" y="26"/>
                      </a:lnTo>
                      <a:lnTo>
                        <a:pt x="9" y="15"/>
                      </a:lnTo>
                      <a:lnTo>
                        <a:pt x="0" y="0"/>
                      </a:lnTo>
                      <a:lnTo>
                        <a:pt x="8" y="2"/>
                      </a:lnTo>
                      <a:lnTo>
                        <a:pt x="19" y="8"/>
                      </a:lnTo>
                      <a:lnTo>
                        <a:pt x="27" y="19"/>
                      </a:lnTo>
                      <a:lnTo>
                        <a:pt x="34" y="3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45" name="Freeform 351"/>
                <p:cNvSpPr>
                  <a:spLocks/>
                </p:cNvSpPr>
                <p:nvPr/>
              </p:nvSpPr>
              <p:spPr bwMode="auto">
                <a:xfrm>
                  <a:off x="865" y="3589"/>
                  <a:ext cx="25" cy="45"/>
                </a:xfrm>
                <a:custGeom>
                  <a:avLst/>
                  <a:gdLst>
                    <a:gd name="T0" fmla="*/ 24 w 25"/>
                    <a:gd name="T1" fmla="*/ 44 h 45"/>
                    <a:gd name="T2" fmla="*/ 14 w 25"/>
                    <a:gd name="T3" fmla="*/ 32 h 45"/>
                    <a:gd name="T4" fmla="*/ 7 w 25"/>
                    <a:gd name="T5" fmla="*/ 21 h 45"/>
                    <a:gd name="T6" fmla="*/ 4 w 25"/>
                    <a:gd name="T7" fmla="*/ 12 h 45"/>
                    <a:gd name="T8" fmla="*/ 0 w 25"/>
                    <a:gd name="T9" fmla="*/ 0 h 45"/>
                    <a:gd name="T10" fmla="*/ 8 w 25"/>
                    <a:gd name="T11" fmla="*/ 6 h 45"/>
                    <a:gd name="T12" fmla="*/ 14 w 25"/>
                    <a:gd name="T13" fmla="*/ 12 h 45"/>
                    <a:gd name="T14" fmla="*/ 20 w 25"/>
                    <a:gd name="T15" fmla="*/ 22 h 45"/>
                    <a:gd name="T16" fmla="*/ 23 w 25"/>
                    <a:gd name="T17" fmla="*/ 33 h 45"/>
                    <a:gd name="T18" fmla="*/ 24 w 25"/>
                    <a:gd name="T19" fmla="*/ 44 h 4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5"/>
                    <a:gd name="T31" fmla="*/ 0 h 45"/>
                    <a:gd name="T32" fmla="*/ 25 w 25"/>
                    <a:gd name="T33" fmla="*/ 45 h 4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5" h="45">
                      <a:moveTo>
                        <a:pt x="24" y="44"/>
                      </a:moveTo>
                      <a:lnTo>
                        <a:pt x="14" y="32"/>
                      </a:lnTo>
                      <a:lnTo>
                        <a:pt x="7" y="21"/>
                      </a:lnTo>
                      <a:lnTo>
                        <a:pt x="4" y="12"/>
                      </a:lnTo>
                      <a:lnTo>
                        <a:pt x="0" y="0"/>
                      </a:lnTo>
                      <a:lnTo>
                        <a:pt x="8" y="6"/>
                      </a:lnTo>
                      <a:lnTo>
                        <a:pt x="14" y="12"/>
                      </a:lnTo>
                      <a:lnTo>
                        <a:pt x="20" y="22"/>
                      </a:lnTo>
                      <a:lnTo>
                        <a:pt x="23" y="33"/>
                      </a:lnTo>
                      <a:lnTo>
                        <a:pt x="24" y="4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46" name="Freeform 352"/>
                <p:cNvSpPr>
                  <a:spLocks/>
                </p:cNvSpPr>
                <p:nvPr/>
              </p:nvSpPr>
              <p:spPr bwMode="auto">
                <a:xfrm>
                  <a:off x="851" y="3629"/>
                  <a:ext cx="33" cy="14"/>
                </a:xfrm>
                <a:custGeom>
                  <a:avLst/>
                  <a:gdLst>
                    <a:gd name="T0" fmla="*/ 32 w 33"/>
                    <a:gd name="T1" fmla="*/ 13 h 14"/>
                    <a:gd name="T2" fmla="*/ 21 w 33"/>
                    <a:gd name="T3" fmla="*/ 11 h 14"/>
                    <a:gd name="T4" fmla="*/ 9 w 33"/>
                    <a:gd name="T5" fmla="*/ 6 h 14"/>
                    <a:gd name="T6" fmla="*/ 0 w 33"/>
                    <a:gd name="T7" fmla="*/ 0 h 14"/>
                    <a:gd name="T8" fmla="*/ 9 w 33"/>
                    <a:gd name="T9" fmla="*/ 1 h 14"/>
                    <a:gd name="T10" fmla="*/ 18 w 33"/>
                    <a:gd name="T11" fmla="*/ 3 h 14"/>
                    <a:gd name="T12" fmla="*/ 26 w 33"/>
                    <a:gd name="T13" fmla="*/ 7 h 14"/>
                    <a:gd name="T14" fmla="*/ 32 w 33"/>
                    <a:gd name="T15" fmla="*/ 13 h 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3"/>
                    <a:gd name="T25" fmla="*/ 0 h 14"/>
                    <a:gd name="T26" fmla="*/ 33 w 33"/>
                    <a:gd name="T27" fmla="*/ 14 h 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3" h="14">
                      <a:moveTo>
                        <a:pt x="32" y="13"/>
                      </a:moveTo>
                      <a:lnTo>
                        <a:pt x="21" y="11"/>
                      </a:lnTo>
                      <a:lnTo>
                        <a:pt x="9" y="6"/>
                      </a:lnTo>
                      <a:lnTo>
                        <a:pt x="0" y="0"/>
                      </a:lnTo>
                      <a:lnTo>
                        <a:pt x="9" y="1"/>
                      </a:lnTo>
                      <a:lnTo>
                        <a:pt x="18" y="3"/>
                      </a:lnTo>
                      <a:lnTo>
                        <a:pt x="26" y="7"/>
                      </a:lnTo>
                      <a:lnTo>
                        <a:pt x="32" y="13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540" name="Group 353"/>
              <p:cNvGrpSpPr>
                <a:grpSpLocks/>
              </p:cNvGrpSpPr>
              <p:nvPr/>
            </p:nvGrpSpPr>
            <p:grpSpPr bwMode="auto">
              <a:xfrm>
                <a:off x="1071" y="3590"/>
                <a:ext cx="39" cy="55"/>
                <a:chOff x="1071" y="3590"/>
                <a:chExt cx="39" cy="55"/>
              </a:xfrm>
            </p:grpSpPr>
            <p:sp>
              <p:nvSpPr>
                <p:cNvPr id="100541" name="Freeform 354"/>
                <p:cNvSpPr>
                  <a:spLocks/>
                </p:cNvSpPr>
                <p:nvPr/>
              </p:nvSpPr>
              <p:spPr bwMode="auto">
                <a:xfrm>
                  <a:off x="1073" y="3607"/>
                  <a:ext cx="35" cy="35"/>
                </a:xfrm>
                <a:custGeom>
                  <a:avLst/>
                  <a:gdLst>
                    <a:gd name="T0" fmla="*/ 0 w 35"/>
                    <a:gd name="T1" fmla="*/ 34 h 35"/>
                    <a:gd name="T2" fmla="*/ 12 w 35"/>
                    <a:gd name="T3" fmla="*/ 27 h 35"/>
                    <a:gd name="T4" fmla="*/ 25 w 35"/>
                    <a:gd name="T5" fmla="*/ 15 h 35"/>
                    <a:gd name="T6" fmla="*/ 34 w 35"/>
                    <a:gd name="T7" fmla="*/ 0 h 35"/>
                    <a:gd name="T8" fmla="*/ 26 w 35"/>
                    <a:gd name="T9" fmla="*/ 2 h 35"/>
                    <a:gd name="T10" fmla="*/ 15 w 35"/>
                    <a:gd name="T11" fmla="*/ 8 h 35"/>
                    <a:gd name="T12" fmla="*/ 6 w 35"/>
                    <a:gd name="T13" fmla="*/ 19 h 35"/>
                    <a:gd name="T14" fmla="*/ 0 w 35"/>
                    <a:gd name="T15" fmla="*/ 34 h 3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"/>
                    <a:gd name="T25" fmla="*/ 0 h 35"/>
                    <a:gd name="T26" fmla="*/ 35 w 35"/>
                    <a:gd name="T27" fmla="*/ 35 h 3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" h="35">
                      <a:moveTo>
                        <a:pt x="0" y="34"/>
                      </a:moveTo>
                      <a:lnTo>
                        <a:pt x="12" y="27"/>
                      </a:lnTo>
                      <a:lnTo>
                        <a:pt x="25" y="15"/>
                      </a:lnTo>
                      <a:lnTo>
                        <a:pt x="34" y="0"/>
                      </a:lnTo>
                      <a:lnTo>
                        <a:pt x="26" y="2"/>
                      </a:lnTo>
                      <a:lnTo>
                        <a:pt x="15" y="8"/>
                      </a:lnTo>
                      <a:lnTo>
                        <a:pt x="6" y="19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42" name="Freeform 355"/>
                <p:cNvSpPr>
                  <a:spLocks/>
                </p:cNvSpPr>
                <p:nvPr/>
              </p:nvSpPr>
              <p:spPr bwMode="auto">
                <a:xfrm>
                  <a:off x="1071" y="3590"/>
                  <a:ext cx="25" cy="46"/>
                </a:xfrm>
                <a:custGeom>
                  <a:avLst/>
                  <a:gdLst>
                    <a:gd name="T0" fmla="*/ 0 w 25"/>
                    <a:gd name="T1" fmla="*/ 45 h 46"/>
                    <a:gd name="T2" fmla="*/ 10 w 25"/>
                    <a:gd name="T3" fmla="*/ 32 h 46"/>
                    <a:gd name="T4" fmla="*/ 17 w 25"/>
                    <a:gd name="T5" fmla="*/ 21 h 46"/>
                    <a:gd name="T6" fmla="*/ 20 w 25"/>
                    <a:gd name="T7" fmla="*/ 12 h 46"/>
                    <a:gd name="T8" fmla="*/ 24 w 25"/>
                    <a:gd name="T9" fmla="*/ 0 h 46"/>
                    <a:gd name="T10" fmla="*/ 16 w 25"/>
                    <a:gd name="T11" fmla="*/ 6 h 46"/>
                    <a:gd name="T12" fmla="*/ 10 w 25"/>
                    <a:gd name="T13" fmla="*/ 12 h 46"/>
                    <a:gd name="T14" fmla="*/ 5 w 25"/>
                    <a:gd name="T15" fmla="*/ 22 h 46"/>
                    <a:gd name="T16" fmla="*/ 1 w 25"/>
                    <a:gd name="T17" fmla="*/ 33 h 46"/>
                    <a:gd name="T18" fmla="*/ 0 w 25"/>
                    <a:gd name="T19" fmla="*/ 45 h 4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5"/>
                    <a:gd name="T31" fmla="*/ 0 h 46"/>
                    <a:gd name="T32" fmla="*/ 25 w 25"/>
                    <a:gd name="T33" fmla="*/ 46 h 4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5" h="46">
                      <a:moveTo>
                        <a:pt x="0" y="45"/>
                      </a:moveTo>
                      <a:lnTo>
                        <a:pt x="10" y="32"/>
                      </a:lnTo>
                      <a:lnTo>
                        <a:pt x="17" y="21"/>
                      </a:lnTo>
                      <a:lnTo>
                        <a:pt x="20" y="12"/>
                      </a:lnTo>
                      <a:lnTo>
                        <a:pt x="24" y="0"/>
                      </a:lnTo>
                      <a:lnTo>
                        <a:pt x="16" y="6"/>
                      </a:lnTo>
                      <a:lnTo>
                        <a:pt x="10" y="12"/>
                      </a:lnTo>
                      <a:lnTo>
                        <a:pt x="5" y="22"/>
                      </a:lnTo>
                      <a:lnTo>
                        <a:pt x="1" y="33"/>
                      </a:lnTo>
                      <a:lnTo>
                        <a:pt x="0" y="45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43" name="Freeform 356"/>
                <p:cNvSpPr>
                  <a:spLocks/>
                </p:cNvSpPr>
                <p:nvPr/>
              </p:nvSpPr>
              <p:spPr bwMode="auto">
                <a:xfrm>
                  <a:off x="1076" y="3630"/>
                  <a:ext cx="34" cy="15"/>
                </a:xfrm>
                <a:custGeom>
                  <a:avLst/>
                  <a:gdLst>
                    <a:gd name="T0" fmla="*/ 0 w 34"/>
                    <a:gd name="T1" fmla="*/ 14 h 15"/>
                    <a:gd name="T2" fmla="*/ 12 w 34"/>
                    <a:gd name="T3" fmla="*/ 11 h 15"/>
                    <a:gd name="T4" fmla="*/ 24 w 34"/>
                    <a:gd name="T5" fmla="*/ 6 h 15"/>
                    <a:gd name="T6" fmla="*/ 33 w 34"/>
                    <a:gd name="T7" fmla="*/ 0 h 15"/>
                    <a:gd name="T8" fmla="*/ 24 w 34"/>
                    <a:gd name="T9" fmla="*/ 1 h 15"/>
                    <a:gd name="T10" fmla="*/ 14 w 34"/>
                    <a:gd name="T11" fmla="*/ 3 h 15"/>
                    <a:gd name="T12" fmla="*/ 6 w 34"/>
                    <a:gd name="T13" fmla="*/ 7 h 15"/>
                    <a:gd name="T14" fmla="*/ 0 w 34"/>
                    <a:gd name="T15" fmla="*/ 14 h 1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4"/>
                    <a:gd name="T25" fmla="*/ 0 h 15"/>
                    <a:gd name="T26" fmla="*/ 34 w 34"/>
                    <a:gd name="T27" fmla="*/ 15 h 1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4" h="15">
                      <a:moveTo>
                        <a:pt x="0" y="14"/>
                      </a:moveTo>
                      <a:lnTo>
                        <a:pt x="12" y="11"/>
                      </a:lnTo>
                      <a:lnTo>
                        <a:pt x="24" y="6"/>
                      </a:lnTo>
                      <a:lnTo>
                        <a:pt x="33" y="0"/>
                      </a:lnTo>
                      <a:lnTo>
                        <a:pt x="24" y="1"/>
                      </a:lnTo>
                      <a:lnTo>
                        <a:pt x="14" y="3"/>
                      </a:lnTo>
                      <a:lnTo>
                        <a:pt x="6" y="7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3F5F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41" name="Group 357"/>
            <p:cNvGrpSpPr>
              <a:grpSpLocks/>
            </p:cNvGrpSpPr>
            <p:nvPr/>
          </p:nvGrpSpPr>
          <p:grpSpPr bwMode="auto">
            <a:xfrm>
              <a:off x="775" y="2916"/>
              <a:ext cx="381" cy="354"/>
              <a:chOff x="775" y="3354"/>
              <a:chExt cx="420" cy="350"/>
            </a:xfrm>
          </p:grpSpPr>
          <p:grpSp>
            <p:nvGrpSpPr>
              <p:cNvPr id="100518" name="Group 358"/>
              <p:cNvGrpSpPr>
                <a:grpSpLocks/>
              </p:cNvGrpSpPr>
              <p:nvPr/>
            </p:nvGrpSpPr>
            <p:grpSpPr bwMode="auto">
              <a:xfrm>
                <a:off x="867" y="3354"/>
                <a:ext cx="232" cy="329"/>
                <a:chOff x="867" y="3354"/>
                <a:chExt cx="232" cy="329"/>
              </a:xfrm>
            </p:grpSpPr>
            <p:grpSp>
              <p:nvGrpSpPr>
                <p:cNvPr id="100520" name="Group 359"/>
                <p:cNvGrpSpPr>
                  <a:grpSpLocks/>
                </p:cNvGrpSpPr>
                <p:nvPr/>
              </p:nvGrpSpPr>
              <p:grpSpPr bwMode="auto">
                <a:xfrm>
                  <a:off x="867" y="3354"/>
                  <a:ext cx="232" cy="329"/>
                  <a:chOff x="867" y="3354"/>
                  <a:chExt cx="232" cy="329"/>
                </a:xfrm>
              </p:grpSpPr>
              <p:grpSp>
                <p:nvGrpSpPr>
                  <p:cNvPr id="100535" name="Group 360"/>
                  <p:cNvGrpSpPr>
                    <a:grpSpLocks/>
                  </p:cNvGrpSpPr>
                  <p:nvPr/>
                </p:nvGrpSpPr>
                <p:grpSpPr bwMode="auto">
                  <a:xfrm>
                    <a:off x="867" y="3354"/>
                    <a:ext cx="232" cy="68"/>
                    <a:chOff x="867" y="3354"/>
                    <a:chExt cx="232" cy="68"/>
                  </a:xfrm>
                </p:grpSpPr>
                <p:sp>
                  <p:nvSpPr>
                    <p:cNvPr id="100537" name="Freeform 361"/>
                    <p:cNvSpPr>
                      <a:spLocks/>
                    </p:cNvSpPr>
                    <p:nvPr/>
                  </p:nvSpPr>
                  <p:spPr bwMode="auto">
                    <a:xfrm>
                      <a:off x="867" y="3354"/>
                      <a:ext cx="114" cy="68"/>
                    </a:xfrm>
                    <a:custGeom>
                      <a:avLst/>
                      <a:gdLst>
                        <a:gd name="T0" fmla="*/ 0 w 114"/>
                        <a:gd name="T1" fmla="*/ 0 h 68"/>
                        <a:gd name="T2" fmla="*/ 113 w 114"/>
                        <a:gd name="T3" fmla="*/ 0 h 68"/>
                        <a:gd name="T4" fmla="*/ 113 w 114"/>
                        <a:gd name="T5" fmla="*/ 67 h 68"/>
                        <a:gd name="T6" fmla="*/ 32 w 114"/>
                        <a:gd name="T7" fmla="*/ 67 h 68"/>
                        <a:gd name="T8" fmla="*/ 32 w 114"/>
                        <a:gd name="T9" fmla="*/ 32 h 68"/>
                        <a:gd name="T10" fmla="*/ 31 w 114"/>
                        <a:gd name="T11" fmla="*/ 27 h 68"/>
                        <a:gd name="T12" fmla="*/ 28 w 114"/>
                        <a:gd name="T13" fmla="*/ 24 h 68"/>
                        <a:gd name="T14" fmla="*/ 23 w 114"/>
                        <a:gd name="T15" fmla="*/ 22 h 68"/>
                        <a:gd name="T16" fmla="*/ 0 w 114"/>
                        <a:gd name="T17" fmla="*/ 22 h 68"/>
                        <a:gd name="T18" fmla="*/ 0 w 114"/>
                        <a:gd name="T19" fmla="*/ 0 h 68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14"/>
                        <a:gd name="T31" fmla="*/ 0 h 68"/>
                        <a:gd name="T32" fmla="*/ 114 w 114"/>
                        <a:gd name="T33" fmla="*/ 68 h 68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14" h="68">
                          <a:moveTo>
                            <a:pt x="0" y="0"/>
                          </a:moveTo>
                          <a:lnTo>
                            <a:pt x="113" y="0"/>
                          </a:lnTo>
                          <a:lnTo>
                            <a:pt x="113" y="67"/>
                          </a:lnTo>
                          <a:lnTo>
                            <a:pt x="32" y="67"/>
                          </a:lnTo>
                          <a:lnTo>
                            <a:pt x="32" y="32"/>
                          </a:lnTo>
                          <a:lnTo>
                            <a:pt x="31" y="27"/>
                          </a:lnTo>
                          <a:lnTo>
                            <a:pt x="28" y="24"/>
                          </a:lnTo>
                          <a:lnTo>
                            <a:pt x="23" y="22"/>
                          </a:lnTo>
                          <a:lnTo>
                            <a:pt x="0" y="22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8" name="Freeform 362"/>
                    <p:cNvSpPr>
                      <a:spLocks/>
                    </p:cNvSpPr>
                    <p:nvPr/>
                  </p:nvSpPr>
                  <p:spPr bwMode="auto">
                    <a:xfrm>
                      <a:off x="985" y="3354"/>
                      <a:ext cx="114" cy="68"/>
                    </a:xfrm>
                    <a:custGeom>
                      <a:avLst/>
                      <a:gdLst>
                        <a:gd name="T0" fmla="*/ 113 w 114"/>
                        <a:gd name="T1" fmla="*/ 0 h 68"/>
                        <a:gd name="T2" fmla="*/ 0 w 114"/>
                        <a:gd name="T3" fmla="*/ 0 h 68"/>
                        <a:gd name="T4" fmla="*/ 0 w 114"/>
                        <a:gd name="T5" fmla="*/ 67 h 68"/>
                        <a:gd name="T6" fmla="*/ 81 w 114"/>
                        <a:gd name="T7" fmla="*/ 67 h 68"/>
                        <a:gd name="T8" fmla="*/ 81 w 114"/>
                        <a:gd name="T9" fmla="*/ 32 h 68"/>
                        <a:gd name="T10" fmla="*/ 82 w 114"/>
                        <a:gd name="T11" fmla="*/ 27 h 68"/>
                        <a:gd name="T12" fmla="*/ 85 w 114"/>
                        <a:gd name="T13" fmla="*/ 24 h 68"/>
                        <a:gd name="T14" fmla="*/ 90 w 114"/>
                        <a:gd name="T15" fmla="*/ 22 h 68"/>
                        <a:gd name="T16" fmla="*/ 113 w 114"/>
                        <a:gd name="T17" fmla="*/ 22 h 68"/>
                        <a:gd name="T18" fmla="*/ 113 w 114"/>
                        <a:gd name="T19" fmla="*/ 0 h 68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14"/>
                        <a:gd name="T31" fmla="*/ 0 h 68"/>
                        <a:gd name="T32" fmla="*/ 114 w 114"/>
                        <a:gd name="T33" fmla="*/ 68 h 68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14" h="68">
                          <a:moveTo>
                            <a:pt x="113" y="0"/>
                          </a:moveTo>
                          <a:lnTo>
                            <a:pt x="0" y="0"/>
                          </a:lnTo>
                          <a:lnTo>
                            <a:pt x="0" y="67"/>
                          </a:lnTo>
                          <a:lnTo>
                            <a:pt x="81" y="67"/>
                          </a:lnTo>
                          <a:lnTo>
                            <a:pt x="81" y="32"/>
                          </a:lnTo>
                          <a:lnTo>
                            <a:pt x="82" y="27"/>
                          </a:lnTo>
                          <a:lnTo>
                            <a:pt x="85" y="24"/>
                          </a:lnTo>
                          <a:lnTo>
                            <a:pt x="90" y="22"/>
                          </a:lnTo>
                          <a:lnTo>
                            <a:pt x="113" y="22"/>
                          </a:lnTo>
                          <a:lnTo>
                            <a:pt x="113" y="0"/>
                          </a:lnTo>
                        </a:path>
                      </a:pathLst>
                    </a:custGeom>
                    <a:solidFill>
                      <a:srgbClr val="008000"/>
                    </a:solidFill>
                    <a:ln w="12700" cap="rnd">
                      <a:solidFill>
                        <a:srgbClr val="3F5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536" name="Oval 363"/>
                  <p:cNvSpPr>
                    <a:spLocks noChangeArrowheads="1"/>
                  </p:cNvSpPr>
                  <p:nvPr/>
                </p:nvSpPr>
                <p:spPr bwMode="auto">
                  <a:xfrm>
                    <a:off x="875" y="3356"/>
                    <a:ext cx="211" cy="327"/>
                  </a:xfrm>
                  <a:prstGeom prst="ellipse">
                    <a:avLst/>
                  </a:prstGeom>
                  <a:solidFill>
                    <a:srgbClr val="3F5F00"/>
                  </a:solidFill>
                  <a:ln w="12700">
                    <a:solidFill>
                      <a:srgbClr val="DFFFB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0521" name="Group 364"/>
                <p:cNvGrpSpPr>
                  <a:grpSpLocks/>
                </p:cNvGrpSpPr>
                <p:nvPr/>
              </p:nvGrpSpPr>
              <p:grpSpPr bwMode="auto">
                <a:xfrm>
                  <a:off x="877" y="3366"/>
                  <a:ext cx="201" cy="288"/>
                  <a:chOff x="877" y="3366"/>
                  <a:chExt cx="201" cy="288"/>
                </a:xfrm>
              </p:grpSpPr>
              <p:sp>
                <p:nvSpPr>
                  <p:cNvPr id="100522" name="Freeform 365"/>
                  <p:cNvSpPr>
                    <a:spLocks/>
                  </p:cNvSpPr>
                  <p:nvPr/>
                </p:nvSpPr>
                <p:spPr bwMode="auto">
                  <a:xfrm>
                    <a:off x="1014" y="3539"/>
                    <a:ext cx="64" cy="115"/>
                  </a:xfrm>
                  <a:custGeom>
                    <a:avLst/>
                    <a:gdLst>
                      <a:gd name="T0" fmla="*/ 0 w 64"/>
                      <a:gd name="T1" fmla="*/ 0 h 115"/>
                      <a:gd name="T2" fmla="*/ 13 w 64"/>
                      <a:gd name="T3" fmla="*/ 7 h 115"/>
                      <a:gd name="T4" fmla="*/ 14 w 64"/>
                      <a:gd name="T5" fmla="*/ 22 h 115"/>
                      <a:gd name="T6" fmla="*/ 31 w 64"/>
                      <a:gd name="T7" fmla="*/ 31 h 115"/>
                      <a:gd name="T8" fmla="*/ 51 w 64"/>
                      <a:gd name="T9" fmla="*/ 36 h 115"/>
                      <a:gd name="T10" fmla="*/ 63 w 64"/>
                      <a:gd name="T11" fmla="*/ 43 h 115"/>
                      <a:gd name="T12" fmla="*/ 61 w 64"/>
                      <a:gd name="T13" fmla="*/ 50 h 115"/>
                      <a:gd name="T14" fmla="*/ 59 w 64"/>
                      <a:gd name="T15" fmla="*/ 59 h 115"/>
                      <a:gd name="T16" fmla="*/ 54 w 64"/>
                      <a:gd name="T17" fmla="*/ 69 h 115"/>
                      <a:gd name="T18" fmla="*/ 51 w 64"/>
                      <a:gd name="T19" fmla="*/ 78 h 115"/>
                      <a:gd name="T20" fmla="*/ 47 w 64"/>
                      <a:gd name="T21" fmla="*/ 85 h 115"/>
                      <a:gd name="T22" fmla="*/ 43 w 64"/>
                      <a:gd name="T23" fmla="*/ 94 h 115"/>
                      <a:gd name="T24" fmla="*/ 35 w 64"/>
                      <a:gd name="T25" fmla="*/ 105 h 115"/>
                      <a:gd name="T26" fmla="*/ 29 w 64"/>
                      <a:gd name="T27" fmla="*/ 114 h 115"/>
                      <a:gd name="T28" fmla="*/ 9 w 64"/>
                      <a:gd name="T29" fmla="*/ 32 h 115"/>
                      <a:gd name="T30" fmla="*/ 1 w 64"/>
                      <a:gd name="T31" fmla="*/ 21 h 115"/>
                      <a:gd name="T32" fmla="*/ 0 w 64"/>
                      <a:gd name="T33" fmla="*/ 0 h 11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64"/>
                      <a:gd name="T52" fmla="*/ 0 h 115"/>
                      <a:gd name="T53" fmla="*/ 64 w 64"/>
                      <a:gd name="T54" fmla="*/ 115 h 115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64" h="115">
                        <a:moveTo>
                          <a:pt x="0" y="0"/>
                        </a:moveTo>
                        <a:lnTo>
                          <a:pt x="13" y="7"/>
                        </a:lnTo>
                        <a:lnTo>
                          <a:pt x="14" y="22"/>
                        </a:lnTo>
                        <a:lnTo>
                          <a:pt x="31" y="31"/>
                        </a:lnTo>
                        <a:lnTo>
                          <a:pt x="51" y="36"/>
                        </a:lnTo>
                        <a:lnTo>
                          <a:pt x="63" y="43"/>
                        </a:lnTo>
                        <a:lnTo>
                          <a:pt x="61" y="50"/>
                        </a:lnTo>
                        <a:lnTo>
                          <a:pt x="59" y="59"/>
                        </a:lnTo>
                        <a:lnTo>
                          <a:pt x="54" y="69"/>
                        </a:lnTo>
                        <a:lnTo>
                          <a:pt x="51" y="78"/>
                        </a:lnTo>
                        <a:lnTo>
                          <a:pt x="47" y="85"/>
                        </a:lnTo>
                        <a:lnTo>
                          <a:pt x="43" y="94"/>
                        </a:lnTo>
                        <a:lnTo>
                          <a:pt x="35" y="105"/>
                        </a:lnTo>
                        <a:lnTo>
                          <a:pt x="29" y="114"/>
                        </a:lnTo>
                        <a:lnTo>
                          <a:pt x="9" y="32"/>
                        </a:lnTo>
                        <a:lnTo>
                          <a:pt x="1" y="2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523" name="Freeform 366"/>
                  <p:cNvSpPr>
                    <a:spLocks/>
                  </p:cNvSpPr>
                  <p:nvPr/>
                </p:nvSpPr>
                <p:spPr bwMode="auto">
                  <a:xfrm>
                    <a:off x="948" y="3524"/>
                    <a:ext cx="92" cy="130"/>
                  </a:xfrm>
                  <a:custGeom>
                    <a:avLst/>
                    <a:gdLst>
                      <a:gd name="T0" fmla="*/ 91 w 92"/>
                      <a:gd name="T1" fmla="*/ 129 h 130"/>
                      <a:gd name="T2" fmla="*/ 51 w 92"/>
                      <a:gd name="T3" fmla="*/ 129 h 130"/>
                      <a:gd name="T4" fmla="*/ 33 w 92"/>
                      <a:gd name="T5" fmla="*/ 129 h 130"/>
                      <a:gd name="T6" fmla="*/ 33 w 92"/>
                      <a:gd name="T7" fmla="*/ 105 h 130"/>
                      <a:gd name="T8" fmla="*/ 26 w 92"/>
                      <a:gd name="T9" fmla="*/ 73 h 130"/>
                      <a:gd name="T10" fmla="*/ 17 w 92"/>
                      <a:gd name="T11" fmla="*/ 42 h 130"/>
                      <a:gd name="T12" fmla="*/ 17 w 92"/>
                      <a:gd name="T13" fmla="*/ 24 h 130"/>
                      <a:gd name="T14" fmla="*/ 6 w 92"/>
                      <a:gd name="T15" fmla="*/ 14 h 130"/>
                      <a:gd name="T16" fmla="*/ 0 w 92"/>
                      <a:gd name="T17" fmla="*/ 0 h 130"/>
                      <a:gd name="T18" fmla="*/ 11 w 92"/>
                      <a:gd name="T19" fmla="*/ 8 h 130"/>
                      <a:gd name="T20" fmla="*/ 23 w 92"/>
                      <a:gd name="T21" fmla="*/ 15 h 130"/>
                      <a:gd name="T22" fmla="*/ 36 w 92"/>
                      <a:gd name="T23" fmla="*/ 18 h 130"/>
                      <a:gd name="T24" fmla="*/ 42 w 92"/>
                      <a:gd name="T25" fmla="*/ 21 h 130"/>
                      <a:gd name="T26" fmla="*/ 48 w 92"/>
                      <a:gd name="T27" fmla="*/ 21 h 130"/>
                      <a:gd name="T28" fmla="*/ 56 w 92"/>
                      <a:gd name="T29" fmla="*/ 18 h 130"/>
                      <a:gd name="T30" fmla="*/ 62 w 92"/>
                      <a:gd name="T31" fmla="*/ 15 h 130"/>
                      <a:gd name="T32" fmla="*/ 62 w 92"/>
                      <a:gd name="T33" fmla="*/ 35 h 130"/>
                      <a:gd name="T34" fmla="*/ 71 w 92"/>
                      <a:gd name="T35" fmla="*/ 47 h 130"/>
                      <a:gd name="T36" fmla="*/ 83 w 92"/>
                      <a:gd name="T37" fmla="*/ 96 h 130"/>
                      <a:gd name="T38" fmla="*/ 91 w 92"/>
                      <a:gd name="T39" fmla="*/ 129 h 130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"/>
                      <a:gd name="T61" fmla="*/ 0 h 130"/>
                      <a:gd name="T62" fmla="*/ 92 w 92"/>
                      <a:gd name="T63" fmla="*/ 130 h 130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" h="130">
                        <a:moveTo>
                          <a:pt x="91" y="129"/>
                        </a:moveTo>
                        <a:lnTo>
                          <a:pt x="51" y="129"/>
                        </a:lnTo>
                        <a:lnTo>
                          <a:pt x="33" y="129"/>
                        </a:lnTo>
                        <a:lnTo>
                          <a:pt x="33" y="105"/>
                        </a:lnTo>
                        <a:lnTo>
                          <a:pt x="26" y="73"/>
                        </a:lnTo>
                        <a:lnTo>
                          <a:pt x="17" y="42"/>
                        </a:lnTo>
                        <a:lnTo>
                          <a:pt x="17" y="24"/>
                        </a:lnTo>
                        <a:lnTo>
                          <a:pt x="6" y="14"/>
                        </a:lnTo>
                        <a:lnTo>
                          <a:pt x="0" y="0"/>
                        </a:lnTo>
                        <a:lnTo>
                          <a:pt x="11" y="8"/>
                        </a:lnTo>
                        <a:lnTo>
                          <a:pt x="23" y="15"/>
                        </a:lnTo>
                        <a:lnTo>
                          <a:pt x="36" y="18"/>
                        </a:lnTo>
                        <a:lnTo>
                          <a:pt x="42" y="21"/>
                        </a:lnTo>
                        <a:lnTo>
                          <a:pt x="48" y="21"/>
                        </a:lnTo>
                        <a:lnTo>
                          <a:pt x="56" y="18"/>
                        </a:lnTo>
                        <a:lnTo>
                          <a:pt x="62" y="15"/>
                        </a:lnTo>
                        <a:lnTo>
                          <a:pt x="62" y="35"/>
                        </a:lnTo>
                        <a:lnTo>
                          <a:pt x="71" y="47"/>
                        </a:lnTo>
                        <a:lnTo>
                          <a:pt x="83" y="96"/>
                        </a:lnTo>
                        <a:lnTo>
                          <a:pt x="91" y="129"/>
                        </a:lnTo>
                      </a:path>
                    </a:pathLst>
                  </a:custGeom>
                  <a:solidFill>
                    <a:srgbClr val="D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524" name="Freeform 367"/>
                  <p:cNvSpPr>
                    <a:spLocks/>
                  </p:cNvSpPr>
                  <p:nvPr/>
                </p:nvSpPr>
                <p:spPr bwMode="auto">
                  <a:xfrm>
                    <a:off x="933" y="3377"/>
                    <a:ext cx="98" cy="162"/>
                  </a:xfrm>
                  <a:custGeom>
                    <a:avLst/>
                    <a:gdLst>
                      <a:gd name="T0" fmla="*/ 11 w 98"/>
                      <a:gd name="T1" fmla="*/ 126 h 162"/>
                      <a:gd name="T2" fmla="*/ 9 w 98"/>
                      <a:gd name="T3" fmla="*/ 108 h 162"/>
                      <a:gd name="T4" fmla="*/ 3 w 98"/>
                      <a:gd name="T5" fmla="*/ 87 h 162"/>
                      <a:gd name="T6" fmla="*/ 0 w 98"/>
                      <a:gd name="T7" fmla="*/ 54 h 162"/>
                      <a:gd name="T8" fmla="*/ 13 w 98"/>
                      <a:gd name="T9" fmla="*/ 21 h 162"/>
                      <a:gd name="T10" fmla="*/ 29 w 98"/>
                      <a:gd name="T11" fmla="*/ 7 h 162"/>
                      <a:gd name="T12" fmla="*/ 49 w 98"/>
                      <a:gd name="T13" fmla="*/ 1 h 162"/>
                      <a:gd name="T14" fmla="*/ 67 w 98"/>
                      <a:gd name="T15" fmla="*/ 0 h 162"/>
                      <a:gd name="T16" fmla="*/ 82 w 98"/>
                      <a:gd name="T17" fmla="*/ 10 h 162"/>
                      <a:gd name="T18" fmla="*/ 93 w 98"/>
                      <a:gd name="T19" fmla="*/ 36 h 162"/>
                      <a:gd name="T20" fmla="*/ 97 w 98"/>
                      <a:gd name="T21" fmla="*/ 57 h 162"/>
                      <a:gd name="T22" fmla="*/ 96 w 98"/>
                      <a:gd name="T23" fmla="*/ 86 h 162"/>
                      <a:gd name="T24" fmla="*/ 94 w 98"/>
                      <a:gd name="T25" fmla="*/ 108 h 162"/>
                      <a:gd name="T26" fmla="*/ 93 w 98"/>
                      <a:gd name="T27" fmla="*/ 117 h 162"/>
                      <a:gd name="T28" fmla="*/ 91 w 98"/>
                      <a:gd name="T29" fmla="*/ 126 h 162"/>
                      <a:gd name="T30" fmla="*/ 86 w 98"/>
                      <a:gd name="T31" fmla="*/ 134 h 162"/>
                      <a:gd name="T32" fmla="*/ 80 w 98"/>
                      <a:gd name="T33" fmla="*/ 138 h 162"/>
                      <a:gd name="T34" fmla="*/ 75 w 98"/>
                      <a:gd name="T35" fmla="*/ 141 h 162"/>
                      <a:gd name="T36" fmla="*/ 76 w 98"/>
                      <a:gd name="T37" fmla="*/ 155 h 162"/>
                      <a:gd name="T38" fmla="*/ 70 w 98"/>
                      <a:gd name="T39" fmla="*/ 158 h 162"/>
                      <a:gd name="T40" fmla="*/ 63 w 98"/>
                      <a:gd name="T41" fmla="*/ 161 h 162"/>
                      <a:gd name="T42" fmla="*/ 50 w 98"/>
                      <a:gd name="T43" fmla="*/ 160 h 162"/>
                      <a:gd name="T44" fmla="*/ 40 w 98"/>
                      <a:gd name="T45" fmla="*/ 155 h 162"/>
                      <a:gd name="T46" fmla="*/ 24 w 98"/>
                      <a:gd name="T47" fmla="*/ 147 h 162"/>
                      <a:gd name="T48" fmla="*/ 14 w 98"/>
                      <a:gd name="T49" fmla="*/ 140 h 162"/>
                      <a:gd name="T50" fmla="*/ 11 w 98"/>
                      <a:gd name="T51" fmla="*/ 126 h 16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98"/>
                      <a:gd name="T79" fmla="*/ 0 h 162"/>
                      <a:gd name="T80" fmla="*/ 98 w 98"/>
                      <a:gd name="T81" fmla="*/ 162 h 16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98" h="162">
                        <a:moveTo>
                          <a:pt x="11" y="126"/>
                        </a:moveTo>
                        <a:lnTo>
                          <a:pt x="9" y="108"/>
                        </a:lnTo>
                        <a:lnTo>
                          <a:pt x="3" y="87"/>
                        </a:lnTo>
                        <a:lnTo>
                          <a:pt x="0" y="54"/>
                        </a:lnTo>
                        <a:lnTo>
                          <a:pt x="13" y="21"/>
                        </a:lnTo>
                        <a:lnTo>
                          <a:pt x="29" y="7"/>
                        </a:lnTo>
                        <a:lnTo>
                          <a:pt x="49" y="1"/>
                        </a:lnTo>
                        <a:lnTo>
                          <a:pt x="67" y="0"/>
                        </a:lnTo>
                        <a:lnTo>
                          <a:pt x="82" y="10"/>
                        </a:lnTo>
                        <a:lnTo>
                          <a:pt x="93" y="36"/>
                        </a:lnTo>
                        <a:lnTo>
                          <a:pt x="97" y="57"/>
                        </a:lnTo>
                        <a:lnTo>
                          <a:pt x="96" y="86"/>
                        </a:lnTo>
                        <a:lnTo>
                          <a:pt x="94" y="108"/>
                        </a:lnTo>
                        <a:lnTo>
                          <a:pt x="93" y="117"/>
                        </a:lnTo>
                        <a:lnTo>
                          <a:pt x="91" y="126"/>
                        </a:lnTo>
                        <a:lnTo>
                          <a:pt x="86" y="134"/>
                        </a:lnTo>
                        <a:lnTo>
                          <a:pt x="80" y="138"/>
                        </a:lnTo>
                        <a:lnTo>
                          <a:pt x="75" y="141"/>
                        </a:lnTo>
                        <a:lnTo>
                          <a:pt x="76" y="155"/>
                        </a:lnTo>
                        <a:lnTo>
                          <a:pt x="70" y="158"/>
                        </a:lnTo>
                        <a:lnTo>
                          <a:pt x="63" y="161"/>
                        </a:lnTo>
                        <a:lnTo>
                          <a:pt x="50" y="160"/>
                        </a:lnTo>
                        <a:lnTo>
                          <a:pt x="40" y="155"/>
                        </a:lnTo>
                        <a:lnTo>
                          <a:pt x="24" y="147"/>
                        </a:lnTo>
                        <a:lnTo>
                          <a:pt x="14" y="140"/>
                        </a:lnTo>
                        <a:lnTo>
                          <a:pt x="11" y="126"/>
                        </a:lnTo>
                      </a:path>
                    </a:pathLst>
                  </a:custGeom>
                  <a:solidFill>
                    <a:srgbClr val="BFFFB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525" name="Freeform 368"/>
                  <p:cNvSpPr>
                    <a:spLocks/>
                  </p:cNvSpPr>
                  <p:nvPr/>
                </p:nvSpPr>
                <p:spPr bwMode="auto">
                  <a:xfrm>
                    <a:off x="933" y="3446"/>
                    <a:ext cx="71" cy="109"/>
                  </a:xfrm>
                  <a:custGeom>
                    <a:avLst/>
                    <a:gdLst>
                      <a:gd name="T0" fmla="*/ 22 w 71"/>
                      <a:gd name="T1" fmla="*/ 0 h 109"/>
                      <a:gd name="T2" fmla="*/ 26 w 71"/>
                      <a:gd name="T3" fmla="*/ 21 h 109"/>
                      <a:gd name="T4" fmla="*/ 29 w 71"/>
                      <a:gd name="T5" fmla="*/ 36 h 109"/>
                      <a:gd name="T6" fmla="*/ 32 w 71"/>
                      <a:gd name="T7" fmla="*/ 49 h 109"/>
                      <a:gd name="T8" fmla="*/ 39 w 71"/>
                      <a:gd name="T9" fmla="*/ 62 h 109"/>
                      <a:gd name="T10" fmla="*/ 40 w 71"/>
                      <a:gd name="T11" fmla="*/ 65 h 109"/>
                      <a:gd name="T12" fmla="*/ 45 w 71"/>
                      <a:gd name="T13" fmla="*/ 69 h 109"/>
                      <a:gd name="T14" fmla="*/ 48 w 71"/>
                      <a:gd name="T15" fmla="*/ 72 h 109"/>
                      <a:gd name="T16" fmla="*/ 55 w 71"/>
                      <a:gd name="T17" fmla="*/ 74 h 109"/>
                      <a:gd name="T18" fmla="*/ 58 w 71"/>
                      <a:gd name="T19" fmla="*/ 75 h 109"/>
                      <a:gd name="T20" fmla="*/ 62 w 71"/>
                      <a:gd name="T21" fmla="*/ 76 h 109"/>
                      <a:gd name="T22" fmla="*/ 66 w 71"/>
                      <a:gd name="T23" fmla="*/ 76 h 109"/>
                      <a:gd name="T24" fmla="*/ 70 w 71"/>
                      <a:gd name="T25" fmla="*/ 74 h 109"/>
                      <a:gd name="T26" fmla="*/ 66 w 71"/>
                      <a:gd name="T27" fmla="*/ 81 h 109"/>
                      <a:gd name="T28" fmla="*/ 57 w 71"/>
                      <a:gd name="T29" fmla="*/ 88 h 109"/>
                      <a:gd name="T30" fmla="*/ 52 w 71"/>
                      <a:gd name="T31" fmla="*/ 94 h 109"/>
                      <a:gd name="T32" fmla="*/ 48 w 71"/>
                      <a:gd name="T33" fmla="*/ 101 h 109"/>
                      <a:gd name="T34" fmla="*/ 44 w 71"/>
                      <a:gd name="T35" fmla="*/ 106 h 109"/>
                      <a:gd name="T36" fmla="*/ 35 w 71"/>
                      <a:gd name="T37" fmla="*/ 108 h 109"/>
                      <a:gd name="T38" fmla="*/ 23 w 71"/>
                      <a:gd name="T39" fmla="*/ 108 h 109"/>
                      <a:gd name="T40" fmla="*/ 5 w 71"/>
                      <a:gd name="T41" fmla="*/ 92 h 109"/>
                      <a:gd name="T42" fmla="*/ 0 w 71"/>
                      <a:gd name="T43" fmla="*/ 79 h 109"/>
                      <a:gd name="T44" fmla="*/ 7 w 71"/>
                      <a:gd name="T45" fmla="*/ 52 h 109"/>
                      <a:gd name="T46" fmla="*/ 11 w 71"/>
                      <a:gd name="T47" fmla="*/ 24 h 109"/>
                      <a:gd name="T48" fmla="*/ 22 w 71"/>
                      <a:gd name="T49" fmla="*/ 0 h 109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71"/>
                      <a:gd name="T76" fmla="*/ 0 h 109"/>
                      <a:gd name="T77" fmla="*/ 71 w 71"/>
                      <a:gd name="T78" fmla="*/ 109 h 109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71" h="109">
                        <a:moveTo>
                          <a:pt x="22" y="0"/>
                        </a:moveTo>
                        <a:lnTo>
                          <a:pt x="26" y="21"/>
                        </a:lnTo>
                        <a:lnTo>
                          <a:pt x="29" y="36"/>
                        </a:lnTo>
                        <a:lnTo>
                          <a:pt x="32" y="49"/>
                        </a:lnTo>
                        <a:lnTo>
                          <a:pt x="39" y="62"/>
                        </a:lnTo>
                        <a:lnTo>
                          <a:pt x="40" y="65"/>
                        </a:lnTo>
                        <a:lnTo>
                          <a:pt x="45" y="69"/>
                        </a:lnTo>
                        <a:lnTo>
                          <a:pt x="48" y="72"/>
                        </a:lnTo>
                        <a:lnTo>
                          <a:pt x="55" y="74"/>
                        </a:lnTo>
                        <a:lnTo>
                          <a:pt x="58" y="75"/>
                        </a:lnTo>
                        <a:lnTo>
                          <a:pt x="62" y="76"/>
                        </a:lnTo>
                        <a:lnTo>
                          <a:pt x="66" y="76"/>
                        </a:lnTo>
                        <a:lnTo>
                          <a:pt x="70" y="74"/>
                        </a:lnTo>
                        <a:lnTo>
                          <a:pt x="66" y="81"/>
                        </a:lnTo>
                        <a:lnTo>
                          <a:pt x="57" y="88"/>
                        </a:lnTo>
                        <a:lnTo>
                          <a:pt x="52" y="94"/>
                        </a:lnTo>
                        <a:lnTo>
                          <a:pt x="48" y="101"/>
                        </a:lnTo>
                        <a:lnTo>
                          <a:pt x="44" y="106"/>
                        </a:lnTo>
                        <a:lnTo>
                          <a:pt x="35" y="108"/>
                        </a:lnTo>
                        <a:lnTo>
                          <a:pt x="23" y="108"/>
                        </a:lnTo>
                        <a:lnTo>
                          <a:pt x="5" y="92"/>
                        </a:lnTo>
                        <a:lnTo>
                          <a:pt x="0" y="79"/>
                        </a:lnTo>
                        <a:lnTo>
                          <a:pt x="7" y="52"/>
                        </a:lnTo>
                        <a:lnTo>
                          <a:pt x="11" y="24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3F5F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00526" name="Group 369"/>
                  <p:cNvGrpSpPr>
                    <a:grpSpLocks/>
                  </p:cNvGrpSpPr>
                  <p:nvPr/>
                </p:nvGrpSpPr>
                <p:grpSpPr bwMode="auto">
                  <a:xfrm>
                    <a:off x="976" y="3428"/>
                    <a:ext cx="54" cy="61"/>
                    <a:chOff x="976" y="3428"/>
                    <a:chExt cx="54" cy="61"/>
                  </a:xfrm>
                </p:grpSpPr>
                <p:sp>
                  <p:nvSpPr>
                    <p:cNvPr id="100529" name="Freeform 370"/>
                    <p:cNvSpPr>
                      <a:spLocks/>
                    </p:cNvSpPr>
                    <p:nvPr/>
                  </p:nvSpPr>
                  <p:spPr bwMode="auto">
                    <a:xfrm>
                      <a:off x="998" y="3486"/>
                      <a:ext cx="18" cy="3"/>
                    </a:xfrm>
                    <a:custGeom>
                      <a:avLst/>
                      <a:gdLst>
                        <a:gd name="T0" fmla="*/ 0 w 18"/>
                        <a:gd name="T1" fmla="*/ 1 h 3"/>
                        <a:gd name="T2" fmla="*/ 1 w 18"/>
                        <a:gd name="T3" fmla="*/ 2 h 3"/>
                        <a:gd name="T4" fmla="*/ 4 w 18"/>
                        <a:gd name="T5" fmla="*/ 2 h 3"/>
                        <a:gd name="T6" fmla="*/ 7 w 18"/>
                        <a:gd name="T7" fmla="*/ 2 h 3"/>
                        <a:gd name="T8" fmla="*/ 9 w 18"/>
                        <a:gd name="T9" fmla="*/ 2 h 3"/>
                        <a:gd name="T10" fmla="*/ 12 w 18"/>
                        <a:gd name="T11" fmla="*/ 2 h 3"/>
                        <a:gd name="T12" fmla="*/ 14 w 18"/>
                        <a:gd name="T13" fmla="*/ 2 h 3"/>
                        <a:gd name="T14" fmla="*/ 16 w 18"/>
                        <a:gd name="T15" fmla="*/ 2 h 3"/>
                        <a:gd name="T16" fmla="*/ 17 w 18"/>
                        <a:gd name="T17" fmla="*/ 1 h 3"/>
                        <a:gd name="T18" fmla="*/ 15 w 18"/>
                        <a:gd name="T19" fmla="*/ 0 h 3"/>
                        <a:gd name="T20" fmla="*/ 10 w 18"/>
                        <a:gd name="T21" fmla="*/ 0 h 3"/>
                        <a:gd name="T22" fmla="*/ 5 w 18"/>
                        <a:gd name="T23" fmla="*/ 0 h 3"/>
                        <a:gd name="T24" fmla="*/ 2 w 18"/>
                        <a:gd name="T25" fmla="*/ 0 h 3"/>
                        <a:gd name="T26" fmla="*/ 0 w 18"/>
                        <a:gd name="T27" fmla="*/ 1 h 3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8"/>
                        <a:gd name="T43" fmla="*/ 0 h 3"/>
                        <a:gd name="T44" fmla="*/ 18 w 18"/>
                        <a:gd name="T45" fmla="*/ 3 h 3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8" h="3">
                          <a:moveTo>
                            <a:pt x="0" y="1"/>
                          </a:moveTo>
                          <a:lnTo>
                            <a:pt x="1" y="2"/>
                          </a:lnTo>
                          <a:lnTo>
                            <a:pt x="4" y="2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2" y="2"/>
                          </a:lnTo>
                          <a:lnTo>
                            <a:pt x="14" y="2"/>
                          </a:lnTo>
                          <a:lnTo>
                            <a:pt x="16" y="2"/>
                          </a:lnTo>
                          <a:lnTo>
                            <a:pt x="17" y="1"/>
                          </a:lnTo>
                          <a:lnTo>
                            <a:pt x="15" y="0"/>
                          </a:lnTo>
                          <a:lnTo>
                            <a:pt x="10" y="0"/>
                          </a:lnTo>
                          <a:lnTo>
                            <a:pt x="5" y="0"/>
                          </a:lnTo>
                          <a:lnTo>
                            <a:pt x="2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0" name="Freeform 371"/>
                    <p:cNvSpPr>
                      <a:spLocks/>
                    </p:cNvSpPr>
                    <p:nvPr/>
                  </p:nvSpPr>
                  <p:spPr bwMode="auto">
                    <a:xfrm>
                      <a:off x="998" y="3471"/>
                      <a:ext cx="15" cy="2"/>
                    </a:xfrm>
                    <a:custGeom>
                      <a:avLst/>
                      <a:gdLst>
                        <a:gd name="T0" fmla="*/ 3 w 15"/>
                        <a:gd name="T1" fmla="*/ 1 h 2"/>
                        <a:gd name="T2" fmla="*/ 1 w 15"/>
                        <a:gd name="T3" fmla="*/ 1 h 2"/>
                        <a:gd name="T4" fmla="*/ 0 w 15"/>
                        <a:gd name="T5" fmla="*/ 1 h 2"/>
                        <a:gd name="T6" fmla="*/ 1 w 15"/>
                        <a:gd name="T7" fmla="*/ 0 h 2"/>
                        <a:gd name="T8" fmla="*/ 3 w 15"/>
                        <a:gd name="T9" fmla="*/ 0 h 2"/>
                        <a:gd name="T10" fmla="*/ 5 w 15"/>
                        <a:gd name="T11" fmla="*/ 0 h 2"/>
                        <a:gd name="T12" fmla="*/ 7 w 15"/>
                        <a:gd name="T13" fmla="*/ 0 h 2"/>
                        <a:gd name="T14" fmla="*/ 9 w 15"/>
                        <a:gd name="T15" fmla="*/ 0 h 2"/>
                        <a:gd name="T16" fmla="*/ 11 w 15"/>
                        <a:gd name="T17" fmla="*/ 0 h 2"/>
                        <a:gd name="T18" fmla="*/ 12 w 15"/>
                        <a:gd name="T19" fmla="*/ 0 h 2"/>
                        <a:gd name="T20" fmla="*/ 13 w 15"/>
                        <a:gd name="T21" fmla="*/ 0 h 2"/>
                        <a:gd name="T22" fmla="*/ 14 w 15"/>
                        <a:gd name="T23" fmla="*/ 1 h 2"/>
                        <a:gd name="T24" fmla="*/ 12 w 15"/>
                        <a:gd name="T25" fmla="*/ 1 h 2"/>
                        <a:gd name="T26" fmla="*/ 11 w 15"/>
                        <a:gd name="T27" fmla="*/ 1 h 2"/>
                        <a:gd name="T28" fmla="*/ 9 w 15"/>
                        <a:gd name="T29" fmla="*/ 1 h 2"/>
                        <a:gd name="T30" fmla="*/ 8 w 15"/>
                        <a:gd name="T31" fmla="*/ 1 h 2"/>
                        <a:gd name="T32" fmla="*/ 7 w 15"/>
                        <a:gd name="T33" fmla="*/ 1 h 2"/>
                        <a:gd name="T34" fmla="*/ 5 w 15"/>
                        <a:gd name="T35" fmla="*/ 1 h 2"/>
                        <a:gd name="T36" fmla="*/ 3 w 15"/>
                        <a:gd name="T37" fmla="*/ 1 h 2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15"/>
                        <a:gd name="T58" fmla="*/ 0 h 2"/>
                        <a:gd name="T59" fmla="*/ 15 w 15"/>
                        <a:gd name="T60" fmla="*/ 2 h 2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15" h="2">
                          <a:moveTo>
                            <a:pt x="3" y="1"/>
                          </a:move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3" y="0"/>
                          </a:lnTo>
                          <a:lnTo>
                            <a:pt x="5" y="0"/>
                          </a:lnTo>
                          <a:lnTo>
                            <a:pt x="7" y="0"/>
                          </a:lnTo>
                          <a:lnTo>
                            <a:pt x="9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3" y="0"/>
                          </a:lnTo>
                          <a:lnTo>
                            <a:pt x="14" y="1"/>
                          </a:lnTo>
                          <a:lnTo>
                            <a:pt x="12" y="1"/>
                          </a:lnTo>
                          <a:lnTo>
                            <a:pt x="11" y="1"/>
                          </a:lnTo>
                          <a:lnTo>
                            <a:pt x="9" y="1"/>
                          </a:lnTo>
                          <a:lnTo>
                            <a:pt x="8" y="1"/>
                          </a:lnTo>
                          <a:lnTo>
                            <a:pt x="7" y="1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1" name="Freeform 372"/>
                    <p:cNvSpPr>
                      <a:spLocks/>
                    </p:cNvSpPr>
                    <p:nvPr/>
                  </p:nvSpPr>
                  <p:spPr bwMode="auto">
                    <a:xfrm>
                      <a:off x="976" y="3428"/>
                      <a:ext cx="28" cy="34"/>
                    </a:xfrm>
                    <a:custGeom>
                      <a:avLst/>
                      <a:gdLst>
                        <a:gd name="T0" fmla="*/ 0 w 28"/>
                        <a:gd name="T1" fmla="*/ 6 h 34"/>
                        <a:gd name="T2" fmla="*/ 3 w 28"/>
                        <a:gd name="T3" fmla="*/ 2 h 34"/>
                        <a:gd name="T4" fmla="*/ 8 w 28"/>
                        <a:gd name="T5" fmla="*/ 1 h 34"/>
                        <a:gd name="T6" fmla="*/ 12 w 28"/>
                        <a:gd name="T7" fmla="*/ 0 h 34"/>
                        <a:gd name="T8" fmla="*/ 17 w 28"/>
                        <a:gd name="T9" fmla="*/ 0 h 34"/>
                        <a:gd name="T10" fmla="*/ 20 w 28"/>
                        <a:gd name="T11" fmla="*/ 2 h 34"/>
                        <a:gd name="T12" fmla="*/ 23 w 28"/>
                        <a:gd name="T13" fmla="*/ 7 h 34"/>
                        <a:gd name="T14" fmla="*/ 25 w 28"/>
                        <a:gd name="T15" fmla="*/ 16 h 34"/>
                        <a:gd name="T16" fmla="*/ 26 w 28"/>
                        <a:gd name="T17" fmla="*/ 24 h 34"/>
                        <a:gd name="T18" fmla="*/ 27 w 28"/>
                        <a:gd name="T19" fmla="*/ 33 h 34"/>
                        <a:gd name="T20" fmla="*/ 24 w 28"/>
                        <a:gd name="T21" fmla="*/ 31 h 34"/>
                        <a:gd name="T22" fmla="*/ 22 w 28"/>
                        <a:gd name="T23" fmla="*/ 31 h 34"/>
                        <a:gd name="T24" fmla="*/ 19 w 28"/>
                        <a:gd name="T25" fmla="*/ 32 h 34"/>
                        <a:gd name="T26" fmla="*/ 20 w 28"/>
                        <a:gd name="T27" fmla="*/ 23 h 34"/>
                        <a:gd name="T28" fmla="*/ 22 w 28"/>
                        <a:gd name="T29" fmla="*/ 14 h 34"/>
                        <a:gd name="T30" fmla="*/ 21 w 28"/>
                        <a:gd name="T31" fmla="*/ 9 h 34"/>
                        <a:gd name="T32" fmla="*/ 18 w 28"/>
                        <a:gd name="T33" fmla="*/ 5 h 34"/>
                        <a:gd name="T34" fmla="*/ 10 w 28"/>
                        <a:gd name="T35" fmla="*/ 3 h 34"/>
                        <a:gd name="T36" fmla="*/ 0 w 28"/>
                        <a:gd name="T37" fmla="*/ 6 h 34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28"/>
                        <a:gd name="T58" fmla="*/ 0 h 34"/>
                        <a:gd name="T59" fmla="*/ 28 w 28"/>
                        <a:gd name="T60" fmla="*/ 34 h 34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28" h="34">
                          <a:moveTo>
                            <a:pt x="0" y="6"/>
                          </a:moveTo>
                          <a:lnTo>
                            <a:pt x="3" y="2"/>
                          </a:lnTo>
                          <a:lnTo>
                            <a:pt x="8" y="1"/>
                          </a:lnTo>
                          <a:lnTo>
                            <a:pt x="12" y="0"/>
                          </a:lnTo>
                          <a:lnTo>
                            <a:pt x="17" y="0"/>
                          </a:lnTo>
                          <a:lnTo>
                            <a:pt x="20" y="2"/>
                          </a:lnTo>
                          <a:lnTo>
                            <a:pt x="23" y="7"/>
                          </a:lnTo>
                          <a:lnTo>
                            <a:pt x="25" y="16"/>
                          </a:lnTo>
                          <a:lnTo>
                            <a:pt x="26" y="24"/>
                          </a:lnTo>
                          <a:lnTo>
                            <a:pt x="27" y="33"/>
                          </a:lnTo>
                          <a:lnTo>
                            <a:pt x="24" y="31"/>
                          </a:lnTo>
                          <a:lnTo>
                            <a:pt x="22" y="31"/>
                          </a:lnTo>
                          <a:lnTo>
                            <a:pt x="19" y="32"/>
                          </a:lnTo>
                          <a:lnTo>
                            <a:pt x="20" y="23"/>
                          </a:lnTo>
                          <a:lnTo>
                            <a:pt x="22" y="14"/>
                          </a:lnTo>
                          <a:lnTo>
                            <a:pt x="21" y="9"/>
                          </a:lnTo>
                          <a:lnTo>
                            <a:pt x="18" y="5"/>
                          </a:lnTo>
                          <a:lnTo>
                            <a:pt x="10" y="3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2" name="Freeform 373"/>
                    <p:cNvSpPr>
                      <a:spLocks/>
                    </p:cNvSpPr>
                    <p:nvPr/>
                  </p:nvSpPr>
                  <p:spPr bwMode="auto">
                    <a:xfrm>
                      <a:off x="1010" y="3429"/>
                      <a:ext cx="20" cy="1"/>
                    </a:xfrm>
                    <a:custGeom>
                      <a:avLst/>
                      <a:gdLst>
                        <a:gd name="T0" fmla="*/ 0 w 20"/>
                        <a:gd name="T1" fmla="*/ 0 h 1"/>
                        <a:gd name="T2" fmla="*/ 4 w 20"/>
                        <a:gd name="T3" fmla="*/ 0 h 1"/>
                        <a:gd name="T4" fmla="*/ 7 w 20"/>
                        <a:gd name="T5" fmla="*/ 0 h 1"/>
                        <a:gd name="T6" fmla="*/ 12 w 20"/>
                        <a:gd name="T7" fmla="*/ 0 h 1"/>
                        <a:gd name="T8" fmla="*/ 17 w 20"/>
                        <a:gd name="T9" fmla="*/ 0 h 1"/>
                        <a:gd name="T10" fmla="*/ 19 w 20"/>
                        <a:gd name="T11" fmla="*/ 0 h 1"/>
                        <a:gd name="T12" fmla="*/ 18 w 20"/>
                        <a:gd name="T13" fmla="*/ 0 h 1"/>
                        <a:gd name="T14" fmla="*/ 15 w 20"/>
                        <a:gd name="T15" fmla="*/ 0 h 1"/>
                        <a:gd name="T16" fmla="*/ 9 w 20"/>
                        <a:gd name="T17" fmla="*/ 0 h 1"/>
                        <a:gd name="T18" fmla="*/ 4 w 20"/>
                        <a:gd name="T19" fmla="*/ 0 h 1"/>
                        <a:gd name="T20" fmla="*/ 0 w 20"/>
                        <a:gd name="T21" fmla="*/ 0 h 1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20"/>
                        <a:gd name="T34" fmla="*/ 0 h 1"/>
                        <a:gd name="T35" fmla="*/ 20 w 20"/>
                        <a:gd name="T36" fmla="*/ 1 h 1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20" h="1">
                          <a:moveTo>
                            <a:pt x="0" y="0"/>
                          </a:moveTo>
                          <a:lnTo>
                            <a:pt x="4" y="0"/>
                          </a:lnTo>
                          <a:lnTo>
                            <a:pt x="7" y="0"/>
                          </a:lnTo>
                          <a:lnTo>
                            <a:pt x="12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8" y="0"/>
                          </a:lnTo>
                          <a:lnTo>
                            <a:pt x="15" y="0"/>
                          </a:lnTo>
                          <a:lnTo>
                            <a:pt x="9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3" name="Freeform 374"/>
                    <p:cNvSpPr>
                      <a:spLocks/>
                    </p:cNvSpPr>
                    <p:nvPr/>
                  </p:nvSpPr>
                  <p:spPr bwMode="auto">
                    <a:xfrm>
                      <a:off x="984" y="3436"/>
                      <a:ext cx="9" cy="3"/>
                    </a:xfrm>
                    <a:custGeom>
                      <a:avLst/>
                      <a:gdLst>
                        <a:gd name="T0" fmla="*/ 0 w 9"/>
                        <a:gd name="T1" fmla="*/ 1 h 3"/>
                        <a:gd name="T2" fmla="*/ 1 w 9"/>
                        <a:gd name="T3" fmla="*/ 2 h 3"/>
                        <a:gd name="T4" fmla="*/ 4 w 9"/>
                        <a:gd name="T5" fmla="*/ 2 h 3"/>
                        <a:gd name="T6" fmla="*/ 5 w 9"/>
                        <a:gd name="T7" fmla="*/ 2 h 3"/>
                        <a:gd name="T8" fmla="*/ 7 w 9"/>
                        <a:gd name="T9" fmla="*/ 1 h 3"/>
                        <a:gd name="T10" fmla="*/ 8 w 9"/>
                        <a:gd name="T11" fmla="*/ 1 h 3"/>
                        <a:gd name="T12" fmla="*/ 6 w 9"/>
                        <a:gd name="T13" fmla="*/ 0 h 3"/>
                        <a:gd name="T14" fmla="*/ 4 w 9"/>
                        <a:gd name="T15" fmla="*/ 0 h 3"/>
                        <a:gd name="T16" fmla="*/ 2 w 9"/>
                        <a:gd name="T17" fmla="*/ 0 h 3"/>
                        <a:gd name="T18" fmla="*/ 0 w 9"/>
                        <a:gd name="T19" fmla="*/ 1 h 3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9"/>
                        <a:gd name="T31" fmla="*/ 0 h 3"/>
                        <a:gd name="T32" fmla="*/ 9 w 9"/>
                        <a:gd name="T33" fmla="*/ 3 h 3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9" h="3">
                          <a:moveTo>
                            <a:pt x="0" y="1"/>
                          </a:moveTo>
                          <a:lnTo>
                            <a:pt x="1" y="2"/>
                          </a:lnTo>
                          <a:lnTo>
                            <a:pt x="4" y="2"/>
                          </a:lnTo>
                          <a:lnTo>
                            <a:pt x="5" y="2"/>
                          </a:lnTo>
                          <a:lnTo>
                            <a:pt x="7" y="1"/>
                          </a:lnTo>
                          <a:lnTo>
                            <a:pt x="8" y="1"/>
                          </a:lnTo>
                          <a:lnTo>
                            <a:pt x="6" y="0"/>
                          </a:lnTo>
                          <a:lnTo>
                            <a:pt x="4" y="0"/>
                          </a:lnTo>
                          <a:lnTo>
                            <a:pt x="2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0534" name="Freeform 375"/>
                    <p:cNvSpPr>
                      <a:spLocks/>
                    </p:cNvSpPr>
                    <p:nvPr/>
                  </p:nvSpPr>
                  <p:spPr bwMode="auto">
                    <a:xfrm>
                      <a:off x="1015" y="3435"/>
                      <a:ext cx="9" cy="3"/>
                    </a:xfrm>
                    <a:custGeom>
                      <a:avLst/>
                      <a:gdLst>
                        <a:gd name="T0" fmla="*/ 8 w 9"/>
                        <a:gd name="T1" fmla="*/ 1 h 3"/>
                        <a:gd name="T2" fmla="*/ 7 w 9"/>
                        <a:gd name="T3" fmla="*/ 1 h 3"/>
                        <a:gd name="T4" fmla="*/ 5 w 9"/>
                        <a:gd name="T5" fmla="*/ 2 h 3"/>
                        <a:gd name="T6" fmla="*/ 3 w 9"/>
                        <a:gd name="T7" fmla="*/ 2 h 3"/>
                        <a:gd name="T8" fmla="*/ 1 w 9"/>
                        <a:gd name="T9" fmla="*/ 1 h 3"/>
                        <a:gd name="T10" fmla="*/ 0 w 9"/>
                        <a:gd name="T11" fmla="*/ 1 h 3"/>
                        <a:gd name="T12" fmla="*/ 2 w 9"/>
                        <a:gd name="T13" fmla="*/ 0 h 3"/>
                        <a:gd name="T14" fmla="*/ 4 w 9"/>
                        <a:gd name="T15" fmla="*/ 0 h 3"/>
                        <a:gd name="T16" fmla="*/ 6 w 9"/>
                        <a:gd name="T17" fmla="*/ 0 h 3"/>
                        <a:gd name="T18" fmla="*/ 8 w 9"/>
                        <a:gd name="T19" fmla="*/ 1 h 3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9"/>
                        <a:gd name="T31" fmla="*/ 0 h 3"/>
                        <a:gd name="T32" fmla="*/ 9 w 9"/>
                        <a:gd name="T33" fmla="*/ 3 h 3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9" h="3">
                          <a:moveTo>
                            <a:pt x="8" y="1"/>
                          </a:moveTo>
                          <a:lnTo>
                            <a:pt x="7" y="1"/>
                          </a:lnTo>
                          <a:lnTo>
                            <a:pt x="5" y="2"/>
                          </a:lnTo>
                          <a:lnTo>
                            <a:pt x="3" y="2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2" y="0"/>
                          </a:lnTo>
                          <a:lnTo>
                            <a:pt x="4" y="0"/>
                          </a:lnTo>
                          <a:lnTo>
                            <a:pt x="6" y="0"/>
                          </a:lnTo>
                          <a:lnTo>
                            <a:pt x="8" y="1"/>
                          </a:lnTo>
                        </a:path>
                      </a:pathLst>
                    </a:custGeom>
                    <a:solidFill>
                      <a:srgbClr val="3F5F00"/>
                    </a:solidFill>
                    <a:ln w="12700" cap="rnd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100527" name="Freeform 376"/>
                  <p:cNvSpPr>
                    <a:spLocks/>
                  </p:cNvSpPr>
                  <p:nvPr/>
                </p:nvSpPr>
                <p:spPr bwMode="auto">
                  <a:xfrm>
                    <a:off x="900" y="3366"/>
                    <a:ext cx="152" cy="131"/>
                  </a:xfrm>
                  <a:custGeom>
                    <a:avLst/>
                    <a:gdLst>
                      <a:gd name="T0" fmla="*/ 75 w 152"/>
                      <a:gd name="T1" fmla="*/ 3 h 131"/>
                      <a:gd name="T2" fmla="*/ 59 w 152"/>
                      <a:gd name="T3" fmla="*/ 5 h 131"/>
                      <a:gd name="T4" fmla="*/ 46 w 152"/>
                      <a:gd name="T5" fmla="*/ 12 h 131"/>
                      <a:gd name="T6" fmla="*/ 29 w 152"/>
                      <a:gd name="T7" fmla="*/ 26 h 131"/>
                      <a:gd name="T8" fmla="*/ 20 w 152"/>
                      <a:gd name="T9" fmla="*/ 47 h 131"/>
                      <a:gd name="T10" fmla="*/ 13 w 152"/>
                      <a:gd name="T11" fmla="*/ 62 h 131"/>
                      <a:gd name="T12" fmla="*/ 4 w 152"/>
                      <a:gd name="T13" fmla="*/ 73 h 131"/>
                      <a:gd name="T14" fmla="*/ 0 w 152"/>
                      <a:gd name="T15" fmla="*/ 82 h 131"/>
                      <a:gd name="T16" fmla="*/ 6 w 152"/>
                      <a:gd name="T17" fmla="*/ 95 h 131"/>
                      <a:gd name="T18" fmla="*/ 12 w 152"/>
                      <a:gd name="T19" fmla="*/ 104 h 131"/>
                      <a:gd name="T20" fmla="*/ 25 w 152"/>
                      <a:gd name="T21" fmla="*/ 109 h 131"/>
                      <a:gd name="T22" fmla="*/ 38 w 152"/>
                      <a:gd name="T23" fmla="*/ 116 h 131"/>
                      <a:gd name="T24" fmla="*/ 43 w 152"/>
                      <a:gd name="T25" fmla="*/ 122 h 131"/>
                      <a:gd name="T26" fmla="*/ 57 w 152"/>
                      <a:gd name="T27" fmla="*/ 130 h 131"/>
                      <a:gd name="T28" fmla="*/ 64 w 152"/>
                      <a:gd name="T29" fmla="*/ 126 h 131"/>
                      <a:gd name="T30" fmla="*/ 61 w 152"/>
                      <a:gd name="T31" fmla="*/ 88 h 131"/>
                      <a:gd name="T32" fmla="*/ 65 w 152"/>
                      <a:gd name="T33" fmla="*/ 57 h 131"/>
                      <a:gd name="T34" fmla="*/ 72 w 152"/>
                      <a:gd name="T35" fmla="*/ 37 h 131"/>
                      <a:gd name="T36" fmla="*/ 85 w 152"/>
                      <a:gd name="T37" fmla="*/ 24 h 131"/>
                      <a:gd name="T38" fmla="*/ 93 w 152"/>
                      <a:gd name="T39" fmla="*/ 21 h 131"/>
                      <a:gd name="T40" fmla="*/ 103 w 152"/>
                      <a:gd name="T41" fmla="*/ 22 h 131"/>
                      <a:gd name="T42" fmla="*/ 111 w 152"/>
                      <a:gd name="T43" fmla="*/ 26 h 131"/>
                      <a:gd name="T44" fmla="*/ 121 w 152"/>
                      <a:gd name="T45" fmla="*/ 34 h 131"/>
                      <a:gd name="T46" fmla="*/ 124 w 152"/>
                      <a:gd name="T47" fmla="*/ 41 h 131"/>
                      <a:gd name="T48" fmla="*/ 128 w 152"/>
                      <a:gd name="T49" fmla="*/ 50 h 131"/>
                      <a:gd name="T50" fmla="*/ 129 w 152"/>
                      <a:gd name="T51" fmla="*/ 58 h 131"/>
                      <a:gd name="T52" fmla="*/ 127 w 152"/>
                      <a:gd name="T53" fmla="*/ 66 h 131"/>
                      <a:gd name="T54" fmla="*/ 127 w 152"/>
                      <a:gd name="T55" fmla="*/ 73 h 131"/>
                      <a:gd name="T56" fmla="*/ 130 w 152"/>
                      <a:gd name="T57" fmla="*/ 90 h 131"/>
                      <a:gd name="T58" fmla="*/ 128 w 152"/>
                      <a:gd name="T59" fmla="*/ 100 h 131"/>
                      <a:gd name="T60" fmla="*/ 128 w 152"/>
                      <a:gd name="T61" fmla="*/ 111 h 131"/>
                      <a:gd name="T62" fmla="*/ 140 w 152"/>
                      <a:gd name="T63" fmla="*/ 113 h 131"/>
                      <a:gd name="T64" fmla="*/ 147 w 152"/>
                      <a:gd name="T65" fmla="*/ 108 h 131"/>
                      <a:gd name="T66" fmla="*/ 151 w 152"/>
                      <a:gd name="T67" fmla="*/ 99 h 131"/>
                      <a:gd name="T68" fmla="*/ 149 w 152"/>
                      <a:gd name="T69" fmla="*/ 82 h 131"/>
                      <a:gd name="T70" fmla="*/ 142 w 152"/>
                      <a:gd name="T71" fmla="*/ 65 h 131"/>
                      <a:gd name="T72" fmla="*/ 132 w 152"/>
                      <a:gd name="T73" fmla="*/ 47 h 131"/>
                      <a:gd name="T74" fmla="*/ 126 w 152"/>
                      <a:gd name="T75" fmla="*/ 32 h 131"/>
                      <a:gd name="T76" fmla="*/ 120 w 152"/>
                      <a:gd name="T77" fmla="*/ 20 h 131"/>
                      <a:gd name="T78" fmla="*/ 114 w 152"/>
                      <a:gd name="T79" fmla="*/ 13 h 131"/>
                      <a:gd name="T80" fmla="*/ 104 w 152"/>
                      <a:gd name="T81" fmla="*/ 7 h 131"/>
                      <a:gd name="T82" fmla="*/ 86 w 152"/>
                      <a:gd name="T83" fmla="*/ 0 h 131"/>
                      <a:gd name="T84" fmla="*/ 75 w 152"/>
                      <a:gd name="T85" fmla="*/ 3 h 1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152"/>
                      <a:gd name="T130" fmla="*/ 0 h 131"/>
                      <a:gd name="T131" fmla="*/ 152 w 152"/>
                      <a:gd name="T132" fmla="*/ 131 h 1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152" h="131">
                        <a:moveTo>
                          <a:pt x="75" y="3"/>
                        </a:moveTo>
                        <a:lnTo>
                          <a:pt x="59" y="5"/>
                        </a:lnTo>
                        <a:lnTo>
                          <a:pt x="46" y="12"/>
                        </a:lnTo>
                        <a:lnTo>
                          <a:pt x="29" y="26"/>
                        </a:lnTo>
                        <a:lnTo>
                          <a:pt x="20" y="47"/>
                        </a:lnTo>
                        <a:lnTo>
                          <a:pt x="13" y="62"/>
                        </a:lnTo>
                        <a:lnTo>
                          <a:pt x="4" y="73"/>
                        </a:lnTo>
                        <a:lnTo>
                          <a:pt x="0" y="82"/>
                        </a:lnTo>
                        <a:lnTo>
                          <a:pt x="6" y="95"/>
                        </a:lnTo>
                        <a:lnTo>
                          <a:pt x="12" y="104"/>
                        </a:lnTo>
                        <a:lnTo>
                          <a:pt x="25" y="109"/>
                        </a:lnTo>
                        <a:lnTo>
                          <a:pt x="38" y="116"/>
                        </a:lnTo>
                        <a:lnTo>
                          <a:pt x="43" y="122"/>
                        </a:lnTo>
                        <a:lnTo>
                          <a:pt x="57" y="130"/>
                        </a:lnTo>
                        <a:lnTo>
                          <a:pt x="64" y="126"/>
                        </a:lnTo>
                        <a:lnTo>
                          <a:pt x="61" y="88"/>
                        </a:lnTo>
                        <a:lnTo>
                          <a:pt x="65" y="57"/>
                        </a:lnTo>
                        <a:lnTo>
                          <a:pt x="72" y="37"/>
                        </a:lnTo>
                        <a:lnTo>
                          <a:pt x="85" y="24"/>
                        </a:lnTo>
                        <a:lnTo>
                          <a:pt x="93" y="21"/>
                        </a:lnTo>
                        <a:lnTo>
                          <a:pt x="103" y="22"/>
                        </a:lnTo>
                        <a:lnTo>
                          <a:pt x="111" y="26"/>
                        </a:lnTo>
                        <a:lnTo>
                          <a:pt x="121" y="34"/>
                        </a:lnTo>
                        <a:lnTo>
                          <a:pt x="124" y="41"/>
                        </a:lnTo>
                        <a:lnTo>
                          <a:pt x="128" y="50"/>
                        </a:lnTo>
                        <a:lnTo>
                          <a:pt x="129" y="58"/>
                        </a:lnTo>
                        <a:lnTo>
                          <a:pt x="127" y="66"/>
                        </a:lnTo>
                        <a:lnTo>
                          <a:pt x="127" y="73"/>
                        </a:lnTo>
                        <a:lnTo>
                          <a:pt x="130" y="90"/>
                        </a:lnTo>
                        <a:lnTo>
                          <a:pt x="128" y="100"/>
                        </a:lnTo>
                        <a:lnTo>
                          <a:pt x="128" y="111"/>
                        </a:lnTo>
                        <a:lnTo>
                          <a:pt x="140" y="113"/>
                        </a:lnTo>
                        <a:lnTo>
                          <a:pt x="147" y="108"/>
                        </a:lnTo>
                        <a:lnTo>
                          <a:pt x="151" y="99"/>
                        </a:lnTo>
                        <a:lnTo>
                          <a:pt x="149" y="82"/>
                        </a:lnTo>
                        <a:lnTo>
                          <a:pt x="142" y="65"/>
                        </a:lnTo>
                        <a:lnTo>
                          <a:pt x="132" y="47"/>
                        </a:lnTo>
                        <a:lnTo>
                          <a:pt x="126" y="32"/>
                        </a:lnTo>
                        <a:lnTo>
                          <a:pt x="120" y="20"/>
                        </a:lnTo>
                        <a:lnTo>
                          <a:pt x="114" y="13"/>
                        </a:lnTo>
                        <a:lnTo>
                          <a:pt x="104" y="7"/>
                        </a:lnTo>
                        <a:lnTo>
                          <a:pt x="86" y="0"/>
                        </a:lnTo>
                        <a:lnTo>
                          <a:pt x="75" y="3"/>
                        </a:lnTo>
                      </a:path>
                    </a:pathLst>
                  </a:custGeom>
                  <a:solidFill>
                    <a:srgbClr val="9FFF9F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0528" name="Freeform 377"/>
                  <p:cNvSpPr>
                    <a:spLocks/>
                  </p:cNvSpPr>
                  <p:nvPr/>
                </p:nvSpPr>
                <p:spPr bwMode="auto">
                  <a:xfrm>
                    <a:off x="877" y="3492"/>
                    <a:ext cx="103" cy="162"/>
                  </a:xfrm>
                  <a:custGeom>
                    <a:avLst/>
                    <a:gdLst>
                      <a:gd name="T0" fmla="*/ 61 w 103"/>
                      <a:gd name="T1" fmla="*/ 0 h 162"/>
                      <a:gd name="T2" fmla="*/ 63 w 103"/>
                      <a:gd name="T3" fmla="*/ 20 h 162"/>
                      <a:gd name="T4" fmla="*/ 69 w 103"/>
                      <a:gd name="T5" fmla="*/ 38 h 162"/>
                      <a:gd name="T6" fmla="*/ 77 w 103"/>
                      <a:gd name="T7" fmla="*/ 50 h 162"/>
                      <a:gd name="T8" fmla="*/ 85 w 103"/>
                      <a:gd name="T9" fmla="*/ 58 h 162"/>
                      <a:gd name="T10" fmla="*/ 83 w 103"/>
                      <a:gd name="T11" fmla="*/ 73 h 162"/>
                      <a:gd name="T12" fmla="*/ 91 w 103"/>
                      <a:gd name="T13" fmla="*/ 97 h 162"/>
                      <a:gd name="T14" fmla="*/ 99 w 103"/>
                      <a:gd name="T15" fmla="*/ 127 h 162"/>
                      <a:gd name="T16" fmla="*/ 102 w 103"/>
                      <a:gd name="T17" fmla="*/ 161 h 162"/>
                      <a:gd name="T18" fmla="*/ 43 w 103"/>
                      <a:gd name="T19" fmla="*/ 161 h 162"/>
                      <a:gd name="T20" fmla="*/ 36 w 103"/>
                      <a:gd name="T21" fmla="*/ 153 h 162"/>
                      <a:gd name="T22" fmla="*/ 28 w 103"/>
                      <a:gd name="T23" fmla="*/ 143 h 162"/>
                      <a:gd name="T24" fmla="*/ 21 w 103"/>
                      <a:gd name="T25" fmla="*/ 130 h 162"/>
                      <a:gd name="T26" fmla="*/ 15 w 103"/>
                      <a:gd name="T27" fmla="*/ 115 h 162"/>
                      <a:gd name="T28" fmla="*/ 8 w 103"/>
                      <a:gd name="T29" fmla="*/ 98 h 162"/>
                      <a:gd name="T30" fmla="*/ 4 w 103"/>
                      <a:gd name="T31" fmla="*/ 80 h 162"/>
                      <a:gd name="T32" fmla="*/ 2 w 103"/>
                      <a:gd name="T33" fmla="*/ 65 h 162"/>
                      <a:gd name="T34" fmla="*/ 0 w 103"/>
                      <a:gd name="T35" fmla="*/ 56 h 162"/>
                      <a:gd name="T36" fmla="*/ 14 w 103"/>
                      <a:gd name="T37" fmla="*/ 56 h 162"/>
                      <a:gd name="T38" fmla="*/ 25 w 103"/>
                      <a:gd name="T39" fmla="*/ 54 h 162"/>
                      <a:gd name="T40" fmla="*/ 37 w 103"/>
                      <a:gd name="T41" fmla="*/ 42 h 162"/>
                      <a:gd name="T42" fmla="*/ 47 w 103"/>
                      <a:gd name="T43" fmla="*/ 27 h 162"/>
                      <a:gd name="T44" fmla="*/ 61 w 103"/>
                      <a:gd name="T45" fmla="*/ 0 h 162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103"/>
                      <a:gd name="T70" fmla="*/ 0 h 162"/>
                      <a:gd name="T71" fmla="*/ 103 w 103"/>
                      <a:gd name="T72" fmla="*/ 162 h 162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103" h="162">
                        <a:moveTo>
                          <a:pt x="61" y="0"/>
                        </a:moveTo>
                        <a:lnTo>
                          <a:pt x="63" y="20"/>
                        </a:lnTo>
                        <a:lnTo>
                          <a:pt x="69" y="38"/>
                        </a:lnTo>
                        <a:lnTo>
                          <a:pt x="77" y="50"/>
                        </a:lnTo>
                        <a:lnTo>
                          <a:pt x="85" y="58"/>
                        </a:lnTo>
                        <a:lnTo>
                          <a:pt x="83" y="73"/>
                        </a:lnTo>
                        <a:lnTo>
                          <a:pt x="91" y="97"/>
                        </a:lnTo>
                        <a:lnTo>
                          <a:pt x="99" y="127"/>
                        </a:lnTo>
                        <a:lnTo>
                          <a:pt x="102" y="161"/>
                        </a:lnTo>
                        <a:lnTo>
                          <a:pt x="43" y="161"/>
                        </a:lnTo>
                        <a:lnTo>
                          <a:pt x="36" y="153"/>
                        </a:lnTo>
                        <a:lnTo>
                          <a:pt x="28" y="143"/>
                        </a:lnTo>
                        <a:lnTo>
                          <a:pt x="21" y="130"/>
                        </a:lnTo>
                        <a:lnTo>
                          <a:pt x="15" y="115"/>
                        </a:lnTo>
                        <a:lnTo>
                          <a:pt x="8" y="98"/>
                        </a:lnTo>
                        <a:lnTo>
                          <a:pt x="4" y="80"/>
                        </a:lnTo>
                        <a:lnTo>
                          <a:pt x="2" y="65"/>
                        </a:lnTo>
                        <a:lnTo>
                          <a:pt x="0" y="56"/>
                        </a:lnTo>
                        <a:lnTo>
                          <a:pt x="14" y="56"/>
                        </a:lnTo>
                        <a:lnTo>
                          <a:pt x="25" y="54"/>
                        </a:lnTo>
                        <a:lnTo>
                          <a:pt x="37" y="42"/>
                        </a:lnTo>
                        <a:lnTo>
                          <a:pt x="47" y="27"/>
                        </a:lnTo>
                        <a:lnTo>
                          <a:pt x="61" y="0"/>
                        </a:lnTo>
                      </a:path>
                    </a:pathLst>
                  </a:custGeom>
                  <a:solidFill>
                    <a:srgbClr val="008000"/>
                  </a:solidFill>
                  <a:ln w="12700" cap="rnd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00519" name="Freeform 378"/>
              <p:cNvSpPr>
                <a:spLocks/>
              </p:cNvSpPr>
              <p:nvPr/>
            </p:nvSpPr>
            <p:spPr bwMode="auto">
              <a:xfrm>
                <a:off x="775" y="3636"/>
                <a:ext cx="420" cy="68"/>
              </a:xfrm>
              <a:custGeom>
                <a:avLst/>
                <a:gdLst>
                  <a:gd name="T0" fmla="*/ 0 w 420"/>
                  <a:gd name="T1" fmla="*/ 0 h 68"/>
                  <a:gd name="T2" fmla="*/ 419 w 420"/>
                  <a:gd name="T3" fmla="*/ 0 h 68"/>
                  <a:gd name="T4" fmla="*/ 419 w 420"/>
                  <a:gd name="T5" fmla="*/ 67 h 68"/>
                  <a:gd name="T6" fmla="*/ 0 w 420"/>
                  <a:gd name="T7" fmla="*/ 67 h 68"/>
                  <a:gd name="T8" fmla="*/ 0 w 420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0"/>
                  <a:gd name="T16" fmla="*/ 0 h 68"/>
                  <a:gd name="T17" fmla="*/ 420 w 420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0" h="68">
                    <a:moveTo>
                      <a:pt x="0" y="0"/>
                    </a:moveTo>
                    <a:lnTo>
                      <a:pt x="419" y="0"/>
                    </a:lnTo>
                    <a:lnTo>
                      <a:pt x="419" y="67"/>
                    </a:lnTo>
                    <a:lnTo>
                      <a:pt x="0" y="6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42" name="Rectangle 379"/>
            <p:cNvSpPr>
              <a:spLocks noChangeArrowheads="1"/>
            </p:cNvSpPr>
            <p:nvPr/>
          </p:nvSpPr>
          <p:spPr bwMode="auto">
            <a:xfrm>
              <a:off x="766" y="2808"/>
              <a:ext cx="390" cy="4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DFFFB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0443" name="Group 380"/>
            <p:cNvGrpSpPr>
              <a:grpSpLocks/>
            </p:cNvGrpSpPr>
            <p:nvPr/>
          </p:nvGrpSpPr>
          <p:grpSpPr bwMode="auto">
            <a:xfrm>
              <a:off x="512" y="2809"/>
              <a:ext cx="146" cy="179"/>
              <a:chOff x="512" y="3247"/>
              <a:chExt cx="161" cy="177"/>
            </a:xfrm>
          </p:grpSpPr>
          <p:sp>
            <p:nvSpPr>
              <p:cNvPr id="100514" name="Freeform 381"/>
              <p:cNvSpPr>
                <a:spLocks/>
              </p:cNvSpPr>
              <p:nvPr/>
            </p:nvSpPr>
            <p:spPr bwMode="auto">
              <a:xfrm>
                <a:off x="612" y="3262"/>
                <a:ext cx="61" cy="162"/>
              </a:xfrm>
              <a:custGeom>
                <a:avLst/>
                <a:gdLst>
                  <a:gd name="T0" fmla="*/ 6 w 61"/>
                  <a:gd name="T1" fmla="*/ 68 h 162"/>
                  <a:gd name="T2" fmla="*/ 4 w 61"/>
                  <a:gd name="T3" fmla="*/ 58 h 162"/>
                  <a:gd name="T4" fmla="*/ 1 w 61"/>
                  <a:gd name="T5" fmla="*/ 46 h 162"/>
                  <a:gd name="T6" fmla="*/ 0 w 61"/>
                  <a:gd name="T7" fmla="*/ 32 h 162"/>
                  <a:gd name="T8" fmla="*/ 3 w 61"/>
                  <a:gd name="T9" fmla="*/ 17 h 162"/>
                  <a:gd name="T10" fmla="*/ 8 w 61"/>
                  <a:gd name="T11" fmla="*/ 0 h 162"/>
                  <a:gd name="T12" fmla="*/ 15 w 61"/>
                  <a:gd name="T13" fmla="*/ 15 h 162"/>
                  <a:gd name="T14" fmla="*/ 20 w 61"/>
                  <a:gd name="T15" fmla="*/ 27 h 162"/>
                  <a:gd name="T16" fmla="*/ 21 w 61"/>
                  <a:gd name="T17" fmla="*/ 41 h 162"/>
                  <a:gd name="T18" fmla="*/ 20 w 61"/>
                  <a:gd name="T19" fmla="*/ 57 h 162"/>
                  <a:gd name="T20" fmla="*/ 18 w 61"/>
                  <a:gd name="T21" fmla="*/ 69 h 162"/>
                  <a:gd name="T22" fmla="*/ 16 w 61"/>
                  <a:gd name="T23" fmla="*/ 77 h 162"/>
                  <a:gd name="T24" fmla="*/ 21 w 61"/>
                  <a:gd name="T25" fmla="*/ 69 h 162"/>
                  <a:gd name="T26" fmla="*/ 29 w 61"/>
                  <a:gd name="T27" fmla="*/ 60 h 162"/>
                  <a:gd name="T28" fmla="*/ 36 w 61"/>
                  <a:gd name="T29" fmla="*/ 54 h 162"/>
                  <a:gd name="T30" fmla="*/ 43 w 61"/>
                  <a:gd name="T31" fmla="*/ 50 h 162"/>
                  <a:gd name="T32" fmla="*/ 53 w 61"/>
                  <a:gd name="T33" fmla="*/ 48 h 162"/>
                  <a:gd name="T34" fmla="*/ 60 w 61"/>
                  <a:gd name="T35" fmla="*/ 46 h 162"/>
                  <a:gd name="T36" fmla="*/ 57 w 61"/>
                  <a:gd name="T37" fmla="*/ 57 h 162"/>
                  <a:gd name="T38" fmla="*/ 53 w 61"/>
                  <a:gd name="T39" fmla="*/ 69 h 162"/>
                  <a:gd name="T40" fmla="*/ 46 w 61"/>
                  <a:gd name="T41" fmla="*/ 78 h 162"/>
                  <a:gd name="T42" fmla="*/ 39 w 61"/>
                  <a:gd name="T43" fmla="*/ 84 h 162"/>
                  <a:gd name="T44" fmla="*/ 29 w 61"/>
                  <a:gd name="T45" fmla="*/ 88 h 162"/>
                  <a:gd name="T46" fmla="*/ 19 w 61"/>
                  <a:gd name="T47" fmla="*/ 89 h 162"/>
                  <a:gd name="T48" fmla="*/ 30 w 61"/>
                  <a:gd name="T49" fmla="*/ 96 h 162"/>
                  <a:gd name="T50" fmla="*/ 38 w 61"/>
                  <a:gd name="T51" fmla="*/ 102 h 162"/>
                  <a:gd name="T52" fmla="*/ 41 w 61"/>
                  <a:gd name="T53" fmla="*/ 109 h 162"/>
                  <a:gd name="T54" fmla="*/ 45 w 61"/>
                  <a:gd name="T55" fmla="*/ 117 h 162"/>
                  <a:gd name="T56" fmla="*/ 45 w 61"/>
                  <a:gd name="T57" fmla="*/ 124 h 162"/>
                  <a:gd name="T58" fmla="*/ 47 w 61"/>
                  <a:gd name="T59" fmla="*/ 136 h 162"/>
                  <a:gd name="T60" fmla="*/ 34 w 61"/>
                  <a:gd name="T61" fmla="*/ 130 h 162"/>
                  <a:gd name="T62" fmla="*/ 26 w 61"/>
                  <a:gd name="T63" fmla="*/ 124 h 162"/>
                  <a:gd name="T64" fmla="*/ 22 w 61"/>
                  <a:gd name="T65" fmla="*/ 117 h 162"/>
                  <a:gd name="T66" fmla="*/ 15 w 61"/>
                  <a:gd name="T67" fmla="*/ 102 h 162"/>
                  <a:gd name="T68" fmla="*/ 21 w 61"/>
                  <a:gd name="T69" fmla="*/ 116 h 162"/>
                  <a:gd name="T70" fmla="*/ 23 w 61"/>
                  <a:gd name="T71" fmla="*/ 129 h 162"/>
                  <a:gd name="T72" fmla="*/ 24 w 61"/>
                  <a:gd name="T73" fmla="*/ 139 h 162"/>
                  <a:gd name="T74" fmla="*/ 22 w 61"/>
                  <a:gd name="T75" fmla="*/ 152 h 162"/>
                  <a:gd name="T76" fmla="*/ 22 w 61"/>
                  <a:gd name="T77" fmla="*/ 161 h 162"/>
                  <a:gd name="T78" fmla="*/ 10 w 61"/>
                  <a:gd name="T79" fmla="*/ 149 h 162"/>
                  <a:gd name="T80" fmla="*/ 5 w 61"/>
                  <a:gd name="T81" fmla="*/ 133 h 162"/>
                  <a:gd name="T82" fmla="*/ 3 w 61"/>
                  <a:gd name="T83" fmla="*/ 117 h 162"/>
                  <a:gd name="T84" fmla="*/ 6 w 61"/>
                  <a:gd name="T85" fmla="*/ 99 h 162"/>
                  <a:gd name="T86" fmla="*/ 6 w 61"/>
                  <a:gd name="T87" fmla="*/ 86 h 162"/>
                  <a:gd name="T88" fmla="*/ 6 w 61"/>
                  <a:gd name="T89" fmla="*/ 78 h 162"/>
                  <a:gd name="T90" fmla="*/ 6 w 61"/>
                  <a:gd name="T91" fmla="*/ 68 h 16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61"/>
                  <a:gd name="T139" fmla="*/ 0 h 162"/>
                  <a:gd name="T140" fmla="*/ 61 w 61"/>
                  <a:gd name="T141" fmla="*/ 162 h 16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61" h="162">
                    <a:moveTo>
                      <a:pt x="6" y="68"/>
                    </a:moveTo>
                    <a:lnTo>
                      <a:pt x="4" y="58"/>
                    </a:lnTo>
                    <a:lnTo>
                      <a:pt x="1" y="46"/>
                    </a:lnTo>
                    <a:lnTo>
                      <a:pt x="0" y="32"/>
                    </a:lnTo>
                    <a:lnTo>
                      <a:pt x="3" y="17"/>
                    </a:lnTo>
                    <a:lnTo>
                      <a:pt x="8" y="0"/>
                    </a:lnTo>
                    <a:lnTo>
                      <a:pt x="15" y="15"/>
                    </a:lnTo>
                    <a:lnTo>
                      <a:pt x="20" y="27"/>
                    </a:lnTo>
                    <a:lnTo>
                      <a:pt x="21" y="41"/>
                    </a:lnTo>
                    <a:lnTo>
                      <a:pt x="20" y="57"/>
                    </a:lnTo>
                    <a:lnTo>
                      <a:pt x="18" y="69"/>
                    </a:lnTo>
                    <a:lnTo>
                      <a:pt x="16" y="77"/>
                    </a:lnTo>
                    <a:lnTo>
                      <a:pt x="21" y="69"/>
                    </a:lnTo>
                    <a:lnTo>
                      <a:pt x="29" y="60"/>
                    </a:lnTo>
                    <a:lnTo>
                      <a:pt x="36" y="54"/>
                    </a:lnTo>
                    <a:lnTo>
                      <a:pt x="43" y="50"/>
                    </a:lnTo>
                    <a:lnTo>
                      <a:pt x="53" y="48"/>
                    </a:lnTo>
                    <a:lnTo>
                      <a:pt x="60" y="46"/>
                    </a:lnTo>
                    <a:lnTo>
                      <a:pt x="57" y="57"/>
                    </a:lnTo>
                    <a:lnTo>
                      <a:pt x="53" y="69"/>
                    </a:lnTo>
                    <a:lnTo>
                      <a:pt x="46" y="78"/>
                    </a:lnTo>
                    <a:lnTo>
                      <a:pt x="39" y="84"/>
                    </a:lnTo>
                    <a:lnTo>
                      <a:pt x="29" y="88"/>
                    </a:lnTo>
                    <a:lnTo>
                      <a:pt x="19" y="89"/>
                    </a:lnTo>
                    <a:lnTo>
                      <a:pt x="30" y="96"/>
                    </a:lnTo>
                    <a:lnTo>
                      <a:pt x="38" y="102"/>
                    </a:lnTo>
                    <a:lnTo>
                      <a:pt x="41" y="109"/>
                    </a:lnTo>
                    <a:lnTo>
                      <a:pt x="45" y="117"/>
                    </a:lnTo>
                    <a:lnTo>
                      <a:pt x="45" y="124"/>
                    </a:lnTo>
                    <a:lnTo>
                      <a:pt x="47" y="136"/>
                    </a:lnTo>
                    <a:lnTo>
                      <a:pt x="34" y="130"/>
                    </a:lnTo>
                    <a:lnTo>
                      <a:pt x="26" y="124"/>
                    </a:lnTo>
                    <a:lnTo>
                      <a:pt x="22" y="117"/>
                    </a:lnTo>
                    <a:lnTo>
                      <a:pt x="15" y="102"/>
                    </a:lnTo>
                    <a:lnTo>
                      <a:pt x="21" y="116"/>
                    </a:lnTo>
                    <a:lnTo>
                      <a:pt x="23" y="129"/>
                    </a:lnTo>
                    <a:lnTo>
                      <a:pt x="24" y="139"/>
                    </a:lnTo>
                    <a:lnTo>
                      <a:pt x="22" y="152"/>
                    </a:lnTo>
                    <a:lnTo>
                      <a:pt x="22" y="161"/>
                    </a:lnTo>
                    <a:lnTo>
                      <a:pt x="10" y="149"/>
                    </a:lnTo>
                    <a:lnTo>
                      <a:pt x="5" y="133"/>
                    </a:lnTo>
                    <a:lnTo>
                      <a:pt x="3" y="117"/>
                    </a:lnTo>
                    <a:lnTo>
                      <a:pt x="6" y="99"/>
                    </a:lnTo>
                    <a:lnTo>
                      <a:pt x="6" y="86"/>
                    </a:lnTo>
                    <a:lnTo>
                      <a:pt x="6" y="78"/>
                    </a:lnTo>
                    <a:lnTo>
                      <a:pt x="6" y="68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515" name="Freeform 382"/>
              <p:cNvSpPr>
                <a:spLocks/>
              </p:cNvSpPr>
              <p:nvPr/>
            </p:nvSpPr>
            <p:spPr bwMode="auto">
              <a:xfrm>
                <a:off x="512" y="3247"/>
                <a:ext cx="44" cy="74"/>
              </a:xfrm>
              <a:custGeom>
                <a:avLst/>
                <a:gdLst>
                  <a:gd name="T0" fmla="*/ 17 w 44"/>
                  <a:gd name="T1" fmla="*/ 65 h 74"/>
                  <a:gd name="T2" fmla="*/ 10 w 44"/>
                  <a:gd name="T3" fmla="*/ 59 h 74"/>
                  <a:gd name="T4" fmla="*/ 6 w 44"/>
                  <a:gd name="T5" fmla="*/ 52 h 74"/>
                  <a:gd name="T6" fmla="*/ 2 w 44"/>
                  <a:gd name="T7" fmla="*/ 44 h 74"/>
                  <a:gd name="T8" fmla="*/ 2 w 44"/>
                  <a:gd name="T9" fmla="*/ 37 h 74"/>
                  <a:gd name="T10" fmla="*/ 0 w 44"/>
                  <a:gd name="T11" fmla="*/ 26 h 74"/>
                  <a:gd name="T12" fmla="*/ 13 w 44"/>
                  <a:gd name="T13" fmla="*/ 31 h 74"/>
                  <a:gd name="T14" fmla="*/ 21 w 44"/>
                  <a:gd name="T15" fmla="*/ 38 h 74"/>
                  <a:gd name="T16" fmla="*/ 25 w 44"/>
                  <a:gd name="T17" fmla="*/ 44 h 74"/>
                  <a:gd name="T18" fmla="*/ 32 w 44"/>
                  <a:gd name="T19" fmla="*/ 59 h 74"/>
                  <a:gd name="T20" fmla="*/ 27 w 44"/>
                  <a:gd name="T21" fmla="*/ 46 h 74"/>
                  <a:gd name="T22" fmla="*/ 24 w 44"/>
                  <a:gd name="T23" fmla="*/ 32 h 74"/>
                  <a:gd name="T24" fmla="*/ 24 w 44"/>
                  <a:gd name="T25" fmla="*/ 22 h 74"/>
                  <a:gd name="T26" fmla="*/ 25 w 44"/>
                  <a:gd name="T27" fmla="*/ 10 h 74"/>
                  <a:gd name="T28" fmla="*/ 25 w 44"/>
                  <a:gd name="T29" fmla="*/ 0 h 74"/>
                  <a:gd name="T30" fmla="*/ 36 w 44"/>
                  <a:gd name="T31" fmla="*/ 13 h 74"/>
                  <a:gd name="T32" fmla="*/ 42 w 44"/>
                  <a:gd name="T33" fmla="*/ 28 h 74"/>
                  <a:gd name="T34" fmla="*/ 43 w 44"/>
                  <a:gd name="T35" fmla="*/ 44 h 74"/>
                  <a:gd name="T36" fmla="*/ 43 w 44"/>
                  <a:gd name="T37" fmla="*/ 72 h 74"/>
                  <a:gd name="T38" fmla="*/ 30 w 44"/>
                  <a:gd name="T39" fmla="*/ 73 h 74"/>
                  <a:gd name="T40" fmla="*/ 17 w 44"/>
                  <a:gd name="T41" fmla="*/ 65 h 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4"/>
                  <a:gd name="T64" fmla="*/ 0 h 74"/>
                  <a:gd name="T65" fmla="*/ 44 w 44"/>
                  <a:gd name="T66" fmla="*/ 74 h 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4" h="74">
                    <a:moveTo>
                      <a:pt x="17" y="65"/>
                    </a:moveTo>
                    <a:lnTo>
                      <a:pt x="10" y="59"/>
                    </a:lnTo>
                    <a:lnTo>
                      <a:pt x="6" y="52"/>
                    </a:lnTo>
                    <a:lnTo>
                      <a:pt x="2" y="44"/>
                    </a:lnTo>
                    <a:lnTo>
                      <a:pt x="2" y="37"/>
                    </a:lnTo>
                    <a:lnTo>
                      <a:pt x="0" y="26"/>
                    </a:lnTo>
                    <a:lnTo>
                      <a:pt x="13" y="31"/>
                    </a:lnTo>
                    <a:lnTo>
                      <a:pt x="21" y="38"/>
                    </a:lnTo>
                    <a:lnTo>
                      <a:pt x="25" y="44"/>
                    </a:lnTo>
                    <a:lnTo>
                      <a:pt x="32" y="59"/>
                    </a:lnTo>
                    <a:lnTo>
                      <a:pt x="27" y="46"/>
                    </a:lnTo>
                    <a:lnTo>
                      <a:pt x="24" y="32"/>
                    </a:lnTo>
                    <a:lnTo>
                      <a:pt x="24" y="22"/>
                    </a:lnTo>
                    <a:lnTo>
                      <a:pt x="25" y="10"/>
                    </a:lnTo>
                    <a:lnTo>
                      <a:pt x="25" y="0"/>
                    </a:lnTo>
                    <a:lnTo>
                      <a:pt x="36" y="13"/>
                    </a:lnTo>
                    <a:lnTo>
                      <a:pt x="42" y="28"/>
                    </a:lnTo>
                    <a:lnTo>
                      <a:pt x="43" y="44"/>
                    </a:lnTo>
                    <a:lnTo>
                      <a:pt x="43" y="72"/>
                    </a:lnTo>
                    <a:lnTo>
                      <a:pt x="30" y="73"/>
                    </a:lnTo>
                    <a:lnTo>
                      <a:pt x="17" y="6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516" name="Oval 383"/>
              <p:cNvSpPr>
                <a:spLocks noChangeArrowheads="1"/>
              </p:cNvSpPr>
              <p:nvPr/>
            </p:nvSpPr>
            <p:spPr bwMode="auto">
              <a:xfrm>
                <a:off x="530" y="3266"/>
                <a:ext cx="79" cy="151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17" name="Freeform 384"/>
              <p:cNvSpPr>
                <a:spLocks/>
              </p:cNvSpPr>
              <p:nvPr/>
            </p:nvSpPr>
            <p:spPr bwMode="auto">
              <a:xfrm>
                <a:off x="547" y="3291"/>
                <a:ext cx="53" cy="93"/>
              </a:xfrm>
              <a:custGeom>
                <a:avLst/>
                <a:gdLst>
                  <a:gd name="T0" fmla="*/ 2 w 53"/>
                  <a:gd name="T1" fmla="*/ 9 h 93"/>
                  <a:gd name="T2" fmla="*/ 5 w 53"/>
                  <a:gd name="T3" fmla="*/ 9 h 93"/>
                  <a:gd name="T4" fmla="*/ 10 w 53"/>
                  <a:gd name="T5" fmla="*/ 8 h 93"/>
                  <a:gd name="T6" fmla="*/ 13 w 53"/>
                  <a:gd name="T7" fmla="*/ 5 h 93"/>
                  <a:gd name="T8" fmla="*/ 15 w 53"/>
                  <a:gd name="T9" fmla="*/ 3 h 93"/>
                  <a:gd name="T10" fmla="*/ 18 w 53"/>
                  <a:gd name="T11" fmla="*/ 0 h 93"/>
                  <a:gd name="T12" fmla="*/ 41 w 53"/>
                  <a:gd name="T13" fmla="*/ 0 h 93"/>
                  <a:gd name="T14" fmla="*/ 41 w 53"/>
                  <a:gd name="T15" fmla="*/ 77 h 93"/>
                  <a:gd name="T16" fmla="*/ 43 w 53"/>
                  <a:gd name="T17" fmla="*/ 82 h 93"/>
                  <a:gd name="T18" fmla="*/ 45 w 53"/>
                  <a:gd name="T19" fmla="*/ 85 h 93"/>
                  <a:gd name="T20" fmla="*/ 49 w 53"/>
                  <a:gd name="T21" fmla="*/ 88 h 93"/>
                  <a:gd name="T22" fmla="*/ 52 w 53"/>
                  <a:gd name="T23" fmla="*/ 88 h 93"/>
                  <a:gd name="T24" fmla="*/ 52 w 53"/>
                  <a:gd name="T25" fmla="*/ 92 h 93"/>
                  <a:gd name="T26" fmla="*/ 0 w 53"/>
                  <a:gd name="T27" fmla="*/ 92 h 93"/>
                  <a:gd name="T28" fmla="*/ 0 w 53"/>
                  <a:gd name="T29" fmla="*/ 88 h 93"/>
                  <a:gd name="T30" fmla="*/ 3 w 53"/>
                  <a:gd name="T31" fmla="*/ 88 h 93"/>
                  <a:gd name="T32" fmla="*/ 8 w 53"/>
                  <a:gd name="T33" fmla="*/ 85 h 93"/>
                  <a:gd name="T34" fmla="*/ 10 w 53"/>
                  <a:gd name="T35" fmla="*/ 82 h 93"/>
                  <a:gd name="T36" fmla="*/ 11 w 53"/>
                  <a:gd name="T37" fmla="*/ 77 h 93"/>
                  <a:gd name="T38" fmla="*/ 11 w 53"/>
                  <a:gd name="T39" fmla="*/ 19 h 93"/>
                  <a:gd name="T40" fmla="*/ 10 w 53"/>
                  <a:gd name="T41" fmla="*/ 16 h 93"/>
                  <a:gd name="T42" fmla="*/ 8 w 53"/>
                  <a:gd name="T43" fmla="*/ 13 h 93"/>
                  <a:gd name="T44" fmla="*/ 4 w 53"/>
                  <a:gd name="T45" fmla="*/ 12 h 93"/>
                  <a:gd name="T46" fmla="*/ 2 w 53"/>
                  <a:gd name="T47" fmla="*/ 12 h 93"/>
                  <a:gd name="T48" fmla="*/ 2 w 53"/>
                  <a:gd name="T49" fmla="*/ 9 h 9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3"/>
                  <a:gd name="T76" fmla="*/ 0 h 93"/>
                  <a:gd name="T77" fmla="*/ 53 w 53"/>
                  <a:gd name="T78" fmla="*/ 93 h 9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3" h="93">
                    <a:moveTo>
                      <a:pt x="2" y="9"/>
                    </a:moveTo>
                    <a:lnTo>
                      <a:pt x="5" y="9"/>
                    </a:lnTo>
                    <a:lnTo>
                      <a:pt x="10" y="8"/>
                    </a:lnTo>
                    <a:lnTo>
                      <a:pt x="13" y="5"/>
                    </a:lnTo>
                    <a:lnTo>
                      <a:pt x="15" y="3"/>
                    </a:lnTo>
                    <a:lnTo>
                      <a:pt x="18" y="0"/>
                    </a:lnTo>
                    <a:lnTo>
                      <a:pt x="41" y="0"/>
                    </a:lnTo>
                    <a:lnTo>
                      <a:pt x="41" y="77"/>
                    </a:lnTo>
                    <a:lnTo>
                      <a:pt x="43" y="82"/>
                    </a:lnTo>
                    <a:lnTo>
                      <a:pt x="45" y="85"/>
                    </a:lnTo>
                    <a:lnTo>
                      <a:pt x="49" y="88"/>
                    </a:lnTo>
                    <a:lnTo>
                      <a:pt x="52" y="88"/>
                    </a:lnTo>
                    <a:lnTo>
                      <a:pt x="52" y="92"/>
                    </a:lnTo>
                    <a:lnTo>
                      <a:pt x="0" y="92"/>
                    </a:lnTo>
                    <a:lnTo>
                      <a:pt x="0" y="88"/>
                    </a:lnTo>
                    <a:lnTo>
                      <a:pt x="3" y="88"/>
                    </a:lnTo>
                    <a:lnTo>
                      <a:pt x="8" y="85"/>
                    </a:lnTo>
                    <a:lnTo>
                      <a:pt x="10" y="82"/>
                    </a:lnTo>
                    <a:lnTo>
                      <a:pt x="11" y="77"/>
                    </a:lnTo>
                    <a:lnTo>
                      <a:pt x="11" y="19"/>
                    </a:lnTo>
                    <a:lnTo>
                      <a:pt x="10" y="16"/>
                    </a:lnTo>
                    <a:lnTo>
                      <a:pt x="8" y="13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2" y="9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0444" name="Group 385"/>
            <p:cNvGrpSpPr>
              <a:grpSpLocks/>
            </p:cNvGrpSpPr>
            <p:nvPr/>
          </p:nvGrpSpPr>
          <p:grpSpPr bwMode="auto">
            <a:xfrm>
              <a:off x="1297" y="2809"/>
              <a:ext cx="147" cy="179"/>
              <a:chOff x="1297" y="3247"/>
              <a:chExt cx="162" cy="177"/>
            </a:xfrm>
          </p:grpSpPr>
          <p:sp>
            <p:nvSpPr>
              <p:cNvPr id="100510" name="Freeform 386"/>
              <p:cNvSpPr>
                <a:spLocks/>
              </p:cNvSpPr>
              <p:nvPr/>
            </p:nvSpPr>
            <p:spPr bwMode="auto">
              <a:xfrm>
                <a:off x="1297" y="3262"/>
                <a:ext cx="62" cy="162"/>
              </a:xfrm>
              <a:custGeom>
                <a:avLst/>
                <a:gdLst>
                  <a:gd name="T0" fmla="*/ 55 w 62"/>
                  <a:gd name="T1" fmla="*/ 68 h 162"/>
                  <a:gd name="T2" fmla="*/ 57 w 62"/>
                  <a:gd name="T3" fmla="*/ 58 h 162"/>
                  <a:gd name="T4" fmla="*/ 59 w 62"/>
                  <a:gd name="T5" fmla="*/ 46 h 162"/>
                  <a:gd name="T6" fmla="*/ 61 w 62"/>
                  <a:gd name="T7" fmla="*/ 32 h 162"/>
                  <a:gd name="T8" fmla="*/ 58 w 62"/>
                  <a:gd name="T9" fmla="*/ 17 h 162"/>
                  <a:gd name="T10" fmla="*/ 53 w 62"/>
                  <a:gd name="T11" fmla="*/ 0 h 162"/>
                  <a:gd name="T12" fmla="*/ 46 w 62"/>
                  <a:gd name="T13" fmla="*/ 15 h 162"/>
                  <a:gd name="T14" fmla="*/ 41 w 62"/>
                  <a:gd name="T15" fmla="*/ 27 h 162"/>
                  <a:gd name="T16" fmla="*/ 40 w 62"/>
                  <a:gd name="T17" fmla="*/ 41 h 162"/>
                  <a:gd name="T18" fmla="*/ 41 w 62"/>
                  <a:gd name="T19" fmla="*/ 57 h 162"/>
                  <a:gd name="T20" fmla="*/ 42 w 62"/>
                  <a:gd name="T21" fmla="*/ 69 h 162"/>
                  <a:gd name="T22" fmla="*/ 45 w 62"/>
                  <a:gd name="T23" fmla="*/ 77 h 162"/>
                  <a:gd name="T24" fmla="*/ 40 w 62"/>
                  <a:gd name="T25" fmla="*/ 69 h 162"/>
                  <a:gd name="T26" fmla="*/ 32 w 62"/>
                  <a:gd name="T27" fmla="*/ 60 h 162"/>
                  <a:gd name="T28" fmla="*/ 24 w 62"/>
                  <a:gd name="T29" fmla="*/ 54 h 162"/>
                  <a:gd name="T30" fmla="*/ 18 w 62"/>
                  <a:gd name="T31" fmla="*/ 50 h 162"/>
                  <a:gd name="T32" fmla="*/ 8 w 62"/>
                  <a:gd name="T33" fmla="*/ 48 h 162"/>
                  <a:gd name="T34" fmla="*/ 0 w 62"/>
                  <a:gd name="T35" fmla="*/ 46 h 162"/>
                  <a:gd name="T36" fmla="*/ 4 w 62"/>
                  <a:gd name="T37" fmla="*/ 57 h 162"/>
                  <a:gd name="T38" fmla="*/ 8 w 62"/>
                  <a:gd name="T39" fmla="*/ 69 h 162"/>
                  <a:gd name="T40" fmla="*/ 15 w 62"/>
                  <a:gd name="T41" fmla="*/ 78 h 162"/>
                  <a:gd name="T42" fmla="*/ 21 w 62"/>
                  <a:gd name="T43" fmla="*/ 84 h 162"/>
                  <a:gd name="T44" fmla="*/ 32 w 62"/>
                  <a:gd name="T45" fmla="*/ 88 h 162"/>
                  <a:gd name="T46" fmla="*/ 42 w 62"/>
                  <a:gd name="T47" fmla="*/ 89 h 162"/>
                  <a:gd name="T48" fmla="*/ 31 w 62"/>
                  <a:gd name="T49" fmla="*/ 96 h 162"/>
                  <a:gd name="T50" fmla="*/ 24 w 62"/>
                  <a:gd name="T51" fmla="*/ 102 h 162"/>
                  <a:gd name="T52" fmla="*/ 20 w 62"/>
                  <a:gd name="T53" fmla="*/ 109 h 162"/>
                  <a:gd name="T54" fmla="*/ 16 w 62"/>
                  <a:gd name="T55" fmla="*/ 117 h 162"/>
                  <a:gd name="T56" fmla="*/ 16 w 62"/>
                  <a:gd name="T57" fmla="*/ 124 h 162"/>
                  <a:gd name="T58" fmla="*/ 14 w 62"/>
                  <a:gd name="T59" fmla="*/ 136 h 162"/>
                  <a:gd name="T60" fmla="*/ 27 w 62"/>
                  <a:gd name="T61" fmla="*/ 130 h 162"/>
                  <a:gd name="T62" fmla="*/ 35 w 62"/>
                  <a:gd name="T63" fmla="*/ 124 h 162"/>
                  <a:gd name="T64" fmla="*/ 39 w 62"/>
                  <a:gd name="T65" fmla="*/ 117 h 162"/>
                  <a:gd name="T66" fmla="*/ 46 w 62"/>
                  <a:gd name="T67" fmla="*/ 102 h 162"/>
                  <a:gd name="T68" fmla="*/ 40 w 62"/>
                  <a:gd name="T69" fmla="*/ 116 h 162"/>
                  <a:gd name="T70" fmla="*/ 38 w 62"/>
                  <a:gd name="T71" fmla="*/ 129 h 162"/>
                  <a:gd name="T72" fmla="*/ 37 w 62"/>
                  <a:gd name="T73" fmla="*/ 139 h 162"/>
                  <a:gd name="T74" fmla="*/ 39 w 62"/>
                  <a:gd name="T75" fmla="*/ 152 h 162"/>
                  <a:gd name="T76" fmla="*/ 39 w 62"/>
                  <a:gd name="T77" fmla="*/ 161 h 162"/>
                  <a:gd name="T78" fmla="*/ 51 w 62"/>
                  <a:gd name="T79" fmla="*/ 149 h 162"/>
                  <a:gd name="T80" fmla="*/ 56 w 62"/>
                  <a:gd name="T81" fmla="*/ 133 h 162"/>
                  <a:gd name="T82" fmla="*/ 58 w 62"/>
                  <a:gd name="T83" fmla="*/ 117 h 162"/>
                  <a:gd name="T84" fmla="*/ 55 w 62"/>
                  <a:gd name="T85" fmla="*/ 99 h 162"/>
                  <a:gd name="T86" fmla="*/ 55 w 62"/>
                  <a:gd name="T87" fmla="*/ 86 h 162"/>
                  <a:gd name="T88" fmla="*/ 55 w 62"/>
                  <a:gd name="T89" fmla="*/ 78 h 162"/>
                  <a:gd name="T90" fmla="*/ 55 w 62"/>
                  <a:gd name="T91" fmla="*/ 68 h 16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62"/>
                  <a:gd name="T139" fmla="*/ 0 h 162"/>
                  <a:gd name="T140" fmla="*/ 62 w 62"/>
                  <a:gd name="T141" fmla="*/ 162 h 16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62" h="162">
                    <a:moveTo>
                      <a:pt x="55" y="68"/>
                    </a:moveTo>
                    <a:lnTo>
                      <a:pt x="57" y="58"/>
                    </a:lnTo>
                    <a:lnTo>
                      <a:pt x="59" y="46"/>
                    </a:lnTo>
                    <a:lnTo>
                      <a:pt x="61" y="32"/>
                    </a:lnTo>
                    <a:lnTo>
                      <a:pt x="58" y="17"/>
                    </a:lnTo>
                    <a:lnTo>
                      <a:pt x="53" y="0"/>
                    </a:lnTo>
                    <a:lnTo>
                      <a:pt x="46" y="15"/>
                    </a:lnTo>
                    <a:lnTo>
                      <a:pt x="41" y="27"/>
                    </a:lnTo>
                    <a:lnTo>
                      <a:pt x="40" y="41"/>
                    </a:lnTo>
                    <a:lnTo>
                      <a:pt x="41" y="57"/>
                    </a:lnTo>
                    <a:lnTo>
                      <a:pt x="42" y="69"/>
                    </a:lnTo>
                    <a:lnTo>
                      <a:pt x="45" y="77"/>
                    </a:lnTo>
                    <a:lnTo>
                      <a:pt x="40" y="69"/>
                    </a:lnTo>
                    <a:lnTo>
                      <a:pt x="32" y="60"/>
                    </a:lnTo>
                    <a:lnTo>
                      <a:pt x="24" y="54"/>
                    </a:lnTo>
                    <a:lnTo>
                      <a:pt x="18" y="50"/>
                    </a:lnTo>
                    <a:lnTo>
                      <a:pt x="8" y="48"/>
                    </a:lnTo>
                    <a:lnTo>
                      <a:pt x="0" y="46"/>
                    </a:lnTo>
                    <a:lnTo>
                      <a:pt x="4" y="57"/>
                    </a:lnTo>
                    <a:lnTo>
                      <a:pt x="8" y="69"/>
                    </a:lnTo>
                    <a:lnTo>
                      <a:pt x="15" y="78"/>
                    </a:lnTo>
                    <a:lnTo>
                      <a:pt x="21" y="84"/>
                    </a:lnTo>
                    <a:lnTo>
                      <a:pt x="32" y="88"/>
                    </a:lnTo>
                    <a:lnTo>
                      <a:pt x="42" y="89"/>
                    </a:lnTo>
                    <a:lnTo>
                      <a:pt x="31" y="96"/>
                    </a:lnTo>
                    <a:lnTo>
                      <a:pt x="24" y="102"/>
                    </a:lnTo>
                    <a:lnTo>
                      <a:pt x="20" y="109"/>
                    </a:lnTo>
                    <a:lnTo>
                      <a:pt x="16" y="117"/>
                    </a:lnTo>
                    <a:lnTo>
                      <a:pt x="16" y="124"/>
                    </a:lnTo>
                    <a:lnTo>
                      <a:pt x="14" y="136"/>
                    </a:lnTo>
                    <a:lnTo>
                      <a:pt x="27" y="130"/>
                    </a:lnTo>
                    <a:lnTo>
                      <a:pt x="35" y="124"/>
                    </a:lnTo>
                    <a:lnTo>
                      <a:pt x="39" y="117"/>
                    </a:lnTo>
                    <a:lnTo>
                      <a:pt x="46" y="102"/>
                    </a:lnTo>
                    <a:lnTo>
                      <a:pt x="40" y="116"/>
                    </a:lnTo>
                    <a:lnTo>
                      <a:pt x="38" y="129"/>
                    </a:lnTo>
                    <a:lnTo>
                      <a:pt x="37" y="139"/>
                    </a:lnTo>
                    <a:lnTo>
                      <a:pt x="39" y="152"/>
                    </a:lnTo>
                    <a:lnTo>
                      <a:pt x="39" y="161"/>
                    </a:lnTo>
                    <a:lnTo>
                      <a:pt x="51" y="149"/>
                    </a:lnTo>
                    <a:lnTo>
                      <a:pt x="56" y="133"/>
                    </a:lnTo>
                    <a:lnTo>
                      <a:pt x="58" y="117"/>
                    </a:lnTo>
                    <a:lnTo>
                      <a:pt x="55" y="99"/>
                    </a:lnTo>
                    <a:lnTo>
                      <a:pt x="55" y="86"/>
                    </a:lnTo>
                    <a:lnTo>
                      <a:pt x="55" y="78"/>
                    </a:lnTo>
                    <a:lnTo>
                      <a:pt x="55" y="68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511" name="Freeform 387"/>
              <p:cNvSpPr>
                <a:spLocks/>
              </p:cNvSpPr>
              <p:nvPr/>
            </p:nvSpPr>
            <p:spPr bwMode="auto">
              <a:xfrm>
                <a:off x="1414" y="3247"/>
                <a:ext cx="45" cy="74"/>
              </a:xfrm>
              <a:custGeom>
                <a:avLst/>
                <a:gdLst>
                  <a:gd name="T0" fmla="*/ 27 w 45"/>
                  <a:gd name="T1" fmla="*/ 65 h 74"/>
                  <a:gd name="T2" fmla="*/ 34 w 45"/>
                  <a:gd name="T3" fmla="*/ 59 h 74"/>
                  <a:gd name="T4" fmla="*/ 38 w 45"/>
                  <a:gd name="T5" fmla="*/ 52 h 74"/>
                  <a:gd name="T6" fmla="*/ 42 w 45"/>
                  <a:gd name="T7" fmla="*/ 44 h 74"/>
                  <a:gd name="T8" fmla="*/ 42 w 45"/>
                  <a:gd name="T9" fmla="*/ 37 h 74"/>
                  <a:gd name="T10" fmla="*/ 44 w 45"/>
                  <a:gd name="T11" fmla="*/ 26 h 74"/>
                  <a:gd name="T12" fmla="*/ 31 w 45"/>
                  <a:gd name="T13" fmla="*/ 31 h 74"/>
                  <a:gd name="T14" fmla="*/ 23 w 45"/>
                  <a:gd name="T15" fmla="*/ 38 h 74"/>
                  <a:gd name="T16" fmla="*/ 19 w 45"/>
                  <a:gd name="T17" fmla="*/ 44 h 74"/>
                  <a:gd name="T18" fmla="*/ 12 w 45"/>
                  <a:gd name="T19" fmla="*/ 59 h 74"/>
                  <a:gd name="T20" fmla="*/ 18 w 45"/>
                  <a:gd name="T21" fmla="*/ 46 h 74"/>
                  <a:gd name="T22" fmla="*/ 19 w 45"/>
                  <a:gd name="T23" fmla="*/ 32 h 74"/>
                  <a:gd name="T24" fmla="*/ 20 w 45"/>
                  <a:gd name="T25" fmla="*/ 22 h 74"/>
                  <a:gd name="T26" fmla="*/ 19 w 45"/>
                  <a:gd name="T27" fmla="*/ 10 h 74"/>
                  <a:gd name="T28" fmla="*/ 19 w 45"/>
                  <a:gd name="T29" fmla="*/ 0 h 74"/>
                  <a:gd name="T30" fmla="*/ 8 w 45"/>
                  <a:gd name="T31" fmla="*/ 13 h 74"/>
                  <a:gd name="T32" fmla="*/ 2 w 45"/>
                  <a:gd name="T33" fmla="*/ 28 h 74"/>
                  <a:gd name="T34" fmla="*/ 1 w 45"/>
                  <a:gd name="T35" fmla="*/ 44 h 74"/>
                  <a:gd name="T36" fmla="*/ 0 w 45"/>
                  <a:gd name="T37" fmla="*/ 72 h 74"/>
                  <a:gd name="T38" fmla="*/ 14 w 45"/>
                  <a:gd name="T39" fmla="*/ 73 h 74"/>
                  <a:gd name="T40" fmla="*/ 27 w 45"/>
                  <a:gd name="T41" fmla="*/ 65 h 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5"/>
                  <a:gd name="T64" fmla="*/ 0 h 74"/>
                  <a:gd name="T65" fmla="*/ 45 w 45"/>
                  <a:gd name="T66" fmla="*/ 74 h 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5" h="74">
                    <a:moveTo>
                      <a:pt x="27" y="65"/>
                    </a:moveTo>
                    <a:lnTo>
                      <a:pt x="34" y="59"/>
                    </a:lnTo>
                    <a:lnTo>
                      <a:pt x="38" y="52"/>
                    </a:lnTo>
                    <a:lnTo>
                      <a:pt x="42" y="44"/>
                    </a:lnTo>
                    <a:lnTo>
                      <a:pt x="42" y="37"/>
                    </a:lnTo>
                    <a:lnTo>
                      <a:pt x="44" y="26"/>
                    </a:lnTo>
                    <a:lnTo>
                      <a:pt x="31" y="31"/>
                    </a:lnTo>
                    <a:lnTo>
                      <a:pt x="23" y="38"/>
                    </a:lnTo>
                    <a:lnTo>
                      <a:pt x="19" y="44"/>
                    </a:lnTo>
                    <a:lnTo>
                      <a:pt x="12" y="59"/>
                    </a:lnTo>
                    <a:lnTo>
                      <a:pt x="18" y="46"/>
                    </a:lnTo>
                    <a:lnTo>
                      <a:pt x="19" y="32"/>
                    </a:lnTo>
                    <a:lnTo>
                      <a:pt x="20" y="22"/>
                    </a:lnTo>
                    <a:lnTo>
                      <a:pt x="19" y="10"/>
                    </a:lnTo>
                    <a:lnTo>
                      <a:pt x="19" y="0"/>
                    </a:lnTo>
                    <a:lnTo>
                      <a:pt x="8" y="13"/>
                    </a:lnTo>
                    <a:lnTo>
                      <a:pt x="2" y="28"/>
                    </a:lnTo>
                    <a:lnTo>
                      <a:pt x="1" y="44"/>
                    </a:lnTo>
                    <a:lnTo>
                      <a:pt x="0" y="72"/>
                    </a:lnTo>
                    <a:lnTo>
                      <a:pt x="14" y="73"/>
                    </a:lnTo>
                    <a:lnTo>
                      <a:pt x="27" y="65"/>
                    </a:lnTo>
                  </a:path>
                </a:pathLst>
              </a:custGeom>
              <a:solidFill>
                <a:srgbClr val="008000"/>
              </a:solidFill>
              <a:ln w="12700" cap="rnd">
                <a:solidFill>
                  <a:srgbClr val="BFFFB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512" name="Oval 388"/>
              <p:cNvSpPr>
                <a:spLocks noChangeArrowheads="1"/>
              </p:cNvSpPr>
              <p:nvPr/>
            </p:nvSpPr>
            <p:spPr bwMode="auto">
              <a:xfrm>
                <a:off x="1353" y="3266"/>
                <a:ext cx="79" cy="151"/>
              </a:xfrm>
              <a:prstGeom prst="ellipse">
                <a:avLst/>
              </a:prstGeom>
              <a:solidFill>
                <a:srgbClr val="008000"/>
              </a:solidFill>
              <a:ln w="12700">
                <a:solidFill>
                  <a:srgbClr val="9FFF9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13" name="Freeform 389"/>
              <p:cNvSpPr>
                <a:spLocks/>
              </p:cNvSpPr>
              <p:nvPr/>
            </p:nvSpPr>
            <p:spPr bwMode="auto">
              <a:xfrm>
                <a:off x="1371" y="3291"/>
                <a:ext cx="53" cy="93"/>
              </a:xfrm>
              <a:custGeom>
                <a:avLst/>
                <a:gdLst>
                  <a:gd name="T0" fmla="*/ 1 w 53"/>
                  <a:gd name="T1" fmla="*/ 9 h 93"/>
                  <a:gd name="T2" fmla="*/ 5 w 53"/>
                  <a:gd name="T3" fmla="*/ 9 h 93"/>
                  <a:gd name="T4" fmla="*/ 9 w 53"/>
                  <a:gd name="T5" fmla="*/ 8 h 93"/>
                  <a:gd name="T6" fmla="*/ 13 w 53"/>
                  <a:gd name="T7" fmla="*/ 5 h 93"/>
                  <a:gd name="T8" fmla="*/ 15 w 53"/>
                  <a:gd name="T9" fmla="*/ 3 h 93"/>
                  <a:gd name="T10" fmla="*/ 17 w 53"/>
                  <a:gd name="T11" fmla="*/ 0 h 93"/>
                  <a:gd name="T12" fmla="*/ 41 w 53"/>
                  <a:gd name="T13" fmla="*/ 0 h 93"/>
                  <a:gd name="T14" fmla="*/ 41 w 53"/>
                  <a:gd name="T15" fmla="*/ 77 h 93"/>
                  <a:gd name="T16" fmla="*/ 42 w 53"/>
                  <a:gd name="T17" fmla="*/ 82 h 93"/>
                  <a:gd name="T18" fmla="*/ 45 w 53"/>
                  <a:gd name="T19" fmla="*/ 85 h 93"/>
                  <a:gd name="T20" fmla="*/ 49 w 53"/>
                  <a:gd name="T21" fmla="*/ 88 h 93"/>
                  <a:gd name="T22" fmla="*/ 52 w 53"/>
                  <a:gd name="T23" fmla="*/ 88 h 93"/>
                  <a:gd name="T24" fmla="*/ 52 w 53"/>
                  <a:gd name="T25" fmla="*/ 92 h 93"/>
                  <a:gd name="T26" fmla="*/ 0 w 53"/>
                  <a:gd name="T27" fmla="*/ 92 h 93"/>
                  <a:gd name="T28" fmla="*/ 0 w 53"/>
                  <a:gd name="T29" fmla="*/ 88 h 93"/>
                  <a:gd name="T30" fmla="*/ 3 w 53"/>
                  <a:gd name="T31" fmla="*/ 88 h 93"/>
                  <a:gd name="T32" fmla="*/ 7 w 53"/>
                  <a:gd name="T33" fmla="*/ 85 h 93"/>
                  <a:gd name="T34" fmla="*/ 9 w 53"/>
                  <a:gd name="T35" fmla="*/ 82 h 93"/>
                  <a:gd name="T36" fmla="*/ 10 w 53"/>
                  <a:gd name="T37" fmla="*/ 77 h 93"/>
                  <a:gd name="T38" fmla="*/ 10 w 53"/>
                  <a:gd name="T39" fmla="*/ 19 h 93"/>
                  <a:gd name="T40" fmla="*/ 9 w 53"/>
                  <a:gd name="T41" fmla="*/ 16 h 93"/>
                  <a:gd name="T42" fmla="*/ 7 w 53"/>
                  <a:gd name="T43" fmla="*/ 13 h 93"/>
                  <a:gd name="T44" fmla="*/ 4 w 53"/>
                  <a:gd name="T45" fmla="*/ 12 h 93"/>
                  <a:gd name="T46" fmla="*/ 1 w 53"/>
                  <a:gd name="T47" fmla="*/ 12 h 93"/>
                  <a:gd name="T48" fmla="*/ 1 w 53"/>
                  <a:gd name="T49" fmla="*/ 9 h 9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3"/>
                  <a:gd name="T76" fmla="*/ 0 h 93"/>
                  <a:gd name="T77" fmla="*/ 53 w 53"/>
                  <a:gd name="T78" fmla="*/ 93 h 9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3" h="93">
                    <a:moveTo>
                      <a:pt x="1" y="9"/>
                    </a:moveTo>
                    <a:lnTo>
                      <a:pt x="5" y="9"/>
                    </a:lnTo>
                    <a:lnTo>
                      <a:pt x="9" y="8"/>
                    </a:lnTo>
                    <a:lnTo>
                      <a:pt x="13" y="5"/>
                    </a:lnTo>
                    <a:lnTo>
                      <a:pt x="15" y="3"/>
                    </a:lnTo>
                    <a:lnTo>
                      <a:pt x="17" y="0"/>
                    </a:lnTo>
                    <a:lnTo>
                      <a:pt x="41" y="0"/>
                    </a:lnTo>
                    <a:lnTo>
                      <a:pt x="41" y="77"/>
                    </a:lnTo>
                    <a:lnTo>
                      <a:pt x="42" y="82"/>
                    </a:lnTo>
                    <a:lnTo>
                      <a:pt x="45" y="85"/>
                    </a:lnTo>
                    <a:lnTo>
                      <a:pt x="49" y="88"/>
                    </a:lnTo>
                    <a:lnTo>
                      <a:pt x="52" y="88"/>
                    </a:lnTo>
                    <a:lnTo>
                      <a:pt x="52" y="92"/>
                    </a:lnTo>
                    <a:lnTo>
                      <a:pt x="0" y="92"/>
                    </a:lnTo>
                    <a:lnTo>
                      <a:pt x="0" y="88"/>
                    </a:lnTo>
                    <a:lnTo>
                      <a:pt x="3" y="88"/>
                    </a:lnTo>
                    <a:lnTo>
                      <a:pt x="7" y="85"/>
                    </a:lnTo>
                    <a:lnTo>
                      <a:pt x="9" y="82"/>
                    </a:lnTo>
                    <a:lnTo>
                      <a:pt x="10" y="77"/>
                    </a:lnTo>
                    <a:lnTo>
                      <a:pt x="10" y="19"/>
                    </a:lnTo>
                    <a:lnTo>
                      <a:pt x="9" y="16"/>
                    </a:lnTo>
                    <a:lnTo>
                      <a:pt x="7" y="13"/>
                    </a:lnTo>
                    <a:lnTo>
                      <a:pt x="4" y="12"/>
                    </a:lnTo>
                    <a:lnTo>
                      <a:pt x="1" y="12"/>
                    </a:lnTo>
                    <a:lnTo>
                      <a:pt x="1" y="9"/>
                    </a:lnTo>
                  </a:path>
                </a:pathLst>
              </a:custGeom>
              <a:solidFill>
                <a:srgbClr val="BFFFBF"/>
              </a:solidFill>
              <a:ln w="12700" cap="rnd">
                <a:solidFill>
                  <a:srgbClr val="3F5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0445" name="Oval 390"/>
            <p:cNvSpPr>
              <a:spLocks noChangeArrowheads="1"/>
            </p:cNvSpPr>
            <p:nvPr/>
          </p:nvSpPr>
          <p:spPr bwMode="auto">
            <a:xfrm>
              <a:off x="516" y="3138"/>
              <a:ext cx="67" cy="110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46" name="Oval 391"/>
            <p:cNvSpPr>
              <a:spLocks noChangeArrowheads="1"/>
            </p:cNvSpPr>
            <p:nvPr/>
          </p:nvSpPr>
          <p:spPr bwMode="auto">
            <a:xfrm>
              <a:off x="526" y="3152"/>
              <a:ext cx="49" cy="83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47" name="Freeform 392"/>
            <p:cNvSpPr>
              <a:spLocks/>
            </p:cNvSpPr>
            <p:nvPr/>
          </p:nvSpPr>
          <p:spPr bwMode="auto">
            <a:xfrm>
              <a:off x="540" y="3167"/>
              <a:ext cx="47" cy="61"/>
            </a:xfrm>
            <a:custGeom>
              <a:avLst/>
              <a:gdLst>
                <a:gd name="T0" fmla="*/ 1 w 34"/>
                <a:gd name="T1" fmla="*/ 6 h 60"/>
                <a:gd name="T2" fmla="*/ 8 w 34"/>
                <a:gd name="T3" fmla="*/ 6 h 60"/>
                <a:gd name="T4" fmla="*/ 11 w 34"/>
                <a:gd name="T5" fmla="*/ 5 h 60"/>
                <a:gd name="T6" fmla="*/ 15 w 34"/>
                <a:gd name="T7" fmla="*/ 4 h 60"/>
                <a:gd name="T8" fmla="*/ 19 w 34"/>
                <a:gd name="T9" fmla="*/ 2 h 60"/>
                <a:gd name="T10" fmla="*/ 21 w 34"/>
                <a:gd name="T11" fmla="*/ 0 h 60"/>
                <a:gd name="T12" fmla="*/ 51 w 34"/>
                <a:gd name="T13" fmla="*/ 0 h 60"/>
                <a:gd name="T14" fmla="*/ 51 w 34"/>
                <a:gd name="T15" fmla="*/ 52 h 60"/>
                <a:gd name="T16" fmla="*/ 51 w 34"/>
                <a:gd name="T17" fmla="*/ 55 h 60"/>
                <a:gd name="T18" fmla="*/ 55 w 34"/>
                <a:gd name="T19" fmla="*/ 57 h 60"/>
                <a:gd name="T20" fmla="*/ 59 w 34"/>
                <a:gd name="T21" fmla="*/ 58 h 60"/>
                <a:gd name="T22" fmla="*/ 64 w 34"/>
                <a:gd name="T23" fmla="*/ 58 h 60"/>
                <a:gd name="T24" fmla="*/ 64 w 34"/>
                <a:gd name="T25" fmla="*/ 61 h 60"/>
                <a:gd name="T26" fmla="*/ 0 w 34"/>
                <a:gd name="T27" fmla="*/ 61 h 60"/>
                <a:gd name="T28" fmla="*/ 0 w 34"/>
                <a:gd name="T29" fmla="*/ 58 h 60"/>
                <a:gd name="T30" fmla="*/ 4 w 34"/>
                <a:gd name="T31" fmla="*/ 58 h 60"/>
                <a:gd name="T32" fmla="*/ 10 w 34"/>
                <a:gd name="T33" fmla="*/ 57 h 60"/>
                <a:gd name="T34" fmla="*/ 11 w 34"/>
                <a:gd name="T35" fmla="*/ 55 h 60"/>
                <a:gd name="T36" fmla="*/ 14 w 34"/>
                <a:gd name="T37" fmla="*/ 52 h 60"/>
                <a:gd name="T38" fmla="*/ 14 w 34"/>
                <a:gd name="T39" fmla="*/ 13 h 60"/>
                <a:gd name="T40" fmla="*/ 11 w 34"/>
                <a:gd name="T41" fmla="*/ 11 h 60"/>
                <a:gd name="T42" fmla="*/ 10 w 34"/>
                <a:gd name="T43" fmla="*/ 9 h 60"/>
                <a:gd name="T44" fmla="*/ 6 w 34"/>
                <a:gd name="T45" fmla="*/ 8 h 60"/>
                <a:gd name="T46" fmla="*/ 1 w 34"/>
                <a:gd name="T47" fmla="*/ 8 h 60"/>
                <a:gd name="T48" fmla="*/ 1 w 34"/>
                <a:gd name="T49" fmla="*/ 6 h 6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4"/>
                <a:gd name="T76" fmla="*/ 0 h 60"/>
                <a:gd name="T77" fmla="*/ 34 w 34"/>
                <a:gd name="T78" fmla="*/ 60 h 6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4" h="60">
                  <a:moveTo>
                    <a:pt x="1" y="6"/>
                  </a:moveTo>
                  <a:lnTo>
                    <a:pt x="4" y="6"/>
                  </a:lnTo>
                  <a:lnTo>
                    <a:pt x="6" y="5"/>
                  </a:lnTo>
                  <a:lnTo>
                    <a:pt x="8" y="4"/>
                  </a:lnTo>
                  <a:lnTo>
                    <a:pt x="10" y="2"/>
                  </a:lnTo>
                  <a:lnTo>
                    <a:pt x="11" y="0"/>
                  </a:lnTo>
                  <a:lnTo>
                    <a:pt x="27" y="0"/>
                  </a:lnTo>
                  <a:lnTo>
                    <a:pt x="27" y="50"/>
                  </a:lnTo>
                  <a:lnTo>
                    <a:pt x="27" y="53"/>
                  </a:lnTo>
                  <a:lnTo>
                    <a:pt x="29" y="55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3" y="59"/>
                  </a:lnTo>
                  <a:lnTo>
                    <a:pt x="0" y="59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5" y="55"/>
                  </a:lnTo>
                  <a:lnTo>
                    <a:pt x="6" y="53"/>
                  </a:lnTo>
                  <a:lnTo>
                    <a:pt x="7" y="50"/>
                  </a:lnTo>
                  <a:lnTo>
                    <a:pt x="7" y="13"/>
                  </a:lnTo>
                  <a:lnTo>
                    <a:pt x="6" y="11"/>
                  </a:lnTo>
                  <a:lnTo>
                    <a:pt x="5" y="9"/>
                  </a:lnTo>
                  <a:lnTo>
                    <a:pt x="3" y="8"/>
                  </a:lnTo>
                  <a:lnTo>
                    <a:pt x="1" y="8"/>
                  </a:lnTo>
                  <a:lnTo>
                    <a:pt x="1" y="6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448" name="Oval 393"/>
            <p:cNvSpPr>
              <a:spLocks noChangeArrowheads="1"/>
            </p:cNvSpPr>
            <p:nvPr/>
          </p:nvSpPr>
          <p:spPr bwMode="auto">
            <a:xfrm>
              <a:off x="1377" y="3141"/>
              <a:ext cx="67" cy="109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49" name="Oval 394"/>
            <p:cNvSpPr>
              <a:spLocks noChangeArrowheads="1"/>
            </p:cNvSpPr>
            <p:nvPr/>
          </p:nvSpPr>
          <p:spPr bwMode="auto">
            <a:xfrm>
              <a:off x="1387" y="3154"/>
              <a:ext cx="49" cy="83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rgbClr val="9FFF9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450" name="Freeform 395"/>
            <p:cNvSpPr>
              <a:spLocks/>
            </p:cNvSpPr>
            <p:nvPr/>
          </p:nvSpPr>
          <p:spPr bwMode="auto">
            <a:xfrm>
              <a:off x="1401" y="3170"/>
              <a:ext cx="47" cy="60"/>
            </a:xfrm>
            <a:custGeom>
              <a:avLst/>
              <a:gdLst>
                <a:gd name="T0" fmla="*/ 1 w 34"/>
                <a:gd name="T1" fmla="*/ 6 h 59"/>
                <a:gd name="T2" fmla="*/ 8 w 34"/>
                <a:gd name="T3" fmla="*/ 6 h 59"/>
                <a:gd name="T4" fmla="*/ 11 w 34"/>
                <a:gd name="T5" fmla="*/ 5 h 59"/>
                <a:gd name="T6" fmla="*/ 15 w 34"/>
                <a:gd name="T7" fmla="*/ 3 h 59"/>
                <a:gd name="T8" fmla="*/ 19 w 34"/>
                <a:gd name="T9" fmla="*/ 2 h 59"/>
                <a:gd name="T10" fmla="*/ 21 w 34"/>
                <a:gd name="T11" fmla="*/ 0 h 59"/>
                <a:gd name="T12" fmla="*/ 51 w 34"/>
                <a:gd name="T13" fmla="*/ 0 h 59"/>
                <a:gd name="T14" fmla="*/ 51 w 34"/>
                <a:gd name="T15" fmla="*/ 51 h 59"/>
                <a:gd name="T16" fmla="*/ 51 w 34"/>
                <a:gd name="T17" fmla="*/ 54 h 59"/>
                <a:gd name="T18" fmla="*/ 55 w 34"/>
                <a:gd name="T19" fmla="*/ 56 h 59"/>
                <a:gd name="T20" fmla="*/ 61 w 34"/>
                <a:gd name="T21" fmla="*/ 58 h 59"/>
                <a:gd name="T22" fmla="*/ 64 w 34"/>
                <a:gd name="T23" fmla="*/ 58 h 59"/>
                <a:gd name="T24" fmla="*/ 64 w 34"/>
                <a:gd name="T25" fmla="*/ 60 h 59"/>
                <a:gd name="T26" fmla="*/ 0 w 34"/>
                <a:gd name="T27" fmla="*/ 60 h 59"/>
                <a:gd name="T28" fmla="*/ 0 w 34"/>
                <a:gd name="T29" fmla="*/ 58 h 59"/>
                <a:gd name="T30" fmla="*/ 4 w 34"/>
                <a:gd name="T31" fmla="*/ 58 h 59"/>
                <a:gd name="T32" fmla="*/ 10 w 34"/>
                <a:gd name="T33" fmla="*/ 56 h 59"/>
                <a:gd name="T34" fmla="*/ 11 w 34"/>
                <a:gd name="T35" fmla="*/ 54 h 59"/>
                <a:gd name="T36" fmla="*/ 14 w 34"/>
                <a:gd name="T37" fmla="*/ 51 h 59"/>
                <a:gd name="T38" fmla="*/ 14 w 34"/>
                <a:gd name="T39" fmla="*/ 12 h 59"/>
                <a:gd name="T40" fmla="*/ 11 w 34"/>
                <a:gd name="T41" fmla="*/ 10 h 59"/>
                <a:gd name="T42" fmla="*/ 10 w 34"/>
                <a:gd name="T43" fmla="*/ 8 h 59"/>
                <a:gd name="T44" fmla="*/ 6 w 34"/>
                <a:gd name="T45" fmla="*/ 8 h 59"/>
                <a:gd name="T46" fmla="*/ 1 w 34"/>
                <a:gd name="T47" fmla="*/ 8 h 59"/>
                <a:gd name="T48" fmla="*/ 1 w 34"/>
                <a:gd name="T49" fmla="*/ 6 h 5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4"/>
                <a:gd name="T76" fmla="*/ 0 h 59"/>
                <a:gd name="T77" fmla="*/ 34 w 34"/>
                <a:gd name="T78" fmla="*/ 59 h 5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4" h="59">
                  <a:moveTo>
                    <a:pt x="1" y="6"/>
                  </a:moveTo>
                  <a:lnTo>
                    <a:pt x="4" y="6"/>
                  </a:lnTo>
                  <a:lnTo>
                    <a:pt x="6" y="5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1" y="0"/>
                  </a:lnTo>
                  <a:lnTo>
                    <a:pt x="27" y="0"/>
                  </a:lnTo>
                  <a:lnTo>
                    <a:pt x="27" y="49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32" y="56"/>
                  </a:lnTo>
                  <a:lnTo>
                    <a:pt x="33" y="56"/>
                  </a:lnTo>
                  <a:lnTo>
                    <a:pt x="33" y="58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5" y="54"/>
                  </a:lnTo>
                  <a:lnTo>
                    <a:pt x="6" y="52"/>
                  </a:lnTo>
                  <a:lnTo>
                    <a:pt x="7" y="49"/>
                  </a:lnTo>
                  <a:lnTo>
                    <a:pt x="7" y="12"/>
                  </a:lnTo>
                  <a:lnTo>
                    <a:pt x="6" y="10"/>
                  </a:lnTo>
                  <a:lnTo>
                    <a:pt x="5" y="8"/>
                  </a:lnTo>
                  <a:lnTo>
                    <a:pt x="3" y="8"/>
                  </a:lnTo>
                  <a:lnTo>
                    <a:pt x="1" y="8"/>
                  </a:lnTo>
                  <a:lnTo>
                    <a:pt x="1" y="6"/>
                  </a:lnTo>
                </a:path>
              </a:pathLst>
            </a:custGeom>
            <a:solidFill>
              <a:srgbClr val="BFFFBF"/>
            </a:solidFill>
            <a:ln w="12700" cap="rnd">
              <a:solidFill>
                <a:srgbClr val="3F5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0451" name="Group 396"/>
            <p:cNvGrpSpPr>
              <a:grpSpLocks/>
            </p:cNvGrpSpPr>
            <p:nvPr/>
          </p:nvGrpSpPr>
          <p:grpSpPr bwMode="auto">
            <a:xfrm>
              <a:off x="695" y="2981"/>
              <a:ext cx="76" cy="102"/>
              <a:chOff x="695" y="3419"/>
              <a:chExt cx="83" cy="100"/>
            </a:xfrm>
          </p:grpSpPr>
          <p:sp>
            <p:nvSpPr>
              <p:cNvPr id="100508" name="Oval 397"/>
              <p:cNvSpPr>
                <a:spLocks noChangeArrowheads="1"/>
              </p:cNvSpPr>
              <p:nvPr/>
            </p:nvSpPr>
            <p:spPr bwMode="auto">
              <a:xfrm>
                <a:off x="695" y="3419"/>
                <a:ext cx="83" cy="100"/>
              </a:xfrm>
              <a:prstGeom prst="ellipse">
                <a:avLst/>
              </a:prstGeom>
              <a:solidFill>
                <a:srgbClr val="3F5F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09" name="Oval 398"/>
              <p:cNvSpPr>
                <a:spLocks noChangeArrowheads="1"/>
              </p:cNvSpPr>
              <p:nvPr/>
            </p:nvSpPr>
            <p:spPr bwMode="auto">
              <a:xfrm>
                <a:off x="716" y="3443"/>
                <a:ext cx="41" cy="52"/>
              </a:xfrm>
              <a:prstGeom prst="ellipse">
                <a:avLst/>
              </a:prstGeom>
              <a:solidFill>
                <a:srgbClr val="9FFF9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52" name="Group 399"/>
            <p:cNvGrpSpPr>
              <a:grpSpLocks/>
            </p:cNvGrpSpPr>
            <p:nvPr/>
          </p:nvGrpSpPr>
          <p:grpSpPr bwMode="auto">
            <a:xfrm>
              <a:off x="1183" y="2995"/>
              <a:ext cx="75" cy="102"/>
              <a:chOff x="1183" y="3433"/>
              <a:chExt cx="82" cy="100"/>
            </a:xfrm>
          </p:grpSpPr>
          <p:sp>
            <p:nvSpPr>
              <p:cNvPr id="100506" name="Oval 400"/>
              <p:cNvSpPr>
                <a:spLocks noChangeArrowheads="1"/>
              </p:cNvSpPr>
              <p:nvPr/>
            </p:nvSpPr>
            <p:spPr bwMode="auto">
              <a:xfrm>
                <a:off x="1183" y="3433"/>
                <a:ext cx="82" cy="100"/>
              </a:xfrm>
              <a:prstGeom prst="ellipse">
                <a:avLst/>
              </a:prstGeom>
              <a:solidFill>
                <a:srgbClr val="008000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507" name="Oval 401"/>
              <p:cNvSpPr>
                <a:spLocks noChangeArrowheads="1"/>
              </p:cNvSpPr>
              <p:nvPr/>
            </p:nvSpPr>
            <p:spPr bwMode="auto">
              <a:xfrm>
                <a:off x="1203" y="3457"/>
                <a:ext cx="41" cy="51"/>
              </a:xfrm>
              <a:prstGeom prst="ellipse">
                <a:avLst/>
              </a:prstGeom>
              <a:solidFill>
                <a:srgbClr val="BFFFBF"/>
              </a:solidFill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00453" name="Group 402"/>
            <p:cNvGrpSpPr>
              <a:grpSpLocks/>
            </p:cNvGrpSpPr>
            <p:nvPr/>
          </p:nvGrpSpPr>
          <p:grpSpPr bwMode="auto">
            <a:xfrm>
              <a:off x="801" y="3210"/>
              <a:ext cx="323" cy="47"/>
              <a:chOff x="801" y="3648"/>
              <a:chExt cx="356" cy="38"/>
            </a:xfrm>
          </p:grpSpPr>
          <p:grpSp>
            <p:nvGrpSpPr>
              <p:cNvPr id="100485" name="Group 403"/>
              <p:cNvGrpSpPr>
                <a:grpSpLocks/>
              </p:cNvGrpSpPr>
              <p:nvPr/>
            </p:nvGrpSpPr>
            <p:grpSpPr bwMode="auto">
              <a:xfrm>
                <a:off x="1127" y="3648"/>
                <a:ext cx="30" cy="36"/>
                <a:chOff x="1127" y="3648"/>
                <a:chExt cx="30" cy="36"/>
              </a:xfrm>
            </p:grpSpPr>
            <p:sp>
              <p:nvSpPr>
                <p:cNvPr id="100504" name="Freeform 404"/>
                <p:cNvSpPr>
                  <a:spLocks/>
                </p:cNvSpPr>
                <p:nvPr/>
              </p:nvSpPr>
              <p:spPr bwMode="auto">
                <a:xfrm>
                  <a:off x="1127" y="3648"/>
                  <a:ext cx="30" cy="36"/>
                </a:xfrm>
                <a:custGeom>
                  <a:avLst/>
                  <a:gdLst>
                    <a:gd name="T0" fmla="*/ 0 w 30"/>
                    <a:gd name="T1" fmla="*/ 0 h 36"/>
                    <a:gd name="T2" fmla="*/ 20 w 30"/>
                    <a:gd name="T3" fmla="*/ 0 h 36"/>
                    <a:gd name="T4" fmla="*/ 24 w 30"/>
                    <a:gd name="T5" fmla="*/ 2 h 36"/>
                    <a:gd name="T6" fmla="*/ 25 w 30"/>
                    <a:gd name="T7" fmla="*/ 3 h 36"/>
                    <a:gd name="T8" fmla="*/ 26 w 30"/>
                    <a:gd name="T9" fmla="*/ 7 h 36"/>
                    <a:gd name="T10" fmla="*/ 26 w 30"/>
                    <a:gd name="T11" fmla="*/ 13 h 36"/>
                    <a:gd name="T12" fmla="*/ 25 w 30"/>
                    <a:gd name="T13" fmla="*/ 17 h 36"/>
                    <a:gd name="T14" fmla="*/ 23 w 30"/>
                    <a:gd name="T15" fmla="*/ 19 h 36"/>
                    <a:gd name="T16" fmla="*/ 20 w 30"/>
                    <a:gd name="T17" fmla="*/ 20 h 36"/>
                    <a:gd name="T18" fmla="*/ 23 w 30"/>
                    <a:gd name="T19" fmla="*/ 21 h 36"/>
                    <a:gd name="T20" fmla="*/ 25 w 30"/>
                    <a:gd name="T21" fmla="*/ 23 h 36"/>
                    <a:gd name="T22" fmla="*/ 26 w 30"/>
                    <a:gd name="T23" fmla="*/ 27 h 36"/>
                    <a:gd name="T24" fmla="*/ 27 w 30"/>
                    <a:gd name="T25" fmla="*/ 30 h 36"/>
                    <a:gd name="T26" fmla="*/ 27 w 30"/>
                    <a:gd name="T27" fmla="*/ 33 h 36"/>
                    <a:gd name="T28" fmla="*/ 29 w 30"/>
                    <a:gd name="T29" fmla="*/ 33 h 36"/>
                    <a:gd name="T30" fmla="*/ 29 w 30"/>
                    <a:gd name="T31" fmla="*/ 35 h 36"/>
                    <a:gd name="T32" fmla="*/ 18 w 30"/>
                    <a:gd name="T33" fmla="*/ 35 h 36"/>
                    <a:gd name="T34" fmla="*/ 18 w 30"/>
                    <a:gd name="T35" fmla="*/ 33 h 36"/>
                    <a:gd name="T36" fmla="*/ 20 w 30"/>
                    <a:gd name="T37" fmla="*/ 33 h 36"/>
                    <a:gd name="T38" fmla="*/ 20 w 30"/>
                    <a:gd name="T39" fmla="*/ 29 h 36"/>
                    <a:gd name="T40" fmla="*/ 18 w 30"/>
                    <a:gd name="T41" fmla="*/ 27 h 36"/>
                    <a:gd name="T42" fmla="*/ 16 w 30"/>
                    <a:gd name="T43" fmla="*/ 24 h 36"/>
                    <a:gd name="T44" fmla="*/ 15 w 30"/>
                    <a:gd name="T45" fmla="*/ 21 h 36"/>
                    <a:gd name="T46" fmla="*/ 13 w 30"/>
                    <a:gd name="T47" fmla="*/ 20 h 36"/>
                    <a:gd name="T48" fmla="*/ 13 w 30"/>
                    <a:gd name="T49" fmla="*/ 33 h 36"/>
                    <a:gd name="T50" fmla="*/ 15 w 30"/>
                    <a:gd name="T51" fmla="*/ 33 h 36"/>
                    <a:gd name="T52" fmla="*/ 15 w 30"/>
                    <a:gd name="T53" fmla="*/ 35 h 36"/>
                    <a:gd name="T54" fmla="*/ 1 w 30"/>
                    <a:gd name="T55" fmla="*/ 35 h 36"/>
                    <a:gd name="T56" fmla="*/ 1 w 30"/>
                    <a:gd name="T57" fmla="*/ 33 h 36"/>
                    <a:gd name="T58" fmla="*/ 3 w 30"/>
                    <a:gd name="T59" fmla="*/ 33 h 36"/>
                    <a:gd name="T60" fmla="*/ 3 w 30"/>
                    <a:gd name="T61" fmla="*/ 2 h 36"/>
                    <a:gd name="T62" fmla="*/ 0 w 30"/>
                    <a:gd name="T63" fmla="*/ 2 h 36"/>
                    <a:gd name="T64" fmla="*/ 0 w 30"/>
                    <a:gd name="T65" fmla="*/ 0 h 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0"/>
                    <a:gd name="T100" fmla="*/ 0 h 36"/>
                    <a:gd name="T101" fmla="*/ 30 w 30"/>
                    <a:gd name="T102" fmla="*/ 36 h 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0" h="36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24" y="2"/>
                      </a:lnTo>
                      <a:lnTo>
                        <a:pt x="25" y="3"/>
                      </a:lnTo>
                      <a:lnTo>
                        <a:pt x="26" y="7"/>
                      </a:lnTo>
                      <a:lnTo>
                        <a:pt x="26" y="13"/>
                      </a:lnTo>
                      <a:lnTo>
                        <a:pt x="25" y="17"/>
                      </a:lnTo>
                      <a:lnTo>
                        <a:pt x="23" y="19"/>
                      </a:lnTo>
                      <a:lnTo>
                        <a:pt x="20" y="20"/>
                      </a:lnTo>
                      <a:lnTo>
                        <a:pt x="23" y="21"/>
                      </a:lnTo>
                      <a:lnTo>
                        <a:pt x="25" y="23"/>
                      </a:lnTo>
                      <a:lnTo>
                        <a:pt x="26" y="27"/>
                      </a:lnTo>
                      <a:lnTo>
                        <a:pt x="27" y="30"/>
                      </a:lnTo>
                      <a:lnTo>
                        <a:pt x="27" y="33"/>
                      </a:lnTo>
                      <a:lnTo>
                        <a:pt x="29" y="33"/>
                      </a:lnTo>
                      <a:lnTo>
                        <a:pt x="29" y="35"/>
                      </a:lnTo>
                      <a:lnTo>
                        <a:pt x="18" y="35"/>
                      </a:lnTo>
                      <a:lnTo>
                        <a:pt x="18" y="33"/>
                      </a:lnTo>
                      <a:lnTo>
                        <a:pt x="20" y="33"/>
                      </a:lnTo>
                      <a:lnTo>
                        <a:pt x="20" y="29"/>
                      </a:lnTo>
                      <a:lnTo>
                        <a:pt x="18" y="27"/>
                      </a:lnTo>
                      <a:lnTo>
                        <a:pt x="16" y="24"/>
                      </a:lnTo>
                      <a:lnTo>
                        <a:pt x="15" y="21"/>
                      </a:lnTo>
                      <a:lnTo>
                        <a:pt x="13" y="20"/>
                      </a:lnTo>
                      <a:lnTo>
                        <a:pt x="13" y="33"/>
                      </a:lnTo>
                      <a:lnTo>
                        <a:pt x="15" y="33"/>
                      </a:lnTo>
                      <a:lnTo>
                        <a:pt x="15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05" name="Freeform 405"/>
                <p:cNvSpPr>
                  <a:spLocks/>
                </p:cNvSpPr>
                <p:nvPr/>
              </p:nvSpPr>
              <p:spPr bwMode="auto">
                <a:xfrm>
                  <a:off x="1141" y="3655"/>
                  <a:ext cx="3" cy="4"/>
                </a:xfrm>
                <a:custGeom>
                  <a:avLst/>
                  <a:gdLst>
                    <a:gd name="T0" fmla="*/ 2 w 3"/>
                    <a:gd name="T1" fmla="*/ 0 h 4"/>
                    <a:gd name="T2" fmla="*/ 2 w 3"/>
                    <a:gd name="T3" fmla="*/ 3 h 4"/>
                    <a:gd name="T4" fmla="*/ 1 w 3"/>
                    <a:gd name="T5" fmla="*/ 3 h 4"/>
                    <a:gd name="T6" fmla="*/ 0 w 3"/>
                    <a:gd name="T7" fmla="*/ 3 h 4"/>
                    <a:gd name="T8" fmla="*/ 0 w 3"/>
                    <a:gd name="T9" fmla="*/ 2 h 4"/>
                    <a:gd name="T10" fmla="*/ 0 w 3"/>
                    <a:gd name="T11" fmla="*/ 1 h 4"/>
                    <a:gd name="T12" fmla="*/ 0 w 3"/>
                    <a:gd name="T13" fmla="*/ 0 h 4"/>
                    <a:gd name="T14" fmla="*/ 1 w 3"/>
                    <a:gd name="T15" fmla="*/ 0 h 4"/>
                    <a:gd name="T16" fmla="*/ 2 w 3"/>
                    <a:gd name="T17" fmla="*/ 0 h 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"/>
                    <a:gd name="T28" fmla="*/ 0 h 4"/>
                    <a:gd name="T29" fmla="*/ 3 w 3"/>
                    <a:gd name="T30" fmla="*/ 4 h 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" h="4">
                      <a:moveTo>
                        <a:pt x="2" y="0"/>
                      </a:moveTo>
                      <a:lnTo>
                        <a:pt x="2" y="3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86" name="Group 406"/>
              <p:cNvGrpSpPr>
                <a:grpSpLocks/>
              </p:cNvGrpSpPr>
              <p:nvPr/>
            </p:nvGrpSpPr>
            <p:grpSpPr bwMode="auto">
              <a:xfrm>
                <a:off x="801" y="3648"/>
                <a:ext cx="29" cy="38"/>
                <a:chOff x="801" y="3648"/>
                <a:chExt cx="29" cy="38"/>
              </a:xfrm>
            </p:grpSpPr>
            <p:sp>
              <p:nvSpPr>
                <p:cNvPr id="100502" name="Freeform 407"/>
                <p:cNvSpPr>
                  <a:spLocks/>
                </p:cNvSpPr>
                <p:nvPr/>
              </p:nvSpPr>
              <p:spPr bwMode="auto">
                <a:xfrm>
                  <a:off x="801" y="3648"/>
                  <a:ext cx="29" cy="38"/>
                </a:xfrm>
                <a:custGeom>
                  <a:avLst/>
                  <a:gdLst>
                    <a:gd name="T0" fmla="*/ 9 w 29"/>
                    <a:gd name="T1" fmla="*/ 0 h 38"/>
                    <a:gd name="T2" fmla="*/ 19 w 29"/>
                    <a:gd name="T3" fmla="*/ 0 h 38"/>
                    <a:gd name="T4" fmla="*/ 22 w 29"/>
                    <a:gd name="T5" fmla="*/ 2 h 38"/>
                    <a:gd name="T6" fmla="*/ 26 w 29"/>
                    <a:gd name="T7" fmla="*/ 5 h 38"/>
                    <a:gd name="T8" fmla="*/ 27 w 29"/>
                    <a:gd name="T9" fmla="*/ 10 h 38"/>
                    <a:gd name="T10" fmla="*/ 28 w 29"/>
                    <a:gd name="T11" fmla="*/ 15 h 38"/>
                    <a:gd name="T12" fmla="*/ 28 w 29"/>
                    <a:gd name="T13" fmla="*/ 21 h 38"/>
                    <a:gd name="T14" fmla="*/ 27 w 29"/>
                    <a:gd name="T15" fmla="*/ 27 h 38"/>
                    <a:gd name="T16" fmla="*/ 26 w 29"/>
                    <a:gd name="T17" fmla="*/ 31 h 38"/>
                    <a:gd name="T18" fmla="*/ 21 w 29"/>
                    <a:gd name="T19" fmla="*/ 35 h 38"/>
                    <a:gd name="T20" fmla="*/ 19 w 29"/>
                    <a:gd name="T21" fmla="*/ 37 h 38"/>
                    <a:gd name="T22" fmla="*/ 9 w 29"/>
                    <a:gd name="T23" fmla="*/ 37 h 38"/>
                    <a:gd name="T24" fmla="*/ 6 w 29"/>
                    <a:gd name="T25" fmla="*/ 35 h 38"/>
                    <a:gd name="T26" fmla="*/ 2 w 29"/>
                    <a:gd name="T27" fmla="*/ 32 h 38"/>
                    <a:gd name="T28" fmla="*/ 1 w 29"/>
                    <a:gd name="T29" fmla="*/ 28 h 38"/>
                    <a:gd name="T30" fmla="*/ 0 w 29"/>
                    <a:gd name="T31" fmla="*/ 23 h 38"/>
                    <a:gd name="T32" fmla="*/ 0 w 29"/>
                    <a:gd name="T33" fmla="*/ 15 h 38"/>
                    <a:gd name="T34" fmla="*/ 1 w 29"/>
                    <a:gd name="T35" fmla="*/ 10 h 38"/>
                    <a:gd name="T36" fmla="*/ 2 w 29"/>
                    <a:gd name="T37" fmla="*/ 5 h 38"/>
                    <a:gd name="T38" fmla="*/ 6 w 29"/>
                    <a:gd name="T39" fmla="*/ 2 h 38"/>
                    <a:gd name="T40" fmla="*/ 9 w 29"/>
                    <a:gd name="T41" fmla="*/ 0 h 3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9"/>
                    <a:gd name="T64" fmla="*/ 0 h 38"/>
                    <a:gd name="T65" fmla="*/ 29 w 29"/>
                    <a:gd name="T66" fmla="*/ 38 h 3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9" h="38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2" y="2"/>
                      </a:lnTo>
                      <a:lnTo>
                        <a:pt x="26" y="5"/>
                      </a:lnTo>
                      <a:lnTo>
                        <a:pt x="27" y="10"/>
                      </a:lnTo>
                      <a:lnTo>
                        <a:pt x="28" y="15"/>
                      </a:lnTo>
                      <a:lnTo>
                        <a:pt x="28" y="21"/>
                      </a:lnTo>
                      <a:lnTo>
                        <a:pt x="27" y="27"/>
                      </a:lnTo>
                      <a:lnTo>
                        <a:pt x="26" y="31"/>
                      </a:lnTo>
                      <a:lnTo>
                        <a:pt x="21" y="35"/>
                      </a:lnTo>
                      <a:lnTo>
                        <a:pt x="19" y="37"/>
                      </a:lnTo>
                      <a:lnTo>
                        <a:pt x="9" y="37"/>
                      </a:lnTo>
                      <a:lnTo>
                        <a:pt x="6" y="35"/>
                      </a:lnTo>
                      <a:lnTo>
                        <a:pt x="2" y="32"/>
                      </a:lnTo>
                      <a:lnTo>
                        <a:pt x="1" y="28"/>
                      </a:lnTo>
                      <a:lnTo>
                        <a:pt x="0" y="23"/>
                      </a:lnTo>
                      <a:lnTo>
                        <a:pt x="0" y="15"/>
                      </a:lnTo>
                      <a:lnTo>
                        <a:pt x="1" y="10"/>
                      </a:lnTo>
                      <a:lnTo>
                        <a:pt x="2" y="5"/>
                      </a:lnTo>
                      <a:lnTo>
                        <a:pt x="6" y="2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03" name="Freeform 408"/>
                <p:cNvSpPr>
                  <a:spLocks/>
                </p:cNvSpPr>
                <p:nvPr/>
              </p:nvSpPr>
              <p:spPr bwMode="auto">
                <a:xfrm>
                  <a:off x="814" y="3653"/>
                  <a:ext cx="3" cy="28"/>
                </a:xfrm>
                <a:custGeom>
                  <a:avLst/>
                  <a:gdLst>
                    <a:gd name="T0" fmla="*/ 1 w 3"/>
                    <a:gd name="T1" fmla="*/ 0 h 28"/>
                    <a:gd name="T2" fmla="*/ 0 w 3"/>
                    <a:gd name="T3" fmla="*/ 2 h 28"/>
                    <a:gd name="T4" fmla="*/ 0 w 3"/>
                    <a:gd name="T5" fmla="*/ 5 h 28"/>
                    <a:gd name="T6" fmla="*/ 0 w 3"/>
                    <a:gd name="T7" fmla="*/ 23 h 28"/>
                    <a:gd name="T8" fmla="*/ 0 w 3"/>
                    <a:gd name="T9" fmla="*/ 25 h 28"/>
                    <a:gd name="T10" fmla="*/ 1 w 3"/>
                    <a:gd name="T11" fmla="*/ 27 h 28"/>
                    <a:gd name="T12" fmla="*/ 2 w 3"/>
                    <a:gd name="T13" fmla="*/ 25 h 28"/>
                    <a:gd name="T14" fmla="*/ 2 w 3"/>
                    <a:gd name="T15" fmla="*/ 23 h 28"/>
                    <a:gd name="T16" fmla="*/ 2 w 3"/>
                    <a:gd name="T17" fmla="*/ 5 h 28"/>
                    <a:gd name="T18" fmla="*/ 2 w 3"/>
                    <a:gd name="T19" fmla="*/ 2 h 28"/>
                    <a:gd name="T20" fmla="*/ 1 w 3"/>
                    <a:gd name="T21" fmla="*/ 0 h 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"/>
                    <a:gd name="T34" fmla="*/ 0 h 28"/>
                    <a:gd name="T35" fmla="*/ 3 w 3"/>
                    <a:gd name="T36" fmla="*/ 28 h 2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" h="28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0" y="23"/>
                      </a:lnTo>
                      <a:lnTo>
                        <a:pt x="0" y="25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87" name="Group 409"/>
              <p:cNvGrpSpPr>
                <a:grpSpLocks/>
              </p:cNvGrpSpPr>
              <p:nvPr/>
            </p:nvGrpSpPr>
            <p:grpSpPr bwMode="auto">
              <a:xfrm>
                <a:off x="838" y="3650"/>
                <a:ext cx="70" cy="36"/>
                <a:chOff x="838" y="3650"/>
                <a:chExt cx="70" cy="36"/>
              </a:xfrm>
            </p:grpSpPr>
            <p:sp>
              <p:nvSpPr>
                <p:cNvPr id="100500" name="Freeform 410"/>
                <p:cNvSpPr>
                  <a:spLocks/>
                </p:cNvSpPr>
                <p:nvPr/>
              </p:nvSpPr>
              <p:spPr bwMode="auto">
                <a:xfrm>
                  <a:off x="838" y="3650"/>
                  <a:ext cx="34" cy="36"/>
                </a:xfrm>
                <a:custGeom>
                  <a:avLst/>
                  <a:gdLst>
                    <a:gd name="T0" fmla="*/ 1 w 34"/>
                    <a:gd name="T1" fmla="*/ 35 h 36"/>
                    <a:gd name="T2" fmla="*/ 9 w 34"/>
                    <a:gd name="T3" fmla="*/ 35 h 36"/>
                    <a:gd name="T4" fmla="*/ 9 w 34"/>
                    <a:gd name="T5" fmla="*/ 33 h 36"/>
                    <a:gd name="T6" fmla="*/ 6 w 34"/>
                    <a:gd name="T7" fmla="*/ 33 h 36"/>
                    <a:gd name="T8" fmla="*/ 6 w 34"/>
                    <a:gd name="T9" fmla="*/ 7 h 36"/>
                    <a:gd name="T10" fmla="*/ 20 w 34"/>
                    <a:gd name="T11" fmla="*/ 35 h 36"/>
                    <a:gd name="T12" fmla="*/ 30 w 34"/>
                    <a:gd name="T13" fmla="*/ 35 h 36"/>
                    <a:gd name="T14" fmla="*/ 30 w 34"/>
                    <a:gd name="T15" fmla="*/ 2 h 36"/>
                    <a:gd name="T16" fmla="*/ 33 w 34"/>
                    <a:gd name="T17" fmla="*/ 2 h 36"/>
                    <a:gd name="T18" fmla="*/ 33 w 34"/>
                    <a:gd name="T19" fmla="*/ 0 h 36"/>
                    <a:gd name="T20" fmla="*/ 24 w 34"/>
                    <a:gd name="T21" fmla="*/ 0 h 36"/>
                    <a:gd name="T22" fmla="*/ 24 w 34"/>
                    <a:gd name="T23" fmla="*/ 2 h 36"/>
                    <a:gd name="T24" fmla="*/ 27 w 34"/>
                    <a:gd name="T25" fmla="*/ 2 h 36"/>
                    <a:gd name="T26" fmla="*/ 27 w 34"/>
                    <a:gd name="T27" fmla="*/ 23 h 36"/>
                    <a:gd name="T28" fmla="*/ 14 w 34"/>
                    <a:gd name="T29" fmla="*/ 0 h 36"/>
                    <a:gd name="T30" fmla="*/ 0 w 34"/>
                    <a:gd name="T31" fmla="*/ 0 h 36"/>
                    <a:gd name="T32" fmla="*/ 0 w 34"/>
                    <a:gd name="T33" fmla="*/ 3 h 36"/>
                    <a:gd name="T34" fmla="*/ 3 w 34"/>
                    <a:gd name="T35" fmla="*/ 3 h 36"/>
                    <a:gd name="T36" fmla="*/ 3 w 34"/>
                    <a:gd name="T37" fmla="*/ 33 h 36"/>
                    <a:gd name="T38" fmla="*/ 1 w 34"/>
                    <a:gd name="T39" fmla="*/ 33 h 36"/>
                    <a:gd name="T40" fmla="*/ 1 w 34"/>
                    <a:gd name="T41" fmla="*/ 35 h 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4"/>
                    <a:gd name="T64" fmla="*/ 0 h 36"/>
                    <a:gd name="T65" fmla="*/ 34 w 34"/>
                    <a:gd name="T66" fmla="*/ 36 h 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4" h="36">
                      <a:moveTo>
                        <a:pt x="1" y="35"/>
                      </a:moveTo>
                      <a:lnTo>
                        <a:pt x="9" y="35"/>
                      </a:lnTo>
                      <a:lnTo>
                        <a:pt x="9" y="33"/>
                      </a:lnTo>
                      <a:lnTo>
                        <a:pt x="6" y="33"/>
                      </a:lnTo>
                      <a:lnTo>
                        <a:pt x="6" y="7"/>
                      </a:lnTo>
                      <a:lnTo>
                        <a:pt x="20" y="35"/>
                      </a:lnTo>
                      <a:lnTo>
                        <a:pt x="30" y="35"/>
                      </a:lnTo>
                      <a:lnTo>
                        <a:pt x="30" y="2"/>
                      </a:lnTo>
                      <a:lnTo>
                        <a:pt x="33" y="2"/>
                      </a:lnTo>
                      <a:lnTo>
                        <a:pt x="33" y="0"/>
                      </a:lnTo>
                      <a:lnTo>
                        <a:pt x="24" y="0"/>
                      </a:lnTo>
                      <a:lnTo>
                        <a:pt x="24" y="2"/>
                      </a:lnTo>
                      <a:lnTo>
                        <a:pt x="27" y="2"/>
                      </a:lnTo>
                      <a:lnTo>
                        <a:pt x="27" y="23"/>
                      </a:lnTo>
                      <a:lnTo>
                        <a:pt x="14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33"/>
                      </a:lnTo>
                      <a:lnTo>
                        <a:pt x="1" y="33"/>
                      </a:lnTo>
                      <a:lnTo>
                        <a:pt x="1" y="35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501" name="Freeform 411"/>
                <p:cNvSpPr>
                  <a:spLocks/>
                </p:cNvSpPr>
                <p:nvPr/>
              </p:nvSpPr>
              <p:spPr bwMode="auto">
                <a:xfrm>
                  <a:off x="879" y="3650"/>
                  <a:ext cx="29" cy="36"/>
                </a:xfrm>
                <a:custGeom>
                  <a:avLst/>
                  <a:gdLst>
                    <a:gd name="T0" fmla="*/ 0 w 29"/>
                    <a:gd name="T1" fmla="*/ 0 h 36"/>
                    <a:gd name="T2" fmla="*/ 27 w 29"/>
                    <a:gd name="T3" fmla="*/ 0 h 36"/>
                    <a:gd name="T4" fmla="*/ 27 w 29"/>
                    <a:gd name="T5" fmla="*/ 9 h 36"/>
                    <a:gd name="T6" fmla="*/ 25 w 29"/>
                    <a:gd name="T7" fmla="*/ 9 h 36"/>
                    <a:gd name="T8" fmla="*/ 16 w 29"/>
                    <a:gd name="T9" fmla="*/ 2 h 36"/>
                    <a:gd name="T10" fmla="*/ 12 w 29"/>
                    <a:gd name="T11" fmla="*/ 2 h 36"/>
                    <a:gd name="T12" fmla="*/ 12 w 29"/>
                    <a:gd name="T13" fmla="*/ 16 h 36"/>
                    <a:gd name="T14" fmla="*/ 16 w 29"/>
                    <a:gd name="T15" fmla="*/ 16 h 36"/>
                    <a:gd name="T16" fmla="*/ 21 w 29"/>
                    <a:gd name="T17" fmla="*/ 10 h 36"/>
                    <a:gd name="T18" fmla="*/ 21 w 29"/>
                    <a:gd name="T19" fmla="*/ 25 h 36"/>
                    <a:gd name="T20" fmla="*/ 16 w 29"/>
                    <a:gd name="T21" fmla="*/ 19 h 36"/>
                    <a:gd name="T22" fmla="*/ 12 w 29"/>
                    <a:gd name="T23" fmla="*/ 19 h 36"/>
                    <a:gd name="T24" fmla="*/ 12 w 29"/>
                    <a:gd name="T25" fmla="*/ 31 h 36"/>
                    <a:gd name="T26" fmla="*/ 16 w 29"/>
                    <a:gd name="T27" fmla="*/ 31 h 36"/>
                    <a:gd name="T28" fmla="*/ 26 w 29"/>
                    <a:gd name="T29" fmla="*/ 25 h 36"/>
                    <a:gd name="T30" fmla="*/ 28 w 29"/>
                    <a:gd name="T31" fmla="*/ 25 h 36"/>
                    <a:gd name="T32" fmla="*/ 28 w 29"/>
                    <a:gd name="T33" fmla="*/ 35 h 36"/>
                    <a:gd name="T34" fmla="*/ 1 w 29"/>
                    <a:gd name="T35" fmla="*/ 35 h 36"/>
                    <a:gd name="T36" fmla="*/ 1 w 29"/>
                    <a:gd name="T37" fmla="*/ 33 h 36"/>
                    <a:gd name="T38" fmla="*/ 3 w 29"/>
                    <a:gd name="T39" fmla="*/ 33 h 36"/>
                    <a:gd name="T40" fmla="*/ 3 w 29"/>
                    <a:gd name="T41" fmla="*/ 2 h 36"/>
                    <a:gd name="T42" fmla="*/ 0 w 29"/>
                    <a:gd name="T43" fmla="*/ 2 h 36"/>
                    <a:gd name="T44" fmla="*/ 0 w 29"/>
                    <a:gd name="T45" fmla="*/ 0 h 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9"/>
                    <a:gd name="T70" fmla="*/ 0 h 36"/>
                    <a:gd name="T71" fmla="*/ 29 w 29"/>
                    <a:gd name="T72" fmla="*/ 36 h 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9" h="36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27" y="9"/>
                      </a:lnTo>
                      <a:lnTo>
                        <a:pt x="25" y="9"/>
                      </a:lnTo>
                      <a:lnTo>
                        <a:pt x="16" y="2"/>
                      </a:lnTo>
                      <a:lnTo>
                        <a:pt x="12" y="2"/>
                      </a:lnTo>
                      <a:lnTo>
                        <a:pt x="12" y="16"/>
                      </a:lnTo>
                      <a:lnTo>
                        <a:pt x="16" y="16"/>
                      </a:lnTo>
                      <a:lnTo>
                        <a:pt x="21" y="10"/>
                      </a:lnTo>
                      <a:lnTo>
                        <a:pt x="21" y="25"/>
                      </a:lnTo>
                      <a:lnTo>
                        <a:pt x="16" y="19"/>
                      </a:lnTo>
                      <a:lnTo>
                        <a:pt x="12" y="19"/>
                      </a:lnTo>
                      <a:lnTo>
                        <a:pt x="12" y="31"/>
                      </a:lnTo>
                      <a:lnTo>
                        <a:pt x="16" y="31"/>
                      </a:lnTo>
                      <a:lnTo>
                        <a:pt x="26" y="25"/>
                      </a:lnTo>
                      <a:lnTo>
                        <a:pt x="28" y="25"/>
                      </a:lnTo>
                      <a:lnTo>
                        <a:pt x="28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88" name="Group 412"/>
              <p:cNvGrpSpPr>
                <a:grpSpLocks/>
              </p:cNvGrpSpPr>
              <p:nvPr/>
            </p:nvGrpSpPr>
            <p:grpSpPr bwMode="auto">
              <a:xfrm>
                <a:off x="976" y="3648"/>
                <a:ext cx="29" cy="37"/>
                <a:chOff x="976" y="3648"/>
                <a:chExt cx="29" cy="37"/>
              </a:xfrm>
            </p:grpSpPr>
            <p:sp>
              <p:nvSpPr>
                <p:cNvPr id="100498" name="Freeform 413"/>
                <p:cNvSpPr>
                  <a:spLocks/>
                </p:cNvSpPr>
                <p:nvPr/>
              </p:nvSpPr>
              <p:spPr bwMode="auto">
                <a:xfrm>
                  <a:off x="976" y="3648"/>
                  <a:ext cx="29" cy="37"/>
                </a:xfrm>
                <a:custGeom>
                  <a:avLst/>
                  <a:gdLst>
                    <a:gd name="T0" fmla="*/ 9 w 29"/>
                    <a:gd name="T1" fmla="*/ 0 h 37"/>
                    <a:gd name="T2" fmla="*/ 19 w 29"/>
                    <a:gd name="T3" fmla="*/ 0 h 37"/>
                    <a:gd name="T4" fmla="*/ 22 w 29"/>
                    <a:gd name="T5" fmla="*/ 2 h 37"/>
                    <a:gd name="T6" fmla="*/ 26 w 29"/>
                    <a:gd name="T7" fmla="*/ 5 h 37"/>
                    <a:gd name="T8" fmla="*/ 27 w 29"/>
                    <a:gd name="T9" fmla="*/ 9 h 37"/>
                    <a:gd name="T10" fmla="*/ 28 w 29"/>
                    <a:gd name="T11" fmla="*/ 15 h 37"/>
                    <a:gd name="T12" fmla="*/ 28 w 29"/>
                    <a:gd name="T13" fmla="*/ 20 h 37"/>
                    <a:gd name="T14" fmla="*/ 27 w 29"/>
                    <a:gd name="T15" fmla="*/ 26 h 37"/>
                    <a:gd name="T16" fmla="*/ 26 w 29"/>
                    <a:gd name="T17" fmla="*/ 31 h 37"/>
                    <a:gd name="T18" fmla="*/ 21 w 29"/>
                    <a:gd name="T19" fmla="*/ 35 h 37"/>
                    <a:gd name="T20" fmla="*/ 19 w 29"/>
                    <a:gd name="T21" fmla="*/ 36 h 37"/>
                    <a:gd name="T22" fmla="*/ 9 w 29"/>
                    <a:gd name="T23" fmla="*/ 36 h 37"/>
                    <a:gd name="T24" fmla="*/ 6 w 29"/>
                    <a:gd name="T25" fmla="*/ 35 h 37"/>
                    <a:gd name="T26" fmla="*/ 2 w 29"/>
                    <a:gd name="T27" fmla="*/ 31 h 37"/>
                    <a:gd name="T28" fmla="*/ 1 w 29"/>
                    <a:gd name="T29" fmla="*/ 27 h 37"/>
                    <a:gd name="T30" fmla="*/ 0 w 29"/>
                    <a:gd name="T31" fmla="*/ 22 h 37"/>
                    <a:gd name="T32" fmla="*/ 0 w 29"/>
                    <a:gd name="T33" fmla="*/ 15 h 37"/>
                    <a:gd name="T34" fmla="*/ 1 w 29"/>
                    <a:gd name="T35" fmla="*/ 9 h 37"/>
                    <a:gd name="T36" fmla="*/ 2 w 29"/>
                    <a:gd name="T37" fmla="*/ 5 h 37"/>
                    <a:gd name="T38" fmla="*/ 6 w 29"/>
                    <a:gd name="T39" fmla="*/ 2 h 37"/>
                    <a:gd name="T40" fmla="*/ 9 w 29"/>
                    <a:gd name="T41" fmla="*/ 0 h 3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9"/>
                    <a:gd name="T64" fmla="*/ 0 h 37"/>
                    <a:gd name="T65" fmla="*/ 29 w 29"/>
                    <a:gd name="T66" fmla="*/ 37 h 3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9" h="37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2" y="2"/>
                      </a:lnTo>
                      <a:lnTo>
                        <a:pt x="26" y="5"/>
                      </a:lnTo>
                      <a:lnTo>
                        <a:pt x="27" y="9"/>
                      </a:lnTo>
                      <a:lnTo>
                        <a:pt x="28" y="15"/>
                      </a:lnTo>
                      <a:lnTo>
                        <a:pt x="28" y="20"/>
                      </a:lnTo>
                      <a:lnTo>
                        <a:pt x="27" y="26"/>
                      </a:lnTo>
                      <a:lnTo>
                        <a:pt x="26" y="31"/>
                      </a:lnTo>
                      <a:lnTo>
                        <a:pt x="21" y="35"/>
                      </a:lnTo>
                      <a:lnTo>
                        <a:pt x="19" y="36"/>
                      </a:lnTo>
                      <a:lnTo>
                        <a:pt x="9" y="36"/>
                      </a:lnTo>
                      <a:lnTo>
                        <a:pt x="6" y="35"/>
                      </a:lnTo>
                      <a:lnTo>
                        <a:pt x="2" y="31"/>
                      </a:lnTo>
                      <a:lnTo>
                        <a:pt x="1" y="27"/>
                      </a:lnTo>
                      <a:lnTo>
                        <a:pt x="0" y="22"/>
                      </a:lnTo>
                      <a:lnTo>
                        <a:pt x="0" y="15"/>
                      </a:lnTo>
                      <a:lnTo>
                        <a:pt x="1" y="9"/>
                      </a:lnTo>
                      <a:lnTo>
                        <a:pt x="2" y="5"/>
                      </a:lnTo>
                      <a:lnTo>
                        <a:pt x="6" y="2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99" name="Freeform 414"/>
                <p:cNvSpPr>
                  <a:spLocks/>
                </p:cNvSpPr>
                <p:nvPr/>
              </p:nvSpPr>
              <p:spPr bwMode="auto">
                <a:xfrm>
                  <a:off x="989" y="3653"/>
                  <a:ext cx="3" cy="28"/>
                </a:xfrm>
                <a:custGeom>
                  <a:avLst/>
                  <a:gdLst>
                    <a:gd name="T0" fmla="*/ 1 w 3"/>
                    <a:gd name="T1" fmla="*/ 0 h 28"/>
                    <a:gd name="T2" fmla="*/ 0 w 3"/>
                    <a:gd name="T3" fmla="*/ 2 h 28"/>
                    <a:gd name="T4" fmla="*/ 0 w 3"/>
                    <a:gd name="T5" fmla="*/ 5 h 28"/>
                    <a:gd name="T6" fmla="*/ 0 w 3"/>
                    <a:gd name="T7" fmla="*/ 22 h 28"/>
                    <a:gd name="T8" fmla="*/ 0 w 3"/>
                    <a:gd name="T9" fmla="*/ 25 h 28"/>
                    <a:gd name="T10" fmla="*/ 1 w 3"/>
                    <a:gd name="T11" fmla="*/ 27 h 28"/>
                    <a:gd name="T12" fmla="*/ 2 w 3"/>
                    <a:gd name="T13" fmla="*/ 25 h 28"/>
                    <a:gd name="T14" fmla="*/ 2 w 3"/>
                    <a:gd name="T15" fmla="*/ 22 h 28"/>
                    <a:gd name="T16" fmla="*/ 2 w 3"/>
                    <a:gd name="T17" fmla="*/ 5 h 28"/>
                    <a:gd name="T18" fmla="*/ 2 w 3"/>
                    <a:gd name="T19" fmla="*/ 2 h 28"/>
                    <a:gd name="T20" fmla="*/ 1 w 3"/>
                    <a:gd name="T21" fmla="*/ 0 h 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"/>
                    <a:gd name="T34" fmla="*/ 0 h 28"/>
                    <a:gd name="T35" fmla="*/ 3 w 3"/>
                    <a:gd name="T36" fmla="*/ 28 h 2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" h="28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0" y="22"/>
                      </a:lnTo>
                      <a:lnTo>
                        <a:pt x="0" y="25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2" y="22"/>
                      </a:ln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89" name="Group 415"/>
              <p:cNvGrpSpPr>
                <a:grpSpLocks/>
              </p:cNvGrpSpPr>
              <p:nvPr/>
            </p:nvGrpSpPr>
            <p:grpSpPr bwMode="auto">
              <a:xfrm>
                <a:off x="1013" y="3648"/>
                <a:ext cx="60" cy="36"/>
                <a:chOff x="1013" y="3648"/>
                <a:chExt cx="60" cy="36"/>
              </a:xfrm>
            </p:grpSpPr>
            <p:sp>
              <p:nvSpPr>
                <p:cNvPr id="100496" name="Freeform 416"/>
                <p:cNvSpPr>
                  <a:spLocks/>
                </p:cNvSpPr>
                <p:nvPr/>
              </p:nvSpPr>
              <p:spPr bwMode="auto">
                <a:xfrm>
                  <a:off x="1013" y="3648"/>
                  <a:ext cx="27" cy="36"/>
                </a:xfrm>
                <a:custGeom>
                  <a:avLst/>
                  <a:gdLst>
                    <a:gd name="T0" fmla="*/ 0 w 27"/>
                    <a:gd name="T1" fmla="*/ 0 h 36"/>
                    <a:gd name="T2" fmla="*/ 16 w 27"/>
                    <a:gd name="T3" fmla="*/ 0 h 36"/>
                    <a:gd name="T4" fmla="*/ 16 w 27"/>
                    <a:gd name="T5" fmla="*/ 2 h 36"/>
                    <a:gd name="T6" fmla="*/ 12 w 27"/>
                    <a:gd name="T7" fmla="*/ 2 h 36"/>
                    <a:gd name="T8" fmla="*/ 12 w 27"/>
                    <a:gd name="T9" fmla="*/ 31 h 36"/>
                    <a:gd name="T10" fmla="*/ 16 w 27"/>
                    <a:gd name="T11" fmla="*/ 31 h 36"/>
                    <a:gd name="T12" fmla="*/ 23 w 27"/>
                    <a:gd name="T13" fmla="*/ 26 h 36"/>
                    <a:gd name="T14" fmla="*/ 26 w 27"/>
                    <a:gd name="T15" fmla="*/ 26 h 36"/>
                    <a:gd name="T16" fmla="*/ 26 w 27"/>
                    <a:gd name="T17" fmla="*/ 35 h 36"/>
                    <a:gd name="T18" fmla="*/ 1 w 27"/>
                    <a:gd name="T19" fmla="*/ 35 h 36"/>
                    <a:gd name="T20" fmla="*/ 1 w 27"/>
                    <a:gd name="T21" fmla="*/ 33 h 36"/>
                    <a:gd name="T22" fmla="*/ 3 w 27"/>
                    <a:gd name="T23" fmla="*/ 33 h 36"/>
                    <a:gd name="T24" fmla="*/ 3 w 27"/>
                    <a:gd name="T25" fmla="*/ 2 h 36"/>
                    <a:gd name="T26" fmla="*/ 0 w 27"/>
                    <a:gd name="T27" fmla="*/ 2 h 36"/>
                    <a:gd name="T28" fmla="*/ 0 w 27"/>
                    <a:gd name="T29" fmla="*/ 0 h 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7"/>
                    <a:gd name="T46" fmla="*/ 0 h 36"/>
                    <a:gd name="T47" fmla="*/ 27 w 27"/>
                    <a:gd name="T48" fmla="*/ 36 h 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7" h="36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2" y="2"/>
                      </a:lnTo>
                      <a:lnTo>
                        <a:pt x="12" y="31"/>
                      </a:lnTo>
                      <a:lnTo>
                        <a:pt x="16" y="31"/>
                      </a:lnTo>
                      <a:lnTo>
                        <a:pt x="23" y="26"/>
                      </a:lnTo>
                      <a:lnTo>
                        <a:pt x="26" y="26"/>
                      </a:lnTo>
                      <a:lnTo>
                        <a:pt x="26" y="35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97" name="Freeform 417"/>
                <p:cNvSpPr>
                  <a:spLocks/>
                </p:cNvSpPr>
                <p:nvPr/>
              </p:nvSpPr>
              <p:spPr bwMode="auto">
                <a:xfrm>
                  <a:off x="1047" y="3648"/>
                  <a:ext cx="26" cy="36"/>
                </a:xfrm>
                <a:custGeom>
                  <a:avLst/>
                  <a:gdLst>
                    <a:gd name="T0" fmla="*/ 0 w 26"/>
                    <a:gd name="T1" fmla="*/ 0 h 36"/>
                    <a:gd name="T2" fmla="*/ 16 w 26"/>
                    <a:gd name="T3" fmla="*/ 0 h 36"/>
                    <a:gd name="T4" fmla="*/ 16 w 26"/>
                    <a:gd name="T5" fmla="*/ 2 h 36"/>
                    <a:gd name="T6" fmla="*/ 11 w 26"/>
                    <a:gd name="T7" fmla="*/ 2 h 36"/>
                    <a:gd name="T8" fmla="*/ 11 w 26"/>
                    <a:gd name="T9" fmla="*/ 31 h 36"/>
                    <a:gd name="T10" fmla="*/ 16 w 26"/>
                    <a:gd name="T11" fmla="*/ 31 h 36"/>
                    <a:gd name="T12" fmla="*/ 22 w 26"/>
                    <a:gd name="T13" fmla="*/ 26 h 36"/>
                    <a:gd name="T14" fmla="*/ 25 w 26"/>
                    <a:gd name="T15" fmla="*/ 26 h 36"/>
                    <a:gd name="T16" fmla="*/ 25 w 26"/>
                    <a:gd name="T17" fmla="*/ 35 h 36"/>
                    <a:gd name="T18" fmla="*/ 0 w 26"/>
                    <a:gd name="T19" fmla="*/ 35 h 36"/>
                    <a:gd name="T20" fmla="*/ 0 w 26"/>
                    <a:gd name="T21" fmla="*/ 33 h 36"/>
                    <a:gd name="T22" fmla="*/ 3 w 26"/>
                    <a:gd name="T23" fmla="*/ 33 h 36"/>
                    <a:gd name="T24" fmla="*/ 3 w 26"/>
                    <a:gd name="T25" fmla="*/ 2 h 36"/>
                    <a:gd name="T26" fmla="*/ 0 w 26"/>
                    <a:gd name="T27" fmla="*/ 2 h 36"/>
                    <a:gd name="T28" fmla="*/ 0 w 26"/>
                    <a:gd name="T29" fmla="*/ 0 h 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6"/>
                    <a:gd name="T46" fmla="*/ 0 h 36"/>
                    <a:gd name="T47" fmla="*/ 26 w 26"/>
                    <a:gd name="T48" fmla="*/ 36 h 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6" h="36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1" y="2"/>
                      </a:lnTo>
                      <a:lnTo>
                        <a:pt x="11" y="31"/>
                      </a:lnTo>
                      <a:lnTo>
                        <a:pt x="16" y="31"/>
                      </a:lnTo>
                      <a:lnTo>
                        <a:pt x="22" y="26"/>
                      </a:lnTo>
                      <a:lnTo>
                        <a:pt x="25" y="26"/>
                      </a:lnTo>
                      <a:lnTo>
                        <a:pt x="25" y="35"/>
                      </a:lnTo>
                      <a:lnTo>
                        <a:pt x="0" y="35"/>
                      </a:lnTo>
                      <a:lnTo>
                        <a:pt x="0" y="33"/>
                      </a:lnTo>
                      <a:lnTo>
                        <a:pt x="3" y="33"/>
                      </a:ln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90" name="Group 418"/>
              <p:cNvGrpSpPr>
                <a:grpSpLocks/>
              </p:cNvGrpSpPr>
              <p:nvPr/>
            </p:nvGrpSpPr>
            <p:grpSpPr bwMode="auto">
              <a:xfrm>
                <a:off x="1079" y="3649"/>
                <a:ext cx="42" cy="36"/>
                <a:chOff x="1079" y="3649"/>
                <a:chExt cx="42" cy="36"/>
              </a:xfrm>
            </p:grpSpPr>
            <p:sp>
              <p:nvSpPr>
                <p:cNvPr id="100494" name="Freeform 419"/>
                <p:cNvSpPr>
                  <a:spLocks/>
                </p:cNvSpPr>
                <p:nvPr/>
              </p:nvSpPr>
              <p:spPr bwMode="auto">
                <a:xfrm>
                  <a:off x="1079" y="3649"/>
                  <a:ext cx="42" cy="36"/>
                </a:xfrm>
                <a:custGeom>
                  <a:avLst/>
                  <a:gdLst>
                    <a:gd name="T0" fmla="*/ 24 w 42"/>
                    <a:gd name="T1" fmla="*/ 0 h 36"/>
                    <a:gd name="T2" fmla="*/ 38 w 42"/>
                    <a:gd name="T3" fmla="*/ 32 h 36"/>
                    <a:gd name="T4" fmla="*/ 41 w 42"/>
                    <a:gd name="T5" fmla="*/ 32 h 36"/>
                    <a:gd name="T6" fmla="*/ 41 w 42"/>
                    <a:gd name="T7" fmla="*/ 35 h 36"/>
                    <a:gd name="T8" fmla="*/ 18 w 42"/>
                    <a:gd name="T9" fmla="*/ 35 h 36"/>
                    <a:gd name="T10" fmla="*/ 18 w 42"/>
                    <a:gd name="T11" fmla="*/ 32 h 36"/>
                    <a:gd name="T12" fmla="*/ 22 w 42"/>
                    <a:gd name="T13" fmla="*/ 32 h 36"/>
                    <a:gd name="T14" fmla="*/ 18 w 42"/>
                    <a:gd name="T15" fmla="*/ 22 h 36"/>
                    <a:gd name="T16" fmla="*/ 10 w 42"/>
                    <a:gd name="T17" fmla="*/ 22 h 36"/>
                    <a:gd name="T18" fmla="*/ 7 w 42"/>
                    <a:gd name="T19" fmla="*/ 32 h 36"/>
                    <a:gd name="T20" fmla="*/ 11 w 42"/>
                    <a:gd name="T21" fmla="*/ 32 h 36"/>
                    <a:gd name="T22" fmla="*/ 11 w 42"/>
                    <a:gd name="T23" fmla="*/ 35 h 36"/>
                    <a:gd name="T24" fmla="*/ 0 w 42"/>
                    <a:gd name="T25" fmla="*/ 35 h 36"/>
                    <a:gd name="T26" fmla="*/ 0 w 42"/>
                    <a:gd name="T27" fmla="*/ 32 h 36"/>
                    <a:gd name="T28" fmla="*/ 3 w 42"/>
                    <a:gd name="T29" fmla="*/ 32 h 36"/>
                    <a:gd name="T30" fmla="*/ 14 w 42"/>
                    <a:gd name="T31" fmla="*/ 0 h 36"/>
                    <a:gd name="T32" fmla="*/ 24 w 42"/>
                    <a:gd name="T33" fmla="*/ 0 h 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2"/>
                    <a:gd name="T52" fmla="*/ 0 h 36"/>
                    <a:gd name="T53" fmla="*/ 42 w 42"/>
                    <a:gd name="T54" fmla="*/ 36 h 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2" h="36">
                      <a:moveTo>
                        <a:pt x="24" y="0"/>
                      </a:moveTo>
                      <a:lnTo>
                        <a:pt x="38" y="32"/>
                      </a:lnTo>
                      <a:lnTo>
                        <a:pt x="41" y="32"/>
                      </a:lnTo>
                      <a:lnTo>
                        <a:pt x="41" y="35"/>
                      </a:lnTo>
                      <a:lnTo>
                        <a:pt x="18" y="35"/>
                      </a:lnTo>
                      <a:lnTo>
                        <a:pt x="18" y="32"/>
                      </a:lnTo>
                      <a:lnTo>
                        <a:pt x="22" y="32"/>
                      </a:lnTo>
                      <a:lnTo>
                        <a:pt x="18" y="22"/>
                      </a:lnTo>
                      <a:lnTo>
                        <a:pt x="10" y="22"/>
                      </a:lnTo>
                      <a:lnTo>
                        <a:pt x="7" y="32"/>
                      </a:lnTo>
                      <a:lnTo>
                        <a:pt x="11" y="32"/>
                      </a:lnTo>
                      <a:lnTo>
                        <a:pt x="11" y="35"/>
                      </a:lnTo>
                      <a:lnTo>
                        <a:pt x="0" y="35"/>
                      </a:lnTo>
                      <a:lnTo>
                        <a:pt x="0" y="32"/>
                      </a:lnTo>
                      <a:lnTo>
                        <a:pt x="3" y="32"/>
                      </a:lnTo>
                      <a:lnTo>
                        <a:pt x="14" y="0"/>
                      </a:lnTo>
                      <a:lnTo>
                        <a:pt x="24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95" name="Freeform 420"/>
                <p:cNvSpPr>
                  <a:spLocks/>
                </p:cNvSpPr>
                <p:nvPr/>
              </p:nvSpPr>
              <p:spPr bwMode="auto">
                <a:xfrm>
                  <a:off x="1092" y="3660"/>
                  <a:ext cx="2" cy="4"/>
                </a:xfrm>
                <a:custGeom>
                  <a:avLst/>
                  <a:gdLst>
                    <a:gd name="T0" fmla="*/ 1 w 2"/>
                    <a:gd name="T1" fmla="*/ 0 h 4"/>
                    <a:gd name="T2" fmla="*/ 1 w 2"/>
                    <a:gd name="T3" fmla="*/ 3 h 4"/>
                    <a:gd name="T4" fmla="*/ 0 w 2"/>
                    <a:gd name="T5" fmla="*/ 3 h 4"/>
                    <a:gd name="T6" fmla="*/ 1 w 2"/>
                    <a:gd name="T7" fmla="*/ 0 h 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"/>
                    <a:gd name="T13" fmla="*/ 0 h 4"/>
                    <a:gd name="T14" fmla="*/ 2 w 2"/>
                    <a:gd name="T15" fmla="*/ 4 h 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" h="4">
                      <a:moveTo>
                        <a:pt x="1" y="0"/>
                      </a:move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91" name="Group 421"/>
              <p:cNvGrpSpPr>
                <a:grpSpLocks/>
              </p:cNvGrpSpPr>
              <p:nvPr/>
            </p:nvGrpSpPr>
            <p:grpSpPr bwMode="auto">
              <a:xfrm>
                <a:off x="931" y="3650"/>
                <a:ext cx="35" cy="35"/>
                <a:chOff x="931" y="3650"/>
                <a:chExt cx="35" cy="35"/>
              </a:xfrm>
            </p:grpSpPr>
            <p:sp>
              <p:nvSpPr>
                <p:cNvPr id="100492" name="Freeform 422"/>
                <p:cNvSpPr>
                  <a:spLocks/>
                </p:cNvSpPr>
                <p:nvPr/>
              </p:nvSpPr>
              <p:spPr bwMode="auto">
                <a:xfrm>
                  <a:off x="931" y="3650"/>
                  <a:ext cx="35" cy="35"/>
                </a:xfrm>
                <a:custGeom>
                  <a:avLst/>
                  <a:gdLst>
                    <a:gd name="T0" fmla="*/ 13 w 35"/>
                    <a:gd name="T1" fmla="*/ 0 h 35"/>
                    <a:gd name="T2" fmla="*/ 24 w 35"/>
                    <a:gd name="T3" fmla="*/ 0 h 35"/>
                    <a:gd name="T4" fmla="*/ 27 w 35"/>
                    <a:gd name="T5" fmla="*/ 1 h 35"/>
                    <a:gd name="T6" fmla="*/ 32 w 35"/>
                    <a:gd name="T7" fmla="*/ 4 h 35"/>
                    <a:gd name="T8" fmla="*/ 33 w 35"/>
                    <a:gd name="T9" fmla="*/ 9 h 35"/>
                    <a:gd name="T10" fmla="*/ 34 w 35"/>
                    <a:gd name="T11" fmla="*/ 14 h 35"/>
                    <a:gd name="T12" fmla="*/ 34 w 35"/>
                    <a:gd name="T13" fmla="*/ 19 h 35"/>
                    <a:gd name="T14" fmla="*/ 33 w 35"/>
                    <a:gd name="T15" fmla="*/ 25 h 35"/>
                    <a:gd name="T16" fmla="*/ 32 w 35"/>
                    <a:gd name="T17" fmla="*/ 29 h 35"/>
                    <a:gd name="T18" fmla="*/ 26 w 35"/>
                    <a:gd name="T19" fmla="*/ 33 h 35"/>
                    <a:gd name="T20" fmla="*/ 23 w 35"/>
                    <a:gd name="T21" fmla="*/ 34 h 35"/>
                    <a:gd name="T22" fmla="*/ 13 w 35"/>
                    <a:gd name="T23" fmla="*/ 34 h 35"/>
                    <a:gd name="T24" fmla="*/ 0 w 35"/>
                    <a:gd name="T25" fmla="*/ 34 h 35"/>
                    <a:gd name="T26" fmla="*/ 1 w 35"/>
                    <a:gd name="T27" fmla="*/ 31 h 35"/>
                    <a:gd name="T28" fmla="*/ 4 w 35"/>
                    <a:gd name="T29" fmla="*/ 31 h 35"/>
                    <a:gd name="T30" fmla="*/ 4 w 35"/>
                    <a:gd name="T31" fmla="*/ 21 h 35"/>
                    <a:gd name="T32" fmla="*/ 4 w 35"/>
                    <a:gd name="T33" fmla="*/ 14 h 35"/>
                    <a:gd name="T34" fmla="*/ 4 w 35"/>
                    <a:gd name="T35" fmla="*/ 9 h 35"/>
                    <a:gd name="T36" fmla="*/ 4 w 35"/>
                    <a:gd name="T37" fmla="*/ 3 h 35"/>
                    <a:gd name="T38" fmla="*/ 0 w 35"/>
                    <a:gd name="T39" fmla="*/ 3 h 35"/>
                    <a:gd name="T40" fmla="*/ 0 w 35"/>
                    <a:gd name="T41" fmla="*/ 0 h 35"/>
                    <a:gd name="T42" fmla="*/ 13 w 35"/>
                    <a:gd name="T43" fmla="*/ 0 h 35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35"/>
                    <a:gd name="T67" fmla="*/ 0 h 35"/>
                    <a:gd name="T68" fmla="*/ 35 w 35"/>
                    <a:gd name="T69" fmla="*/ 35 h 35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35" h="35">
                      <a:moveTo>
                        <a:pt x="13" y="0"/>
                      </a:moveTo>
                      <a:lnTo>
                        <a:pt x="24" y="0"/>
                      </a:lnTo>
                      <a:lnTo>
                        <a:pt x="27" y="1"/>
                      </a:lnTo>
                      <a:lnTo>
                        <a:pt x="32" y="4"/>
                      </a:lnTo>
                      <a:lnTo>
                        <a:pt x="33" y="9"/>
                      </a:lnTo>
                      <a:lnTo>
                        <a:pt x="34" y="14"/>
                      </a:lnTo>
                      <a:lnTo>
                        <a:pt x="34" y="19"/>
                      </a:lnTo>
                      <a:lnTo>
                        <a:pt x="33" y="25"/>
                      </a:lnTo>
                      <a:lnTo>
                        <a:pt x="32" y="29"/>
                      </a:lnTo>
                      <a:lnTo>
                        <a:pt x="26" y="33"/>
                      </a:lnTo>
                      <a:lnTo>
                        <a:pt x="23" y="34"/>
                      </a:lnTo>
                      <a:lnTo>
                        <a:pt x="13" y="34"/>
                      </a:lnTo>
                      <a:lnTo>
                        <a:pt x="0" y="34"/>
                      </a:lnTo>
                      <a:lnTo>
                        <a:pt x="1" y="31"/>
                      </a:lnTo>
                      <a:lnTo>
                        <a:pt x="4" y="31"/>
                      </a:lnTo>
                      <a:lnTo>
                        <a:pt x="4" y="21"/>
                      </a:lnTo>
                      <a:lnTo>
                        <a:pt x="4" y="14"/>
                      </a:lnTo>
                      <a:lnTo>
                        <a:pt x="4" y="9"/>
                      </a:lnTo>
                      <a:lnTo>
                        <a:pt x="4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13" y="0"/>
                      </a:lnTo>
                    </a:path>
                  </a:pathLst>
                </a:custGeom>
                <a:solidFill>
                  <a:srgbClr val="BFFFBF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93" name="Freeform 423"/>
                <p:cNvSpPr>
                  <a:spLocks/>
                </p:cNvSpPr>
                <p:nvPr/>
              </p:nvSpPr>
              <p:spPr bwMode="auto">
                <a:xfrm>
                  <a:off x="949" y="3655"/>
                  <a:ext cx="3" cy="26"/>
                </a:xfrm>
                <a:custGeom>
                  <a:avLst/>
                  <a:gdLst>
                    <a:gd name="T0" fmla="*/ 1 w 3"/>
                    <a:gd name="T1" fmla="*/ 0 h 26"/>
                    <a:gd name="T2" fmla="*/ 0 w 3"/>
                    <a:gd name="T3" fmla="*/ 0 h 26"/>
                    <a:gd name="T4" fmla="*/ 0 w 3"/>
                    <a:gd name="T5" fmla="*/ 25 h 26"/>
                    <a:gd name="T6" fmla="*/ 1 w 3"/>
                    <a:gd name="T7" fmla="*/ 25 h 26"/>
                    <a:gd name="T8" fmla="*/ 2 w 3"/>
                    <a:gd name="T9" fmla="*/ 23 h 26"/>
                    <a:gd name="T10" fmla="*/ 2 w 3"/>
                    <a:gd name="T11" fmla="*/ 21 h 26"/>
                    <a:gd name="T12" fmla="*/ 2 w 3"/>
                    <a:gd name="T13" fmla="*/ 4 h 26"/>
                    <a:gd name="T14" fmla="*/ 2 w 3"/>
                    <a:gd name="T15" fmla="*/ 2 h 26"/>
                    <a:gd name="T16" fmla="*/ 1 w 3"/>
                    <a:gd name="T17" fmla="*/ 0 h 2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"/>
                    <a:gd name="T28" fmla="*/ 0 h 26"/>
                    <a:gd name="T29" fmla="*/ 3 w 3"/>
                    <a:gd name="T30" fmla="*/ 26 h 2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" h="26">
                      <a:moveTo>
                        <a:pt x="1" y="0"/>
                      </a:moveTo>
                      <a:lnTo>
                        <a:pt x="0" y="0"/>
                      </a:lnTo>
                      <a:lnTo>
                        <a:pt x="0" y="25"/>
                      </a:lnTo>
                      <a:lnTo>
                        <a:pt x="1" y="25"/>
                      </a:lnTo>
                      <a:lnTo>
                        <a:pt x="2" y="23"/>
                      </a:lnTo>
                      <a:lnTo>
                        <a:pt x="2" y="21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00454" name="Group 424"/>
            <p:cNvGrpSpPr>
              <a:grpSpLocks/>
            </p:cNvGrpSpPr>
            <p:nvPr/>
          </p:nvGrpSpPr>
          <p:grpSpPr bwMode="auto">
            <a:xfrm>
              <a:off x="696" y="2859"/>
              <a:ext cx="520" cy="47"/>
              <a:chOff x="696" y="3297"/>
              <a:chExt cx="573" cy="31"/>
            </a:xfrm>
          </p:grpSpPr>
          <p:grpSp>
            <p:nvGrpSpPr>
              <p:cNvPr id="100456" name="Group 425"/>
              <p:cNvGrpSpPr>
                <a:grpSpLocks/>
              </p:cNvGrpSpPr>
              <p:nvPr/>
            </p:nvGrpSpPr>
            <p:grpSpPr bwMode="auto">
              <a:xfrm>
                <a:off x="696" y="3297"/>
                <a:ext cx="57" cy="31"/>
                <a:chOff x="696" y="3297"/>
                <a:chExt cx="57" cy="31"/>
              </a:xfrm>
            </p:grpSpPr>
            <p:sp>
              <p:nvSpPr>
                <p:cNvPr id="100482" name="Freeform 426"/>
                <p:cNvSpPr>
                  <a:spLocks/>
                </p:cNvSpPr>
                <p:nvPr/>
              </p:nvSpPr>
              <p:spPr bwMode="auto">
                <a:xfrm>
                  <a:off x="696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8 w 11"/>
                    <a:gd name="T7" fmla="*/ 6 h 31"/>
                    <a:gd name="T8" fmla="*/ 8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83" name="Freeform 427"/>
                <p:cNvSpPr>
                  <a:spLocks/>
                </p:cNvSpPr>
                <p:nvPr/>
              </p:nvSpPr>
              <p:spPr bwMode="auto">
                <a:xfrm>
                  <a:off x="716" y="3297"/>
                  <a:ext cx="17" cy="31"/>
                </a:xfrm>
                <a:custGeom>
                  <a:avLst/>
                  <a:gdLst>
                    <a:gd name="T0" fmla="*/ 0 w 17"/>
                    <a:gd name="T1" fmla="*/ 0 h 31"/>
                    <a:gd name="T2" fmla="*/ 5 w 17"/>
                    <a:gd name="T3" fmla="*/ 0 h 31"/>
                    <a:gd name="T4" fmla="*/ 5 w 17"/>
                    <a:gd name="T5" fmla="*/ 12 h 31"/>
                    <a:gd name="T6" fmla="*/ 11 w 17"/>
                    <a:gd name="T7" fmla="*/ 12 h 31"/>
                    <a:gd name="T8" fmla="*/ 11 w 17"/>
                    <a:gd name="T9" fmla="*/ 0 h 31"/>
                    <a:gd name="T10" fmla="*/ 16 w 17"/>
                    <a:gd name="T11" fmla="*/ 0 h 31"/>
                    <a:gd name="T12" fmla="*/ 16 w 17"/>
                    <a:gd name="T13" fmla="*/ 30 h 31"/>
                    <a:gd name="T14" fmla="*/ 11 w 17"/>
                    <a:gd name="T15" fmla="*/ 30 h 31"/>
                    <a:gd name="T16" fmla="*/ 11 w 17"/>
                    <a:gd name="T17" fmla="*/ 17 h 31"/>
                    <a:gd name="T18" fmla="*/ 5 w 17"/>
                    <a:gd name="T19" fmla="*/ 17 h 31"/>
                    <a:gd name="T20" fmla="*/ 5 w 17"/>
                    <a:gd name="T21" fmla="*/ 30 h 31"/>
                    <a:gd name="T22" fmla="*/ 0 w 17"/>
                    <a:gd name="T23" fmla="*/ 30 h 31"/>
                    <a:gd name="T24" fmla="*/ 0 w 17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7"/>
                    <a:gd name="T40" fmla="*/ 0 h 31"/>
                    <a:gd name="T41" fmla="*/ 17 w 17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7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12"/>
                      </a:lnTo>
                      <a:lnTo>
                        <a:pt x="11" y="12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16" y="30"/>
                      </a:lnTo>
                      <a:lnTo>
                        <a:pt x="11" y="30"/>
                      </a:lnTo>
                      <a:lnTo>
                        <a:pt x="11" y="17"/>
                      </a:lnTo>
                      <a:lnTo>
                        <a:pt x="5" y="17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84" name="Freeform 428"/>
                <p:cNvSpPr>
                  <a:spLocks/>
                </p:cNvSpPr>
                <p:nvPr/>
              </p:nvSpPr>
              <p:spPr bwMode="auto">
                <a:xfrm>
                  <a:off x="742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5 w 11"/>
                    <a:gd name="T7" fmla="*/ 6 h 31"/>
                    <a:gd name="T8" fmla="*/ 5 w 11"/>
                    <a:gd name="T9" fmla="*/ 12 h 31"/>
                    <a:gd name="T10" fmla="*/ 9 w 11"/>
                    <a:gd name="T11" fmla="*/ 12 h 31"/>
                    <a:gd name="T12" fmla="*/ 9 w 11"/>
                    <a:gd name="T13" fmla="*/ 17 h 31"/>
                    <a:gd name="T14" fmla="*/ 5 w 11"/>
                    <a:gd name="T15" fmla="*/ 17 h 31"/>
                    <a:gd name="T16" fmla="*/ 5 w 11"/>
                    <a:gd name="T17" fmla="*/ 24 h 31"/>
                    <a:gd name="T18" fmla="*/ 10 w 11"/>
                    <a:gd name="T19" fmla="*/ 24 h 31"/>
                    <a:gd name="T20" fmla="*/ 10 w 11"/>
                    <a:gd name="T21" fmla="*/ 30 h 31"/>
                    <a:gd name="T22" fmla="*/ 0 w 11"/>
                    <a:gd name="T23" fmla="*/ 30 h 31"/>
                    <a:gd name="T24" fmla="*/ 0 w 11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1"/>
                    <a:gd name="T40" fmla="*/ 0 h 31"/>
                    <a:gd name="T41" fmla="*/ 11 w 11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57" name="Group 429"/>
              <p:cNvGrpSpPr>
                <a:grpSpLocks/>
              </p:cNvGrpSpPr>
              <p:nvPr/>
            </p:nvGrpSpPr>
            <p:grpSpPr bwMode="auto">
              <a:xfrm>
                <a:off x="774" y="3297"/>
                <a:ext cx="118" cy="31"/>
                <a:chOff x="774" y="3297"/>
                <a:chExt cx="118" cy="31"/>
              </a:xfrm>
            </p:grpSpPr>
            <p:sp>
              <p:nvSpPr>
                <p:cNvPr id="100476" name="Freeform 430"/>
                <p:cNvSpPr>
                  <a:spLocks/>
                </p:cNvSpPr>
                <p:nvPr/>
              </p:nvSpPr>
              <p:spPr bwMode="auto">
                <a:xfrm>
                  <a:off x="774" y="3297"/>
                  <a:ext cx="14" cy="31"/>
                </a:xfrm>
                <a:custGeom>
                  <a:avLst/>
                  <a:gdLst>
                    <a:gd name="T0" fmla="*/ 0 w 14"/>
                    <a:gd name="T1" fmla="*/ 0 h 31"/>
                    <a:gd name="T2" fmla="*/ 5 w 14"/>
                    <a:gd name="T3" fmla="*/ 0 h 31"/>
                    <a:gd name="T4" fmla="*/ 5 w 14"/>
                    <a:gd name="T5" fmla="*/ 24 h 31"/>
                    <a:gd name="T6" fmla="*/ 8 w 14"/>
                    <a:gd name="T7" fmla="*/ 24 h 31"/>
                    <a:gd name="T8" fmla="*/ 8 w 14"/>
                    <a:gd name="T9" fmla="*/ 0 h 31"/>
                    <a:gd name="T10" fmla="*/ 13 w 14"/>
                    <a:gd name="T11" fmla="*/ 0 h 31"/>
                    <a:gd name="T12" fmla="*/ 13 w 14"/>
                    <a:gd name="T13" fmla="*/ 26 h 31"/>
                    <a:gd name="T14" fmla="*/ 9 w 14"/>
                    <a:gd name="T15" fmla="*/ 30 h 31"/>
                    <a:gd name="T16" fmla="*/ 3 w 14"/>
                    <a:gd name="T17" fmla="*/ 30 h 31"/>
                    <a:gd name="T18" fmla="*/ 0 w 14"/>
                    <a:gd name="T19" fmla="*/ 26 h 31"/>
                    <a:gd name="T20" fmla="*/ 0 w 14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4"/>
                    <a:gd name="T34" fmla="*/ 0 h 31"/>
                    <a:gd name="T35" fmla="*/ 14 w 14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4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4"/>
                      </a:lnTo>
                      <a:lnTo>
                        <a:pt x="8" y="24"/>
                      </a:lnTo>
                      <a:lnTo>
                        <a:pt x="8" y="0"/>
                      </a:lnTo>
                      <a:lnTo>
                        <a:pt x="13" y="0"/>
                      </a:lnTo>
                      <a:lnTo>
                        <a:pt x="13" y="26"/>
                      </a:lnTo>
                      <a:lnTo>
                        <a:pt x="9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7" name="Freeform 431"/>
                <p:cNvSpPr>
                  <a:spLocks/>
                </p:cNvSpPr>
                <p:nvPr/>
              </p:nvSpPr>
              <p:spPr bwMode="auto">
                <a:xfrm>
                  <a:off x="799" y="3297"/>
                  <a:ext cx="16" cy="31"/>
                </a:xfrm>
                <a:custGeom>
                  <a:avLst/>
                  <a:gdLst>
                    <a:gd name="T0" fmla="*/ 0 w 16"/>
                    <a:gd name="T1" fmla="*/ 0 h 31"/>
                    <a:gd name="T2" fmla="*/ 5 w 16"/>
                    <a:gd name="T3" fmla="*/ 0 h 31"/>
                    <a:gd name="T4" fmla="*/ 9 w 16"/>
                    <a:gd name="T5" fmla="*/ 14 h 31"/>
                    <a:gd name="T6" fmla="*/ 9 w 16"/>
                    <a:gd name="T7" fmla="*/ 0 h 31"/>
                    <a:gd name="T8" fmla="*/ 15 w 16"/>
                    <a:gd name="T9" fmla="*/ 0 h 31"/>
                    <a:gd name="T10" fmla="*/ 15 w 16"/>
                    <a:gd name="T11" fmla="*/ 30 h 31"/>
                    <a:gd name="T12" fmla="*/ 9 w 16"/>
                    <a:gd name="T13" fmla="*/ 30 h 31"/>
                    <a:gd name="T14" fmla="*/ 6 w 16"/>
                    <a:gd name="T15" fmla="*/ 16 h 31"/>
                    <a:gd name="T16" fmla="*/ 6 w 16"/>
                    <a:gd name="T17" fmla="*/ 30 h 31"/>
                    <a:gd name="T18" fmla="*/ 0 w 16"/>
                    <a:gd name="T19" fmla="*/ 30 h 31"/>
                    <a:gd name="T20" fmla="*/ 0 w 16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"/>
                    <a:gd name="T34" fmla="*/ 0 h 31"/>
                    <a:gd name="T35" fmla="*/ 16 w 16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" h="3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9" y="14"/>
                      </a:lnTo>
                      <a:lnTo>
                        <a:pt x="9" y="0"/>
                      </a:lnTo>
                      <a:lnTo>
                        <a:pt x="15" y="0"/>
                      </a:lnTo>
                      <a:lnTo>
                        <a:pt x="15" y="30"/>
                      </a:lnTo>
                      <a:lnTo>
                        <a:pt x="9" y="30"/>
                      </a:lnTo>
                      <a:lnTo>
                        <a:pt x="6" y="16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8" name="Freeform 432"/>
                <p:cNvSpPr>
                  <a:spLocks/>
                </p:cNvSpPr>
                <p:nvPr/>
              </p:nvSpPr>
              <p:spPr bwMode="auto">
                <a:xfrm>
                  <a:off x="825" y="3297"/>
                  <a:ext cx="1" cy="31"/>
                </a:xfrm>
                <a:custGeom>
                  <a:avLst/>
                  <a:gdLst>
                    <a:gd name="T0" fmla="*/ 0 w 1"/>
                    <a:gd name="T1" fmla="*/ 0 h 31"/>
                    <a:gd name="T2" fmla="*/ 0 w 1"/>
                    <a:gd name="T3" fmla="*/ 30 h 31"/>
                    <a:gd name="T4" fmla="*/ 0 w 1"/>
                    <a:gd name="T5" fmla="*/ 0 h 3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31"/>
                    <a:gd name="T11" fmla="*/ 1 w 1"/>
                    <a:gd name="T12" fmla="*/ 31 h 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31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9" name="Freeform 433"/>
                <p:cNvSpPr>
                  <a:spLocks/>
                </p:cNvSpPr>
                <p:nvPr/>
              </p:nvSpPr>
              <p:spPr bwMode="auto">
                <a:xfrm>
                  <a:off x="836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7 w 11"/>
                    <a:gd name="T7" fmla="*/ 6 h 31"/>
                    <a:gd name="T8" fmla="*/ 7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7" y="6"/>
                      </a:lnTo>
                      <a:lnTo>
                        <a:pt x="7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80" name="Freeform 434"/>
                <p:cNvSpPr>
                  <a:spLocks/>
                </p:cNvSpPr>
                <p:nvPr/>
              </p:nvSpPr>
              <p:spPr bwMode="auto">
                <a:xfrm>
                  <a:off x="857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4 w 10"/>
                    <a:gd name="T7" fmla="*/ 6 h 31"/>
                    <a:gd name="T8" fmla="*/ 4 w 10"/>
                    <a:gd name="T9" fmla="*/ 12 h 31"/>
                    <a:gd name="T10" fmla="*/ 8 w 10"/>
                    <a:gd name="T11" fmla="*/ 12 h 31"/>
                    <a:gd name="T12" fmla="*/ 8 w 10"/>
                    <a:gd name="T13" fmla="*/ 17 h 31"/>
                    <a:gd name="T14" fmla="*/ 4 w 10"/>
                    <a:gd name="T15" fmla="*/ 17 h 31"/>
                    <a:gd name="T16" fmla="*/ 4 w 10"/>
                    <a:gd name="T17" fmla="*/ 24 h 31"/>
                    <a:gd name="T18" fmla="*/ 9 w 10"/>
                    <a:gd name="T19" fmla="*/ 24 h 31"/>
                    <a:gd name="T20" fmla="*/ 9 w 10"/>
                    <a:gd name="T21" fmla="*/ 30 h 31"/>
                    <a:gd name="T22" fmla="*/ 0 w 10"/>
                    <a:gd name="T23" fmla="*/ 30 h 31"/>
                    <a:gd name="T24" fmla="*/ 0 w 10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0"/>
                    <a:gd name="T40" fmla="*/ 0 h 31"/>
                    <a:gd name="T41" fmla="*/ 10 w 10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8" y="12"/>
                      </a:lnTo>
                      <a:lnTo>
                        <a:pt x="8" y="17"/>
                      </a:lnTo>
                      <a:lnTo>
                        <a:pt x="4" y="17"/>
                      </a:lnTo>
                      <a:lnTo>
                        <a:pt x="4" y="24"/>
                      </a:lnTo>
                      <a:lnTo>
                        <a:pt x="9" y="24"/>
                      </a:lnTo>
                      <a:lnTo>
                        <a:pt x="9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81" name="Freeform 435"/>
                <p:cNvSpPr>
                  <a:spLocks/>
                </p:cNvSpPr>
                <p:nvPr/>
              </p:nvSpPr>
              <p:spPr bwMode="auto">
                <a:xfrm>
                  <a:off x="877" y="3297"/>
                  <a:ext cx="15" cy="31"/>
                </a:xfrm>
                <a:custGeom>
                  <a:avLst/>
                  <a:gdLst>
                    <a:gd name="T0" fmla="*/ 0 w 15"/>
                    <a:gd name="T1" fmla="*/ 0 h 31"/>
                    <a:gd name="T2" fmla="*/ 11 w 15"/>
                    <a:gd name="T3" fmla="*/ 0 h 31"/>
                    <a:gd name="T4" fmla="*/ 14 w 15"/>
                    <a:gd name="T5" fmla="*/ 4 h 31"/>
                    <a:gd name="T6" fmla="*/ 14 w 15"/>
                    <a:gd name="T7" fmla="*/ 26 h 31"/>
                    <a:gd name="T8" fmla="*/ 11 w 15"/>
                    <a:gd name="T9" fmla="*/ 30 h 31"/>
                    <a:gd name="T10" fmla="*/ 0 w 15"/>
                    <a:gd name="T11" fmla="*/ 30 h 31"/>
                    <a:gd name="T12" fmla="*/ 0 w 15"/>
                    <a:gd name="T13" fmla="*/ 6 h 31"/>
                    <a:gd name="T14" fmla="*/ 5 w 15"/>
                    <a:gd name="T15" fmla="*/ 6 h 31"/>
                    <a:gd name="T16" fmla="*/ 5 w 15"/>
                    <a:gd name="T17" fmla="*/ 24 h 31"/>
                    <a:gd name="T18" fmla="*/ 8 w 15"/>
                    <a:gd name="T19" fmla="*/ 24 h 31"/>
                    <a:gd name="T20" fmla="*/ 8 w 15"/>
                    <a:gd name="T21" fmla="*/ 6 h 31"/>
                    <a:gd name="T22" fmla="*/ 5 w 15"/>
                    <a:gd name="T23" fmla="*/ 6 h 31"/>
                    <a:gd name="T24" fmla="*/ 0 w 15"/>
                    <a:gd name="T25" fmla="*/ 6 h 31"/>
                    <a:gd name="T26" fmla="*/ 0 w 15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5"/>
                    <a:gd name="T43" fmla="*/ 0 h 31"/>
                    <a:gd name="T44" fmla="*/ 15 w 15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5" h="31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4" y="4"/>
                      </a:lnTo>
                      <a:lnTo>
                        <a:pt x="14" y="26"/>
                      </a:lnTo>
                      <a:lnTo>
                        <a:pt x="11" y="30"/>
                      </a:lnTo>
                      <a:lnTo>
                        <a:pt x="0" y="30"/>
                      </a:lnTo>
                      <a:lnTo>
                        <a:pt x="0" y="6"/>
                      </a:lnTo>
                      <a:lnTo>
                        <a:pt x="5" y="6"/>
                      </a:lnTo>
                      <a:lnTo>
                        <a:pt x="5" y="24"/>
                      </a:lnTo>
                      <a:lnTo>
                        <a:pt x="8" y="24"/>
                      </a:ln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58" name="Group 436"/>
              <p:cNvGrpSpPr>
                <a:grpSpLocks/>
              </p:cNvGrpSpPr>
              <p:nvPr/>
            </p:nvGrpSpPr>
            <p:grpSpPr bwMode="auto">
              <a:xfrm>
                <a:off x="915" y="3297"/>
                <a:ext cx="119" cy="31"/>
                <a:chOff x="915" y="3297"/>
                <a:chExt cx="119" cy="31"/>
              </a:xfrm>
            </p:grpSpPr>
            <p:sp>
              <p:nvSpPr>
                <p:cNvPr id="100470" name="Freeform 437"/>
                <p:cNvSpPr>
                  <a:spLocks/>
                </p:cNvSpPr>
                <p:nvPr/>
              </p:nvSpPr>
              <p:spPr bwMode="auto">
                <a:xfrm>
                  <a:off x="915" y="3297"/>
                  <a:ext cx="14" cy="31"/>
                </a:xfrm>
                <a:custGeom>
                  <a:avLst/>
                  <a:gdLst>
                    <a:gd name="T0" fmla="*/ 3 w 14"/>
                    <a:gd name="T1" fmla="*/ 0 h 31"/>
                    <a:gd name="T2" fmla="*/ 10 w 14"/>
                    <a:gd name="T3" fmla="*/ 0 h 31"/>
                    <a:gd name="T4" fmla="*/ 13 w 14"/>
                    <a:gd name="T5" fmla="*/ 4 h 31"/>
                    <a:gd name="T6" fmla="*/ 13 w 14"/>
                    <a:gd name="T7" fmla="*/ 9 h 31"/>
                    <a:gd name="T8" fmla="*/ 8 w 14"/>
                    <a:gd name="T9" fmla="*/ 9 h 31"/>
                    <a:gd name="T10" fmla="*/ 8 w 14"/>
                    <a:gd name="T11" fmla="*/ 6 h 31"/>
                    <a:gd name="T12" fmla="*/ 5 w 14"/>
                    <a:gd name="T13" fmla="*/ 6 h 31"/>
                    <a:gd name="T14" fmla="*/ 5 w 14"/>
                    <a:gd name="T15" fmla="*/ 12 h 31"/>
                    <a:gd name="T16" fmla="*/ 9 w 14"/>
                    <a:gd name="T17" fmla="*/ 12 h 31"/>
                    <a:gd name="T18" fmla="*/ 13 w 14"/>
                    <a:gd name="T19" fmla="*/ 17 h 31"/>
                    <a:gd name="T20" fmla="*/ 13 w 14"/>
                    <a:gd name="T21" fmla="*/ 26 h 31"/>
                    <a:gd name="T22" fmla="*/ 10 w 14"/>
                    <a:gd name="T23" fmla="*/ 30 h 31"/>
                    <a:gd name="T24" fmla="*/ 3 w 14"/>
                    <a:gd name="T25" fmla="*/ 30 h 31"/>
                    <a:gd name="T26" fmla="*/ 0 w 14"/>
                    <a:gd name="T27" fmla="*/ 26 h 31"/>
                    <a:gd name="T28" fmla="*/ 0 w 14"/>
                    <a:gd name="T29" fmla="*/ 21 h 31"/>
                    <a:gd name="T30" fmla="*/ 4 w 14"/>
                    <a:gd name="T31" fmla="*/ 21 h 31"/>
                    <a:gd name="T32" fmla="*/ 4 w 14"/>
                    <a:gd name="T33" fmla="*/ 24 h 31"/>
                    <a:gd name="T34" fmla="*/ 8 w 14"/>
                    <a:gd name="T35" fmla="*/ 24 h 31"/>
                    <a:gd name="T36" fmla="*/ 8 w 14"/>
                    <a:gd name="T37" fmla="*/ 18 h 31"/>
                    <a:gd name="T38" fmla="*/ 4 w 14"/>
                    <a:gd name="T39" fmla="*/ 18 h 31"/>
                    <a:gd name="T40" fmla="*/ 0 w 14"/>
                    <a:gd name="T41" fmla="*/ 14 h 31"/>
                    <a:gd name="T42" fmla="*/ 0 w 14"/>
                    <a:gd name="T43" fmla="*/ 4 h 31"/>
                    <a:gd name="T44" fmla="*/ 3 w 14"/>
                    <a:gd name="T45" fmla="*/ 0 h 31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4"/>
                    <a:gd name="T70" fmla="*/ 0 h 31"/>
                    <a:gd name="T71" fmla="*/ 14 w 14"/>
                    <a:gd name="T72" fmla="*/ 31 h 31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4" h="31">
                      <a:moveTo>
                        <a:pt x="3" y="0"/>
                      </a:moveTo>
                      <a:lnTo>
                        <a:pt x="10" y="0"/>
                      </a:lnTo>
                      <a:lnTo>
                        <a:pt x="13" y="4"/>
                      </a:lnTo>
                      <a:lnTo>
                        <a:pt x="13" y="9"/>
                      </a:lnTo>
                      <a:lnTo>
                        <a:pt x="8" y="9"/>
                      </a:ln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13" y="17"/>
                      </a:lnTo>
                      <a:lnTo>
                        <a:pt x="13" y="26"/>
                      </a:lnTo>
                      <a:lnTo>
                        <a:pt x="10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21"/>
                      </a:lnTo>
                      <a:lnTo>
                        <a:pt x="4" y="21"/>
                      </a:lnTo>
                      <a:lnTo>
                        <a:pt x="4" y="24"/>
                      </a:lnTo>
                      <a:lnTo>
                        <a:pt x="8" y="24"/>
                      </a:lnTo>
                      <a:lnTo>
                        <a:pt x="8" y="18"/>
                      </a:lnTo>
                      <a:lnTo>
                        <a:pt x="4" y="18"/>
                      </a:lnTo>
                      <a:lnTo>
                        <a:pt x="0" y="14"/>
                      </a:lnTo>
                      <a:lnTo>
                        <a:pt x="0" y="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1" name="Freeform 438"/>
                <p:cNvSpPr>
                  <a:spLocks/>
                </p:cNvSpPr>
                <p:nvPr/>
              </p:nvSpPr>
              <p:spPr bwMode="auto">
                <a:xfrm>
                  <a:off x="938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8 w 11"/>
                    <a:gd name="T7" fmla="*/ 6 h 31"/>
                    <a:gd name="T8" fmla="*/ 8 w 11"/>
                    <a:gd name="T9" fmla="*/ 30 h 31"/>
                    <a:gd name="T10" fmla="*/ 3 w 11"/>
                    <a:gd name="T11" fmla="*/ 30 h 31"/>
                    <a:gd name="T12" fmla="*/ 3 w 11"/>
                    <a:gd name="T13" fmla="*/ 6 h 31"/>
                    <a:gd name="T14" fmla="*/ 0 w 11"/>
                    <a:gd name="T15" fmla="*/ 6 h 31"/>
                    <a:gd name="T16" fmla="*/ 0 w 11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"/>
                    <a:gd name="T28" fmla="*/ 0 h 31"/>
                    <a:gd name="T29" fmla="*/ 11 w 11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2" name="Freeform 439"/>
                <p:cNvSpPr>
                  <a:spLocks/>
                </p:cNvSpPr>
                <p:nvPr/>
              </p:nvSpPr>
              <p:spPr bwMode="auto">
                <a:xfrm>
                  <a:off x="954" y="3297"/>
                  <a:ext cx="18" cy="31"/>
                </a:xfrm>
                <a:custGeom>
                  <a:avLst/>
                  <a:gdLst>
                    <a:gd name="T0" fmla="*/ 5 w 18"/>
                    <a:gd name="T1" fmla="*/ 0 h 31"/>
                    <a:gd name="T2" fmla="*/ 13 w 18"/>
                    <a:gd name="T3" fmla="*/ 0 h 31"/>
                    <a:gd name="T4" fmla="*/ 17 w 18"/>
                    <a:gd name="T5" fmla="*/ 30 h 31"/>
                    <a:gd name="T6" fmla="*/ 12 w 18"/>
                    <a:gd name="T7" fmla="*/ 30 h 31"/>
                    <a:gd name="T8" fmla="*/ 11 w 18"/>
                    <a:gd name="T9" fmla="*/ 24 h 31"/>
                    <a:gd name="T10" fmla="*/ 11 w 18"/>
                    <a:gd name="T11" fmla="*/ 19 h 31"/>
                    <a:gd name="T12" fmla="*/ 9 w 18"/>
                    <a:gd name="T13" fmla="*/ 5 h 31"/>
                    <a:gd name="T14" fmla="*/ 7 w 18"/>
                    <a:gd name="T15" fmla="*/ 19 h 31"/>
                    <a:gd name="T16" fmla="*/ 11 w 18"/>
                    <a:gd name="T17" fmla="*/ 19 h 31"/>
                    <a:gd name="T18" fmla="*/ 11 w 18"/>
                    <a:gd name="T19" fmla="*/ 24 h 31"/>
                    <a:gd name="T20" fmla="*/ 7 w 18"/>
                    <a:gd name="T21" fmla="*/ 24 h 31"/>
                    <a:gd name="T22" fmla="*/ 6 w 18"/>
                    <a:gd name="T23" fmla="*/ 30 h 31"/>
                    <a:gd name="T24" fmla="*/ 0 w 18"/>
                    <a:gd name="T25" fmla="*/ 30 h 31"/>
                    <a:gd name="T26" fmla="*/ 5 w 18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8"/>
                    <a:gd name="T43" fmla="*/ 0 h 31"/>
                    <a:gd name="T44" fmla="*/ 18 w 18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8" h="31">
                      <a:moveTo>
                        <a:pt x="5" y="0"/>
                      </a:moveTo>
                      <a:lnTo>
                        <a:pt x="13" y="0"/>
                      </a:lnTo>
                      <a:lnTo>
                        <a:pt x="17" y="30"/>
                      </a:lnTo>
                      <a:lnTo>
                        <a:pt x="12" y="30"/>
                      </a:lnTo>
                      <a:lnTo>
                        <a:pt x="11" y="24"/>
                      </a:lnTo>
                      <a:lnTo>
                        <a:pt x="11" y="19"/>
                      </a:lnTo>
                      <a:lnTo>
                        <a:pt x="9" y="5"/>
                      </a:lnTo>
                      <a:lnTo>
                        <a:pt x="7" y="19"/>
                      </a:lnTo>
                      <a:lnTo>
                        <a:pt x="11" y="19"/>
                      </a:lnTo>
                      <a:lnTo>
                        <a:pt x="11" y="24"/>
                      </a:lnTo>
                      <a:lnTo>
                        <a:pt x="7" y="24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3" name="Freeform 440"/>
                <p:cNvSpPr>
                  <a:spLocks/>
                </p:cNvSpPr>
                <p:nvPr/>
              </p:nvSpPr>
              <p:spPr bwMode="auto">
                <a:xfrm>
                  <a:off x="977" y="3297"/>
                  <a:ext cx="12" cy="31"/>
                </a:xfrm>
                <a:custGeom>
                  <a:avLst/>
                  <a:gdLst>
                    <a:gd name="T0" fmla="*/ 0 w 12"/>
                    <a:gd name="T1" fmla="*/ 0 h 31"/>
                    <a:gd name="T2" fmla="*/ 11 w 12"/>
                    <a:gd name="T3" fmla="*/ 0 h 31"/>
                    <a:gd name="T4" fmla="*/ 11 w 12"/>
                    <a:gd name="T5" fmla="*/ 6 h 31"/>
                    <a:gd name="T6" fmla="*/ 8 w 12"/>
                    <a:gd name="T7" fmla="*/ 6 h 31"/>
                    <a:gd name="T8" fmla="*/ 8 w 12"/>
                    <a:gd name="T9" fmla="*/ 30 h 31"/>
                    <a:gd name="T10" fmla="*/ 3 w 12"/>
                    <a:gd name="T11" fmla="*/ 30 h 31"/>
                    <a:gd name="T12" fmla="*/ 3 w 12"/>
                    <a:gd name="T13" fmla="*/ 6 h 31"/>
                    <a:gd name="T14" fmla="*/ 0 w 12"/>
                    <a:gd name="T15" fmla="*/ 6 h 31"/>
                    <a:gd name="T16" fmla="*/ 0 w 1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2"/>
                    <a:gd name="T28" fmla="*/ 0 h 31"/>
                    <a:gd name="T29" fmla="*/ 12 w 1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2" h="31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6"/>
                      </a:lnTo>
                      <a:lnTo>
                        <a:pt x="8" y="6"/>
                      </a:lnTo>
                      <a:lnTo>
                        <a:pt x="8" y="30"/>
                      </a:lnTo>
                      <a:lnTo>
                        <a:pt x="3" y="30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4" name="Freeform 441"/>
                <p:cNvSpPr>
                  <a:spLocks/>
                </p:cNvSpPr>
                <p:nvPr/>
              </p:nvSpPr>
              <p:spPr bwMode="auto">
                <a:xfrm>
                  <a:off x="999" y="3297"/>
                  <a:ext cx="11" cy="31"/>
                </a:xfrm>
                <a:custGeom>
                  <a:avLst/>
                  <a:gdLst>
                    <a:gd name="T0" fmla="*/ 0 w 11"/>
                    <a:gd name="T1" fmla="*/ 0 h 31"/>
                    <a:gd name="T2" fmla="*/ 10 w 11"/>
                    <a:gd name="T3" fmla="*/ 0 h 31"/>
                    <a:gd name="T4" fmla="*/ 10 w 11"/>
                    <a:gd name="T5" fmla="*/ 6 h 31"/>
                    <a:gd name="T6" fmla="*/ 5 w 11"/>
                    <a:gd name="T7" fmla="*/ 6 h 31"/>
                    <a:gd name="T8" fmla="*/ 5 w 11"/>
                    <a:gd name="T9" fmla="*/ 12 h 31"/>
                    <a:gd name="T10" fmla="*/ 9 w 11"/>
                    <a:gd name="T11" fmla="*/ 12 h 31"/>
                    <a:gd name="T12" fmla="*/ 9 w 11"/>
                    <a:gd name="T13" fmla="*/ 17 h 31"/>
                    <a:gd name="T14" fmla="*/ 5 w 11"/>
                    <a:gd name="T15" fmla="*/ 17 h 31"/>
                    <a:gd name="T16" fmla="*/ 5 w 11"/>
                    <a:gd name="T17" fmla="*/ 24 h 31"/>
                    <a:gd name="T18" fmla="*/ 10 w 11"/>
                    <a:gd name="T19" fmla="*/ 24 h 31"/>
                    <a:gd name="T20" fmla="*/ 10 w 11"/>
                    <a:gd name="T21" fmla="*/ 30 h 31"/>
                    <a:gd name="T22" fmla="*/ 0 w 11"/>
                    <a:gd name="T23" fmla="*/ 30 h 31"/>
                    <a:gd name="T24" fmla="*/ 0 w 11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1"/>
                    <a:gd name="T40" fmla="*/ 0 h 31"/>
                    <a:gd name="T41" fmla="*/ 11 w 11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1" h="31">
                      <a:moveTo>
                        <a:pt x="0" y="0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75" name="Freeform 442"/>
                <p:cNvSpPr>
                  <a:spLocks/>
                </p:cNvSpPr>
                <p:nvPr/>
              </p:nvSpPr>
              <p:spPr bwMode="auto">
                <a:xfrm>
                  <a:off x="1021" y="3297"/>
                  <a:ext cx="13" cy="31"/>
                </a:xfrm>
                <a:custGeom>
                  <a:avLst/>
                  <a:gdLst>
                    <a:gd name="T0" fmla="*/ 3 w 13"/>
                    <a:gd name="T1" fmla="*/ 0 h 31"/>
                    <a:gd name="T2" fmla="*/ 9 w 13"/>
                    <a:gd name="T3" fmla="*/ 0 h 31"/>
                    <a:gd name="T4" fmla="*/ 12 w 13"/>
                    <a:gd name="T5" fmla="*/ 4 h 31"/>
                    <a:gd name="T6" fmla="*/ 12 w 13"/>
                    <a:gd name="T7" fmla="*/ 9 h 31"/>
                    <a:gd name="T8" fmla="*/ 7 w 13"/>
                    <a:gd name="T9" fmla="*/ 9 h 31"/>
                    <a:gd name="T10" fmla="*/ 7 w 13"/>
                    <a:gd name="T11" fmla="*/ 6 h 31"/>
                    <a:gd name="T12" fmla="*/ 4 w 13"/>
                    <a:gd name="T13" fmla="*/ 6 h 31"/>
                    <a:gd name="T14" fmla="*/ 4 w 13"/>
                    <a:gd name="T15" fmla="*/ 12 h 31"/>
                    <a:gd name="T16" fmla="*/ 9 w 13"/>
                    <a:gd name="T17" fmla="*/ 12 h 31"/>
                    <a:gd name="T18" fmla="*/ 8 w 13"/>
                    <a:gd name="T19" fmla="*/ 12 h 31"/>
                    <a:gd name="T20" fmla="*/ 12 w 13"/>
                    <a:gd name="T21" fmla="*/ 17 h 31"/>
                    <a:gd name="T22" fmla="*/ 12 w 13"/>
                    <a:gd name="T23" fmla="*/ 26 h 31"/>
                    <a:gd name="T24" fmla="*/ 9 w 13"/>
                    <a:gd name="T25" fmla="*/ 30 h 31"/>
                    <a:gd name="T26" fmla="*/ 3 w 13"/>
                    <a:gd name="T27" fmla="*/ 30 h 31"/>
                    <a:gd name="T28" fmla="*/ 0 w 13"/>
                    <a:gd name="T29" fmla="*/ 26 h 31"/>
                    <a:gd name="T30" fmla="*/ 0 w 13"/>
                    <a:gd name="T31" fmla="*/ 21 h 31"/>
                    <a:gd name="T32" fmla="*/ 4 w 13"/>
                    <a:gd name="T33" fmla="*/ 21 h 31"/>
                    <a:gd name="T34" fmla="*/ 4 w 13"/>
                    <a:gd name="T35" fmla="*/ 24 h 31"/>
                    <a:gd name="T36" fmla="*/ 7 w 13"/>
                    <a:gd name="T37" fmla="*/ 24 h 31"/>
                    <a:gd name="T38" fmla="*/ 7 w 13"/>
                    <a:gd name="T39" fmla="*/ 18 h 31"/>
                    <a:gd name="T40" fmla="*/ 4 w 13"/>
                    <a:gd name="T41" fmla="*/ 18 h 31"/>
                    <a:gd name="T42" fmla="*/ 0 w 13"/>
                    <a:gd name="T43" fmla="*/ 14 h 31"/>
                    <a:gd name="T44" fmla="*/ 0 w 13"/>
                    <a:gd name="T45" fmla="*/ 4 h 31"/>
                    <a:gd name="T46" fmla="*/ 3 w 13"/>
                    <a:gd name="T47" fmla="*/ 0 h 3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3"/>
                    <a:gd name="T73" fmla="*/ 0 h 31"/>
                    <a:gd name="T74" fmla="*/ 13 w 13"/>
                    <a:gd name="T75" fmla="*/ 31 h 3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3" h="31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2" y="4"/>
                      </a:lnTo>
                      <a:lnTo>
                        <a:pt x="12" y="9"/>
                      </a:lnTo>
                      <a:lnTo>
                        <a:pt x="7" y="9"/>
                      </a:lnTo>
                      <a:lnTo>
                        <a:pt x="7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12" y="17"/>
                      </a:lnTo>
                      <a:lnTo>
                        <a:pt x="12" y="26"/>
                      </a:lnTo>
                      <a:lnTo>
                        <a:pt x="9" y="30"/>
                      </a:lnTo>
                      <a:lnTo>
                        <a:pt x="3" y="30"/>
                      </a:lnTo>
                      <a:lnTo>
                        <a:pt x="0" y="26"/>
                      </a:lnTo>
                      <a:lnTo>
                        <a:pt x="0" y="21"/>
                      </a:lnTo>
                      <a:lnTo>
                        <a:pt x="4" y="21"/>
                      </a:lnTo>
                      <a:lnTo>
                        <a:pt x="4" y="24"/>
                      </a:lnTo>
                      <a:lnTo>
                        <a:pt x="7" y="24"/>
                      </a:lnTo>
                      <a:lnTo>
                        <a:pt x="7" y="18"/>
                      </a:lnTo>
                      <a:lnTo>
                        <a:pt x="4" y="18"/>
                      </a:lnTo>
                      <a:lnTo>
                        <a:pt x="0" y="14"/>
                      </a:lnTo>
                      <a:lnTo>
                        <a:pt x="0" y="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59" name="Group 443"/>
              <p:cNvGrpSpPr>
                <a:grpSpLocks/>
              </p:cNvGrpSpPr>
              <p:nvPr/>
            </p:nvGrpSpPr>
            <p:grpSpPr bwMode="auto">
              <a:xfrm>
                <a:off x="1055" y="3297"/>
                <a:ext cx="37" cy="31"/>
                <a:chOff x="1055" y="3297"/>
                <a:chExt cx="37" cy="31"/>
              </a:xfrm>
            </p:grpSpPr>
            <p:sp>
              <p:nvSpPr>
                <p:cNvPr id="100468" name="Freeform 444"/>
                <p:cNvSpPr>
                  <a:spLocks/>
                </p:cNvSpPr>
                <p:nvPr/>
              </p:nvSpPr>
              <p:spPr bwMode="auto">
                <a:xfrm>
                  <a:off x="1055" y="3297"/>
                  <a:ext cx="15" cy="31"/>
                </a:xfrm>
                <a:custGeom>
                  <a:avLst/>
                  <a:gdLst>
                    <a:gd name="T0" fmla="*/ 4 w 15"/>
                    <a:gd name="T1" fmla="*/ 0 h 31"/>
                    <a:gd name="T2" fmla="*/ 11 w 15"/>
                    <a:gd name="T3" fmla="*/ 0 h 31"/>
                    <a:gd name="T4" fmla="*/ 14 w 15"/>
                    <a:gd name="T5" fmla="*/ 5 h 31"/>
                    <a:gd name="T6" fmla="*/ 14 w 15"/>
                    <a:gd name="T7" fmla="*/ 24 h 31"/>
                    <a:gd name="T8" fmla="*/ 11 w 15"/>
                    <a:gd name="T9" fmla="*/ 30 h 31"/>
                    <a:gd name="T10" fmla="*/ 9 w 15"/>
                    <a:gd name="T11" fmla="*/ 30 h 31"/>
                    <a:gd name="T12" fmla="*/ 5 w 15"/>
                    <a:gd name="T13" fmla="*/ 30 h 31"/>
                    <a:gd name="T14" fmla="*/ 4 w 15"/>
                    <a:gd name="T15" fmla="*/ 30 h 31"/>
                    <a:gd name="T16" fmla="*/ 0 w 15"/>
                    <a:gd name="T17" fmla="*/ 24 h 31"/>
                    <a:gd name="T18" fmla="*/ 6 w 15"/>
                    <a:gd name="T19" fmla="*/ 24 h 31"/>
                    <a:gd name="T20" fmla="*/ 9 w 15"/>
                    <a:gd name="T21" fmla="*/ 24 h 31"/>
                    <a:gd name="T22" fmla="*/ 9 w 15"/>
                    <a:gd name="T23" fmla="*/ 6 h 31"/>
                    <a:gd name="T24" fmla="*/ 6 w 15"/>
                    <a:gd name="T25" fmla="*/ 6 h 31"/>
                    <a:gd name="T26" fmla="*/ 6 w 15"/>
                    <a:gd name="T27" fmla="*/ 24 h 31"/>
                    <a:gd name="T28" fmla="*/ 0 w 15"/>
                    <a:gd name="T29" fmla="*/ 24 h 31"/>
                    <a:gd name="T30" fmla="*/ 0 w 15"/>
                    <a:gd name="T31" fmla="*/ 5 h 31"/>
                    <a:gd name="T32" fmla="*/ 4 w 15"/>
                    <a:gd name="T33" fmla="*/ 0 h 3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5"/>
                    <a:gd name="T52" fmla="*/ 0 h 31"/>
                    <a:gd name="T53" fmla="*/ 15 w 15"/>
                    <a:gd name="T54" fmla="*/ 31 h 3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5" h="31">
                      <a:moveTo>
                        <a:pt x="4" y="0"/>
                      </a:moveTo>
                      <a:lnTo>
                        <a:pt x="11" y="0"/>
                      </a:lnTo>
                      <a:lnTo>
                        <a:pt x="14" y="5"/>
                      </a:lnTo>
                      <a:lnTo>
                        <a:pt x="14" y="24"/>
                      </a:lnTo>
                      <a:lnTo>
                        <a:pt x="11" y="30"/>
                      </a:lnTo>
                      <a:lnTo>
                        <a:pt x="9" y="30"/>
                      </a:lnTo>
                      <a:lnTo>
                        <a:pt x="5" y="30"/>
                      </a:lnTo>
                      <a:lnTo>
                        <a:pt x="4" y="30"/>
                      </a:lnTo>
                      <a:lnTo>
                        <a:pt x="0" y="24"/>
                      </a:lnTo>
                      <a:lnTo>
                        <a:pt x="6" y="24"/>
                      </a:lnTo>
                      <a:lnTo>
                        <a:pt x="9" y="24"/>
                      </a:lnTo>
                      <a:lnTo>
                        <a:pt x="9" y="6"/>
                      </a:lnTo>
                      <a:lnTo>
                        <a:pt x="6" y="6"/>
                      </a:lnTo>
                      <a:lnTo>
                        <a:pt x="6" y="24"/>
                      </a:lnTo>
                      <a:lnTo>
                        <a:pt x="0" y="24"/>
                      </a:lnTo>
                      <a:lnTo>
                        <a:pt x="0" y="5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9" name="Freeform 445"/>
                <p:cNvSpPr>
                  <a:spLocks/>
                </p:cNvSpPr>
                <p:nvPr/>
              </p:nvSpPr>
              <p:spPr bwMode="auto">
                <a:xfrm>
                  <a:off x="1082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5 w 10"/>
                    <a:gd name="T7" fmla="*/ 6 h 31"/>
                    <a:gd name="T8" fmla="*/ 5 w 10"/>
                    <a:gd name="T9" fmla="*/ 12 h 31"/>
                    <a:gd name="T10" fmla="*/ 9 w 10"/>
                    <a:gd name="T11" fmla="*/ 12 h 31"/>
                    <a:gd name="T12" fmla="*/ 9 w 10"/>
                    <a:gd name="T13" fmla="*/ 17 h 31"/>
                    <a:gd name="T14" fmla="*/ 5 w 10"/>
                    <a:gd name="T15" fmla="*/ 17 h 31"/>
                    <a:gd name="T16" fmla="*/ 5 w 10"/>
                    <a:gd name="T17" fmla="*/ 30 h 31"/>
                    <a:gd name="T18" fmla="*/ 0 w 10"/>
                    <a:gd name="T19" fmla="*/ 30 h 31"/>
                    <a:gd name="T20" fmla="*/ 0 w 10"/>
                    <a:gd name="T21" fmla="*/ 0 h 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"/>
                    <a:gd name="T34" fmla="*/ 0 h 31"/>
                    <a:gd name="T35" fmla="*/ 10 w 10"/>
                    <a:gd name="T36" fmla="*/ 31 h 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5" y="6"/>
                      </a:lnTo>
                      <a:lnTo>
                        <a:pt x="5" y="12"/>
                      </a:lnTo>
                      <a:lnTo>
                        <a:pt x="9" y="12"/>
                      </a:lnTo>
                      <a:lnTo>
                        <a:pt x="9" y="17"/>
                      </a:lnTo>
                      <a:lnTo>
                        <a:pt x="5" y="17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00460" name="Group 446"/>
              <p:cNvGrpSpPr>
                <a:grpSpLocks/>
              </p:cNvGrpSpPr>
              <p:nvPr/>
            </p:nvGrpSpPr>
            <p:grpSpPr bwMode="auto">
              <a:xfrm>
                <a:off x="1110" y="3297"/>
                <a:ext cx="159" cy="31"/>
                <a:chOff x="1110" y="3297"/>
                <a:chExt cx="159" cy="31"/>
              </a:xfrm>
            </p:grpSpPr>
            <p:sp>
              <p:nvSpPr>
                <p:cNvPr id="100461" name="Freeform 447"/>
                <p:cNvSpPr>
                  <a:spLocks/>
                </p:cNvSpPr>
                <p:nvPr/>
              </p:nvSpPr>
              <p:spPr bwMode="auto">
                <a:xfrm>
                  <a:off x="1110" y="3297"/>
                  <a:ext cx="18" cy="31"/>
                </a:xfrm>
                <a:custGeom>
                  <a:avLst/>
                  <a:gdLst>
                    <a:gd name="T0" fmla="*/ 5 w 18"/>
                    <a:gd name="T1" fmla="*/ 0 h 31"/>
                    <a:gd name="T2" fmla="*/ 12 w 18"/>
                    <a:gd name="T3" fmla="*/ 0 h 31"/>
                    <a:gd name="T4" fmla="*/ 17 w 18"/>
                    <a:gd name="T5" fmla="*/ 30 h 31"/>
                    <a:gd name="T6" fmla="*/ 11 w 18"/>
                    <a:gd name="T7" fmla="*/ 30 h 31"/>
                    <a:gd name="T8" fmla="*/ 10 w 18"/>
                    <a:gd name="T9" fmla="*/ 24 h 31"/>
                    <a:gd name="T10" fmla="*/ 10 w 18"/>
                    <a:gd name="T11" fmla="*/ 19 h 31"/>
                    <a:gd name="T12" fmla="*/ 8 w 18"/>
                    <a:gd name="T13" fmla="*/ 5 h 31"/>
                    <a:gd name="T14" fmla="*/ 7 w 18"/>
                    <a:gd name="T15" fmla="*/ 19 h 31"/>
                    <a:gd name="T16" fmla="*/ 10 w 18"/>
                    <a:gd name="T17" fmla="*/ 19 h 31"/>
                    <a:gd name="T18" fmla="*/ 10 w 18"/>
                    <a:gd name="T19" fmla="*/ 24 h 31"/>
                    <a:gd name="T20" fmla="*/ 7 w 18"/>
                    <a:gd name="T21" fmla="*/ 24 h 31"/>
                    <a:gd name="T22" fmla="*/ 5 w 18"/>
                    <a:gd name="T23" fmla="*/ 30 h 31"/>
                    <a:gd name="T24" fmla="*/ 0 w 18"/>
                    <a:gd name="T25" fmla="*/ 30 h 31"/>
                    <a:gd name="T26" fmla="*/ 5 w 18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8"/>
                    <a:gd name="T43" fmla="*/ 0 h 31"/>
                    <a:gd name="T44" fmla="*/ 18 w 18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8" h="31">
                      <a:moveTo>
                        <a:pt x="5" y="0"/>
                      </a:moveTo>
                      <a:lnTo>
                        <a:pt x="12" y="0"/>
                      </a:lnTo>
                      <a:lnTo>
                        <a:pt x="17" y="30"/>
                      </a:lnTo>
                      <a:lnTo>
                        <a:pt x="11" y="30"/>
                      </a:lnTo>
                      <a:lnTo>
                        <a:pt x="10" y="24"/>
                      </a:lnTo>
                      <a:lnTo>
                        <a:pt x="10" y="19"/>
                      </a:lnTo>
                      <a:lnTo>
                        <a:pt x="8" y="5"/>
                      </a:lnTo>
                      <a:lnTo>
                        <a:pt x="7" y="19"/>
                      </a:lnTo>
                      <a:lnTo>
                        <a:pt x="10" y="19"/>
                      </a:lnTo>
                      <a:lnTo>
                        <a:pt x="10" y="24"/>
                      </a:lnTo>
                      <a:lnTo>
                        <a:pt x="7" y="24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2" name="Freeform 448"/>
                <p:cNvSpPr>
                  <a:spLocks/>
                </p:cNvSpPr>
                <p:nvPr/>
              </p:nvSpPr>
              <p:spPr bwMode="auto">
                <a:xfrm>
                  <a:off x="1136" y="3297"/>
                  <a:ext cx="22" cy="31"/>
                </a:xfrm>
                <a:custGeom>
                  <a:avLst/>
                  <a:gdLst>
                    <a:gd name="T0" fmla="*/ 0 w 22"/>
                    <a:gd name="T1" fmla="*/ 30 h 31"/>
                    <a:gd name="T2" fmla="*/ 6 w 22"/>
                    <a:gd name="T3" fmla="*/ 30 h 31"/>
                    <a:gd name="T4" fmla="*/ 6 w 22"/>
                    <a:gd name="T5" fmla="*/ 14 h 31"/>
                    <a:gd name="T6" fmla="*/ 9 w 22"/>
                    <a:gd name="T7" fmla="*/ 30 h 31"/>
                    <a:gd name="T8" fmla="*/ 12 w 22"/>
                    <a:gd name="T9" fmla="*/ 30 h 31"/>
                    <a:gd name="T10" fmla="*/ 15 w 22"/>
                    <a:gd name="T11" fmla="*/ 14 h 31"/>
                    <a:gd name="T12" fmla="*/ 15 w 22"/>
                    <a:gd name="T13" fmla="*/ 30 h 31"/>
                    <a:gd name="T14" fmla="*/ 21 w 22"/>
                    <a:gd name="T15" fmla="*/ 30 h 31"/>
                    <a:gd name="T16" fmla="*/ 21 w 22"/>
                    <a:gd name="T17" fmla="*/ 0 h 31"/>
                    <a:gd name="T18" fmla="*/ 13 w 22"/>
                    <a:gd name="T19" fmla="*/ 0 h 31"/>
                    <a:gd name="T20" fmla="*/ 10 w 22"/>
                    <a:gd name="T21" fmla="*/ 14 h 31"/>
                    <a:gd name="T22" fmla="*/ 9 w 22"/>
                    <a:gd name="T23" fmla="*/ 0 h 31"/>
                    <a:gd name="T24" fmla="*/ 0 w 22"/>
                    <a:gd name="T25" fmla="*/ 0 h 31"/>
                    <a:gd name="T26" fmla="*/ 0 w 22"/>
                    <a:gd name="T27" fmla="*/ 3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2"/>
                    <a:gd name="T43" fmla="*/ 0 h 31"/>
                    <a:gd name="T44" fmla="*/ 22 w 22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2" h="31">
                      <a:moveTo>
                        <a:pt x="0" y="30"/>
                      </a:moveTo>
                      <a:lnTo>
                        <a:pt x="6" y="30"/>
                      </a:lnTo>
                      <a:lnTo>
                        <a:pt x="6" y="14"/>
                      </a:lnTo>
                      <a:lnTo>
                        <a:pt x="9" y="30"/>
                      </a:lnTo>
                      <a:lnTo>
                        <a:pt x="12" y="30"/>
                      </a:lnTo>
                      <a:lnTo>
                        <a:pt x="15" y="14"/>
                      </a:lnTo>
                      <a:lnTo>
                        <a:pt x="15" y="30"/>
                      </a:lnTo>
                      <a:lnTo>
                        <a:pt x="21" y="30"/>
                      </a:lnTo>
                      <a:lnTo>
                        <a:pt x="21" y="0"/>
                      </a:lnTo>
                      <a:lnTo>
                        <a:pt x="13" y="0"/>
                      </a:lnTo>
                      <a:lnTo>
                        <a:pt x="10" y="14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3" name="Freeform 449"/>
                <p:cNvSpPr>
                  <a:spLocks/>
                </p:cNvSpPr>
                <p:nvPr/>
              </p:nvSpPr>
              <p:spPr bwMode="auto">
                <a:xfrm>
                  <a:off x="1170" y="3297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9 w 10"/>
                    <a:gd name="T3" fmla="*/ 0 h 31"/>
                    <a:gd name="T4" fmla="*/ 9 w 10"/>
                    <a:gd name="T5" fmla="*/ 6 h 31"/>
                    <a:gd name="T6" fmla="*/ 4 w 10"/>
                    <a:gd name="T7" fmla="*/ 6 h 31"/>
                    <a:gd name="T8" fmla="*/ 4 w 10"/>
                    <a:gd name="T9" fmla="*/ 12 h 31"/>
                    <a:gd name="T10" fmla="*/ 8 w 10"/>
                    <a:gd name="T11" fmla="*/ 12 h 31"/>
                    <a:gd name="T12" fmla="*/ 8 w 10"/>
                    <a:gd name="T13" fmla="*/ 17 h 31"/>
                    <a:gd name="T14" fmla="*/ 4 w 10"/>
                    <a:gd name="T15" fmla="*/ 17 h 31"/>
                    <a:gd name="T16" fmla="*/ 4 w 10"/>
                    <a:gd name="T17" fmla="*/ 24 h 31"/>
                    <a:gd name="T18" fmla="*/ 9 w 10"/>
                    <a:gd name="T19" fmla="*/ 24 h 31"/>
                    <a:gd name="T20" fmla="*/ 9 w 10"/>
                    <a:gd name="T21" fmla="*/ 30 h 31"/>
                    <a:gd name="T22" fmla="*/ 0 w 10"/>
                    <a:gd name="T23" fmla="*/ 30 h 31"/>
                    <a:gd name="T24" fmla="*/ 0 w 10"/>
                    <a:gd name="T25" fmla="*/ 0 h 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0"/>
                    <a:gd name="T40" fmla="*/ 0 h 31"/>
                    <a:gd name="T41" fmla="*/ 10 w 10"/>
                    <a:gd name="T42" fmla="*/ 31 h 3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0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4" y="6"/>
                      </a:lnTo>
                      <a:lnTo>
                        <a:pt x="4" y="12"/>
                      </a:lnTo>
                      <a:lnTo>
                        <a:pt x="8" y="12"/>
                      </a:lnTo>
                      <a:lnTo>
                        <a:pt x="8" y="17"/>
                      </a:lnTo>
                      <a:lnTo>
                        <a:pt x="4" y="17"/>
                      </a:lnTo>
                      <a:lnTo>
                        <a:pt x="4" y="24"/>
                      </a:lnTo>
                      <a:lnTo>
                        <a:pt x="9" y="24"/>
                      </a:lnTo>
                      <a:lnTo>
                        <a:pt x="9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4" name="Freeform 450"/>
                <p:cNvSpPr>
                  <a:spLocks/>
                </p:cNvSpPr>
                <p:nvPr/>
              </p:nvSpPr>
              <p:spPr bwMode="auto">
                <a:xfrm>
                  <a:off x="1191" y="3297"/>
                  <a:ext cx="13" cy="31"/>
                </a:xfrm>
                <a:custGeom>
                  <a:avLst/>
                  <a:gdLst>
                    <a:gd name="T0" fmla="*/ 0 w 13"/>
                    <a:gd name="T1" fmla="*/ 0 h 31"/>
                    <a:gd name="T2" fmla="*/ 9 w 13"/>
                    <a:gd name="T3" fmla="*/ 0 h 31"/>
                    <a:gd name="T4" fmla="*/ 12 w 13"/>
                    <a:gd name="T5" fmla="*/ 3 h 31"/>
                    <a:gd name="T6" fmla="*/ 12 w 13"/>
                    <a:gd name="T7" fmla="*/ 12 h 31"/>
                    <a:gd name="T8" fmla="*/ 9 w 13"/>
                    <a:gd name="T9" fmla="*/ 15 h 31"/>
                    <a:gd name="T10" fmla="*/ 12 w 13"/>
                    <a:gd name="T11" fmla="*/ 18 h 31"/>
                    <a:gd name="T12" fmla="*/ 12 w 13"/>
                    <a:gd name="T13" fmla="*/ 30 h 31"/>
                    <a:gd name="T14" fmla="*/ 7 w 13"/>
                    <a:gd name="T15" fmla="*/ 30 h 31"/>
                    <a:gd name="T16" fmla="*/ 7 w 13"/>
                    <a:gd name="T17" fmla="*/ 18 h 31"/>
                    <a:gd name="T18" fmla="*/ 7 w 13"/>
                    <a:gd name="T19" fmla="*/ 12 h 31"/>
                    <a:gd name="T20" fmla="*/ 5 w 13"/>
                    <a:gd name="T21" fmla="*/ 12 h 31"/>
                    <a:gd name="T22" fmla="*/ 5 w 13"/>
                    <a:gd name="T23" fmla="*/ 5 h 31"/>
                    <a:gd name="T24" fmla="*/ 7 w 13"/>
                    <a:gd name="T25" fmla="*/ 5 h 31"/>
                    <a:gd name="T26" fmla="*/ 7 w 13"/>
                    <a:gd name="T27" fmla="*/ 12 h 31"/>
                    <a:gd name="T28" fmla="*/ 7 w 13"/>
                    <a:gd name="T29" fmla="*/ 18 h 31"/>
                    <a:gd name="T30" fmla="*/ 5 w 13"/>
                    <a:gd name="T31" fmla="*/ 18 h 31"/>
                    <a:gd name="T32" fmla="*/ 5 w 13"/>
                    <a:gd name="T33" fmla="*/ 30 h 31"/>
                    <a:gd name="T34" fmla="*/ 0 w 13"/>
                    <a:gd name="T35" fmla="*/ 30 h 31"/>
                    <a:gd name="T36" fmla="*/ 0 w 13"/>
                    <a:gd name="T37" fmla="*/ 0 h 3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3"/>
                    <a:gd name="T58" fmla="*/ 0 h 31"/>
                    <a:gd name="T59" fmla="*/ 13 w 13"/>
                    <a:gd name="T60" fmla="*/ 31 h 31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3" h="31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12" y="3"/>
                      </a:lnTo>
                      <a:lnTo>
                        <a:pt x="12" y="12"/>
                      </a:lnTo>
                      <a:lnTo>
                        <a:pt x="9" y="15"/>
                      </a:lnTo>
                      <a:lnTo>
                        <a:pt x="12" y="18"/>
                      </a:lnTo>
                      <a:lnTo>
                        <a:pt x="12" y="30"/>
                      </a:lnTo>
                      <a:lnTo>
                        <a:pt x="7" y="30"/>
                      </a:lnTo>
                      <a:lnTo>
                        <a:pt x="7" y="18"/>
                      </a:lnTo>
                      <a:lnTo>
                        <a:pt x="7" y="12"/>
                      </a:lnTo>
                      <a:lnTo>
                        <a:pt x="5" y="12"/>
                      </a:lnTo>
                      <a:lnTo>
                        <a:pt x="5" y="5"/>
                      </a:lnTo>
                      <a:lnTo>
                        <a:pt x="7" y="5"/>
                      </a:lnTo>
                      <a:lnTo>
                        <a:pt x="7" y="12"/>
                      </a:lnTo>
                      <a:lnTo>
                        <a:pt x="7" y="18"/>
                      </a:lnTo>
                      <a:lnTo>
                        <a:pt x="5" y="18"/>
                      </a:lnTo>
                      <a:lnTo>
                        <a:pt x="5" y="30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5" name="Freeform 451"/>
                <p:cNvSpPr>
                  <a:spLocks/>
                </p:cNvSpPr>
                <p:nvPr/>
              </p:nvSpPr>
              <p:spPr bwMode="auto">
                <a:xfrm>
                  <a:off x="1215" y="3297"/>
                  <a:ext cx="1" cy="31"/>
                </a:xfrm>
                <a:custGeom>
                  <a:avLst/>
                  <a:gdLst>
                    <a:gd name="T0" fmla="*/ 0 w 1"/>
                    <a:gd name="T1" fmla="*/ 0 h 31"/>
                    <a:gd name="T2" fmla="*/ 0 w 1"/>
                    <a:gd name="T3" fmla="*/ 30 h 31"/>
                    <a:gd name="T4" fmla="*/ 0 w 1"/>
                    <a:gd name="T5" fmla="*/ 0 h 3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31"/>
                    <a:gd name="T11" fmla="*/ 1 w 1"/>
                    <a:gd name="T12" fmla="*/ 31 h 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31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6" name="Freeform 452"/>
                <p:cNvSpPr>
                  <a:spLocks/>
                </p:cNvSpPr>
                <p:nvPr/>
              </p:nvSpPr>
              <p:spPr bwMode="auto">
                <a:xfrm>
                  <a:off x="1226" y="3297"/>
                  <a:ext cx="15" cy="31"/>
                </a:xfrm>
                <a:custGeom>
                  <a:avLst/>
                  <a:gdLst>
                    <a:gd name="T0" fmla="*/ 4 w 15"/>
                    <a:gd name="T1" fmla="*/ 0 h 31"/>
                    <a:gd name="T2" fmla="*/ 10 w 15"/>
                    <a:gd name="T3" fmla="*/ 0 h 31"/>
                    <a:gd name="T4" fmla="*/ 14 w 15"/>
                    <a:gd name="T5" fmla="*/ 4 h 31"/>
                    <a:gd name="T6" fmla="*/ 14 w 15"/>
                    <a:gd name="T7" fmla="*/ 12 h 31"/>
                    <a:gd name="T8" fmla="*/ 10 w 15"/>
                    <a:gd name="T9" fmla="*/ 12 h 31"/>
                    <a:gd name="T10" fmla="*/ 10 w 15"/>
                    <a:gd name="T11" fmla="*/ 6 h 31"/>
                    <a:gd name="T12" fmla="*/ 5 w 15"/>
                    <a:gd name="T13" fmla="*/ 6 h 31"/>
                    <a:gd name="T14" fmla="*/ 5 w 15"/>
                    <a:gd name="T15" fmla="*/ 24 h 31"/>
                    <a:gd name="T16" fmla="*/ 10 w 15"/>
                    <a:gd name="T17" fmla="*/ 24 h 31"/>
                    <a:gd name="T18" fmla="*/ 10 w 15"/>
                    <a:gd name="T19" fmla="*/ 17 h 31"/>
                    <a:gd name="T20" fmla="*/ 14 w 15"/>
                    <a:gd name="T21" fmla="*/ 17 h 31"/>
                    <a:gd name="T22" fmla="*/ 14 w 15"/>
                    <a:gd name="T23" fmla="*/ 26 h 31"/>
                    <a:gd name="T24" fmla="*/ 10 w 15"/>
                    <a:gd name="T25" fmla="*/ 30 h 31"/>
                    <a:gd name="T26" fmla="*/ 4 w 15"/>
                    <a:gd name="T27" fmla="*/ 30 h 31"/>
                    <a:gd name="T28" fmla="*/ 0 w 15"/>
                    <a:gd name="T29" fmla="*/ 26 h 31"/>
                    <a:gd name="T30" fmla="*/ 0 w 15"/>
                    <a:gd name="T31" fmla="*/ 4 h 31"/>
                    <a:gd name="T32" fmla="*/ 4 w 15"/>
                    <a:gd name="T33" fmla="*/ 0 h 3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5"/>
                    <a:gd name="T52" fmla="*/ 0 h 31"/>
                    <a:gd name="T53" fmla="*/ 15 w 15"/>
                    <a:gd name="T54" fmla="*/ 31 h 3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5" h="31">
                      <a:moveTo>
                        <a:pt x="4" y="0"/>
                      </a:moveTo>
                      <a:lnTo>
                        <a:pt x="10" y="0"/>
                      </a:lnTo>
                      <a:lnTo>
                        <a:pt x="14" y="4"/>
                      </a:lnTo>
                      <a:lnTo>
                        <a:pt x="14" y="12"/>
                      </a:lnTo>
                      <a:lnTo>
                        <a:pt x="10" y="12"/>
                      </a:lnTo>
                      <a:lnTo>
                        <a:pt x="10" y="6"/>
                      </a:lnTo>
                      <a:lnTo>
                        <a:pt x="5" y="6"/>
                      </a:lnTo>
                      <a:lnTo>
                        <a:pt x="5" y="24"/>
                      </a:lnTo>
                      <a:lnTo>
                        <a:pt x="10" y="24"/>
                      </a:lnTo>
                      <a:lnTo>
                        <a:pt x="10" y="17"/>
                      </a:lnTo>
                      <a:lnTo>
                        <a:pt x="14" y="17"/>
                      </a:lnTo>
                      <a:lnTo>
                        <a:pt x="14" y="26"/>
                      </a:lnTo>
                      <a:lnTo>
                        <a:pt x="10" y="30"/>
                      </a:lnTo>
                      <a:lnTo>
                        <a:pt x="4" y="30"/>
                      </a:lnTo>
                      <a:lnTo>
                        <a:pt x="0" y="26"/>
                      </a:lnTo>
                      <a:lnTo>
                        <a:pt x="0" y="4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467" name="Freeform 453"/>
                <p:cNvSpPr>
                  <a:spLocks/>
                </p:cNvSpPr>
                <p:nvPr/>
              </p:nvSpPr>
              <p:spPr bwMode="auto">
                <a:xfrm>
                  <a:off x="1250" y="3297"/>
                  <a:ext cx="19" cy="31"/>
                </a:xfrm>
                <a:custGeom>
                  <a:avLst/>
                  <a:gdLst>
                    <a:gd name="T0" fmla="*/ 5 w 19"/>
                    <a:gd name="T1" fmla="*/ 0 h 31"/>
                    <a:gd name="T2" fmla="*/ 13 w 19"/>
                    <a:gd name="T3" fmla="*/ 0 h 31"/>
                    <a:gd name="T4" fmla="*/ 18 w 19"/>
                    <a:gd name="T5" fmla="*/ 30 h 31"/>
                    <a:gd name="T6" fmla="*/ 12 w 19"/>
                    <a:gd name="T7" fmla="*/ 30 h 31"/>
                    <a:gd name="T8" fmla="*/ 11 w 19"/>
                    <a:gd name="T9" fmla="*/ 24 h 31"/>
                    <a:gd name="T10" fmla="*/ 11 w 19"/>
                    <a:gd name="T11" fmla="*/ 19 h 31"/>
                    <a:gd name="T12" fmla="*/ 9 w 19"/>
                    <a:gd name="T13" fmla="*/ 5 h 31"/>
                    <a:gd name="T14" fmla="*/ 7 w 19"/>
                    <a:gd name="T15" fmla="*/ 19 h 31"/>
                    <a:gd name="T16" fmla="*/ 11 w 19"/>
                    <a:gd name="T17" fmla="*/ 19 h 31"/>
                    <a:gd name="T18" fmla="*/ 11 w 19"/>
                    <a:gd name="T19" fmla="*/ 24 h 31"/>
                    <a:gd name="T20" fmla="*/ 7 w 19"/>
                    <a:gd name="T21" fmla="*/ 24 h 31"/>
                    <a:gd name="T22" fmla="*/ 6 w 19"/>
                    <a:gd name="T23" fmla="*/ 30 h 31"/>
                    <a:gd name="T24" fmla="*/ 0 w 19"/>
                    <a:gd name="T25" fmla="*/ 30 h 31"/>
                    <a:gd name="T26" fmla="*/ 5 w 19"/>
                    <a:gd name="T27" fmla="*/ 0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9"/>
                    <a:gd name="T43" fmla="*/ 0 h 31"/>
                    <a:gd name="T44" fmla="*/ 19 w 19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9" h="31">
                      <a:moveTo>
                        <a:pt x="5" y="0"/>
                      </a:moveTo>
                      <a:lnTo>
                        <a:pt x="13" y="0"/>
                      </a:lnTo>
                      <a:lnTo>
                        <a:pt x="18" y="30"/>
                      </a:lnTo>
                      <a:lnTo>
                        <a:pt x="12" y="30"/>
                      </a:lnTo>
                      <a:lnTo>
                        <a:pt x="11" y="24"/>
                      </a:lnTo>
                      <a:lnTo>
                        <a:pt x="11" y="19"/>
                      </a:lnTo>
                      <a:lnTo>
                        <a:pt x="9" y="5"/>
                      </a:lnTo>
                      <a:lnTo>
                        <a:pt x="7" y="19"/>
                      </a:lnTo>
                      <a:lnTo>
                        <a:pt x="11" y="19"/>
                      </a:lnTo>
                      <a:lnTo>
                        <a:pt x="11" y="24"/>
                      </a:lnTo>
                      <a:lnTo>
                        <a:pt x="7" y="24"/>
                      </a:lnTo>
                      <a:lnTo>
                        <a:pt x="6" y="30"/>
                      </a:lnTo>
                      <a:lnTo>
                        <a:pt x="0" y="30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8000"/>
                </a:solidFill>
                <a:ln w="12700" cap="rnd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pic>
          <p:nvPicPr>
            <p:cNvPr id="100455" name="Picture 454" descr="j0295182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6" y="3072"/>
              <a:ext cx="52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0358" name="Rectangle 455"/>
          <p:cNvSpPr>
            <a:spLocks noChangeArrowheads="1"/>
          </p:cNvSpPr>
          <p:nvPr/>
        </p:nvSpPr>
        <p:spPr bwMode="auto">
          <a:xfrm>
            <a:off x="5773738" y="2725738"/>
            <a:ext cx="24749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Minimum Wage</a:t>
            </a:r>
          </a:p>
        </p:txBody>
      </p:sp>
      <p:sp>
        <p:nvSpPr>
          <p:cNvPr id="100359" name="Rectangle 456"/>
          <p:cNvSpPr>
            <a:spLocks noChangeArrowheads="1"/>
          </p:cNvSpPr>
          <p:nvPr/>
        </p:nvSpPr>
        <p:spPr bwMode="auto">
          <a:xfrm>
            <a:off x="4818063" y="4819650"/>
            <a:ext cx="342900" cy="43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0</a:t>
            </a:r>
          </a:p>
        </p:txBody>
      </p:sp>
      <p:sp>
        <p:nvSpPr>
          <p:cNvPr id="100360" name="Rectangle 457"/>
          <p:cNvSpPr>
            <a:spLocks noChangeArrowheads="1"/>
          </p:cNvSpPr>
          <p:nvPr/>
        </p:nvSpPr>
        <p:spPr bwMode="auto">
          <a:xfrm>
            <a:off x="4818063" y="4078288"/>
            <a:ext cx="342900" cy="439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2</a:t>
            </a:r>
          </a:p>
        </p:txBody>
      </p:sp>
      <p:sp>
        <p:nvSpPr>
          <p:cNvPr id="100361" name="Rectangle 458"/>
          <p:cNvSpPr>
            <a:spLocks noChangeArrowheads="1"/>
          </p:cNvSpPr>
          <p:nvPr/>
        </p:nvSpPr>
        <p:spPr bwMode="auto">
          <a:xfrm>
            <a:off x="4818063" y="3332163"/>
            <a:ext cx="342900" cy="439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4</a:t>
            </a:r>
          </a:p>
        </p:txBody>
      </p:sp>
      <p:sp>
        <p:nvSpPr>
          <p:cNvPr id="100362" name="Rectangle 459"/>
          <p:cNvSpPr>
            <a:spLocks noChangeArrowheads="1"/>
          </p:cNvSpPr>
          <p:nvPr/>
        </p:nvSpPr>
        <p:spPr bwMode="auto">
          <a:xfrm>
            <a:off x="4881563" y="5260975"/>
            <a:ext cx="828675" cy="43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1960</a:t>
            </a:r>
          </a:p>
        </p:txBody>
      </p:sp>
      <p:sp>
        <p:nvSpPr>
          <p:cNvPr id="100363" name="Rectangle 460"/>
          <p:cNvSpPr>
            <a:spLocks noChangeArrowheads="1"/>
          </p:cNvSpPr>
          <p:nvPr/>
        </p:nvSpPr>
        <p:spPr bwMode="auto">
          <a:xfrm>
            <a:off x="5843588" y="5260975"/>
            <a:ext cx="828675" cy="43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1970</a:t>
            </a:r>
          </a:p>
        </p:txBody>
      </p:sp>
      <p:sp>
        <p:nvSpPr>
          <p:cNvPr id="100364" name="Rectangle 461"/>
          <p:cNvSpPr>
            <a:spLocks noChangeArrowheads="1"/>
          </p:cNvSpPr>
          <p:nvPr/>
        </p:nvSpPr>
        <p:spPr bwMode="auto">
          <a:xfrm>
            <a:off x="6799263" y="5260975"/>
            <a:ext cx="828675" cy="43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1980</a:t>
            </a:r>
          </a:p>
        </p:txBody>
      </p:sp>
      <p:sp>
        <p:nvSpPr>
          <p:cNvPr id="100365" name="Rectangle 462"/>
          <p:cNvSpPr>
            <a:spLocks noChangeArrowheads="1"/>
          </p:cNvSpPr>
          <p:nvPr/>
        </p:nvSpPr>
        <p:spPr bwMode="auto">
          <a:xfrm>
            <a:off x="7761288" y="5260975"/>
            <a:ext cx="828675" cy="43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300" b="1"/>
              <a:t>1990</a:t>
            </a:r>
          </a:p>
        </p:txBody>
      </p:sp>
      <p:sp>
        <p:nvSpPr>
          <p:cNvPr id="100366" name="Rectangle 463"/>
          <p:cNvSpPr>
            <a:spLocks noChangeArrowheads="1"/>
          </p:cNvSpPr>
          <p:nvPr/>
        </p:nvSpPr>
        <p:spPr bwMode="auto">
          <a:xfrm>
            <a:off x="5122863" y="2895600"/>
            <a:ext cx="365125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600" b="1"/>
              <a:t>$</a:t>
            </a:r>
          </a:p>
        </p:txBody>
      </p:sp>
      <p:sp>
        <p:nvSpPr>
          <p:cNvPr id="100367" name="Line 464"/>
          <p:cNvSpPr>
            <a:spLocks noChangeShapeType="1"/>
          </p:cNvSpPr>
          <p:nvPr/>
        </p:nvSpPr>
        <p:spPr bwMode="auto">
          <a:xfrm>
            <a:off x="5257800" y="3429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8" name="Line 465"/>
          <p:cNvSpPr>
            <a:spLocks noChangeShapeType="1"/>
          </p:cNvSpPr>
          <p:nvPr/>
        </p:nvSpPr>
        <p:spPr bwMode="auto">
          <a:xfrm>
            <a:off x="5257800" y="5105400"/>
            <a:ext cx="3078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9" name="Rectangle 466"/>
          <p:cNvSpPr>
            <a:spLocks noChangeArrowheads="1"/>
          </p:cNvSpPr>
          <p:nvPr/>
        </p:nvSpPr>
        <p:spPr bwMode="auto">
          <a:xfrm>
            <a:off x="4567238" y="1900238"/>
            <a:ext cx="847725" cy="758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4400">
                <a:solidFill>
                  <a:srgbClr val="000099"/>
                </a:solidFill>
                <a:latin typeface="Wingdings" pitchFamily="2" charset="2"/>
              </a:rPr>
              <a:t></a:t>
            </a:r>
          </a:p>
        </p:txBody>
      </p:sp>
      <p:grpSp>
        <p:nvGrpSpPr>
          <p:cNvPr id="100370" name="Group 467"/>
          <p:cNvGrpSpPr>
            <a:grpSpLocks/>
          </p:cNvGrpSpPr>
          <p:nvPr/>
        </p:nvGrpSpPr>
        <p:grpSpPr bwMode="auto">
          <a:xfrm>
            <a:off x="5257800" y="3562350"/>
            <a:ext cx="3124200" cy="1166813"/>
            <a:chOff x="3312" y="2244"/>
            <a:chExt cx="1968" cy="735"/>
          </a:xfrm>
        </p:grpSpPr>
        <p:sp>
          <p:nvSpPr>
            <p:cNvPr id="100373" name="Line 468"/>
            <p:cNvSpPr>
              <a:spLocks noChangeShapeType="1"/>
            </p:cNvSpPr>
            <p:nvPr/>
          </p:nvSpPr>
          <p:spPr bwMode="auto">
            <a:xfrm>
              <a:off x="3317" y="2244"/>
              <a:ext cx="1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4" name="Freeform 469"/>
            <p:cNvSpPr>
              <a:spLocks/>
            </p:cNvSpPr>
            <p:nvPr/>
          </p:nvSpPr>
          <p:spPr bwMode="auto">
            <a:xfrm>
              <a:off x="3342" y="2326"/>
              <a:ext cx="1813" cy="622"/>
            </a:xfrm>
            <a:custGeom>
              <a:avLst/>
              <a:gdLst>
                <a:gd name="T0" fmla="*/ 0 w 1813"/>
                <a:gd name="T1" fmla="*/ 622 h 622"/>
                <a:gd name="T2" fmla="*/ 611 w 1813"/>
                <a:gd name="T3" fmla="*/ 511 h 622"/>
                <a:gd name="T4" fmla="*/ 1194 w 1813"/>
                <a:gd name="T5" fmla="*/ 158 h 622"/>
                <a:gd name="T6" fmla="*/ 1813 w 1813"/>
                <a:gd name="T7" fmla="*/ 0 h 6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3"/>
                <a:gd name="T13" fmla="*/ 0 h 622"/>
                <a:gd name="T14" fmla="*/ 1813 w 1813"/>
                <a:gd name="T15" fmla="*/ 622 h 6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3" h="622">
                  <a:moveTo>
                    <a:pt x="0" y="622"/>
                  </a:moveTo>
                  <a:lnTo>
                    <a:pt x="611" y="511"/>
                  </a:lnTo>
                  <a:lnTo>
                    <a:pt x="1194" y="158"/>
                  </a:lnTo>
                  <a:lnTo>
                    <a:pt x="1813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375" name="Oval 470"/>
            <p:cNvSpPr>
              <a:spLocks noChangeArrowheads="1"/>
            </p:cNvSpPr>
            <p:nvPr/>
          </p:nvSpPr>
          <p:spPr bwMode="auto">
            <a:xfrm>
              <a:off x="3314" y="2928"/>
              <a:ext cx="49" cy="5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76" name="Oval 471"/>
            <p:cNvSpPr>
              <a:spLocks noChangeArrowheads="1"/>
            </p:cNvSpPr>
            <p:nvPr/>
          </p:nvSpPr>
          <p:spPr bwMode="auto">
            <a:xfrm>
              <a:off x="3936" y="2828"/>
              <a:ext cx="50" cy="52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77" name="Oval 472"/>
            <p:cNvSpPr>
              <a:spLocks noChangeArrowheads="1"/>
            </p:cNvSpPr>
            <p:nvPr/>
          </p:nvSpPr>
          <p:spPr bwMode="auto">
            <a:xfrm>
              <a:off x="4512" y="2448"/>
              <a:ext cx="49" cy="52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78" name="Oval 473"/>
            <p:cNvSpPr>
              <a:spLocks noChangeArrowheads="1"/>
            </p:cNvSpPr>
            <p:nvPr/>
          </p:nvSpPr>
          <p:spPr bwMode="auto">
            <a:xfrm>
              <a:off x="5128" y="2300"/>
              <a:ext cx="49" cy="52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379" name="Line 474"/>
            <p:cNvSpPr>
              <a:spLocks noChangeShapeType="1"/>
            </p:cNvSpPr>
            <p:nvPr/>
          </p:nvSpPr>
          <p:spPr bwMode="auto">
            <a:xfrm>
              <a:off x="3312" y="2736"/>
              <a:ext cx="196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80" name="Line 475"/>
            <p:cNvSpPr>
              <a:spLocks noChangeShapeType="1"/>
            </p:cNvSpPr>
            <p:nvPr/>
          </p:nvSpPr>
          <p:spPr bwMode="auto">
            <a:xfrm>
              <a:off x="3312" y="2256"/>
              <a:ext cx="196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0371" name="Rectangle 476"/>
          <p:cNvSpPr>
            <a:spLocks noChangeArrowheads="1"/>
          </p:cNvSpPr>
          <p:nvPr/>
        </p:nvSpPr>
        <p:spPr bwMode="auto">
          <a:xfrm>
            <a:off x="4173538" y="2039938"/>
            <a:ext cx="48355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Good Presentation</a:t>
            </a:r>
          </a:p>
        </p:txBody>
      </p:sp>
      <p:sp>
        <p:nvSpPr>
          <p:cNvPr id="100372" name="TextBox 478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80B8C558-4F1A-4DF2-B92F-38BC384BB835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10137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137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C229BABC-7CE8-4822-B5AB-D43077FEEC2F}" type="slidenum">
              <a:rPr lang="en-US" sz="1000"/>
              <a:pPr algn="r" defTabSz="852488"/>
              <a:t>54</a:t>
            </a:fld>
            <a:endParaRPr lang="en-US" sz="1000"/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Graphical Errors: </a:t>
            </a:r>
            <a:br>
              <a:rPr lang="en-US" smtClean="0"/>
            </a:br>
            <a:r>
              <a:rPr lang="en-US" smtClean="0"/>
              <a:t>No Relative Basis</a:t>
            </a:r>
          </a:p>
        </p:txBody>
      </p:sp>
      <p:sp>
        <p:nvSpPr>
          <p:cNvPr id="101381" name="Rectangle 3"/>
          <p:cNvSpPr>
            <a:spLocks noChangeArrowheads="1"/>
          </p:cNvSpPr>
          <p:nvPr/>
        </p:nvSpPr>
        <p:spPr bwMode="auto">
          <a:xfrm>
            <a:off x="1968500" y="2578100"/>
            <a:ext cx="2384425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A’s received by students.</a:t>
            </a:r>
          </a:p>
        </p:txBody>
      </p:sp>
      <p:sp>
        <p:nvSpPr>
          <p:cNvPr id="101382" name="Rectangle 4"/>
          <p:cNvSpPr>
            <a:spLocks noChangeArrowheads="1"/>
          </p:cNvSpPr>
          <p:nvPr/>
        </p:nvSpPr>
        <p:spPr bwMode="auto">
          <a:xfrm>
            <a:off x="5930900" y="2578100"/>
            <a:ext cx="2233613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A’s received by students.</a:t>
            </a:r>
          </a:p>
        </p:txBody>
      </p:sp>
      <p:sp>
        <p:nvSpPr>
          <p:cNvPr id="101383" name="Rectangle 5"/>
          <p:cNvSpPr>
            <a:spLocks noChangeArrowheads="1"/>
          </p:cNvSpPr>
          <p:nvPr/>
        </p:nvSpPr>
        <p:spPr bwMode="auto">
          <a:xfrm>
            <a:off x="1071563" y="2057400"/>
            <a:ext cx="40608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Bad Presentation</a:t>
            </a:r>
          </a:p>
        </p:txBody>
      </p:sp>
      <p:sp>
        <p:nvSpPr>
          <p:cNvPr id="101384" name="Freeform 6"/>
          <p:cNvSpPr>
            <a:spLocks/>
          </p:cNvSpPr>
          <p:nvPr/>
        </p:nvSpPr>
        <p:spPr bwMode="auto">
          <a:xfrm>
            <a:off x="1671638" y="3716338"/>
            <a:ext cx="469900" cy="1312862"/>
          </a:xfrm>
          <a:custGeom>
            <a:avLst/>
            <a:gdLst>
              <a:gd name="T0" fmla="*/ 0 w 296"/>
              <a:gd name="T1" fmla="*/ 0 h 804"/>
              <a:gd name="T2" fmla="*/ 743446779 w 296"/>
              <a:gd name="T3" fmla="*/ 0 h 804"/>
              <a:gd name="T4" fmla="*/ 743446779 w 296"/>
              <a:gd name="T5" fmla="*/ 2141122962 h 804"/>
              <a:gd name="T6" fmla="*/ 0 w 296"/>
              <a:gd name="T7" fmla="*/ 2141122962 h 804"/>
              <a:gd name="T8" fmla="*/ 0 w 296"/>
              <a:gd name="T9" fmla="*/ 0 h 8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804"/>
              <a:gd name="T17" fmla="*/ 296 w 296"/>
              <a:gd name="T18" fmla="*/ 804 h 8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804">
                <a:moveTo>
                  <a:pt x="0" y="0"/>
                </a:moveTo>
                <a:lnTo>
                  <a:pt x="295" y="0"/>
                </a:lnTo>
                <a:lnTo>
                  <a:pt x="295" y="803"/>
                </a:lnTo>
                <a:lnTo>
                  <a:pt x="0" y="803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385" name="Freeform 7"/>
          <p:cNvSpPr>
            <a:spLocks/>
          </p:cNvSpPr>
          <p:nvPr/>
        </p:nvSpPr>
        <p:spPr bwMode="auto">
          <a:xfrm>
            <a:off x="2373313" y="4229100"/>
            <a:ext cx="468312" cy="800100"/>
          </a:xfrm>
          <a:custGeom>
            <a:avLst/>
            <a:gdLst>
              <a:gd name="T0" fmla="*/ 0 w 295"/>
              <a:gd name="T1" fmla="*/ 0 h 481"/>
              <a:gd name="T2" fmla="*/ 740925038 w 295"/>
              <a:gd name="T3" fmla="*/ 0 h 481"/>
              <a:gd name="T4" fmla="*/ 740925038 w 295"/>
              <a:gd name="T5" fmla="*/ 1328127820 h 481"/>
              <a:gd name="T6" fmla="*/ 0 w 295"/>
              <a:gd name="T7" fmla="*/ 1328127820 h 481"/>
              <a:gd name="T8" fmla="*/ 0 w 295"/>
              <a:gd name="T9" fmla="*/ 0 h 4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5"/>
              <a:gd name="T16" fmla="*/ 0 h 481"/>
              <a:gd name="T17" fmla="*/ 295 w 295"/>
              <a:gd name="T18" fmla="*/ 481 h 48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5" h="481">
                <a:moveTo>
                  <a:pt x="0" y="0"/>
                </a:moveTo>
                <a:lnTo>
                  <a:pt x="294" y="0"/>
                </a:lnTo>
                <a:lnTo>
                  <a:pt x="294" y="480"/>
                </a:lnTo>
                <a:lnTo>
                  <a:pt x="0" y="48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386" name="Freeform 8"/>
          <p:cNvSpPr>
            <a:spLocks/>
          </p:cNvSpPr>
          <p:nvPr/>
        </p:nvSpPr>
        <p:spPr bwMode="auto">
          <a:xfrm>
            <a:off x="3074988" y="4073525"/>
            <a:ext cx="468312" cy="955675"/>
          </a:xfrm>
          <a:custGeom>
            <a:avLst/>
            <a:gdLst>
              <a:gd name="T0" fmla="*/ 0 w 295"/>
              <a:gd name="T1" fmla="*/ 0 h 579"/>
              <a:gd name="T2" fmla="*/ 740925038 w 295"/>
              <a:gd name="T3" fmla="*/ 0 h 579"/>
              <a:gd name="T4" fmla="*/ 740925038 w 295"/>
              <a:gd name="T5" fmla="*/ 1574674854 h 579"/>
              <a:gd name="T6" fmla="*/ 0 w 295"/>
              <a:gd name="T7" fmla="*/ 1574674854 h 579"/>
              <a:gd name="T8" fmla="*/ 0 w 295"/>
              <a:gd name="T9" fmla="*/ 0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5"/>
              <a:gd name="T16" fmla="*/ 0 h 579"/>
              <a:gd name="T17" fmla="*/ 295 w 295"/>
              <a:gd name="T18" fmla="*/ 579 h 5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5" h="579">
                <a:moveTo>
                  <a:pt x="0" y="0"/>
                </a:moveTo>
                <a:lnTo>
                  <a:pt x="294" y="0"/>
                </a:lnTo>
                <a:lnTo>
                  <a:pt x="294" y="578"/>
                </a:lnTo>
                <a:lnTo>
                  <a:pt x="0" y="578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387" name="Freeform 9"/>
          <p:cNvSpPr>
            <a:spLocks/>
          </p:cNvSpPr>
          <p:nvPr/>
        </p:nvSpPr>
        <p:spPr bwMode="auto">
          <a:xfrm>
            <a:off x="3775075" y="3970338"/>
            <a:ext cx="469900" cy="1058862"/>
          </a:xfrm>
          <a:custGeom>
            <a:avLst/>
            <a:gdLst>
              <a:gd name="T0" fmla="*/ 0 w 296"/>
              <a:gd name="T1" fmla="*/ 0 h 644"/>
              <a:gd name="T2" fmla="*/ 743446779 w 296"/>
              <a:gd name="T3" fmla="*/ 0 h 644"/>
              <a:gd name="T4" fmla="*/ 743446779 w 296"/>
              <a:gd name="T5" fmla="*/ 1738273402 h 644"/>
              <a:gd name="T6" fmla="*/ 0 w 296"/>
              <a:gd name="T7" fmla="*/ 1738273402 h 644"/>
              <a:gd name="T8" fmla="*/ 0 w 296"/>
              <a:gd name="T9" fmla="*/ 0 h 6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644"/>
              <a:gd name="T17" fmla="*/ 296 w 296"/>
              <a:gd name="T18" fmla="*/ 644 h 6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644">
                <a:moveTo>
                  <a:pt x="0" y="0"/>
                </a:moveTo>
                <a:lnTo>
                  <a:pt x="295" y="0"/>
                </a:lnTo>
                <a:lnTo>
                  <a:pt x="295" y="643"/>
                </a:lnTo>
                <a:lnTo>
                  <a:pt x="0" y="643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388" name="Line 10"/>
          <p:cNvSpPr>
            <a:spLocks noChangeShapeType="1"/>
          </p:cNvSpPr>
          <p:nvPr/>
        </p:nvSpPr>
        <p:spPr bwMode="auto">
          <a:xfrm>
            <a:off x="1528763" y="3733800"/>
            <a:ext cx="0" cy="12954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9" name="Line 11"/>
          <p:cNvSpPr>
            <a:spLocks noChangeShapeType="1"/>
          </p:cNvSpPr>
          <p:nvPr/>
        </p:nvSpPr>
        <p:spPr bwMode="auto">
          <a:xfrm>
            <a:off x="1528763" y="5029200"/>
            <a:ext cx="28194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90" name="Rectangle 12"/>
          <p:cNvSpPr>
            <a:spLocks noChangeArrowheads="1"/>
          </p:cNvSpPr>
          <p:nvPr/>
        </p:nvSpPr>
        <p:spPr bwMode="auto">
          <a:xfrm>
            <a:off x="1071563" y="4727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101391" name="Rectangle 13"/>
          <p:cNvSpPr>
            <a:spLocks noChangeArrowheads="1"/>
          </p:cNvSpPr>
          <p:nvPr/>
        </p:nvSpPr>
        <p:spPr bwMode="auto">
          <a:xfrm>
            <a:off x="825500" y="3813175"/>
            <a:ext cx="8413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200</a:t>
            </a:r>
          </a:p>
        </p:txBody>
      </p:sp>
      <p:sp>
        <p:nvSpPr>
          <p:cNvPr id="101392" name="Rectangle 14"/>
          <p:cNvSpPr>
            <a:spLocks noChangeArrowheads="1"/>
          </p:cNvSpPr>
          <p:nvPr/>
        </p:nvSpPr>
        <p:spPr bwMode="auto">
          <a:xfrm>
            <a:off x="825500" y="3355975"/>
            <a:ext cx="787400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300</a:t>
            </a:r>
          </a:p>
        </p:txBody>
      </p:sp>
      <p:sp>
        <p:nvSpPr>
          <p:cNvPr id="101393" name="Rectangle 15"/>
          <p:cNvSpPr>
            <a:spLocks noChangeArrowheads="1"/>
          </p:cNvSpPr>
          <p:nvPr/>
        </p:nvSpPr>
        <p:spPr bwMode="auto">
          <a:xfrm>
            <a:off x="1587500" y="5060950"/>
            <a:ext cx="485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FR</a:t>
            </a:r>
          </a:p>
        </p:txBody>
      </p:sp>
      <p:sp>
        <p:nvSpPr>
          <p:cNvPr id="101394" name="Rectangle 16"/>
          <p:cNvSpPr>
            <a:spLocks noChangeArrowheads="1"/>
          </p:cNvSpPr>
          <p:nvPr/>
        </p:nvSpPr>
        <p:spPr bwMode="auto">
          <a:xfrm>
            <a:off x="2273300" y="5060950"/>
            <a:ext cx="5111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SO</a:t>
            </a:r>
          </a:p>
        </p:txBody>
      </p:sp>
      <p:sp>
        <p:nvSpPr>
          <p:cNvPr id="101395" name="Rectangle 17"/>
          <p:cNvSpPr>
            <a:spLocks noChangeArrowheads="1"/>
          </p:cNvSpPr>
          <p:nvPr/>
        </p:nvSpPr>
        <p:spPr bwMode="auto">
          <a:xfrm>
            <a:off x="3035300" y="5060950"/>
            <a:ext cx="4730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JR</a:t>
            </a:r>
          </a:p>
        </p:txBody>
      </p:sp>
      <p:sp>
        <p:nvSpPr>
          <p:cNvPr id="101396" name="Rectangle 18"/>
          <p:cNvSpPr>
            <a:spLocks noChangeArrowheads="1"/>
          </p:cNvSpPr>
          <p:nvPr/>
        </p:nvSpPr>
        <p:spPr bwMode="auto">
          <a:xfrm>
            <a:off x="3721100" y="5060950"/>
            <a:ext cx="498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SR</a:t>
            </a:r>
          </a:p>
        </p:txBody>
      </p:sp>
      <p:sp>
        <p:nvSpPr>
          <p:cNvPr id="101397" name="Rectangle 19"/>
          <p:cNvSpPr>
            <a:spLocks noChangeArrowheads="1"/>
          </p:cNvSpPr>
          <p:nvPr/>
        </p:nvSpPr>
        <p:spPr bwMode="auto">
          <a:xfrm>
            <a:off x="690563" y="2895600"/>
            <a:ext cx="739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Freq.</a:t>
            </a:r>
          </a:p>
        </p:txBody>
      </p:sp>
      <p:sp>
        <p:nvSpPr>
          <p:cNvPr id="101398" name="Freeform 20"/>
          <p:cNvSpPr>
            <a:spLocks/>
          </p:cNvSpPr>
          <p:nvPr/>
        </p:nvSpPr>
        <p:spPr bwMode="auto">
          <a:xfrm>
            <a:off x="5780088" y="3886200"/>
            <a:ext cx="452437" cy="1143000"/>
          </a:xfrm>
          <a:custGeom>
            <a:avLst/>
            <a:gdLst>
              <a:gd name="T0" fmla="*/ 0 w 285"/>
              <a:gd name="T1" fmla="*/ 0 h 804"/>
              <a:gd name="T2" fmla="*/ 715723476 w 285"/>
              <a:gd name="T3" fmla="*/ 0 h 804"/>
              <a:gd name="T4" fmla="*/ 715723476 w 285"/>
              <a:gd name="T5" fmla="*/ 1622915211 h 804"/>
              <a:gd name="T6" fmla="*/ 0 w 285"/>
              <a:gd name="T7" fmla="*/ 1622915211 h 804"/>
              <a:gd name="T8" fmla="*/ 0 w 285"/>
              <a:gd name="T9" fmla="*/ 0 h 8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804"/>
              <a:gd name="T17" fmla="*/ 285 w 285"/>
              <a:gd name="T18" fmla="*/ 804 h 8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804">
                <a:moveTo>
                  <a:pt x="0" y="0"/>
                </a:moveTo>
                <a:lnTo>
                  <a:pt x="284" y="0"/>
                </a:lnTo>
                <a:lnTo>
                  <a:pt x="284" y="803"/>
                </a:lnTo>
                <a:lnTo>
                  <a:pt x="0" y="80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399" name="Freeform 21"/>
          <p:cNvSpPr>
            <a:spLocks/>
          </p:cNvSpPr>
          <p:nvPr/>
        </p:nvSpPr>
        <p:spPr bwMode="auto">
          <a:xfrm>
            <a:off x="6456363" y="3581400"/>
            <a:ext cx="455612" cy="1447800"/>
          </a:xfrm>
          <a:custGeom>
            <a:avLst/>
            <a:gdLst>
              <a:gd name="T0" fmla="*/ 0 w 287"/>
              <a:gd name="T1" fmla="*/ 0 h 804"/>
              <a:gd name="T2" fmla="*/ 720763788 w 287"/>
              <a:gd name="T3" fmla="*/ 0 h 804"/>
              <a:gd name="T4" fmla="*/ 720763788 w 287"/>
              <a:gd name="T5" fmla="*/ 2147483647 h 804"/>
              <a:gd name="T6" fmla="*/ 0 w 287"/>
              <a:gd name="T7" fmla="*/ 2147483647 h 804"/>
              <a:gd name="T8" fmla="*/ 0 w 287"/>
              <a:gd name="T9" fmla="*/ 0 h 8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7"/>
              <a:gd name="T16" fmla="*/ 0 h 804"/>
              <a:gd name="T17" fmla="*/ 287 w 287"/>
              <a:gd name="T18" fmla="*/ 804 h 8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7" h="804">
                <a:moveTo>
                  <a:pt x="0" y="0"/>
                </a:moveTo>
                <a:lnTo>
                  <a:pt x="286" y="0"/>
                </a:lnTo>
                <a:lnTo>
                  <a:pt x="286" y="803"/>
                </a:lnTo>
                <a:lnTo>
                  <a:pt x="0" y="80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400" name="Freeform 22"/>
          <p:cNvSpPr>
            <a:spLocks/>
          </p:cNvSpPr>
          <p:nvPr/>
        </p:nvSpPr>
        <p:spPr bwMode="auto">
          <a:xfrm>
            <a:off x="7135813" y="3886200"/>
            <a:ext cx="452437" cy="1143000"/>
          </a:xfrm>
          <a:custGeom>
            <a:avLst/>
            <a:gdLst>
              <a:gd name="T0" fmla="*/ 0 w 285"/>
              <a:gd name="T1" fmla="*/ 0 h 804"/>
              <a:gd name="T2" fmla="*/ 715723476 w 285"/>
              <a:gd name="T3" fmla="*/ 0 h 804"/>
              <a:gd name="T4" fmla="*/ 715723476 w 285"/>
              <a:gd name="T5" fmla="*/ 1622915211 h 804"/>
              <a:gd name="T6" fmla="*/ 0 w 285"/>
              <a:gd name="T7" fmla="*/ 1622915211 h 804"/>
              <a:gd name="T8" fmla="*/ 0 w 285"/>
              <a:gd name="T9" fmla="*/ 0 h 8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804"/>
              <a:gd name="T17" fmla="*/ 285 w 285"/>
              <a:gd name="T18" fmla="*/ 804 h 8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804">
                <a:moveTo>
                  <a:pt x="0" y="0"/>
                </a:moveTo>
                <a:lnTo>
                  <a:pt x="284" y="0"/>
                </a:lnTo>
                <a:lnTo>
                  <a:pt x="284" y="803"/>
                </a:lnTo>
                <a:lnTo>
                  <a:pt x="0" y="80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401" name="Freeform 23"/>
          <p:cNvSpPr>
            <a:spLocks/>
          </p:cNvSpPr>
          <p:nvPr/>
        </p:nvSpPr>
        <p:spPr bwMode="auto">
          <a:xfrm>
            <a:off x="7812088" y="3810000"/>
            <a:ext cx="452437" cy="1219200"/>
          </a:xfrm>
          <a:custGeom>
            <a:avLst/>
            <a:gdLst>
              <a:gd name="T0" fmla="*/ 0 w 285"/>
              <a:gd name="T1" fmla="*/ 0 h 804"/>
              <a:gd name="T2" fmla="*/ 715723476 w 285"/>
              <a:gd name="T3" fmla="*/ 0 h 804"/>
              <a:gd name="T4" fmla="*/ 715723476 w 285"/>
              <a:gd name="T5" fmla="*/ 1846518024 h 804"/>
              <a:gd name="T6" fmla="*/ 0 w 285"/>
              <a:gd name="T7" fmla="*/ 1846518024 h 804"/>
              <a:gd name="T8" fmla="*/ 0 w 285"/>
              <a:gd name="T9" fmla="*/ 0 h 8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804"/>
              <a:gd name="T17" fmla="*/ 285 w 285"/>
              <a:gd name="T18" fmla="*/ 804 h 8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804">
                <a:moveTo>
                  <a:pt x="0" y="0"/>
                </a:moveTo>
                <a:lnTo>
                  <a:pt x="284" y="0"/>
                </a:lnTo>
                <a:lnTo>
                  <a:pt x="284" y="803"/>
                </a:lnTo>
                <a:lnTo>
                  <a:pt x="0" y="80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402" name="Line 24"/>
          <p:cNvSpPr>
            <a:spLocks noChangeShapeType="1"/>
          </p:cNvSpPr>
          <p:nvPr/>
        </p:nvSpPr>
        <p:spPr bwMode="auto">
          <a:xfrm>
            <a:off x="5643563" y="3733800"/>
            <a:ext cx="0" cy="12954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403" name="Line 25"/>
          <p:cNvSpPr>
            <a:spLocks noChangeShapeType="1"/>
          </p:cNvSpPr>
          <p:nvPr/>
        </p:nvSpPr>
        <p:spPr bwMode="auto">
          <a:xfrm>
            <a:off x="5643563" y="5029200"/>
            <a:ext cx="26289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404" name="Rectangle 26"/>
          <p:cNvSpPr>
            <a:spLocks noChangeArrowheads="1"/>
          </p:cNvSpPr>
          <p:nvPr/>
        </p:nvSpPr>
        <p:spPr bwMode="auto">
          <a:xfrm>
            <a:off x="4791075" y="4251325"/>
            <a:ext cx="6381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10%</a:t>
            </a:r>
          </a:p>
        </p:txBody>
      </p:sp>
      <p:sp>
        <p:nvSpPr>
          <p:cNvPr id="101405" name="Rectangle 27"/>
          <p:cNvSpPr>
            <a:spLocks noChangeArrowheads="1"/>
          </p:cNvSpPr>
          <p:nvPr/>
        </p:nvSpPr>
        <p:spPr bwMode="auto">
          <a:xfrm>
            <a:off x="4791075" y="3230563"/>
            <a:ext cx="6381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30%</a:t>
            </a:r>
          </a:p>
        </p:txBody>
      </p:sp>
      <p:sp>
        <p:nvSpPr>
          <p:cNvPr id="101406" name="Rectangle 28"/>
          <p:cNvSpPr>
            <a:spLocks noChangeArrowheads="1"/>
          </p:cNvSpPr>
          <p:nvPr/>
        </p:nvSpPr>
        <p:spPr bwMode="auto">
          <a:xfrm>
            <a:off x="5718175" y="5029200"/>
            <a:ext cx="485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FR</a:t>
            </a:r>
          </a:p>
        </p:txBody>
      </p:sp>
      <p:sp>
        <p:nvSpPr>
          <p:cNvPr id="101407" name="Rectangle 29"/>
          <p:cNvSpPr>
            <a:spLocks noChangeArrowheads="1"/>
          </p:cNvSpPr>
          <p:nvPr/>
        </p:nvSpPr>
        <p:spPr bwMode="auto">
          <a:xfrm>
            <a:off x="6378575" y="5029200"/>
            <a:ext cx="5111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SO</a:t>
            </a:r>
          </a:p>
        </p:txBody>
      </p:sp>
      <p:sp>
        <p:nvSpPr>
          <p:cNvPr id="101408" name="Rectangle 30"/>
          <p:cNvSpPr>
            <a:spLocks noChangeArrowheads="1"/>
          </p:cNvSpPr>
          <p:nvPr/>
        </p:nvSpPr>
        <p:spPr bwMode="auto">
          <a:xfrm>
            <a:off x="7083425" y="5029200"/>
            <a:ext cx="4730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JR</a:t>
            </a:r>
          </a:p>
        </p:txBody>
      </p:sp>
      <p:sp>
        <p:nvSpPr>
          <p:cNvPr id="101409" name="Rectangle 31"/>
          <p:cNvSpPr>
            <a:spLocks noChangeArrowheads="1"/>
          </p:cNvSpPr>
          <p:nvPr/>
        </p:nvSpPr>
        <p:spPr bwMode="auto">
          <a:xfrm>
            <a:off x="7742238" y="5029200"/>
            <a:ext cx="498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SR</a:t>
            </a:r>
          </a:p>
        </p:txBody>
      </p:sp>
      <p:sp>
        <p:nvSpPr>
          <p:cNvPr id="101410" name="Freeform 32"/>
          <p:cNvSpPr>
            <a:spLocks/>
          </p:cNvSpPr>
          <p:nvPr/>
        </p:nvSpPr>
        <p:spPr bwMode="auto">
          <a:xfrm>
            <a:off x="609600" y="1981200"/>
            <a:ext cx="769938" cy="685800"/>
          </a:xfrm>
          <a:custGeom>
            <a:avLst/>
            <a:gdLst>
              <a:gd name="T0" fmla="*/ 1207156514 w 485"/>
              <a:gd name="T1" fmla="*/ 652721276 h 432"/>
              <a:gd name="T2" fmla="*/ 1144151789 w 485"/>
              <a:gd name="T3" fmla="*/ 801409659 h 432"/>
              <a:gd name="T4" fmla="*/ 1040826136 w 485"/>
              <a:gd name="T5" fmla="*/ 929938584 h 432"/>
              <a:gd name="T6" fmla="*/ 899697330 w 485"/>
              <a:gd name="T7" fmla="*/ 1020664183 h 432"/>
              <a:gd name="T8" fmla="*/ 733366753 w 485"/>
              <a:gd name="T9" fmla="*/ 1076107605 h 432"/>
              <a:gd name="T10" fmla="*/ 546875116 w 485"/>
              <a:gd name="T11" fmla="*/ 1083667278 h 432"/>
              <a:gd name="T12" fmla="*/ 372983373 w 485"/>
              <a:gd name="T13" fmla="*/ 1045865739 h 432"/>
              <a:gd name="T14" fmla="*/ 224294888 w 485"/>
              <a:gd name="T15" fmla="*/ 962699812 h 432"/>
              <a:gd name="T16" fmla="*/ 103327266 w 485"/>
              <a:gd name="T17" fmla="*/ 846772658 h 432"/>
              <a:gd name="T18" fmla="*/ 27722536 w 485"/>
              <a:gd name="T19" fmla="*/ 705643749 h 432"/>
              <a:gd name="T20" fmla="*/ 0 w 485"/>
              <a:gd name="T21" fmla="*/ 544353795 h 432"/>
              <a:gd name="T22" fmla="*/ 47883794 w 485"/>
              <a:gd name="T23" fmla="*/ 332660630 h 432"/>
              <a:gd name="T24" fmla="*/ 141128856 w 485"/>
              <a:gd name="T25" fmla="*/ 199093131 h 432"/>
              <a:gd name="T26" fmla="*/ 269657719 w 485"/>
              <a:gd name="T27" fmla="*/ 93246573 h 432"/>
              <a:gd name="T28" fmla="*/ 430947882 w 485"/>
              <a:gd name="T29" fmla="*/ 25201562 h 432"/>
              <a:gd name="T30" fmla="*/ 609878253 w 485"/>
              <a:gd name="T31" fmla="*/ 0 h 432"/>
              <a:gd name="T32" fmla="*/ 791329576 w 485"/>
              <a:gd name="T33" fmla="*/ 25201562 h 432"/>
              <a:gd name="T34" fmla="*/ 947579524 w 485"/>
              <a:gd name="T35" fmla="*/ 93246573 h 432"/>
              <a:gd name="T36" fmla="*/ 1078627701 w 485"/>
              <a:gd name="T37" fmla="*/ 199093131 h 432"/>
              <a:gd name="T38" fmla="*/ 1169353362 w 485"/>
              <a:gd name="T39" fmla="*/ 332660630 h 432"/>
              <a:gd name="T40" fmla="*/ 1219756507 w 485"/>
              <a:gd name="T41" fmla="*/ 544353795 h 432"/>
              <a:gd name="T42" fmla="*/ 1093748644 w 485"/>
              <a:gd name="T43" fmla="*/ 456149145 h 432"/>
              <a:gd name="T44" fmla="*/ 1043345499 w 485"/>
              <a:gd name="T45" fmla="*/ 335181580 h 432"/>
              <a:gd name="T46" fmla="*/ 960181104 w 485"/>
              <a:gd name="T47" fmla="*/ 234375358 h 432"/>
              <a:gd name="T48" fmla="*/ 844253870 w 485"/>
              <a:gd name="T49" fmla="*/ 156249693 h 432"/>
              <a:gd name="T50" fmla="*/ 710684544 w 485"/>
              <a:gd name="T51" fmla="*/ 110886893 h 432"/>
              <a:gd name="T52" fmla="*/ 561996059 w 485"/>
              <a:gd name="T53" fmla="*/ 105846582 h 432"/>
              <a:gd name="T54" fmla="*/ 420867253 w 485"/>
              <a:gd name="T55" fmla="*/ 138607810 h 432"/>
              <a:gd name="T56" fmla="*/ 297378655 w 485"/>
              <a:gd name="T57" fmla="*/ 204133442 h 432"/>
              <a:gd name="T58" fmla="*/ 957660153 w 485"/>
              <a:gd name="T59" fmla="*/ 854333918 h 432"/>
              <a:gd name="T60" fmla="*/ 178932008 w 485"/>
              <a:gd name="T61" fmla="*/ 335181580 h 432"/>
              <a:gd name="T62" fmla="*/ 128528863 w 485"/>
              <a:gd name="T63" fmla="*/ 456149145 h 432"/>
              <a:gd name="T64" fmla="*/ 118448234 w 485"/>
              <a:gd name="T65" fmla="*/ 587195645 h 432"/>
              <a:gd name="T66" fmla="*/ 156249799 w 485"/>
              <a:gd name="T67" fmla="*/ 715724371 h 432"/>
              <a:gd name="T68" fmla="*/ 229335203 w 485"/>
              <a:gd name="T69" fmla="*/ 821570904 h 432"/>
              <a:gd name="T70" fmla="*/ 335181808 w 485"/>
              <a:gd name="T71" fmla="*/ 909777340 h 432"/>
              <a:gd name="T72" fmla="*/ 466230084 w 485"/>
              <a:gd name="T73" fmla="*/ 965220762 h 432"/>
              <a:gd name="T74" fmla="*/ 609878253 w 485"/>
              <a:gd name="T75" fmla="*/ 985382006 h 432"/>
              <a:gd name="T76" fmla="*/ 756047374 w 485"/>
              <a:gd name="T77" fmla="*/ 965220762 h 432"/>
              <a:gd name="T78" fmla="*/ 884576386 w 485"/>
              <a:gd name="T79" fmla="*/ 909777340 h 432"/>
              <a:gd name="T80" fmla="*/ 990422991 w 485"/>
              <a:gd name="T81" fmla="*/ 821570904 h 432"/>
              <a:gd name="T82" fmla="*/ 1063506757 w 485"/>
              <a:gd name="T83" fmla="*/ 715724371 h 432"/>
              <a:gd name="T84" fmla="*/ 1101309910 w 485"/>
              <a:gd name="T85" fmla="*/ 587195645 h 432"/>
              <a:gd name="T86" fmla="*/ 1219756507 w 485"/>
              <a:gd name="T87" fmla="*/ 556953779 h 43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485"/>
              <a:gd name="T133" fmla="*/ 0 h 432"/>
              <a:gd name="T134" fmla="*/ 485 w 485"/>
              <a:gd name="T135" fmla="*/ 432 h 43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485" h="432">
                <a:moveTo>
                  <a:pt x="484" y="221"/>
                </a:moveTo>
                <a:lnTo>
                  <a:pt x="482" y="238"/>
                </a:lnTo>
                <a:lnTo>
                  <a:pt x="479" y="259"/>
                </a:lnTo>
                <a:lnTo>
                  <a:pt x="473" y="280"/>
                </a:lnTo>
                <a:lnTo>
                  <a:pt x="464" y="300"/>
                </a:lnTo>
                <a:lnTo>
                  <a:pt x="454" y="318"/>
                </a:lnTo>
                <a:lnTo>
                  <a:pt x="442" y="336"/>
                </a:lnTo>
                <a:lnTo>
                  <a:pt x="428" y="353"/>
                </a:lnTo>
                <a:lnTo>
                  <a:pt x="413" y="369"/>
                </a:lnTo>
                <a:lnTo>
                  <a:pt x="395" y="382"/>
                </a:lnTo>
                <a:lnTo>
                  <a:pt x="376" y="395"/>
                </a:lnTo>
                <a:lnTo>
                  <a:pt x="357" y="405"/>
                </a:lnTo>
                <a:lnTo>
                  <a:pt x="336" y="415"/>
                </a:lnTo>
                <a:lnTo>
                  <a:pt x="314" y="422"/>
                </a:lnTo>
                <a:lnTo>
                  <a:pt x="291" y="427"/>
                </a:lnTo>
                <a:lnTo>
                  <a:pt x="267" y="430"/>
                </a:lnTo>
                <a:lnTo>
                  <a:pt x="242" y="431"/>
                </a:lnTo>
                <a:lnTo>
                  <a:pt x="217" y="430"/>
                </a:lnTo>
                <a:lnTo>
                  <a:pt x="193" y="427"/>
                </a:lnTo>
                <a:lnTo>
                  <a:pt x="171" y="422"/>
                </a:lnTo>
                <a:lnTo>
                  <a:pt x="148" y="415"/>
                </a:lnTo>
                <a:lnTo>
                  <a:pt x="128" y="405"/>
                </a:lnTo>
                <a:lnTo>
                  <a:pt x="107" y="395"/>
                </a:lnTo>
                <a:lnTo>
                  <a:pt x="89" y="382"/>
                </a:lnTo>
                <a:lnTo>
                  <a:pt x="72" y="369"/>
                </a:lnTo>
                <a:lnTo>
                  <a:pt x="56" y="353"/>
                </a:lnTo>
                <a:lnTo>
                  <a:pt x="41" y="336"/>
                </a:lnTo>
                <a:lnTo>
                  <a:pt x="29" y="318"/>
                </a:lnTo>
                <a:lnTo>
                  <a:pt x="19" y="300"/>
                </a:lnTo>
                <a:lnTo>
                  <a:pt x="11" y="280"/>
                </a:lnTo>
                <a:lnTo>
                  <a:pt x="5" y="259"/>
                </a:lnTo>
                <a:lnTo>
                  <a:pt x="2" y="238"/>
                </a:lnTo>
                <a:lnTo>
                  <a:pt x="0" y="216"/>
                </a:lnTo>
                <a:lnTo>
                  <a:pt x="2" y="194"/>
                </a:lnTo>
                <a:lnTo>
                  <a:pt x="11" y="152"/>
                </a:lnTo>
                <a:lnTo>
                  <a:pt x="19" y="132"/>
                </a:lnTo>
                <a:lnTo>
                  <a:pt x="29" y="114"/>
                </a:lnTo>
                <a:lnTo>
                  <a:pt x="41" y="96"/>
                </a:lnTo>
                <a:lnTo>
                  <a:pt x="56" y="79"/>
                </a:lnTo>
                <a:lnTo>
                  <a:pt x="72" y="63"/>
                </a:lnTo>
                <a:lnTo>
                  <a:pt x="89" y="50"/>
                </a:lnTo>
                <a:lnTo>
                  <a:pt x="107" y="37"/>
                </a:lnTo>
                <a:lnTo>
                  <a:pt x="128" y="26"/>
                </a:lnTo>
                <a:lnTo>
                  <a:pt x="148" y="17"/>
                </a:lnTo>
                <a:lnTo>
                  <a:pt x="171" y="10"/>
                </a:lnTo>
                <a:lnTo>
                  <a:pt x="193" y="5"/>
                </a:lnTo>
                <a:lnTo>
                  <a:pt x="217" y="1"/>
                </a:lnTo>
                <a:lnTo>
                  <a:pt x="242" y="0"/>
                </a:lnTo>
                <a:lnTo>
                  <a:pt x="267" y="1"/>
                </a:lnTo>
                <a:lnTo>
                  <a:pt x="291" y="5"/>
                </a:lnTo>
                <a:lnTo>
                  <a:pt x="314" y="10"/>
                </a:lnTo>
                <a:lnTo>
                  <a:pt x="336" y="17"/>
                </a:lnTo>
                <a:lnTo>
                  <a:pt x="357" y="26"/>
                </a:lnTo>
                <a:lnTo>
                  <a:pt x="376" y="37"/>
                </a:lnTo>
                <a:lnTo>
                  <a:pt x="395" y="50"/>
                </a:lnTo>
                <a:lnTo>
                  <a:pt x="413" y="63"/>
                </a:lnTo>
                <a:lnTo>
                  <a:pt x="428" y="79"/>
                </a:lnTo>
                <a:lnTo>
                  <a:pt x="442" y="96"/>
                </a:lnTo>
                <a:lnTo>
                  <a:pt x="454" y="114"/>
                </a:lnTo>
                <a:lnTo>
                  <a:pt x="464" y="132"/>
                </a:lnTo>
                <a:lnTo>
                  <a:pt x="473" y="152"/>
                </a:lnTo>
                <a:lnTo>
                  <a:pt x="479" y="173"/>
                </a:lnTo>
                <a:lnTo>
                  <a:pt x="484" y="216"/>
                </a:lnTo>
                <a:lnTo>
                  <a:pt x="438" y="216"/>
                </a:lnTo>
                <a:lnTo>
                  <a:pt x="437" y="198"/>
                </a:lnTo>
                <a:lnTo>
                  <a:pt x="434" y="181"/>
                </a:lnTo>
                <a:lnTo>
                  <a:pt x="429" y="164"/>
                </a:lnTo>
                <a:lnTo>
                  <a:pt x="422" y="148"/>
                </a:lnTo>
                <a:lnTo>
                  <a:pt x="414" y="133"/>
                </a:lnTo>
                <a:lnTo>
                  <a:pt x="404" y="119"/>
                </a:lnTo>
                <a:lnTo>
                  <a:pt x="393" y="105"/>
                </a:lnTo>
                <a:lnTo>
                  <a:pt x="381" y="93"/>
                </a:lnTo>
                <a:lnTo>
                  <a:pt x="366" y="81"/>
                </a:lnTo>
                <a:lnTo>
                  <a:pt x="351" y="71"/>
                </a:lnTo>
                <a:lnTo>
                  <a:pt x="335" y="62"/>
                </a:lnTo>
                <a:lnTo>
                  <a:pt x="318" y="55"/>
                </a:lnTo>
                <a:lnTo>
                  <a:pt x="300" y="49"/>
                </a:lnTo>
                <a:lnTo>
                  <a:pt x="282" y="44"/>
                </a:lnTo>
                <a:lnTo>
                  <a:pt x="262" y="42"/>
                </a:lnTo>
                <a:lnTo>
                  <a:pt x="242" y="41"/>
                </a:lnTo>
                <a:lnTo>
                  <a:pt x="223" y="42"/>
                </a:lnTo>
                <a:lnTo>
                  <a:pt x="203" y="44"/>
                </a:lnTo>
                <a:lnTo>
                  <a:pt x="185" y="49"/>
                </a:lnTo>
                <a:lnTo>
                  <a:pt x="167" y="55"/>
                </a:lnTo>
                <a:lnTo>
                  <a:pt x="149" y="62"/>
                </a:lnTo>
                <a:lnTo>
                  <a:pt x="133" y="71"/>
                </a:lnTo>
                <a:lnTo>
                  <a:pt x="118" y="81"/>
                </a:lnTo>
                <a:lnTo>
                  <a:pt x="404" y="313"/>
                </a:lnTo>
                <a:lnTo>
                  <a:pt x="393" y="326"/>
                </a:lnTo>
                <a:lnTo>
                  <a:pt x="380" y="339"/>
                </a:lnTo>
                <a:lnTo>
                  <a:pt x="366" y="350"/>
                </a:lnTo>
                <a:lnTo>
                  <a:pt x="80" y="119"/>
                </a:lnTo>
                <a:lnTo>
                  <a:pt x="71" y="133"/>
                </a:lnTo>
                <a:lnTo>
                  <a:pt x="62" y="148"/>
                </a:lnTo>
                <a:lnTo>
                  <a:pt x="55" y="164"/>
                </a:lnTo>
                <a:lnTo>
                  <a:pt x="51" y="181"/>
                </a:lnTo>
                <a:lnTo>
                  <a:pt x="47" y="198"/>
                </a:lnTo>
                <a:lnTo>
                  <a:pt x="47" y="216"/>
                </a:lnTo>
                <a:lnTo>
                  <a:pt x="47" y="233"/>
                </a:lnTo>
                <a:lnTo>
                  <a:pt x="51" y="251"/>
                </a:lnTo>
                <a:lnTo>
                  <a:pt x="55" y="268"/>
                </a:lnTo>
                <a:lnTo>
                  <a:pt x="62" y="284"/>
                </a:lnTo>
                <a:lnTo>
                  <a:pt x="71" y="299"/>
                </a:lnTo>
                <a:lnTo>
                  <a:pt x="80" y="313"/>
                </a:lnTo>
                <a:lnTo>
                  <a:pt x="91" y="326"/>
                </a:lnTo>
                <a:lnTo>
                  <a:pt x="104" y="339"/>
                </a:lnTo>
                <a:lnTo>
                  <a:pt x="118" y="351"/>
                </a:lnTo>
                <a:lnTo>
                  <a:pt x="133" y="361"/>
                </a:lnTo>
                <a:lnTo>
                  <a:pt x="149" y="369"/>
                </a:lnTo>
                <a:lnTo>
                  <a:pt x="167" y="377"/>
                </a:lnTo>
                <a:lnTo>
                  <a:pt x="185" y="383"/>
                </a:lnTo>
                <a:lnTo>
                  <a:pt x="203" y="387"/>
                </a:lnTo>
                <a:lnTo>
                  <a:pt x="223" y="390"/>
                </a:lnTo>
                <a:lnTo>
                  <a:pt x="242" y="391"/>
                </a:lnTo>
                <a:lnTo>
                  <a:pt x="262" y="390"/>
                </a:lnTo>
                <a:lnTo>
                  <a:pt x="282" y="387"/>
                </a:lnTo>
                <a:lnTo>
                  <a:pt x="300" y="383"/>
                </a:lnTo>
                <a:lnTo>
                  <a:pt x="318" y="377"/>
                </a:lnTo>
                <a:lnTo>
                  <a:pt x="335" y="369"/>
                </a:lnTo>
                <a:lnTo>
                  <a:pt x="351" y="361"/>
                </a:lnTo>
                <a:lnTo>
                  <a:pt x="366" y="350"/>
                </a:lnTo>
                <a:lnTo>
                  <a:pt x="380" y="339"/>
                </a:lnTo>
                <a:lnTo>
                  <a:pt x="393" y="326"/>
                </a:lnTo>
                <a:lnTo>
                  <a:pt x="404" y="313"/>
                </a:lnTo>
                <a:lnTo>
                  <a:pt x="414" y="299"/>
                </a:lnTo>
                <a:lnTo>
                  <a:pt x="422" y="284"/>
                </a:lnTo>
                <a:lnTo>
                  <a:pt x="429" y="268"/>
                </a:lnTo>
                <a:lnTo>
                  <a:pt x="434" y="251"/>
                </a:lnTo>
                <a:lnTo>
                  <a:pt x="437" y="233"/>
                </a:lnTo>
                <a:lnTo>
                  <a:pt x="438" y="216"/>
                </a:lnTo>
                <a:lnTo>
                  <a:pt x="484" y="216"/>
                </a:lnTo>
                <a:lnTo>
                  <a:pt x="484" y="221"/>
                </a:lnTo>
              </a:path>
            </a:pathLst>
          </a:custGeom>
          <a:solidFill>
            <a:srgbClr val="FF0054"/>
          </a:solidFill>
          <a:ln w="12700" cap="rnd">
            <a:solidFill>
              <a:srgbClr val="FF0054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1411" name="Rectangle 33"/>
          <p:cNvSpPr>
            <a:spLocks noChangeArrowheads="1"/>
          </p:cNvSpPr>
          <p:nvPr/>
        </p:nvSpPr>
        <p:spPr bwMode="auto">
          <a:xfrm>
            <a:off x="995363" y="5791200"/>
            <a:ext cx="7769225" cy="4064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FR = Freshmen,  SO = Sophomore,  JR = Junior,  SR = Senior</a:t>
            </a:r>
          </a:p>
        </p:txBody>
      </p:sp>
      <p:sp>
        <p:nvSpPr>
          <p:cNvPr id="101412" name="Rectangle 34"/>
          <p:cNvSpPr>
            <a:spLocks noChangeArrowheads="1"/>
          </p:cNvSpPr>
          <p:nvPr/>
        </p:nvSpPr>
        <p:spPr bwMode="auto">
          <a:xfrm>
            <a:off x="5110163" y="1981200"/>
            <a:ext cx="835025" cy="758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4400">
                <a:solidFill>
                  <a:schemeClr val="bg2"/>
                </a:solidFill>
                <a:latin typeface="Wingdings" pitchFamily="2" charset="2"/>
              </a:rPr>
              <a:t></a:t>
            </a:r>
          </a:p>
        </p:txBody>
      </p:sp>
      <p:sp>
        <p:nvSpPr>
          <p:cNvPr id="101413" name="Rectangle 35"/>
          <p:cNvSpPr>
            <a:spLocks noChangeArrowheads="1"/>
          </p:cNvSpPr>
          <p:nvPr/>
        </p:nvSpPr>
        <p:spPr bwMode="auto">
          <a:xfrm>
            <a:off x="839788" y="4270375"/>
            <a:ext cx="8413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100</a:t>
            </a:r>
          </a:p>
        </p:txBody>
      </p:sp>
      <p:sp>
        <p:nvSpPr>
          <p:cNvPr id="101414" name="Rectangle 36"/>
          <p:cNvSpPr>
            <a:spLocks noChangeArrowheads="1"/>
          </p:cNvSpPr>
          <p:nvPr/>
        </p:nvSpPr>
        <p:spPr bwMode="auto">
          <a:xfrm>
            <a:off x="4805363" y="3733800"/>
            <a:ext cx="6381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20%</a:t>
            </a:r>
          </a:p>
        </p:txBody>
      </p:sp>
      <p:sp>
        <p:nvSpPr>
          <p:cNvPr id="101415" name="Rectangle 37"/>
          <p:cNvSpPr>
            <a:spLocks noChangeArrowheads="1"/>
          </p:cNvSpPr>
          <p:nvPr/>
        </p:nvSpPr>
        <p:spPr bwMode="auto">
          <a:xfrm>
            <a:off x="4805363" y="4727575"/>
            <a:ext cx="5746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 0%</a:t>
            </a:r>
          </a:p>
        </p:txBody>
      </p:sp>
      <p:sp>
        <p:nvSpPr>
          <p:cNvPr id="101416" name="Rectangle 38"/>
          <p:cNvSpPr>
            <a:spLocks noChangeArrowheads="1"/>
          </p:cNvSpPr>
          <p:nvPr/>
        </p:nvSpPr>
        <p:spPr bwMode="auto">
          <a:xfrm>
            <a:off x="4652963" y="2819400"/>
            <a:ext cx="6159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solidFill>
                  <a:schemeClr val="bg2"/>
                </a:solidFill>
              </a:rPr>
              <a:t>  </a:t>
            </a:r>
            <a:r>
              <a:rPr lang="en-US" sz="1800" b="1"/>
              <a:t> %</a:t>
            </a:r>
          </a:p>
        </p:txBody>
      </p:sp>
      <p:sp>
        <p:nvSpPr>
          <p:cNvPr id="101417" name="Rectangle 39"/>
          <p:cNvSpPr>
            <a:spLocks noChangeArrowheads="1"/>
          </p:cNvSpPr>
          <p:nvPr/>
        </p:nvSpPr>
        <p:spPr bwMode="auto">
          <a:xfrm>
            <a:off x="5181600" y="2057400"/>
            <a:ext cx="4110038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Good Presentation</a:t>
            </a:r>
          </a:p>
        </p:txBody>
      </p:sp>
      <p:sp>
        <p:nvSpPr>
          <p:cNvPr id="101418" name="TextBox 41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3935D579-A1CD-424C-8AE8-FC7CAB65D6E5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10240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24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4381907F-A8F8-4A12-A0C4-D3E25539B8A7}" type="slidenum">
              <a:rPr lang="en-US" sz="1000"/>
              <a:pPr algn="r" defTabSz="852488"/>
              <a:t>55</a:t>
            </a:fld>
            <a:endParaRPr lang="en-US" sz="1000"/>
          </a:p>
        </p:txBody>
      </p:sp>
      <p:sp>
        <p:nvSpPr>
          <p:cNvPr id="1024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Graphical Errors: </a:t>
            </a:r>
            <a:br>
              <a:rPr lang="en-US" smtClean="0"/>
            </a:br>
            <a:r>
              <a:rPr lang="en-US" smtClean="0"/>
              <a:t>Compressing the Vertical Axis</a:t>
            </a:r>
          </a:p>
        </p:txBody>
      </p:sp>
      <p:sp>
        <p:nvSpPr>
          <p:cNvPr id="102405" name="Rectangle 3"/>
          <p:cNvSpPr>
            <a:spLocks noChangeArrowheads="1"/>
          </p:cNvSpPr>
          <p:nvPr/>
        </p:nvSpPr>
        <p:spPr bwMode="auto">
          <a:xfrm>
            <a:off x="4876800" y="2057400"/>
            <a:ext cx="4114800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Good Presentation</a:t>
            </a:r>
          </a:p>
        </p:txBody>
      </p:sp>
      <p:sp>
        <p:nvSpPr>
          <p:cNvPr id="102406" name="Rectangle 4"/>
          <p:cNvSpPr>
            <a:spLocks noChangeArrowheads="1"/>
          </p:cNvSpPr>
          <p:nvPr/>
        </p:nvSpPr>
        <p:spPr bwMode="auto">
          <a:xfrm>
            <a:off x="1511300" y="2730500"/>
            <a:ext cx="25400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Quarterly Sales</a:t>
            </a:r>
          </a:p>
        </p:txBody>
      </p:sp>
      <p:sp>
        <p:nvSpPr>
          <p:cNvPr id="102407" name="Rectangle 5"/>
          <p:cNvSpPr>
            <a:spLocks noChangeArrowheads="1"/>
          </p:cNvSpPr>
          <p:nvPr/>
        </p:nvSpPr>
        <p:spPr bwMode="auto">
          <a:xfrm>
            <a:off x="5551488" y="2732088"/>
            <a:ext cx="25384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Quarterly Sales</a:t>
            </a:r>
          </a:p>
        </p:txBody>
      </p:sp>
      <p:sp>
        <p:nvSpPr>
          <p:cNvPr id="102408" name="Rectangle 6"/>
          <p:cNvSpPr>
            <a:spLocks noChangeArrowheads="1"/>
          </p:cNvSpPr>
          <p:nvPr/>
        </p:nvSpPr>
        <p:spPr bwMode="auto">
          <a:xfrm>
            <a:off x="598488" y="2046288"/>
            <a:ext cx="4060825" cy="515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Bad Presentation</a:t>
            </a:r>
          </a:p>
        </p:txBody>
      </p:sp>
      <p:sp>
        <p:nvSpPr>
          <p:cNvPr id="102409" name="Freeform 7"/>
          <p:cNvSpPr>
            <a:spLocks/>
          </p:cNvSpPr>
          <p:nvPr/>
        </p:nvSpPr>
        <p:spPr bwMode="auto">
          <a:xfrm>
            <a:off x="5419725" y="4400550"/>
            <a:ext cx="488950" cy="628650"/>
          </a:xfrm>
          <a:custGeom>
            <a:avLst/>
            <a:gdLst>
              <a:gd name="T0" fmla="*/ 0 w 308"/>
              <a:gd name="T1" fmla="*/ 0 h 396"/>
              <a:gd name="T2" fmla="*/ 773688654 w 308"/>
              <a:gd name="T3" fmla="*/ 0 h 396"/>
              <a:gd name="T4" fmla="*/ 773688654 w 308"/>
              <a:gd name="T5" fmla="*/ 995462603 h 396"/>
              <a:gd name="T6" fmla="*/ 0 w 308"/>
              <a:gd name="T7" fmla="*/ 995462603 h 396"/>
              <a:gd name="T8" fmla="*/ 0 w 308"/>
              <a:gd name="T9" fmla="*/ 0 h 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396"/>
              <a:gd name="T17" fmla="*/ 308 w 308"/>
              <a:gd name="T18" fmla="*/ 396 h 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396">
                <a:moveTo>
                  <a:pt x="0" y="0"/>
                </a:moveTo>
                <a:lnTo>
                  <a:pt x="307" y="0"/>
                </a:lnTo>
                <a:lnTo>
                  <a:pt x="307" y="395"/>
                </a:lnTo>
                <a:lnTo>
                  <a:pt x="0" y="395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10" name="Freeform 8"/>
          <p:cNvSpPr>
            <a:spLocks/>
          </p:cNvSpPr>
          <p:nvPr/>
        </p:nvSpPr>
        <p:spPr bwMode="auto">
          <a:xfrm>
            <a:off x="6148388" y="4187825"/>
            <a:ext cx="495300" cy="841375"/>
          </a:xfrm>
          <a:custGeom>
            <a:avLst/>
            <a:gdLst>
              <a:gd name="T0" fmla="*/ 0 w 312"/>
              <a:gd name="T1" fmla="*/ 0 h 530"/>
              <a:gd name="T2" fmla="*/ 783769279 w 312"/>
              <a:gd name="T3" fmla="*/ 0 h 530"/>
              <a:gd name="T4" fmla="*/ 783769279 w 312"/>
              <a:gd name="T5" fmla="*/ 1333163233 h 530"/>
              <a:gd name="T6" fmla="*/ 0 w 312"/>
              <a:gd name="T7" fmla="*/ 1333163233 h 530"/>
              <a:gd name="T8" fmla="*/ 0 w 312"/>
              <a:gd name="T9" fmla="*/ 0 h 5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2"/>
              <a:gd name="T16" fmla="*/ 0 h 530"/>
              <a:gd name="T17" fmla="*/ 312 w 312"/>
              <a:gd name="T18" fmla="*/ 530 h 5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2" h="530">
                <a:moveTo>
                  <a:pt x="0" y="0"/>
                </a:moveTo>
                <a:lnTo>
                  <a:pt x="311" y="0"/>
                </a:lnTo>
                <a:lnTo>
                  <a:pt x="311" y="529"/>
                </a:lnTo>
                <a:lnTo>
                  <a:pt x="0" y="529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11" name="Freeform 9"/>
          <p:cNvSpPr>
            <a:spLocks/>
          </p:cNvSpPr>
          <p:nvPr/>
        </p:nvSpPr>
        <p:spPr bwMode="auto">
          <a:xfrm>
            <a:off x="6883400" y="3648075"/>
            <a:ext cx="488950" cy="1381125"/>
          </a:xfrm>
          <a:custGeom>
            <a:avLst/>
            <a:gdLst>
              <a:gd name="T0" fmla="*/ 0 w 308"/>
              <a:gd name="T1" fmla="*/ 0 h 870"/>
              <a:gd name="T2" fmla="*/ 773688654 w 308"/>
              <a:gd name="T3" fmla="*/ 0 h 870"/>
              <a:gd name="T4" fmla="*/ 773688654 w 308"/>
              <a:gd name="T5" fmla="*/ 2147483647 h 870"/>
              <a:gd name="T6" fmla="*/ 0 w 308"/>
              <a:gd name="T7" fmla="*/ 2147483647 h 870"/>
              <a:gd name="T8" fmla="*/ 0 w 308"/>
              <a:gd name="T9" fmla="*/ 0 h 8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870"/>
              <a:gd name="T17" fmla="*/ 308 w 308"/>
              <a:gd name="T18" fmla="*/ 870 h 8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870">
                <a:moveTo>
                  <a:pt x="0" y="0"/>
                </a:moveTo>
                <a:lnTo>
                  <a:pt x="307" y="0"/>
                </a:lnTo>
                <a:lnTo>
                  <a:pt x="307" y="869"/>
                </a:lnTo>
                <a:lnTo>
                  <a:pt x="0" y="869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12" name="Freeform 10"/>
          <p:cNvSpPr>
            <a:spLocks/>
          </p:cNvSpPr>
          <p:nvPr/>
        </p:nvSpPr>
        <p:spPr bwMode="auto">
          <a:xfrm>
            <a:off x="7612063" y="4400550"/>
            <a:ext cx="490537" cy="628650"/>
          </a:xfrm>
          <a:custGeom>
            <a:avLst/>
            <a:gdLst>
              <a:gd name="T0" fmla="*/ 0 w 309"/>
              <a:gd name="T1" fmla="*/ 0 h 396"/>
              <a:gd name="T2" fmla="*/ 776207226 w 309"/>
              <a:gd name="T3" fmla="*/ 0 h 396"/>
              <a:gd name="T4" fmla="*/ 776207226 w 309"/>
              <a:gd name="T5" fmla="*/ 995462603 h 396"/>
              <a:gd name="T6" fmla="*/ 0 w 309"/>
              <a:gd name="T7" fmla="*/ 995462603 h 396"/>
              <a:gd name="T8" fmla="*/ 0 w 309"/>
              <a:gd name="T9" fmla="*/ 0 h 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9"/>
              <a:gd name="T16" fmla="*/ 0 h 396"/>
              <a:gd name="T17" fmla="*/ 309 w 309"/>
              <a:gd name="T18" fmla="*/ 396 h 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9" h="396">
                <a:moveTo>
                  <a:pt x="0" y="0"/>
                </a:moveTo>
                <a:lnTo>
                  <a:pt x="308" y="0"/>
                </a:lnTo>
                <a:lnTo>
                  <a:pt x="308" y="395"/>
                </a:lnTo>
                <a:lnTo>
                  <a:pt x="0" y="395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13" name="Line 11"/>
          <p:cNvSpPr>
            <a:spLocks noChangeShapeType="1"/>
          </p:cNvSpPr>
          <p:nvPr/>
        </p:nvSpPr>
        <p:spPr bwMode="auto">
          <a:xfrm>
            <a:off x="5334000" y="3743325"/>
            <a:ext cx="0" cy="1285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14" name="Line 12"/>
          <p:cNvSpPr>
            <a:spLocks noChangeShapeType="1"/>
          </p:cNvSpPr>
          <p:nvPr/>
        </p:nvSpPr>
        <p:spPr bwMode="auto">
          <a:xfrm>
            <a:off x="5334000" y="5029200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15" name="Rectangle 13"/>
          <p:cNvSpPr>
            <a:spLocks noChangeArrowheads="1"/>
          </p:cNvSpPr>
          <p:nvPr/>
        </p:nvSpPr>
        <p:spPr bwMode="auto">
          <a:xfrm>
            <a:off x="4800600" y="48006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02416" name="Rectangle 14"/>
          <p:cNvSpPr>
            <a:spLocks noChangeArrowheads="1"/>
          </p:cNvSpPr>
          <p:nvPr/>
        </p:nvSpPr>
        <p:spPr bwMode="auto">
          <a:xfrm>
            <a:off x="4632325" y="4025900"/>
            <a:ext cx="434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25</a:t>
            </a:r>
          </a:p>
        </p:txBody>
      </p:sp>
      <p:sp>
        <p:nvSpPr>
          <p:cNvPr id="102417" name="Rectangle 15"/>
          <p:cNvSpPr>
            <a:spLocks noChangeArrowheads="1"/>
          </p:cNvSpPr>
          <p:nvPr/>
        </p:nvSpPr>
        <p:spPr bwMode="auto">
          <a:xfrm>
            <a:off x="4632325" y="3259138"/>
            <a:ext cx="434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50</a:t>
            </a:r>
          </a:p>
        </p:txBody>
      </p:sp>
      <p:sp>
        <p:nvSpPr>
          <p:cNvPr id="102418" name="Rectangle 16"/>
          <p:cNvSpPr>
            <a:spLocks noChangeArrowheads="1"/>
          </p:cNvSpPr>
          <p:nvPr/>
        </p:nvSpPr>
        <p:spPr bwMode="auto">
          <a:xfrm>
            <a:off x="5365750" y="52466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Q1</a:t>
            </a:r>
          </a:p>
        </p:txBody>
      </p:sp>
      <p:sp>
        <p:nvSpPr>
          <p:cNvPr id="102419" name="Rectangle 17"/>
          <p:cNvSpPr>
            <a:spLocks noChangeArrowheads="1"/>
          </p:cNvSpPr>
          <p:nvPr/>
        </p:nvSpPr>
        <p:spPr bwMode="auto">
          <a:xfrm>
            <a:off x="6094413" y="52466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Q2</a:t>
            </a:r>
          </a:p>
        </p:txBody>
      </p:sp>
      <p:sp>
        <p:nvSpPr>
          <p:cNvPr id="102420" name="Rectangle 18"/>
          <p:cNvSpPr>
            <a:spLocks noChangeArrowheads="1"/>
          </p:cNvSpPr>
          <p:nvPr/>
        </p:nvSpPr>
        <p:spPr bwMode="auto">
          <a:xfrm>
            <a:off x="6824663" y="52466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Q3</a:t>
            </a:r>
          </a:p>
        </p:txBody>
      </p:sp>
      <p:sp>
        <p:nvSpPr>
          <p:cNvPr id="102421" name="Rectangle 19"/>
          <p:cNvSpPr>
            <a:spLocks noChangeArrowheads="1"/>
          </p:cNvSpPr>
          <p:nvPr/>
        </p:nvSpPr>
        <p:spPr bwMode="auto">
          <a:xfrm>
            <a:off x="7531100" y="5245100"/>
            <a:ext cx="485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Q4</a:t>
            </a:r>
          </a:p>
        </p:txBody>
      </p:sp>
      <p:sp>
        <p:nvSpPr>
          <p:cNvPr id="102422" name="Rectangle 20"/>
          <p:cNvSpPr>
            <a:spLocks noChangeArrowheads="1"/>
          </p:cNvSpPr>
          <p:nvPr/>
        </p:nvSpPr>
        <p:spPr bwMode="auto">
          <a:xfrm>
            <a:off x="5119688" y="3013075"/>
            <a:ext cx="32226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$</a:t>
            </a:r>
          </a:p>
        </p:txBody>
      </p:sp>
      <p:sp>
        <p:nvSpPr>
          <p:cNvPr id="102423" name="Freeform 21"/>
          <p:cNvSpPr>
            <a:spLocks/>
          </p:cNvSpPr>
          <p:nvPr/>
        </p:nvSpPr>
        <p:spPr bwMode="auto">
          <a:xfrm>
            <a:off x="1385888" y="4867275"/>
            <a:ext cx="461962" cy="161925"/>
          </a:xfrm>
          <a:custGeom>
            <a:avLst/>
            <a:gdLst>
              <a:gd name="T0" fmla="*/ 0 w 291"/>
              <a:gd name="T1" fmla="*/ 0 h 96"/>
              <a:gd name="T2" fmla="*/ 730844413 w 291"/>
              <a:gd name="T3" fmla="*/ 0 h 96"/>
              <a:gd name="T4" fmla="*/ 730844413 w 291"/>
              <a:gd name="T5" fmla="*/ 270276459 h 96"/>
              <a:gd name="T6" fmla="*/ 0 w 291"/>
              <a:gd name="T7" fmla="*/ 270276459 h 96"/>
              <a:gd name="T8" fmla="*/ 0 w 291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1"/>
              <a:gd name="T16" fmla="*/ 0 h 96"/>
              <a:gd name="T17" fmla="*/ 291 w 291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1" h="96">
                <a:moveTo>
                  <a:pt x="0" y="0"/>
                </a:moveTo>
                <a:lnTo>
                  <a:pt x="290" y="0"/>
                </a:lnTo>
                <a:lnTo>
                  <a:pt x="290" y="95"/>
                </a:lnTo>
                <a:lnTo>
                  <a:pt x="0" y="95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24" name="Freeform 22"/>
          <p:cNvSpPr>
            <a:spLocks/>
          </p:cNvSpPr>
          <p:nvPr/>
        </p:nvSpPr>
        <p:spPr bwMode="auto">
          <a:xfrm>
            <a:off x="2073275" y="4813300"/>
            <a:ext cx="461963" cy="215900"/>
          </a:xfrm>
          <a:custGeom>
            <a:avLst/>
            <a:gdLst>
              <a:gd name="T0" fmla="*/ 0 w 291"/>
              <a:gd name="T1" fmla="*/ 0 h 130"/>
              <a:gd name="T2" fmla="*/ 730845995 w 291"/>
              <a:gd name="T3" fmla="*/ 0 h 130"/>
              <a:gd name="T4" fmla="*/ 730845995 w 291"/>
              <a:gd name="T5" fmla="*/ 355801476 h 130"/>
              <a:gd name="T6" fmla="*/ 0 w 291"/>
              <a:gd name="T7" fmla="*/ 355801476 h 130"/>
              <a:gd name="T8" fmla="*/ 0 w 291"/>
              <a:gd name="T9" fmla="*/ 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1"/>
              <a:gd name="T16" fmla="*/ 0 h 130"/>
              <a:gd name="T17" fmla="*/ 291 w 291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1" h="130">
                <a:moveTo>
                  <a:pt x="0" y="0"/>
                </a:moveTo>
                <a:lnTo>
                  <a:pt x="290" y="0"/>
                </a:lnTo>
                <a:lnTo>
                  <a:pt x="290" y="129"/>
                </a:lnTo>
                <a:lnTo>
                  <a:pt x="0" y="129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25" name="Freeform 23"/>
          <p:cNvSpPr>
            <a:spLocks/>
          </p:cNvSpPr>
          <p:nvPr/>
        </p:nvSpPr>
        <p:spPr bwMode="auto">
          <a:xfrm>
            <a:off x="2762250" y="4678363"/>
            <a:ext cx="461963" cy="350837"/>
          </a:xfrm>
          <a:custGeom>
            <a:avLst/>
            <a:gdLst>
              <a:gd name="T0" fmla="*/ 0 w 291"/>
              <a:gd name="T1" fmla="*/ 0 h 215"/>
              <a:gd name="T2" fmla="*/ 730845995 w 291"/>
              <a:gd name="T3" fmla="*/ 0 h 215"/>
              <a:gd name="T4" fmla="*/ 730845995 w 291"/>
              <a:gd name="T5" fmla="*/ 569832761 h 215"/>
              <a:gd name="T6" fmla="*/ 0 w 291"/>
              <a:gd name="T7" fmla="*/ 569832761 h 215"/>
              <a:gd name="T8" fmla="*/ 0 w 291"/>
              <a:gd name="T9" fmla="*/ 0 h 2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1"/>
              <a:gd name="T16" fmla="*/ 0 h 215"/>
              <a:gd name="T17" fmla="*/ 291 w 291"/>
              <a:gd name="T18" fmla="*/ 215 h 2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1" h="215">
                <a:moveTo>
                  <a:pt x="0" y="0"/>
                </a:moveTo>
                <a:lnTo>
                  <a:pt x="290" y="0"/>
                </a:lnTo>
                <a:lnTo>
                  <a:pt x="290" y="214"/>
                </a:lnTo>
                <a:lnTo>
                  <a:pt x="0" y="214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26" name="Freeform 24"/>
          <p:cNvSpPr>
            <a:spLocks/>
          </p:cNvSpPr>
          <p:nvPr/>
        </p:nvSpPr>
        <p:spPr bwMode="auto">
          <a:xfrm>
            <a:off x="3449638" y="4867275"/>
            <a:ext cx="461962" cy="161925"/>
          </a:xfrm>
          <a:custGeom>
            <a:avLst/>
            <a:gdLst>
              <a:gd name="T0" fmla="*/ 0 w 291"/>
              <a:gd name="T1" fmla="*/ 0 h 96"/>
              <a:gd name="T2" fmla="*/ 730844413 w 291"/>
              <a:gd name="T3" fmla="*/ 0 h 96"/>
              <a:gd name="T4" fmla="*/ 730844413 w 291"/>
              <a:gd name="T5" fmla="*/ 270276459 h 96"/>
              <a:gd name="T6" fmla="*/ 0 w 291"/>
              <a:gd name="T7" fmla="*/ 270276459 h 96"/>
              <a:gd name="T8" fmla="*/ 0 w 291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1"/>
              <a:gd name="T16" fmla="*/ 0 h 96"/>
              <a:gd name="T17" fmla="*/ 291 w 291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1" h="96">
                <a:moveTo>
                  <a:pt x="0" y="0"/>
                </a:moveTo>
                <a:lnTo>
                  <a:pt x="290" y="0"/>
                </a:lnTo>
                <a:lnTo>
                  <a:pt x="290" y="95"/>
                </a:lnTo>
                <a:lnTo>
                  <a:pt x="0" y="95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27" name="Line 25"/>
          <p:cNvSpPr>
            <a:spLocks noChangeShapeType="1"/>
          </p:cNvSpPr>
          <p:nvPr/>
        </p:nvSpPr>
        <p:spPr bwMode="auto">
          <a:xfrm>
            <a:off x="1295400" y="3743325"/>
            <a:ext cx="0" cy="1285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28" name="Line 26"/>
          <p:cNvSpPr>
            <a:spLocks noChangeShapeType="1"/>
          </p:cNvSpPr>
          <p:nvPr/>
        </p:nvSpPr>
        <p:spPr bwMode="auto">
          <a:xfrm>
            <a:off x="1295400" y="50292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29" name="Rectangle 27"/>
          <p:cNvSpPr>
            <a:spLocks noChangeArrowheads="1"/>
          </p:cNvSpPr>
          <p:nvPr/>
        </p:nvSpPr>
        <p:spPr bwMode="auto">
          <a:xfrm>
            <a:off x="685800" y="48006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102430" name="Rectangle 28"/>
          <p:cNvSpPr>
            <a:spLocks noChangeArrowheads="1"/>
          </p:cNvSpPr>
          <p:nvPr/>
        </p:nvSpPr>
        <p:spPr bwMode="auto">
          <a:xfrm>
            <a:off x="442913" y="4032250"/>
            <a:ext cx="561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100</a:t>
            </a:r>
          </a:p>
        </p:txBody>
      </p:sp>
      <p:sp>
        <p:nvSpPr>
          <p:cNvPr id="102431" name="Rectangle 29"/>
          <p:cNvSpPr>
            <a:spLocks noChangeArrowheads="1"/>
          </p:cNvSpPr>
          <p:nvPr/>
        </p:nvSpPr>
        <p:spPr bwMode="auto">
          <a:xfrm>
            <a:off x="442913" y="3276600"/>
            <a:ext cx="561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200</a:t>
            </a:r>
          </a:p>
        </p:txBody>
      </p:sp>
      <p:sp>
        <p:nvSpPr>
          <p:cNvPr id="102432" name="Rectangle 30"/>
          <p:cNvSpPr>
            <a:spLocks noChangeArrowheads="1"/>
          </p:cNvSpPr>
          <p:nvPr/>
        </p:nvSpPr>
        <p:spPr bwMode="auto">
          <a:xfrm>
            <a:off x="1319213" y="52339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Q1</a:t>
            </a:r>
          </a:p>
        </p:txBody>
      </p:sp>
      <p:sp>
        <p:nvSpPr>
          <p:cNvPr id="102433" name="Rectangle 31"/>
          <p:cNvSpPr>
            <a:spLocks noChangeArrowheads="1"/>
          </p:cNvSpPr>
          <p:nvPr/>
        </p:nvSpPr>
        <p:spPr bwMode="auto">
          <a:xfrm>
            <a:off x="2006600" y="52339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Q2</a:t>
            </a:r>
          </a:p>
        </p:txBody>
      </p:sp>
      <p:sp>
        <p:nvSpPr>
          <p:cNvPr id="102434" name="Rectangle 32"/>
          <p:cNvSpPr>
            <a:spLocks noChangeArrowheads="1"/>
          </p:cNvSpPr>
          <p:nvPr/>
        </p:nvSpPr>
        <p:spPr bwMode="auto">
          <a:xfrm>
            <a:off x="2730500" y="5245100"/>
            <a:ext cx="4857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Q3</a:t>
            </a:r>
          </a:p>
        </p:txBody>
      </p:sp>
      <p:sp>
        <p:nvSpPr>
          <p:cNvPr id="102435" name="Rectangle 33"/>
          <p:cNvSpPr>
            <a:spLocks noChangeArrowheads="1"/>
          </p:cNvSpPr>
          <p:nvPr/>
        </p:nvSpPr>
        <p:spPr bwMode="auto">
          <a:xfrm>
            <a:off x="3382963" y="5233988"/>
            <a:ext cx="4857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Q4</a:t>
            </a:r>
          </a:p>
        </p:txBody>
      </p:sp>
      <p:sp>
        <p:nvSpPr>
          <p:cNvPr id="102436" name="Rectangle 34"/>
          <p:cNvSpPr>
            <a:spLocks noChangeArrowheads="1"/>
          </p:cNvSpPr>
          <p:nvPr/>
        </p:nvSpPr>
        <p:spPr bwMode="auto">
          <a:xfrm>
            <a:off x="1130300" y="3035300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$</a:t>
            </a:r>
          </a:p>
        </p:txBody>
      </p:sp>
      <p:sp>
        <p:nvSpPr>
          <p:cNvPr id="102437" name="Freeform 35"/>
          <p:cNvSpPr>
            <a:spLocks/>
          </p:cNvSpPr>
          <p:nvPr/>
        </p:nvSpPr>
        <p:spPr bwMode="auto">
          <a:xfrm>
            <a:off x="304800" y="1981200"/>
            <a:ext cx="655638" cy="773113"/>
          </a:xfrm>
          <a:custGeom>
            <a:avLst/>
            <a:gdLst>
              <a:gd name="T0" fmla="*/ 755350937 w 562"/>
              <a:gd name="T1" fmla="*/ 634729775 h 565"/>
              <a:gd name="T2" fmla="*/ 715882013 w 562"/>
              <a:gd name="T3" fmla="*/ 778901090 h 565"/>
              <a:gd name="T4" fmla="*/ 650553898 w 562"/>
              <a:gd name="T5" fmla="*/ 902477335 h 565"/>
              <a:gd name="T6" fmla="*/ 563450765 w 562"/>
              <a:gd name="T7" fmla="*/ 992349972 h 565"/>
              <a:gd name="T8" fmla="*/ 458653726 w 562"/>
              <a:gd name="T9" fmla="*/ 1046648479 h 565"/>
              <a:gd name="T10" fmla="*/ 342969834 w 562"/>
              <a:gd name="T11" fmla="*/ 1054137410 h 565"/>
              <a:gd name="T12" fmla="*/ 234090736 w 562"/>
              <a:gd name="T13" fmla="*/ 1016690021 h 565"/>
              <a:gd name="T14" fmla="*/ 140181680 w 562"/>
              <a:gd name="T15" fmla="*/ 936179574 h 565"/>
              <a:gd name="T16" fmla="*/ 65328133 w 562"/>
              <a:gd name="T17" fmla="*/ 823837409 h 565"/>
              <a:gd name="T18" fmla="*/ 17692890 w 562"/>
              <a:gd name="T19" fmla="*/ 685283133 h 565"/>
              <a:gd name="T20" fmla="*/ 0 w 562"/>
              <a:gd name="T21" fmla="*/ 528004650 h 565"/>
              <a:gd name="T22" fmla="*/ 29942354 w 562"/>
              <a:gd name="T23" fmla="*/ 323917872 h 565"/>
              <a:gd name="T24" fmla="*/ 88464463 w 562"/>
              <a:gd name="T25" fmla="*/ 192852698 h 565"/>
              <a:gd name="T26" fmla="*/ 168762621 w 562"/>
              <a:gd name="T27" fmla="*/ 91745939 h 565"/>
              <a:gd name="T28" fmla="*/ 269476507 w 562"/>
              <a:gd name="T29" fmla="*/ 24340060 h 565"/>
              <a:gd name="T30" fmla="*/ 381077318 w 562"/>
              <a:gd name="T31" fmla="*/ 0 h 565"/>
              <a:gd name="T32" fmla="*/ 495400937 w 562"/>
              <a:gd name="T33" fmla="*/ 24340060 h 565"/>
              <a:gd name="T34" fmla="*/ 593391943 w 562"/>
              <a:gd name="T35" fmla="*/ 91745939 h 565"/>
              <a:gd name="T36" fmla="*/ 675051650 w 562"/>
              <a:gd name="T37" fmla="*/ 192852698 h 565"/>
              <a:gd name="T38" fmla="*/ 732213459 w 562"/>
              <a:gd name="T39" fmla="*/ 323917872 h 565"/>
              <a:gd name="T40" fmla="*/ 763516077 w 562"/>
              <a:gd name="T41" fmla="*/ 528004650 h 565"/>
              <a:gd name="T42" fmla="*/ 684579396 w 562"/>
              <a:gd name="T43" fmla="*/ 443749053 h 565"/>
              <a:gd name="T44" fmla="*/ 653275611 w 562"/>
              <a:gd name="T45" fmla="*/ 325789763 h 565"/>
              <a:gd name="T46" fmla="*/ 600196809 w 562"/>
              <a:gd name="T47" fmla="*/ 226554937 h 565"/>
              <a:gd name="T48" fmla="*/ 528064994 w 562"/>
              <a:gd name="T49" fmla="*/ 151661486 h 565"/>
              <a:gd name="T50" fmla="*/ 445043994 w 562"/>
              <a:gd name="T51" fmla="*/ 108597058 h 565"/>
              <a:gd name="T52" fmla="*/ 351136140 w 562"/>
              <a:gd name="T53" fmla="*/ 102980018 h 565"/>
              <a:gd name="T54" fmla="*/ 262671641 w 562"/>
              <a:gd name="T55" fmla="*/ 134810367 h 565"/>
              <a:gd name="T56" fmla="*/ 186455506 w 562"/>
              <a:gd name="T57" fmla="*/ 198469738 h 565"/>
              <a:gd name="T58" fmla="*/ 598836536 w 562"/>
              <a:gd name="T59" fmla="*/ 831327708 h 565"/>
              <a:gd name="T60" fmla="*/ 111600775 w 562"/>
              <a:gd name="T61" fmla="*/ 325789763 h 565"/>
              <a:gd name="T62" fmla="*/ 80298157 w 562"/>
              <a:gd name="T63" fmla="*/ 443749053 h 565"/>
              <a:gd name="T64" fmla="*/ 74854713 w 562"/>
              <a:gd name="T65" fmla="*/ 571069078 h 565"/>
              <a:gd name="T66" fmla="*/ 97991043 w 562"/>
              <a:gd name="T67" fmla="*/ 694645322 h 565"/>
              <a:gd name="T68" fmla="*/ 144264833 w 562"/>
              <a:gd name="T69" fmla="*/ 799497359 h 565"/>
              <a:gd name="T70" fmla="*/ 209592984 w 562"/>
              <a:gd name="T71" fmla="*/ 883752956 h 565"/>
              <a:gd name="T72" fmla="*/ 291252545 w 562"/>
              <a:gd name="T73" fmla="*/ 938051464 h 565"/>
              <a:gd name="T74" fmla="*/ 382438758 w 562"/>
              <a:gd name="T75" fmla="*/ 956774474 h 565"/>
              <a:gd name="T76" fmla="*/ 473624898 w 562"/>
              <a:gd name="T77" fmla="*/ 938051464 h 565"/>
              <a:gd name="T78" fmla="*/ 553924186 w 562"/>
              <a:gd name="T79" fmla="*/ 883752956 h 565"/>
              <a:gd name="T80" fmla="*/ 619251280 w 562"/>
              <a:gd name="T81" fmla="*/ 799497359 h 565"/>
              <a:gd name="T82" fmla="*/ 665525070 w 562"/>
              <a:gd name="T83" fmla="*/ 694645322 h 565"/>
              <a:gd name="T84" fmla="*/ 688661382 w 562"/>
              <a:gd name="T85" fmla="*/ 571069078 h 565"/>
              <a:gd name="T86" fmla="*/ 763516077 w 562"/>
              <a:gd name="T87" fmla="*/ 541111988 h 56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562"/>
              <a:gd name="T133" fmla="*/ 0 h 565"/>
              <a:gd name="T134" fmla="*/ 562 w 562"/>
              <a:gd name="T135" fmla="*/ 565 h 565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562" h="565">
                <a:moveTo>
                  <a:pt x="561" y="289"/>
                </a:moveTo>
                <a:lnTo>
                  <a:pt x="559" y="311"/>
                </a:lnTo>
                <a:lnTo>
                  <a:pt x="555" y="339"/>
                </a:lnTo>
                <a:lnTo>
                  <a:pt x="548" y="366"/>
                </a:lnTo>
                <a:lnTo>
                  <a:pt x="538" y="392"/>
                </a:lnTo>
                <a:lnTo>
                  <a:pt x="526" y="416"/>
                </a:lnTo>
                <a:lnTo>
                  <a:pt x="512" y="440"/>
                </a:lnTo>
                <a:lnTo>
                  <a:pt x="496" y="462"/>
                </a:lnTo>
                <a:lnTo>
                  <a:pt x="478" y="482"/>
                </a:lnTo>
                <a:lnTo>
                  <a:pt x="458" y="500"/>
                </a:lnTo>
                <a:lnTo>
                  <a:pt x="436" y="516"/>
                </a:lnTo>
                <a:lnTo>
                  <a:pt x="414" y="530"/>
                </a:lnTo>
                <a:lnTo>
                  <a:pt x="389" y="543"/>
                </a:lnTo>
                <a:lnTo>
                  <a:pt x="364" y="552"/>
                </a:lnTo>
                <a:lnTo>
                  <a:pt x="337" y="559"/>
                </a:lnTo>
                <a:lnTo>
                  <a:pt x="309" y="563"/>
                </a:lnTo>
                <a:lnTo>
                  <a:pt x="280" y="564"/>
                </a:lnTo>
                <a:lnTo>
                  <a:pt x="252" y="563"/>
                </a:lnTo>
                <a:lnTo>
                  <a:pt x="224" y="559"/>
                </a:lnTo>
                <a:lnTo>
                  <a:pt x="198" y="552"/>
                </a:lnTo>
                <a:lnTo>
                  <a:pt x="172" y="543"/>
                </a:lnTo>
                <a:lnTo>
                  <a:pt x="148" y="530"/>
                </a:lnTo>
                <a:lnTo>
                  <a:pt x="124" y="516"/>
                </a:lnTo>
                <a:lnTo>
                  <a:pt x="103" y="500"/>
                </a:lnTo>
                <a:lnTo>
                  <a:pt x="83" y="482"/>
                </a:lnTo>
                <a:lnTo>
                  <a:pt x="65" y="462"/>
                </a:lnTo>
                <a:lnTo>
                  <a:pt x="48" y="440"/>
                </a:lnTo>
                <a:lnTo>
                  <a:pt x="34" y="416"/>
                </a:lnTo>
                <a:lnTo>
                  <a:pt x="22" y="392"/>
                </a:lnTo>
                <a:lnTo>
                  <a:pt x="13" y="366"/>
                </a:lnTo>
                <a:lnTo>
                  <a:pt x="6" y="339"/>
                </a:lnTo>
                <a:lnTo>
                  <a:pt x="2" y="311"/>
                </a:lnTo>
                <a:lnTo>
                  <a:pt x="0" y="282"/>
                </a:lnTo>
                <a:lnTo>
                  <a:pt x="2" y="254"/>
                </a:lnTo>
                <a:lnTo>
                  <a:pt x="13" y="199"/>
                </a:lnTo>
                <a:lnTo>
                  <a:pt x="22" y="173"/>
                </a:lnTo>
                <a:lnTo>
                  <a:pt x="34" y="149"/>
                </a:lnTo>
                <a:lnTo>
                  <a:pt x="48" y="125"/>
                </a:lnTo>
                <a:lnTo>
                  <a:pt x="65" y="103"/>
                </a:lnTo>
                <a:lnTo>
                  <a:pt x="83" y="83"/>
                </a:lnTo>
                <a:lnTo>
                  <a:pt x="103" y="65"/>
                </a:lnTo>
                <a:lnTo>
                  <a:pt x="124" y="49"/>
                </a:lnTo>
                <a:lnTo>
                  <a:pt x="148" y="34"/>
                </a:lnTo>
                <a:lnTo>
                  <a:pt x="172" y="22"/>
                </a:lnTo>
                <a:lnTo>
                  <a:pt x="198" y="13"/>
                </a:lnTo>
                <a:lnTo>
                  <a:pt x="224" y="6"/>
                </a:lnTo>
                <a:lnTo>
                  <a:pt x="252" y="1"/>
                </a:lnTo>
                <a:lnTo>
                  <a:pt x="280" y="0"/>
                </a:lnTo>
                <a:lnTo>
                  <a:pt x="309" y="1"/>
                </a:lnTo>
                <a:lnTo>
                  <a:pt x="337" y="6"/>
                </a:lnTo>
                <a:lnTo>
                  <a:pt x="364" y="13"/>
                </a:lnTo>
                <a:lnTo>
                  <a:pt x="389" y="22"/>
                </a:lnTo>
                <a:lnTo>
                  <a:pt x="414" y="34"/>
                </a:lnTo>
                <a:lnTo>
                  <a:pt x="436" y="49"/>
                </a:lnTo>
                <a:lnTo>
                  <a:pt x="458" y="65"/>
                </a:lnTo>
                <a:lnTo>
                  <a:pt x="478" y="83"/>
                </a:lnTo>
                <a:lnTo>
                  <a:pt x="496" y="103"/>
                </a:lnTo>
                <a:lnTo>
                  <a:pt x="512" y="125"/>
                </a:lnTo>
                <a:lnTo>
                  <a:pt x="526" y="149"/>
                </a:lnTo>
                <a:lnTo>
                  <a:pt x="538" y="173"/>
                </a:lnTo>
                <a:lnTo>
                  <a:pt x="548" y="199"/>
                </a:lnTo>
                <a:lnTo>
                  <a:pt x="555" y="226"/>
                </a:lnTo>
                <a:lnTo>
                  <a:pt x="561" y="282"/>
                </a:lnTo>
                <a:lnTo>
                  <a:pt x="508" y="282"/>
                </a:lnTo>
                <a:lnTo>
                  <a:pt x="506" y="259"/>
                </a:lnTo>
                <a:lnTo>
                  <a:pt x="503" y="237"/>
                </a:lnTo>
                <a:lnTo>
                  <a:pt x="497" y="215"/>
                </a:lnTo>
                <a:lnTo>
                  <a:pt x="489" y="194"/>
                </a:lnTo>
                <a:lnTo>
                  <a:pt x="480" y="174"/>
                </a:lnTo>
                <a:lnTo>
                  <a:pt x="468" y="155"/>
                </a:lnTo>
                <a:lnTo>
                  <a:pt x="455" y="137"/>
                </a:lnTo>
                <a:lnTo>
                  <a:pt x="441" y="121"/>
                </a:lnTo>
                <a:lnTo>
                  <a:pt x="424" y="106"/>
                </a:lnTo>
                <a:lnTo>
                  <a:pt x="407" y="93"/>
                </a:lnTo>
                <a:lnTo>
                  <a:pt x="388" y="81"/>
                </a:lnTo>
                <a:lnTo>
                  <a:pt x="369" y="72"/>
                </a:lnTo>
                <a:lnTo>
                  <a:pt x="348" y="64"/>
                </a:lnTo>
                <a:lnTo>
                  <a:pt x="327" y="58"/>
                </a:lnTo>
                <a:lnTo>
                  <a:pt x="304" y="55"/>
                </a:lnTo>
                <a:lnTo>
                  <a:pt x="281" y="53"/>
                </a:lnTo>
                <a:lnTo>
                  <a:pt x="258" y="55"/>
                </a:lnTo>
                <a:lnTo>
                  <a:pt x="235" y="58"/>
                </a:lnTo>
                <a:lnTo>
                  <a:pt x="214" y="64"/>
                </a:lnTo>
                <a:lnTo>
                  <a:pt x="193" y="72"/>
                </a:lnTo>
                <a:lnTo>
                  <a:pt x="173" y="81"/>
                </a:lnTo>
                <a:lnTo>
                  <a:pt x="154" y="93"/>
                </a:lnTo>
                <a:lnTo>
                  <a:pt x="137" y="106"/>
                </a:lnTo>
                <a:lnTo>
                  <a:pt x="468" y="410"/>
                </a:lnTo>
                <a:lnTo>
                  <a:pt x="455" y="427"/>
                </a:lnTo>
                <a:lnTo>
                  <a:pt x="440" y="444"/>
                </a:lnTo>
                <a:lnTo>
                  <a:pt x="424" y="458"/>
                </a:lnTo>
                <a:lnTo>
                  <a:pt x="93" y="155"/>
                </a:lnTo>
                <a:lnTo>
                  <a:pt x="82" y="174"/>
                </a:lnTo>
                <a:lnTo>
                  <a:pt x="72" y="194"/>
                </a:lnTo>
                <a:lnTo>
                  <a:pt x="64" y="215"/>
                </a:lnTo>
                <a:lnTo>
                  <a:pt x="59" y="237"/>
                </a:lnTo>
                <a:lnTo>
                  <a:pt x="55" y="259"/>
                </a:lnTo>
                <a:lnTo>
                  <a:pt x="54" y="282"/>
                </a:lnTo>
                <a:lnTo>
                  <a:pt x="55" y="305"/>
                </a:lnTo>
                <a:lnTo>
                  <a:pt x="59" y="328"/>
                </a:lnTo>
                <a:lnTo>
                  <a:pt x="64" y="350"/>
                </a:lnTo>
                <a:lnTo>
                  <a:pt x="72" y="371"/>
                </a:lnTo>
                <a:lnTo>
                  <a:pt x="82" y="391"/>
                </a:lnTo>
                <a:lnTo>
                  <a:pt x="93" y="410"/>
                </a:lnTo>
                <a:lnTo>
                  <a:pt x="106" y="427"/>
                </a:lnTo>
                <a:lnTo>
                  <a:pt x="121" y="444"/>
                </a:lnTo>
                <a:lnTo>
                  <a:pt x="137" y="459"/>
                </a:lnTo>
                <a:lnTo>
                  <a:pt x="154" y="472"/>
                </a:lnTo>
                <a:lnTo>
                  <a:pt x="173" y="483"/>
                </a:lnTo>
                <a:lnTo>
                  <a:pt x="193" y="493"/>
                </a:lnTo>
                <a:lnTo>
                  <a:pt x="214" y="501"/>
                </a:lnTo>
                <a:lnTo>
                  <a:pt x="235" y="506"/>
                </a:lnTo>
                <a:lnTo>
                  <a:pt x="258" y="510"/>
                </a:lnTo>
                <a:lnTo>
                  <a:pt x="281" y="511"/>
                </a:lnTo>
                <a:lnTo>
                  <a:pt x="304" y="510"/>
                </a:lnTo>
                <a:lnTo>
                  <a:pt x="327" y="506"/>
                </a:lnTo>
                <a:lnTo>
                  <a:pt x="348" y="501"/>
                </a:lnTo>
                <a:lnTo>
                  <a:pt x="369" y="493"/>
                </a:lnTo>
                <a:lnTo>
                  <a:pt x="388" y="483"/>
                </a:lnTo>
                <a:lnTo>
                  <a:pt x="407" y="472"/>
                </a:lnTo>
                <a:lnTo>
                  <a:pt x="424" y="458"/>
                </a:lnTo>
                <a:lnTo>
                  <a:pt x="440" y="444"/>
                </a:lnTo>
                <a:lnTo>
                  <a:pt x="455" y="427"/>
                </a:lnTo>
                <a:lnTo>
                  <a:pt x="468" y="410"/>
                </a:lnTo>
                <a:lnTo>
                  <a:pt x="480" y="391"/>
                </a:lnTo>
                <a:lnTo>
                  <a:pt x="489" y="371"/>
                </a:lnTo>
                <a:lnTo>
                  <a:pt x="497" y="350"/>
                </a:lnTo>
                <a:lnTo>
                  <a:pt x="503" y="328"/>
                </a:lnTo>
                <a:lnTo>
                  <a:pt x="506" y="305"/>
                </a:lnTo>
                <a:lnTo>
                  <a:pt x="508" y="282"/>
                </a:lnTo>
                <a:lnTo>
                  <a:pt x="561" y="282"/>
                </a:lnTo>
                <a:lnTo>
                  <a:pt x="561" y="289"/>
                </a:lnTo>
              </a:path>
            </a:pathLst>
          </a:custGeom>
          <a:solidFill>
            <a:srgbClr val="FF0054"/>
          </a:solidFill>
          <a:ln w="12700" cap="rnd">
            <a:solidFill>
              <a:srgbClr val="FF0054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38" name="Rectangle 36"/>
          <p:cNvSpPr>
            <a:spLocks noChangeArrowheads="1"/>
          </p:cNvSpPr>
          <p:nvPr/>
        </p:nvSpPr>
        <p:spPr bwMode="auto">
          <a:xfrm>
            <a:off x="4649788" y="1906588"/>
            <a:ext cx="835025" cy="758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4400">
                <a:solidFill>
                  <a:schemeClr val="bg2"/>
                </a:solidFill>
                <a:latin typeface="Wingdings" pitchFamily="2" charset="2"/>
              </a:rPr>
              <a:t></a:t>
            </a:r>
          </a:p>
        </p:txBody>
      </p:sp>
      <p:sp>
        <p:nvSpPr>
          <p:cNvPr id="102439" name="TextBox 38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02AB79F0-9107-45C7-9FB7-949EBDFBEAE3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10342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342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088158A1-931F-45A3-9370-2783E3539B5A}" type="slidenum">
              <a:rPr lang="en-US" sz="1000"/>
              <a:pPr algn="r" defTabSz="852488"/>
              <a:t>56</a:t>
            </a:fld>
            <a:endParaRPr lang="en-US" sz="1000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Graphical Errors: No Zero Point on the Vertical Axis</a:t>
            </a:r>
          </a:p>
        </p:txBody>
      </p:sp>
      <p:sp>
        <p:nvSpPr>
          <p:cNvPr id="103429" name="Rectangle 3"/>
          <p:cNvSpPr>
            <a:spLocks noChangeArrowheads="1"/>
          </p:cNvSpPr>
          <p:nvPr/>
        </p:nvSpPr>
        <p:spPr bwMode="auto">
          <a:xfrm>
            <a:off x="1736725" y="2800350"/>
            <a:ext cx="2205038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Monthly Sales</a:t>
            </a:r>
          </a:p>
        </p:txBody>
      </p:sp>
      <p:sp>
        <p:nvSpPr>
          <p:cNvPr id="103430" name="Line 4"/>
          <p:cNvSpPr>
            <a:spLocks noChangeShapeType="1"/>
          </p:cNvSpPr>
          <p:nvPr/>
        </p:nvSpPr>
        <p:spPr bwMode="auto">
          <a:xfrm flipH="1">
            <a:off x="1452563" y="3500438"/>
            <a:ext cx="0" cy="1400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Line 5"/>
          <p:cNvSpPr>
            <a:spLocks noChangeShapeType="1"/>
          </p:cNvSpPr>
          <p:nvPr/>
        </p:nvSpPr>
        <p:spPr bwMode="auto">
          <a:xfrm>
            <a:off x="1452563" y="4900613"/>
            <a:ext cx="2551112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432" name="Group 6"/>
          <p:cNvGrpSpPr>
            <a:grpSpLocks/>
          </p:cNvGrpSpPr>
          <p:nvPr/>
        </p:nvGrpSpPr>
        <p:grpSpPr bwMode="auto">
          <a:xfrm>
            <a:off x="1479550" y="3667125"/>
            <a:ext cx="2547938" cy="1060450"/>
            <a:chOff x="932" y="2310"/>
            <a:chExt cx="1605" cy="668"/>
          </a:xfrm>
        </p:grpSpPr>
        <p:sp>
          <p:nvSpPr>
            <p:cNvPr id="103483" name="Freeform 7"/>
            <p:cNvSpPr>
              <a:spLocks/>
            </p:cNvSpPr>
            <p:nvPr/>
          </p:nvSpPr>
          <p:spPr bwMode="auto">
            <a:xfrm>
              <a:off x="932" y="2312"/>
              <a:ext cx="147" cy="190"/>
            </a:xfrm>
            <a:custGeom>
              <a:avLst/>
              <a:gdLst>
                <a:gd name="T0" fmla="*/ 0 w 158"/>
                <a:gd name="T1" fmla="*/ 173 h 207"/>
                <a:gd name="T2" fmla="*/ 17 w 158"/>
                <a:gd name="T3" fmla="*/ 151 h 207"/>
                <a:gd name="T4" fmla="*/ 33 w 158"/>
                <a:gd name="T5" fmla="*/ 124 h 207"/>
                <a:gd name="T6" fmla="*/ 51 w 158"/>
                <a:gd name="T7" fmla="*/ 97 h 207"/>
                <a:gd name="T8" fmla="*/ 68 w 158"/>
                <a:gd name="T9" fmla="*/ 70 h 207"/>
                <a:gd name="T10" fmla="*/ 84 w 158"/>
                <a:gd name="T11" fmla="*/ 46 h 207"/>
                <a:gd name="T12" fmla="*/ 100 w 158"/>
                <a:gd name="T13" fmla="*/ 26 h 207"/>
                <a:gd name="T14" fmla="*/ 119 w 158"/>
                <a:gd name="T15" fmla="*/ 9 h 207"/>
                <a:gd name="T16" fmla="*/ 127 w 158"/>
                <a:gd name="T17" fmla="*/ 6 h 207"/>
                <a:gd name="T18" fmla="*/ 136 w 158"/>
                <a:gd name="T19" fmla="*/ 0 h 2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8"/>
                <a:gd name="T31" fmla="*/ 0 h 207"/>
                <a:gd name="T32" fmla="*/ 158 w 158"/>
                <a:gd name="T33" fmla="*/ 207 h 2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8" h="207">
                  <a:moveTo>
                    <a:pt x="0" y="206"/>
                  </a:moveTo>
                  <a:lnTo>
                    <a:pt x="19" y="179"/>
                  </a:lnTo>
                  <a:lnTo>
                    <a:pt x="38" y="147"/>
                  </a:lnTo>
                  <a:lnTo>
                    <a:pt x="59" y="115"/>
                  </a:lnTo>
                  <a:lnTo>
                    <a:pt x="78" y="83"/>
                  </a:lnTo>
                  <a:lnTo>
                    <a:pt x="97" y="54"/>
                  </a:lnTo>
                  <a:lnTo>
                    <a:pt x="116" y="30"/>
                  </a:lnTo>
                  <a:lnTo>
                    <a:pt x="138" y="11"/>
                  </a:lnTo>
                  <a:lnTo>
                    <a:pt x="147" y="6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4" name="Freeform 8"/>
            <p:cNvSpPr>
              <a:spLocks/>
            </p:cNvSpPr>
            <p:nvPr/>
          </p:nvSpPr>
          <p:spPr bwMode="auto">
            <a:xfrm>
              <a:off x="1078" y="2310"/>
              <a:ext cx="146" cy="98"/>
            </a:xfrm>
            <a:custGeom>
              <a:avLst/>
              <a:gdLst>
                <a:gd name="T0" fmla="*/ 0 w 157"/>
                <a:gd name="T1" fmla="*/ 2 h 107"/>
                <a:gd name="T2" fmla="*/ 7 w 157"/>
                <a:gd name="T3" fmla="*/ 0 h 107"/>
                <a:gd name="T4" fmla="*/ 17 w 157"/>
                <a:gd name="T5" fmla="*/ 0 h 107"/>
                <a:gd name="T6" fmla="*/ 33 w 157"/>
                <a:gd name="T7" fmla="*/ 6 h 107"/>
                <a:gd name="T8" fmla="*/ 51 w 157"/>
                <a:gd name="T9" fmla="*/ 15 h 107"/>
                <a:gd name="T10" fmla="*/ 68 w 157"/>
                <a:gd name="T11" fmla="*/ 28 h 107"/>
                <a:gd name="T12" fmla="*/ 84 w 157"/>
                <a:gd name="T13" fmla="*/ 45 h 107"/>
                <a:gd name="T14" fmla="*/ 100 w 157"/>
                <a:gd name="T15" fmla="*/ 62 h 107"/>
                <a:gd name="T16" fmla="*/ 118 w 157"/>
                <a:gd name="T17" fmla="*/ 75 h 107"/>
                <a:gd name="T18" fmla="*/ 135 w 157"/>
                <a:gd name="T19" fmla="*/ 89 h 1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7"/>
                <a:gd name="T31" fmla="*/ 0 h 107"/>
                <a:gd name="T32" fmla="*/ 157 w 157"/>
                <a:gd name="T33" fmla="*/ 107 h 1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7" h="107">
                  <a:moveTo>
                    <a:pt x="0" y="2"/>
                  </a:moveTo>
                  <a:lnTo>
                    <a:pt x="9" y="0"/>
                  </a:lnTo>
                  <a:lnTo>
                    <a:pt x="19" y="0"/>
                  </a:lnTo>
                  <a:lnTo>
                    <a:pt x="38" y="8"/>
                  </a:lnTo>
                  <a:lnTo>
                    <a:pt x="59" y="18"/>
                  </a:lnTo>
                  <a:lnTo>
                    <a:pt x="78" y="34"/>
                  </a:lnTo>
                  <a:lnTo>
                    <a:pt x="97" y="53"/>
                  </a:lnTo>
                  <a:lnTo>
                    <a:pt x="116" y="74"/>
                  </a:lnTo>
                  <a:lnTo>
                    <a:pt x="137" y="90"/>
                  </a:lnTo>
                  <a:lnTo>
                    <a:pt x="156" y="106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5" name="Freeform 9"/>
            <p:cNvSpPr>
              <a:spLocks/>
            </p:cNvSpPr>
            <p:nvPr/>
          </p:nvSpPr>
          <p:spPr bwMode="auto">
            <a:xfrm>
              <a:off x="1223" y="2407"/>
              <a:ext cx="147" cy="95"/>
            </a:xfrm>
            <a:custGeom>
              <a:avLst/>
              <a:gdLst>
                <a:gd name="T0" fmla="*/ 0 w 158"/>
                <a:gd name="T1" fmla="*/ 0 h 103"/>
                <a:gd name="T2" fmla="*/ 17 w 158"/>
                <a:gd name="T3" fmla="*/ 9 h 103"/>
                <a:gd name="T4" fmla="*/ 33 w 158"/>
                <a:gd name="T5" fmla="*/ 18 h 103"/>
                <a:gd name="T6" fmla="*/ 69 w 158"/>
                <a:gd name="T7" fmla="*/ 32 h 103"/>
                <a:gd name="T8" fmla="*/ 85 w 158"/>
                <a:gd name="T9" fmla="*/ 41 h 103"/>
                <a:gd name="T10" fmla="*/ 101 w 158"/>
                <a:gd name="T11" fmla="*/ 53 h 103"/>
                <a:gd name="T12" fmla="*/ 119 w 158"/>
                <a:gd name="T13" fmla="*/ 66 h 103"/>
                <a:gd name="T14" fmla="*/ 136 w 158"/>
                <a:gd name="T15" fmla="*/ 87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3"/>
                <a:gd name="T26" fmla="*/ 158 w 158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3">
                  <a:moveTo>
                    <a:pt x="0" y="0"/>
                  </a:moveTo>
                  <a:lnTo>
                    <a:pt x="19" y="11"/>
                  </a:lnTo>
                  <a:lnTo>
                    <a:pt x="38" y="22"/>
                  </a:lnTo>
                  <a:lnTo>
                    <a:pt x="79" y="38"/>
                  </a:lnTo>
                  <a:lnTo>
                    <a:pt x="98" y="48"/>
                  </a:lnTo>
                  <a:lnTo>
                    <a:pt x="117" y="62"/>
                  </a:lnTo>
                  <a:lnTo>
                    <a:pt x="138" y="78"/>
                  </a:lnTo>
                  <a:lnTo>
                    <a:pt x="157" y="102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6" name="Freeform 10"/>
            <p:cNvSpPr>
              <a:spLocks/>
            </p:cNvSpPr>
            <p:nvPr/>
          </p:nvSpPr>
          <p:spPr bwMode="auto">
            <a:xfrm>
              <a:off x="1369" y="2501"/>
              <a:ext cx="147" cy="288"/>
            </a:xfrm>
            <a:custGeom>
              <a:avLst/>
              <a:gdLst>
                <a:gd name="T0" fmla="*/ 0 w 158"/>
                <a:gd name="T1" fmla="*/ 0 h 313"/>
                <a:gd name="T2" fmla="*/ 8 w 158"/>
                <a:gd name="T3" fmla="*/ 11 h 313"/>
                <a:gd name="T4" fmla="*/ 17 w 158"/>
                <a:gd name="T5" fmla="*/ 25 h 313"/>
                <a:gd name="T6" fmla="*/ 33 w 158"/>
                <a:gd name="T7" fmla="*/ 58 h 313"/>
                <a:gd name="T8" fmla="*/ 52 w 158"/>
                <a:gd name="T9" fmla="*/ 95 h 313"/>
                <a:gd name="T10" fmla="*/ 69 w 158"/>
                <a:gd name="T11" fmla="*/ 132 h 313"/>
                <a:gd name="T12" fmla="*/ 85 w 158"/>
                <a:gd name="T13" fmla="*/ 169 h 313"/>
                <a:gd name="T14" fmla="*/ 101 w 158"/>
                <a:gd name="T15" fmla="*/ 206 h 313"/>
                <a:gd name="T16" fmla="*/ 119 w 158"/>
                <a:gd name="T17" fmla="*/ 239 h 313"/>
                <a:gd name="T18" fmla="*/ 128 w 158"/>
                <a:gd name="T19" fmla="*/ 253 h 313"/>
                <a:gd name="T20" fmla="*/ 136 w 158"/>
                <a:gd name="T21" fmla="*/ 264 h 3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8"/>
                <a:gd name="T34" fmla="*/ 0 h 313"/>
                <a:gd name="T35" fmla="*/ 158 w 158"/>
                <a:gd name="T36" fmla="*/ 313 h 31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8" h="313">
                  <a:moveTo>
                    <a:pt x="0" y="0"/>
                  </a:moveTo>
                  <a:lnTo>
                    <a:pt x="10" y="13"/>
                  </a:lnTo>
                  <a:lnTo>
                    <a:pt x="19" y="29"/>
                  </a:lnTo>
                  <a:lnTo>
                    <a:pt x="38" y="69"/>
                  </a:lnTo>
                  <a:lnTo>
                    <a:pt x="60" y="112"/>
                  </a:lnTo>
                  <a:lnTo>
                    <a:pt x="79" y="155"/>
                  </a:lnTo>
                  <a:lnTo>
                    <a:pt x="98" y="200"/>
                  </a:lnTo>
                  <a:lnTo>
                    <a:pt x="117" y="243"/>
                  </a:lnTo>
                  <a:lnTo>
                    <a:pt x="138" y="283"/>
                  </a:lnTo>
                  <a:lnTo>
                    <a:pt x="148" y="299"/>
                  </a:lnTo>
                  <a:lnTo>
                    <a:pt x="157" y="312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7" name="Freeform 11"/>
            <p:cNvSpPr>
              <a:spLocks/>
            </p:cNvSpPr>
            <p:nvPr/>
          </p:nvSpPr>
          <p:spPr bwMode="auto">
            <a:xfrm>
              <a:off x="1515" y="2788"/>
              <a:ext cx="147" cy="94"/>
            </a:xfrm>
            <a:custGeom>
              <a:avLst/>
              <a:gdLst>
                <a:gd name="T0" fmla="*/ 0 w 158"/>
                <a:gd name="T1" fmla="*/ 0 h 103"/>
                <a:gd name="T2" fmla="*/ 17 w 158"/>
                <a:gd name="T3" fmla="*/ 20 h 103"/>
                <a:gd name="T4" fmla="*/ 33 w 158"/>
                <a:gd name="T5" fmla="*/ 34 h 103"/>
                <a:gd name="T6" fmla="*/ 51 w 158"/>
                <a:gd name="T7" fmla="*/ 45 h 103"/>
                <a:gd name="T8" fmla="*/ 68 w 158"/>
                <a:gd name="T9" fmla="*/ 53 h 103"/>
                <a:gd name="T10" fmla="*/ 100 w 158"/>
                <a:gd name="T11" fmla="*/ 67 h 103"/>
                <a:gd name="T12" fmla="*/ 119 w 158"/>
                <a:gd name="T13" fmla="*/ 76 h 103"/>
                <a:gd name="T14" fmla="*/ 136 w 158"/>
                <a:gd name="T15" fmla="*/ 85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3"/>
                <a:gd name="T26" fmla="*/ 158 w 158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3">
                  <a:moveTo>
                    <a:pt x="0" y="0"/>
                  </a:moveTo>
                  <a:lnTo>
                    <a:pt x="19" y="24"/>
                  </a:lnTo>
                  <a:lnTo>
                    <a:pt x="38" y="40"/>
                  </a:lnTo>
                  <a:lnTo>
                    <a:pt x="59" y="54"/>
                  </a:lnTo>
                  <a:lnTo>
                    <a:pt x="78" y="64"/>
                  </a:lnTo>
                  <a:lnTo>
                    <a:pt x="116" y="80"/>
                  </a:lnTo>
                  <a:lnTo>
                    <a:pt x="138" y="91"/>
                  </a:lnTo>
                  <a:lnTo>
                    <a:pt x="157" y="102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8" name="Freeform 12"/>
            <p:cNvSpPr>
              <a:spLocks/>
            </p:cNvSpPr>
            <p:nvPr/>
          </p:nvSpPr>
          <p:spPr bwMode="auto">
            <a:xfrm>
              <a:off x="1661" y="2882"/>
              <a:ext cx="147" cy="96"/>
            </a:xfrm>
            <a:custGeom>
              <a:avLst/>
              <a:gdLst>
                <a:gd name="T0" fmla="*/ 0 w 158"/>
                <a:gd name="T1" fmla="*/ 0 h 105"/>
                <a:gd name="T2" fmla="*/ 17 w 158"/>
                <a:gd name="T3" fmla="*/ 11 h 105"/>
                <a:gd name="T4" fmla="*/ 33 w 158"/>
                <a:gd name="T5" fmla="*/ 25 h 105"/>
                <a:gd name="T6" fmla="*/ 68 w 158"/>
                <a:gd name="T7" fmla="*/ 54 h 105"/>
                <a:gd name="T8" fmla="*/ 84 w 158"/>
                <a:gd name="T9" fmla="*/ 67 h 105"/>
                <a:gd name="T10" fmla="*/ 100 w 158"/>
                <a:gd name="T11" fmla="*/ 78 h 105"/>
                <a:gd name="T12" fmla="*/ 119 w 158"/>
                <a:gd name="T13" fmla="*/ 84 h 105"/>
                <a:gd name="T14" fmla="*/ 136 w 158"/>
                <a:gd name="T15" fmla="*/ 87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5"/>
                <a:gd name="T26" fmla="*/ 158 w 15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5">
                  <a:moveTo>
                    <a:pt x="0" y="0"/>
                  </a:moveTo>
                  <a:lnTo>
                    <a:pt x="19" y="13"/>
                  </a:lnTo>
                  <a:lnTo>
                    <a:pt x="38" y="29"/>
                  </a:lnTo>
                  <a:lnTo>
                    <a:pt x="78" y="64"/>
                  </a:lnTo>
                  <a:lnTo>
                    <a:pt x="97" y="80"/>
                  </a:lnTo>
                  <a:lnTo>
                    <a:pt x="116" y="93"/>
                  </a:lnTo>
                  <a:lnTo>
                    <a:pt x="138" y="101"/>
                  </a:lnTo>
                  <a:lnTo>
                    <a:pt x="157" y="104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9" name="Freeform 13"/>
            <p:cNvSpPr>
              <a:spLocks/>
            </p:cNvSpPr>
            <p:nvPr/>
          </p:nvSpPr>
          <p:spPr bwMode="auto">
            <a:xfrm>
              <a:off x="1807" y="2882"/>
              <a:ext cx="147" cy="96"/>
            </a:xfrm>
            <a:custGeom>
              <a:avLst/>
              <a:gdLst>
                <a:gd name="T0" fmla="*/ 0 w 158"/>
                <a:gd name="T1" fmla="*/ 87 h 105"/>
                <a:gd name="T2" fmla="*/ 17 w 158"/>
                <a:gd name="T3" fmla="*/ 84 h 105"/>
                <a:gd name="T4" fmla="*/ 33 w 158"/>
                <a:gd name="T5" fmla="*/ 80 h 105"/>
                <a:gd name="T6" fmla="*/ 51 w 158"/>
                <a:gd name="T7" fmla="*/ 71 h 105"/>
                <a:gd name="T8" fmla="*/ 68 w 158"/>
                <a:gd name="T9" fmla="*/ 60 h 105"/>
                <a:gd name="T10" fmla="*/ 84 w 158"/>
                <a:gd name="T11" fmla="*/ 47 h 105"/>
                <a:gd name="T12" fmla="*/ 100 w 158"/>
                <a:gd name="T13" fmla="*/ 31 h 105"/>
                <a:gd name="T14" fmla="*/ 136 w 15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5"/>
                <a:gd name="T26" fmla="*/ 158 w 15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5">
                  <a:moveTo>
                    <a:pt x="0" y="104"/>
                  </a:moveTo>
                  <a:lnTo>
                    <a:pt x="19" y="101"/>
                  </a:lnTo>
                  <a:lnTo>
                    <a:pt x="38" y="96"/>
                  </a:lnTo>
                  <a:lnTo>
                    <a:pt x="59" y="85"/>
                  </a:lnTo>
                  <a:lnTo>
                    <a:pt x="78" y="72"/>
                  </a:lnTo>
                  <a:lnTo>
                    <a:pt x="97" y="56"/>
                  </a:lnTo>
                  <a:lnTo>
                    <a:pt x="116" y="37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90" name="Freeform 14"/>
            <p:cNvSpPr>
              <a:spLocks/>
            </p:cNvSpPr>
            <p:nvPr/>
          </p:nvSpPr>
          <p:spPr bwMode="auto">
            <a:xfrm>
              <a:off x="1953" y="2692"/>
              <a:ext cx="146" cy="190"/>
            </a:xfrm>
            <a:custGeom>
              <a:avLst/>
              <a:gdLst>
                <a:gd name="T0" fmla="*/ 0 w 157"/>
                <a:gd name="T1" fmla="*/ 173 h 207"/>
                <a:gd name="T2" fmla="*/ 17 w 157"/>
                <a:gd name="T3" fmla="*/ 155 h 207"/>
                <a:gd name="T4" fmla="*/ 33 w 157"/>
                <a:gd name="T5" fmla="*/ 135 h 207"/>
                <a:gd name="T6" fmla="*/ 51 w 157"/>
                <a:gd name="T7" fmla="*/ 110 h 207"/>
                <a:gd name="T8" fmla="*/ 68 w 157"/>
                <a:gd name="T9" fmla="*/ 86 h 207"/>
                <a:gd name="T10" fmla="*/ 84 w 157"/>
                <a:gd name="T11" fmla="*/ 63 h 207"/>
                <a:gd name="T12" fmla="*/ 100 w 157"/>
                <a:gd name="T13" fmla="*/ 39 h 207"/>
                <a:gd name="T14" fmla="*/ 118 w 157"/>
                <a:gd name="T15" fmla="*/ 18 h 207"/>
                <a:gd name="T16" fmla="*/ 135 w 157"/>
                <a:gd name="T17" fmla="*/ 0 h 2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7"/>
                <a:gd name="T28" fmla="*/ 0 h 207"/>
                <a:gd name="T29" fmla="*/ 157 w 157"/>
                <a:gd name="T30" fmla="*/ 207 h 20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7" h="207">
                  <a:moveTo>
                    <a:pt x="0" y="206"/>
                  </a:moveTo>
                  <a:lnTo>
                    <a:pt x="19" y="184"/>
                  </a:lnTo>
                  <a:lnTo>
                    <a:pt x="38" y="160"/>
                  </a:lnTo>
                  <a:lnTo>
                    <a:pt x="59" y="131"/>
                  </a:lnTo>
                  <a:lnTo>
                    <a:pt x="78" y="102"/>
                  </a:lnTo>
                  <a:lnTo>
                    <a:pt x="97" y="75"/>
                  </a:lnTo>
                  <a:lnTo>
                    <a:pt x="116" y="46"/>
                  </a:lnTo>
                  <a:lnTo>
                    <a:pt x="137" y="22"/>
                  </a:lnTo>
                  <a:lnTo>
                    <a:pt x="156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91" name="Freeform 15"/>
            <p:cNvSpPr>
              <a:spLocks/>
            </p:cNvSpPr>
            <p:nvPr/>
          </p:nvSpPr>
          <p:spPr bwMode="auto">
            <a:xfrm>
              <a:off x="2098" y="2597"/>
              <a:ext cx="147" cy="96"/>
            </a:xfrm>
            <a:custGeom>
              <a:avLst/>
              <a:gdLst>
                <a:gd name="T0" fmla="*/ 0 w 158"/>
                <a:gd name="T1" fmla="*/ 87 h 105"/>
                <a:gd name="T2" fmla="*/ 17 w 158"/>
                <a:gd name="T3" fmla="*/ 71 h 105"/>
                <a:gd name="T4" fmla="*/ 33 w 158"/>
                <a:gd name="T5" fmla="*/ 60 h 105"/>
                <a:gd name="T6" fmla="*/ 69 w 158"/>
                <a:gd name="T7" fmla="*/ 37 h 105"/>
                <a:gd name="T8" fmla="*/ 101 w 158"/>
                <a:gd name="T9" fmla="*/ 20 h 105"/>
                <a:gd name="T10" fmla="*/ 136 w 158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105"/>
                <a:gd name="T20" fmla="*/ 158 w 158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105">
                  <a:moveTo>
                    <a:pt x="0" y="104"/>
                  </a:moveTo>
                  <a:lnTo>
                    <a:pt x="19" y="85"/>
                  </a:lnTo>
                  <a:lnTo>
                    <a:pt x="38" y="72"/>
                  </a:lnTo>
                  <a:lnTo>
                    <a:pt x="79" y="45"/>
                  </a:lnTo>
                  <a:lnTo>
                    <a:pt x="117" y="24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92" name="Freeform 16"/>
            <p:cNvSpPr>
              <a:spLocks/>
            </p:cNvSpPr>
            <p:nvPr/>
          </p:nvSpPr>
          <p:spPr bwMode="auto">
            <a:xfrm>
              <a:off x="2244" y="2501"/>
              <a:ext cx="147" cy="97"/>
            </a:xfrm>
            <a:custGeom>
              <a:avLst/>
              <a:gdLst>
                <a:gd name="T0" fmla="*/ 0 w 158"/>
                <a:gd name="T1" fmla="*/ 89 h 105"/>
                <a:gd name="T2" fmla="*/ 33 w 158"/>
                <a:gd name="T3" fmla="*/ 68 h 105"/>
                <a:gd name="T4" fmla="*/ 69 w 158"/>
                <a:gd name="T5" fmla="*/ 51 h 105"/>
                <a:gd name="T6" fmla="*/ 101 w 158"/>
                <a:gd name="T7" fmla="*/ 28 h 105"/>
                <a:gd name="T8" fmla="*/ 119 w 158"/>
                <a:gd name="T9" fmla="*/ 17 h 105"/>
                <a:gd name="T10" fmla="*/ 136 w 158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105"/>
                <a:gd name="T20" fmla="*/ 158 w 158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105">
                  <a:moveTo>
                    <a:pt x="0" y="104"/>
                  </a:moveTo>
                  <a:lnTo>
                    <a:pt x="38" y="80"/>
                  </a:lnTo>
                  <a:lnTo>
                    <a:pt x="79" y="59"/>
                  </a:lnTo>
                  <a:lnTo>
                    <a:pt x="117" y="32"/>
                  </a:lnTo>
                  <a:lnTo>
                    <a:pt x="138" y="19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93" name="Freeform 17"/>
            <p:cNvSpPr>
              <a:spLocks/>
            </p:cNvSpPr>
            <p:nvPr/>
          </p:nvSpPr>
          <p:spPr bwMode="auto">
            <a:xfrm>
              <a:off x="2390" y="2312"/>
              <a:ext cx="147" cy="190"/>
            </a:xfrm>
            <a:custGeom>
              <a:avLst/>
              <a:gdLst>
                <a:gd name="T0" fmla="*/ 0 w 158"/>
                <a:gd name="T1" fmla="*/ 173 h 207"/>
                <a:gd name="T2" fmla="*/ 17 w 158"/>
                <a:gd name="T3" fmla="*/ 155 h 207"/>
                <a:gd name="T4" fmla="*/ 33 w 158"/>
                <a:gd name="T5" fmla="*/ 135 h 207"/>
                <a:gd name="T6" fmla="*/ 68 w 158"/>
                <a:gd name="T7" fmla="*/ 93 h 207"/>
                <a:gd name="T8" fmla="*/ 100 w 158"/>
                <a:gd name="T9" fmla="*/ 46 h 207"/>
                <a:gd name="T10" fmla="*/ 136 w 158"/>
                <a:gd name="T11" fmla="*/ 0 h 2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207"/>
                <a:gd name="T20" fmla="*/ 158 w 158"/>
                <a:gd name="T21" fmla="*/ 207 h 2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207">
                  <a:moveTo>
                    <a:pt x="0" y="206"/>
                  </a:moveTo>
                  <a:lnTo>
                    <a:pt x="19" y="184"/>
                  </a:lnTo>
                  <a:lnTo>
                    <a:pt x="38" y="160"/>
                  </a:lnTo>
                  <a:lnTo>
                    <a:pt x="78" y="110"/>
                  </a:lnTo>
                  <a:lnTo>
                    <a:pt x="116" y="54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3433" name="Rectangle 18"/>
          <p:cNvSpPr>
            <a:spLocks noChangeArrowheads="1"/>
          </p:cNvSpPr>
          <p:nvPr/>
        </p:nvSpPr>
        <p:spPr bwMode="auto">
          <a:xfrm>
            <a:off x="887413" y="4664075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36</a:t>
            </a:r>
          </a:p>
        </p:txBody>
      </p:sp>
      <p:sp>
        <p:nvSpPr>
          <p:cNvPr id="103434" name="Rectangle 19"/>
          <p:cNvSpPr>
            <a:spLocks noChangeArrowheads="1"/>
          </p:cNvSpPr>
          <p:nvPr/>
        </p:nvSpPr>
        <p:spPr bwMode="auto">
          <a:xfrm>
            <a:off x="887413" y="4211638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39</a:t>
            </a:r>
          </a:p>
        </p:txBody>
      </p:sp>
      <p:sp>
        <p:nvSpPr>
          <p:cNvPr id="103435" name="Rectangle 20"/>
          <p:cNvSpPr>
            <a:spLocks noChangeArrowheads="1"/>
          </p:cNvSpPr>
          <p:nvPr/>
        </p:nvSpPr>
        <p:spPr bwMode="auto">
          <a:xfrm>
            <a:off x="887413" y="3756025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42</a:t>
            </a:r>
          </a:p>
        </p:txBody>
      </p:sp>
      <p:sp>
        <p:nvSpPr>
          <p:cNvPr id="103436" name="Rectangle 21"/>
          <p:cNvSpPr>
            <a:spLocks noChangeArrowheads="1"/>
          </p:cNvSpPr>
          <p:nvPr/>
        </p:nvSpPr>
        <p:spPr bwMode="auto">
          <a:xfrm>
            <a:off x="887413" y="3303588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45</a:t>
            </a:r>
          </a:p>
        </p:txBody>
      </p:sp>
      <p:sp>
        <p:nvSpPr>
          <p:cNvPr id="103437" name="Rectangle 22"/>
          <p:cNvSpPr>
            <a:spLocks noChangeArrowheads="1"/>
          </p:cNvSpPr>
          <p:nvPr/>
        </p:nvSpPr>
        <p:spPr bwMode="auto">
          <a:xfrm>
            <a:off x="1316038" y="4905375"/>
            <a:ext cx="32226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J</a:t>
            </a:r>
          </a:p>
        </p:txBody>
      </p:sp>
      <p:sp>
        <p:nvSpPr>
          <p:cNvPr id="103438" name="Rectangle 23"/>
          <p:cNvSpPr>
            <a:spLocks noChangeArrowheads="1"/>
          </p:cNvSpPr>
          <p:nvPr/>
        </p:nvSpPr>
        <p:spPr bwMode="auto">
          <a:xfrm>
            <a:off x="1743075" y="4905375"/>
            <a:ext cx="336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F</a:t>
            </a:r>
          </a:p>
        </p:txBody>
      </p:sp>
      <p:sp>
        <p:nvSpPr>
          <p:cNvPr id="103439" name="Rectangle 24"/>
          <p:cNvSpPr>
            <a:spLocks noChangeArrowheads="1"/>
          </p:cNvSpPr>
          <p:nvPr/>
        </p:nvSpPr>
        <p:spPr bwMode="auto">
          <a:xfrm>
            <a:off x="2205038" y="4905375"/>
            <a:ext cx="39211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M</a:t>
            </a:r>
          </a:p>
        </p:txBody>
      </p:sp>
      <p:sp>
        <p:nvSpPr>
          <p:cNvPr id="103440" name="Rectangle 25"/>
          <p:cNvSpPr>
            <a:spLocks noChangeArrowheads="1"/>
          </p:cNvSpPr>
          <p:nvPr/>
        </p:nvSpPr>
        <p:spPr bwMode="auto">
          <a:xfrm>
            <a:off x="2705100" y="4905375"/>
            <a:ext cx="3651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A</a:t>
            </a:r>
          </a:p>
        </p:txBody>
      </p:sp>
      <p:sp>
        <p:nvSpPr>
          <p:cNvPr id="103441" name="Rectangle 26"/>
          <p:cNvSpPr>
            <a:spLocks noChangeArrowheads="1"/>
          </p:cNvSpPr>
          <p:nvPr/>
        </p:nvSpPr>
        <p:spPr bwMode="auto">
          <a:xfrm>
            <a:off x="3152775" y="4905375"/>
            <a:ext cx="3921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M</a:t>
            </a:r>
          </a:p>
        </p:txBody>
      </p:sp>
      <p:sp>
        <p:nvSpPr>
          <p:cNvPr id="103442" name="Rectangle 27"/>
          <p:cNvSpPr>
            <a:spLocks noChangeArrowheads="1"/>
          </p:cNvSpPr>
          <p:nvPr/>
        </p:nvSpPr>
        <p:spPr bwMode="auto">
          <a:xfrm>
            <a:off x="3609975" y="4905375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J</a:t>
            </a:r>
          </a:p>
        </p:txBody>
      </p:sp>
      <p:sp>
        <p:nvSpPr>
          <p:cNvPr id="103443" name="Rectangle 28"/>
          <p:cNvSpPr>
            <a:spLocks noChangeArrowheads="1"/>
          </p:cNvSpPr>
          <p:nvPr/>
        </p:nvSpPr>
        <p:spPr bwMode="auto">
          <a:xfrm>
            <a:off x="1219200" y="2971800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$</a:t>
            </a:r>
          </a:p>
        </p:txBody>
      </p:sp>
      <p:sp>
        <p:nvSpPr>
          <p:cNvPr id="103444" name="Freeform 29"/>
          <p:cNvSpPr>
            <a:spLocks/>
          </p:cNvSpPr>
          <p:nvPr/>
        </p:nvSpPr>
        <p:spPr bwMode="auto">
          <a:xfrm>
            <a:off x="746125" y="1981200"/>
            <a:ext cx="828675" cy="823913"/>
          </a:xfrm>
          <a:custGeom>
            <a:avLst/>
            <a:gdLst>
              <a:gd name="T0" fmla="*/ 1206670080 w 562"/>
              <a:gd name="T1" fmla="*/ 720884373 h 565"/>
              <a:gd name="T2" fmla="*/ 1143620031 w 562"/>
              <a:gd name="T3" fmla="*/ 884624434 h 565"/>
              <a:gd name="T4" fmla="*/ 1039258634 w 562"/>
              <a:gd name="T5" fmla="*/ 1024973942 h 565"/>
              <a:gd name="T6" fmla="*/ 900110596 w 562"/>
              <a:gd name="T7" fmla="*/ 1127045782 h 565"/>
              <a:gd name="T8" fmla="*/ 732698966 w 562"/>
              <a:gd name="T9" fmla="*/ 1188713821 h 565"/>
              <a:gd name="T10" fmla="*/ 547894200 w 562"/>
              <a:gd name="T11" fmla="*/ 1197219807 h 565"/>
              <a:gd name="T12" fmla="*/ 373959429 w 562"/>
              <a:gd name="T13" fmla="*/ 1154689874 h 565"/>
              <a:gd name="T14" fmla="*/ 223941304 w 562"/>
              <a:gd name="T15" fmla="*/ 1063250153 h 565"/>
              <a:gd name="T16" fmla="*/ 104361443 w 562"/>
              <a:gd name="T17" fmla="*/ 935660353 h 565"/>
              <a:gd name="T18" fmla="*/ 28264894 w 562"/>
              <a:gd name="T19" fmla="*/ 778300330 h 565"/>
              <a:gd name="T20" fmla="*/ 0 w 562"/>
              <a:gd name="T21" fmla="*/ 599672970 h 565"/>
              <a:gd name="T22" fmla="*/ 47831643 w 562"/>
              <a:gd name="T23" fmla="*/ 367885107 h 565"/>
              <a:gd name="T24" fmla="*/ 141321511 w 562"/>
              <a:gd name="T25" fmla="*/ 219029612 h 565"/>
              <a:gd name="T26" fmla="*/ 269598033 w 562"/>
              <a:gd name="T27" fmla="*/ 104198017 h 565"/>
              <a:gd name="T28" fmla="*/ 430487813 w 562"/>
              <a:gd name="T29" fmla="*/ 27644103 h 565"/>
              <a:gd name="T30" fmla="*/ 608770821 w 562"/>
              <a:gd name="T31" fmla="*/ 0 h 565"/>
              <a:gd name="T32" fmla="*/ 791402344 w 562"/>
              <a:gd name="T33" fmla="*/ 27644103 h 565"/>
              <a:gd name="T34" fmla="*/ 947943702 w 562"/>
              <a:gd name="T35" fmla="*/ 104198017 h 565"/>
              <a:gd name="T36" fmla="*/ 1078393605 w 562"/>
              <a:gd name="T37" fmla="*/ 219029612 h 565"/>
              <a:gd name="T38" fmla="*/ 1169710011 w 562"/>
              <a:gd name="T39" fmla="*/ 367885107 h 565"/>
              <a:gd name="T40" fmla="*/ 1219715070 w 562"/>
              <a:gd name="T41" fmla="*/ 599672970 h 565"/>
              <a:gd name="T42" fmla="*/ 1093613497 w 562"/>
              <a:gd name="T43" fmla="*/ 503980984 h 565"/>
              <a:gd name="T44" fmla="*/ 1043606964 w 562"/>
              <a:gd name="T45" fmla="*/ 370011239 h 565"/>
              <a:gd name="T46" fmla="*/ 958813790 w 562"/>
              <a:gd name="T47" fmla="*/ 257307281 h 565"/>
              <a:gd name="T48" fmla="*/ 843582305 w 562"/>
              <a:gd name="T49" fmla="*/ 172245910 h 565"/>
              <a:gd name="T50" fmla="*/ 710957316 w 562"/>
              <a:gd name="T51" fmla="*/ 123337581 h 565"/>
              <a:gd name="T52" fmla="*/ 560939190 w 562"/>
              <a:gd name="T53" fmla="*/ 116957726 h 565"/>
              <a:gd name="T54" fmla="*/ 419617725 w 562"/>
              <a:gd name="T55" fmla="*/ 153107805 h 565"/>
              <a:gd name="T56" fmla="*/ 297862915 w 562"/>
              <a:gd name="T57" fmla="*/ 225409466 h 565"/>
              <a:gd name="T58" fmla="*/ 956640362 w 562"/>
              <a:gd name="T59" fmla="*/ 944166340 h 565"/>
              <a:gd name="T60" fmla="*/ 178283054 w 562"/>
              <a:gd name="T61" fmla="*/ 370011239 h 565"/>
              <a:gd name="T62" fmla="*/ 128276521 w 562"/>
              <a:gd name="T63" fmla="*/ 503980984 h 565"/>
              <a:gd name="T64" fmla="*/ 119579861 w 562"/>
              <a:gd name="T65" fmla="*/ 648582757 h 565"/>
              <a:gd name="T66" fmla="*/ 156541404 w 562"/>
              <a:gd name="T67" fmla="*/ 788932448 h 565"/>
              <a:gd name="T68" fmla="*/ 230463062 w 562"/>
              <a:gd name="T69" fmla="*/ 908016261 h 565"/>
              <a:gd name="T70" fmla="*/ 334824458 w 562"/>
              <a:gd name="T71" fmla="*/ 1003708246 h 565"/>
              <a:gd name="T72" fmla="*/ 465274453 w 562"/>
              <a:gd name="T73" fmla="*/ 1065377743 h 565"/>
              <a:gd name="T74" fmla="*/ 610945723 w 562"/>
              <a:gd name="T75" fmla="*/ 1086641981 h 565"/>
              <a:gd name="T76" fmla="*/ 756615519 w 562"/>
              <a:gd name="T77" fmla="*/ 1065377743 h 565"/>
              <a:gd name="T78" fmla="*/ 884892178 w 562"/>
              <a:gd name="T79" fmla="*/ 1003708246 h 565"/>
              <a:gd name="T80" fmla="*/ 989252101 w 562"/>
              <a:gd name="T81" fmla="*/ 908016261 h 565"/>
              <a:gd name="T82" fmla="*/ 1063175187 w 562"/>
              <a:gd name="T83" fmla="*/ 788932448 h 565"/>
              <a:gd name="T84" fmla="*/ 1100135255 w 562"/>
              <a:gd name="T85" fmla="*/ 648582757 h 565"/>
              <a:gd name="T86" fmla="*/ 1219715070 w 562"/>
              <a:gd name="T87" fmla="*/ 614558811 h 56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562"/>
              <a:gd name="T133" fmla="*/ 0 h 565"/>
              <a:gd name="T134" fmla="*/ 562 w 562"/>
              <a:gd name="T135" fmla="*/ 565 h 565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562" h="565">
                <a:moveTo>
                  <a:pt x="561" y="289"/>
                </a:moveTo>
                <a:lnTo>
                  <a:pt x="559" y="311"/>
                </a:lnTo>
                <a:lnTo>
                  <a:pt x="555" y="339"/>
                </a:lnTo>
                <a:lnTo>
                  <a:pt x="548" y="366"/>
                </a:lnTo>
                <a:lnTo>
                  <a:pt x="538" y="392"/>
                </a:lnTo>
                <a:lnTo>
                  <a:pt x="526" y="416"/>
                </a:lnTo>
                <a:lnTo>
                  <a:pt x="512" y="440"/>
                </a:lnTo>
                <a:lnTo>
                  <a:pt x="496" y="462"/>
                </a:lnTo>
                <a:lnTo>
                  <a:pt x="478" y="482"/>
                </a:lnTo>
                <a:lnTo>
                  <a:pt x="458" y="500"/>
                </a:lnTo>
                <a:lnTo>
                  <a:pt x="436" y="516"/>
                </a:lnTo>
                <a:lnTo>
                  <a:pt x="414" y="530"/>
                </a:lnTo>
                <a:lnTo>
                  <a:pt x="389" y="543"/>
                </a:lnTo>
                <a:lnTo>
                  <a:pt x="364" y="552"/>
                </a:lnTo>
                <a:lnTo>
                  <a:pt x="337" y="559"/>
                </a:lnTo>
                <a:lnTo>
                  <a:pt x="309" y="563"/>
                </a:lnTo>
                <a:lnTo>
                  <a:pt x="280" y="564"/>
                </a:lnTo>
                <a:lnTo>
                  <a:pt x="252" y="563"/>
                </a:lnTo>
                <a:lnTo>
                  <a:pt x="224" y="559"/>
                </a:lnTo>
                <a:lnTo>
                  <a:pt x="198" y="552"/>
                </a:lnTo>
                <a:lnTo>
                  <a:pt x="172" y="543"/>
                </a:lnTo>
                <a:lnTo>
                  <a:pt x="148" y="530"/>
                </a:lnTo>
                <a:lnTo>
                  <a:pt x="124" y="516"/>
                </a:lnTo>
                <a:lnTo>
                  <a:pt x="103" y="500"/>
                </a:lnTo>
                <a:lnTo>
                  <a:pt x="83" y="482"/>
                </a:lnTo>
                <a:lnTo>
                  <a:pt x="65" y="462"/>
                </a:lnTo>
                <a:lnTo>
                  <a:pt x="48" y="440"/>
                </a:lnTo>
                <a:lnTo>
                  <a:pt x="34" y="416"/>
                </a:lnTo>
                <a:lnTo>
                  <a:pt x="22" y="392"/>
                </a:lnTo>
                <a:lnTo>
                  <a:pt x="13" y="366"/>
                </a:lnTo>
                <a:lnTo>
                  <a:pt x="6" y="339"/>
                </a:lnTo>
                <a:lnTo>
                  <a:pt x="2" y="311"/>
                </a:lnTo>
                <a:lnTo>
                  <a:pt x="0" y="282"/>
                </a:lnTo>
                <a:lnTo>
                  <a:pt x="2" y="254"/>
                </a:lnTo>
                <a:lnTo>
                  <a:pt x="13" y="199"/>
                </a:lnTo>
                <a:lnTo>
                  <a:pt x="22" y="173"/>
                </a:lnTo>
                <a:lnTo>
                  <a:pt x="34" y="149"/>
                </a:lnTo>
                <a:lnTo>
                  <a:pt x="48" y="125"/>
                </a:lnTo>
                <a:lnTo>
                  <a:pt x="65" y="103"/>
                </a:lnTo>
                <a:lnTo>
                  <a:pt x="83" y="83"/>
                </a:lnTo>
                <a:lnTo>
                  <a:pt x="103" y="65"/>
                </a:lnTo>
                <a:lnTo>
                  <a:pt x="124" y="49"/>
                </a:lnTo>
                <a:lnTo>
                  <a:pt x="148" y="34"/>
                </a:lnTo>
                <a:lnTo>
                  <a:pt x="172" y="22"/>
                </a:lnTo>
                <a:lnTo>
                  <a:pt x="198" y="13"/>
                </a:lnTo>
                <a:lnTo>
                  <a:pt x="224" y="6"/>
                </a:lnTo>
                <a:lnTo>
                  <a:pt x="252" y="1"/>
                </a:lnTo>
                <a:lnTo>
                  <a:pt x="280" y="0"/>
                </a:lnTo>
                <a:lnTo>
                  <a:pt x="309" y="1"/>
                </a:lnTo>
                <a:lnTo>
                  <a:pt x="337" y="6"/>
                </a:lnTo>
                <a:lnTo>
                  <a:pt x="364" y="13"/>
                </a:lnTo>
                <a:lnTo>
                  <a:pt x="389" y="22"/>
                </a:lnTo>
                <a:lnTo>
                  <a:pt x="414" y="34"/>
                </a:lnTo>
                <a:lnTo>
                  <a:pt x="436" y="49"/>
                </a:lnTo>
                <a:lnTo>
                  <a:pt x="458" y="65"/>
                </a:lnTo>
                <a:lnTo>
                  <a:pt x="478" y="83"/>
                </a:lnTo>
                <a:lnTo>
                  <a:pt x="496" y="103"/>
                </a:lnTo>
                <a:lnTo>
                  <a:pt x="512" y="125"/>
                </a:lnTo>
                <a:lnTo>
                  <a:pt x="526" y="149"/>
                </a:lnTo>
                <a:lnTo>
                  <a:pt x="538" y="173"/>
                </a:lnTo>
                <a:lnTo>
                  <a:pt x="548" y="199"/>
                </a:lnTo>
                <a:lnTo>
                  <a:pt x="555" y="226"/>
                </a:lnTo>
                <a:lnTo>
                  <a:pt x="561" y="282"/>
                </a:lnTo>
                <a:lnTo>
                  <a:pt x="508" y="282"/>
                </a:lnTo>
                <a:lnTo>
                  <a:pt x="506" y="259"/>
                </a:lnTo>
                <a:lnTo>
                  <a:pt x="503" y="237"/>
                </a:lnTo>
                <a:lnTo>
                  <a:pt x="497" y="215"/>
                </a:lnTo>
                <a:lnTo>
                  <a:pt x="489" y="194"/>
                </a:lnTo>
                <a:lnTo>
                  <a:pt x="480" y="174"/>
                </a:lnTo>
                <a:lnTo>
                  <a:pt x="468" y="155"/>
                </a:lnTo>
                <a:lnTo>
                  <a:pt x="455" y="137"/>
                </a:lnTo>
                <a:lnTo>
                  <a:pt x="441" y="121"/>
                </a:lnTo>
                <a:lnTo>
                  <a:pt x="424" y="106"/>
                </a:lnTo>
                <a:lnTo>
                  <a:pt x="407" y="93"/>
                </a:lnTo>
                <a:lnTo>
                  <a:pt x="388" y="81"/>
                </a:lnTo>
                <a:lnTo>
                  <a:pt x="369" y="72"/>
                </a:lnTo>
                <a:lnTo>
                  <a:pt x="348" y="64"/>
                </a:lnTo>
                <a:lnTo>
                  <a:pt x="327" y="58"/>
                </a:lnTo>
                <a:lnTo>
                  <a:pt x="304" y="55"/>
                </a:lnTo>
                <a:lnTo>
                  <a:pt x="281" y="53"/>
                </a:lnTo>
                <a:lnTo>
                  <a:pt x="258" y="55"/>
                </a:lnTo>
                <a:lnTo>
                  <a:pt x="235" y="58"/>
                </a:lnTo>
                <a:lnTo>
                  <a:pt x="214" y="64"/>
                </a:lnTo>
                <a:lnTo>
                  <a:pt x="193" y="72"/>
                </a:lnTo>
                <a:lnTo>
                  <a:pt x="173" y="81"/>
                </a:lnTo>
                <a:lnTo>
                  <a:pt x="154" y="93"/>
                </a:lnTo>
                <a:lnTo>
                  <a:pt x="137" y="106"/>
                </a:lnTo>
                <a:lnTo>
                  <a:pt x="468" y="410"/>
                </a:lnTo>
                <a:lnTo>
                  <a:pt x="455" y="427"/>
                </a:lnTo>
                <a:lnTo>
                  <a:pt x="440" y="444"/>
                </a:lnTo>
                <a:lnTo>
                  <a:pt x="424" y="458"/>
                </a:lnTo>
                <a:lnTo>
                  <a:pt x="93" y="155"/>
                </a:lnTo>
                <a:lnTo>
                  <a:pt x="82" y="174"/>
                </a:lnTo>
                <a:lnTo>
                  <a:pt x="72" y="194"/>
                </a:lnTo>
                <a:lnTo>
                  <a:pt x="64" y="215"/>
                </a:lnTo>
                <a:lnTo>
                  <a:pt x="59" y="237"/>
                </a:lnTo>
                <a:lnTo>
                  <a:pt x="55" y="259"/>
                </a:lnTo>
                <a:lnTo>
                  <a:pt x="54" y="282"/>
                </a:lnTo>
                <a:lnTo>
                  <a:pt x="55" y="305"/>
                </a:lnTo>
                <a:lnTo>
                  <a:pt x="59" y="328"/>
                </a:lnTo>
                <a:lnTo>
                  <a:pt x="64" y="350"/>
                </a:lnTo>
                <a:lnTo>
                  <a:pt x="72" y="371"/>
                </a:lnTo>
                <a:lnTo>
                  <a:pt x="82" y="391"/>
                </a:lnTo>
                <a:lnTo>
                  <a:pt x="93" y="410"/>
                </a:lnTo>
                <a:lnTo>
                  <a:pt x="106" y="427"/>
                </a:lnTo>
                <a:lnTo>
                  <a:pt x="121" y="444"/>
                </a:lnTo>
                <a:lnTo>
                  <a:pt x="137" y="459"/>
                </a:lnTo>
                <a:lnTo>
                  <a:pt x="154" y="472"/>
                </a:lnTo>
                <a:lnTo>
                  <a:pt x="173" y="483"/>
                </a:lnTo>
                <a:lnTo>
                  <a:pt x="193" y="493"/>
                </a:lnTo>
                <a:lnTo>
                  <a:pt x="214" y="501"/>
                </a:lnTo>
                <a:lnTo>
                  <a:pt x="235" y="506"/>
                </a:lnTo>
                <a:lnTo>
                  <a:pt x="258" y="510"/>
                </a:lnTo>
                <a:lnTo>
                  <a:pt x="281" y="511"/>
                </a:lnTo>
                <a:lnTo>
                  <a:pt x="304" y="510"/>
                </a:lnTo>
                <a:lnTo>
                  <a:pt x="327" y="506"/>
                </a:lnTo>
                <a:lnTo>
                  <a:pt x="348" y="501"/>
                </a:lnTo>
                <a:lnTo>
                  <a:pt x="369" y="493"/>
                </a:lnTo>
                <a:lnTo>
                  <a:pt x="388" y="483"/>
                </a:lnTo>
                <a:lnTo>
                  <a:pt x="407" y="472"/>
                </a:lnTo>
                <a:lnTo>
                  <a:pt x="424" y="458"/>
                </a:lnTo>
                <a:lnTo>
                  <a:pt x="440" y="444"/>
                </a:lnTo>
                <a:lnTo>
                  <a:pt x="455" y="427"/>
                </a:lnTo>
                <a:lnTo>
                  <a:pt x="468" y="410"/>
                </a:lnTo>
                <a:lnTo>
                  <a:pt x="480" y="391"/>
                </a:lnTo>
                <a:lnTo>
                  <a:pt x="489" y="371"/>
                </a:lnTo>
                <a:lnTo>
                  <a:pt x="497" y="350"/>
                </a:lnTo>
                <a:lnTo>
                  <a:pt x="503" y="328"/>
                </a:lnTo>
                <a:lnTo>
                  <a:pt x="506" y="305"/>
                </a:lnTo>
                <a:lnTo>
                  <a:pt x="508" y="282"/>
                </a:lnTo>
                <a:lnTo>
                  <a:pt x="561" y="282"/>
                </a:lnTo>
                <a:lnTo>
                  <a:pt x="561" y="289"/>
                </a:lnTo>
              </a:path>
            </a:pathLst>
          </a:custGeom>
          <a:solidFill>
            <a:srgbClr val="FF0054"/>
          </a:solidFill>
          <a:ln w="12700" cap="rnd">
            <a:solidFill>
              <a:srgbClr val="FF0054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3445" name="Rectangle 30"/>
          <p:cNvSpPr>
            <a:spLocks noChangeArrowheads="1"/>
          </p:cNvSpPr>
          <p:nvPr/>
        </p:nvSpPr>
        <p:spPr bwMode="auto">
          <a:xfrm>
            <a:off x="533400" y="5745163"/>
            <a:ext cx="4038600" cy="363537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>
                <a:latin typeface="Times New Roman" pitchFamily="18" charset="0"/>
              </a:rPr>
              <a:t>Graphing the first six months of sales</a:t>
            </a:r>
          </a:p>
        </p:txBody>
      </p:sp>
      <p:sp>
        <p:nvSpPr>
          <p:cNvPr id="103446" name="Rectangle 31"/>
          <p:cNvSpPr>
            <a:spLocks noChangeArrowheads="1"/>
          </p:cNvSpPr>
          <p:nvPr/>
        </p:nvSpPr>
        <p:spPr bwMode="auto">
          <a:xfrm>
            <a:off x="5562600" y="2743200"/>
            <a:ext cx="23844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Monthly Sales</a:t>
            </a:r>
          </a:p>
        </p:txBody>
      </p:sp>
      <p:sp>
        <p:nvSpPr>
          <p:cNvPr id="103447" name="Rectangle 32"/>
          <p:cNvSpPr>
            <a:spLocks noChangeArrowheads="1"/>
          </p:cNvSpPr>
          <p:nvPr/>
        </p:nvSpPr>
        <p:spPr bwMode="auto">
          <a:xfrm>
            <a:off x="4699000" y="4762500"/>
            <a:ext cx="711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 0</a:t>
            </a:r>
          </a:p>
        </p:txBody>
      </p:sp>
      <p:sp>
        <p:nvSpPr>
          <p:cNvPr id="103448" name="Rectangle 33"/>
          <p:cNvSpPr>
            <a:spLocks noChangeArrowheads="1"/>
          </p:cNvSpPr>
          <p:nvPr/>
        </p:nvSpPr>
        <p:spPr bwMode="auto">
          <a:xfrm>
            <a:off x="4711700" y="3848100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39</a:t>
            </a:r>
          </a:p>
        </p:txBody>
      </p:sp>
      <p:sp>
        <p:nvSpPr>
          <p:cNvPr id="103449" name="Rectangle 34"/>
          <p:cNvSpPr>
            <a:spLocks noChangeArrowheads="1"/>
          </p:cNvSpPr>
          <p:nvPr/>
        </p:nvSpPr>
        <p:spPr bwMode="auto">
          <a:xfrm>
            <a:off x="4711700" y="3467100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42</a:t>
            </a:r>
          </a:p>
        </p:txBody>
      </p:sp>
      <p:sp>
        <p:nvSpPr>
          <p:cNvPr id="103450" name="Rectangle 35"/>
          <p:cNvSpPr>
            <a:spLocks noChangeArrowheads="1"/>
          </p:cNvSpPr>
          <p:nvPr/>
        </p:nvSpPr>
        <p:spPr bwMode="auto">
          <a:xfrm>
            <a:off x="4711700" y="3086100"/>
            <a:ext cx="463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45</a:t>
            </a:r>
          </a:p>
        </p:txBody>
      </p:sp>
      <p:sp>
        <p:nvSpPr>
          <p:cNvPr id="103451" name="Rectangle 36"/>
          <p:cNvSpPr>
            <a:spLocks noChangeArrowheads="1"/>
          </p:cNvSpPr>
          <p:nvPr/>
        </p:nvSpPr>
        <p:spPr bwMode="auto">
          <a:xfrm>
            <a:off x="5254625" y="4960938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J</a:t>
            </a:r>
          </a:p>
        </p:txBody>
      </p:sp>
      <p:sp>
        <p:nvSpPr>
          <p:cNvPr id="103452" name="Rectangle 37"/>
          <p:cNvSpPr>
            <a:spLocks noChangeArrowheads="1"/>
          </p:cNvSpPr>
          <p:nvPr/>
        </p:nvSpPr>
        <p:spPr bwMode="auto">
          <a:xfrm>
            <a:off x="5718175" y="4967288"/>
            <a:ext cx="336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F</a:t>
            </a:r>
          </a:p>
        </p:txBody>
      </p:sp>
      <p:sp>
        <p:nvSpPr>
          <p:cNvPr id="103453" name="Rectangle 38"/>
          <p:cNvSpPr>
            <a:spLocks noChangeArrowheads="1"/>
          </p:cNvSpPr>
          <p:nvPr/>
        </p:nvSpPr>
        <p:spPr bwMode="auto">
          <a:xfrm>
            <a:off x="6169025" y="4960938"/>
            <a:ext cx="3921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M</a:t>
            </a:r>
          </a:p>
        </p:txBody>
      </p:sp>
      <p:sp>
        <p:nvSpPr>
          <p:cNvPr id="103454" name="Rectangle 39"/>
          <p:cNvSpPr>
            <a:spLocks noChangeArrowheads="1"/>
          </p:cNvSpPr>
          <p:nvPr/>
        </p:nvSpPr>
        <p:spPr bwMode="auto">
          <a:xfrm>
            <a:off x="6702425" y="4960938"/>
            <a:ext cx="3651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A</a:t>
            </a:r>
          </a:p>
        </p:txBody>
      </p:sp>
      <p:sp>
        <p:nvSpPr>
          <p:cNvPr id="103455" name="Rectangle 40"/>
          <p:cNvSpPr>
            <a:spLocks noChangeArrowheads="1"/>
          </p:cNvSpPr>
          <p:nvPr/>
        </p:nvSpPr>
        <p:spPr bwMode="auto">
          <a:xfrm>
            <a:off x="7159625" y="4960938"/>
            <a:ext cx="3921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M</a:t>
            </a:r>
          </a:p>
        </p:txBody>
      </p:sp>
      <p:sp>
        <p:nvSpPr>
          <p:cNvPr id="103456" name="Rectangle 41"/>
          <p:cNvSpPr>
            <a:spLocks noChangeArrowheads="1"/>
          </p:cNvSpPr>
          <p:nvPr/>
        </p:nvSpPr>
        <p:spPr bwMode="auto">
          <a:xfrm>
            <a:off x="7693025" y="4960938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J</a:t>
            </a:r>
          </a:p>
        </p:txBody>
      </p:sp>
      <p:sp>
        <p:nvSpPr>
          <p:cNvPr id="103457" name="Rectangle 42"/>
          <p:cNvSpPr>
            <a:spLocks noChangeArrowheads="1"/>
          </p:cNvSpPr>
          <p:nvPr/>
        </p:nvSpPr>
        <p:spPr bwMode="auto">
          <a:xfrm>
            <a:off x="5029200" y="2743200"/>
            <a:ext cx="322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/>
              <a:t>$</a:t>
            </a:r>
          </a:p>
        </p:txBody>
      </p:sp>
      <p:sp>
        <p:nvSpPr>
          <p:cNvPr id="103458" name="Rectangle 43"/>
          <p:cNvSpPr>
            <a:spLocks noChangeArrowheads="1"/>
          </p:cNvSpPr>
          <p:nvPr/>
        </p:nvSpPr>
        <p:spPr bwMode="auto">
          <a:xfrm>
            <a:off x="4713288" y="4229100"/>
            <a:ext cx="6318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36</a:t>
            </a:r>
          </a:p>
        </p:txBody>
      </p:sp>
      <p:sp>
        <p:nvSpPr>
          <p:cNvPr id="103459" name="Line 44"/>
          <p:cNvSpPr>
            <a:spLocks noChangeShapeType="1"/>
          </p:cNvSpPr>
          <p:nvPr/>
        </p:nvSpPr>
        <p:spPr bwMode="auto">
          <a:xfrm>
            <a:off x="5257800" y="4821238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60" name="Rectangle 45"/>
          <p:cNvSpPr>
            <a:spLocks noChangeArrowheads="1"/>
          </p:cNvSpPr>
          <p:nvPr/>
        </p:nvSpPr>
        <p:spPr bwMode="auto">
          <a:xfrm>
            <a:off x="4648200" y="2057400"/>
            <a:ext cx="835025" cy="758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4400">
                <a:solidFill>
                  <a:schemeClr val="bg2"/>
                </a:solidFill>
                <a:latin typeface="Wingdings" pitchFamily="2" charset="2"/>
              </a:rPr>
              <a:t></a:t>
            </a:r>
          </a:p>
        </p:txBody>
      </p:sp>
      <p:sp>
        <p:nvSpPr>
          <p:cNvPr id="103461" name="Rectangle 46"/>
          <p:cNvSpPr>
            <a:spLocks noChangeArrowheads="1"/>
          </p:cNvSpPr>
          <p:nvPr/>
        </p:nvSpPr>
        <p:spPr bwMode="auto">
          <a:xfrm>
            <a:off x="5105400" y="2133600"/>
            <a:ext cx="357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/>
              <a:t>Good Presentations</a:t>
            </a:r>
          </a:p>
        </p:txBody>
      </p:sp>
      <p:grpSp>
        <p:nvGrpSpPr>
          <p:cNvPr id="103462" name="Group 47"/>
          <p:cNvGrpSpPr>
            <a:grpSpLocks/>
          </p:cNvGrpSpPr>
          <p:nvPr/>
        </p:nvGrpSpPr>
        <p:grpSpPr bwMode="auto">
          <a:xfrm>
            <a:off x="5181600" y="3030538"/>
            <a:ext cx="2819400" cy="1919287"/>
            <a:chOff x="3264" y="1909"/>
            <a:chExt cx="1776" cy="1209"/>
          </a:xfrm>
        </p:grpSpPr>
        <p:sp>
          <p:nvSpPr>
            <p:cNvPr id="103465" name="Line 48"/>
            <p:cNvSpPr>
              <a:spLocks noChangeShapeType="1"/>
            </p:cNvSpPr>
            <p:nvPr/>
          </p:nvSpPr>
          <p:spPr bwMode="auto">
            <a:xfrm>
              <a:off x="3312" y="1909"/>
              <a:ext cx="0" cy="8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6" name="Line 49"/>
            <p:cNvSpPr>
              <a:spLocks noChangeShapeType="1"/>
            </p:cNvSpPr>
            <p:nvPr/>
          </p:nvSpPr>
          <p:spPr bwMode="auto">
            <a:xfrm>
              <a:off x="3312" y="3118"/>
              <a:ext cx="1728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7" name="Line 50"/>
            <p:cNvSpPr>
              <a:spLocks noChangeShapeType="1"/>
            </p:cNvSpPr>
            <p:nvPr/>
          </p:nvSpPr>
          <p:spPr bwMode="auto">
            <a:xfrm flipV="1">
              <a:off x="3312" y="2989"/>
              <a:ext cx="48" cy="4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8" name="Line 51"/>
            <p:cNvSpPr>
              <a:spLocks noChangeShapeType="1"/>
            </p:cNvSpPr>
            <p:nvPr/>
          </p:nvSpPr>
          <p:spPr bwMode="auto">
            <a:xfrm rot="16200000" flipV="1">
              <a:off x="3288" y="2917"/>
              <a:ext cx="48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9" name="Line 52"/>
            <p:cNvSpPr>
              <a:spLocks noChangeShapeType="1"/>
            </p:cNvSpPr>
            <p:nvPr/>
          </p:nvSpPr>
          <p:spPr bwMode="auto">
            <a:xfrm rot="5400000" flipH="1" flipV="1">
              <a:off x="3288" y="2869"/>
              <a:ext cx="48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70" name="Line 53"/>
            <p:cNvSpPr>
              <a:spLocks noChangeShapeType="1"/>
            </p:cNvSpPr>
            <p:nvPr/>
          </p:nvSpPr>
          <p:spPr bwMode="auto">
            <a:xfrm rot="16200000" flipV="1">
              <a:off x="3288" y="2821"/>
              <a:ext cx="48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71" name="Line 54"/>
            <p:cNvSpPr>
              <a:spLocks noChangeShapeType="1"/>
            </p:cNvSpPr>
            <p:nvPr/>
          </p:nvSpPr>
          <p:spPr bwMode="auto">
            <a:xfrm flipV="1">
              <a:off x="3264" y="2797"/>
              <a:ext cx="48" cy="4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72" name="Freeform 55"/>
            <p:cNvSpPr>
              <a:spLocks/>
            </p:cNvSpPr>
            <p:nvPr/>
          </p:nvSpPr>
          <p:spPr bwMode="auto">
            <a:xfrm>
              <a:off x="3314" y="2064"/>
              <a:ext cx="158" cy="207"/>
            </a:xfrm>
            <a:custGeom>
              <a:avLst/>
              <a:gdLst>
                <a:gd name="T0" fmla="*/ 0 w 158"/>
                <a:gd name="T1" fmla="*/ 206 h 207"/>
                <a:gd name="T2" fmla="*/ 19 w 158"/>
                <a:gd name="T3" fmla="*/ 179 h 207"/>
                <a:gd name="T4" fmla="*/ 38 w 158"/>
                <a:gd name="T5" fmla="*/ 147 h 207"/>
                <a:gd name="T6" fmla="*/ 59 w 158"/>
                <a:gd name="T7" fmla="*/ 115 h 207"/>
                <a:gd name="T8" fmla="*/ 78 w 158"/>
                <a:gd name="T9" fmla="*/ 83 h 207"/>
                <a:gd name="T10" fmla="*/ 97 w 158"/>
                <a:gd name="T11" fmla="*/ 54 h 207"/>
                <a:gd name="T12" fmla="*/ 116 w 158"/>
                <a:gd name="T13" fmla="*/ 30 h 207"/>
                <a:gd name="T14" fmla="*/ 138 w 158"/>
                <a:gd name="T15" fmla="*/ 11 h 207"/>
                <a:gd name="T16" fmla="*/ 147 w 158"/>
                <a:gd name="T17" fmla="*/ 6 h 207"/>
                <a:gd name="T18" fmla="*/ 157 w 158"/>
                <a:gd name="T19" fmla="*/ 0 h 2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8"/>
                <a:gd name="T31" fmla="*/ 0 h 207"/>
                <a:gd name="T32" fmla="*/ 158 w 158"/>
                <a:gd name="T33" fmla="*/ 207 h 2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8" h="207">
                  <a:moveTo>
                    <a:pt x="0" y="206"/>
                  </a:moveTo>
                  <a:lnTo>
                    <a:pt x="19" y="179"/>
                  </a:lnTo>
                  <a:lnTo>
                    <a:pt x="38" y="147"/>
                  </a:lnTo>
                  <a:lnTo>
                    <a:pt x="59" y="115"/>
                  </a:lnTo>
                  <a:lnTo>
                    <a:pt x="78" y="83"/>
                  </a:lnTo>
                  <a:lnTo>
                    <a:pt x="97" y="54"/>
                  </a:lnTo>
                  <a:lnTo>
                    <a:pt x="116" y="30"/>
                  </a:lnTo>
                  <a:lnTo>
                    <a:pt x="138" y="11"/>
                  </a:lnTo>
                  <a:lnTo>
                    <a:pt x="147" y="6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3" name="Freeform 56"/>
            <p:cNvSpPr>
              <a:spLocks/>
            </p:cNvSpPr>
            <p:nvPr/>
          </p:nvSpPr>
          <p:spPr bwMode="auto">
            <a:xfrm>
              <a:off x="3471" y="2062"/>
              <a:ext cx="157" cy="107"/>
            </a:xfrm>
            <a:custGeom>
              <a:avLst/>
              <a:gdLst>
                <a:gd name="T0" fmla="*/ 0 w 157"/>
                <a:gd name="T1" fmla="*/ 2 h 107"/>
                <a:gd name="T2" fmla="*/ 9 w 157"/>
                <a:gd name="T3" fmla="*/ 0 h 107"/>
                <a:gd name="T4" fmla="*/ 19 w 157"/>
                <a:gd name="T5" fmla="*/ 0 h 107"/>
                <a:gd name="T6" fmla="*/ 38 w 157"/>
                <a:gd name="T7" fmla="*/ 8 h 107"/>
                <a:gd name="T8" fmla="*/ 59 w 157"/>
                <a:gd name="T9" fmla="*/ 18 h 107"/>
                <a:gd name="T10" fmla="*/ 78 w 157"/>
                <a:gd name="T11" fmla="*/ 34 h 107"/>
                <a:gd name="T12" fmla="*/ 97 w 157"/>
                <a:gd name="T13" fmla="*/ 53 h 107"/>
                <a:gd name="T14" fmla="*/ 116 w 157"/>
                <a:gd name="T15" fmla="*/ 74 h 107"/>
                <a:gd name="T16" fmla="*/ 137 w 157"/>
                <a:gd name="T17" fmla="*/ 90 h 107"/>
                <a:gd name="T18" fmla="*/ 156 w 157"/>
                <a:gd name="T19" fmla="*/ 106 h 1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7"/>
                <a:gd name="T31" fmla="*/ 0 h 107"/>
                <a:gd name="T32" fmla="*/ 157 w 157"/>
                <a:gd name="T33" fmla="*/ 107 h 1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7" h="107">
                  <a:moveTo>
                    <a:pt x="0" y="2"/>
                  </a:moveTo>
                  <a:lnTo>
                    <a:pt x="9" y="0"/>
                  </a:lnTo>
                  <a:lnTo>
                    <a:pt x="19" y="0"/>
                  </a:lnTo>
                  <a:lnTo>
                    <a:pt x="38" y="8"/>
                  </a:lnTo>
                  <a:lnTo>
                    <a:pt x="59" y="18"/>
                  </a:lnTo>
                  <a:lnTo>
                    <a:pt x="78" y="34"/>
                  </a:lnTo>
                  <a:lnTo>
                    <a:pt x="97" y="53"/>
                  </a:lnTo>
                  <a:lnTo>
                    <a:pt x="116" y="74"/>
                  </a:lnTo>
                  <a:lnTo>
                    <a:pt x="137" y="90"/>
                  </a:lnTo>
                  <a:lnTo>
                    <a:pt x="156" y="106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4" name="Freeform 57"/>
            <p:cNvSpPr>
              <a:spLocks/>
            </p:cNvSpPr>
            <p:nvPr/>
          </p:nvSpPr>
          <p:spPr bwMode="auto">
            <a:xfrm>
              <a:off x="3627" y="2168"/>
              <a:ext cx="158" cy="103"/>
            </a:xfrm>
            <a:custGeom>
              <a:avLst/>
              <a:gdLst>
                <a:gd name="T0" fmla="*/ 0 w 158"/>
                <a:gd name="T1" fmla="*/ 0 h 103"/>
                <a:gd name="T2" fmla="*/ 19 w 158"/>
                <a:gd name="T3" fmla="*/ 11 h 103"/>
                <a:gd name="T4" fmla="*/ 38 w 158"/>
                <a:gd name="T5" fmla="*/ 22 h 103"/>
                <a:gd name="T6" fmla="*/ 79 w 158"/>
                <a:gd name="T7" fmla="*/ 38 h 103"/>
                <a:gd name="T8" fmla="*/ 98 w 158"/>
                <a:gd name="T9" fmla="*/ 48 h 103"/>
                <a:gd name="T10" fmla="*/ 117 w 158"/>
                <a:gd name="T11" fmla="*/ 62 h 103"/>
                <a:gd name="T12" fmla="*/ 138 w 158"/>
                <a:gd name="T13" fmla="*/ 78 h 103"/>
                <a:gd name="T14" fmla="*/ 157 w 158"/>
                <a:gd name="T15" fmla="*/ 102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3"/>
                <a:gd name="T26" fmla="*/ 158 w 158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3">
                  <a:moveTo>
                    <a:pt x="0" y="0"/>
                  </a:moveTo>
                  <a:lnTo>
                    <a:pt x="19" y="11"/>
                  </a:lnTo>
                  <a:lnTo>
                    <a:pt x="38" y="22"/>
                  </a:lnTo>
                  <a:lnTo>
                    <a:pt x="79" y="38"/>
                  </a:lnTo>
                  <a:lnTo>
                    <a:pt x="98" y="48"/>
                  </a:lnTo>
                  <a:lnTo>
                    <a:pt x="117" y="62"/>
                  </a:lnTo>
                  <a:lnTo>
                    <a:pt x="138" y="78"/>
                  </a:lnTo>
                  <a:lnTo>
                    <a:pt x="157" y="102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5" name="Freeform 58"/>
            <p:cNvSpPr>
              <a:spLocks/>
            </p:cNvSpPr>
            <p:nvPr/>
          </p:nvSpPr>
          <p:spPr bwMode="auto">
            <a:xfrm>
              <a:off x="3784" y="2270"/>
              <a:ext cx="158" cy="313"/>
            </a:xfrm>
            <a:custGeom>
              <a:avLst/>
              <a:gdLst>
                <a:gd name="T0" fmla="*/ 0 w 158"/>
                <a:gd name="T1" fmla="*/ 0 h 313"/>
                <a:gd name="T2" fmla="*/ 10 w 158"/>
                <a:gd name="T3" fmla="*/ 13 h 313"/>
                <a:gd name="T4" fmla="*/ 19 w 158"/>
                <a:gd name="T5" fmla="*/ 29 h 313"/>
                <a:gd name="T6" fmla="*/ 38 w 158"/>
                <a:gd name="T7" fmla="*/ 69 h 313"/>
                <a:gd name="T8" fmla="*/ 60 w 158"/>
                <a:gd name="T9" fmla="*/ 112 h 313"/>
                <a:gd name="T10" fmla="*/ 79 w 158"/>
                <a:gd name="T11" fmla="*/ 155 h 313"/>
                <a:gd name="T12" fmla="*/ 98 w 158"/>
                <a:gd name="T13" fmla="*/ 200 h 313"/>
                <a:gd name="T14" fmla="*/ 117 w 158"/>
                <a:gd name="T15" fmla="*/ 243 h 313"/>
                <a:gd name="T16" fmla="*/ 138 w 158"/>
                <a:gd name="T17" fmla="*/ 283 h 313"/>
                <a:gd name="T18" fmla="*/ 148 w 158"/>
                <a:gd name="T19" fmla="*/ 299 h 313"/>
                <a:gd name="T20" fmla="*/ 157 w 158"/>
                <a:gd name="T21" fmla="*/ 312 h 3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8"/>
                <a:gd name="T34" fmla="*/ 0 h 313"/>
                <a:gd name="T35" fmla="*/ 158 w 158"/>
                <a:gd name="T36" fmla="*/ 313 h 31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8" h="313">
                  <a:moveTo>
                    <a:pt x="0" y="0"/>
                  </a:moveTo>
                  <a:lnTo>
                    <a:pt x="10" y="13"/>
                  </a:lnTo>
                  <a:lnTo>
                    <a:pt x="19" y="29"/>
                  </a:lnTo>
                  <a:lnTo>
                    <a:pt x="38" y="69"/>
                  </a:lnTo>
                  <a:lnTo>
                    <a:pt x="60" y="112"/>
                  </a:lnTo>
                  <a:lnTo>
                    <a:pt x="79" y="155"/>
                  </a:lnTo>
                  <a:lnTo>
                    <a:pt x="98" y="200"/>
                  </a:lnTo>
                  <a:lnTo>
                    <a:pt x="117" y="243"/>
                  </a:lnTo>
                  <a:lnTo>
                    <a:pt x="138" y="283"/>
                  </a:lnTo>
                  <a:lnTo>
                    <a:pt x="148" y="299"/>
                  </a:lnTo>
                  <a:lnTo>
                    <a:pt x="157" y="312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6" name="Freeform 59"/>
            <p:cNvSpPr>
              <a:spLocks/>
            </p:cNvSpPr>
            <p:nvPr/>
          </p:nvSpPr>
          <p:spPr bwMode="auto">
            <a:xfrm>
              <a:off x="3941" y="2582"/>
              <a:ext cx="158" cy="103"/>
            </a:xfrm>
            <a:custGeom>
              <a:avLst/>
              <a:gdLst>
                <a:gd name="T0" fmla="*/ 0 w 158"/>
                <a:gd name="T1" fmla="*/ 0 h 103"/>
                <a:gd name="T2" fmla="*/ 19 w 158"/>
                <a:gd name="T3" fmla="*/ 24 h 103"/>
                <a:gd name="T4" fmla="*/ 38 w 158"/>
                <a:gd name="T5" fmla="*/ 40 h 103"/>
                <a:gd name="T6" fmla="*/ 59 w 158"/>
                <a:gd name="T7" fmla="*/ 54 h 103"/>
                <a:gd name="T8" fmla="*/ 78 w 158"/>
                <a:gd name="T9" fmla="*/ 64 h 103"/>
                <a:gd name="T10" fmla="*/ 116 w 158"/>
                <a:gd name="T11" fmla="*/ 80 h 103"/>
                <a:gd name="T12" fmla="*/ 138 w 158"/>
                <a:gd name="T13" fmla="*/ 91 h 103"/>
                <a:gd name="T14" fmla="*/ 157 w 158"/>
                <a:gd name="T15" fmla="*/ 102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3"/>
                <a:gd name="T26" fmla="*/ 158 w 158"/>
                <a:gd name="T27" fmla="*/ 103 h 1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3">
                  <a:moveTo>
                    <a:pt x="0" y="0"/>
                  </a:moveTo>
                  <a:lnTo>
                    <a:pt x="19" y="24"/>
                  </a:lnTo>
                  <a:lnTo>
                    <a:pt x="38" y="40"/>
                  </a:lnTo>
                  <a:lnTo>
                    <a:pt x="59" y="54"/>
                  </a:lnTo>
                  <a:lnTo>
                    <a:pt x="78" y="64"/>
                  </a:lnTo>
                  <a:lnTo>
                    <a:pt x="116" y="80"/>
                  </a:lnTo>
                  <a:lnTo>
                    <a:pt x="138" y="91"/>
                  </a:lnTo>
                  <a:lnTo>
                    <a:pt x="157" y="102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7" name="Freeform 60"/>
            <p:cNvSpPr>
              <a:spLocks/>
            </p:cNvSpPr>
            <p:nvPr/>
          </p:nvSpPr>
          <p:spPr bwMode="auto">
            <a:xfrm>
              <a:off x="4098" y="2684"/>
              <a:ext cx="158" cy="105"/>
            </a:xfrm>
            <a:custGeom>
              <a:avLst/>
              <a:gdLst>
                <a:gd name="T0" fmla="*/ 0 w 158"/>
                <a:gd name="T1" fmla="*/ 0 h 105"/>
                <a:gd name="T2" fmla="*/ 19 w 158"/>
                <a:gd name="T3" fmla="*/ 13 h 105"/>
                <a:gd name="T4" fmla="*/ 38 w 158"/>
                <a:gd name="T5" fmla="*/ 29 h 105"/>
                <a:gd name="T6" fmla="*/ 78 w 158"/>
                <a:gd name="T7" fmla="*/ 64 h 105"/>
                <a:gd name="T8" fmla="*/ 97 w 158"/>
                <a:gd name="T9" fmla="*/ 80 h 105"/>
                <a:gd name="T10" fmla="*/ 116 w 158"/>
                <a:gd name="T11" fmla="*/ 93 h 105"/>
                <a:gd name="T12" fmla="*/ 138 w 158"/>
                <a:gd name="T13" fmla="*/ 101 h 105"/>
                <a:gd name="T14" fmla="*/ 157 w 158"/>
                <a:gd name="T15" fmla="*/ 104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5"/>
                <a:gd name="T26" fmla="*/ 158 w 15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5">
                  <a:moveTo>
                    <a:pt x="0" y="0"/>
                  </a:moveTo>
                  <a:lnTo>
                    <a:pt x="19" y="13"/>
                  </a:lnTo>
                  <a:lnTo>
                    <a:pt x="38" y="29"/>
                  </a:lnTo>
                  <a:lnTo>
                    <a:pt x="78" y="64"/>
                  </a:lnTo>
                  <a:lnTo>
                    <a:pt x="97" y="80"/>
                  </a:lnTo>
                  <a:lnTo>
                    <a:pt x="116" y="93"/>
                  </a:lnTo>
                  <a:lnTo>
                    <a:pt x="138" y="101"/>
                  </a:lnTo>
                  <a:lnTo>
                    <a:pt x="157" y="104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8" name="Freeform 61"/>
            <p:cNvSpPr>
              <a:spLocks/>
            </p:cNvSpPr>
            <p:nvPr/>
          </p:nvSpPr>
          <p:spPr bwMode="auto">
            <a:xfrm>
              <a:off x="4255" y="2684"/>
              <a:ext cx="158" cy="105"/>
            </a:xfrm>
            <a:custGeom>
              <a:avLst/>
              <a:gdLst>
                <a:gd name="T0" fmla="*/ 0 w 158"/>
                <a:gd name="T1" fmla="*/ 104 h 105"/>
                <a:gd name="T2" fmla="*/ 19 w 158"/>
                <a:gd name="T3" fmla="*/ 101 h 105"/>
                <a:gd name="T4" fmla="*/ 38 w 158"/>
                <a:gd name="T5" fmla="*/ 96 h 105"/>
                <a:gd name="T6" fmla="*/ 59 w 158"/>
                <a:gd name="T7" fmla="*/ 85 h 105"/>
                <a:gd name="T8" fmla="*/ 78 w 158"/>
                <a:gd name="T9" fmla="*/ 72 h 105"/>
                <a:gd name="T10" fmla="*/ 97 w 158"/>
                <a:gd name="T11" fmla="*/ 56 h 105"/>
                <a:gd name="T12" fmla="*/ 116 w 158"/>
                <a:gd name="T13" fmla="*/ 37 h 105"/>
                <a:gd name="T14" fmla="*/ 157 w 15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8"/>
                <a:gd name="T25" fmla="*/ 0 h 105"/>
                <a:gd name="T26" fmla="*/ 158 w 15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8" h="105">
                  <a:moveTo>
                    <a:pt x="0" y="104"/>
                  </a:moveTo>
                  <a:lnTo>
                    <a:pt x="19" y="101"/>
                  </a:lnTo>
                  <a:lnTo>
                    <a:pt x="38" y="96"/>
                  </a:lnTo>
                  <a:lnTo>
                    <a:pt x="59" y="85"/>
                  </a:lnTo>
                  <a:lnTo>
                    <a:pt x="78" y="72"/>
                  </a:lnTo>
                  <a:lnTo>
                    <a:pt x="97" y="56"/>
                  </a:lnTo>
                  <a:lnTo>
                    <a:pt x="116" y="37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79" name="Freeform 62"/>
            <p:cNvSpPr>
              <a:spLocks/>
            </p:cNvSpPr>
            <p:nvPr/>
          </p:nvSpPr>
          <p:spPr bwMode="auto">
            <a:xfrm>
              <a:off x="4412" y="2478"/>
              <a:ext cx="157" cy="207"/>
            </a:xfrm>
            <a:custGeom>
              <a:avLst/>
              <a:gdLst>
                <a:gd name="T0" fmla="*/ 0 w 157"/>
                <a:gd name="T1" fmla="*/ 206 h 207"/>
                <a:gd name="T2" fmla="*/ 19 w 157"/>
                <a:gd name="T3" fmla="*/ 184 h 207"/>
                <a:gd name="T4" fmla="*/ 38 w 157"/>
                <a:gd name="T5" fmla="*/ 160 h 207"/>
                <a:gd name="T6" fmla="*/ 59 w 157"/>
                <a:gd name="T7" fmla="*/ 131 h 207"/>
                <a:gd name="T8" fmla="*/ 78 w 157"/>
                <a:gd name="T9" fmla="*/ 102 h 207"/>
                <a:gd name="T10" fmla="*/ 97 w 157"/>
                <a:gd name="T11" fmla="*/ 75 h 207"/>
                <a:gd name="T12" fmla="*/ 116 w 157"/>
                <a:gd name="T13" fmla="*/ 46 h 207"/>
                <a:gd name="T14" fmla="*/ 137 w 157"/>
                <a:gd name="T15" fmla="*/ 22 h 207"/>
                <a:gd name="T16" fmla="*/ 156 w 157"/>
                <a:gd name="T17" fmla="*/ 0 h 2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7"/>
                <a:gd name="T28" fmla="*/ 0 h 207"/>
                <a:gd name="T29" fmla="*/ 157 w 157"/>
                <a:gd name="T30" fmla="*/ 207 h 20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7" h="207">
                  <a:moveTo>
                    <a:pt x="0" y="206"/>
                  </a:moveTo>
                  <a:lnTo>
                    <a:pt x="19" y="184"/>
                  </a:lnTo>
                  <a:lnTo>
                    <a:pt x="38" y="160"/>
                  </a:lnTo>
                  <a:lnTo>
                    <a:pt x="59" y="131"/>
                  </a:lnTo>
                  <a:lnTo>
                    <a:pt x="78" y="102"/>
                  </a:lnTo>
                  <a:lnTo>
                    <a:pt x="97" y="75"/>
                  </a:lnTo>
                  <a:lnTo>
                    <a:pt x="116" y="46"/>
                  </a:lnTo>
                  <a:lnTo>
                    <a:pt x="137" y="22"/>
                  </a:lnTo>
                  <a:lnTo>
                    <a:pt x="156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0" name="Freeform 63"/>
            <p:cNvSpPr>
              <a:spLocks/>
            </p:cNvSpPr>
            <p:nvPr/>
          </p:nvSpPr>
          <p:spPr bwMode="auto">
            <a:xfrm>
              <a:off x="4568" y="2374"/>
              <a:ext cx="158" cy="105"/>
            </a:xfrm>
            <a:custGeom>
              <a:avLst/>
              <a:gdLst>
                <a:gd name="T0" fmla="*/ 0 w 158"/>
                <a:gd name="T1" fmla="*/ 104 h 105"/>
                <a:gd name="T2" fmla="*/ 19 w 158"/>
                <a:gd name="T3" fmla="*/ 85 h 105"/>
                <a:gd name="T4" fmla="*/ 38 w 158"/>
                <a:gd name="T5" fmla="*/ 72 h 105"/>
                <a:gd name="T6" fmla="*/ 79 w 158"/>
                <a:gd name="T7" fmla="*/ 45 h 105"/>
                <a:gd name="T8" fmla="*/ 117 w 158"/>
                <a:gd name="T9" fmla="*/ 24 h 105"/>
                <a:gd name="T10" fmla="*/ 157 w 158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105"/>
                <a:gd name="T20" fmla="*/ 158 w 158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105">
                  <a:moveTo>
                    <a:pt x="0" y="104"/>
                  </a:moveTo>
                  <a:lnTo>
                    <a:pt x="19" y="85"/>
                  </a:lnTo>
                  <a:lnTo>
                    <a:pt x="38" y="72"/>
                  </a:lnTo>
                  <a:lnTo>
                    <a:pt x="79" y="45"/>
                  </a:lnTo>
                  <a:lnTo>
                    <a:pt x="117" y="24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1" name="Freeform 64"/>
            <p:cNvSpPr>
              <a:spLocks/>
            </p:cNvSpPr>
            <p:nvPr/>
          </p:nvSpPr>
          <p:spPr bwMode="auto">
            <a:xfrm>
              <a:off x="4725" y="2270"/>
              <a:ext cx="158" cy="105"/>
            </a:xfrm>
            <a:custGeom>
              <a:avLst/>
              <a:gdLst>
                <a:gd name="T0" fmla="*/ 0 w 158"/>
                <a:gd name="T1" fmla="*/ 104 h 105"/>
                <a:gd name="T2" fmla="*/ 38 w 158"/>
                <a:gd name="T3" fmla="*/ 80 h 105"/>
                <a:gd name="T4" fmla="*/ 79 w 158"/>
                <a:gd name="T5" fmla="*/ 59 h 105"/>
                <a:gd name="T6" fmla="*/ 117 w 158"/>
                <a:gd name="T7" fmla="*/ 32 h 105"/>
                <a:gd name="T8" fmla="*/ 138 w 158"/>
                <a:gd name="T9" fmla="*/ 19 h 105"/>
                <a:gd name="T10" fmla="*/ 157 w 158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105"/>
                <a:gd name="T20" fmla="*/ 158 w 158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105">
                  <a:moveTo>
                    <a:pt x="0" y="104"/>
                  </a:moveTo>
                  <a:lnTo>
                    <a:pt x="38" y="80"/>
                  </a:lnTo>
                  <a:lnTo>
                    <a:pt x="79" y="59"/>
                  </a:lnTo>
                  <a:lnTo>
                    <a:pt x="117" y="32"/>
                  </a:lnTo>
                  <a:lnTo>
                    <a:pt x="138" y="19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82" name="Freeform 65"/>
            <p:cNvSpPr>
              <a:spLocks/>
            </p:cNvSpPr>
            <p:nvPr/>
          </p:nvSpPr>
          <p:spPr bwMode="auto">
            <a:xfrm>
              <a:off x="4882" y="2064"/>
              <a:ext cx="158" cy="207"/>
            </a:xfrm>
            <a:custGeom>
              <a:avLst/>
              <a:gdLst>
                <a:gd name="T0" fmla="*/ 0 w 158"/>
                <a:gd name="T1" fmla="*/ 206 h 207"/>
                <a:gd name="T2" fmla="*/ 19 w 158"/>
                <a:gd name="T3" fmla="*/ 184 h 207"/>
                <a:gd name="T4" fmla="*/ 38 w 158"/>
                <a:gd name="T5" fmla="*/ 160 h 207"/>
                <a:gd name="T6" fmla="*/ 78 w 158"/>
                <a:gd name="T7" fmla="*/ 110 h 207"/>
                <a:gd name="T8" fmla="*/ 116 w 158"/>
                <a:gd name="T9" fmla="*/ 54 h 207"/>
                <a:gd name="T10" fmla="*/ 157 w 158"/>
                <a:gd name="T11" fmla="*/ 0 h 2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"/>
                <a:gd name="T19" fmla="*/ 0 h 207"/>
                <a:gd name="T20" fmla="*/ 158 w 158"/>
                <a:gd name="T21" fmla="*/ 207 h 2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" h="207">
                  <a:moveTo>
                    <a:pt x="0" y="206"/>
                  </a:moveTo>
                  <a:lnTo>
                    <a:pt x="19" y="184"/>
                  </a:lnTo>
                  <a:lnTo>
                    <a:pt x="38" y="160"/>
                  </a:lnTo>
                  <a:lnTo>
                    <a:pt x="78" y="110"/>
                  </a:lnTo>
                  <a:lnTo>
                    <a:pt x="116" y="54"/>
                  </a:lnTo>
                  <a:lnTo>
                    <a:pt x="157" y="0"/>
                  </a:lnTo>
                </a:path>
              </a:pathLst>
            </a:custGeom>
            <a:noFill/>
            <a:ln w="508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3463" name="Rectangle 66"/>
          <p:cNvSpPr>
            <a:spLocks noChangeArrowheads="1"/>
          </p:cNvSpPr>
          <p:nvPr/>
        </p:nvSpPr>
        <p:spPr bwMode="auto">
          <a:xfrm>
            <a:off x="1600200" y="2133600"/>
            <a:ext cx="28956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Bad Presentation</a:t>
            </a:r>
          </a:p>
        </p:txBody>
      </p:sp>
      <p:sp>
        <p:nvSpPr>
          <p:cNvPr id="103464" name="TextBox 68"/>
          <p:cNvSpPr txBox="1">
            <a:spLocks noChangeArrowheads="1"/>
          </p:cNvSpPr>
          <p:nvPr/>
        </p:nvSpPr>
        <p:spPr bwMode="auto">
          <a:xfrm>
            <a:off x="7543800" y="990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2-</a:t>
            </a:r>
            <a:fld id="{5219E9AD-6F57-4042-9414-4D1401A03085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1044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44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2-</a:t>
            </a:r>
            <a:fld id="{4B348BF1-9347-4F9D-AE0A-6154D0A70895}" type="slidenum">
              <a:rPr lang="en-US" sz="1000"/>
              <a:pPr algn="r" defTabSz="852488"/>
              <a:t>57</a:t>
            </a:fld>
            <a:endParaRPr lang="en-US" sz="1000"/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8077200" cy="43037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Discussed sources of data used in business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Organized categorical data using a summary table or a contingency table.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Organized numerical data using an ordered array, a frequency distribution, a relative frequency distribution, a percentage distribution, and a cumulative percentage distribution.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Visualized categorical data using the bar chart, pie chart, and Pareto chart.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Visualized numerical data using the stem-and-leaf display, histogram, percentage polygon, and ogive.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Developed scatter plots and time-series graphs.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Looked at examples of the use of Pivot Tables in Excel for multidimensional data.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Examined the do’s and don'ts of graphically displaying data.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smtClean="0">
              <a:latin typeface="Times New Roman" pitchFamily="18" charset="0"/>
            </a:endParaRPr>
          </a:p>
        </p:txBody>
      </p:sp>
      <p:sp>
        <p:nvSpPr>
          <p:cNvPr id="104454" name="Text Box 4"/>
          <p:cNvSpPr txBox="1">
            <a:spLocks noChangeArrowheads="1"/>
          </p:cNvSpPr>
          <p:nvPr/>
        </p:nvSpPr>
        <p:spPr bwMode="auto">
          <a:xfrm>
            <a:off x="762000" y="1447800"/>
            <a:ext cx="6553200" cy="420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In this chapter, we have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nHall1">
  <a:themeElements>
    <a:clrScheme name="PrenHall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renHall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4316</TotalTime>
  <Pages>20</Pages>
  <Words>3592</Words>
  <Application>Microsoft Office PowerPoint</Application>
  <PresentationFormat>On-screen Show (4:3)</PresentationFormat>
  <Paragraphs>1088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Wingdings</vt:lpstr>
      <vt:lpstr>Times New Roman</vt:lpstr>
      <vt:lpstr>Calibri</vt:lpstr>
      <vt:lpstr>PrenHall1</vt:lpstr>
      <vt:lpstr>PrenHall1</vt:lpstr>
      <vt:lpstr>Chart</vt:lpstr>
      <vt:lpstr>Worksheet</vt:lpstr>
      <vt:lpstr>Slide 1</vt:lpstr>
      <vt:lpstr>Learning Objectives</vt:lpstr>
      <vt:lpstr>A Step by Step Process For Examining &amp; Concluding From Data Is Helpful</vt:lpstr>
      <vt:lpstr>Why Collect Data?</vt:lpstr>
      <vt:lpstr>Sources of Data</vt:lpstr>
      <vt:lpstr>Sources of data fall into four categories</vt:lpstr>
      <vt:lpstr>Examples Of Data Distributed By Organizations or Individuals</vt:lpstr>
      <vt:lpstr>Examples of Data From A Designed Experiment</vt:lpstr>
      <vt:lpstr>Examples of Survey Data</vt:lpstr>
      <vt:lpstr>Examples of Data From Observational Studies</vt:lpstr>
      <vt:lpstr>Categorical Data Are Organized By Utilizing Tables</vt:lpstr>
      <vt:lpstr>Organizing Categorical Data: Summary Table</vt:lpstr>
      <vt:lpstr>A Contingency Table Helps Organize Two or More Categorical Variables</vt:lpstr>
      <vt:lpstr>Contingency Table - Example</vt:lpstr>
      <vt:lpstr>Contingency Table Based On Percentage of Overall Total</vt:lpstr>
      <vt:lpstr>Contingency Table Based On Percentage of Row Totals</vt:lpstr>
      <vt:lpstr>Contingency Table Based On Percentage Of Column Total</vt:lpstr>
      <vt:lpstr>Tables Used For Organizing  Numerical Data</vt:lpstr>
      <vt:lpstr>Organizing Numerical Data:  Ordered Array</vt:lpstr>
      <vt:lpstr>Organizing Numerical Data:  Frequency Distribution</vt:lpstr>
      <vt:lpstr>Organizing Numerical Data:  Frequency Distribution Example</vt:lpstr>
      <vt:lpstr>Organizing Numerical Data:  Frequency Distribution Example</vt:lpstr>
      <vt:lpstr>Organizing Numerical Data: Frequency Distribution Example</vt:lpstr>
      <vt:lpstr>Organizing Numerical Data: Relative &amp; Percent Frequency Distribution Example</vt:lpstr>
      <vt:lpstr>Organizing Numerical Data: Cumulative Frequency Distribution Example</vt:lpstr>
      <vt:lpstr>Why Use a Frequency Distribution?</vt:lpstr>
      <vt:lpstr>Frequency Distributions: Some Tips</vt:lpstr>
      <vt:lpstr>Visualizing Categorical Data Through Graphical Displays</vt:lpstr>
      <vt:lpstr>Visualizing Categorical Data:  The Bar Chart</vt:lpstr>
      <vt:lpstr>Visualizing Categorical Data:  The Pie Chart</vt:lpstr>
      <vt:lpstr>Visualizing Categorical Data: The Pareto Chart</vt:lpstr>
      <vt:lpstr>Visualizing Categorical Data: The Pareto Chart (con’t)</vt:lpstr>
      <vt:lpstr>Visualizing Categorical Data: Side-By-Side Bar Charts</vt:lpstr>
      <vt:lpstr>Visualizing Numerical Data By Using Graphical Displays</vt:lpstr>
      <vt:lpstr>Stem-and-Leaf Display</vt:lpstr>
      <vt:lpstr>Organizing Numerical Data:  Stem and Leaf Display</vt:lpstr>
      <vt:lpstr>Visualizing Numerical Data:  The Histogram</vt:lpstr>
      <vt:lpstr>Visualizing Numerical Data:  The Histogram</vt:lpstr>
      <vt:lpstr>Visualizing Numerical Data:  The Polygon</vt:lpstr>
      <vt:lpstr>Visualizing Numerical Data:  The Frequency Polygon</vt:lpstr>
      <vt:lpstr>Visualizing Numerical Data:  The Ogive (Cumulative % Polygon)</vt:lpstr>
      <vt:lpstr>Visualizing Two Numerical Variables:  The Scatter Plot</vt:lpstr>
      <vt:lpstr>Scatter Plot Example</vt:lpstr>
      <vt:lpstr>Visualizing Two Numerical Variables:  The Time-Series Plot</vt:lpstr>
      <vt:lpstr>Time Series Plot Example</vt:lpstr>
      <vt:lpstr>Exploring Multidimensional Data</vt:lpstr>
      <vt:lpstr>Pivot Table Version of Contingency Table For Bond Data</vt:lpstr>
      <vt:lpstr>Can Easily Convert To An Overall Percentages Table</vt:lpstr>
      <vt:lpstr>Can Easily Add Variables To An Existing Table</vt:lpstr>
      <vt:lpstr>Can Easily Change The Statistic Displayed</vt:lpstr>
      <vt:lpstr>Tables Can Compute &amp; Display Other Descriptive Statistics </vt:lpstr>
      <vt:lpstr>Principles of Excellent Graphs</vt:lpstr>
      <vt:lpstr>Graphical Errors: Chart Junk</vt:lpstr>
      <vt:lpstr>Graphical Errors:  No Relative Basis</vt:lpstr>
      <vt:lpstr>Graphical Errors:  Compressing the Vertical Axis</vt:lpstr>
      <vt:lpstr>Graphical Errors: No Zero Point on the Vertical Axis</vt:lpstr>
      <vt:lpstr>Chapter Summary</vt:lpstr>
    </vt:vector>
  </TitlesOfParts>
  <Company>University of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Business Statistics, 10/e</dc:title>
  <dc:subject>Chapter 2</dc:subject>
  <dc:creator>Dirk Yandell</dc:creator>
  <cp:lastModifiedBy>emiljone</cp:lastModifiedBy>
  <cp:revision>204</cp:revision>
  <cp:lastPrinted>1998-11-22T23:37:53Z</cp:lastPrinted>
  <dcterms:created xsi:type="dcterms:W3CDTF">2001-01-13T04:36:39Z</dcterms:created>
  <dcterms:modified xsi:type="dcterms:W3CDTF">2011-03-23T11:20:06Z</dcterms:modified>
</cp:coreProperties>
</file>