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xls" ContentType="application/vnd.ms-exce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51" r:id="rId1"/>
  </p:sldMasterIdLst>
  <p:notesMasterIdLst>
    <p:notesMasterId r:id="rId68"/>
  </p:notesMasterIdLst>
  <p:handoutMasterIdLst>
    <p:handoutMasterId r:id="rId69"/>
  </p:handoutMasterIdLst>
  <p:sldIdLst>
    <p:sldId id="260" r:id="rId2"/>
    <p:sldId id="347" r:id="rId3"/>
    <p:sldId id="349" r:id="rId4"/>
    <p:sldId id="352" r:id="rId5"/>
    <p:sldId id="449" r:id="rId6"/>
    <p:sldId id="353" r:id="rId7"/>
    <p:sldId id="354" r:id="rId8"/>
    <p:sldId id="382" r:id="rId9"/>
    <p:sldId id="383" r:id="rId10"/>
    <p:sldId id="387" r:id="rId11"/>
    <p:sldId id="384" r:id="rId12"/>
    <p:sldId id="385" r:id="rId13"/>
    <p:sldId id="355" r:id="rId14"/>
    <p:sldId id="356" r:id="rId15"/>
    <p:sldId id="365" r:id="rId16"/>
    <p:sldId id="366" r:id="rId17"/>
    <p:sldId id="367" r:id="rId18"/>
    <p:sldId id="368" r:id="rId19"/>
    <p:sldId id="369" r:id="rId20"/>
    <p:sldId id="388" r:id="rId21"/>
    <p:sldId id="389" r:id="rId22"/>
    <p:sldId id="390" r:id="rId23"/>
    <p:sldId id="391" r:id="rId24"/>
    <p:sldId id="392" r:id="rId25"/>
    <p:sldId id="393" r:id="rId26"/>
    <p:sldId id="394" r:id="rId27"/>
    <p:sldId id="395" r:id="rId28"/>
    <p:sldId id="396" r:id="rId29"/>
    <p:sldId id="397" r:id="rId30"/>
    <p:sldId id="398" r:id="rId31"/>
    <p:sldId id="464" r:id="rId32"/>
    <p:sldId id="465" r:id="rId33"/>
    <p:sldId id="466" r:id="rId34"/>
    <p:sldId id="450" r:id="rId35"/>
    <p:sldId id="400" r:id="rId36"/>
    <p:sldId id="401" r:id="rId37"/>
    <p:sldId id="402" r:id="rId38"/>
    <p:sldId id="403" r:id="rId39"/>
    <p:sldId id="404" r:id="rId40"/>
    <p:sldId id="467" r:id="rId41"/>
    <p:sldId id="468" r:id="rId42"/>
    <p:sldId id="452" r:id="rId43"/>
    <p:sldId id="451" r:id="rId44"/>
    <p:sldId id="463" r:id="rId45"/>
    <p:sldId id="454" r:id="rId46"/>
    <p:sldId id="469" r:id="rId47"/>
    <p:sldId id="453" r:id="rId48"/>
    <p:sldId id="406" r:id="rId49"/>
    <p:sldId id="407" r:id="rId50"/>
    <p:sldId id="408" r:id="rId51"/>
    <p:sldId id="409" r:id="rId52"/>
    <p:sldId id="448" r:id="rId53"/>
    <p:sldId id="411" r:id="rId54"/>
    <p:sldId id="412" r:id="rId55"/>
    <p:sldId id="413" r:id="rId56"/>
    <p:sldId id="455" r:id="rId57"/>
    <p:sldId id="470" r:id="rId58"/>
    <p:sldId id="443" r:id="rId59"/>
    <p:sldId id="471" r:id="rId60"/>
    <p:sldId id="472" r:id="rId61"/>
    <p:sldId id="473" r:id="rId62"/>
    <p:sldId id="474" r:id="rId63"/>
    <p:sldId id="475" r:id="rId64"/>
    <p:sldId id="476" r:id="rId65"/>
    <p:sldId id="477" r:id="rId66"/>
    <p:sldId id="478" r:id="rId67"/>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showPr>
  <p:clrMru>
    <a:srgbClr val="D989B8"/>
    <a:srgbClr val="008260"/>
    <a:srgbClr val="CC0066"/>
    <a:srgbClr val="00B082"/>
    <a:srgbClr val="00CA95"/>
    <a:srgbClr val="FF99FF"/>
    <a:srgbClr val="C7DAF7"/>
    <a:srgbClr val="FDE0BD"/>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p:restoredLeft sz="21011" autoAdjust="0"/>
    <p:restoredTop sz="94595" autoAdjust="0"/>
  </p:normalViewPr>
  <p:slideViewPr>
    <p:cSldViewPr>
      <p:cViewPr varScale="1">
        <p:scale>
          <a:sx n="40" d="100"/>
          <a:sy n="40" d="100"/>
        </p:scale>
        <p:origin x="-120" y="-3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0662"/>
    </p:cViewPr>
  </p:sorterViewPr>
  <p:notesViewPr>
    <p:cSldViewPr>
      <p:cViewPr>
        <p:scale>
          <a:sx n="75" d="100"/>
          <a:sy n="75" d="100"/>
        </p:scale>
        <p:origin x="-2130" y="-25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7" name="Rectangle 5"/>
          <p:cNvSpPr>
            <a:spLocks noChangeArrowheads="1"/>
          </p:cNvSpPr>
          <p:nvPr/>
        </p:nvSpPr>
        <p:spPr bwMode="auto">
          <a:xfrm>
            <a:off x="76200" y="8823325"/>
            <a:ext cx="6705600" cy="274638"/>
          </a:xfrm>
          <a:prstGeom prst="rect">
            <a:avLst/>
          </a:prstGeom>
          <a:noFill/>
          <a:ln w="12700">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3079" name="Line 7"/>
          <p:cNvSpPr>
            <a:spLocks noChangeShapeType="1"/>
          </p:cNvSpPr>
          <p:nvPr/>
        </p:nvSpPr>
        <p:spPr bwMode="auto">
          <a:xfrm>
            <a:off x="609600" y="8763000"/>
            <a:ext cx="5842000" cy="0"/>
          </a:xfrm>
          <a:prstGeom prst="line">
            <a:avLst/>
          </a:prstGeom>
          <a:noFill/>
          <a:ln w="25400">
            <a:solidFill>
              <a:schemeClr val="tx1"/>
            </a:solidFill>
            <a:round/>
            <a:headEnd/>
            <a:tailEnd/>
          </a:ln>
          <a:effectLst/>
        </p:spPr>
        <p:txBody>
          <a:bodyPr wrap="none" anchor="ctr"/>
          <a:lstStyle/>
          <a:p>
            <a:pPr algn="ctr">
              <a:spcBef>
                <a:spcPct val="50000"/>
              </a:spcBef>
              <a:defRPr/>
            </a:pPr>
            <a:endParaRPr lang="en-US">
              <a:latin typeface="Arial" pitchFamily="34" charset="0"/>
            </a:endParaRPr>
          </a:p>
        </p:txBody>
      </p:sp>
      <p:sp>
        <p:nvSpPr>
          <p:cNvPr id="3081" name="Rectangle 9"/>
          <p:cNvSpPr>
            <a:spLocks noChangeArrowheads="1"/>
          </p:cNvSpPr>
          <p:nvPr/>
        </p:nvSpPr>
        <p:spPr bwMode="auto">
          <a:xfrm>
            <a:off x="71438" y="55563"/>
            <a:ext cx="6715125" cy="271462"/>
          </a:xfrm>
          <a:prstGeom prst="rect">
            <a:avLst/>
          </a:prstGeom>
          <a:noFill/>
          <a:ln w="12700">
            <a:noFill/>
            <a:miter lim="800000"/>
            <a:headEnd/>
            <a:tailEnd/>
          </a:ln>
          <a:effectLst/>
        </p:spPr>
        <p:txBody>
          <a:bodyPr lIns="90488" tIns="44450" rIns="90488" bIns="44450">
            <a:spAutoFit/>
          </a:bodyPr>
          <a:lstStyle/>
          <a:p>
            <a:pPr eaLnBrk="0" hangingPunct="0">
              <a:tabLst>
                <a:tab pos="285750" algn="l"/>
                <a:tab pos="3257550" algn="ctr"/>
                <a:tab pos="6457950" algn="r"/>
              </a:tabLst>
              <a:defRPr/>
            </a:pPr>
            <a:r>
              <a:rPr lang="en-US" sz="1200">
                <a:latin typeface="Arial" pitchFamily="34" charset="0"/>
              </a:rPr>
              <a:t>	Chapter 6		 6-</a:t>
            </a:r>
            <a:fld id="{10164B5C-64D2-41CF-9465-4744A8988C6C}" type="slidenum">
              <a:rPr lang="en-US" sz="1200">
                <a:latin typeface="Arial" pitchFamily="34" charset="0"/>
              </a:rPr>
              <a:pPr eaLnBrk="0" hangingPunct="0">
                <a:tabLst>
                  <a:tab pos="285750" algn="l"/>
                  <a:tab pos="3257550" algn="ctr"/>
                  <a:tab pos="6457950" algn="r"/>
                </a:tabLst>
                <a:defRPr/>
              </a:pPr>
              <a:t>‹#›</a:t>
            </a:fld>
            <a:endParaRPr lang="en-US" sz="1200">
              <a:latin typeface="Arial" pitchFamily="34" charset="0"/>
            </a:endParaRPr>
          </a:p>
        </p:txBody>
      </p:sp>
      <p:sp>
        <p:nvSpPr>
          <p:cNvPr id="3082" name="Rectangle 10"/>
          <p:cNvSpPr>
            <a:spLocks noChangeArrowheads="1"/>
          </p:cNvSpPr>
          <p:nvPr/>
        </p:nvSpPr>
        <p:spPr bwMode="auto">
          <a:xfrm>
            <a:off x="71438" y="8818563"/>
            <a:ext cx="6715125" cy="241300"/>
          </a:xfrm>
          <a:prstGeom prst="rect">
            <a:avLst/>
          </a:prstGeom>
          <a:noFill/>
          <a:ln w="12700">
            <a:noFill/>
            <a:miter lim="800000"/>
            <a:headEnd/>
            <a:tailEnd/>
          </a:ln>
          <a:effectLst/>
        </p:spPr>
        <p:txBody>
          <a:bodyPr lIns="90488" tIns="44450" rIns="90488" bIns="44450">
            <a:spAutoFit/>
          </a:bodyPr>
          <a:lstStyle/>
          <a:p>
            <a:pPr eaLnBrk="0" hangingPunct="0">
              <a:tabLst>
                <a:tab pos="285750" algn="l"/>
                <a:tab pos="6457950" algn="r"/>
              </a:tabLst>
              <a:defRPr/>
            </a:pPr>
            <a:r>
              <a:rPr lang="en-US" sz="1000">
                <a:latin typeface="Arial" pitchFamily="34" charset="0"/>
              </a:rPr>
              <a:t>Basic Business Statistics, 10/e	© 2006 Prentice Hall, Inc.</a:t>
            </a: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3276600"/>
            <a:ext cx="5029200" cy="51816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noProof="0" smtClean="0"/>
              <a:t>Click to edit Master notes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5363" name="Rectangle 3"/>
          <p:cNvSpPr>
            <a:spLocks noGrp="1" noRot="1" noChangeAspect="1" noChangeArrowheads="1" noTextEdit="1"/>
          </p:cNvSpPr>
          <p:nvPr>
            <p:ph type="sldImg" idx="2"/>
          </p:nvPr>
        </p:nvSpPr>
        <p:spPr bwMode="auto">
          <a:xfrm>
            <a:off x="1524000" y="609600"/>
            <a:ext cx="3810000" cy="2584450"/>
          </a:xfrm>
          <a:prstGeom prst="rect">
            <a:avLst/>
          </a:prstGeom>
          <a:noFill/>
          <a:ln w="12700">
            <a:solidFill>
              <a:schemeClr val="tx1"/>
            </a:solidFill>
            <a:miter lim="800000"/>
            <a:headEnd/>
            <a:tailEnd/>
          </a:ln>
        </p:spPr>
      </p:sp>
      <p:sp>
        <p:nvSpPr>
          <p:cNvPr id="2052" name="Line 4"/>
          <p:cNvSpPr>
            <a:spLocks noChangeShapeType="1"/>
          </p:cNvSpPr>
          <p:nvPr/>
        </p:nvSpPr>
        <p:spPr bwMode="auto">
          <a:xfrm>
            <a:off x="1120775" y="35814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53" name="Line 5"/>
          <p:cNvSpPr>
            <a:spLocks noChangeShapeType="1"/>
          </p:cNvSpPr>
          <p:nvPr/>
        </p:nvSpPr>
        <p:spPr bwMode="auto">
          <a:xfrm>
            <a:off x="1120775" y="38862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54" name="Line 6"/>
          <p:cNvSpPr>
            <a:spLocks noChangeShapeType="1"/>
          </p:cNvSpPr>
          <p:nvPr/>
        </p:nvSpPr>
        <p:spPr bwMode="auto">
          <a:xfrm>
            <a:off x="1120775" y="41910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55" name="Line 7"/>
          <p:cNvSpPr>
            <a:spLocks noChangeShapeType="1"/>
          </p:cNvSpPr>
          <p:nvPr/>
        </p:nvSpPr>
        <p:spPr bwMode="auto">
          <a:xfrm>
            <a:off x="1120775" y="44958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56" name="Line 8"/>
          <p:cNvSpPr>
            <a:spLocks noChangeShapeType="1"/>
          </p:cNvSpPr>
          <p:nvPr/>
        </p:nvSpPr>
        <p:spPr bwMode="auto">
          <a:xfrm>
            <a:off x="1120775" y="48006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57" name="Line 9"/>
          <p:cNvSpPr>
            <a:spLocks noChangeShapeType="1"/>
          </p:cNvSpPr>
          <p:nvPr/>
        </p:nvSpPr>
        <p:spPr bwMode="auto">
          <a:xfrm>
            <a:off x="1120775" y="51054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58" name="Line 10"/>
          <p:cNvSpPr>
            <a:spLocks noChangeShapeType="1"/>
          </p:cNvSpPr>
          <p:nvPr/>
        </p:nvSpPr>
        <p:spPr bwMode="auto">
          <a:xfrm>
            <a:off x="1120775" y="51054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59" name="Line 11"/>
          <p:cNvSpPr>
            <a:spLocks noChangeShapeType="1"/>
          </p:cNvSpPr>
          <p:nvPr/>
        </p:nvSpPr>
        <p:spPr bwMode="auto">
          <a:xfrm>
            <a:off x="1120775" y="54102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60" name="Line 12"/>
          <p:cNvSpPr>
            <a:spLocks noChangeShapeType="1"/>
          </p:cNvSpPr>
          <p:nvPr/>
        </p:nvSpPr>
        <p:spPr bwMode="auto">
          <a:xfrm>
            <a:off x="1120775" y="57150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61" name="Line 13"/>
          <p:cNvSpPr>
            <a:spLocks noChangeShapeType="1"/>
          </p:cNvSpPr>
          <p:nvPr/>
        </p:nvSpPr>
        <p:spPr bwMode="auto">
          <a:xfrm>
            <a:off x="1120775" y="60198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62" name="Line 14"/>
          <p:cNvSpPr>
            <a:spLocks noChangeShapeType="1"/>
          </p:cNvSpPr>
          <p:nvPr/>
        </p:nvSpPr>
        <p:spPr bwMode="auto">
          <a:xfrm>
            <a:off x="1120775" y="63246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63" name="Line 15"/>
          <p:cNvSpPr>
            <a:spLocks noChangeShapeType="1"/>
          </p:cNvSpPr>
          <p:nvPr/>
        </p:nvSpPr>
        <p:spPr bwMode="auto">
          <a:xfrm>
            <a:off x="1120775" y="66294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64" name="Line 16"/>
          <p:cNvSpPr>
            <a:spLocks noChangeShapeType="1"/>
          </p:cNvSpPr>
          <p:nvPr/>
        </p:nvSpPr>
        <p:spPr bwMode="auto">
          <a:xfrm>
            <a:off x="1120775" y="69342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65" name="Line 17"/>
          <p:cNvSpPr>
            <a:spLocks noChangeShapeType="1"/>
          </p:cNvSpPr>
          <p:nvPr/>
        </p:nvSpPr>
        <p:spPr bwMode="auto">
          <a:xfrm>
            <a:off x="1120775" y="72390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66" name="Line 18"/>
          <p:cNvSpPr>
            <a:spLocks noChangeShapeType="1"/>
          </p:cNvSpPr>
          <p:nvPr/>
        </p:nvSpPr>
        <p:spPr bwMode="auto">
          <a:xfrm>
            <a:off x="1120775" y="75438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67" name="Line 19"/>
          <p:cNvSpPr>
            <a:spLocks noChangeShapeType="1"/>
          </p:cNvSpPr>
          <p:nvPr/>
        </p:nvSpPr>
        <p:spPr bwMode="auto">
          <a:xfrm>
            <a:off x="1120775" y="78486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68" name="Line 20"/>
          <p:cNvSpPr>
            <a:spLocks noChangeShapeType="1"/>
          </p:cNvSpPr>
          <p:nvPr/>
        </p:nvSpPr>
        <p:spPr bwMode="auto">
          <a:xfrm>
            <a:off x="1120775" y="81534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69" name="Line 21"/>
          <p:cNvSpPr>
            <a:spLocks noChangeShapeType="1"/>
          </p:cNvSpPr>
          <p:nvPr/>
        </p:nvSpPr>
        <p:spPr bwMode="auto">
          <a:xfrm>
            <a:off x="1120775" y="8458200"/>
            <a:ext cx="4657725" cy="0"/>
          </a:xfrm>
          <a:prstGeom prst="line">
            <a:avLst/>
          </a:prstGeom>
          <a:noFill/>
          <a:ln w="12700">
            <a:solidFill>
              <a:schemeClr val="folHlink"/>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72" name="Line 24"/>
          <p:cNvSpPr>
            <a:spLocks noChangeShapeType="1"/>
          </p:cNvSpPr>
          <p:nvPr/>
        </p:nvSpPr>
        <p:spPr bwMode="auto">
          <a:xfrm>
            <a:off x="523875" y="8763000"/>
            <a:ext cx="5851525" cy="0"/>
          </a:xfrm>
          <a:prstGeom prst="line">
            <a:avLst/>
          </a:prstGeom>
          <a:noFill/>
          <a:ln w="25400">
            <a:solidFill>
              <a:schemeClr val="tx1"/>
            </a:solidFill>
            <a:round/>
            <a:headEnd/>
            <a:tailEnd/>
          </a:ln>
          <a:effectLst/>
        </p:spPr>
        <p:txBody>
          <a:bodyPr wrap="none" anchor="ctr"/>
          <a:lstStyle/>
          <a:p>
            <a:pPr algn="ctr">
              <a:spcBef>
                <a:spcPct val="50000"/>
              </a:spcBef>
              <a:defRPr/>
            </a:pPr>
            <a:endParaRPr lang="en-US">
              <a:latin typeface="Arial" pitchFamily="34" charset="0"/>
            </a:endParaRPr>
          </a:p>
        </p:txBody>
      </p:sp>
      <p:sp>
        <p:nvSpPr>
          <p:cNvPr id="2073" name="Rectangle 25"/>
          <p:cNvSpPr>
            <a:spLocks noChangeArrowheads="1"/>
          </p:cNvSpPr>
          <p:nvPr/>
        </p:nvSpPr>
        <p:spPr bwMode="auto">
          <a:xfrm>
            <a:off x="77788" y="61913"/>
            <a:ext cx="6702425" cy="271462"/>
          </a:xfrm>
          <a:prstGeom prst="rect">
            <a:avLst/>
          </a:prstGeom>
          <a:noFill/>
          <a:ln w="12700">
            <a:noFill/>
            <a:miter lim="800000"/>
            <a:headEnd/>
            <a:tailEnd/>
          </a:ln>
          <a:effectLst/>
        </p:spPr>
        <p:txBody>
          <a:bodyPr lIns="90488" tIns="44450" rIns="90488" bIns="44450">
            <a:spAutoFit/>
          </a:bodyPr>
          <a:lstStyle/>
          <a:p>
            <a:pPr eaLnBrk="0" hangingPunct="0">
              <a:tabLst>
                <a:tab pos="285750" algn="l"/>
                <a:tab pos="3257550" algn="ctr"/>
                <a:tab pos="6457950" algn="r"/>
              </a:tabLst>
              <a:defRPr/>
            </a:pPr>
            <a:r>
              <a:rPr lang="en-US" sz="1200">
                <a:latin typeface="Arial" pitchFamily="34" charset="0"/>
              </a:rPr>
              <a:t>	Chapter 6		6-</a:t>
            </a:r>
            <a:fld id="{750DCBC1-6F8E-43D4-8260-05F95B42A97D}" type="slidenum">
              <a:rPr lang="en-US" sz="1200">
                <a:latin typeface="Arial" pitchFamily="34" charset="0"/>
              </a:rPr>
              <a:pPr eaLnBrk="0" hangingPunct="0">
                <a:tabLst>
                  <a:tab pos="285750" algn="l"/>
                  <a:tab pos="3257550" algn="ctr"/>
                  <a:tab pos="6457950" algn="r"/>
                </a:tabLst>
                <a:defRPr/>
              </a:pPr>
              <a:t>‹#›</a:t>
            </a:fld>
            <a:endParaRPr lang="en-US" sz="1200">
              <a:latin typeface="Arial" pitchFamily="34" charset="0"/>
            </a:endParaRPr>
          </a:p>
        </p:txBody>
      </p:sp>
      <p:sp>
        <p:nvSpPr>
          <p:cNvPr id="2074" name="Rectangle 26"/>
          <p:cNvSpPr>
            <a:spLocks noChangeArrowheads="1"/>
          </p:cNvSpPr>
          <p:nvPr/>
        </p:nvSpPr>
        <p:spPr bwMode="auto">
          <a:xfrm>
            <a:off x="71438" y="8818563"/>
            <a:ext cx="6715125" cy="241300"/>
          </a:xfrm>
          <a:prstGeom prst="rect">
            <a:avLst/>
          </a:prstGeom>
          <a:noFill/>
          <a:ln w="12700">
            <a:noFill/>
            <a:miter lim="800000"/>
            <a:headEnd/>
            <a:tailEnd/>
          </a:ln>
          <a:effectLst/>
        </p:spPr>
        <p:txBody>
          <a:bodyPr lIns="90488" tIns="44450" rIns="90488" bIns="44450">
            <a:spAutoFit/>
          </a:bodyPr>
          <a:lstStyle/>
          <a:p>
            <a:pPr eaLnBrk="0" hangingPunct="0">
              <a:tabLst>
                <a:tab pos="285750" algn="l"/>
                <a:tab pos="6457950" algn="r"/>
              </a:tabLst>
              <a:defRPr/>
            </a:pPr>
            <a:r>
              <a:rPr lang="en-US" sz="1000">
                <a:latin typeface="Arial" pitchFamily="34" charset="0"/>
              </a:rPr>
              <a:t>Basic Business Statistics, 10/e	© 2006 Prentice Hall, Inc.</a:t>
            </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4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4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4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4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Rot="1" noChangeAspect="1" noChangeArrowheads="1" noTextEdit="1"/>
          </p:cNvSpPr>
          <p:nvPr>
            <p:ph type="sldImg"/>
          </p:nvPr>
        </p:nvSpPr>
        <p:spPr>
          <a:xfrm>
            <a:off x="1706563" y="609600"/>
            <a:ext cx="3444875" cy="2584450"/>
          </a:xfrm>
          <a:ln/>
        </p:spPr>
      </p:sp>
      <p:sp>
        <p:nvSpPr>
          <p:cNvPr id="18434" name="Rectangle 3"/>
          <p:cNvSpPr>
            <a:spLocks noGrp="1" noChangeArrowheads="1"/>
          </p:cNvSpPr>
          <p:nvPr>
            <p:ph type="body" idx="1"/>
          </p:nvPr>
        </p:nvSpPr>
        <p:spPr>
          <a:noFill/>
          <a:ln w="9525"/>
        </p:spPr>
        <p:txBody>
          <a:bodyPr/>
          <a:lstStyle/>
          <a:p>
            <a:endParaRPr lang="en-GB" smtClean="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body" idx="1"/>
          </p:nvPr>
        </p:nvSpPr>
        <p:spPr>
          <a:xfrm>
            <a:off x="914400" y="4197350"/>
            <a:ext cx="5029200" cy="4260850"/>
          </a:xfrm>
          <a:noFill/>
          <a:ln w="9525"/>
        </p:spPr>
        <p:txBody>
          <a:bodyPr lIns="90483" tIns="44448" rIns="90483" bIns="44448"/>
          <a:lstStyle/>
          <a:p>
            <a:endParaRPr lang="en-GB" smtClean="0">
              <a:latin typeface="Arial" charset="0"/>
            </a:endParaRPr>
          </a:p>
        </p:txBody>
      </p:sp>
      <p:sp>
        <p:nvSpPr>
          <p:cNvPr id="22530" name="Rectangle 3"/>
          <p:cNvSpPr>
            <a:spLocks noGrp="1" noRot="1" noChangeAspect="1" noChangeArrowheads="1" noTextEdit="1"/>
          </p:cNvSpPr>
          <p:nvPr>
            <p:ph type="sldImg"/>
          </p:nvPr>
        </p:nvSpPr>
        <p:spPr>
          <a:xfrm>
            <a:off x="1152525" y="692150"/>
            <a:ext cx="4554538" cy="3416300"/>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3" name="Rectangle 2"/>
          <p:cNvSpPr>
            <a:spLocks noChangeArrowheads="1"/>
          </p:cNvSpPr>
          <p:nvPr/>
        </p:nvSpPr>
        <p:spPr bwMode="auto">
          <a:xfrm>
            <a:off x="3886200" y="0"/>
            <a:ext cx="2971800" cy="457200"/>
          </a:xfrm>
          <a:prstGeom prst="rect">
            <a:avLst/>
          </a:prstGeom>
          <a:noFill/>
          <a:ln w="12700">
            <a:noFill/>
            <a:miter lim="800000"/>
            <a:headEnd/>
            <a:tailEnd/>
          </a:ln>
        </p:spPr>
        <p:txBody>
          <a:bodyPr wrap="none" anchor="ctr"/>
          <a:lstStyle/>
          <a:p>
            <a:pPr algn="ctr">
              <a:spcBef>
                <a:spcPct val="50000"/>
              </a:spcBef>
            </a:pPr>
            <a:endParaRPr lang="en-GB"/>
          </a:p>
        </p:txBody>
      </p:sp>
      <p:sp>
        <p:nvSpPr>
          <p:cNvPr id="346114" name="Rectangle 3"/>
          <p:cNvSpPr>
            <a:spLocks noGrp="1" noRot="1" noChangeAspect="1" noChangeArrowheads="1" noTextEdit="1"/>
          </p:cNvSpPr>
          <p:nvPr>
            <p:ph type="sldImg"/>
          </p:nvPr>
        </p:nvSpPr>
        <p:spPr>
          <a:xfrm>
            <a:off x="1152525" y="692150"/>
            <a:ext cx="4554538" cy="3416300"/>
          </a:xfrm>
          <a:ln cap="flat"/>
        </p:spPr>
      </p:sp>
      <p:sp>
        <p:nvSpPr>
          <p:cNvPr id="346115" name="Rectangle 4"/>
          <p:cNvSpPr>
            <a:spLocks noGrp="1" noChangeArrowheads="1"/>
          </p:cNvSpPr>
          <p:nvPr>
            <p:ph type="body" idx="1"/>
          </p:nvPr>
        </p:nvSpPr>
        <p:spPr>
          <a:xfrm>
            <a:off x="914400" y="4197350"/>
            <a:ext cx="5029200" cy="4260850"/>
          </a:xfrm>
          <a:noFill/>
          <a:ln w="9525"/>
        </p:spPr>
        <p:txBody>
          <a:bodyPr lIns="90482" tIns="44448" rIns="90482" bIns="44448"/>
          <a:lstStyle/>
          <a:p>
            <a:endParaRPr lang="en-GB" smtClean="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5" name="Rectangle 2"/>
          <p:cNvSpPr>
            <a:spLocks noGrp="1" noChangeArrowheads="1"/>
          </p:cNvSpPr>
          <p:nvPr>
            <p:ph type="body" idx="1"/>
          </p:nvPr>
        </p:nvSpPr>
        <p:spPr>
          <a:xfrm>
            <a:off x="914400" y="4197350"/>
            <a:ext cx="5029200" cy="4260850"/>
          </a:xfrm>
          <a:noFill/>
          <a:ln w="9525"/>
        </p:spPr>
        <p:txBody>
          <a:bodyPr lIns="90482" tIns="44448" rIns="90482" bIns="44448"/>
          <a:lstStyle/>
          <a:p>
            <a:endParaRPr lang="en-GB" smtClean="0">
              <a:latin typeface="Arial" charset="0"/>
            </a:endParaRPr>
          </a:p>
        </p:txBody>
      </p:sp>
      <p:sp>
        <p:nvSpPr>
          <p:cNvPr id="354306" name="Rectangle 3"/>
          <p:cNvSpPr>
            <a:spLocks noGrp="1" noRot="1" noChangeAspect="1" noChangeArrowheads="1" noTextEdit="1"/>
          </p:cNvSpPr>
          <p:nvPr>
            <p:ph type="sldImg"/>
          </p:nvPr>
        </p:nvSpPr>
        <p:spPr>
          <a:xfrm>
            <a:off x="1152525" y="692150"/>
            <a:ext cx="4554538" cy="3416300"/>
          </a:xfrm>
          <a:ln cap="fla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7" name="Rectangle 2"/>
          <p:cNvSpPr>
            <a:spLocks noGrp="1" noChangeArrowheads="1"/>
          </p:cNvSpPr>
          <p:nvPr>
            <p:ph type="body" idx="1"/>
          </p:nvPr>
        </p:nvSpPr>
        <p:spPr>
          <a:xfrm>
            <a:off x="914400" y="4197350"/>
            <a:ext cx="5029200" cy="4260850"/>
          </a:xfrm>
          <a:noFill/>
          <a:ln w="9525"/>
        </p:spPr>
        <p:txBody>
          <a:bodyPr lIns="90482" tIns="44448" rIns="90482" bIns="44448"/>
          <a:lstStyle/>
          <a:p>
            <a:endParaRPr lang="en-GB" smtClean="0">
              <a:latin typeface="Arial" charset="0"/>
            </a:endParaRPr>
          </a:p>
        </p:txBody>
      </p:sp>
      <p:sp>
        <p:nvSpPr>
          <p:cNvPr id="362498" name="Rectangle 3"/>
          <p:cNvSpPr>
            <a:spLocks noGrp="1" noRot="1" noChangeAspect="1" noChangeArrowheads="1" noTextEdit="1"/>
          </p:cNvSpPr>
          <p:nvPr>
            <p:ph type="sldImg"/>
          </p:nvPr>
        </p:nvSpPr>
        <p:spPr>
          <a:xfrm>
            <a:off x="1152525" y="692150"/>
            <a:ext cx="4554538" cy="3416300"/>
          </a:xfrm>
          <a:ln cap="fla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7" name="Rectangle 2"/>
          <p:cNvSpPr>
            <a:spLocks noGrp="1" noChangeArrowheads="1"/>
          </p:cNvSpPr>
          <p:nvPr>
            <p:ph type="body" idx="1"/>
          </p:nvPr>
        </p:nvSpPr>
        <p:spPr>
          <a:xfrm>
            <a:off x="914400" y="4197350"/>
            <a:ext cx="5029200" cy="4260850"/>
          </a:xfrm>
          <a:noFill/>
          <a:ln w="9525"/>
        </p:spPr>
        <p:txBody>
          <a:bodyPr lIns="90482" tIns="44448" rIns="90482" bIns="44448"/>
          <a:lstStyle/>
          <a:p>
            <a:endParaRPr lang="en-GB" smtClean="0">
              <a:latin typeface="Arial" charset="0"/>
            </a:endParaRPr>
          </a:p>
        </p:txBody>
      </p:sp>
      <p:sp>
        <p:nvSpPr>
          <p:cNvPr id="367618" name="Rectangle 3"/>
          <p:cNvSpPr>
            <a:spLocks noGrp="1" noRot="1" noChangeAspect="1" noChangeArrowheads="1" noTextEdit="1"/>
          </p:cNvSpPr>
          <p:nvPr>
            <p:ph type="sldImg"/>
          </p:nvPr>
        </p:nvSpPr>
        <p:spPr>
          <a:xfrm>
            <a:off x="1152525" y="692150"/>
            <a:ext cx="4554538" cy="3416300"/>
          </a:xfrm>
          <a:ln cap="flat"/>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1" name="Rectangle 2"/>
          <p:cNvSpPr>
            <a:spLocks noGrp="1" noRot="1" noChangeAspect="1" noChangeArrowheads="1" noTextEdit="1"/>
          </p:cNvSpPr>
          <p:nvPr>
            <p:ph type="sldImg"/>
          </p:nvPr>
        </p:nvSpPr>
        <p:spPr>
          <a:xfrm>
            <a:off x="1706563" y="609600"/>
            <a:ext cx="3444875" cy="2584450"/>
          </a:xfrm>
          <a:ln/>
        </p:spPr>
      </p:sp>
      <p:sp>
        <p:nvSpPr>
          <p:cNvPr id="404482" name="Rectangle 3"/>
          <p:cNvSpPr>
            <a:spLocks noGrp="1" noChangeArrowheads="1"/>
          </p:cNvSpPr>
          <p:nvPr>
            <p:ph type="body" idx="1"/>
          </p:nvPr>
        </p:nvSpPr>
        <p:spPr>
          <a:noFill/>
          <a:ln w="9525"/>
        </p:spPr>
        <p:txBody>
          <a:bodyPr/>
          <a:lstStyle/>
          <a:p>
            <a:endParaRPr lang="en-GB" smtClean="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4"/>
          <p:cNvGrpSpPr>
            <a:grpSpLocks/>
          </p:cNvGrpSpPr>
          <p:nvPr userDrawn="1"/>
        </p:nvGrpSpPr>
        <p:grpSpPr bwMode="auto">
          <a:xfrm>
            <a:off x="134938" y="2438400"/>
            <a:ext cx="9009062" cy="1181100"/>
            <a:chOff x="0" y="1536"/>
            <a:chExt cx="5675" cy="744"/>
          </a:xfrm>
        </p:grpSpPr>
        <p:grpSp>
          <p:nvGrpSpPr>
            <p:cNvPr id="5" name="Group 5"/>
            <p:cNvGrpSpPr>
              <a:grpSpLocks/>
            </p:cNvGrpSpPr>
            <p:nvPr userDrawn="1"/>
          </p:nvGrpSpPr>
          <p:grpSpPr bwMode="auto">
            <a:xfrm>
              <a:off x="185" y="1604"/>
              <a:ext cx="449" cy="297"/>
              <a:chOff x="720" y="336"/>
              <a:chExt cx="624" cy="432"/>
            </a:xfrm>
          </p:grpSpPr>
          <p:sp>
            <p:nvSpPr>
              <p:cNvPr id="12" name="Rectangle 6"/>
              <p:cNvSpPr>
                <a:spLocks noChangeArrowheads="1"/>
              </p:cNvSpPr>
              <p:nvPr userDrawn="1"/>
            </p:nvSpPr>
            <p:spPr bwMode="auto">
              <a:xfrm>
                <a:off x="720" y="336"/>
                <a:ext cx="384" cy="432"/>
              </a:xfrm>
              <a:prstGeom prst="rect">
                <a:avLst/>
              </a:prstGeom>
              <a:solidFill>
                <a:srgbClr val="FF0000"/>
              </a:soli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13" name="Rectangle 7"/>
              <p:cNvSpPr>
                <a:spLocks noChangeArrowheads="1"/>
              </p:cNvSpPr>
              <p:nvPr userDrawn="1"/>
            </p:nvSpPr>
            <p:spPr bwMode="auto">
              <a:xfrm>
                <a:off x="1056" y="336"/>
                <a:ext cx="288" cy="432"/>
              </a:xfrm>
              <a:prstGeom prst="rect">
                <a:avLst/>
              </a:prstGeom>
              <a:gradFill rotWithShape="1">
                <a:gsLst>
                  <a:gs pos="0">
                    <a:srgbClr val="FF0000"/>
                  </a:gs>
                  <a:gs pos="100000">
                    <a:srgbClr val="FFFFFF"/>
                  </a:gs>
                </a:gsLst>
                <a:lin ang="0" scaled="1"/>
              </a:gra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grpSp>
        <p:sp>
          <p:nvSpPr>
            <p:cNvPr id="6" name="Rectangle 8"/>
            <p:cNvSpPr>
              <a:spLocks noChangeArrowheads="1"/>
            </p:cNvSpPr>
            <p:nvPr userDrawn="1"/>
          </p:nvSpPr>
          <p:spPr bwMode="auto">
            <a:xfrm>
              <a:off x="432" y="1868"/>
              <a:ext cx="294" cy="298"/>
            </a:xfrm>
            <a:prstGeom prst="rect">
              <a:avLst/>
            </a:prstGeom>
            <a:gradFill rotWithShape="1">
              <a:gsLst>
                <a:gs pos="0">
                  <a:srgbClr val="339966"/>
                </a:gs>
                <a:gs pos="100000">
                  <a:schemeClr val="bg1"/>
                </a:gs>
              </a:gsLst>
              <a:lin ang="2700000" scaled="1"/>
            </a:gra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7" name="Rectangle 9"/>
            <p:cNvSpPr>
              <a:spLocks noChangeArrowheads="1"/>
            </p:cNvSpPr>
            <p:nvPr userDrawn="1"/>
          </p:nvSpPr>
          <p:spPr bwMode="auto">
            <a:xfrm>
              <a:off x="245" y="1868"/>
              <a:ext cx="187" cy="298"/>
            </a:xfrm>
            <a:prstGeom prst="rect">
              <a:avLst/>
            </a:prstGeom>
            <a:solidFill>
              <a:srgbClr val="339966"/>
            </a:soli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8" name="Rectangle 10"/>
            <p:cNvSpPr>
              <a:spLocks noChangeArrowheads="1"/>
            </p:cNvSpPr>
            <p:nvPr userDrawn="1"/>
          </p:nvSpPr>
          <p:spPr bwMode="auto">
            <a:xfrm>
              <a:off x="144" y="2016"/>
              <a:ext cx="353" cy="264"/>
            </a:xfrm>
            <a:prstGeom prst="rect">
              <a:avLst/>
            </a:prstGeom>
            <a:gradFill rotWithShape="1">
              <a:gsLst>
                <a:gs pos="0">
                  <a:srgbClr val="FFFF00"/>
                </a:gs>
                <a:gs pos="100000">
                  <a:srgbClr val="FFFFCC"/>
                </a:gs>
              </a:gsLst>
              <a:lin ang="5400000" scaled="1"/>
            </a:gra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9" name="Rectangle 11"/>
            <p:cNvSpPr>
              <a:spLocks noChangeArrowheads="1"/>
            </p:cNvSpPr>
            <p:nvPr userDrawn="1"/>
          </p:nvSpPr>
          <p:spPr bwMode="auto">
            <a:xfrm>
              <a:off x="0" y="1823"/>
              <a:ext cx="353" cy="264"/>
            </a:xfrm>
            <a:prstGeom prst="rect">
              <a:avLst/>
            </a:prstGeom>
            <a:gradFill rotWithShape="1">
              <a:gsLst>
                <a:gs pos="0">
                  <a:schemeClr val="bg1"/>
                </a:gs>
                <a:gs pos="100000">
                  <a:srgbClr val="0000FF"/>
                </a:gs>
              </a:gsLst>
              <a:lin ang="18900000" scaled="1"/>
            </a:gra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10" name="Rectangle 12"/>
            <p:cNvSpPr>
              <a:spLocks noChangeArrowheads="1"/>
            </p:cNvSpPr>
            <p:nvPr userDrawn="1"/>
          </p:nvSpPr>
          <p:spPr bwMode="auto">
            <a:xfrm>
              <a:off x="400" y="1536"/>
              <a:ext cx="20" cy="660"/>
            </a:xfrm>
            <a:prstGeom prst="rect">
              <a:avLst/>
            </a:prstGeom>
            <a:solidFill>
              <a:schemeClr val="bg2"/>
            </a:soli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11" name="Rectangle 13"/>
            <p:cNvSpPr>
              <a:spLocks noChangeArrowheads="1"/>
            </p:cNvSpPr>
            <p:nvPr userDrawn="1"/>
          </p:nvSpPr>
          <p:spPr bwMode="auto">
            <a:xfrm flipV="1">
              <a:off x="199" y="2052"/>
              <a:ext cx="5476" cy="34"/>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grpSp>
      <p:sp>
        <p:nvSpPr>
          <p:cNvPr id="343042" name="Rectangle 2"/>
          <p:cNvSpPr>
            <a:spLocks noGrp="1" noChangeArrowheads="1"/>
          </p:cNvSpPr>
          <p:nvPr>
            <p:ph type="ctrTitle"/>
          </p:nvPr>
        </p:nvSpPr>
        <p:spPr>
          <a:xfrm>
            <a:off x="990600" y="1833563"/>
            <a:ext cx="7772400" cy="1143000"/>
          </a:xfrm>
        </p:spPr>
        <p:txBody>
          <a:bodyPr/>
          <a:lstStyle>
            <a:lvl1pPr>
              <a:defRPr/>
            </a:lvl1pPr>
          </a:lstStyle>
          <a:p>
            <a:r>
              <a:rPr lang="en-US"/>
              <a:t>Click to edit Master title style</a:t>
            </a:r>
          </a:p>
        </p:txBody>
      </p:sp>
      <p:sp>
        <p:nvSpPr>
          <p:cNvPr id="343043" name="Rectangle 3"/>
          <p:cNvSpPr>
            <a:spLocks noGrp="1" noChangeArrowheads="1"/>
          </p:cNvSpPr>
          <p:nvPr>
            <p:ph type="subTitle" idx="1"/>
          </p:nvPr>
        </p:nvSpPr>
        <p:spPr>
          <a:xfrm>
            <a:off x="1371600" y="3881438"/>
            <a:ext cx="6400800" cy="1762125"/>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ftr" sz="quarter" idx="10"/>
          </p:nvPr>
        </p:nvSpPr>
        <p:spPr>
          <a:xfrm>
            <a:off x="0" y="6629400"/>
            <a:ext cx="5257800" cy="228600"/>
          </a:xfrm>
        </p:spPr>
        <p:txBody>
          <a:bodyPr/>
          <a:lstStyle>
            <a:lvl1pPr>
              <a:defRPr/>
            </a:lvl1pPr>
          </a:lstStyle>
          <a:p>
            <a:pPr>
              <a:defRPr/>
            </a:pPr>
            <a:r>
              <a:rPr lang="en-US"/>
              <a:t>Copyright ©2012 Pearson Education, Inc. publishing as Prentice Hall</a:t>
            </a:r>
          </a:p>
        </p:txBody>
      </p:sp>
      <p:sp>
        <p:nvSpPr>
          <p:cNvPr id="15" name="Rectangle 15"/>
          <p:cNvSpPr>
            <a:spLocks noGrp="1" noChangeArrowheads="1"/>
          </p:cNvSpPr>
          <p:nvPr>
            <p:ph type="sldNum" sz="quarter" idx="11"/>
          </p:nvPr>
        </p:nvSpPr>
        <p:spPr/>
        <p:txBody>
          <a:bodyPr/>
          <a:lstStyle>
            <a:lvl1pPr>
              <a:defRPr/>
            </a:lvl1pPr>
          </a:lstStyle>
          <a:p>
            <a:pPr>
              <a:defRPr/>
            </a:pPr>
            <a:r>
              <a:rPr lang="en-US"/>
              <a:t>Chap 6-</a:t>
            </a:r>
            <a:fld id="{D0B5CBAB-4DFD-4D95-8395-4F27A521AFE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©2012 Pearson Education, Inc. publishing as Prentice Hall</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Chap 6-</a:t>
            </a:r>
            <a:fld id="{4982D737-2079-485E-8968-40A9B6FA697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©2012 Pearson Education, Inc. publishing as Prentice Hall</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Chap 6-</a:t>
            </a:r>
            <a:fld id="{EA016194-9645-41DC-9C95-ED20C600D521}"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828800"/>
            <a:ext cx="3962400" cy="4532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24400" y="1828800"/>
            <a:ext cx="3962400" cy="4532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©2012 Pearson Education, Inc. publishing as Prentice Hall</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Chap 6-</a:t>
            </a:r>
            <a:fld id="{11BC2FF0-3B27-46BC-86C2-CA61A810788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©2012 Pearson Education, Inc. publishing as Prentice Hall</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t>Chap 6-</a:t>
            </a:r>
            <a:fld id="{59C7450C-55F9-4229-970F-B1BBB0EA061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©2012 Pearson Education, Inc. publishing as Prentice Hall</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t>Chap 6-</a:t>
            </a:r>
            <a:fld id="{0D7F0653-FFF1-422D-B3BA-5EABCF62039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©2012 Pearson Education, Inc. publishing as Prentice Hall</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t>Chap 6-</a:t>
            </a:r>
            <a:fld id="{DEA0591D-9814-4810-8ED1-78F3055E7DD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©2012 Pearson Education, Inc. publishing as Prentice Hall</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Chap 6-</a:t>
            </a:r>
            <a:fld id="{82A80949-DE1B-477F-8878-0E22C070D51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©2012 Pearson Education, Inc. publishing as Prentice Hall</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Chap 6-</a:t>
            </a:r>
            <a:fld id="{92F7174D-955E-4C5E-85B9-D67C3C212D2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©2012 Pearson Education, Inc. publishing as Prentice Hall</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Chap 6-</a:t>
            </a:r>
            <a:fld id="{786C3445-94D7-407D-973B-EAF31032B3D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7500" y="228600"/>
            <a:ext cx="2019300" cy="61325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28600"/>
            <a:ext cx="5905500" cy="61325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©2012 Pearson Education, Inc. publishing as Prentice Hall</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Chap 6-</a:t>
            </a:r>
            <a:fld id="{0140FD23-C368-4FC0-8E40-141CB26F0420}"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228600"/>
            <a:ext cx="7383462" cy="990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828800"/>
            <a:ext cx="3962400" cy="45323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24400" y="1828800"/>
            <a:ext cx="3962400" cy="45323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©2012 Pearson Education, Inc. publishing as Prentice Hall</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Chap 6-</a:t>
            </a:r>
            <a:fld id="{D440F0E8-8E68-41EF-8DA9-906A26CDDA16}"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1150938" y="228600"/>
            <a:ext cx="7383462" cy="9906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828800"/>
            <a:ext cx="3962400" cy="45323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724400" y="1828800"/>
            <a:ext cx="3962400" cy="45323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©2012 Pearson Education, Inc. publishing as Prentice Hall</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Chap 6-</a:t>
            </a:r>
            <a:fld id="{B24554A0-E419-475D-9209-46D2E80ADA7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7F4F5"/>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50938" y="228600"/>
            <a:ext cx="7383462" cy="990600"/>
          </a:xfrm>
          <a:prstGeom prst="rect">
            <a:avLst/>
          </a:prstGeom>
          <a:noFill/>
          <a:ln w="9525">
            <a:noFill/>
            <a:miter lim="800000"/>
            <a:headEnd/>
            <a:tailEnd/>
          </a:ln>
        </p:spPr>
        <p:txBody>
          <a:bodyPr vert="horz" wrap="square" lIns="85342" tIns="42672" rIns="85342" bIns="42672" numCol="1" anchor="b"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09600" y="1828800"/>
            <a:ext cx="8077200" cy="4532313"/>
          </a:xfrm>
          <a:prstGeom prst="rect">
            <a:avLst/>
          </a:prstGeom>
          <a:noFill/>
          <a:ln w="9525">
            <a:noFill/>
            <a:miter lim="800000"/>
            <a:headEnd/>
            <a:tailEnd/>
          </a:ln>
        </p:spPr>
        <p:txBody>
          <a:bodyPr vert="horz" wrap="square" lIns="85342" tIns="42672" rIns="85342" bIns="42672"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42020" name="Rectangle 4"/>
          <p:cNvSpPr>
            <a:spLocks noGrp="1" noChangeArrowheads="1"/>
          </p:cNvSpPr>
          <p:nvPr>
            <p:ph type="ftr" sz="quarter" idx="3"/>
          </p:nvPr>
        </p:nvSpPr>
        <p:spPr bwMode="auto">
          <a:xfrm>
            <a:off x="0" y="6629400"/>
            <a:ext cx="5867400" cy="228600"/>
          </a:xfrm>
          <a:prstGeom prst="rect">
            <a:avLst/>
          </a:prstGeom>
          <a:noFill/>
          <a:ln w="9525">
            <a:noFill/>
            <a:miter lim="800000"/>
            <a:headEnd/>
            <a:tailEnd/>
          </a:ln>
          <a:effectLst/>
        </p:spPr>
        <p:txBody>
          <a:bodyPr vert="horz" wrap="square" lIns="85342" tIns="42672" rIns="85342" bIns="42672" numCol="1" anchor="b" anchorCtr="0" compatLnSpc="1">
            <a:prstTxWarp prst="textNoShape">
              <a:avLst/>
            </a:prstTxWarp>
          </a:bodyPr>
          <a:lstStyle>
            <a:lvl1pPr>
              <a:defRPr sz="800"/>
            </a:lvl1pPr>
          </a:lstStyle>
          <a:p>
            <a:pPr>
              <a:defRPr/>
            </a:pPr>
            <a:r>
              <a:rPr lang="en-US"/>
              <a:t>Copyright ©2012 Pearson Education, Inc. publishing as Prentice Hall</a:t>
            </a:r>
          </a:p>
        </p:txBody>
      </p:sp>
      <p:sp>
        <p:nvSpPr>
          <p:cNvPr id="342021" name="Rectangle 5"/>
          <p:cNvSpPr>
            <a:spLocks noGrp="1" noChangeArrowheads="1"/>
          </p:cNvSpPr>
          <p:nvPr>
            <p:ph type="sldNum" sz="quarter" idx="4"/>
          </p:nvPr>
        </p:nvSpPr>
        <p:spPr bwMode="auto">
          <a:xfrm>
            <a:off x="6858000" y="6534150"/>
            <a:ext cx="2133600" cy="320675"/>
          </a:xfrm>
          <a:prstGeom prst="rect">
            <a:avLst/>
          </a:prstGeom>
          <a:noFill/>
          <a:ln w="9525">
            <a:noFill/>
            <a:miter lim="800000"/>
            <a:headEnd/>
            <a:tailEnd/>
          </a:ln>
          <a:effectLst/>
        </p:spPr>
        <p:txBody>
          <a:bodyPr vert="horz" wrap="square" lIns="85342" tIns="42672" rIns="85342" bIns="42672" numCol="1" anchor="b" anchorCtr="0" compatLnSpc="1">
            <a:prstTxWarp prst="textNoShape">
              <a:avLst/>
            </a:prstTxWarp>
          </a:bodyPr>
          <a:lstStyle>
            <a:lvl1pPr algn="r">
              <a:defRPr sz="1000"/>
            </a:lvl1pPr>
          </a:lstStyle>
          <a:p>
            <a:pPr>
              <a:defRPr/>
            </a:pPr>
            <a:r>
              <a:rPr lang="en-US"/>
              <a:t>Chap 6-</a:t>
            </a:r>
            <a:fld id="{BD8AA1CD-1141-4681-9681-DD6CB5595F2C}" type="slidenum">
              <a:rPr lang="en-US"/>
              <a:pPr>
                <a:defRPr/>
              </a:pPr>
              <a:t>‹#›</a:t>
            </a:fld>
            <a:endParaRPr lang="en-US"/>
          </a:p>
        </p:txBody>
      </p:sp>
      <p:grpSp>
        <p:nvGrpSpPr>
          <p:cNvPr id="1030" name="Group 6"/>
          <p:cNvGrpSpPr>
            <a:grpSpLocks/>
          </p:cNvGrpSpPr>
          <p:nvPr userDrawn="1"/>
        </p:nvGrpSpPr>
        <p:grpSpPr bwMode="auto">
          <a:xfrm>
            <a:off x="0" y="609600"/>
            <a:ext cx="9009063" cy="1181100"/>
            <a:chOff x="0" y="1536"/>
            <a:chExt cx="5675" cy="744"/>
          </a:xfrm>
        </p:grpSpPr>
        <p:grpSp>
          <p:nvGrpSpPr>
            <p:cNvPr id="1031" name="Group 7"/>
            <p:cNvGrpSpPr>
              <a:grpSpLocks/>
            </p:cNvGrpSpPr>
            <p:nvPr userDrawn="1"/>
          </p:nvGrpSpPr>
          <p:grpSpPr bwMode="auto">
            <a:xfrm>
              <a:off x="183" y="1604"/>
              <a:ext cx="448" cy="297"/>
              <a:chOff x="720" y="336"/>
              <a:chExt cx="624" cy="432"/>
            </a:xfrm>
          </p:grpSpPr>
          <p:sp>
            <p:nvSpPr>
              <p:cNvPr id="342024" name="Rectangle 8"/>
              <p:cNvSpPr>
                <a:spLocks noChangeArrowheads="1"/>
              </p:cNvSpPr>
              <p:nvPr userDrawn="1"/>
            </p:nvSpPr>
            <p:spPr bwMode="auto">
              <a:xfrm>
                <a:off x="720" y="336"/>
                <a:ext cx="384" cy="432"/>
              </a:xfrm>
              <a:prstGeom prst="rect">
                <a:avLst/>
              </a:prstGeom>
              <a:solidFill>
                <a:srgbClr val="FF0000"/>
              </a:soli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342025" name="Rectangle 9"/>
              <p:cNvSpPr>
                <a:spLocks noChangeArrowheads="1"/>
              </p:cNvSpPr>
              <p:nvPr userDrawn="1"/>
            </p:nvSpPr>
            <p:spPr bwMode="auto">
              <a:xfrm>
                <a:off x="1056" y="336"/>
                <a:ext cx="288" cy="432"/>
              </a:xfrm>
              <a:prstGeom prst="rect">
                <a:avLst/>
              </a:prstGeom>
              <a:gradFill rotWithShape="1">
                <a:gsLst>
                  <a:gs pos="0">
                    <a:srgbClr val="FF0000"/>
                  </a:gs>
                  <a:gs pos="100000">
                    <a:srgbClr val="FFFFFF"/>
                  </a:gs>
                </a:gsLst>
                <a:lin ang="0" scaled="1"/>
              </a:gra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grpSp>
        <p:sp>
          <p:nvSpPr>
            <p:cNvPr id="342026" name="Rectangle 10"/>
            <p:cNvSpPr>
              <a:spLocks noChangeArrowheads="1"/>
            </p:cNvSpPr>
            <p:nvPr userDrawn="1"/>
          </p:nvSpPr>
          <p:spPr bwMode="auto">
            <a:xfrm>
              <a:off x="432" y="1868"/>
              <a:ext cx="294" cy="298"/>
            </a:xfrm>
            <a:prstGeom prst="rect">
              <a:avLst/>
            </a:prstGeom>
            <a:gradFill rotWithShape="1">
              <a:gsLst>
                <a:gs pos="0">
                  <a:srgbClr val="339966"/>
                </a:gs>
                <a:gs pos="100000">
                  <a:schemeClr val="bg1"/>
                </a:gs>
              </a:gsLst>
              <a:lin ang="2700000" scaled="1"/>
            </a:gra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342027" name="Rectangle 11"/>
            <p:cNvSpPr>
              <a:spLocks noChangeArrowheads="1"/>
            </p:cNvSpPr>
            <p:nvPr userDrawn="1"/>
          </p:nvSpPr>
          <p:spPr bwMode="auto">
            <a:xfrm>
              <a:off x="245" y="1868"/>
              <a:ext cx="187" cy="298"/>
            </a:xfrm>
            <a:prstGeom prst="rect">
              <a:avLst/>
            </a:prstGeom>
            <a:solidFill>
              <a:srgbClr val="339966"/>
            </a:soli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342028" name="Rectangle 12"/>
            <p:cNvSpPr>
              <a:spLocks noChangeArrowheads="1"/>
            </p:cNvSpPr>
            <p:nvPr userDrawn="1"/>
          </p:nvSpPr>
          <p:spPr bwMode="auto">
            <a:xfrm>
              <a:off x="144" y="2016"/>
              <a:ext cx="353" cy="264"/>
            </a:xfrm>
            <a:prstGeom prst="rect">
              <a:avLst/>
            </a:prstGeom>
            <a:gradFill rotWithShape="1">
              <a:gsLst>
                <a:gs pos="0">
                  <a:srgbClr val="FFFF00"/>
                </a:gs>
                <a:gs pos="100000">
                  <a:srgbClr val="FFFFCC"/>
                </a:gs>
              </a:gsLst>
              <a:lin ang="5400000" scaled="1"/>
            </a:gra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342029" name="Rectangle 13"/>
            <p:cNvSpPr>
              <a:spLocks noChangeArrowheads="1"/>
            </p:cNvSpPr>
            <p:nvPr userDrawn="1"/>
          </p:nvSpPr>
          <p:spPr bwMode="auto">
            <a:xfrm>
              <a:off x="0" y="1823"/>
              <a:ext cx="353" cy="264"/>
            </a:xfrm>
            <a:prstGeom prst="rect">
              <a:avLst/>
            </a:prstGeom>
            <a:gradFill rotWithShape="1">
              <a:gsLst>
                <a:gs pos="0">
                  <a:schemeClr val="bg1"/>
                </a:gs>
                <a:gs pos="100000">
                  <a:srgbClr val="0000FF"/>
                </a:gs>
              </a:gsLst>
              <a:lin ang="18900000" scaled="1"/>
            </a:gra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342030" name="Rectangle 14"/>
            <p:cNvSpPr>
              <a:spLocks noChangeArrowheads="1"/>
            </p:cNvSpPr>
            <p:nvPr userDrawn="1"/>
          </p:nvSpPr>
          <p:spPr bwMode="auto">
            <a:xfrm>
              <a:off x="400" y="1536"/>
              <a:ext cx="20" cy="660"/>
            </a:xfrm>
            <a:prstGeom prst="rect">
              <a:avLst/>
            </a:prstGeom>
            <a:solidFill>
              <a:schemeClr val="bg2"/>
            </a:soli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sp>
          <p:nvSpPr>
            <p:cNvPr id="342031" name="Rectangle 15"/>
            <p:cNvSpPr>
              <a:spLocks noChangeArrowheads="1"/>
            </p:cNvSpPr>
            <p:nvPr userDrawn="1"/>
          </p:nvSpPr>
          <p:spPr bwMode="auto">
            <a:xfrm flipV="1">
              <a:off x="199" y="2052"/>
              <a:ext cx="5476" cy="34"/>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spcBef>
                  <a:spcPct val="50000"/>
                </a:spcBef>
                <a:defRPr/>
              </a:pPr>
              <a:endParaRPr lang="en-US">
                <a:latin typeface="Arial" pitchFamily="34" charset="0"/>
              </a:endParaRPr>
            </a:p>
          </p:txBody>
        </p:sp>
      </p:grpSp>
    </p:spTree>
  </p:cSld>
  <p:clrMap bg1="lt1" tx1="dk1" bg2="lt2" tx2="dk2" accent1="accent1" accent2="accent2" accent3="accent3" accent4="accent4" accent5="accent5" accent6="accent6" hlink="hlink" folHlink="folHlink"/>
  <p:sldLayoutIdLst>
    <p:sldLayoutId id="2147483665" r:id="rId1"/>
    <p:sldLayoutId id="2147483664" r:id="rId2"/>
    <p:sldLayoutId id="2147483663" r:id="rId3"/>
    <p:sldLayoutId id="2147483662" r:id="rId4"/>
    <p:sldLayoutId id="2147483661" r:id="rId5"/>
    <p:sldLayoutId id="2147483660" r:id="rId6"/>
    <p:sldLayoutId id="2147483659" r:id="rId7"/>
    <p:sldLayoutId id="2147483658" r:id="rId8"/>
    <p:sldLayoutId id="2147483657" r:id="rId9"/>
    <p:sldLayoutId id="2147483656" r:id="rId10"/>
    <p:sldLayoutId id="2147483655" r:id="rId11"/>
    <p:sldLayoutId id="2147483654" r:id="rId12"/>
    <p:sldLayoutId id="2147483653" r:id="rId13"/>
  </p:sldLayoutIdLst>
  <p:timing>
    <p:tnLst>
      <p:par>
        <p:cTn id="1" dur="indefinite" restart="never" nodeType="tmRoot"/>
      </p:par>
    </p:tnLst>
  </p:timing>
  <p:hf hdr="0" dt="0"/>
  <p:txStyles>
    <p:titleStyle>
      <a:lvl1pPr algn="ctr" defTabSz="852488" rtl="0" eaLnBrk="0" fontAlgn="base" hangingPunct="0">
        <a:spcBef>
          <a:spcPct val="0"/>
        </a:spcBef>
        <a:spcAft>
          <a:spcPct val="0"/>
        </a:spcAft>
        <a:defRPr sz="4000">
          <a:solidFill>
            <a:schemeClr val="tx2"/>
          </a:solidFill>
          <a:latin typeface="+mj-lt"/>
          <a:ea typeface="+mj-ea"/>
          <a:cs typeface="+mj-cs"/>
        </a:defRPr>
      </a:lvl1pPr>
      <a:lvl2pPr algn="ctr" defTabSz="852488" rtl="0" eaLnBrk="0" fontAlgn="base" hangingPunct="0">
        <a:spcBef>
          <a:spcPct val="0"/>
        </a:spcBef>
        <a:spcAft>
          <a:spcPct val="0"/>
        </a:spcAft>
        <a:defRPr sz="4000">
          <a:solidFill>
            <a:schemeClr val="tx2"/>
          </a:solidFill>
          <a:latin typeface="Arial" pitchFamily="34" charset="0"/>
        </a:defRPr>
      </a:lvl2pPr>
      <a:lvl3pPr algn="ctr" defTabSz="852488" rtl="0" eaLnBrk="0" fontAlgn="base" hangingPunct="0">
        <a:spcBef>
          <a:spcPct val="0"/>
        </a:spcBef>
        <a:spcAft>
          <a:spcPct val="0"/>
        </a:spcAft>
        <a:defRPr sz="4000">
          <a:solidFill>
            <a:schemeClr val="tx2"/>
          </a:solidFill>
          <a:latin typeface="Arial" pitchFamily="34" charset="0"/>
        </a:defRPr>
      </a:lvl3pPr>
      <a:lvl4pPr algn="ctr" defTabSz="852488" rtl="0" eaLnBrk="0" fontAlgn="base" hangingPunct="0">
        <a:spcBef>
          <a:spcPct val="0"/>
        </a:spcBef>
        <a:spcAft>
          <a:spcPct val="0"/>
        </a:spcAft>
        <a:defRPr sz="4000">
          <a:solidFill>
            <a:schemeClr val="tx2"/>
          </a:solidFill>
          <a:latin typeface="Arial" pitchFamily="34" charset="0"/>
        </a:defRPr>
      </a:lvl4pPr>
      <a:lvl5pPr algn="ctr" defTabSz="852488" rtl="0" eaLnBrk="0" fontAlgn="base" hangingPunct="0">
        <a:spcBef>
          <a:spcPct val="0"/>
        </a:spcBef>
        <a:spcAft>
          <a:spcPct val="0"/>
        </a:spcAft>
        <a:defRPr sz="4000">
          <a:solidFill>
            <a:schemeClr val="tx2"/>
          </a:solidFill>
          <a:latin typeface="Arial" pitchFamily="34" charset="0"/>
        </a:defRPr>
      </a:lvl5pPr>
      <a:lvl6pPr marL="457200" algn="ctr" defTabSz="852488" rtl="0" fontAlgn="base">
        <a:spcBef>
          <a:spcPct val="0"/>
        </a:spcBef>
        <a:spcAft>
          <a:spcPct val="0"/>
        </a:spcAft>
        <a:defRPr sz="4000">
          <a:solidFill>
            <a:schemeClr val="tx2"/>
          </a:solidFill>
          <a:latin typeface="Arial" pitchFamily="34" charset="0"/>
        </a:defRPr>
      </a:lvl6pPr>
      <a:lvl7pPr marL="914400" algn="ctr" defTabSz="852488" rtl="0" fontAlgn="base">
        <a:spcBef>
          <a:spcPct val="0"/>
        </a:spcBef>
        <a:spcAft>
          <a:spcPct val="0"/>
        </a:spcAft>
        <a:defRPr sz="4000">
          <a:solidFill>
            <a:schemeClr val="tx2"/>
          </a:solidFill>
          <a:latin typeface="Arial" pitchFamily="34" charset="0"/>
        </a:defRPr>
      </a:lvl7pPr>
      <a:lvl8pPr marL="1371600" algn="ctr" defTabSz="852488" rtl="0" fontAlgn="base">
        <a:spcBef>
          <a:spcPct val="0"/>
        </a:spcBef>
        <a:spcAft>
          <a:spcPct val="0"/>
        </a:spcAft>
        <a:defRPr sz="4000">
          <a:solidFill>
            <a:schemeClr val="tx2"/>
          </a:solidFill>
          <a:latin typeface="Arial" pitchFamily="34" charset="0"/>
        </a:defRPr>
      </a:lvl8pPr>
      <a:lvl9pPr marL="1828800" algn="ctr" defTabSz="852488" rtl="0" fontAlgn="base">
        <a:spcBef>
          <a:spcPct val="0"/>
        </a:spcBef>
        <a:spcAft>
          <a:spcPct val="0"/>
        </a:spcAft>
        <a:defRPr sz="4000">
          <a:solidFill>
            <a:schemeClr val="tx2"/>
          </a:solidFill>
          <a:latin typeface="Arial" pitchFamily="34" charset="0"/>
        </a:defRPr>
      </a:lvl9pPr>
    </p:titleStyle>
    <p:bodyStyle>
      <a:lvl1pPr marL="320675" indent="-320675" algn="l" defTabSz="852488"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cs typeface="+mn-cs"/>
        </a:defRPr>
      </a:lvl1pPr>
      <a:lvl2pPr marL="693738" indent="-268288" algn="l" defTabSz="852488" rtl="0" eaLnBrk="0" fontAlgn="base" hangingPunct="0">
        <a:spcBef>
          <a:spcPct val="20000"/>
        </a:spcBef>
        <a:spcAft>
          <a:spcPct val="0"/>
        </a:spcAft>
        <a:buClr>
          <a:schemeClr val="hlink"/>
        </a:buClr>
        <a:buSzPct val="55000"/>
        <a:buFont typeface="Wingdings" pitchFamily="2" charset="2"/>
        <a:buChar char="n"/>
        <a:defRPr sz="2400">
          <a:solidFill>
            <a:schemeClr val="tx1"/>
          </a:solidFill>
          <a:latin typeface="+mn-lt"/>
        </a:defRPr>
      </a:lvl2pPr>
      <a:lvl3pPr marL="1068388" indent="-215900" algn="l" defTabSz="852488" rtl="0" eaLnBrk="0" fontAlgn="base" hangingPunct="0">
        <a:spcBef>
          <a:spcPct val="20000"/>
        </a:spcBef>
        <a:spcAft>
          <a:spcPct val="0"/>
        </a:spcAft>
        <a:buClr>
          <a:schemeClr val="accent2"/>
        </a:buClr>
        <a:buSzPct val="50000"/>
        <a:buFont typeface="Wingdings" pitchFamily="2" charset="2"/>
        <a:buChar char="n"/>
        <a:defRPr sz="2000">
          <a:solidFill>
            <a:schemeClr val="tx1"/>
          </a:solidFill>
          <a:latin typeface="+mn-lt"/>
        </a:defRPr>
      </a:lvl3pPr>
      <a:lvl4pPr marL="1493838" indent="-212725" algn="l" defTabSz="852488" rtl="0" eaLnBrk="0" fontAlgn="base" hangingPunct="0">
        <a:spcBef>
          <a:spcPct val="20000"/>
        </a:spcBef>
        <a:spcAft>
          <a:spcPct val="0"/>
        </a:spcAft>
        <a:buClr>
          <a:schemeClr val="folHlink"/>
        </a:buClr>
        <a:buSzPct val="55000"/>
        <a:buFont typeface="Wingdings" pitchFamily="2" charset="2"/>
        <a:buChar char="n"/>
        <a:defRPr>
          <a:solidFill>
            <a:schemeClr val="tx1"/>
          </a:solidFill>
          <a:latin typeface="+mn-lt"/>
        </a:defRPr>
      </a:lvl4pPr>
      <a:lvl5pPr marL="1919288" indent="-212725" algn="l" defTabSz="852488" rtl="0" eaLnBrk="0" fontAlgn="base" hangingPunct="0">
        <a:spcBef>
          <a:spcPct val="20000"/>
        </a:spcBef>
        <a:spcAft>
          <a:spcPct val="0"/>
        </a:spcAft>
        <a:buClr>
          <a:srgbClr val="FD2B4E"/>
        </a:buClr>
        <a:buSzPct val="50000"/>
        <a:buFont typeface="Wingdings" pitchFamily="2" charset="2"/>
        <a:buChar char="n"/>
        <a:defRPr>
          <a:solidFill>
            <a:schemeClr val="tx1"/>
          </a:solidFill>
          <a:latin typeface="+mn-lt"/>
        </a:defRPr>
      </a:lvl5pPr>
      <a:lvl6pPr marL="23764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6pPr>
      <a:lvl7pPr marL="28336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7pPr>
      <a:lvl8pPr marL="32908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8pPr>
      <a:lvl9pPr marL="37480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oleObject" Target="../embeddings/Microsoft_Office_Excel_97-2003_Worksheet1.xls"/></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3.v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4.v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6.v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oleObject" Target="../embeddings/oleObject9.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9.v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oleObject" Target="../embeddings/oleObject14.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6.xml"/><Relationship Id="rId1" Type="http://schemas.openxmlformats.org/officeDocument/2006/relationships/vmlDrawing" Target="../drawings/vmlDrawing12.vml"/><Relationship Id="rId4" Type="http://schemas.openxmlformats.org/officeDocument/2006/relationships/oleObject" Target="../embeddings/oleObject16.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oleObject" Target="../embeddings/oleObject18.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4"/>
          <p:cNvSpPr>
            <a:spLocks noGrp="1" noChangeArrowheads="1"/>
          </p:cNvSpPr>
          <p:nvPr>
            <p:ph type="ftr" sz="quarter" idx="10"/>
          </p:nvPr>
        </p:nvSpPr>
        <p:spPr>
          <a:noFill/>
        </p:spPr>
        <p:txBody>
          <a:bodyPr/>
          <a:lstStyle/>
          <a:p>
            <a:r>
              <a:rPr lang="en-US" smtClean="0"/>
              <a:t>Copyright ©2012 Pearson Education</a:t>
            </a:r>
          </a:p>
        </p:txBody>
      </p:sp>
      <p:sp>
        <p:nvSpPr>
          <p:cNvPr id="17410" name="Rectangle 15"/>
          <p:cNvSpPr>
            <a:spLocks noGrp="1" noChangeArrowheads="1"/>
          </p:cNvSpPr>
          <p:nvPr>
            <p:ph type="sldNum" sz="quarter" idx="11"/>
          </p:nvPr>
        </p:nvSpPr>
        <p:spPr>
          <a:noFill/>
        </p:spPr>
        <p:txBody>
          <a:bodyPr/>
          <a:lstStyle/>
          <a:p>
            <a:r>
              <a:rPr lang="en-US" smtClean="0"/>
              <a:t>Chap 6-</a:t>
            </a:r>
            <a:fld id="{581597EA-95AC-48DE-AF61-9DF913E7B51B}" type="slidenum">
              <a:rPr lang="en-US" smtClean="0"/>
              <a:pPr/>
              <a:t>1</a:t>
            </a:fld>
            <a:endParaRPr lang="en-US" smtClean="0"/>
          </a:p>
        </p:txBody>
      </p:sp>
      <p:sp>
        <p:nvSpPr>
          <p:cNvPr id="17411" name="Rectangle 15"/>
          <p:cNvSpPr txBox="1">
            <a:spLocks noGrp="1" noChangeArrowheads="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A8C88B1C-8433-40B3-AF4F-686E32231CAD}" type="slidenum">
              <a:rPr lang="en-US" sz="1000"/>
              <a:pPr algn="r" defTabSz="852488"/>
              <a:t>1</a:t>
            </a:fld>
            <a:endParaRPr lang="en-US" sz="1000"/>
          </a:p>
        </p:txBody>
      </p:sp>
      <p:sp>
        <p:nvSpPr>
          <p:cNvPr id="17412" name="Rectangle 3"/>
          <p:cNvSpPr>
            <a:spLocks noGrp="1" noChangeArrowheads="1"/>
          </p:cNvSpPr>
          <p:nvPr>
            <p:ph type="subTitle" idx="1"/>
          </p:nvPr>
        </p:nvSpPr>
        <p:spPr>
          <a:xfrm>
            <a:off x="1371600" y="3581400"/>
            <a:ext cx="6934200" cy="2366963"/>
          </a:xfrm>
        </p:spPr>
        <p:txBody>
          <a:bodyPr/>
          <a:lstStyle/>
          <a:p>
            <a:pPr eaLnBrk="1" hangingPunct="1"/>
            <a:r>
              <a:rPr lang="en-US" sz="3500" b="1" smtClean="0"/>
              <a:t>Chapter 6</a:t>
            </a:r>
          </a:p>
          <a:p>
            <a:pPr eaLnBrk="1" hangingPunct="1"/>
            <a:endParaRPr lang="en-US" sz="3500" smtClean="0"/>
          </a:p>
          <a:p>
            <a:pPr eaLnBrk="1" hangingPunct="1"/>
            <a:r>
              <a:rPr lang="en-US" sz="3500" smtClean="0"/>
              <a:t>The Normal Distribution &amp; Other Continuous Distributions</a:t>
            </a:r>
          </a:p>
        </p:txBody>
      </p:sp>
      <p:sp>
        <p:nvSpPr>
          <p:cNvPr id="17413" name="Rectangle 6"/>
          <p:cNvSpPr>
            <a:spLocks noChangeArrowheads="1"/>
          </p:cNvSpPr>
          <p:nvPr/>
        </p:nvSpPr>
        <p:spPr bwMode="auto">
          <a:xfrm>
            <a:off x="1447800" y="838200"/>
            <a:ext cx="7010400" cy="2062163"/>
          </a:xfrm>
          <a:prstGeom prst="rect">
            <a:avLst/>
          </a:prstGeom>
          <a:noFill/>
          <a:ln w="9525">
            <a:noFill/>
            <a:miter lim="800000"/>
            <a:headEnd/>
            <a:tailEnd/>
          </a:ln>
        </p:spPr>
        <p:txBody>
          <a:bodyPr lIns="85342" tIns="42672" rIns="85342" bIns="42672" anchor="b"/>
          <a:lstStyle/>
          <a:p>
            <a:pPr algn="ctr" defTabSz="852488">
              <a:spcBef>
                <a:spcPct val="50000"/>
              </a:spcBef>
            </a:pPr>
            <a:r>
              <a:rPr lang="en-US" sz="4000" i="1">
                <a:solidFill>
                  <a:schemeClr val="folHlink"/>
                </a:solidFill>
              </a:rPr>
              <a:t>Basic Business Statistics</a:t>
            </a:r>
            <a:r>
              <a:rPr lang="en-US" sz="4100">
                <a:solidFill>
                  <a:schemeClr val="folHlink"/>
                </a:solidFill>
              </a:rPr>
              <a:t/>
            </a:r>
            <a:br>
              <a:rPr lang="en-US" sz="4100">
                <a:solidFill>
                  <a:schemeClr val="folHlink"/>
                </a:solidFill>
              </a:rPr>
            </a:br>
            <a:r>
              <a:rPr lang="en-US" sz="3600">
                <a:solidFill>
                  <a:schemeClr val="folHlink"/>
                </a:solidFill>
              </a:rPr>
              <a:t>12</a:t>
            </a:r>
            <a:r>
              <a:rPr lang="en-US" sz="3600" baseline="30000">
                <a:solidFill>
                  <a:schemeClr val="folHlink"/>
                </a:solidFill>
              </a:rPr>
              <a:t>th</a:t>
            </a:r>
            <a:r>
              <a:rPr lang="en-US" sz="3600">
                <a:solidFill>
                  <a:schemeClr val="folHlink"/>
                </a:solidFill>
              </a:rPr>
              <a:t> Edition</a:t>
            </a:r>
          </a:p>
          <a:p>
            <a:pPr algn="ctr" defTabSz="852488">
              <a:spcBef>
                <a:spcPct val="50000"/>
              </a:spcBef>
            </a:pPr>
            <a:r>
              <a:rPr lang="en-US" sz="3600">
                <a:solidFill>
                  <a:schemeClr val="folHlink"/>
                </a:solidFill>
              </a:rPr>
              <a:t>Global Edition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ftr" sz="quarter" idx="10"/>
          </p:nvPr>
        </p:nvSpPr>
        <p:spPr>
          <a:noFill/>
        </p:spPr>
        <p:txBody>
          <a:bodyPr/>
          <a:lstStyle/>
          <a:p>
            <a:r>
              <a:rPr lang="en-US" smtClean="0"/>
              <a:t>Copyright ©2012 Pearson Education</a:t>
            </a:r>
          </a:p>
        </p:txBody>
      </p:sp>
      <p:sp>
        <p:nvSpPr>
          <p:cNvPr id="19458" name="Rectangle 5"/>
          <p:cNvSpPr>
            <a:spLocks noGrp="1" noChangeArrowheads="1"/>
          </p:cNvSpPr>
          <p:nvPr>
            <p:ph type="sldNum" sz="quarter" idx="11"/>
          </p:nvPr>
        </p:nvSpPr>
        <p:spPr>
          <a:noFill/>
        </p:spPr>
        <p:txBody>
          <a:bodyPr/>
          <a:lstStyle/>
          <a:p>
            <a:r>
              <a:rPr lang="en-US" smtClean="0"/>
              <a:t>Chap 6-</a:t>
            </a:r>
            <a:fld id="{3CAAA7C0-FF35-48BF-92AD-ED1FE63E2D9E}" type="slidenum">
              <a:rPr lang="en-US" smtClean="0"/>
              <a:pPr/>
              <a:t>2</a:t>
            </a:fld>
            <a:endParaRPr lang="en-US" smtClean="0"/>
          </a:p>
        </p:txBody>
      </p:sp>
      <p:sp>
        <p:nvSpPr>
          <p:cNvPr id="19459"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70D18300-C727-47F8-9E60-19757E9D6047}" type="slidenum">
              <a:rPr lang="en-US" sz="1000"/>
              <a:pPr algn="r" defTabSz="852488"/>
              <a:t>2</a:t>
            </a:fld>
            <a:endParaRPr lang="en-US" sz="1000"/>
          </a:p>
        </p:txBody>
      </p:sp>
      <p:sp>
        <p:nvSpPr>
          <p:cNvPr id="19460" name="Rectangle 2"/>
          <p:cNvSpPr>
            <a:spLocks noGrp="1" noChangeArrowheads="1"/>
          </p:cNvSpPr>
          <p:nvPr>
            <p:ph type="title"/>
          </p:nvPr>
        </p:nvSpPr>
        <p:spPr/>
        <p:txBody>
          <a:bodyPr/>
          <a:lstStyle/>
          <a:p>
            <a:pPr eaLnBrk="1" hangingPunct="1"/>
            <a:r>
              <a:rPr lang="en-US" smtClean="0"/>
              <a:t>Learning Objectives</a:t>
            </a:r>
          </a:p>
        </p:txBody>
      </p:sp>
      <p:sp>
        <p:nvSpPr>
          <p:cNvPr id="19461" name="Rectangle 3"/>
          <p:cNvSpPr>
            <a:spLocks noGrp="1" noChangeArrowheads="1"/>
          </p:cNvSpPr>
          <p:nvPr>
            <p:ph type="body" idx="1"/>
          </p:nvPr>
        </p:nvSpPr>
        <p:spPr>
          <a:xfrm>
            <a:off x="685800" y="1600200"/>
            <a:ext cx="8153400" cy="4572000"/>
          </a:xfrm>
        </p:spPr>
        <p:txBody>
          <a:bodyPr/>
          <a:lstStyle/>
          <a:p>
            <a:pPr eaLnBrk="1" hangingPunct="1">
              <a:lnSpc>
                <a:spcPct val="110000"/>
              </a:lnSpc>
              <a:spcBef>
                <a:spcPct val="50000"/>
              </a:spcBef>
              <a:buFont typeface="Wingdings" pitchFamily="2" charset="2"/>
              <a:buNone/>
            </a:pPr>
            <a:r>
              <a:rPr lang="en-US" b="1" smtClean="0"/>
              <a:t>In this chapter, you learn:</a:t>
            </a:r>
            <a:r>
              <a:rPr lang="en-US" smtClean="0"/>
              <a:t> </a:t>
            </a:r>
          </a:p>
          <a:p>
            <a:pPr eaLnBrk="1" hangingPunct="1">
              <a:spcBef>
                <a:spcPct val="30000"/>
              </a:spcBef>
            </a:pPr>
            <a:r>
              <a:rPr lang="en-US" sz="2400" smtClean="0"/>
              <a:t>To compute probabilities from the normal distribution</a:t>
            </a:r>
          </a:p>
          <a:p>
            <a:pPr eaLnBrk="1" hangingPunct="1">
              <a:spcBef>
                <a:spcPct val="30000"/>
              </a:spcBef>
            </a:pPr>
            <a:r>
              <a:rPr lang="en-US" sz="2400" smtClean="0"/>
              <a:t>How to use the normal distribution to solve business problems</a:t>
            </a:r>
          </a:p>
          <a:p>
            <a:pPr eaLnBrk="1" hangingPunct="1">
              <a:spcBef>
                <a:spcPct val="30000"/>
              </a:spcBef>
            </a:pPr>
            <a:r>
              <a:rPr lang="en-US" sz="2400" smtClean="0"/>
              <a:t>To use the normal probability plot to determine whether a set of data is approximately normally distributed</a:t>
            </a:r>
          </a:p>
          <a:p>
            <a:pPr eaLnBrk="1" hangingPunct="1">
              <a:spcBef>
                <a:spcPct val="30000"/>
              </a:spcBef>
            </a:pPr>
            <a:r>
              <a:rPr lang="en-US" sz="2400" smtClean="0"/>
              <a:t>To compute probabilities from the uniform distribution </a:t>
            </a:r>
          </a:p>
          <a:p>
            <a:pPr eaLnBrk="1" hangingPunct="1">
              <a:spcBef>
                <a:spcPct val="30000"/>
              </a:spcBef>
            </a:pPr>
            <a:r>
              <a:rPr lang="en-US" sz="2400" smtClean="0"/>
              <a:t>To compute probabilities from the exponential distribution </a:t>
            </a:r>
          </a:p>
          <a:p>
            <a:pPr eaLnBrk="1" hangingPunct="1">
              <a:spcBef>
                <a:spcPct val="30000"/>
              </a:spcBef>
              <a:buFont typeface="Wingdings" pitchFamily="2" charset="2"/>
              <a:buNone/>
            </a:pPr>
            <a:endParaRPr lang="en-US" sz="2400" smtClean="0"/>
          </a:p>
          <a:p>
            <a:pPr eaLnBrk="1" hangingPunct="1">
              <a:lnSpc>
                <a:spcPct val="110000"/>
              </a:lnSpc>
              <a:spcBef>
                <a:spcPct val="30000"/>
              </a:spcBef>
            </a:pPr>
            <a:endParaRPr lang="en-US" sz="240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4"/>
          <p:cNvSpPr>
            <a:spLocks noGrp="1" noChangeArrowheads="1"/>
          </p:cNvSpPr>
          <p:nvPr>
            <p:ph type="ftr" sz="quarter" idx="10"/>
          </p:nvPr>
        </p:nvSpPr>
        <p:spPr>
          <a:noFill/>
        </p:spPr>
        <p:txBody>
          <a:bodyPr/>
          <a:lstStyle/>
          <a:p>
            <a:r>
              <a:rPr lang="en-US" smtClean="0"/>
              <a:t>Copyright ©2012 Pearson Education</a:t>
            </a:r>
          </a:p>
        </p:txBody>
      </p:sp>
      <p:sp>
        <p:nvSpPr>
          <p:cNvPr id="20482" name="Rectangle 5"/>
          <p:cNvSpPr>
            <a:spLocks noGrp="1" noChangeArrowheads="1"/>
          </p:cNvSpPr>
          <p:nvPr>
            <p:ph type="sldNum" sz="quarter" idx="11"/>
          </p:nvPr>
        </p:nvSpPr>
        <p:spPr>
          <a:noFill/>
        </p:spPr>
        <p:txBody>
          <a:bodyPr/>
          <a:lstStyle/>
          <a:p>
            <a:r>
              <a:rPr lang="en-US" smtClean="0"/>
              <a:t>Chap 6-</a:t>
            </a:r>
            <a:fld id="{172109AD-E134-4224-A92E-9281D13DA0B4}" type="slidenum">
              <a:rPr lang="en-US" smtClean="0"/>
              <a:pPr/>
              <a:t>3</a:t>
            </a:fld>
            <a:endParaRPr lang="en-US" smtClean="0"/>
          </a:p>
        </p:txBody>
      </p:sp>
      <p:sp>
        <p:nvSpPr>
          <p:cNvPr id="20483"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012CDB45-0F8A-4F42-BCE9-84F7018C966F}" type="slidenum">
              <a:rPr lang="en-US" sz="1000"/>
              <a:pPr algn="r" defTabSz="852488"/>
              <a:t>3</a:t>
            </a:fld>
            <a:endParaRPr lang="en-US" sz="1000"/>
          </a:p>
        </p:txBody>
      </p:sp>
      <p:sp>
        <p:nvSpPr>
          <p:cNvPr id="20484" name="Rectangle 2"/>
          <p:cNvSpPr>
            <a:spLocks noGrp="1" noChangeArrowheads="1"/>
          </p:cNvSpPr>
          <p:nvPr>
            <p:ph type="title"/>
          </p:nvPr>
        </p:nvSpPr>
        <p:spPr>
          <a:xfrm>
            <a:off x="817563" y="381000"/>
            <a:ext cx="8326437" cy="762000"/>
          </a:xfrm>
        </p:spPr>
        <p:txBody>
          <a:bodyPr/>
          <a:lstStyle/>
          <a:p>
            <a:pPr eaLnBrk="1" hangingPunct="1"/>
            <a:r>
              <a:rPr lang="en-US" smtClean="0"/>
              <a:t>Continuous Probability Distributions</a:t>
            </a:r>
          </a:p>
        </p:txBody>
      </p:sp>
      <p:sp>
        <p:nvSpPr>
          <p:cNvPr id="20485" name="Rectangle 3"/>
          <p:cNvSpPr>
            <a:spLocks noGrp="1" noChangeArrowheads="1"/>
          </p:cNvSpPr>
          <p:nvPr>
            <p:ph type="body" idx="1"/>
          </p:nvPr>
        </p:nvSpPr>
        <p:spPr>
          <a:xfrm>
            <a:off x="990600" y="1600200"/>
            <a:ext cx="8001000" cy="4648200"/>
          </a:xfrm>
        </p:spPr>
        <p:txBody>
          <a:bodyPr/>
          <a:lstStyle/>
          <a:p>
            <a:pPr eaLnBrk="1" hangingPunct="1"/>
            <a:r>
              <a:rPr lang="en-US" smtClean="0"/>
              <a:t>A </a:t>
            </a:r>
            <a:r>
              <a:rPr lang="en-US" smtClean="0">
                <a:solidFill>
                  <a:schemeClr val="folHlink"/>
                </a:solidFill>
              </a:rPr>
              <a:t>continuous random variable</a:t>
            </a:r>
            <a:r>
              <a:rPr lang="en-US" smtClean="0"/>
              <a:t> is a variable that can assume any value on a continuum (can assume an uncountable number of values)</a:t>
            </a:r>
          </a:p>
          <a:p>
            <a:pPr lvl="1" eaLnBrk="1" hangingPunct="1"/>
            <a:r>
              <a:rPr lang="en-US" smtClean="0"/>
              <a:t>thickness of an item</a:t>
            </a:r>
          </a:p>
          <a:p>
            <a:pPr lvl="1" eaLnBrk="1" hangingPunct="1"/>
            <a:r>
              <a:rPr lang="en-US" smtClean="0"/>
              <a:t>time required to complete a task</a:t>
            </a:r>
          </a:p>
          <a:p>
            <a:pPr lvl="1" eaLnBrk="1" hangingPunct="1"/>
            <a:r>
              <a:rPr lang="en-US" smtClean="0"/>
              <a:t>temperature of a solution</a:t>
            </a:r>
          </a:p>
          <a:p>
            <a:pPr lvl="1" eaLnBrk="1" hangingPunct="1"/>
            <a:r>
              <a:rPr lang="en-US" smtClean="0"/>
              <a:t>height, in inches</a:t>
            </a:r>
          </a:p>
          <a:p>
            <a:pPr eaLnBrk="1" hangingPunct="1">
              <a:lnSpc>
                <a:spcPct val="20000"/>
              </a:lnSpc>
              <a:buFont typeface="Wingdings" pitchFamily="2" charset="2"/>
              <a:buNone/>
            </a:pPr>
            <a:endParaRPr lang="en-US" smtClean="0"/>
          </a:p>
          <a:p>
            <a:pPr eaLnBrk="1" hangingPunct="1"/>
            <a:r>
              <a:rPr lang="en-US" smtClean="0"/>
              <a:t>These can potentially take on any value depending only on the ability to precisely and accurately measure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4"/>
          <p:cNvSpPr>
            <a:spLocks noGrp="1" noChangeArrowheads="1"/>
          </p:cNvSpPr>
          <p:nvPr>
            <p:ph type="ftr" sz="quarter" idx="10"/>
          </p:nvPr>
        </p:nvSpPr>
        <p:spPr>
          <a:noFill/>
        </p:spPr>
        <p:txBody>
          <a:bodyPr/>
          <a:lstStyle/>
          <a:p>
            <a:r>
              <a:rPr lang="en-US" smtClean="0"/>
              <a:t>Copyright ©2012 Pearson Education</a:t>
            </a:r>
          </a:p>
        </p:txBody>
      </p:sp>
      <p:sp>
        <p:nvSpPr>
          <p:cNvPr id="21506" name="Rectangle 5"/>
          <p:cNvSpPr>
            <a:spLocks noGrp="1" noChangeArrowheads="1"/>
          </p:cNvSpPr>
          <p:nvPr>
            <p:ph type="sldNum" sz="quarter" idx="11"/>
          </p:nvPr>
        </p:nvSpPr>
        <p:spPr>
          <a:noFill/>
        </p:spPr>
        <p:txBody>
          <a:bodyPr/>
          <a:lstStyle/>
          <a:p>
            <a:r>
              <a:rPr lang="en-US" smtClean="0"/>
              <a:t>Chap 6-</a:t>
            </a:r>
            <a:fld id="{F7AFF6E5-2D61-42CA-A96A-899A9133BED5}" type="slidenum">
              <a:rPr lang="en-US" smtClean="0"/>
              <a:pPr/>
              <a:t>4</a:t>
            </a:fld>
            <a:endParaRPr lang="en-US" smtClean="0"/>
          </a:p>
        </p:txBody>
      </p:sp>
      <p:sp>
        <p:nvSpPr>
          <p:cNvPr id="21507" name="Slide Number Placeholder 5"/>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570C8E33-47EF-4AAA-9769-3BA1B6DB931E}" type="slidenum">
              <a:rPr lang="en-US" sz="1000"/>
              <a:pPr algn="r" defTabSz="852488"/>
              <a:t>4</a:t>
            </a:fld>
            <a:endParaRPr lang="en-US" sz="1000"/>
          </a:p>
        </p:txBody>
      </p:sp>
      <p:sp>
        <p:nvSpPr>
          <p:cNvPr id="21508" name="Rectangle 2"/>
          <p:cNvSpPr>
            <a:spLocks noGrp="1" noChangeArrowheads="1"/>
          </p:cNvSpPr>
          <p:nvPr>
            <p:ph type="title"/>
          </p:nvPr>
        </p:nvSpPr>
        <p:spPr>
          <a:xfrm>
            <a:off x="1447800" y="457200"/>
            <a:ext cx="7010400" cy="838200"/>
          </a:xfrm>
        </p:spPr>
        <p:txBody>
          <a:bodyPr lIns="90488" tIns="44450" rIns="90488" bIns="44450" anchor="ctr" anchorCtr="1"/>
          <a:lstStyle/>
          <a:p>
            <a:pPr defTabSz="914400" eaLnBrk="1" hangingPunct="1">
              <a:lnSpc>
                <a:spcPct val="95000"/>
              </a:lnSpc>
            </a:pPr>
            <a:r>
              <a:rPr lang="en-US" smtClean="0"/>
              <a:t>The Normal Distribution</a:t>
            </a:r>
          </a:p>
        </p:txBody>
      </p:sp>
      <p:sp>
        <p:nvSpPr>
          <p:cNvPr id="21509" name="Rectangle 3"/>
          <p:cNvSpPr>
            <a:spLocks noGrp="1" noChangeArrowheads="1"/>
          </p:cNvSpPr>
          <p:nvPr>
            <p:ph type="body" sz="half" idx="1"/>
          </p:nvPr>
        </p:nvSpPr>
        <p:spPr>
          <a:xfrm>
            <a:off x="457200" y="1752600"/>
            <a:ext cx="4800600" cy="4800600"/>
          </a:xfrm>
        </p:spPr>
        <p:txBody>
          <a:bodyPr lIns="90488" tIns="44450" rIns="90488" bIns="44450"/>
          <a:lstStyle/>
          <a:p>
            <a:pPr marL="0" indent="0" defTabSz="914400" eaLnBrk="1" hangingPunct="1">
              <a:lnSpc>
                <a:spcPct val="80000"/>
              </a:lnSpc>
              <a:spcBef>
                <a:spcPct val="50000"/>
              </a:spcBef>
              <a:buSzPct val="80000"/>
            </a:pPr>
            <a:r>
              <a:rPr lang="en-US" sz="2000" smtClean="0"/>
              <a:t> </a:t>
            </a:r>
            <a:r>
              <a:rPr lang="en-US" sz="2400" b="1" smtClean="0">
                <a:solidFill>
                  <a:schemeClr val="bg1"/>
                </a:solidFill>
              </a:rPr>
              <a:t>‘</a:t>
            </a:r>
            <a:r>
              <a:rPr lang="en-US" sz="2400" b="1" smtClean="0">
                <a:solidFill>
                  <a:schemeClr val="folHlink"/>
                </a:solidFill>
              </a:rPr>
              <a:t>Bell Shaped</a:t>
            </a:r>
            <a:r>
              <a:rPr lang="en-US" sz="2400" b="1" smtClean="0">
                <a:solidFill>
                  <a:schemeClr val="bg1"/>
                </a:solidFill>
              </a:rPr>
              <a:t>’</a:t>
            </a:r>
          </a:p>
          <a:p>
            <a:pPr marL="0" indent="0" defTabSz="914400" eaLnBrk="1" hangingPunct="1">
              <a:lnSpc>
                <a:spcPct val="60000"/>
              </a:lnSpc>
              <a:spcBef>
                <a:spcPct val="50000"/>
              </a:spcBef>
              <a:buClr>
                <a:srgbClr val="FF3300"/>
              </a:buClr>
            </a:pPr>
            <a:r>
              <a:rPr lang="en-US" sz="2400" b="1" smtClean="0">
                <a:solidFill>
                  <a:srgbClr val="F8F8F8"/>
                </a:solidFill>
              </a:rPr>
              <a:t>  </a:t>
            </a:r>
            <a:r>
              <a:rPr lang="en-US" sz="2400" b="1" smtClean="0">
                <a:solidFill>
                  <a:srgbClr val="FF3300"/>
                </a:solidFill>
              </a:rPr>
              <a:t>Symmetrical</a:t>
            </a:r>
            <a:r>
              <a:rPr lang="en-US" sz="2400" b="1" smtClean="0">
                <a:solidFill>
                  <a:srgbClr val="F8F8F8"/>
                </a:solidFill>
              </a:rPr>
              <a:t>  </a:t>
            </a:r>
            <a:r>
              <a:rPr lang="en-US" sz="2400" b="1" smtClean="0">
                <a:solidFill>
                  <a:srgbClr val="FCD7A6"/>
                </a:solidFill>
              </a:rPr>
              <a:t>  </a:t>
            </a:r>
          </a:p>
          <a:p>
            <a:pPr marL="0" indent="0" defTabSz="914400" eaLnBrk="1" hangingPunct="1">
              <a:lnSpc>
                <a:spcPct val="70000"/>
              </a:lnSpc>
              <a:spcBef>
                <a:spcPct val="50000"/>
              </a:spcBef>
              <a:buClr>
                <a:srgbClr val="339933"/>
              </a:buClr>
            </a:pPr>
            <a:r>
              <a:rPr lang="en-US" sz="2400" b="1" smtClean="0">
                <a:solidFill>
                  <a:srgbClr val="FCD7A6"/>
                </a:solidFill>
              </a:rPr>
              <a:t>  </a:t>
            </a:r>
            <a:r>
              <a:rPr lang="en-US" sz="2400" b="1" smtClean="0">
                <a:solidFill>
                  <a:srgbClr val="339933"/>
                </a:solidFill>
              </a:rPr>
              <a:t>Mean, Median and Mode</a:t>
            </a:r>
          </a:p>
          <a:p>
            <a:pPr marL="0" indent="0" defTabSz="914400" eaLnBrk="1" hangingPunct="1">
              <a:lnSpc>
                <a:spcPct val="30000"/>
              </a:lnSpc>
              <a:spcBef>
                <a:spcPct val="50000"/>
              </a:spcBef>
              <a:buFont typeface="Wingdings" pitchFamily="2" charset="2"/>
              <a:buNone/>
            </a:pPr>
            <a:r>
              <a:rPr lang="en-US" sz="2400" b="1" smtClean="0">
                <a:solidFill>
                  <a:srgbClr val="339933"/>
                </a:solidFill>
              </a:rPr>
              <a:t>	 are Equal</a:t>
            </a:r>
            <a:endParaRPr lang="en-US" sz="2400" b="1" smtClean="0"/>
          </a:p>
          <a:p>
            <a:pPr marL="0" indent="0" defTabSz="914400" eaLnBrk="1" hangingPunct="1">
              <a:lnSpc>
                <a:spcPct val="80000"/>
              </a:lnSpc>
              <a:spcBef>
                <a:spcPct val="50000"/>
              </a:spcBef>
              <a:buFont typeface="Wingdings" pitchFamily="2" charset="2"/>
              <a:buNone/>
            </a:pPr>
            <a:r>
              <a:rPr lang="en-US" sz="2400" b="1" smtClean="0"/>
              <a:t>Location is determined by the mean, </a:t>
            </a:r>
            <a:r>
              <a:rPr lang="el-GR" sz="2400" b="1" smtClean="0">
                <a:cs typeface="Arial" charset="0"/>
                <a:sym typeface="Symbol" pitchFamily="18" charset="2"/>
              </a:rPr>
              <a:t>μ</a:t>
            </a:r>
          </a:p>
          <a:p>
            <a:pPr marL="0" indent="0" defTabSz="914400" eaLnBrk="1" hangingPunct="1">
              <a:lnSpc>
                <a:spcPct val="80000"/>
              </a:lnSpc>
              <a:spcBef>
                <a:spcPct val="50000"/>
              </a:spcBef>
              <a:buFont typeface="Wingdings" pitchFamily="2" charset="2"/>
              <a:buNone/>
            </a:pPr>
            <a:r>
              <a:rPr lang="en-US" sz="2400" b="1" smtClean="0"/>
              <a:t>Spread is determined by the standard deviation, </a:t>
            </a:r>
            <a:r>
              <a:rPr lang="el-GR" sz="2400" b="1" smtClean="0">
                <a:cs typeface="Arial" charset="0"/>
                <a:sym typeface="Symbol" pitchFamily="18" charset="2"/>
              </a:rPr>
              <a:t>σ</a:t>
            </a:r>
            <a:r>
              <a:rPr lang="en-US" sz="2400" b="1" smtClean="0"/>
              <a:t> </a:t>
            </a:r>
          </a:p>
          <a:p>
            <a:pPr marL="0" indent="0" defTabSz="914400" eaLnBrk="1" hangingPunct="1">
              <a:lnSpc>
                <a:spcPct val="20000"/>
              </a:lnSpc>
              <a:spcBef>
                <a:spcPct val="50000"/>
              </a:spcBef>
            </a:pPr>
            <a:endParaRPr lang="en-US" sz="2400" b="1" smtClean="0"/>
          </a:p>
          <a:p>
            <a:pPr marL="0" indent="0" defTabSz="914400" eaLnBrk="1" hangingPunct="1">
              <a:lnSpc>
                <a:spcPct val="90000"/>
              </a:lnSpc>
              <a:spcBef>
                <a:spcPct val="50000"/>
              </a:spcBef>
              <a:buFont typeface="Wingdings" pitchFamily="2" charset="2"/>
              <a:buNone/>
            </a:pPr>
            <a:r>
              <a:rPr lang="en-US" sz="2400" b="1" smtClean="0"/>
              <a:t>The random variable has an infinite theoretical range: </a:t>
            </a:r>
          </a:p>
          <a:p>
            <a:pPr marL="0" indent="0" defTabSz="914400" eaLnBrk="1" hangingPunct="1">
              <a:lnSpc>
                <a:spcPct val="30000"/>
              </a:lnSpc>
              <a:spcBef>
                <a:spcPct val="50000"/>
              </a:spcBef>
              <a:buFont typeface="Wingdings" pitchFamily="2" charset="2"/>
              <a:buNone/>
            </a:pPr>
            <a:r>
              <a:rPr lang="en-US" sz="2400" smtClean="0"/>
              <a:t>+</a:t>
            </a:r>
            <a:r>
              <a:rPr lang="en-US" sz="2400" b="1" smtClean="0"/>
              <a:t> </a:t>
            </a:r>
            <a:r>
              <a:rPr lang="en-US" sz="2400" b="1" smtClean="0">
                <a:sym typeface="Symbol" pitchFamily="18" charset="2"/>
              </a:rPr>
              <a:t>  to   </a:t>
            </a:r>
          </a:p>
        </p:txBody>
      </p:sp>
      <p:sp>
        <p:nvSpPr>
          <p:cNvPr id="21510" name="Rectangle 4"/>
          <p:cNvSpPr>
            <a:spLocks noChangeArrowheads="1"/>
          </p:cNvSpPr>
          <p:nvPr/>
        </p:nvSpPr>
        <p:spPr bwMode="auto">
          <a:xfrm>
            <a:off x="6324600" y="4800600"/>
            <a:ext cx="1533525" cy="1001713"/>
          </a:xfrm>
          <a:prstGeom prst="rect">
            <a:avLst/>
          </a:prstGeom>
          <a:noFill/>
          <a:ln w="12700">
            <a:noFill/>
            <a:miter lim="800000"/>
            <a:headEnd/>
            <a:tailEnd/>
          </a:ln>
        </p:spPr>
        <p:txBody>
          <a:bodyPr lIns="90488" tIns="44450" rIns="90488" bIns="44450">
            <a:spAutoFit/>
          </a:bodyPr>
          <a:lstStyle/>
          <a:p>
            <a:pPr eaLnBrk="0" hangingPunct="0">
              <a:lnSpc>
                <a:spcPct val="50000"/>
              </a:lnSpc>
              <a:spcBef>
                <a:spcPct val="50000"/>
              </a:spcBef>
            </a:pPr>
            <a:r>
              <a:rPr lang="en-US" b="1">
                <a:solidFill>
                  <a:schemeClr val="folHlink"/>
                </a:solidFill>
              </a:rPr>
              <a:t>   Mean </a:t>
            </a:r>
          </a:p>
          <a:p>
            <a:pPr eaLnBrk="0" hangingPunct="0">
              <a:lnSpc>
                <a:spcPct val="50000"/>
              </a:lnSpc>
              <a:spcBef>
                <a:spcPct val="50000"/>
              </a:spcBef>
            </a:pPr>
            <a:r>
              <a:rPr lang="en-US" b="1">
                <a:solidFill>
                  <a:schemeClr val="folHlink"/>
                </a:solidFill>
              </a:rPr>
              <a:t>= Median </a:t>
            </a:r>
          </a:p>
          <a:p>
            <a:pPr eaLnBrk="0" hangingPunct="0">
              <a:lnSpc>
                <a:spcPct val="50000"/>
              </a:lnSpc>
              <a:spcBef>
                <a:spcPct val="50000"/>
              </a:spcBef>
            </a:pPr>
            <a:r>
              <a:rPr lang="en-US" b="1">
                <a:solidFill>
                  <a:schemeClr val="folHlink"/>
                </a:solidFill>
              </a:rPr>
              <a:t>= Mode</a:t>
            </a:r>
          </a:p>
        </p:txBody>
      </p:sp>
      <p:sp>
        <p:nvSpPr>
          <p:cNvPr id="21511" name="Line 5"/>
          <p:cNvSpPr>
            <a:spLocks noChangeShapeType="1"/>
          </p:cNvSpPr>
          <p:nvPr/>
        </p:nvSpPr>
        <p:spPr bwMode="auto">
          <a:xfrm>
            <a:off x="7010400" y="4419600"/>
            <a:ext cx="0" cy="350838"/>
          </a:xfrm>
          <a:prstGeom prst="line">
            <a:avLst/>
          </a:prstGeom>
          <a:noFill/>
          <a:ln w="12700">
            <a:solidFill>
              <a:schemeClr val="bg2"/>
            </a:solidFill>
            <a:round/>
            <a:headEnd type="triangle" w="med" len="med"/>
            <a:tailEnd/>
          </a:ln>
        </p:spPr>
        <p:txBody>
          <a:bodyPr/>
          <a:lstStyle/>
          <a:p>
            <a:endParaRPr lang="en-US"/>
          </a:p>
        </p:txBody>
      </p:sp>
      <p:sp>
        <p:nvSpPr>
          <p:cNvPr id="21512" name="Freeform 6"/>
          <p:cNvSpPr>
            <a:spLocks/>
          </p:cNvSpPr>
          <p:nvPr/>
        </p:nvSpPr>
        <p:spPr bwMode="auto">
          <a:xfrm>
            <a:off x="7010400" y="2743200"/>
            <a:ext cx="1430338" cy="1144588"/>
          </a:xfrm>
          <a:custGeom>
            <a:avLst/>
            <a:gdLst>
              <a:gd name="T0" fmla="*/ 1428750 w 901"/>
              <a:gd name="T1" fmla="*/ 1143000 h 721"/>
              <a:gd name="T2" fmla="*/ 1277938 w 901"/>
              <a:gd name="T3" fmla="*/ 1130300 h 721"/>
              <a:gd name="T4" fmla="*/ 1203325 w 901"/>
              <a:gd name="T5" fmla="*/ 1117600 h 721"/>
              <a:gd name="T6" fmla="*/ 1128713 w 901"/>
              <a:gd name="T7" fmla="*/ 1096963 h 721"/>
              <a:gd name="T8" fmla="*/ 1052513 w 901"/>
              <a:gd name="T9" fmla="*/ 1071563 h 721"/>
              <a:gd name="T10" fmla="*/ 976313 w 901"/>
              <a:gd name="T11" fmla="*/ 1036638 h 721"/>
              <a:gd name="T12" fmla="*/ 901700 w 901"/>
              <a:gd name="T13" fmla="*/ 989013 h 721"/>
              <a:gd name="T14" fmla="*/ 750888 w 901"/>
              <a:gd name="T15" fmla="*/ 857250 h 721"/>
              <a:gd name="T16" fmla="*/ 600075 w 901"/>
              <a:gd name="T17" fmla="*/ 669925 h 721"/>
              <a:gd name="T18" fmla="*/ 450850 w 901"/>
              <a:gd name="T19" fmla="*/ 446088 h 721"/>
              <a:gd name="T20" fmla="*/ 374650 w 901"/>
              <a:gd name="T21" fmla="*/ 331788 h 721"/>
              <a:gd name="T22" fmla="*/ 300038 w 901"/>
              <a:gd name="T23" fmla="*/ 225425 h 721"/>
              <a:gd name="T24" fmla="*/ 225425 w 901"/>
              <a:gd name="T25" fmla="*/ 131763 h 721"/>
              <a:gd name="T26" fmla="*/ 149225 w 901"/>
              <a:gd name="T27" fmla="*/ 60325 h 721"/>
              <a:gd name="T28" fmla="*/ 74613 w 901"/>
              <a:gd name="T29" fmla="*/ 14288 h 721"/>
              <a:gd name="T30" fmla="*/ 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a:solidFill>
              <a:srgbClr val="008000"/>
            </a:solidFill>
            <a:round/>
            <a:headEnd/>
            <a:tailEnd/>
          </a:ln>
        </p:spPr>
        <p:txBody>
          <a:bodyPr/>
          <a:lstStyle/>
          <a:p>
            <a:endParaRPr lang="en-GB"/>
          </a:p>
        </p:txBody>
      </p:sp>
      <p:sp>
        <p:nvSpPr>
          <p:cNvPr id="21513" name="Freeform 7"/>
          <p:cNvSpPr>
            <a:spLocks/>
          </p:cNvSpPr>
          <p:nvPr/>
        </p:nvSpPr>
        <p:spPr bwMode="auto">
          <a:xfrm>
            <a:off x="5562600" y="2743200"/>
            <a:ext cx="1430338" cy="1144588"/>
          </a:xfrm>
          <a:custGeom>
            <a:avLst/>
            <a:gdLst>
              <a:gd name="T0" fmla="*/ 0 w 901"/>
              <a:gd name="T1" fmla="*/ 1143000 h 721"/>
              <a:gd name="T2" fmla="*/ 150813 w 901"/>
              <a:gd name="T3" fmla="*/ 1130300 h 721"/>
              <a:gd name="T4" fmla="*/ 225425 w 901"/>
              <a:gd name="T5" fmla="*/ 1117600 h 721"/>
              <a:gd name="T6" fmla="*/ 300038 w 901"/>
              <a:gd name="T7" fmla="*/ 1096963 h 721"/>
              <a:gd name="T8" fmla="*/ 376238 w 901"/>
              <a:gd name="T9" fmla="*/ 1071563 h 721"/>
              <a:gd name="T10" fmla="*/ 450850 w 901"/>
              <a:gd name="T11" fmla="*/ 1036638 h 721"/>
              <a:gd name="T12" fmla="*/ 525463 w 901"/>
              <a:gd name="T13" fmla="*/ 989013 h 721"/>
              <a:gd name="T14" fmla="*/ 676275 w 901"/>
              <a:gd name="T15" fmla="*/ 857250 h 721"/>
              <a:gd name="T16" fmla="*/ 827088 w 901"/>
              <a:gd name="T17" fmla="*/ 669925 h 721"/>
              <a:gd name="T18" fmla="*/ 977900 w 901"/>
              <a:gd name="T19" fmla="*/ 446088 h 721"/>
              <a:gd name="T20" fmla="*/ 1052513 w 901"/>
              <a:gd name="T21" fmla="*/ 331788 h 721"/>
              <a:gd name="T22" fmla="*/ 1127125 w 901"/>
              <a:gd name="T23" fmla="*/ 225425 h 721"/>
              <a:gd name="T24" fmla="*/ 1201738 w 901"/>
              <a:gd name="T25" fmla="*/ 131763 h 721"/>
              <a:gd name="T26" fmla="*/ 1277938 w 901"/>
              <a:gd name="T27" fmla="*/ 60325 h 721"/>
              <a:gd name="T28" fmla="*/ 1352550 w 901"/>
              <a:gd name="T29" fmla="*/ 14288 h 721"/>
              <a:gd name="T30" fmla="*/ 142875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a:solidFill>
              <a:srgbClr val="008000"/>
            </a:solidFill>
            <a:round/>
            <a:headEnd/>
            <a:tailEnd/>
          </a:ln>
        </p:spPr>
        <p:txBody>
          <a:bodyPr/>
          <a:lstStyle/>
          <a:p>
            <a:endParaRPr lang="en-GB"/>
          </a:p>
        </p:txBody>
      </p:sp>
      <p:sp>
        <p:nvSpPr>
          <p:cNvPr id="21514" name="Line 8"/>
          <p:cNvSpPr>
            <a:spLocks noChangeShapeType="1"/>
          </p:cNvSpPr>
          <p:nvPr/>
        </p:nvSpPr>
        <p:spPr bwMode="auto">
          <a:xfrm>
            <a:off x="7010400" y="2743200"/>
            <a:ext cx="0" cy="1219200"/>
          </a:xfrm>
          <a:prstGeom prst="line">
            <a:avLst/>
          </a:prstGeom>
          <a:noFill/>
          <a:ln w="12700">
            <a:solidFill>
              <a:srgbClr val="CDCDCD"/>
            </a:solidFill>
            <a:round/>
            <a:headEnd/>
            <a:tailEnd/>
          </a:ln>
        </p:spPr>
        <p:txBody>
          <a:bodyPr/>
          <a:lstStyle/>
          <a:p>
            <a:endParaRPr lang="en-US"/>
          </a:p>
        </p:txBody>
      </p:sp>
      <p:sp>
        <p:nvSpPr>
          <p:cNvPr id="21515" name="Freeform 9"/>
          <p:cNvSpPr>
            <a:spLocks/>
          </p:cNvSpPr>
          <p:nvPr/>
        </p:nvSpPr>
        <p:spPr bwMode="auto">
          <a:xfrm>
            <a:off x="5486400" y="2743200"/>
            <a:ext cx="3005138" cy="1214438"/>
          </a:xfrm>
          <a:custGeom>
            <a:avLst/>
            <a:gdLst>
              <a:gd name="T0" fmla="*/ 0 w 1893"/>
              <a:gd name="T1" fmla="*/ 0 h 765"/>
              <a:gd name="T2" fmla="*/ 0 w 1893"/>
              <a:gd name="T3" fmla="*/ 1212850 h 765"/>
              <a:gd name="T4" fmla="*/ 3003551 w 1893"/>
              <a:gd name="T5" fmla="*/ 1212850 h 765"/>
              <a:gd name="T6" fmla="*/ 0 60000 65536"/>
              <a:gd name="T7" fmla="*/ 0 60000 65536"/>
              <a:gd name="T8" fmla="*/ 0 60000 65536"/>
              <a:gd name="T9" fmla="*/ 0 w 1893"/>
              <a:gd name="T10" fmla="*/ 0 h 765"/>
              <a:gd name="T11" fmla="*/ 1893 w 1893"/>
              <a:gd name="T12" fmla="*/ 765 h 765"/>
            </a:gdLst>
            <a:ahLst/>
            <a:cxnLst>
              <a:cxn ang="T6">
                <a:pos x="T0" y="T1"/>
              </a:cxn>
              <a:cxn ang="T7">
                <a:pos x="T2" y="T3"/>
              </a:cxn>
              <a:cxn ang="T8">
                <a:pos x="T4" y="T5"/>
              </a:cxn>
            </a:cxnLst>
            <a:rect l="T9" t="T10" r="T11" b="T12"/>
            <a:pathLst>
              <a:path w="1893" h="765">
                <a:moveTo>
                  <a:pt x="0" y="0"/>
                </a:moveTo>
                <a:lnTo>
                  <a:pt x="0" y="764"/>
                </a:lnTo>
                <a:lnTo>
                  <a:pt x="1892" y="764"/>
                </a:lnTo>
              </a:path>
            </a:pathLst>
          </a:custGeom>
          <a:noFill/>
          <a:ln w="25400" cap="rnd">
            <a:solidFill>
              <a:schemeClr val="bg2"/>
            </a:solidFill>
            <a:round/>
            <a:headEnd/>
            <a:tailEnd/>
          </a:ln>
        </p:spPr>
        <p:txBody>
          <a:bodyPr/>
          <a:lstStyle/>
          <a:p>
            <a:endParaRPr lang="en-GB"/>
          </a:p>
        </p:txBody>
      </p:sp>
      <p:sp>
        <p:nvSpPr>
          <p:cNvPr id="21516" name="Line 10"/>
          <p:cNvSpPr>
            <a:spLocks noChangeShapeType="1"/>
          </p:cNvSpPr>
          <p:nvPr/>
        </p:nvSpPr>
        <p:spPr bwMode="auto">
          <a:xfrm>
            <a:off x="5556250" y="2659063"/>
            <a:ext cx="1588" cy="0"/>
          </a:xfrm>
          <a:prstGeom prst="line">
            <a:avLst/>
          </a:prstGeom>
          <a:noFill/>
          <a:ln w="12700">
            <a:solidFill>
              <a:srgbClr val="CDCDCD"/>
            </a:solidFill>
            <a:round/>
            <a:headEnd/>
            <a:tailEnd/>
          </a:ln>
        </p:spPr>
        <p:txBody>
          <a:bodyPr/>
          <a:lstStyle/>
          <a:p>
            <a:endParaRPr lang="en-US"/>
          </a:p>
        </p:txBody>
      </p:sp>
      <p:sp>
        <p:nvSpPr>
          <p:cNvPr id="21517" name="Line 11"/>
          <p:cNvSpPr>
            <a:spLocks noChangeShapeType="1"/>
          </p:cNvSpPr>
          <p:nvPr/>
        </p:nvSpPr>
        <p:spPr bwMode="auto">
          <a:xfrm>
            <a:off x="5556250" y="2781300"/>
            <a:ext cx="1588" cy="0"/>
          </a:xfrm>
          <a:prstGeom prst="line">
            <a:avLst/>
          </a:prstGeom>
          <a:noFill/>
          <a:ln w="12700">
            <a:solidFill>
              <a:srgbClr val="CDCDCD"/>
            </a:solidFill>
            <a:round/>
            <a:headEnd/>
            <a:tailEnd/>
          </a:ln>
        </p:spPr>
        <p:txBody>
          <a:bodyPr/>
          <a:lstStyle/>
          <a:p>
            <a:endParaRPr lang="en-US"/>
          </a:p>
        </p:txBody>
      </p:sp>
      <p:sp>
        <p:nvSpPr>
          <p:cNvPr id="21518" name="Line 12"/>
          <p:cNvSpPr>
            <a:spLocks noChangeShapeType="1"/>
          </p:cNvSpPr>
          <p:nvPr/>
        </p:nvSpPr>
        <p:spPr bwMode="auto">
          <a:xfrm>
            <a:off x="5556250" y="2901950"/>
            <a:ext cx="1588" cy="0"/>
          </a:xfrm>
          <a:prstGeom prst="line">
            <a:avLst/>
          </a:prstGeom>
          <a:noFill/>
          <a:ln w="12700">
            <a:solidFill>
              <a:srgbClr val="CDCDCD"/>
            </a:solidFill>
            <a:round/>
            <a:headEnd/>
            <a:tailEnd/>
          </a:ln>
        </p:spPr>
        <p:txBody>
          <a:bodyPr/>
          <a:lstStyle/>
          <a:p>
            <a:endParaRPr lang="en-US"/>
          </a:p>
        </p:txBody>
      </p:sp>
      <p:sp>
        <p:nvSpPr>
          <p:cNvPr id="21519" name="Line 13"/>
          <p:cNvSpPr>
            <a:spLocks noChangeShapeType="1"/>
          </p:cNvSpPr>
          <p:nvPr/>
        </p:nvSpPr>
        <p:spPr bwMode="auto">
          <a:xfrm>
            <a:off x="5556250" y="3024188"/>
            <a:ext cx="1588" cy="0"/>
          </a:xfrm>
          <a:prstGeom prst="line">
            <a:avLst/>
          </a:prstGeom>
          <a:noFill/>
          <a:ln w="12700">
            <a:solidFill>
              <a:srgbClr val="CDCDCD"/>
            </a:solidFill>
            <a:round/>
            <a:headEnd/>
            <a:tailEnd/>
          </a:ln>
        </p:spPr>
        <p:txBody>
          <a:bodyPr/>
          <a:lstStyle/>
          <a:p>
            <a:endParaRPr lang="en-US"/>
          </a:p>
        </p:txBody>
      </p:sp>
      <p:sp>
        <p:nvSpPr>
          <p:cNvPr id="21520" name="Line 14"/>
          <p:cNvSpPr>
            <a:spLocks noChangeShapeType="1"/>
          </p:cNvSpPr>
          <p:nvPr/>
        </p:nvSpPr>
        <p:spPr bwMode="auto">
          <a:xfrm>
            <a:off x="5556250" y="3144838"/>
            <a:ext cx="1588" cy="0"/>
          </a:xfrm>
          <a:prstGeom prst="line">
            <a:avLst/>
          </a:prstGeom>
          <a:noFill/>
          <a:ln w="12700">
            <a:solidFill>
              <a:srgbClr val="CDCDCD"/>
            </a:solidFill>
            <a:round/>
            <a:headEnd/>
            <a:tailEnd/>
          </a:ln>
        </p:spPr>
        <p:txBody>
          <a:bodyPr/>
          <a:lstStyle/>
          <a:p>
            <a:endParaRPr lang="en-US"/>
          </a:p>
        </p:txBody>
      </p:sp>
      <p:sp>
        <p:nvSpPr>
          <p:cNvPr id="21521" name="Line 15"/>
          <p:cNvSpPr>
            <a:spLocks noChangeShapeType="1"/>
          </p:cNvSpPr>
          <p:nvPr/>
        </p:nvSpPr>
        <p:spPr bwMode="auto">
          <a:xfrm>
            <a:off x="5556250" y="3267075"/>
            <a:ext cx="1588" cy="0"/>
          </a:xfrm>
          <a:prstGeom prst="line">
            <a:avLst/>
          </a:prstGeom>
          <a:noFill/>
          <a:ln w="12700">
            <a:solidFill>
              <a:srgbClr val="CDCDCD"/>
            </a:solidFill>
            <a:round/>
            <a:headEnd/>
            <a:tailEnd/>
          </a:ln>
        </p:spPr>
        <p:txBody>
          <a:bodyPr/>
          <a:lstStyle/>
          <a:p>
            <a:endParaRPr lang="en-US"/>
          </a:p>
        </p:txBody>
      </p:sp>
      <p:sp>
        <p:nvSpPr>
          <p:cNvPr id="21522" name="Line 16"/>
          <p:cNvSpPr>
            <a:spLocks noChangeShapeType="1"/>
          </p:cNvSpPr>
          <p:nvPr/>
        </p:nvSpPr>
        <p:spPr bwMode="auto">
          <a:xfrm>
            <a:off x="5556250" y="3387725"/>
            <a:ext cx="1588" cy="0"/>
          </a:xfrm>
          <a:prstGeom prst="line">
            <a:avLst/>
          </a:prstGeom>
          <a:noFill/>
          <a:ln w="12700">
            <a:solidFill>
              <a:srgbClr val="CDCDCD"/>
            </a:solidFill>
            <a:round/>
            <a:headEnd/>
            <a:tailEnd/>
          </a:ln>
        </p:spPr>
        <p:txBody>
          <a:bodyPr/>
          <a:lstStyle/>
          <a:p>
            <a:endParaRPr lang="en-US"/>
          </a:p>
        </p:txBody>
      </p:sp>
      <p:sp>
        <p:nvSpPr>
          <p:cNvPr id="21523" name="Line 17"/>
          <p:cNvSpPr>
            <a:spLocks noChangeShapeType="1"/>
          </p:cNvSpPr>
          <p:nvPr/>
        </p:nvSpPr>
        <p:spPr bwMode="auto">
          <a:xfrm>
            <a:off x="5556250" y="3509963"/>
            <a:ext cx="1588" cy="0"/>
          </a:xfrm>
          <a:prstGeom prst="line">
            <a:avLst/>
          </a:prstGeom>
          <a:noFill/>
          <a:ln w="12700">
            <a:solidFill>
              <a:srgbClr val="CDCDCD"/>
            </a:solidFill>
            <a:round/>
            <a:headEnd/>
            <a:tailEnd/>
          </a:ln>
        </p:spPr>
        <p:txBody>
          <a:bodyPr/>
          <a:lstStyle/>
          <a:p>
            <a:endParaRPr lang="en-US"/>
          </a:p>
        </p:txBody>
      </p:sp>
      <p:sp>
        <p:nvSpPr>
          <p:cNvPr id="21524" name="Line 18"/>
          <p:cNvSpPr>
            <a:spLocks noChangeShapeType="1"/>
          </p:cNvSpPr>
          <p:nvPr/>
        </p:nvSpPr>
        <p:spPr bwMode="auto">
          <a:xfrm>
            <a:off x="5556250" y="3630613"/>
            <a:ext cx="1588" cy="0"/>
          </a:xfrm>
          <a:prstGeom prst="line">
            <a:avLst/>
          </a:prstGeom>
          <a:noFill/>
          <a:ln w="12700">
            <a:solidFill>
              <a:srgbClr val="CDCDCD"/>
            </a:solidFill>
            <a:round/>
            <a:headEnd/>
            <a:tailEnd/>
          </a:ln>
        </p:spPr>
        <p:txBody>
          <a:bodyPr/>
          <a:lstStyle/>
          <a:p>
            <a:endParaRPr lang="en-US"/>
          </a:p>
        </p:txBody>
      </p:sp>
      <p:sp>
        <p:nvSpPr>
          <p:cNvPr id="21525" name="Line 19"/>
          <p:cNvSpPr>
            <a:spLocks noChangeShapeType="1"/>
          </p:cNvSpPr>
          <p:nvPr/>
        </p:nvSpPr>
        <p:spPr bwMode="auto">
          <a:xfrm>
            <a:off x="5556250" y="3751263"/>
            <a:ext cx="1588" cy="0"/>
          </a:xfrm>
          <a:prstGeom prst="line">
            <a:avLst/>
          </a:prstGeom>
          <a:noFill/>
          <a:ln w="12700">
            <a:solidFill>
              <a:srgbClr val="CDCDCD"/>
            </a:solidFill>
            <a:round/>
            <a:headEnd/>
            <a:tailEnd/>
          </a:ln>
        </p:spPr>
        <p:txBody>
          <a:bodyPr/>
          <a:lstStyle/>
          <a:p>
            <a:endParaRPr lang="en-US"/>
          </a:p>
        </p:txBody>
      </p:sp>
      <p:sp>
        <p:nvSpPr>
          <p:cNvPr id="21526" name="Line 20"/>
          <p:cNvSpPr>
            <a:spLocks noChangeShapeType="1"/>
          </p:cNvSpPr>
          <p:nvPr/>
        </p:nvSpPr>
        <p:spPr bwMode="auto">
          <a:xfrm>
            <a:off x="8574088" y="3879850"/>
            <a:ext cx="0" cy="1588"/>
          </a:xfrm>
          <a:prstGeom prst="line">
            <a:avLst/>
          </a:prstGeom>
          <a:noFill/>
          <a:ln w="12700">
            <a:solidFill>
              <a:srgbClr val="CDCDCD"/>
            </a:solidFill>
            <a:round/>
            <a:headEnd/>
            <a:tailEnd/>
          </a:ln>
        </p:spPr>
        <p:txBody>
          <a:bodyPr/>
          <a:lstStyle/>
          <a:p>
            <a:endParaRPr lang="en-US"/>
          </a:p>
        </p:txBody>
      </p:sp>
      <p:sp>
        <p:nvSpPr>
          <p:cNvPr id="21527" name="Line 21"/>
          <p:cNvSpPr>
            <a:spLocks noChangeShapeType="1"/>
          </p:cNvSpPr>
          <p:nvPr/>
        </p:nvSpPr>
        <p:spPr bwMode="auto">
          <a:xfrm>
            <a:off x="8274050" y="3879850"/>
            <a:ext cx="0" cy="1588"/>
          </a:xfrm>
          <a:prstGeom prst="line">
            <a:avLst/>
          </a:prstGeom>
          <a:noFill/>
          <a:ln w="12700">
            <a:solidFill>
              <a:srgbClr val="CDCDCD"/>
            </a:solidFill>
            <a:round/>
            <a:headEnd/>
            <a:tailEnd/>
          </a:ln>
        </p:spPr>
        <p:txBody>
          <a:bodyPr/>
          <a:lstStyle/>
          <a:p>
            <a:endParaRPr lang="en-US"/>
          </a:p>
        </p:txBody>
      </p:sp>
      <p:sp>
        <p:nvSpPr>
          <p:cNvPr id="21528" name="Line 22"/>
          <p:cNvSpPr>
            <a:spLocks noChangeShapeType="1"/>
          </p:cNvSpPr>
          <p:nvPr/>
        </p:nvSpPr>
        <p:spPr bwMode="auto">
          <a:xfrm>
            <a:off x="7972425" y="3879850"/>
            <a:ext cx="0" cy="1588"/>
          </a:xfrm>
          <a:prstGeom prst="line">
            <a:avLst/>
          </a:prstGeom>
          <a:noFill/>
          <a:ln w="12700">
            <a:solidFill>
              <a:srgbClr val="CDCDCD"/>
            </a:solidFill>
            <a:round/>
            <a:headEnd/>
            <a:tailEnd/>
          </a:ln>
        </p:spPr>
        <p:txBody>
          <a:bodyPr/>
          <a:lstStyle/>
          <a:p>
            <a:endParaRPr lang="en-US"/>
          </a:p>
        </p:txBody>
      </p:sp>
      <p:sp>
        <p:nvSpPr>
          <p:cNvPr id="21529" name="Line 23"/>
          <p:cNvSpPr>
            <a:spLocks noChangeShapeType="1"/>
          </p:cNvSpPr>
          <p:nvPr/>
        </p:nvSpPr>
        <p:spPr bwMode="auto">
          <a:xfrm>
            <a:off x="7672388" y="3879850"/>
            <a:ext cx="0" cy="1588"/>
          </a:xfrm>
          <a:prstGeom prst="line">
            <a:avLst/>
          </a:prstGeom>
          <a:noFill/>
          <a:ln w="12700">
            <a:solidFill>
              <a:srgbClr val="CDCDCD"/>
            </a:solidFill>
            <a:round/>
            <a:headEnd/>
            <a:tailEnd/>
          </a:ln>
        </p:spPr>
        <p:txBody>
          <a:bodyPr/>
          <a:lstStyle/>
          <a:p>
            <a:endParaRPr lang="en-US"/>
          </a:p>
        </p:txBody>
      </p:sp>
      <p:sp>
        <p:nvSpPr>
          <p:cNvPr id="21530" name="Line 24"/>
          <p:cNvSpPr>
            <a:spLocks noChangeShapeType="1"/>
          </p:cNvSpPr>
          <p:nvPr/>
        </p:nvSpPr>
        <p:spPr bwMode="auto">
          <a:xfrm>
            <a:off x="7372350" y="3879850"/>
            <a:ext cx="0" cy="1588"/>
          </a:xfrm>
          <a:prstGeom prst="line">
            <a:avLst/>
          </a:prstGeom>
          <a:noFill/>
          <a:ln w="12700">
            <a:solidFill>
              <a:srgbClr val="CDCDCD"/>
            </a:solidFill>
            <a:round/>
            <a:headEnd/>
            <a:tailEnd/>
          </a:ln>
        </p:spPr>
        <p:txBody>
          <a:bodyPr/>
          <a:lstStyle/>
          <a:p>
            <a:endParaRPr lang="en-US"/>
          </a:p>
        </p:txBody>
      </p:sp>
      <p:sp>
        <p:nvSpPr>
          <p:cNvPr id="21531" name="Line 25"/>
          <p:cNvSpPr>
            <a:spLocks noChangeShapeType="1"/>
          </p:cNvSpPr>
          <p:nvPr/>
        </p:nvSpPr>
        <p:spPr bwMode="auto">
          <a:xfrm>
            <a:off x="7072313" y="3879850"/>
            <a:ext cx="0" cy="1588"/>
          </a:xfrm>
          <a:prstGeom prst="line">
            <a:avLst/>
          </a:prstGeom>
          <a:noFill/>
          <a:ln w="12700">
            <a:solidFill>
              <a:srgbClr val="CDCDCD"/>
            </a:solidFill>
            <a:round/>
            <a:headEnd/>
            <a:tailEnd/>
          </a:ln>
        </p:spPr>
        <p:txBody>
          <a:bodyPr/>
          <a:lstStyle/>
          <a:p>
            <a:endParaRPr lang="en-US"/>
          </a:p>
        </p:txBody>
      </p:sp>
      <p:sp>
        <p:nvSpPr>
          <p:cNvPr id="21532" name="Line 26"/>
          <p:cNvSpPr>
            <a:spLocks noChangeShapeType="1"/>
          </p:cNvSpPr>
          <p:nvPr/>
        </p:nvSpPr>
        <p:spPr bwMode="auto">
          <a:xfrm>
            <a:off x="6772275" y="3879850"/>
            <a:ext cx="0" cy="1588"/>
          </a:xfrm>
          <a:prstGeom prst="line">
            <a:avLst/>
          </a:prstGeom>
          <a:noFill/>
          <a:ln w="12700">
            <a:solidFill>
              <a:srgbClr val="CDCDCD"/>
            </a:solidFill>
            <a:round/>
            <a:headEnd/>
            <a:tailEnd/>
          </a:ln>
        </p:spPr>
        <p:txBody>
          <a:bodyPr/>
          <a:lstStyle/>
          <a:p>
            <a:endParaRPr lang="en-US"/>
          </a:p>
        </p:txBody>
      </p:sp>
      <p:sp>
        <p:nvSpPr>
          <p:cNvPr id="21533" name="Line 27"/>
          <p:cNvSpPr>
            <a:spLocks noChangeShapeType="1"/>
          </p:cNvSpPr>
          <p:nvPr/>
        </p:nvSpPr>
        <p:spPr bwMode="auto">
          <a:xfrm>
            <a:off x="6472238" y="3879850"/>
            <a:ext cx="0" cy="1588"/>
          </a:xfrm>
          <a:prstGeom prst="line">
            <a:avLst/>
          </a:prstGeom>
          <a:noFill/>
          <a:ln w="12700">
            <a:solidFill>
              <a:srgbClr val="CDCDCD"/>
            </a:solidFill>
            <a:round/>
            <a:headEnd/>
            <a:tailEnd/>
          </a:ln>
        </p:spPr>
        <p:txBody>
          <a:bodyPr/>
          <a:lstStyle/>
          <a:p>
            <a:endParaRPr lang="en-US"/>
          </a:p>
        </p:txBody>
      </p:sp>
      <p:sp>
        <p:nvSpPr>
          <p:cNvPr id="21534" name="Line 28"/>
          <p:cNvSpPr>
            <a:spLocks noChangeShapeType="1"/>
          </p:cNvSpPr>
          <p:nvPr/>
        </p:nvSpPr>
        <p:spPr bwMode="auto">
          <a:xfrm>
            <a:off x="6170613" y="3879850"/>
            <a:ext cx="0" cy="1588"/>
          </a:xfrm>
          <a:prstGeom prst="line">
            <a:avLst/>
          </a:prstGeom>
          <a:noFill/>
          <a:ln w="12700">
            <a:solidFill>
              <a:srgbClr val="CDCDCD"/>
            </a:solidFill>
            <a:round/>
            <a:headEnd/>
            <a:tailEnd/>
          </a:ln>
        </p:spPr>
        <p:txBody>
          <a:bodyPr/>
          <a:lstStyle/>
          <a:p>
            <a:endParaRPr lang="en-US"/>
          </a:p>
        </p:txBody>
      </p:sp>
      <p:sp>
        <p:nvSpPr>
          <p:cNvPr id="21535" name="Line 29"/>
          <p:cNvSpPr>
            <a:spLocks noChangeShapeType="1"/>
          </p:cNvSpPr>
          <p:nvPr/>
        </p:nvSpPr>
        <p:spPr bwMode="auto">
          <a:xfrm>
            <a:off x="5870575" y="3879850"/>
            <a:ext cx="0" cy="1588"/>
          </a:xfrm>
          <a:prstGeom prst="line">
            <a:avLst/>
          </a:prstGeom>
          <a:noFill/>
          <a:ln w="12700">
            <a:solidFill>
              <a:srgbClr val="CDCDCD"/>
            </a:solidFill>
            <a:round/>
            <a:headEnd/>
            <a:tailEnd/>
          </a:ln>
        </p:spPr>
        <p:txBody>
          <a:bodyPr/>
          <a:lstStyle/>
          <a:p>
            <a:endParaRPr lang="en-US"/>
          </a:p>
        </p:txBody>
      </p:sp>
      <p:sp>
        <p:nvSpPr>
          <p:cNvPr id="21536" name="Rectangle 30"/>
          <p:cNvSpPr>
            <a:spLocks noChangeArrowheads="1"/>
          </p:cNvSpPr>
          <p:nvPr/>
        </p:nvSpPr>
        <p:spPr bwMode="auto">
          <a:xfrm>
            <a:off x="5443538" y="3175000"/>
            <a:ext cx="92075" cy="184150"/>
          </a:xfrm>
          <a:prstGeom prst="rect">
            <a:avLst/>
          </a:prstGeom>
          <a:noFill/>
          <a:ln w="12700">
            <a:noFill/>
            <a:miter lim="800000"/>
            <a:headEnd/>
            <a:tailEnd/>
          </a:ln>
        </p:spPr>
        <p:txBody>
          <a:bodyPr wrap="none" anchor="ctr"/>
          <a:lstStyle/>
          <a:p>
            <a:pPr algn="ctr">
              <a:spcBef>
                <a:spcPct val="50000"/>
              </a:spcBef>
            </a:pPr>
            <a:endParaRPr lang="en-GB"/>
          </a:p>
        </p:txBody>
      </p:sp>
      <p:sp>
        <p:nvSpPr>
          <p:cNvPr id="21537" name="Rectangle 31"/>
          <p:cNvSpPr>
            <a:spLocks noChangeArrowheads="1"/>
          </p:cNvSpPr>
          <p:nvPr/>
        </p:nvSpPr>
        <p:spPr bwMode="auto">
          <a:xfrm>
            <a:off x="6980238" y="3849688"/>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21538" name="Rectangle 32"/>
          <p:cNvSpPr>
            <a:spLocks noChangeArrowheads="1"/>
          </p:cNvSpPr>
          <p:nvPr/>
        </p:nvSpPr>
        <p:spPr bwMode="auto">
          <a:xfrm>
            <a:off x="8534400" y="3614738"/>
            <a:ext cx="384175" cy="454025"/>
          </a:xfrm>
          <a:prstGeom prst="rect">
            <a:avLst/>
          </a:prstGeom>
          <a:noFill/>
          <a:ln w="12700">
            <a:noFill/>
            <a:miter lim="800000"/>
            <a:headEnd/>
            <a:tailEnd/>
          </a:ln>
        </p:spPr>
        <p:txBody>
          <a:bodyPr wrap="none" lIns="90488" tIns="44450" rIns="90488" bIns="44450">
            <a:spAutoFit/>
          </a:bodyPr>
          <a:lstStyle/>
          <a:p>
            <a:pPr eaLnBrk="0" hangingPunct="0"/>
            <a:r>
              <a:rPr lang="en-US" b="1">
                <a:solidFill>
                  <a:srgbClr val="339933"/>
                </a:solidFill>
              </a:rPr>
              <a:t>X</a:t>
            </a:r>
          </a:p>
        </p:txBody>
      </p:sp>
      <p:sp>
        <p:nvSpPr>
          <p:cNvPr id="21539" name="Rectangle 33"/>
          <p:cNvSpPr>
            <a:spLocks noChangeArrowheads="1"/>
          </p:cNvSpPr>
          <p:nvPr/>
        </p:nvSpPr>
        <p:spPr bwMode="auto">
          <a:xfrm>
            <a:off x="5181600" y="2209800"/>
            <a:ext cx="688975" cy="454025"/>
          </a:xfrm>
          <a:prstGeom prst="rect">
            <a:avLst/>
          </a:prstGeom>
          <a:noFill/>
          <a:ln w="12700">
            <a:noFill/>
            <a:miter lim="800000"/>
            <a:headEnd/>
            <a:tailEnd/>
          </a:ln>
        </p:spPr>
        <p:txBody>
          <a:bodyPr wrap="none" lIns="90488" tIns="44450" rIns="90488" bIns="44450">
            <a:spAutoFit/>
          </a:bodyPr>
          <a:lstStyle/>
          <a:p>
            <a:pPr eaLnBrk="0" hangingPunct="0"/>
            <a:r>
              <a:rPr lang="en-US" b="1">
                <a:solidFill>
                  <a:srgbClr val="339933"/>
                </a:solidFill>
              </a:rPr>
              <a:t>f(X)</a:t>
            </a:r>
          </a:p>
        </p:txBody>
      </p:sp>
      <p:sp>
        <p:nvSpPr>
          <p:cNvPr id="21540" name="Rectangle 34"/>
          <p:cNvSpPr>
            <a:spLocks noChangeArrowheads="1"/>
          </p:cNvSpPr>
          <p:nvPr/>
        </p:nvSpPr>
        <p:spPr bwMode="auto">
          <a:xfrm>
            <a:off x="6858000" y="3962400"/>
            <a:ext cx="466725" cy="45402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l-GR" b="1">
                <a:solidFill>
                  <a:schemeClr val="bg2"/>
                </a:solidFill>
                <a:cs typeface="Arial" charset="0"/>
              </a:rPr>
              <a:t>μ</a:t>
            </a:r>
          </a:p>
        </p:txBody>
      </p:sp>
      <p:sp>
        <p:nvSpPr>
          <p:cNvPr id="21541" name="Text Box 35"/>
          <p:cNvSpPr txBox="1">
            <a:spLocks noChangeArrowheads="1"/>
          </p:cNvSpPr>
          <p:nvPr/>
        </p:nvSpPr>
        <p:spPr bwMode="auto">
          <a:xfrm>
            <a:off x="7086600" y="3352800"/>
            <a:ext cx="457200" cy="457200"/>
          </a:xfrm>
          <a:prstGeom prst="rect">
            <a:avLst/>
          </a:prstGeom>
          <a:noFill/>
          <a:ln w="12700">
            <a:noFill/>
            <a:miter lim="800000"/>
            <a:headEnd/>
            <a:tailEnd/>
          </a:ln>
        </p:spPr>
        <p:txBody>
          <a:bodyPr>
            <a:spAutoFit/>
          </a:bodyPr>
          <a:lstStyle/>
          <a:p>
            <a:pPr eaLnBrk="0" hangingPunct="0">
              <a:spcBef>
                <a:spcPct val="50000"/>
              </a:spcBef>
            </a:pPr>
            <a:r>
              <a:rPr lang="el-GR">
                <a:solidFill>
                  <a:schemeClr val="bg2"/>
                </a:solidFill>
                <a:cs typeface="Arial" charset="0"/>
                <a:sym typeface="Symbol" pitchFamily="18" charset="2"/>
              </a:rPr>
              <a:t>σ</a:t>
            </a:r>
            <a:endParaRPr lang="el-GR">
              <a:solidFill>
                <a:schemeClr val="bg2"/>
              </a:solidFill>
              <a:cs typeface="Arial" charset="0"/>
            </a:endParaRPr>
          </a:p>
        </p:txBody>
      </p:sp>
      <p:sp>
        <p:nvSpPr>
          <p:cNvPr id="21542" name="Line 36"/>
          <p:cNvSpPr>
            <a:spLocks noChangeShapeType="1"/>
          </p:cNvSpPr>
          <p:nvPr/>
        </p:nvSpPr>
        <p:spPr bwMode="auto">
          <a:xfrm flipH="1">
            <a:off x="7010400" y="3352800"/>
            <a:ext cx="533400" cy="0"/>
          </a:xfrm>
          <a:prstGeom prst="line">
            <a:avLst/>
          </a:prstGeom>
          <a:noFill/>
          <a:ln w="12700">
            <a:solidFill>
              <a:schemeClr val="bg2"/>
            </a:solidFill>
            <a:round/>
            <a:headEnd type="triangle" w="med" len="med"/>
            <a:tailEnd type="triangle" w="med" len="med"/>
          </a:ln>
        </p:spPr>
        <p:txBody>
          <a:bodyPr/>
          <a:lstStyle/>
          <a:p>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8" name="Rectangle 4"/>
          <p:cNvSpPr>
            <a:spLocks noGrp="1" noChangeArrowheads="1"/>
          </p:cNvSpPr>
          <p:nvPr>
            <p:ph type="ftr" sz="quarter" idx="10"/>
          </p:nvPr>
        </p:nvSpPr>
        <p:spPr>
          <a:noFill/>
        </p:spPr>
        <p:txBody>
          <a:bodyPr/>
          <a:lstStyle/>
          <a:p>
            <a:r>
              <a:rPr lang="en-US" smtClean="0"/>
              <a:t>Copyright ©2012 Pearson Education</a:t>
            </a:r>
          </a:p>
        </p:txBody>
      </p:sp>
      <p:sp>
        <p:nvSpPr>
          <p:cNvPr id="344069" name="Rectangle 5"/>
          <p:cNvSpPr>
            <a:spLocks noGrp="1" noChangeArrowheads="1"/>
          </p:cNvSpPr>
          <p:nvPr>
            <p:ph type="sldNum" sz="quarter" idx="11"/>
          </p:nvPr>
        </p:nvSpPr>
        <p:spPr>
          <a:noFill/>
        </p:spPr>
        <p:txBody>
          <a:bodyPr/>
          <a:lstStyle/>
          <a:p>
            <a:r>
              <a:rPr lang="en-US" smtClean="0"/>
              <a:t>Chap 6-</a:t>
            </a:r>
            <a:fld id="{7DB76D16-34E0-4E7D-A4C5-5860967CB2FE}" type="slidenum">
              <a:rPr lang="en-US" smtClean="0"/>
              <a:pPr/>
              <a:t>5</a:t>
            </a:fld>
            <a:endParaRPr lang="en-US" smtClean="0"/>
          </a:p>
        </p:txBody>
      </p:sp>
      <p:sp>
        <p:nvSpPr>
          <p:cNvPr id="344070"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295DB484-E871-420C-928B-603B7530BEF1}" type="slidenum">
              <a:rPr lang="en-US" sz="1000"/>
              <a:pPr algn="r" defTabSz="852488"/>
              <a:t>5</a:t>
            </a:fld>
            <a:endParaRPr lang="en-US" sz="1000"/>
          </a:p>
        </p:txBody>
      </p:sp>
      <p:sp>
        <p:nvSpPr>
          <p:cNvPr id="344071" name="Rectangle 2"/>
          <p:cNvSpPr>
            <a:spLocks noGrp="1" noChangeArrowheads="1"/>
          </p:cNvSpPr>
          <p:nvPr>
            <p:ph type="title"/>
          </p:nvPr>
        </p:nvSpPr>
        <p:spPr>
          <a:xfrm>
            <a:off x="1150938" y="381000"/>
            <a:ext cx="7383462" cy="990600"/>
          </a:xfrm>
        </p:spPr>
        <p:txBody>
          <a:bodyPr/>
          <a:lstStyle/>
          <a:p>
            <a:pPr eaLnBrk="1" hangingPunct="1"/>
            <a:r>
              <a:rPr lang="en-US" smtClean="0"/>
              <a:t>The Normal Distribution</a:t>
            </a:r>
            <a:br>
              <a:rPr lang="en-US" smtClean="0"/>
            </a:br>
            <a:r>
              <a:rPr lang="en-US" smtClean="0"/>
              <a:t>Density Function</a:t>
            </a:r>
          </a:p>
        </p:txBody>
      </p:sp>
      <p:graphicFrame>
        <p:nvGraphicFramePr>
          <p:cNvPr id="344067" name="Object 3"/>
          <p:cNvGraphicFramePr>
            <a:graphicFrameLocks noChangeAspect="1"/>
          </p:cNvGraphicFramePr>
          <p:nvPr>
            <p:ph idx="1"/>
          </p:nvPr>
        </p:nvGraphicFramePr>
        <p:xfrm>
          <a:off x="2206625" y="2752725"/>
          <a:ext cx="3827463" cy="1250950"/>
        </p:xfrm>
        <a:graphic>
          <a:graphicData uri="http://schemas.openxmlformats.org/presentationml/2006/ole">
            <p:oleObj spid="_x0000_s344067" name="Equation" r:id="rId3" imgW="1447560" imgH="495000" progId="Equation.3">
              <p:embed/>
            </p:oleObj>
          </a:graphicData>
        </a:graphic>
      </p:graphicFrame>
      <p:sp>
        <p:nvSpPr>
          <p:cNvPr id="344072" name="Rectangle 4"/>
          <p:cNvSpPr>
            <a:spLocks noChangeArrowheads="1"/>
          </p:cNvSpPr>
          <p:nvPr/>
        </p:nvSpPr>
        <p:spPr bwMode="auto">
          <a:xfrm>
            <a:off x="838200" y="2133600"/>
            <a:ext cx="8077200" cy="569913"/>
          </a:xfrm>
          <a:prstGeom prst="rect">
            <a:avLst/>
          </a:prstGeom>
          <a:noFill/>
          <a:ln w="9525">
            <a:noFill/>
            <a:miter lim="800000"/>
            <a:headEnd/>
            <a:tailEnd/>
          </a:ln>
        </p:spPr>
        <p:txBody>
          <a:bodyPr lIns="85342" tIns="42672" rIns="85342" bIns="42672"/>
          <a:lstStyle/>
          <a:p>
            <a:pPr marL="320675" indent="-320675" defTabSz="852488">
              <a:spcBef>
                <a:spcPct val="20000"/>
              </a:spcBef>
              <a:buClr>
                <a:schemeClr val="folHlink"/>
              </a:buClr>
              <a:buSzPct val="60000"/>
              <a:buFont typeface="Wingdings" pitchFamily="2" charset="2"/>
              <a:buChar char="n"/>
            </a:pPr>
            <a:r>
              <a:rPr lang="en-US"/>
              <a:t>The formula for the normal probability density function is</a:t>
            </a:r>
          </a:p>
        </p:txBody>
      </p:sp>
      <p:sp>
        <p:nvSpPr>
          <p:cNvPr id="344073" name="Text Box 5"/>
          <p:cNvSpPr txBox="1">
            <a:spLocks noChangeArrowheads="1"/>
          </p:cNvSpPr>
          <p:nvPr/>
        </p:nvSpPr>
        <p:spPr bwMode="auto">
          <a:xfrm>
            <a:off x="1524000" y="4343400"/>
            <a:ext cx="6858000" cy="1924050"/>
          </a:xfrm>
          <a:prstGeom prst="rect">
            <a:avLst/>
          </a:prstGeom>
          <a:noFill/>
          <a:ln w="9525">
            <a:noFill/>
            <a:miter lim="800000"/>
            <a:headEnd/>
            <a:tailEnd/>
          </a:ln>
        </p:spPr>
        <p:txBody>
          <a:bodyPr>
            <a:spAutoFit/>
          </a:bodyPr>
          <a:lstStyle/>
          <a:p>
            <a:pPr>
              <a:lnSpc>
                <a:spcPct val="80000"/>
              </a:lnSpc>
              <a:spcBef>
                <a:spcPct val="50000"/>
              </a:spcBef>
            </a:pPr>
            <a:r>
              <a:rPr lang="en-US" sz="2000">
                <a:latin typeface="Times New Roman" pitchFamily="18" charset="0"/>
              </a:rPr>
              <a:t>Where	e = the mathematical constant approximated by 2.71828</a:t>
            </a:r>
          </a:p>
          <a:p>
            <a:pPr>
              <a:lnSpc>
                <a:spcPct val="80000"/>
              </a:lnSpc>
              <a:spcBef>
                <a:spcPct val="50000"/>
              </a:spcBef>
            </a:pPr>
            <a:r>
              <a:rPr lang="en-US" sz="2000">
                <a:latin typeface="Times New Roman" pitchFamily="18" charset="0"/>
              </a:rPr>
              <a:t>	</a:t>
            </a:r>
            <a:r>
              <a:rPr lang="el-GR" sz="2000">
                <a:latin typeface="Times New Roman" pitchFamily="18" charset="0"/>
              </a:rPr>
              <a:t>π</a:t>
            </a:r>
            <a:r>
              <a:rPr lang="en-US" sz="2000">
                <a:latin typeface="Times New Roman" pitchFamily="18" charset="0"/>
              </a:rPr>
              <a:t> = the mathematical constant approximated by 3.14159</a:t>
            </a:r>
          </a:p>
          <a:p>
            <a:pPr>
              <a:lnSpc>
                <a:spcPct val="80000"/>
              </a:lnSpc>
              <a:spcBef>
                <a:spcPct val="50000"/>
              </a:spcBef>
            </a:pPr>
            <a:r>
              <a:rPr lang="en-US" sz="2000">
                <a:latin typeface="Times New Roman" pitchFamily="18" charset="0"/>
              </a:rPr>
              <a:t>	</a:t>
            </a:r>
            <a:r>
              <a:rPr lang="el-GR" sz="2000">
                <a:latin typeface="Times New Roman" pitchFamily="18" charset="0"/>
              </a:rPr>
              <a:t>μ</a:t>
            </a:r>
            <a:r>
              <a:rPr lang="en-US" sz="2000">
                <a:latin typeface="Times New Roman" pitchFamily="18" charset="0"/>
              </a:rPr>
              <a:t> = the population mean</a:t>
            </a:r>
          </a:p>
          <a:p>
            <a:pPr>
              <a:lnSpc>
                <a:spcPct val="80000"/>
              </a:lnSpc>
              <a:spcBef>
                <a:spcPct val="50000"/>
              </a:spcBef>
            </a:pPr>
            <a:r>
              <a:rPr lang="en-US" sz="2000">
                <a:latin typeface="Times New Roman" pitchFamily="18" charset="0"/>
              </a:rPr>
              <a:t>	</a:t>
            </a:r>
            <a:r>
              <a:rPr lang="el-GR" sz="2000">
                <a:latin typeface="Times New Roman" pitchFamily="18" charset="0"/>
              </a:rPr>
              <a:t>σ</a:t>
            </a:r>
            <a:r>
              <a:rPr lang="en-US" sz="2000">
                <a:latin typeface="Times New Roman" pitchFamily="18" charset="0"/>
              </a:rPr>
              <a:t> = the population standard deviation</a:t>
            </a:r>
          </a:p>
          <a:p>
            <a:pPr>
              <a:lnSpc>
                <a:spcPct val="80000"/>
              </a:lnSpc>
              <a:spcBef>
                <a:spcPct val="50000"/>
              </a:spcBef>
            </a:pPr>
            <a:r>
              <a:rPr lang="en-US" sz="2000">
                <a:latin typeface="Times New Roman" pitchFamily="18" charset="0"/>
              </a:rPr>
              <a:t>	X = any value of the continuous variable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10" name="Rectangle 4"/>
          <p:cNvSpPr>
            <a:spLocks noGrp="1" noChangeArrowheads="1"/>
          </p:cNvSpPr>
          <p:nvPr>
            <p:ph type="ftr" sz="quarter" idx="10"/>
          </p:nvPr>
        </p:nvSpPr>
        <p:spPr>
          <a:noFill/>
        </p:spPr>
        <p:txBody>
          <a:bodyPr/>
          <a:lstStyle/>
          <a:p>
            <a:r>
              <a:rPr lang="en-US" smtClean="0"/>
              <a:t>Copyright ©2012 Pearson Education</a:t>
            </a:r>
          </a:p>
        </p:txBody>
      </p:sp>
      <p:sp>
        <p:nvSpPr>
          <p:cNvPr id="175111" name="Rectangle 5"/>
          <p:cNvSpPr>
            <a:spLocks noGrp="1" noChangeArrowheads="1"/>
          </p:cNvSpPr>
          <p:nvPr>
            <p:ph type="sldNum" sz="quarter" idx="11"/>
          </p:nvPr>
        </p:nvSpPr>
        <p:spPr>
          <a:noFill/>
        </p:spPr>
        <p:txBody>
          <a:bodyPr/>
          <a:lstStyle/>
          <a:p>
            <a:r>
              <a:rPr lang="en-US" smtClean="0"/>
              <a:t>Chap 6-</a:t>
            </a:r>
            <a:fld id="{31769FAB-442D-4821-BA78-7E99187ED692}" type="slidenum">
              <a:rPr lang="en-US" smtClean="0"/>
              <a:pPr/>
              <a:t>6</a:t>
            </a:fld>
            <a:endParaRPr lang="en-US" smtClean="0"/>
          </a:p>
        </p:txBody>
      </p:sp>
      <p:sp>
        <p:nvSpPr>
          <p:cNvPr id="175112" name="Slide Number Placeholder 2"/>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7C1DF055-4222-4017-B8E7-2AD3380C6635}" type="slidenum">
              <a:rPr lang="en-US" sz="1000"/>
              <a:pPr algn="r" defTabSz="852488"/>
              <a:t>6</a:t>
            </a:fld>
            <a:endParaRPr lang="en-US" sz="1000"/>
          </a:p>
        </p:txBody>
      </p:sp>
      <p:sp>
        <p:nvSpPr>
          <p:cNvPr id="175113" name="Rectangle 2"/>
          <p:cNvSpPr>
            <a:spLocks noChangeArrowheads="1"/>
          </p:cNvSpPr>
          <p:nvPr/>
        </p:nvSpPr>
        <p:spPr bwMode="auto">
          <a:xfrm>
            <a:off x="457200" y="533400"/>
            <a:ext cx="8248650" cy="762000"/>
          </a:xfrm>
          <a:prstGeom prst="rect">
            <a:avLst/>
          </a:prstGeom>
          <a:noFill/>
          <a:ln w="12700">
            <a:noFill/>
            <a:miter lim="800000"/>
            <a:headEnd/>
            <a:tailEnd/>
          </a:ln>
        </p:spPr>
        <p:txBody>
          <a:bodyPr wrap="none" anchor="ctr"/>
          <a:lstStyle/>
          <a:p>
            <a:pPr algn="ctr">
              <a:spcBef>
                <a:spcPct val="50000"/>
              </a:spcBef>
            </a:pPr>
            <a:endParaRPr lang="en-GB"/>
          </a:p>
        </p:txBody>
      </p:sp>
      <p:sp>
        <p:nvSpPr>
          <p:cNvPr id="175114" name="Rectangle 3"/>
          <p:cNvSpPr>
            <a:spLocks noChangeArrowheads="1"/>
          </p:cNvSpPr>
          <p:nvPr/>
        </p:nvSpPr>
        <p:spPr bwMode="auto">
          <a:xfrm>
            <a:off x="4800600" y="2667000"/>
            <a:ext cx="3981450" cy="457200"/>
          </a:xfrm>
          <a:prstGeom prst="rect">
            <a:avLst/>
          </a:prstGeom>
          <a:noFill/>
          <a:ln w="12700">
            <a:noFill/>
            <a:miter lim="800000"/>
            <a:headEnd/>
            <a:tailEnd/>
          </a:ln>
        </p:spPr>
        <p:txBody>
          <a:bodyPr wrap="none" anchor="ctr"/>
          <a:lstStyle/>
          <a:p>
            <a:pPr algn="ctr">
              <a:spcBef>
                <a:spcPct val="50000"/>
              </a:spcBef>
            </a:pPr>
            <a:endParaRPr lang="en-GB"/>
          </a:p>
        </p:txBody>
      </p:sp>
      <p:sp>
        <p:nvSpPr>
          <p:cNvPr id="175115" name="Rectangle 4"/>
          <p:cNvSpPr>
            <a:spLocks noChangeArrowheads="1"/>
          </p:cNvSpPr>
          <p:nvPr/>
        </p:nvSpPr>
        <p:spPr bwMode="auto">
          <a:xfrm>
            <a:off x="4953000" y="2667000"/>
            <a:ext cx="3600450" cy="457200"/>
          </a:xfrm>
          <a:prstGeom prst="rect">
            <a:avLst/>
          </a:prstGeom>
          <a:noFill/>
          <a:ln w="12700">
            <a:noFill/>
            <a:miter lim="800000"/>
            <a:headEnd/>
            <a:tailEnd/>
          </a:ln>
        </p:spPr>
        <p:txBody>
          <a:bodyPr wrap="none" anchor="ctr"/>
          <a:lstStyle/>
          <a:p>
            <a:pPr algn="ctr">
              <a:spcBef>
                <a:spcPct val="50000"/>
              </a:spcBef>
            </a:pPr>
            <a:endParaRPr lang="en-GB"/>
          </a:p>
        </p:txBody>
      </p:sp>
      <p:graphicFrame>
        <p:nvGraphicFramePr>
          <p:cNvPr id="175109" name="Object 5">
            <a:hlinkClick r:id="" action="ppaction://ole?verb=0"/>
          </p:cNvPr>
          <p:cNvGraphicFramePr>
            <a:graphicFrameLocks/>
          </p:cNvGraphicFramePr>
          <p:nvPr/>
        </p:nvGraphicFramePr>
        <p:xfrm>
          <a:off x="1676400" y="1981200"/>
          <a:ext cx="5105400" cy="2927350"/>
        </p:xfrm>
        <a:graphic>
          <a:graphicData uri="http://schemas.openxmlformats.org/presentationml/2006/ole">
            <p:oleObj spid="_x0000_s175109" name="Worksheet" r:id="rId4" imgW="3588120" imgH="2236320" progId="Excel.Sheet.8">
              <p:embed/>
            </p:oleObj>
          </a:graphicData>
        </a:graphic>
      </p:graphicFrame>
      <p:sp>
        <p:nvSpPr>
          <p:cNvPr id="175116" name="Rectangle 6"/>
          <p:cNvSpPr>
            <a:spLocks noChangeArrowheads="1"/>
          </p:cNvSpPr>
          <p:nvPr/>
        </p:nvSpPr>
        <p:spPr bwMode="auto">
          <a:xfrm>
            <a:off x="762000" y="5181600"/>
            <a:ext cx="7312025" cy="831850"/>
          </a:xfrm>
          <a:prstGeom prst="rect">
            <a:avLst/>
          </a:prstGeom>
          <a:noFill/>
          <a:ln w="12700">
            <a:solidFill>
              <a:schemeClr val="bg1"/>
            </a:solidFill>
            <a:miter lim="800000"/>
            <a:headEnd/>
            <a:tailEnd/>
          </a:ln>
        </p:spPr>
        <p:txBody>
          <a:bodyPr lIns="90487" tIns="44450" rIns="90487" bIns="44450">
            <a:spAutoFit/>
          </a:bodyPr>
          <a:lstStyle/>
          <a:p>
            <a:pPr algn="ctr" eaLnBrk="0" hangingPunct="0">
              <a:spcBef>
                <a:spcPct val="50000"/>
              </a:spcBef>
            </a:pPr>
            <a:r>
              <a:rPr lang="en-US" b="1"/>
              <a:t>By varying the parameters </a:t>
            </a:r>
            <a:r>
              <a:rPr lang="el-GR" b="1">
                <a:solidFill>
                  <a:schemeClr val="folHlink"/>
                </a:solidFill>
                <a:cs typeface="Arial" charset="0"/>
              </a:rPr>
              <a:t>μ</a:t>
            </a:r>
            <a:r>
              <a:rPr lang="en-US" b="1"/>
              <a:t> and </a:t>
            </a:r>
            <a:r>
              <a:rPr lang="el-GR" b="1">
                <a:solidFill>
                  <a:schemeClr val="folHlink"/>
                </a:solidFill>
                <a:cs typeface="Arial" charset="0"/>
              </a:rPr>
              <a:t>σ</a:t>
            </a:r>
            <a:r>
              <a:rPr lang="en-US" b="1"/>
              <a:t>, we obtain different normal distributions</a:t>
            </a:r>
          </a:p>
        </p:txBody>
      </p:sp>
      <p:sp>
        <p:nvSpPr>
          <p:cNvPr id="175117" name="Rectangle 7"/>
          <p:cNvSpPr>
            <a:spLocks noChangeArrowheads="1"/>
          </p:cNvSpPr>
          <p:nvPr/>
        </p:nvSpPr>
        <p:spPr bwMode="auto">
          <a:xfrm>
            <a:off x="1295400" y="457200"/>
            <a:ext cx="7467600" cy="762000"/>
          </a:xfrm>
          <a:prstGeom prst="rect">
            <a:avLst/>
          </a:prstGeom>
          <a:noFill/>
          <a:ln w="12700">
            <a:noFill/>
            <a:miter lim="800000"/>
            <a:headEnd/>
            <a:tailEnd/>
          </a:ln>
        </p:spPr>
        <p:txBody>
          <a:bodyPr lIns="90488" tIns="44450" rIns="90488" bIns="44450" anchor="ctr" anchorCtr="1"/>
          <a:lstStyle/>
          <a:p>
            <a:pPr algn="ctr">
              <a:lnSpc>
                <a:spcPct val="95000"/>
              </a:lnSpc>
            </a:pPr>
            <a:r>
              <a:rPr lang="en-US" sz="4000">
                <a:solidFill>
                  <a:schemeClr val="tx2"/>
                </a:solidFill>
              </a:rPr>
              <a:t>Many Normal Distributions</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7" name="Rectangle 4"/>
          <p:cNvSpPr>
            <a:spLocks noGrp="1" noChangeArrowheads="1"/>
          </p:cNvSpPr>
          <p:nvPr>
            <p:ph type="ftr" sz="quarter" idx="10"/>
          </p:nvPr>
        </p:nvSpPr>
        <p:spPr>
          <a:noFill/>
        </p:spPr>
        <p:txBody>
          <a:bodyPr/>
          <a:lstStyle/>
          <a:p>
            <a:r>
              <a:rPr lang="en-US" smtClean="0"/>
              <a:t>Copyright ©2012 Pearson Education</a:t>
            </a:r>
          </a:p>
        </p:txBody>
      </p:sp>
      <p:sp>
        <p:nvSpPr>
          <p:cNvPr id="347138" name="Rectangle 5"/>
          <p:cNvSpPr>
            <a:spLocks noGrp="1" noChangeArrowheads="1"/>
          </p:cNvSpPr>
          <p:nvPr>
            <p:ph type="sldNum" sz="quarter" idx="11"/>
          </p:nvPr>
        </p:nvSpPr>
        <p:spPr>
          <a:noFill/>
        </p:spPr>
        <p:txBody>
          <a:bodyPr/>
          <a:lstStyle/>
          <a:p>
            <a:r>
              <a:rPr lang="en-US" smtClean="0"/>
              <a:t>Chap 6-</a:t>
            </a:r>
            <a:fld id="{FFDEC334-BE5F-47BD-9A86-B1B4398C7EB7}" type="slidenum">
              <a:rPr lang="en-US" smtClean="0"/>
              <a:pPr/>
              <a:t>7</a:t>
            </a:fld>
            <a:endParaRPr lang="en-US" smtClean="0"/>
          </a:p>
        </p:txBody>
      </p:sp>
      <p:sp>
        <p:nvSpPr>
          <p:cNvPr id="347139" name="Slide Number Placeholder 2"/>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7AB92B18-FD60-4D41-BE7F-0291790FEA34}" type="slidenum">
              <a:rPr lang="en-US" sz="1000"/>
              <a:pPr algn="r" defTabSz="852488"/>
              <a:t>7</a:t>
            </a:fld>
            <a:endParaRPr lang="en-US" sz="1000"/>
          </a:p>
        </p:txBody>
      </p:sp>
      <p:sp>
        <p:nvSpPr>
          <p:cNvPr id="347140" name="Rectangle 2"/>
          <p:cNvSpPr>
            <a:spLocks noGrp="1" noChangeArrowheads="1"/>
          </p:cNvSpPr>
          <p:nvPr>
            <p:ph type="title" idx="4294967295"/>
          </p:nvPr>
        </p:nvSpPr>
        <p:spPr>
          <a:xfrm>
            <a:off x="1600200" y="381000"/>
            <a:ext cx="6713538" cy="990600"/>
          </a:xfrm>
        </p:spPr>
        <p:txBody>
          <a:bodyPr/>
          <a:lstStyle/>
          <a:p>
            <a:pPr defTabSz="914400" eaLnBrk="1" hangingPunct="1">
              <a:lnSpc>
                <a:spcPct val="80000"/>
              </a:lnSpc>
            </a:pPr>
            <a:r>
              <a:rPr lang="en-US" sz="3900" smtClean="0"/>
              <a:t>The Normal Distribution Shape</a:t>
            </a:r>
          </a:p>
        </p:txBody>
      </p:sp>
      <p:sp>
        <p:nvSpPr>
          <p:cNvPr id="347141" name="Line 3"/>
          <p:cNvSpPr>
            <a:spLocks noChangeShapeType="1"/>
          </p:cNvSpPr>
          <p:nvPr/>
        </p:nvSpPr>
        <p:spPr bwMode="auto">
          <a:xfrm flipV="1">
            <a:off x="4267200" y="4267200"/>
            <a:ext cx="762000" cy="0"/>
          </a:xfrm>
          <a:prstGeom prst="line">
            <a:avLst/>
          </a:prstGeom>
          <a:noFill/>
          <a:ln w="12700">
            <a:solidFill>
              <a:schemeClr val="bg2"/>
            </a:solidFill>
            <a:round/>
            <a:headEnd type="stealth" w="med" len="med"/>
            <a:tailEnd type="stealth" w="med" len="med"/>
          </a:ln>
        </p:spPr>
        <p:txBody>
          <a:bodyPr wrap="none" anchor="ctr"/>
          <a:lstStyle/>
          <a:p>
            <a:endParaRPr lang="en-US"/>
          </a:p>
        </p:txBody>
      </p:sp>
      <p:sp>
        <p:nvSpPr>
          <p:cNvPr id="347142" name="Freeform 4"/>
          <p:cNvSpPr>
            <a:spLocks/>
          </p:cNvSpPr>
          <p:nvPr/>
        </p:nvSpPr>
        <p:spPr bwMode="auto">
          <a:xfrm>
            <a:off x="1828800" y="2971800"/>
            <a:ext cx="5029200" cy="2438400"/>
          </a:xfrm>
          <a:custGeom>
            <a:avLst/>
            <a:gdLst>
              <a:gd name="T0" fmla="*/ 0 w 1893"/>
              <a:gd name="T1" fmla="*/ 0 h 765"/>
              <a:gd name="T2" fmla="*/ 0 w 1893"/>
              <a:gd name="T3" fmla="*/ 2435213 h 765"/>
              <a:gd name="T4" fmla="*/ 5026543 w 1893"/>
              <a:gd name="T5" fmla="*/ 2435213 h 765"/>
              <a:gd name="T6" fmla="*/ 0 60000 65536"/>
              <a:gd name="T7" fmla="*/ 0 60000 65536"/>
              <a:gd name="T8" fmla="*/ 0 60000 65536"/>
              <a:gd name="T9" fmla="*/ 0 w 1893"/>
              <a:gd name="T10" fmla="*/ 0 h 765"/>
              <a:gd name="T11" fmla="*/ 1893 w 1893"/>
              <a:gd name="T12" fmla="*/ 765 h 765"/>
            </a:gdLst>
            <a:ahLst/>
            <a:cxnLst>
              <a:cxn ang="T6">
                <a:pos x="T0" y="T1"/>
              </a:cxn>
              <a:cxn ang="T7">
                <a:pos x="T2" y="T3"/>
              </a:cxn>
              <a:cxn ang="T8">
                <a:pos x="T4" y="T5"/>
              </a:cxn>
            </a:cxnLst>
            <a:rect l="T9" t="T10" r="T11" b="T12"/>
            <a:pathLst>
              <a:path w="1893" h="765">
                <a:moveTo>
                  <a:pt x="0" y="0"/>
                </a:moveTo>
                <a:lnTo>
                  <a:pt x="0" y="764"/>
                </a:lnTo>
                <a:lnTo>
                  <a:pt x="1892" y="764"/>
                </a:lnTo>
              </a:path>
            </a:pathLst>
          </a:custGeom>
          <a:noFill/>
          <a:ln w="25400" cap="rnd">
            <a:solidFill>
              <a:schemeClr val="bg2"/>
            </a:solidFill>
            <a:round/>
            <a:headEnd/>
            <a:tailEnd/>
          </a:ln>
        </p:spPr>
        <p:txBody>
          <a:bodyPr/>
          <a:lstStyle/>
          <a:p>
            <a:endParaRPr lang="en-GB"/>
          </a:p>
        </p:txBody>
      </p:sp>
      <p:sp>
        <p:nvSpPr>
          <p:cNvPr id="347143" name="Line 5"/>
          <p:cNvSpPr>
            <a:spLocks noChangeShapeType="1"/>
          </p:cNvSpPr>
          <p:nvPr/>
        </p:nvSpPr>
        <p:spPr bwMode="auto">
          <a:xfrm>
            <a:off x="2900363" y="3206750"/>
            <a:ext cx="1587" cy="0"/>
          </a:xfrm>
          <a:prstGeom prst="line">
            <a:avLst/>
          </a:prstGeom>
          <a:noFill/>
          <a:ln w="12700">
            <a:solidFill>
              <a:srgbClr val="CDCDCD"/>
            </a:solidFill>
            <a:round/>
            <a:headEnd/>
            <a:tailEnd/>
          </a:ln>
        </p:spPr>
        <p:txBody>
          <a:bodyPr wrap="none" anchor="ctr"/>
          <a:lstStyle/>
          <a:p>
            <a:endParaRPr lang="en-US"/>
          </a:p>
        </p:txBody>
      </p:sp>
      <p:sp>
        <p:nvSpPr>
          <p:cNvPr id="347144" name="Line 6"/>
          <p:cNvSpPr>
            <a:spLocks noChangeShapeType="1"/>
          </p:cNvSpPr>
          <p:nvPr/>
        </p:nvSpPr>
        <p:spPr bwMode="auto">
          <a:xfrm>
            <a:off x="2900363" y="3328988"/>
            <a:ext cx="1587" cy="0"/>
          </a:xfrm>
          <a:prstGeom prst="line">
            <a:avLst/>
          </a:prstGeom>
          <a:noFill/>
          <a:ln w="12700">
            <a:solidFill>
              <a:srgbClr val="CDCDCD"/>
            </a:solidFill>
            <a:round/>
            <a:headEnd/>
            <a:tailEnd/>
          </a:ln>
        </p:spPr>
        <p:txBody>
          <a:bodyPr wrap="none" anchor="ctr"/>
          <a:lstStyle/>
          <a:p>
            <a:endParaRPr lang="en-US"/>
          </a:p>
        </p:txBody>
      </p:sp>
      <p:sp>
        <p:nvSpPr>
          <p:cNvPr id="347145" name="Line 7"/>
          <p:cNvSpPr>
            <a:spLocks noChangeShapeType="1"/>
          </p:cNvSpPr>
          <p:nvPr/>
        </p:nvSpPr>
        <p:spPr bwMode="auto">
          <a:xfrm>
            <a:off x="2900363" y="3449638"/>
            <a:ext cx="1587" cy="0"/>
          </a:xfrm>
          <a:prstGeom prst="line">
            <a:avLst/>
          </a:prstGeom>
          <a:noFill/>
          <a:ln w="12700">
            <a:solidFill>
              <a:srgbClr val="CDCDCD"/>
            </a:solidFill>
            <a:round/>
            <a:headEnd/>
            <a:tailEnd/>
          </a:ln>
        </p:spPr>
        <p:txBody>
          <a:bodyPr wrap="none" anchor="ctr"/>
          <a:lstStyle/>
          <a:p>
            <a:endParaRPr lang="en-US"/>
          </a:p>
        </p:txBody>
      </p:sp>
      <p:sp>
        <p:nvSpPr>
          <p:cNvPr id="347146" name="Line 8"/>
          <p:cNvSpPr>
            <a:spLocks noChangeShapeType="1"/>
          </p:cNvSpPr>
          <p:nvPr/>
        </p:nvSpPr>
        <p:spPr bwMode="auto">
          <a:xfrm>
            <a:off x="2900363" y="3571875"/>
            <a:ext cx="1587" cy="0"/>
          </a:xfrm>
          <a:prstGeom prst="line">
            <a:avLst/>
          </a:prstGeom>
          <a:noFill/>
          <a:ln w="12700">
            <a:solidFill>
              <a:srgbClr val="CDCDCD"/>
            </a:solidFill>
            <a:round/>
            <a:headEnd/>
            <a:tailEnd/>
          </a:ln>
        </p:spPr>
        <p:txBody>
          <a:bodyPr wrap="none" anchor="ctr"/>
          <a:lstStyle/>
          <a:p>
            <a:endParaRPr lang="en-US"/>
          </a:p>
        </p:txBody>
      </p:sp>
      <p:sp>
        <p:nvSpPr>
          <p:cNvPr id="347147" name="Line 9"/>
          <p:cNvSpPr>
            <a:spLocks noChangeShapeType="1"/>
          </p:cNvSpPr>
          <p:nvPr/>
        </p:nvSpPr>
        <p:spPr bwMode="auto">
          <a:xfrm>
            <a:off x="2900363" y="3692525"/>
            <a:ext cx="1587" cy="0"/>
          </a:xfrm>
          <a:prstGeom prst="line">
            <a:avLst/>
          </a:prstGeom>
          <a:noFill/>
          <a:ln w="12700">
            <a:solidFill>
              <a:srgbClr val="CDCDCD"/>
            </a:solidFill>
            <a:round/>
            <a:headEnd/>
            <a:tailEnd/>
          </a:ln>
        </p:spPr>
        <p:txBody>
          <a:bodyPr wrap="none" anchor="ctr"/>
          <a:lstStyle/>
          <a:p>
            <a:endParaRPr lang="en-US"/>
          </a:p>
        </p:txBody>
      </p:sp>
      <p:sp>
        <p:nvSpPr>
          <p:cNvPr id="347148" name="Line 10"/>
          <p:cNvSpPr>
            <a:spLocks noChangeShapeType="1"/>
          </p:cNvSpPr>
          <p:nvPr/>
        </p:nvSpPr>
        <p:spPr bwMode="auto">
          <a:xfrm>
            <a:off x="2900363" y="3814763"/>
            <a:ext cx="1587" cy="0"/>
          </a:xfrm>
          <a:prstGeom prst="line">
            <a:avLst/>
          </a:prstGeom>
          <a:noFill/>
          <a:ln w="12700">
            <a:solidFill>
              <a:srgbClr val="CDCDCD"/>
            </a:solidFill>
            <a:round/>
            <a:headEnd/>
            <a:tailEnd/>
          </a:ln>
        </p:spPr>
        <p:txBody>
          <a:bodyPr wrap="none" anchor="ctr"/>
          <a:lstStyle/>
          <a:p>
            <a:endParaRPr lang="en-US"/>
          </a:p>
        </p:txBody>
      </p:sp>
      <p:sp>
        <p:nvSpPr>
          <p:cNvPr id="347149" name="Line 11"/>
          <p:cNvSpPr>
            <a:spLocks noChangeShapeType="1"/>
          </p:cNvSpPr>
          <p:nvPr/>
        </p:nvSpPr>
        <p:spPr bwMode="auto">
          <a:xfrm>
            <a:off x="2900363" y="3935413"/>
            <a:ext cx="1587" cy="0"/>
          </a:xfrm>
          <a:prstGeom prst="line">
            <a:avLst/>
          </a:prstGeom>
          <a:noFill/>
          <a:ln w="12700">
            <a:solidFill>
              <a:srgbClr val="CDCDCD"/>
            </a:solidFill>
            <a:round/>
            <a:headEnd/>
            <a:tailEnd/>
          </a:ln>
        </p:spPr>
        <p:txBody>
          <a:bodyPr wrap="none" anchor="ctr"/>
          <a:lstStyle/>
          <a:p>
            <a:endParaRPr lang="en-US"/>
          </a:p>
        </p:txBody>
      </p:sp>
      <p:sp>
        <p:nvSpPr>
          <p:cNvPr id="347150" name="Line 12"/>
          <p:cNvSpPr>
            <a:spLocks noChangeShapeType="1"/>
          </p:cNvSpPr>
          <p:nvPr/>
        </p:nvSpPr>
        <p:spPr bwMode="auto">
          <a:xfrm>
            <a:off x="2900363" y="4057650"/>
            <a:ext cx="1587" cy="0"/>
          </a:xfrm>
          <a:prstGeom prst="line">
            <a:avLst/>
          </a:prstGeom>
          <a:noFill/>
          <a:ln w="12700">
            <a:solidFill>
              <a:srgbClr val="CDCDCD"/>
            </a:solidFill>
            <a:round/>
            <a:headEnd/>
            <a:tailEnd/>
          </a:ln>
        </p:spPr>
        <p:txBody>
          <a:bodyPr wrap="none" anchor="ctr"/>
          <a:lstStyle/>
          <a:p>
            <a:endParaRPr lang="en-US"/>
          </a:p>
        </p:txBody>
      </p:sp>
      <p:sp>
        <p:nvSpPr>
          <p:cNvPr id="347151" name="Line 13"/>
          <p:cNvSpPr>
            <a:spLocks noChangeShapeType="1"/>
          </p:cNvSpPr>
          <p:nvPr/>
        </p:nvSpPr>
        <p:spPr bwMode="auto">
          <a:xfrm>
            <a:off x="2900363" y="4178300"/>
            <a:ext cx="1587" cy="0"/>
          </a:xfrm>
          <a:prstGeom prst="line">
            <a:avLst/>
          </a:prstGeom>
          <a:noFill/>
          <a:ln w="12700">
            <a:solidFill>
              <a:srgbClr val="CDCDCD"/>
            </a:solidFill>
            <a:round/>
            <a:headEnd/>
            <a:tailEnd/>
          </a:ln>
        </p:spPr>
        <p:txBody>
          <a:bodyPr wrap="none" anchor="ctr"/>
          <a:lstStyle/>
          <a:p>
            <a:endParaRPr lang="en-US"/>
          </a:p>
        </p:txBody>
      </p:sp>
      <p:sp>
        <p:nvSpPr>
          <p:cNvPr id="347152" name="Line 14"/>
          <p:cNvSpPr>
            <a:spLocks noChangeShapeType="1"/>
          </p:cNvSpPr>
          <p:nvPr/>
        </p:nvSpPr>
        <p:spPr bwMode="auto">
          <a:xfrm>
            <a:off x="2900363" y="4298950"/>
            <a:ext cx="1587" cy="0"/>
          </a:xfrm>
          <a:prstGeom prst="line">
            <a:avLst/>
          </a:prstGeom>
          <a:noFill/>
          <a:ln w="12700">
            <a:solidFill>
              <a:srgbClr val="CDCDCD"/>
            </a:solidFill>
            <a:round/>
            <a:headEnd/>
            <a:tailEnd/>
          </a:ln>
        </p:spPr>
        <p:txBody>
          <a:bodyPr wrap="none" anchor="ctr"/>
          <a:lstStyle/>
          <a:p>
            <a:endParaRPr lang="en-US"/>
          </a:p>
        </p:txBody>
      </p:sp>
      <p:sp>
        <p:nvSpPr>
          <p:cNvPr id="347153" name="Line 15"/>
          <p:cNvSpPr>
            <a:spLocks noChangeShapeType="1"/>
          </p:cNvSpPr>
          <p:nvPr/>
        </p:nvSpPr>
        <p:spPr bwMode="auto">
          <a:xfrm>
            <a:off x="5918200" y="4427538"/>
            <a:ext cx="0" cy="1587"/>
          </a:xfrm>
          <a:prstGeom prst="line">
            <a:avLst/>
          </a:prstGeom>
          <a:noFill/>
          <a:ln w="12700">
            <a:solidFill>
              <a:srgbClr val="CDCDCD"/>
            </a:solidFill>
            <a:round/>
            <a:headEnd/>
            <a:tailEnd/>
          </a:ln>
        </p:spPr>
        <p:txBody>
          <a:bodyPr wrap="none" anchor="ctr"/>
          <a:lstStyle/>
          <a:p>
            <a:endParaRPr lang="en-US"/>
          </a:p>
        </p:txBody>
      </p:sp>
      <p:sp>
        <p:nvSpPr>
          <p:cNvPr id="347154" name="Line 16"/>
          <p:cNvSpPr>
            <a:spLocks noChangeShapeType="1"/>
          </p:cNvSpPr>
          <p:nvPr/>
        </p:nvSpPr>
        <p:spPr bwMode="auto">
          <a:xfrm>
            <a:off x="5618163" y="4427538"/>
            <a:ext cx="0" cy="1587"/>
          </a:xfrm>
          <a:prstGeom prst="line">
            <a:avLst/>
          </a:prstGeom>
          <a:noFill/>
          <a:ln w="12700">
            <a:solidFill>
              <a:srgbClr val="CDCDCD"/>
            </a:solidFill>
            <a:round/>
            <a:headEnd/>
            <a:tailEnd/>
          </a:ln>
        </p:spPr>
        <p:txBody>
          <a:bodyPr wrap="none" anchor="ctr"/>
          <a:lstStyle/>
          <a:p>
            <a:endParaRPr lang="en-US"/>
          </a:p>
        </p:txBody>
      </p:sp>
      <p:sp>
        <p:nvSpPr>
          <p:cNvPr id="347155" name="Line 17"/>
          <p:cNvSpPr>
            <a:spLocks noChangeShapeType="1"/>
          </p:cNvSpPr>
          <p:nvPr/>
        </p:nvSpPr>
        <p:spPr bwMode="auto">
          <a:xfrm>
            <a:off x="5316538" y="4427538"/>
            <a:ext cx="0" cy="1587"/>
          </a:xfrm>
          <a:prstGeom prst="line">
            <a:avLst/>
          </a:prstGeom>
          <a:noFill/>
          <a:ln w="12700">
            <a:solidFill>
              <a:srgbClr val="CDCDCD"/>
            </a:solidFill>
            <a:round/>
            <a:headEnd/>
            <a:tailEnd/>
          </a:ln>
        </p:spPr>
        <p:txBody>
          <a:bodyPr wrap="none" anchor="ctr"/>
          <a:lstStyle/>
          <a:p>
            <a:endParaRPr lang="en-US"/>
          </a:p>
        </p:txBody>
      </p:sp>
      <p:sp>
        <p:nvSpPr>
          <p:cNvPr id="347156" name="Line 18"/>
          <p:cNvSpPr>
            <a:spLocks noChangeShapeType="1"/>
          </p:cNvSpPr>
          <p:nvPr/>
        </p:nvSpPr>
        <p:spPr bwMode="auto">
          <a:xfrm>
            <a:off x="5016500" y="4427538"/>
            <a:ext cx="0" cy="1587"/>
          </a:xfrm>
          <a:prstGeom prst="line">
            <a:avLst/>
          </a:prstGeom>
          <a:noFill/>
          <a:ln w="12700">
            <a:solidFill>
              <a:srgbClr val="CDCDCD"/>
            </a:solidFill>
            <a:round/>
            <a:headEnd/>
            <a:tailEnd/>
          </a:ln>
        </p:spPr>
        <p:txBody>
          <a:bodyPr wrap="none" anchor="ctr"/>
          <a:lstStyle/>
          <a:p>
            <a:endParaRPr lang="en-US"/>
          </a:p>
        </p:txBody>
      </p:sp>
      <p:sp>
        <p:nvSpPr>
          <p:cNvPr id="347157" name="Line 19"/>
          <p:cNvSpPr>
            <a:spLocks noChangeShapeType="1"/>
          </p:cNvSpPr>
          <p:nvPr/>
        </p:nvSpPr>
        <p:spPr bwMode="auto">
          <a:xfrm>
            <a:off x="4716463" y="4427538"/>
            <a:ext cx="0" cy="1587"/>
          </a:xfrm>
          <a:prstGeom prst="line">
            <a:avLst/>
          </a:prstGeom>
          <a:noFill/>
          <a:ln w="12700">
            <a:solidFill>
              <a:srgbClr val="CDCDCD"/>
            </a:solidFill>
            <a:round/>
            <a:headEnd/>
            <a:tailEnd/>
          </a:ln>
        </p:spPr>
        <p:txBody>
          <a:bodyPr wrap="none" anchor="ctr"/>
          <a:lstStyle/>
          <a:p>
            <a:endParaRPr lang="en-US"/>
          </a:p>
        </p:txBody>
      </p:sp>
      <p:sp>
        <p:nvSpPr>
          <p:cNvPr id="347158" name="Line 20"/>
          <p:cNvSpPr>
            <a:spLocks noChangeShapeType="1"/>
          </p:cNvSpPr>
          <p:nvPr/>
        </p:nvSpPr>
        <p:spPr bwMode="auto">
          <a:xfrm>
            <a:off x="4416425" y="4427538"/>
            <a:ext cx="0" cy="1587"/>
          </a:xfrm>
          <a:prstGeom prst="line">
            <a:avLst/>
          </a:prstGeom>
          <a:noFill/>
          <a:ln w="12700">
            <a:solidFill>
              <a:srgbClr val="CDCDCD"/>
            </a:solidFill>
            <a:round/>
            <a:headEnd/>
            <a:tailEnd/>
          </a:ln>
        </p:spPr>
        <p:txBody>
          <a:bodyPr wrap="none" anchor="ctr"/>
          <a:lstStyle/>
          <a:p>
            <a:endParaRPr lang="en-US"/>
          </a:p>
        </p:txBody>
      </p:sp>
      <p:sp>
        <p:nvSpPr>
          <p:cNvPr id="347159" name="Line 21"/>
          <p:cNvSpPr>
            <a:spLocks noChangeShapeType="1"/>
          </p:cNvSpPr>
          <p:nvPr/>
        </p:nvSpPr>
        <p:spPr bwMode="auto">
          <a:xfrm>
            <a:off x="4116388" y="4427538"/>
            <a:ext cx="0" cy="1587"/>
          </a:xfrm>
          <a:prstGeom prst="line">
            <a:avLst/>
          </a:prstGeom>
          <a:noFill/>
          <a:ln w="12700">
            <a:solidFill>
              <a:srgbClr val="CDCDCD"/>
            </a:solidFill>
            <a:round/>
            <a:headEnd/>
            <a:tailEnd/>
          </a:ln>
        </p:spPr>
        <p:txBody>
          <a:bodyPr wrap="none" anchor="ctr"/>
          <a:lstStyle/>
          <a:p>
            <a:endParaRPr lang="en-US"/>
          </a:p>
        </p:txBody>
      </p:sp>
      <p:sp>
        <p:nvSpPr>
          <p:cNvPr id="347160" name="Line 22"/>
          <p:cNvSpPr>
            <a:spLocks noChangeShapeType="1"/>
          </p:cNvSpPr>
          <p:nvPr/>
        </p:nvSpPr>
        <p:spPr bwMode="auto">
          <a:xfrm>
            <a:off x="3816350" y="4427538"/>
            <a:ext cx="0" cy="1587"/>
          </a:xfrm>
          <a:prstGeom prst="line">
            <a:avLst/>
          </a:prstGeom>
          <a:noFill/>
          <a:ln w="12700">
            <a:solidFill>
              <a:srgbClr val="CDCDCD"/>
            </a:solidFill>
            <a:round/>
            <a:headEnd/>
            <a:tailEnd/>
          </a:ln>
        </p:spPr>
        <p:txBody>
          <a:bodyPr wrap="none" anchor="ctr"/>
          <a:lstStyle/>
          <a:p>
            <a:endParaRPr lang="en-US"/>
          </a:p>
        </p:txBody>
      </p:sp>
      <p:sp>
        <p:nvSpPr>
          <p:cNvPr id="347161" name="Line 23"/>
          <p:cNvSpPr>
            <a:spLocks noChangeShapeType="1"/>
          </p:cNvSpPr>
          <p:nvPr/>
        </p:nvSpPr>
        <p:spPr bwMode="auto">
          <a:xfrm>
            <a:off x="3514725" y="4427538"/>
            <a:ext cx="0" cy="1587"/>
          </a:xfrm>
          <a:prstGeom prst="line">
            <a:avLst/>
          </a:prstGeom>
          <a:noFill/>
          <a:ln w="12700">
            <a:solidFill>
              <a:srgbClr val="CDCDCD"/>
            </a:solidFill>
            <a:round/>
            <a:headEnd/>
            <a:tailEnd/>
          </a:ln>
        </p:spPr>
        <p:txBody>
          <a:bodyPr wrap="none" anchor="ctr"/>
          <a:lstStyle/>
          <a:p>
            <a:endParaRPr lang="en-US"/>
          </a:p>
        </p:txBody>
      </p:sp>
      <p:sp>
        <p:nvSpPr>
          <p:cNvPr id="347162" name="Line 24"/>
          <p:cNvSpPr>
            <a:spLocks noChangeShapeType="1"/>
          </p:cNvSpPr>
          <p:nvPr/>
        </p:nvSpPr>
        <p:spPr bwMode="auto">
          <a:xfrm>
            <a:off x="3214688" y="4427538"/>
            <a:ext cx="0" cy="1587"/>
          </a:xfrm>
          <a:prstGeom prst="line">
            <a:avLst/>
          </a:prstGeom>
          <a:noFill/>
          <a:ln w="12700">
            <a:solidFill>
              <a:srgbClr val="CDCDCD"/>
            </a:solidFill>
            <a:round/>
            <a:headEnd/>
            <a:tailEnd/>
          </a:ln>
        </p:spPr>
        <p:txBody>
          <a:bodyPr wrap="none" anchor="ctr"/>
          <a:lstStyle/>
          <a:p>
            <a:endParaRPr lang="en-US"/>
          </a:p>
        </p:txBody>
      </p:sp>
      <p:sp>
        <p:nvSpPr>
          <p:cNvPr id="347163" name="Rectangle 25"/>
          <p:cNvSpPr>
            <a:spLocks noChangeArrowheads="1"/>
          </p:cNvSpPr>
          <p:nvPr/>
        </p:nvSpPr>
        <p:spPr bwMode="auto">
          <a:xfrm>
            <a:off x="2787650" y="3722688"/>
            <a:ext cx="92075" cy="184150"/>
          </a:xfrm>
          <a:prstGeom prst="rect">
            <a:avLst/>
          </a:prstGeom>
          <a:noFill/>
          <a:ln w="12700">
            <a:noFill/>
            <a:miter lim="800000"/>
            <a:headEnd/>
            <a:tailEnd/>
          </a:ln>
        </p:spPr>
        <p:txBody>
          <a:bodyPr wrap="none" anchor="ctr"/>
          <a:lstStyle/>
          <a:p>
            <a:pPr algn="ctr">
              <a:spcBef>
                <a:spcPct val="50000"/>
              </a:spcBef>
            </a:pPr>
            <a:endParaRPr lang="en-GB"/>
          </a:p>
        </p:txBody>
      </p:sp>
      <p:sp>
        <p:nvSpPr>
          <p:cNvPr id="347164" name="Rectangle 26"/>
          <p:cNvSpPr>
            <a:spLocks noChangeArrowheads="1"/>
          </p:cNvSpPr>
          <p:nvPr/>
        </p:nvSpPr>
        <p:spPr bwMode="auto">
          <a:xfrm>
            <a:off x="4324350" y="4397375"/>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347165" name="Rectangle 27"/>
          <p:cNvSpPr>
            <a:spLocks noChangeArrowheads="1"/>
          </p:cNvSpPr>
          <p:nvPr/>
        </p:nvSpPr>
        <p:spPr bwMode="auto">
          <a:xfrm>
            <a:off x="7010400" y="5410200"/>
            <a:ext cx="384175" cy="454025"/>
          </a:xfrm>
          <a:prstGeom prst="rect">
            <a:avLst/>
          </a:prstGeom>
          <a:noFill/>
          <a:ln w="12700">
            <a:noFill/>
            <a:miter lim="800000"/>
            <a:headEnd/>
            <a:tailEnd/>
          </a:ln>
        </p:spPr>
        <p:txBody>
          <a:bodyPr wrap="none" lIns="90487" tIns="44450" rIns="90487" bIns="44450">
            <a:spAutoFit/>
          </a:bodyPr>
          <a:lstStyle/>
          <a:p>
            <a:pPr eaLnBrk="0" hangingPunct="0"/>
            <a:r>
              <a:rPr lang="en-US" b="1">
                <a:solidFill>
                  <a:srgbClr val="339933"/>
                </a:solidFill>
              </a:rPr>
              <a:t>X</a:t>
            </a:r>
          </a:p>
        </p:txBody>
      </p:sp>
      <p:sp>
        <p:nvSpPr>
          <p:cNvPr id="347166" name="Rectangle 28"/>
          <p:cNvSpPr>
            <a:spLocks noChangeArrowheads="1"/>
          </p:cNvSpPr>
          <p:nvPr/>
        </p:nvSpPr>
        <p:spPr bwMode="auto">
          <a:xfrm>
            <a:off x="1295400" y="2362200"/>
            <a:ext cx="688975" cy="454025"/>
          </a:xfrm>
          <a:prstGeom prst="rect">
            <a:avLst/>
          </a:prstGeom>
          <a:noFill/>
          <a:ln w="12700">
            <a:noFill/>
            <a:miter lim="800000"/>
            <a:headEnd/>
            <a:tailEnd/>
          </a:ln>
        </p:spPr>
        <p:txBody>
          <a:bodyPr wrap="none" lIns="90487" tIns="44450" rIns="90487" bIns="44450">
            <a:spAutoFit/>
          </a:bodyPr>
          <a:lstStyle/>
          <a:p>
            <a:pPr eaLnBrk="0" hangingPunct="0"/>
            <a:r>
              <a:rPr lang="en-US" b="1">
                <a:solidFill>
                  <a:srgbClr val="339933"/>
                </a:solidFill>
              </a:rPr>
              <a:t>f(X)</a:t>
            </a:r>
          </a:p>
        </p:txBody>
      </p:sp>
      <p:sp>
        <p:nvSpPr>
          <p:cNvPr id="347167" name="Rectangle 29"/>
          <p:cNvSpPr>
            <a:spLocks noChangeArrowheads="1"/>
          </p:cNvSpPr>
          <p:nvPr/>
        </p:nvSpPr>
        <p:spPr bwMode="auto">
          <a:xfrm>
            <a:off x="4114800" y="5410200"/>
            <a:ext cx="479425" cy="454025"/>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l-GR" b="1">
                <a:solidFill>
                  <a:srgbClr val="339933"/>
                </a:solidFill>
                <a:cs typeface="Arial" charset="0"/>
              </a:rPr>
              <a:t>μ</a:t>
            </a:r>
          </a:p>
        </p:txBody>
      </p:sp>
      <p:sp>
        <p:nvSpPr>
          <p:cNvPr id="347168" name="Rectangle 30"/>
          <p:cNvSpPr>
            <a:spLocks noChangeArrowheads="1"/>
          </p:cNvSpPr>
          <p:nvPr/>
        </p:nvSpPr>
        <p:spPr bwMode="auto">
          <a:xfrm>
            <a:off x="4495800" y="4191000"/>
            <a:ext cx="479425" cy="454025"/>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l-GR" b="1">
                <a:solidFill>
                  <a:srgbClr val="339933"/>
                </a:solidFill>
                <a:cs typeface="Arial" charset="0"/>
              </a:rPr>
              <a:t>σ</a:t>
            </a:r>
          </a:p>
        </p:txBody>
      </p:sp>
      <p:sp>
        <p:nvSpPr>
          <p:cNvPr id="347169" name="Freeform 31"/>
          <p:cNvSpPr>
            <a:spLocks/>
          </p:cNvSpPr>
          <p:nvPr/>
        </p:nvSpPr>
        <p:spPr bwMode="auto">
          <a:xfrm>
            <a:off x="4267200" y="3429000"/>
            <a:ext cx="2438400" cy="1905000"/>
          </a:xfrm>
          <a:custGeom>
            <a:avLst/>
            <a:gdLst>
              <a:gd name="T0" fmla="*/ 2435694 w 901"/>
              <a:gd name="T1" fmla="*/ 1902358 h 721"/>
              <a:gd name="T2" fmla="*/ 2178593 w 901"/>
              <a:gd name="T3" fmla="*/ 1881221 h 721"/>
              <a:gd name="T4" fmla="*/ 2051395 w 901"/>
              <a:gd name="T5" fmla="*/ 1860083 h 721"/>
              <a:gd name="T6" fmla="*/ 1924198 w 901"/>
              <a:gd name="T7" fmla="*/ 1825735 h 721"/>
              <a:gd name="T8" fmla="*/ 1794295 w 901"/>
              <a:gd name="T9" fmla="*/ 1783461 h 721"/>
              <a:gd name="T10" fmla="*/ 1664391 w 901"/>
              <a:gd name="T11" fmla="*/ 1725333 h 721"/>
              <a:gd name="T12" fmla="*/ 1537194 w 901"/>
              <a:gd name="T13" fmla="*/ 1646068 h 721"/>
              <a:gd name="T14" fmla="*/ 1280092 w 901"/>
              <a:gd name="T15" fmla="*/ 1426769 h 721"/>
              <a:gd name="T16" fmla="*/ 1022991 w 901"/>
              <a:gd name="T17" fmla="*/ 1114993 h 721"/>
              <a:gd name="T18" fmla="*/ 768597 w 901"/>
              <a:gd name="T19" fmla="*/ 742448 h 721"/>
              <a:gd name="T20" fmla="*/ 638693 w 901"/>
              <a:gd name="T21" fmla="*/ 552212 h 721"/>
              <a:gd name="T22" fmla="*/ 511496 w 901"/>
              <a:gd name="T23" fmla="*/ 375187 h 721"/>
              <a:gd name="T24" fmla="*/ 384298 w 901"/>
              <a:gd name="T25" fmla="*/ 219300 h 721"/>
              <a:gd name="T26" fmla="*/ 254395 w 901"/>
              <a:gd name="T27" fmla="*/ 100402 h 721"/>
              <a:gd name="T28" fmla="*/ 127197 w 901"/>
              <a:gd name="T29" fmla="*/ 23779 h 721"/>
              <a:gd name="T30" fmla="*/ 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a:solidFill>
              <a:srgbClr val="008000"/>
            </a:solidFill>
            <a:round/>
            <a:headEnd/>
            <a:tailEnd/>
          </a:ln>
        </p:spPr>
        <p:txBody>
          <a:bodyPr/>
          <a:lstStyle/>
          <a:p>
            <a:endParaRPr lang="en-GB"/>
          </a:p>
        </p:txBody>
      </p:sp>
      <p:sp>
        <p:nvSpPr>
          <p:cNvPr id="347170" name="Freeform 32"/>
          <p:cNvSpPr>
            <a:spLocks/>
          </p:cNvSpPr>
          <p:nvPr/>
        </p:nvSpPr>
        <p:spPr bwMode="auto">
          <a:xfrm>
            <a:off x="1905000" y="3429000"/>
            <a:ext cx="2344738" cy="1905000"/>
          </a:xfrm>
          <a:custGeom>
            <a:avLst/>
            <a:gdLst>
              <a:gd name="T0" fmla="*/ 0 w 901"/>
              <a:gd name="T1" fmla="*/ 1902358 h 721"/>
              <a:gd name="T2" fmla="*/ 247225 w 901"/>
              <a:gd name="T3" fmla="*/ 1881221 h 721"/>
              <a:gd name="T4" fmla="*/ 369537 w 901"/>
              <a:gd name="T5" fmla="*/ 1860083 h 721"/>
              <a:gd name="T6" fmla="*/ 491849 w 901"/>
              <a:gd name="T7" fmla="*/ 1825735 h 721"/>
              <a:gd name="T8" fmla="*/ 616762 w 901"/>
              <a:gd name="T9" fmla="*/ 1783461 h 721"/>
              <a:gd name="T10" fmla="*/ 739074 w 901"/>
              <a:gd name="T11" fmla="*/ 1725333 h 721"/>
              <a:gd name="T12" fmla="*/ 861386 w 901"/>
              <a:gd name="T13" fmla="*/ 1646068 h 721"/>
              <a:gd name="T14" fmla="*/ 1108611 w 901"/>
              <a:gd name="T15" fmla="*/ 1426769 h 721"/>
              <a:gd name="T16" fmla="*/ 1355837 w 901"/>
              <a:gd name="T17" fmla="*/ 1114993 h 721"/>
              <a:gd name="T18" fmla="*/ 1603062 w 901"/>
              <a:gd name="T19" fmla="*/ 742448 h 721"/>
              <a:gd name="T20" fmla="*/ 1725373 w 901"/>
              <a:gd name="T21" fmla="*/ 552212 h 721"/>
              <a:gd name="T22" fmla="*/ 1847685 w 901"/>
              <a:gd name="T23" fmla="*/ 375187 h 721"/>
              <a:gd name="T24" fmla="*/ 1969996 w 901"/>
              <a:gd name="T25" fmla="*/ 219300 h 721"/>
              <a:gd name="T26" fmla="*/ 2094910 w 901"/>
              <a:gd name="T27" fmla="*/ 100402 h 721"/>
              <a:gd name="T28" fmla="*/ 2217222 w 901"/>
              <a:gd name="T29" fmla="*/ 23779 h 721"/>
              <a:gd name="T30" fmla="*/ 2342136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a:solidFill>
              <a:srgbClr val="008000"/>
            </a:solidFill>
            <a:round/>
            <a:headEnd/>
            <a:tailEnd/>
          </a:ln>
        </p:spPr>
        <p:txBody>
          <a:bodyPr/>
          <a:lstStyle/>
          <a:p>
            <a:endParaRPr lang="en-GB"/>
          </a:p>
        </p:txBody>
      </p:sp>
      <p:sp>
        <p:nvSpPr>
          <p:cNvPr id="347171" name="Line 33"/>
          <p:cNvSpPr>
            <a:spLocks noChangeShapeType="1"/>
          </p:cNvSpPr>
          <p:nvPr/>
        </p:nvSpPr>
        <p:spPr bwMode="auto">
          <a:xfrm>
            <a:off x="4267200" y="3505200"/>
            <a:ext cx="0" cy="1905000"/>
          </a:xfrm>
          <a:prstGeom prst="line">
            <a:avLst/>
          </a:prstGeom>
          <a:noFill/>
          <a:ln w="12700">
            <a:solidFill>
              <a:schemeClr val="bg2"/>
            </a:solidFill>
            <a:round/>
            <a:headEnd/>
            <a:tailEnd/>
          </a:ln>
        </p:spPr>
        <p:txBody>
          <a:bodyPr wrap="none" anchor="ctr"/>
          <a:lstStyle/>
          <a:p>
            <a:endParaRPr lang="en-US"/>
          </a:p>
        </p:txBody>
      </p:sp>
      <p:sp>
        <p:nvSpPr>
          <p:cNvPr id="347172" name="Text Box 34"/>
          <p:cNvSpPr txBox="1">
            <a:spLocks noChangeArrowheads="1"/>
          </p:cNvSpPr>
          <p:nvPr/>
        </p:nvSpPr>
        <p:spPr bwMode="auto">
          <a:xfrm>
            <a:off x="2819400" y="2438400"/>
            <a:ext cx="3276600" cy="822325"/>
          </a:xfrm>
          <a:prstGeom prst="rect">
            <a:avLst/>
          </a:prstGeom>
          <a:noFill/>
          <a:ln w="12700">
            <a:noFill/>
            <a:miter lim="800000"/>
            <a:headEnd/>
            <a:tailEnd/>
          </a:ln>
        </p:spPr>
        <p:txBody>
          <a:bodyPr>
            <a:spAutoFit/>
          </a:bodyPr>
          <a:lstStyle/>
          <a:p>
            <a:pPr eaLnBrk="0" hangingPunct="0">
              <a:spcBef>
                <a:spcPct val="50000"/>
              </a:spcBef>
            </a:pPr>
            <a:r>
              <a:rPr lang="en-US">
                <a:solidFill>
                  <a:schemeClr val="bg2"/>
                </a:solidFill>
              </a:rPr>
              <a:t>Changing</a:t>
            </a:r>
            <a:r>
              <a:rPr lang="en-US">
                <a:solidFill>
                  <a:schemeClr val="bg2"/>
                </a:solidFill>
                <a:sym typeface="Arial" charset="0"/>
              </a:rPr>
              <a:t> </a:t>
            </a:r>
            <a:r>
              <a:rPr lang="el-GR" b="1">
                <a:solidFill>
                  <a:schemeClr val="folHlink"/>
                </a:solidFill>
                <a:cs typeface="Arial" charset="0"/>
              </a:rPr>
              <a:t>μ</a:t>
            </a:r>
            <a:r>
              <a:rPr lang="en-US">
                <a:solidFill>
                  <a:schemeClr val="bg2"/>
                </a:solidFill>
              </a:rPr>
              <a:t> shifts the distribution left or right</a:t>
            </a:r>
            <a:r>
              <a:rPr lang="en-US"/>
              <a:t>.</a:t>
            </a:r>
          </a:p>
        </p:txBody>
      </p:sp>
      <p:sp>
        <p:nvSpPr>
          <p:cNvPr id="347173" name="Text Box 35"/>
          <p:cNvSpPr txBox="1">
            <a:spLocks noChangeArrowheads="1"/>
          </p:cNvSpPr>
          <p:nvPr/>
        </p:nvSpPr>
        <p:spPr bwMode="auto">
          <a:xfrm>
            <a:off x="5410200" y="3581400"/>
            <a:ext cx="3429000" cy="1187450"/>
          </a:xfrm>
          <a:prstGeom prst="rect">
            <a:avLst/>
          </a:prstGeom>
          <a:noFill/>
          <a:ln w="12700">
            <a:noFill/>
            <a:miter lim="800000"/>
            <a:headEnd/>
            <a:tailEnd/>
          </a:ln>
        </p:spPr>
        <p:txBody>
          <a:bodyPr>
            <a:spAutoFit/>
          </a:bodyPr>
          <a:lstStyle/>
          <a:p>
            <a:pPr eaLnBrk="0" hangingPunct="0">
              <a:spcBef>
                <a:spcPct val="50000"/>
              </a:spcBef>
            </a:pPr>
            <a:r>
              <a:rPr lang="en-US">
                <a:solidFill>
                  <a:schemeClr val="bg2"/>
                </a:solidFill>
              </a:rPr>
              <a:t>Changing </a:t>
            </a:r>
            <a:r>
              <a:rPr lang="el-GR">
                <a:solidFill>
                  <a:schemeClr val="folHlink"/>
                </a:solidFill>
                <a:cs typeface="Arial" charset="0"/>
              </a:rPr>
              <a:t>σ</a:t>
            </a:r>
            <a:r>
              <a:rPr lang="en-US">
                <a:solidFill>
                  <a:schemeClr val="bg2"/>
                </a:solidFill>
              </a:rPr>
              <a:t> increases or decreases the spread.</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1" name="Rectangle 4"/>
          <p:cNvSpPr>
            <a:spLocks noGrp="1" noChangeArrowheads="1"/>
          </p:cNvSpPr>
          <p:nvPr>
            <p:ph type="ftr" sz="quarter" idx="10"/>
          </p:nvPr>
        </p:nvSpPr>
        <p:spPr>
          <a:noFill/>
        </p:spPr>
        <p:txBody>
          <a:bodyPr/>
          <a:lstStyle/>
          <a:p>
            <a:r>
              <a:rPr lang="en-US" smtClean="0"/>
              <a:t>Copyright ©2012 Pearson Education</a:t>
            </a:r>
          </a:p>
        </p:txBody>
      </p:sp>
      <p:sp>
        <p:nvSpPr>
          <p:cNvPr id="348162" name="Rectangle 5"/>
          <p:cNvSpPr>
            <a:spLocks noGrp="1" noChangeArrowheads="1"/>
          </p:cNvSpPr>
          <p:nvPr>
            <p:ph type="sldNum" sz="quarter" idx="11"/>
          </p:nvPr>
        </p:nvSpPr>
        <p:spPr>
          <a:noFill/>
        </p:spPr>
        <p:txBody>
          <a:bodyPr/>
          <a:lstStyle/>
          <a:p>
            <a:r>
              <a:rPr lang="en-US" smtClean="0"/>
              <a:t>Chap 6-</a:t>
            </a:r>
            <a:fld id="{ADFC3B3E-EF1F-4994-90A0-CB9EA49BC3C5}" type="slidenum">
              <a:rPr lang="en-US" smtClean="0"/>
              <a:pPr/>
              <a:t>8</a:t>
            </a:fld>
            <a:endParaRPr lang="en-US" smtClean="0"/>
          </a:p>
        </p:txBody>
      </p:sp>
      <p:sp>
        <p:nvSpPr>
          <p:cNvPr id="348163" name="Slide Number Placeholder 2"/>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71BAC107-0438-4568-B290-51B84DCB2DCF}" type="slidenum">
              <a:rPr lang="en-US" sz="1000"/>
              <a:pPr algn="r" defTabSz="852488"/>
              <a:t>8</a:t>
            </a:fld>
            <a:endParaRPr lang="en-US" sz="1000"/>
          </a:p>
        </p:txBody>
      </p:sp>
      <p:sp>
        <p:nvSpPr>
          <p:cNvPr id="348164" name="Rectangle 2"/>
          <p:cNvSpPr>
            <a:spLocks noGrp="1" noChangeArrowheads="1"/>
          </p:cNvSpPr>
          <p:nvPr>
            <p:ph type="title" idx="4294967295"/>
          </p:nvPr>
        </p:nvSpPr>
        <p:spPr>
          <a:xfrm>
            <a:off x="1600200" y="304800"/>
            <a:ext cx="6781800" cy="838200"/>
          </a:xfrm>
        </p:spPr>
        <p:txBody>
          <a:bodyPr/>
          <a:lstStyle/>
          <a:p>
            <a:pPr defTabSz="914400" eaLnBrk="1" hangingPunct="1"/>
            <a:r>
              <a:rPr lang="en-US" sz="3900" smtClean="0"/>
              <a:t>The Standardized Normal</a:t>
            </a:r>
          </a:p>
        </p:txBody>
      </p:sp>
      <p:sp>
        <p:nvSpPr>
          <p:cNvPr id="348165" name="Rectangle 3"/>
          <p:cNvSpPr>
            <a:spLocks noGrp="1" noChangeArrowheads="1"/>
          </p:cNvSpPr>
          <p:nvPr>
            <p:ph type="body" idx="4294967295"/>
          </p:nvPr>
        </p:nvSpPr>
        <p:spPr>
          <a:xfrm>
            <a:off x="609600" y="2163763"/>
            <a:ext cx="8077200" cy="3441700"/>
          </a:xfrm>
        </p:spPr>
        <p:txBody>
          <a:bodyPr/>
          <a:lstStyle/>
          <a:p>
            <a:pPr marL="571500" indent="-571500" defTabSz="914400" eaLnBrk="1" hangingPunct="1">
              <a:lnSpc>
                <a:spcPct val="90000"/>
              </a:lnSpc>
            </a:pPr>
            <a:r>
              <a:rPr lang="en-US" smtClean="0">
                <a:solidFill>
                  <a:schemeClr val="folHlink"/>
                </a:solidFill>
              </a:rPr>
              <a:t>Any</a:t>
            </a:r>
            <a:r>
              <a:rPr lang="en-US" smtClean="0"/>
              <a:t> normal distribution (with any mean and standard deviation combination) can be transformed into the </a:t>
            </a:r>
            <a:r>
              <a:rPr lang="en-US" smtClean="0">
                <a:solidFill>
                  <a:schemeClr val="folHlink"/>
                </a:solidFill>
              </a:rPr>
              <a:t>standardized normal</a:t>
            </a:r>
            <a:r>
              <a:rPr lang="en-US" smtClean="0">
                <a:solidFill>
                  <a:schemeClr val="bg1"/>
                </a:solidFill>
              </a:rPr>
              <a:t> </a:t>
            </a:r>
            <a:r>
              <a:rPr lang="en-US" smtClean="0">
                <a:solidFill>
                  <a:schemeClr val="folHlink"/>
                </a:solidFill>
              </a:rPr>
              <a:t>distribution (Z)</a:t>
            </a:r>
          </a:p>
          <a:p>
            <a:pPr marL="571500" indent="-571500" defTabSz="914400" eaLnBrk="1" hangingPunct="1">
              <a:lnSpc>
                <a:spcPct val="90000"/>
              </a:lnSpc>
            </a:pPr>
            <a:endParaRPr lang="en-US" smtClean="0">
              <a:solidFill>
                <a:schemeClr val="folHlink"/>
              </a:solidFill>
            </a:endParaRPr>
          </a:p>
          <a:p>
            <a:pPr marL="571500" indent="-571500" defTabSz="914400" eaLnBrk="1" hangingPunct="1">
              <a:lnSpc>
                <a:spcPct val="90000"/>
              </a:lnSpc>
            </a:pPr>
            <a:r>
              <a:rPr lang="en-US" smtClean="0"/>
              <a:t>Need to transform  X  units into  </a:t>
            </a:r>
            <a:r>
              <a:rPr lang="en-US" smtClean="0">
                <a:solidFill>
                  <a:schemeClr val="folHlink"/>
                </a:solidFill>
              </a:rPr>
              <a:t>Z  </a:t>
            </a:r>
            <a:r>
              <a:rPr lang="en-US" smtClean="0"/>
              <a:t>units</a:t>
            </a:r>
          </a:p>
          <a:p>
            <a:pPr marL="571500" indent="-571500" defTabSz="914400" eaLnBrk="1" hangingPunct="1">
              <a:lnSpc>
                <a:spcPct val="90000"/>
              </a:lnSpc>
            </a:pPr>
            <a:endParaRPr lang="en-US" smtClean="0"/>
          </a:p>
          <a:p>
            <a:pPr marL="571500" indent="-571500" defTabSz="914400" eaLnBrk="1" hangingPunct="1">
              <a:lnSpc>
                <a:spcPct val="90000"/>
              </a:lnSpc>
            </a:pPr>
            <a:r>
              <a:rPr lang="en-US" smtClean="0"/>
              <a:t>The standardized normal distribution (</a:t>
            </a:r>
            <a:r>
              <a:rPr lang="en-US" smtClean="0">
                <a:solidFill>
                  <a:schemeClr val="folHlink"/>
                </a:solidFill>
              </a:rPr>
              <a:t>Z</a:t>
            </a:r>
            <a:r>
              <a:rPr lang="en-US" smtClean="0"/>
              <a:t>) has a mean of 0 and a standard deviation of 1</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5" name="Rectangle 4"/>
          <p:cNvSpPr>
            <a:spLocks noGrp="1" noChangeArrowheads="1"/>
          </p:cNvSpPr>
          <p:nvPr>
            <p:ph type="ftr" sz="quarter" idx="10"/>
          </p:nvPr>
        </p:nvSpPr>
        <p:spPr>
          <a:noFill/>
        </p:spPr>
        <p:txBody>
          <a:bodyPr/>
          <a:lstStyle/>
          <a:p>
            <a:r>
              <a:rPr lang="en-US" smtClean="0"/>
              <a:t>Copyright ©2012 Pearson Education</a:t>
            </a:r>
          </a:p>
        </p:txBody>
      </p:sp>
      <p:sp>
        <p:nvSpPr>
          <p:cNvPr id="209926" name="Rectangle 5"/>
          <p:cNvSpPr>
            <a:spLocks noGrp="1" noChangeArrowheads="1"/>
          </p:cNvSpPr>
          <p:nvPr>
            <p:ph type="sldNum" sz="quarter" idx="11"/>
          </p:nvPr>
        </p:nvSpPr>
        <p:spPr>
          <a:noFill/>
        </p:spPr>
        <p:txBody>
          <a:bodyPr/>
          <a:lstStyle/>
          <a:p>
            <a:r>
              <a:rPr lang="en-US" smtClean="0"/>
              <a:t>Chap 6-</a:t>
            </a:r>
            <a:fld id="{49C05D66-1A6F-4D1A-BF74-8F42834671BD}" type="slidenum">
              <a:rPr lang="en-US" smtClean="0"/>
              <a:pPr/>
              <a:t>9</a:t>
            </a:fld>
            <a:endParaRPr lang="en-US" smtClean="0"/>
          </a:p>
        </p:txBody>
      </p:sp>
      <p:sp>
        <p:nvSpPr>
          <p:cNvPr id="209927" name="Slide Number Placeholder 2"/>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937D3C0D-03D9-49EC-9841-855275998F82}" type="slidenum">
              <a:rPr lang="en-US" sz="1000"/>
              <a:pPr algn="r" defTabSz="852488"/>
              <a:t>9</a:t>
            </a:fld>
            <a:endParaRPr lang="en-US" sz="1000"/>
          </a:p>
        </p:txBody>
      </p:sp>
      <p:sp>
        <p:nvSpPr>
          <p:cNvPr id="209928" name="Rectangle 2"/>
          <p:cNvSpPr>
            <a:spLocks noGrp="1" noChangeArrowheads="1"/>
          </p:cNvSpPr>
          <p:nvPr>
            <p:ph type="title" idx="4294967295"/>
          </p:nvPr>
        </p:nvSpPr>
        <p:spPr>
          <a:xfrm>
            <a:off x="1524000" y="228600"/>
            <a:ext cx="6781800" cy="1143000"/>
          </a:xfrm>
        </p:spPr>
        <p:txBody>
          <a:bodyPr/>
          <a:lstStyle/>
          <a:p>
            <a:pPr defTabSz="914400" eaLnBrk="1" hangingPunct="1">
              <a:lnSpc>
                <a:spcPct val="80000"/>
              </a:lnSpc>
            </a:pPr>
            <a:r>
              <a:rPr lang="en-US" sz="3600" smtClean="0"/>
              <a:t>Translation to the Standardized Normal Distribution</a:t>
            </a:r>
          </a:p>
        </p:txBody>
      </p:sp>
      <p:sp>
        <p:nvSpPr>
          <p:cNvPr id="209929" name="Rectangle 3"/>
          <p:cNvSpPr>
            <a:spLocks noGrp="1" noChangeArrowheads="1"/>
          </p:cNvSpPr>
          <p:nvPr>
            <p:ph type="body" idx="4294967295"/>
          </p:nvPr>
        </p:nvSpPr>
        <p:spPr>
          <a:xfrm>
            <a:off x="685800" y="1905000"/>
            <a:ext cx="8077200" cy="1600200"/>
          </a:xfrm>
        </p:spPr>
        <p:txBody>
          <a:bodyPr/>
          <a:lstStyle/>
          <a:p>
            <a:pPr marL="571500" indent="-571500" defTabSz="914400" eaLnBrk="1" hangingPunct="1"/>
            <a:r>
              <a:rPr lang="en-US" smtClean="0"/>
              <a:t>Translate from X to the standardized normal (the “Z” distribution) by </a:t>
            </a:r>
            <a:r>
              <a:rPr lang="en-US" smtClean="0">
                <a:solidFill>
                  <a:schemeClr val="folHlink"/>
                </a:solidFill>
              </a:rPr>
              <a:t>subtracting the mean</a:t>
            </a:r>
            <a:r>
              <a:rPr lang="en-US" smtClean="0"/>
              <a:t> of X and </a:t>
            </a:r>
            <a:r>
              <a:rPr lang="en-US" smtClean="0">
                <a:solidFill>
                  <a:schemeClr val="folHlink"/>
                </a:solidFill>
              </a:rPr>
              <a:t>dividing by its standard deviation</a:t>
            </a:r>
            <a:r>
              <a:rPr lang="en-US" smtClean="0"/>
              <a:t>:</a:t>
            </a:r>
          </a:p>
        </p:txBody>
      </p:sp>
      <p:graphicFrame>
        <p:nvGraphicFramePr>
          <p:cNvPr id="209924" name="Object 4"/>
          <p:cNvGraphicFramePr>
            <a:graphicFrameLocks noChangeAspect="1"/>
          </p:cNvGraphicFramePr>
          <p:nvPr/>
        </p:nvGraphicFramePr>
        <p:xfrm>
          <a:off x="3117850" y="3657600"/>
          <a:ext cx="2835275" cy="1579563"/>
        </p:xfrm>
        <a:graphic>
          <a:graphicData uri="http://schemas.openxmlformats.org/presentationml/2006/ole">
            <p:oleObj spid="_x0000_s209924" name="Equation" r:id="rId3" imgW="647640" imgH="393480" progId="Equation.3">
              <p:embed/>
            </p:oleObj>
          </a:graphicData>
        </a:graphic>
      </p:graphicFrame>
      <p:sp>
        <p:nvSpPr>
          <p:cNvPr id="209930" name="Text Box 5"/>
          <p:cNvSpPr txBox="1">
            <a:spLocks noChangeArrowheads="1"/>
          </p:cNvSpPr>
          <p:nvPr/>
        </p:nvSpPr>
        <p:spPr bwMode="auto">
          <a:xfrm>
            <a:off x="609600" y="5562600"/>
            <a:ext cx="8305800" cy="955675"/>
          </a:xfrm>
          <a:prstGeom prst="rect">
            <a:avLst/>
          </a:prstGeom>
          <a:solidFill>
            <a:srgbClr val="C7DAF7"/>
          </a:solidFill>
          <a:ln w="9525">
            <a:solidFill>
              <a:schemeClr val="tx1"/>
            </a:solidFill>
            <a:miter lim="800000"/>
            <a:headEnd/>
            <a:tailEnd/>
          </a:ln>
        </p:spPr>
        <p:txBody>
          <a:bodyPr>
            <a:spAutoFit/>
          </a:bodyPr>
          <a:lstStyle/>
          <a:p>
            <a:pPr algn="ctr">
              <a:spcBef>
                <a:spcPct val="50000"/>
              </a:spcBef>
            </a:pPr>
            <a:r>
              <a:rPr lang="en-US" sz="2800"/>
              <a:t>The Z distribution always has mean = 0 and standard deviation = 1</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09" name="Rectangle 4"/>
          <p:cNvSpPr>
            <a:spLocks noGrp="1" noChangeArrowheads="1"/>
          </p:cNvSpPr>
          <p:nvPr>
            <p:ph type="ftr" sz="quarter" idx="10"/>
          </p:nvPr>
        </p:nvSpPr>
        <p:spPr>
          <a:noFill/>
        </p:spPr>
        <p:txBody>
          <a:bodyPr/>
          <a:lstStyle/>
          <a:p>
            <a:r>
              <a:rPr lang="en-US" smtClean="0"/>
              <a:t>Copyright ©2012 Pearson Education</a:t>
            </a:r>
          </a:p>
        </p:txBody>
      </p:sp>
      <p:sp>
        <p:nvSpPr>
          <p:cNvPr id="350210" name="Rectangle 5"/>
          <p:cNvSpPr>
            <a:spLocks noGrp="1" noChangeArrowheads="1"/>
          </p:cNvSpPr>
          <p:nvPr>
            <p:ph type="sldNum" sz="quarter" idx="11"/>
          </p:nvPr>
        </p:nvSpPr>
        <p:spPr>
          <a:noFill/>
        </p:spPr>
        <p:txBody>
          <a:bodyPr/>
          <a:lstStyle/>
          <a:p>
            <a:r>
              <a:rPr lang="en-US" smtClean="0"/>
              <a:t>Chap 6-</a:t>
            </a:r>
            <a:fld id="{CC1EE405-9A08-4AF1-8B8E-43FF12496AF5}" type="slidenum">
              <a:rPr lang="en-US" smtClean="0"/>
              <a:pPr/>
              <a:t>10</a:t>
            </a:fld>
            <a:endParaRPr lang="en-US" smtClean="0"/>
          </a:p>
        </p:txBody>
      </p:sp>
      <p:sp>
        <p:nvSpPr>
          <p:cNvPr id="350211" name="Slide Number Placeholder 2"/>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11125B4A-766F-4C1D-98C0-B881BE79EC20}" type="slidenum">
              <a:rPr lang="en-US" sz="1000"/>
              <a:pPr algn="r" defTabSz="852488"/>
              <a:t>10</a:t>
            </a:fld>
            <a:endParaRPr lang="en-US" sz="1000"/>
          </a:p>
        </p:txBody>
      </p:sp>
      <p:sp>
        <p:nvSpPr>
          <p:cNvPr id="350212" name="Rectangle 2"/>
          <p:cNvSpPr>
            <a:spLocks noGrp="1" noChangeArrowheads="1"/>
          </p:cNvSpPr>
          <p:nvPr>
            <p:ph type="title" idx="4294967295"/>
          </p:nvPr>
        </p:nvSpPr>
        <p:spPr>
          <a:xfrm>
            <a:off x="1066800" y="457200"/>
            <a:ext cx="7848600" cy="762000"/>
          </a:xfrm>
        </p:spPr>
        <p:txBody>
          <a:bodyPr/>
          <a:lstStyle/>
          <a:p>
            <a:pPr defTabSz="914400" eaLnBrk="1" hangingPunct="1">
              <a:lnSpc>
                <a:spcPct val="80000"/>
              </a:lnSpc>
            </a:pPr>
            <a:r>
              <a:rPr lang="en-US" sz="3900" smtClean="0"/>
              <a:t>The Standardized</a:t>
            </a:r>
            <a:br>
              <a:rPr lang="en-US" sz="3900" smtClean="0"/>
            </a:br>
            <a:r>
              <a:rPr lang="en-US" sz="3900" smtClean="0"/>
              <a:t> Normal Distribution</a:t>
            </a:r>
          </a:p>
        </p:txBody>
      </p:sp>
      <p:sp>
        <p:nvSpPr>
          <p:cNvPr id="350213" name="Rectangle 3"/>
          <p:cNvSpPr>
            <a:spLocks noGrp="1" noChangeArrowheads="1"/>
          </p:cNvSpPr>
          <p:nvPr>
            <p:ph type="body" idx="4294967295"/>
          </p:nvPr>
        </p:nvSpPr>
        <p:spPr>
          <a:xfrm>
            <a:off x="990600" y="1828800"/>
            <a:ext cx="7162800" cy="1846263"/>
          </a:xfrm>
        </p:spPr>
        <p:txBody>
          <a:bodyPr/>
          <a:lstStyle/>
          <a:p>
            <a:pPr marL="571500" indent="-571500" defTabSz="914400" eaLnBrk="1" hangingPunct="1"/>
            <a:r>
              <a:rPr lang="en-US" sz="2700" smtClean="0"/>
              <a:t>Also known as the “Z” distribution</a:t>
            </a:r>
          </a:p>
          <a:p>
            <a:pPr marL="571500" indent="-571500" defTabSz="914400" eaLnBrk="1" hangingPunct="1"/>
            <a:r>
              <a:rPr lang="en-US" sz="2700" smtClean="0">
                <a:solidFill>
                  <a:schemeClr val="folHlink"/>
                </a:solidFill>
              </a:rPr>
              <a:t>Mean is 0</a:t>
            </a:r>
          </a:p>
          <a:p>
            <a:pPr marL="571500" indent="-571500" defTabSz="914400" eaLnBrk="1" hangingPunct="1"/>
            <a:r>
              <a:rPr lang="en-US" sz="2700" smtClean="0">
                <a:solidFill>
                  <a:schemeClr val="folHlink"/>
                </a:solidFill>
              </a:rPr>
              <a:t>Standard Deviation is 1</a:t>
            </a:r>
          </a:p>
        </p:txBody>
      </p:sp>
      <p:sp>
        <p:nvSpPr>
          <p:cNvPr id="350214" name="Freeform 4"/>
          <p:cNvSpPr>
            <a:spLocks/>
          </p:cNvSpPr>
          <p:nvPr/>
        </p:nvSpPr>
        <p:spPr bwMode="auto">
          <a:xfrm>
            <a:off x="4298950" y="3813175"/>
            <a:ext cx="1430338" cy="1144588"/>
          </a:xfrm>
          <a:custGeom>
            <a:avLst/>
            <a:gdLst>
              <a:gd name="T0" fmla="*/ 1428750 w 901"/>
              <a:gd name="T1" fmla="*/ 1143000 h 721"/>
              <a:gd name="T2" fmla="*/ 1277938 w 901"/>
              <a:gd name="T3" fmla="*/ 1130300 h 721"/>
              <a:gd name="T4" fmla="*/ 1203325 w 901"/>
              <a:gd name="T5" fmla="*/ 1117600 h 721"/>
              <a:gd name="T6" fmla="*/ 1128713 w 901"/>
              <a:gd name="T7" fmla="*/ 1096963 h 721"/>
              <a:gd name="T8" fmla="*/ 1052513 w 901"/>
              <a:gd name="T9" fmla="*/ 1071563 h 721"/>
              <a:gd name="T10" fmla="*/ 976313 w 901"/>
              <a:gd name="T11" fmla="*/ 1036638 h 721"/>
              <a:gd name="T12" fmla="*/ 901700 w 901"/>
              <a:gd name="T13" fmla="*/ 989013 h 721"/>
              <a:gd name="T14" fmla="*/ 750888 w 901"/>
              <a:gd name="T15" fmla="*/ 857250 h 721"/>
              <a:gd name="T16" fmla="*/ 600075 w 901"/>
              <a:gd name="T17" fmla="*/ 669925 h 721"/>
              <a:gd name="T18" fmla="*/ 450850 w 901"/>
              <a:gd name="T19" fmla="*/ 446088 h 721"/>
              <a:gd name="T20" fmla="*/ 374650 w 901"/>
              <a:gd name="T21" fmla="*/ 331788 h 721"/>
              <a:gd name="T22" fmla="*/ 300038 w 901"/>
              <a:gd name="T23" fmla="*/ 225425 h 721"/>
              <a:gd name="T24" fmla="*/ 225425 w 901"/>
              <a:gd name="T25" fmla="*/ 131763 h 721"/>
              <a:gd name="T26" fmla="*/ 149225 w 901"/>
              <a:gd name="T27" fmla="*/ 60325 h 721"/>
              <a:gd name="T28" fmla="*/ 74613 w 901"/>
              <a:gd name="T29" fmla="*/ 14288 h 721"/>
              <a:gd name="T30" fmla="*/ 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a:solidFill>
              <a:srgbClr val="008000"/>
            </a:solidFill>
            <a:round/>
            <a:headEnd/>
            <a:tailEnd/>
          </a:ln>
        </p:spPr>
        <p:txBody>
          <a:bodyPr/>
          <a:lstStyle/>
          <a:p>
            <a:endParaRPr lang="en-GB"/>
          </a:p>
        </p:txBody>
      </p:sp>
      <p:sp>
        <p:nvSpPr>
          <p:cNvPr id="350215" name="Freeform 5"/>
          <p:cNvSpPr>
            <a:spLocks/>
          </p:cNvSpPr>
          <p:nvPr/>
        </p:nvSpPr>
        <p:spPr bwMode="auto">
          <a:xfrm>
            <a:off x="2870200" y="3813175"/>
            <a:ext cx="1430338" cy="1144588"/>
          </a:xfrm>
          <a:custGeom>
            <a:avLst/>
            <a:gdLst>
              <a:gd name="T0" fmla="*/ 0 w 901"/>
              <a:gd name="T1" fmla="*/ 1143000 h 721"/>
              <a:gd name="T2" fmla="*/ 150813 w 901"/>
              <a:gd name="T3" fmla="*/ 1130300 h 721"/>
              <a:gd name="T4" fmla="*/ 225425 w 901"/>
              <a:gd name="T5" fmla="*/ 1117600 h 721"/>
              <a:gd name="T6" fmla="*/ 300038 w 901"/>
              <a:gd name="T7" fmla="*/ 1096963 h 721"/>
              <a:gd name="T8" fmla="*/ 376238 w 901"/>
              <a:gd name="T9" fmla="*/ 1071563 h 721"/>
              <a:gd name="T10" fmla="*/ 450850 w 901"/>
              <a:gd name="T11" fmla="*/ 1036638 h 721"/>
              <a:gd name="T12" fmla="*/ 525463 w 901"/>
              <a:gd name="T13" fmla="*/ 989013 h 721"/>
              <a:gd name="T14" fmla="*/ 676275 w 901"/>
              <a:gd name="T15" fmla="*/ 857250 h 721"/>
              <a:gd name="T16" fmla="*/ 827088 w 901"/>
              <a:gd name="T17" fmla="*/ 669925 h 721"/>
              <a:gd name="T18" fmla="*/ 977900 w 901"/>
              <a:gd name="T19" fmla="*/ 446088 h 721"/>
              <a:gd name="T20" fmla="*/ 1052513 w 901"/>
              <a:gd name="T21" fmla="*/ 331788 h 721"/>
              <a:gd name="T22" fmla="*/ 1127125 w 901"/>
              <a:gd name="T23" fmla="*/ 225425 h 721"/>
              <a:gd name="T24" fmla="*/ 1201738 w 901"/>
              <a:gd name="T25" fmla="*/ 131763 h 721"/>
              <a:gd name="T26" fmla="*/ 1277938 w 901"/>
              <a:gd name="T27" fmla="*/ 60325 h 721"/>
              <a:gd name="T28" fmla="*/ 1352550 w 901"/>
              <a:gd name="T29" fmla="*/ 14288 h 721"/>
              <a:gd name="T30" fmla="*/ 142875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a:solidFill>
              <a:srgbClr val="008000"/>
            </a:solidFill>
            <a:round/>
            <a:headEnd/>
            <a:tailEnd/>
          </a:ln>
        </p:spPr>
        <p:txBody>
          <a:bodyPr/>
          <a:lstStyle/>
          <a:p>
            <a:endParaRPr lang="en-GB"/>
          </a:p>
        </p:txBody>
      </p:sp>
      <p:sp>
        <p:nvSpPr>
          <p:cNvPr id="350216" name="Line 6"/>
          <p:cNvSpPr>
            <a:spLocks noChangeShapeType="1"/>
          </p:cNvSpPr>
          <p:nvPr/>
        </p:nvSpPr>
        <p:spPr bwMode="auto">
          <a:xfrm>
            <a:off x="4267200" y="3886200"/>
            <a:ext cx="0" cy="1066800"/>
          </a:xfrm>
          <a:prstGeom prst="line">
            <a:avLst/>
          </a:prstGeom>
          <a:noFill/>
          <a:ln w="12700">
            <a:solidFill>
              <a:schemeClr val="bg2"/>
            </a:solidFill>
            <a:round/>
            <a:headEnd/>
            <a:tailEnd/>
          </a:ln>
        </p:spPr>
        <p:txBody>
          <a:bodyPr wrap="none" anchor="ctr"/>
          <a:lstStyle/>
          <a:p>
            <a:endParaRPr lang="en-US"/>
          </a:p>
        </p:txBody>
      </p:sp>
      <p:sp>
        <p:nvSpPr>
          <p:cNvPr id="350217" name="Freeform 7"/>
          <p:cNvSpPr>
            <a:spLocks/>
          </p:cNvSpPr>
          <p:nvPr/>
        </p:nvSpPr>
        <p:spPr bwMode="auto">
          <a:xfrm>
            <a:off x="2743200" y="3810000"/>
            <a:ext cx="3005138" cy="1214438"/>
          </a:xfrm>
          <a:custGeom>
            <a:avLst/>
            <a:gdLst>
              <a:gd name="T0" fmla="*/ 0 w 1893"/>
              <a:gd name="T1" fmla="*/ 0 h 765"/>
              <a:gd name="T2" fmla="*/ 0 w 1893"/>
              <a:gd name="T3" fmla="*/ 1212850 h 765"/>
              <a:gd name="T4" fmla="*/ 3003551 w 1893"/>
              <a:gd name="T5" fmla="*/ 1212850 h 765"/>
              <a:gd name="T6" fmla="*/ 0 60000 65536"/>
              <a:gd name="T7" fmla="*/ 0 60000 65536"/>
              <a:gd name="T8" fmla="*/ 0 60000 65536"/>
              <a:gd name="T9" fmla="*/ 0 w 1893"/>
              <a:gd name="T10" fmla="*/ 0 h 765"/>
              <a:gd name="T11" fmla="*/ 1893 w 1893"/>
              <a:gd name="T12" fmla="*/ 765 h 765"/>
            </a:gdLst>
            <a:ahLst/>
            <a:cxnLst>
              <a:cxn ang="T6">
                <a:pos x="T0" y="T1"/>
              </a:cxn>
              <a:cxn ang="T7">
                <a:pos x="T2" y="T3"/>
              </a:cxn>
              <a:cxn ang="T8">
                <a:pos x="T4" y="T5"/>
              </a:cxn>
            </a:cxnLst>
            <a:rect l="T9" t="T10" r="T11" b="T12"/>
            <a:pathLst>
              <a:path w="1893" h="765">
                <a:moveTo>
                  <a:pt x="0" y="0"/>
                </a:moveTo>
                <a:lnTo>
                  <a:pt x="0" y="764"/>
                </a:lnTo>
                <a:lnTo>
                  <a:pt x="1892" y="764"/>
                </a:lnTo>
              </a:path>
            </a:pathLst>
          </a:custGeom>
          <a:noFill/>
          <a:ln w="25400" cap="rnd">
            <a:solidFill>
              <a:schemeClr val="bg2"/>
            </a:solidFill>
            <a:round/>
            <a:headEnd/>
            <a:tailEnd/>
          </a:ln>
        </p:spPr>
        <p:txBody>
          <a:bodyPr/>
          <a:lstStyle/>
          <a:p>
            <a:endParaRPr lang="en-GB"/>
          </a:p>
        </p:txBody>
      </p:sp>
      <p:sp>
        <p:nvSpPr>
          <p:cNvPr id="350218" name="Line 8"/>
          <p:cNvSpPr>
            <a:spLocks noChangeShapeType="1"/>
          </p:cNvSpPr>
          <p:nvPr/>
        </p:nvSpPr>
        <p:spPr bwMode="auto">
          <a:xfrm>
            <a:off x="2798763" y="3743325"/>
            <a:ext cx="1587" cy="0"/>
          </a:xfrm>
          <a:prstGeom prst="line">
            <a:avLst/>
          </a:prstGeom>
          <a:noFill/>
          <a:ln w="12700">
            <a:solidFill>
              <a:srgbClr val="CDCDCD"/>
            </a:solidFill>
            <a:round/>
            <a:headEnd/>
            <a:tailEnd/>
          </a:ln>
        </p:spPr>
        <p:txBody>
          <a:bodyPr wrap="none" anchor="ctr"/>
          <a:lstStyle/>
          <a:p>
            <a:endParaRPr lang="en-US"/>
          </a:p>
        </p:txBody>
      </p:sp>
      <p:sp>
        <p:nvSpPr>
          <p:cNvPr id="350219" name="Line 9"/>
          <p:cNvSpPr>
            <a:spLocks noChangeShapeType="1"/>
          </p:cNvSpPr>
          <p:nvPr/>
        </p:nvSpPr>
        <p:spPr bwMode="auto">
          <a:xfrm>
            <a:off x="2798763" y="3865563"/>
            <a:ext cx="1587" cy="0"/>
          </a:xfrm>
          <a:prstGeom prst="line">
            <a:avLst/>
          </a:prstGeom>
          <a:noFill/>
          <a:ln w="12700">
            <a:solidFill>
              <a:srgbClr val="CDCDCD"/>
            </a:solidFill>
            <a:round/>
            <a:headEnd/>
            <a:tailEnd/>
          </a:ln>
        </p:spPr>
        <p:txBody>
          <a:bodyPr wrap="none" anchor="ctr"/>
          <a:lstStyle/>
          <a:p>
            <a:endParaRPr lang="en-US"/>
          </a:p>
        </p:txBody>
      </p:sp>
      <p:sp>
        <p:nvSpPr>
          <p:cNvPr id="350220" name="Line 10"/>
          <p:cNvSpPr>
            <a:spLocks noChangeShapeType="1"/>
          </p:cNvSpPr>
          <p:nvPr/>
        </p:nvSpPr>
        <p:spPr bwMode="auto">
          <a:xfrm>
            <a:off x="2798763" y="3986213"/>
            <a:ext cx="1587" cy="0"/>
          </a:xfrm>
          <a:prstGeom prst="line">
            <a:avLst/>
          </a:prstGeom>
          <a:noFill/>
          <a:ln w="12700">
            <a:solidFill>
              <a:srgbClr val="CDCDCD"/>
            </a:solidFill>
            <a:round/>
            <a:headEnd/>
            <a:tailEnd/>
          </a:ln>
        </p:spPr>
        <p:txBody>
          <a:bodyPr wrap="none" anchor="ctr"/>
          <a:lstStyle/>
          <a:p>
            <a:endParaRPr lang="en-US"/>
          </a:p>
        </p:txBody>
      </p:sp>
      <p:sp>
        <p:nvSpPr>
          <p:cNvPr id="350221" name="Line 11"/>
          <p:cNvSpPr>
            <a:spLocks noChangeShapeType="1"/>
          </p:cNvSpPr>
          <p:nvPr/>
        </p:nvSpPr>
        <p:spPr bwMode="auto">
          <a:xfrm>
            <a:off x="2798763" y="4108450"/>
            <a:ext cx="1587" cy="0"/>
          </a:xfrm>
          <a:prstGeom prst="line">
            <a:avLst/>
          </a:prstGeom>
          <a:noFill/>
          <a:ln w="12700">
            <a:solidFill>
              <a:srgbClr val="CDCDCD"/>
            </a:solidFill>
            <a:round/>
            <a:headEnd/>
            <a:tailEnd/>
          </a:ln>
        </p:spPr>
        <p:txBody>
          <a:bodyPr wrap="none" anchor="ctr"/>
          <a:lstStyle/>
          <a:p>
            <a:endParaRPr lang="en-US"/>
          </a:p>
        </p:txBody>
      </p:sp>
      <p:sp>
        <p:nvSpPr>
          <p:cNvPr id="350222" name="Line 12"/>
          <p:cNvSpPr>
            <a:spLocks noChangeShapeType="1"/>
          </p:cNvSpPr>
          <p:nvPr/>
        </p:nvSpPr>
        <p:spPr bwMode="auto">
          <a:xfrm>
            <a:off x="2798763" y="4229100"/>
            <a:ext cx="1587" cy="0"/>
          </a:xfrm>
          <a:prstGeom prst="line">
            <a:avLst/>
          </a:prstGeom>
          <a:noFill/>
          <a:ln w="12700">
            <a:solidFill>
              <a:srgbClr val="CDCDCD"/>
            </a:solidFill>
            <a:round/>
            <a:headEnd/>
            <a:tailEnd/>
          </a:ln>
        </p:spPr>
        <p:txBody>
          <a:bodyPr wrap="none" anchor="ctr"/>
          <a:lstStyle/>
          <a:p>
            <a:endParaRPr lang="en-US"/>
          </a:p>
        </p:txBody>
      </p:sp>
      <p:sp>
        <p:nvSpPr>
          <p:cNvPr id="350223" name="Line 13"/>
          <p:cNvSpPr>
            <a:spLocks noChangeShapeType="1"/>
          </p:cNvSpPr>
          <p:nvPr/>
        </p:nvSpPr>
        <p:spPr bwMode="auto">
          <a:xfrm>
            <a:off x="2798763" y="4351338"/>
            <a:ext cx="1587" cy="0"/>
          </a:xfrm>
          <a:prstGeom prst="line">
            <a:avLst/>
          </a:prstGeom>
          <a:noFill/>
          <a:ln w="12700">
            <a:solidFill>
              <a:srgbClr val="CDCDCD"/>
            </a:solidFill>
            <a:round/>
            <a:headEnd/>
            <a:tailEnd/>
          </a:ln>
        </p:spPr>
        <p:txBody>
          <a:bodyPr wrap="none" anchor="ctr"/>
          <a:lstStyle/>
          <a:p>
            <a:endParaRPr lang="en-US"/>
          </a:p>
        </p:txBody>
      </p:sp>
      <p:sp>
        <p:nvSpPr>
          <p:cNvPr id="350224" name="Line 14"/>
          <p:cNvSpPr>
            <a:spLocks noChangeShapeType="1"/>
          </p:cNvSpPr>
          <p:nvPr/>
        </p:nvSpPr>
        <p:spPr bwMode="auto">
          <a:xfrm>
            <a:off x="2798763" y="4471988"/>
            <a:ext cx="1587" cy="0"/>
          </a:xfrm>
          <a:prstGeom prst="line">
            <a:avLst/>
          </a:prstGeom>
          <a:noFill/>
          <a:ln w="12700">
            <a:solidFill>
              <a:srgbClr val="CDCDCD"/>
            </a:solidFill>
            <a:round/>
            <a:headEnd/>
            <a:tailEnd/>
          </a:ln>
        </p:spPr>
        <p:txBody>
          <a:bodyPr wrap="none" anchor="ctr"/>
          <a:lstStyle/>
          <a:p>
            <a:endParaRPr lang="en-US"/>
          </a:p>
        </p:txBody>
      </p:sp>
      <p:sp>
        <p:nvSpPr>
          <p:cNvPr id="350225" name="Line 15"/>
          <p:cNvSpPr>
            <a:spLocks noChangeShapeType="1"/>
          </p:cNvSpPr>
          <p:nvPr/>
        </p:nvSpPr>
        <p:spPr bwMode="auto">
          <a:xfrm>
            <a:off x="2798763" y="4594225"/>
            <a:ext cx="1587" cy="0"/>
          </a:xfrm>
          <a:prstGeom prst="line">
            <a:avLst/>
          </a:prstGeom>
          <a:noFill/>
          <a:ln w="12700">
            <a:solidFill>
              <a:srgbClr val="CDCDCD"/>
            </a:solidFill>
            <a:round/>
            <a:headEnd/>
            <a:tailEnd/>
          </a:ln>
        </p:spPr>
        <p:txBody>
          <a:bodyPr wrap="none" anchor="ctr"/>
          <a:lstStyle/>
          <a:p>
            <a:endParaRPr lang="en-US"/>
          </a:p>
        </p:txBody>
      </p:sp>
      <p:sp>
        <p:nvSpPr>
          <p:cNvPr id="350226" name="Line 16"/>
          <p:cNvSpPr>
            <a:spLocks noChangeShapeType="1"/>
          </p:cNvSpPr>
          <p:nvPr/>
        </p:nvSpPr>
        <p:spPr bwMode="auto">
          <a:xfrm>
            <a:off x="2798763" y="4714875"/>
            <a:ext cx="1587" cy="0"/>
          </a:xfrm>
          <a:prstGeom prst="line">
            <a:avLst/>
          </a:prstGeom>
          <a:noFill/>
          <a:ln w="12700">
            <a:solidFill>
              <a:srgbClr val="CDCDCD"/>
            </a:solidFill>
            <a:round/>
            <a:headEnd/>
            <a:tailEnd/>
          </a:ln>
        </p:spPr>
        <p:txBody>
          <a:bodyPr wrap="none" anchor="ctr"/>
          <a:lstStyle/>
          <a:p>
            <a:endParaRPr lang="en-US"/>
          </a:p>
        </p:txBody>
      </p:sp>
      <p:sp>
        <p:nvSpPr>
          <p:cNvPr id="350227" name="Line 17"/>
          <p:cNvSpPr>
            <a:spLocks noChangeShapeType="1"/>
          </p:cNvSpPr>
          <p:nvPr/>
        </p:nvSpPr>
        <p:spPr bwMode="auto">
          <a:xfrm>
            <a:off x="2798763" y="4835525"/>
            <a:ext cx="1587" cy="0"/>
          </a:xfrm>
          <a:prstGeom prst="line">
            <a:avLst/>
          </a:prstGeom>
          <a:noFill/>
          <a:ln w="12700">
            <a:solidFill>
              <a:srgbClr val="CDCDCD"/>
            </a:solidFill>
            <a:round/>
            <a:headEnd/>
            <a:tailEnd/>
          </a:ln>
        </p:spPr>
        <p:txBody>
          <a:bodyPr wrap="none" anchor="ctr"/>
          <a:lstStyle/>
          <a:p>
            <a:endParaRPr lang="en-US"/>
          </a:p>
        </p:txBody>
      </p:sp>
      <p:sp>
        <p:nvSpPr>
          <p:cNvPr id="350228" name="Line 18"/>
          <p:cNvSpPr>
            <a:spLocks noChangeShapeType="1"/>
          </p:cNvSpPr>
          <p:nvPr/>
        </p:nvSpPr>
        <p:spPr bwMode="auto">
          <a:xfrm>
            <a:off x="5816600" y="4964113"/>
            <a:ext cx="0" cy="1587"/>
          </a:xfrm>
          <a:prstGeom prst="line">
            <a:avLst/>
          </a:prstGeom>
          <a:noFill/>
          <a:ln w="12700">
            <a:solidFill>
              <a:srgbClr val="CDCDCD"/>
            </a:solidFill>
            <a:round/>
            <a:headEnd/>
            <a:tailEnd/>
          </a:ln>
        </p:spPr>
        <p:txBody>
          <a:bodyPr wrap="none" anchor="ctr"/>
          <a:lstStyle/>
          <a:p>
            <a:endParaRPr lang="en-US"/>
          </a:p>
        </p:txBody>
      </p:sp>
      <p:sp>
        <p:nvSpPr>
          <p:cNvPr id="350229" name="Line 19"/>
          <p:cNvSpPr>
            <a:spLocks noChangeShapeType="1"/>
          </p:cNvSpPr>
          <p:nvPr/>
        </p:nvSpPr>
        <p:spPr bwMode="auto">
          <a:xfrm>
            <a:off x="5516563" y="4964113"/>
            <a:ext cx="0" cy="1587"/>
          </a:xfrm>
          <a:prstGeom prst="line">
            <a:avLst/>
          </a:prstGeom>
          <a:noFill/>
          <a:ln w="12700">
            <a:solidFill>
              <a:srgbClr val="CDCDCD"/>
            </a:solidFill>
            <a:round/>
            <a:headEnd/>
            <a:tailEnd/>
          </a:ln>
        </p:spPr>
        <p:txBody>
          <a:bodyPr wrap="none" anchor="ctr"/>
          <a:lstStyle/>
          <a:p>
            <a:endParaRPr lang="en-US"/>
          </a:p>
        </p:txBody>
      </p:sp>
      <p:sp>
        <p:nvSpPr>
          <p:cNvPr id="350230" name="Line 20"/>
          <p:cNvSpPr>
            <a:spLocks noChangeShapeType="1"/>
          </p:cNvSpPr>
          <p:nvPr/>
        </p:nvSpPr>
        <p:spPr bwMode="auto">
          <a:xfrm>
            <a:off x="5214938" y="4964113"/>
            <a:ext cx="0" cy="1587"/>
          </a:xfrm>
          <a:prstGeom prst="line">
            <a:avLst/>
          </a:prstGeom>
          <a:noFill/>
          <a:ln w="12700">
            <a:solidFill>
              <a:srgbClr val="CDCDCD"/>
            </a:solidFill>
            <a:round/>
            <a:headEnd/>
            <a:tailEnd/>
          </a:ln>
        </p:spPr>
        <p:txBody>
          <a:bodyPr wrap="none" anchor="ctr"/>
          <a:lstStyle/>
          <a:p>
            <a:endParaRPr lang="en-US"/>
          </a:p>
        </p:txBody>
      </p:sp>
      <p:sp>
        <p:nvSpPr>
          <p:cNvPr id="350231" name="Line 21"/>
          <p:cNvSpPr>
            <a:spLocks noChangeShapeType="1"/>
          </p:cNvSpPr>
          <p:nvPr/>
        </p:nvSpPr>
        <p:spPr bwMode="auto">
          <a:xfrm>
            <a:off x="4914900" y="4964113"/>
            <a:ext cx="0" cy="1587"/>
          </a:xfrm>
          <a:prstGeom prst="line">
            <a:avLst/>
          </a:prstGeom>
          <a:noFill/>
          <a:ln w="12700">
            <a:solidFill>
              <a:srgbClr val="CDCDCD"/>
            </a:solidFill>
            <a:round/>
            <a:headEnd/>
            <a:tailEnd/>
          </a:ln>
        </p:spPr>
        <p:txBody>
          <a:bodyPr wrap="none" anchor="ctr"/>
          <a:lstStyle/>
          <a:p>
            <a:endParaRPr lang="en-US"/>
          </a:p>
        </p:txBody>
      </p:sp>
      <p:sp>
        <p:nvSpPr>
          <p:cNvPr id="350232" name="Line 22"/>
          <p:cNvSpPr>
            <a:spLocks noChangeShapeType="1"/>
          </p:cNvSpPr>
          <p:nvPr/>
        </p:nvSpPr>
        <p:spPr bwMode="auto">
          <a:xfrm>
            <a:off x="4614863" y="4964113"/>
            <a:ext cx="0" cy="1587"/>
          </a:xfrm>
          <a:prstGeom prst="line">
            <a:avLst/>
          </a:prstGeom>
          <a:noFill/>
          <a:ln w="12700">
            <a:solidFill>
              <a:srgbClr val="CDCDCD"/>
            </a:solidFill>
            <a:round/>
            <a:headEnd/>
            <a:tailEnd/>
          </a:ln>
        </p:spPr>
        <p:txBody>
          <a:bodyPr wrap="none" anchor="ctr"/>
          <a:lstStyle/>
          <a:p>
            <a:endParaRPr lang="en-US"/>
          </a:p>
        </p:txBody>
      </p:sp>
      <p:sp>
        <p:nvSpPr>
          <p:cNvPr id="350233" name="Line 23"/>
          <p:cNvSpPr>
            <a:spLocks noChangeShapeType="1"/>
          </p:cNvSpPr>
          <p:nvPr/>
        </p:nvSpPr>
        <p:spPr bwMode="auto">
          <a:xfrm>
            <a:off x="4314825" y="4964113"/>
            <a:ext cx="0" cy="1587"/>
          </a:xfrm>
          <a:prstGeom prst="line">
            <a:avLst/>
          </a:prstGeom>
          <a:noFill/>
          <a:ln w="12700">
            <a:solidFill>
              <a:srgbClr val="CDCDCD"/>
            </a:solidFill>
            <a:round/>
            <a:headEnd/>
            <a:tailEnd/>
          </a:ln>
        </p:spPr>
        <p:txBody>
          <a:bodyPr wrap="none" anchor="ctr"/>
          <a:lstStyle/>
          <a:p>
            <a:endParaRPr lang="en-US"/>
          </a:p>
        </p:txBody>
      </p:sp>
      <p:sp>
        <p:nvSpPr>
          <p:cNvPr id="350234" name="Line 24"/>
          <p:cNvSpPr>
            <a:spLocks noChangeShapeType="1"/>
          </p:cNvSpPr>
          <p:nvPr/>
        </p:nvSpPr>
        <p:spPr bwMode="auto">
          <a:xfrm>
            <a:off x="4014788" y="4964113"/>
            <a:ext cx="0" cy="1587"/>
          </a:xfrm>
          <a:prstGeom prst="line">
            <a:avLst/>
          </a:prstGeom>
          <a:noFill/>
          <a:ln w="12700">
            <a:solidFill>
              <a:srgbClr val="CDCDCD"/>
            </a:solidFill>
            <a:round/>
            <a:headEnd/>
            <a:tailEnd/>
          </a:ln>
        </p:spPr>
        <p:txBody>
          <a:bodyPr wrap="none" anchor="ctr"/>
          <a:lstStyle/>
          <a:p>
            <a:endParaRPr lang="en-US"/>
          </a:p>
        </p:txBody>
      </p:sp>
      <p:sp>
        <p:nvSpPr>
          <p:cNvPr id="350235" name="Line 25"/>
          <p:cNvSpPr>
            <a:spLocks noChangeShapeType="1"/>
          </p:cNvSpPr>
          <p:nvPr/>
        </p:nvSpPr>
        <p:spPr bwMode="auto">
          <a:xfrm>
            <a:off x="3714750" y="4964113"/>
            <a:ext cx="0" cy="1587"/>
          </a:xfrm>
          <a:prstGeom prst="line">
            <a:avLst/>
          </a:prstGeom>
          <a:noFill/>
          <a:ln w="12700">
            <a:solidFill>
              <a:srgbClr val="CDCDCD"/>
            </a:solidFill>
            <a:round/>
            <a:headEnd/>
            <a:tailEnd/>
          </a:ln>
        </p:spPr>
        <p:txBody>
          <a:bodyPr wrap="none" anchor="ctr"/>
          <a:lstStyle/>
          <a:p>
            <a:endParaRPr lang="en-US"/>
          </a:p>
        </p:txBody>
      </p:sp>
      <p:sp>
        <p:nvSpPr>
          <p:cNvPr id="350236" name="Line 26"/>
          <p:cNvSpPr>
            <a:spLocks noChangeShapeType="1"/>
          </p:cNvSpPr>
          <p:nvPr/>
        </p:nvSpPr>
        <p:spPr bwMode="auto">
          <a:xfrm>
            <a:off x="3413125" y="4964113"/>
            <a:ext cx="0" cy="1587"/>
          </a:xfrm>
          <a:prstGeom prst="line">
            <a:avLst/>
          </a:prstGeom>
          <a:noFill/>
          <a:ln w="12700">
            <a:solidFill>
              <a:srgbClr val="CDCDCD"/>
            </a:solidFill>
            <a:round/>
            <a:headEnd/>
            <a:tailEnd/>
          </a:ln>
        </p:spPr>
        <p:txBody>
          <a:bodyPr wrap="none" anchor="ctr"/>
          <a:lstStyle/>
          <a:p>
            <a:endParaRPr lang="en-US"/>
          </a:p>
        </p:txBody>
      </p:sp>
      <p:sp>
        <p:nvSpPr>
          <p:cNvPr id="350237" name="Line 27"/>
          <p:cNvSpPr>
            <a:spLocks noChangeShapeType="1"/>
          </p:cNvSpPr>
          <p:nvPr/>
        </p:nvSpPr>
        <p:spPr bwMode="auto">
          <a:xfrm>
            <a:off x="3113088" y="4964113"/>
            <a:ext cx="0" cy="1587"/>
          </a:xfrm>
          <a:prstGeom prst="line">
            <a:avLst/>
          </a:prstGeom>
          <a:noFill/>
          <a:ln w="12700">
            <a:solidFill>
              <a:srgbClr val="CDCDCD"/>
            </a:solidFill>
            <a:round/>
            <a:headEnd/>
            <a:tailEnd/>
          </a:ln>
        </p:spPr>
        <p:txBody>
          <a:bodyPr wrap="none" anchor="ctr"/>
          <a:lstStyle/>
          <a:p>
            <a:endParaRPr lang="en-US"/>
          </a:p>
        </p:txBody>
      </p:sp>
      <p:sp>
        <p:nvSpPr>
          <p:cNvPr id="350238" name="Rectangle 28"/>
          <p:cNvSpPr>
            <a:spLocks noChangeArrowheads="1"/>
          </p:cNvSpPr>
          <p:nvPr/>
        </p:nvSpPr>
        <p:spPr bwMode="auto">
          <a:xfrm>
            <a:off x="2686050" y="4259263"/>
            <a:ext cx="92075" cy="184150"/>
          </a:xfrm>
          <a:prstGeom prst="rect">
            <a:avLst/>
          </a:prstGeom>
          <a:noFill/>
          <a:ln w="12700">
            <a:noFill/>
            <a:miter lim="800000"/>
            <a:headEnd/>
            <a:tailEnd/>
          </a:ln>
        </p:spPr>
        <p:txBody>
          <a:bodyPr wrap="none" anchor="ctr"/>
          <a:lstStyle/>
          <a:p>
            <a:pPr algn="ctr">
              <a:spcBef>
                <a:spcPct val="50000"/>
              </a:spcBef>
            </a:pPr>
            <a:endParaRPr lang="en-GB"/>
          </a:p>
        </p:txBody>
      </p:sp>
      <p:sp>
        <p:nvSpPr>
          <p:cNvPr id="350239" name="Rectangle 29"/>
          <p:cNvSpPr>
            <a:spLocks noChangeArrowheads="1"/>
          </p:cNvSpPr>
          <p:nvPr/>
        </p:nvSpPr>
        <p:spPr bwMode="auto">
          <a:xfrm>
            <a:off x="4222750" y="4933950"/>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350240" name="Rectangle 30"/>
          <p:cNvSpPr>
            <a:spLocks noChangeArrowheads="1"/>
          </p:cNvSpPr>
          <p:nvPr/>
        </p:nvSpPr>
        <p:spPr bwMode="auto">
          <a:xfrm>
            <a:off x="5791200" y="4800600"/>
            <a:ext cx="366713" cy="454025"/>
          </a:xfrm>
          <a:prstGeom prst="rect">
            <a:avLst/>
          </a:prstGeom>
          <a:noFill/>
          <a:ln w="12700">
            <a:noFill/>
            <a:miter lim="800000"/>
            <a:headEnd/>
            <a:tailEnd/>
          </a:ln>
        </p:spPr>
        <p:txBody>
          <a:bodyPr wrap="none" lIns="90487" tIns="44450" rIns="90487" bIns="44450">
            <a:spAutoFit/>
          </a:bodyPr>
          <a:lstStyle/>
          <a:p>
            <a:pPr eaLnBrk="0" hangingPunct="0"/>
            <a:r>
              <a:rPr lang="en-US" b="1">
                <a:solidFill>
                  <a:srgbClr val="339933"/>
                </a:solidFill>
              </a:rPr>
              <a:t>Z</a:t>
            </a:r>
          </a:p>
        </p:txBody>
      </p:sp>
      <p:sp>
        <p:nvSpPr>
          <p:cNvPr id="350241" name="Rectangle 31"/>
          <p:cNvSpPr>
            <a:spLocks noChangeArrowheads="1"/>
          </p:cNvSpPr>
          <p:nvPr/>
        </p:nvSpPr>
        <p:spPr bwMode="auto">
          <a:xfrm>
            <a:off x="2286000" y="3352800"/>
            <a:ext cx="671513" cy="454025"/>
          </a:xfrm>
          <a:prstGeom prst="rect">
            <a:avLst/>
          </a:prstGeom>
          <a:noFill/>
          <a:ln w="12700">
            <a:noFill/>
            <a:miter lim="800000"/>
            <a:headEnd/>
            <a:tailEnd/>
          </a:ln>
        </p:spPr>
        <p:txBody>
          <a:bodyPr wrap="none" lIns="90487" tIns="44450" rIns="90487" bIns="44450">
            <a:spAutoFit/>
          </a:bodyPr>
          <a:lstStyle/>
          <a:p>
            <a:pPr eaLnBrk="0" hangingPunct="0"/>
            <a:r>
              <a:rPr lang="en-US" b="1">
                <a:solidFill>
                  <a:srgbClr val="339933"/>
                </a:solidFill>
              </a:rPr>
              <a:t>f(Z)</a:t>
            </a:r>
          </a:p>
        </p:txBody>
      </p:sp>
      <p:sp>
        <p:nvSpPr>
          <p:cNvPr id="350242" name="Rectangle 32"/>
          <p:cNvSpPr>
            <a:spLocks noChangeArrowheads="1"/>
          </p:cNvSpPr>
          <p:nvPr/>
        </p:nvSpPr>
        <p:spPr bwMode="auto">
          <a:xfrm>
            <a:off x="4114800" y="4953000"/>
            <a:ext cx="479425" cy="454025"/>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b="1">
                <a:solidFill>
                  <a:srgbClr val="339933"/>
                </a:solidFill>
              </a:rPr>
              <a:t>0</a:t>
            </a:r>
          </a:p>
        </p:txBody>
      </p:sp>
      <p:sp>
        <p:nvSpPr>
          <p:cNvPr id="350243" name="Line 33"/>
          <p:cNvSpPr>
            <a:spLocks noChangeShapeType="1"/>
          </p:cNvSpPr>
          <p:nvPr/>
        </p:nvSpPr>
        <p:spPr bwMode="auto">
          <a:xfrm>
            <a:off x="4267200" y="4343400"/>
            <a:ext cx="533400" cy="0"/>
          </a:xfrm>
          <a:prstGeom prst="line">
            <a:avLst/>
          </a:prstGeom>
          <a:noFill/>
          <a:ln w="12700">
            <a:solidFill>
              <a:schemeClr val="bg2"/>
            </a:solidFill>
            <a:round/>
            <a:headEnd type="stealth" w="med" len="med"/>
            <a:tailEnd type="stealth" w="med" len="med"/>
          </a:ln>
        </p:spPr>
        <p:txBody>
          <a:bodyPr wrap="none" anchor="ctr"/>
          <a:lstStyle/>
          <a:p>
            <a:endParaRPr lang="en-US"/>
          </a:p>
        </p:txBody>
      </p:sp>
      <p:sp>
        <p:nvSpPr>
          <p:cNvPr id="350244" name="Rectangle 34"/>
          <p:cNvSpPr>
            <a:spLocks noChangeArrowheads="1"/>
          </p:cNvSpPr>
          <p:nvPr/>
        </p:nvSpPr>
        <p:spPr bwMode="auto">
          <a:xfrm>
            <a:off x="4419600" y="4267200"/>
            <a:ext cx="479425" cy="454025"/>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b="1">
                <a:solidFill>
                  <a:srgbClr val="339933"/>
                </a:solidFill>
              </a:rPr>
              <a:t>1</a:t>
            </a:r>
          </a:p>
        </p:txBody>
      </p:sp>
      <p:sp>
        <p:nvSpPr>
          <p:cNvPr id="350245" name="Text Box 35"/>
          <p:cNvSpPr txBox="1">
            <a:spLocks noChangeArrowheads="1"/>
          </p:cNvSpPr>
          <p:nvPr/>
        </p:nvSpPr>
        <p:spPr bwMode="auto">
          <a:xfrm>
            <a:off x="838200" y="5486400"/>
            <a:ext cx="7239000" cy="822325"/>
          </a:xfrm>
          <a:prstGeom prst="rect">
            <a:avLst/>
          </a:prstGeom>
          <a:noFill/>
          <a:ln w="19050" algn="ctr">
            <a:noFill/>
            <a:miter lim="800000"/>
            <a:headEnd/>
            <a:tailEnd/>
          </a:ln>
        </p:spPr>
        <p:txBody>
          <a:bodyPr>
            <a:spAutoFit/>
          </a:bodyPr>
          <a:lstStyle/>
          <a:p>
            <a:pPr algn="ctr">
              <a:spcBef>
                <a:spcPct val="50000"/>
              </a:spcBef>
            </a:pPr>
            <a:r>
              <a:rPr lang="en-US"/>
              <a:t>Values above the mean have </a:t>
            </a:r>
            <a:r>
              <a:rPr lang="en-US">
                <a:solidFill>
                  <a:schemeClr val="folHlink"/>
                </a:solidFill>
              </a:rPr>
              <a:t>positive</a:t>
            </a:r>
            <a:r>
              <a:rPr lang="en-US"/>
              <a:t> Z-values, values below the mean have </a:t>
            </a:r>
            <a:r>
              <a:rPr lang="en-US">
                <a:solidFill>
                  <a:schemeClr val="folHlink"/>
                </a:solidFill>
              </a:rPr>
              <a:t>negative</a:t>
            </a:r>
            <a:r>
              <a:rPr lang="en-US"/>
              <a:t> Z-values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9" name="Rectangle 4"/>
          <p:cNvSpPr>
            <a:spLocks noGrp="1" noChangeArrowheads="1"/>
          </p:cNvSpPr>
          <p:nvPr>
            <p:ph type="ftr" sz="quarter" idx="10"/>
          </p:nvPr>
        </p:nvSpPr>
        <p:spPr>
          <a:noFill/>
        </p:spPr>
        <p:txBody>
          <a:bodyPr/>
          <a:lstStyle/>
          <a:p>
            <a:r>
              <a:rPr lang="en-US" smtClean="0"/>
              <a:t>Copyright ©2012 Pearson Education</a:t>
            </a:r>
          </a:p>
        </p:txBody>
      </p:sp>
      <p:sp>
        <p:nvSpPr>
          <p:cNvPr id="210950" name="Rectangle 5"/>
          <p:cNvSpPr>
            <a:spLocks noGrp="1" noChangeArrowheads="1"/>
          </p:cNvSpPr>
          <p:nvPr>
            <p:ph type="sldNum" sz="quarter" idx="11"/>
          </p:nvPr>
        </p:nvSpPr>
        <p:spPr>
          <a:noFill/>
        </p:spPr>
        <p:txBody>
          <a:bodyPr/>
          <a:lstStyle/>
          <a:p>
            <a:r>
              <a:rPr lang="en-US" smtClean="0"/>
              <a:t>Chap 6-</a:t>
            </a:r>
            <a:fld id="{878D98A6-72FA-456F-AB89-6C253F48C483}" type="slidenum">
              <a:rPr lang="en-US" smtClean="0"/>
              <a:pPr/>
              <a:t>11</a:t>
            </a:fld>
            <a:endParaRPr lang="en-US" smtClean="0"/>
          </a:p>
        </p:txBody>
      </p:sp>
      <p:sp>
        <p:nvSpPr>
          <p:cNvPr id="210951" name="Slide Number Placeholder 2"/>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0B7E5386-C421-418D-8BC5-CFF593B6FC87}" type="slidenum">
              <a:rPr lang="en-US" sz="1000"/>
              <a:pPr algn="r" defTabSz="852488"/>
              <a:t>11</a:t>
            </a:fld>
            <a:endParaRPr lang="en-US" sz="1000"/>
          </a:p>
        </p:txBody>
      </p:sp>
      <p:sp>
        <p:nvSpPr>
          <p:cNvPr id="210952" name="Rectangle 2"/>
          <p:cNvSpPr>
            <a:spLocks noGrp="1" noChangeArrowheads="1"/>
          </p:cNvSpPr>
          <p:nvPr>
            <p:ph type="title" idx="4294967295"/>
          </p:nvPr>
        </p:nvSpPr>
        <p:spPr>
          <a:xfrm>
            <a:off x="1447800" y="304800"/>
            <a:ext cx="6781800" cy="838200"/>
          </a:xfrm>
        </p:spPr>
        <p:txBody>
          <a:bodyPr/>
          <a:lstStyle/>
          <a:p>
            <a:pPr defTabSz="914400" eaLnBrk="1" hangingPunct="1"/>
            <a:r>
              <a:rPr lang="en-US" smtClean="0"/>
              <a:t>Example</a:t>
            </a:r>
          </a:p>
        </p:txBody>
      </p:sp>
      <p:sp>
        <p:nvSpPr>
          <p:cNvPr id="210953" name="Rectangle 3"/>
          <p:cNvSpPr>
            <a:spLocks noGrp="1" noChangeArrowheads="1"/>
          </p:cNvSpPr>
          <p:nvPr>
            <p:ph type="body" idx="4294967295"/>
          </p:nvPr>
        </p:nvSpPr>
        <p:spPr>
          <a:xfrm>
            <a:off x="609600" y="1752600"/>
            <a:ext cx="8077200" cy="4419600"/>
          </a:xfrm>
        </p:spPr>
        <p:txBody>
          <a:bodyPr/>
          <a:lstStyle/>
          <a:p>
            <a:pPr marL="571500" indent="-571500" defTabSz="914400" eaLnBrk="1" hangingPunct="1"/>
            <a:r>
              <a:rPr lang="en-US" smtClean="0"/>
              <a:t>If  X  is distributed normally with </a:t>
            </a:r>
            <a:r>
              <a:rPr lang="en-US" smtClean="0">
                <a:solidFill>
                  <a:schemeClr val="folHlink"/>
                </a:solidFill>
              </a:rPr>
              <a:t>mean of $100</a:t>
            </a:r>
            <a:r>
              <a:rPr lang="en-US" smtClean="0"/>
              <a:t> and </a:t>
            </a:r>
            <a:r>
              <a:rPr lang="en-US" smtClean="0">
                <a:solidFill>
                  <a:schemeClr val="folHlink"/>
                </a:solidFill>
              </a:rPr>
              <a:t>standard deviation of $50</a:t>
            </a:r>
            <a:r>
              <a:rPr lang="en-US" smtClean="0"/>
              <a:t>, the  Z  value for  </a:t>
            </a:r>
            <a:r>
              <a:rPr lang="en-US" smtClean="0">
                <a:solidFill>
                  <a:schemeClr val="hlink"/>
                </a:solidFill>
              </a:rPr>
              <a:t>X = $200</a:t>
            </a:r>
            <a:r>
              <a:rPr lang="en-US" smtClean="0">
                <a:solidFill>
                  <a:schemeClr val="folHlink"/>
                </a:solidFill>
              </a:rPr>
              <a:t>  </a:t>
            </a:r>
            <a:r>
              <a:rPr lang="en-US" smtClean="0"/>
              <a:t>is</a:t>
            </a:r>
          </a:p>
          <a:p>
            <a:pPr marL="571500" indent="-571500" defTabSz="914400" eaLnBrk="1" hangingPunct="1"/>
            <a:endParaRPr lang="en-US" smtClean="0"/>
          </a:p>
          <a:p>
            <a:pPr marL="571500" indent="-571500" defTabSz="914400" eaLnBrk="1" hangingPunct="1"/>
            <a:endParaRPr lang="en-US" smtClean="0"/>
          </a:p>
          <a:p>
            <a:pPr marL="571500" indent="-571500" defTabSz="914400" eaLnBrk="1" hangingPunct="1"/>
            <a:endParaRPr lang="en-US" smtClean="0"/>
          </a:p>
          <a:p>
            <a:pPr marL="571500" indent="-571500" defTabSz="914400" eaLnBrk="1" hangingPunct="1"/>
            <a:r>
              <a:rPr lang="en-US" smtClean="0">
                <a:solidFill>
                  <a:srgbClr val="0066CC"/>
                </a:solidFill>
              </a:rPr>
              <a:t>This says that  X = $200  is two standard deviations (2 increments of $50 units) above the mean of $100.</a:t>
            </a:r>
          </a:p>
        </p:txBody>
      </p:sp>
      <p:graphicFrame>
        <p:nvGraphicFramePr>
          <p:cNvPr id="210948" name="Object 4"/>
          <p:cNvGraphicFramePr>
            <a:graphicFrameLocks noChangeAspect="1"/>
          </p:cNvGraphicFramePr>
          <p:nvPr/>
        </p:nvGraphicFramePr>
        <p:xfrm>
          <a:off x="1809750" y="3257550"/>
          <a:ext cx="5715000" cy="1219200"/>
        </p:xfrm>
        <a:graphic>
          <a:graphicData uri="http://schemas.openxmlformats.org/presentationml/2006/ole">
            <p:oleObj spid="_x0000_s210948" name="Equation" r:id="rId3" imgW="1904760" imgH="40608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7" name="Rectangle 4"/>
          <p:cNvSpPr>
            <a:spLocks noGrp="1" noChangeArrowheads="1"/>
          </p:cNvSpPr>
          <p:nvPr>
            <p:ph type="ftr" sz="quarter" idx="10"/>
          </p:nvPr>
        </p:nvSpPr>
        <p:spPr>
          <a:noFill/>
        </p:spPr>
        <p:txBody>
          <a:bodyPr/>
          <a:lstStyle/>
          <a:p>
            <a:r>
              <a:rPr lang="en-US" smtClean="0"/>
              <a:t>Copyright ©2012 Pearson Education</a:t>
            </a:r>
          </a:p>
        </p:txBody>
      </p:sp>
      <p:sp>
        <p:nvSpPr>
          <p:cNvPr id="352258" name="Rectangle 5"/>
          <p:cNvSpPr>
            <a:spLocks noGrp="1" noChangeArrowheads="1"/>
          </p:cNvSpPr>
          <p:nvPr>
            <p:ph type="sldNum" sz="quarter" idx="11"/>
          </p:nvPr>
        </p:nvSpPr>
        <p:spPr>
          <a:noFill/>
        </p:spPr>
        <p:txBody>
          <a:bodyPr/>
          <a:lstStyle/>
          <a:p>
            <a:r>
              <a:rPr lang="en-US" smtClean="0"/>
              <a:t>Chap 6-</a:t>
            </a:r>
            <a:fld id="{F037F2F8-4006-48E4-B386-B24C3B5882EC}" type="slidenum">
              <a:rPr lang="en-US" smtClean="0"/>
              <a:pPr/>
              <a:t>12</a:t>
            </a:fld>
            <a:endParaRPr lang="en-US" smtClean="0"/>
          </a:p>
        </p:txBody>
      </p:sp>
      <p:sp>
        <p:nvSpPr>
          <p:cNvPr id="352259" name="Slide Number Placeholder 3"/>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A29BAD2C-1F4E-401B-B8A0-382D303FE395}" type="slidenum">
              <a:rPr lang="en-US" sz="1000"/>
              <a:pPr algn="r" defTabSz="852488"/>
              <a:t>12</a:t>
            </a:fld>
            <a:endParaRPr lang="en-US" sz="1000"/>
          </a:p>
        </p:txBody>
      </p:sp>
      <p:sp>
        <p:nvSpPr>
          <p:cNvPr id="352260" name="Rectangle 2"/>
          <p:cNvSpPr>
            <a:spLocks noGrp="1" noChangeArrowheads="1"/>
          </p:cNvSpPr>
          <p:nvPr>
            <p:ph type="title"/>
          </p:nvPr>
        </p:nvSpPr>
        <p:spPr>
          <a:xfrm>
            <a:off x="1447800" y="304800"/>
            <a:ext cx="6781800" cy="838200"/>
          </a:xfrm>
        </p:spPr>
        <p:txBody>
          <a:bodyPr/>
          <a:lstStyle/>
          <a:p>
            <a:pPr defTabSz="914400" eaLnBrk="1" hangingPunct="1"/>
            <a:r>
              <a:rPr lang="en-US" smtClean="0"/>
              <a:t>Comparing  X  and  Z  units</a:t>
            </a:r>
          </a:p>
        </p:txBody>
      </p:sp>
      <p:sp>
        <p:nvSpPr>
          <p:cNvPr id="352261" name="Freeform 3"/>
          <p:cNvSpPr>
            <a:spLocks/>
          </p:cNvSpPr>
          <p:nvPr/>
        </p:nvSpPr>
        <p:spPr bwMode="auto">
          <a:xfrm>
            <a:off x="1828800" y="1981200"/>
            <a:ext cx="2243138" cy="1681163"/>
          </a:xfrm>
          <a:custGeom>
            <a:avLst/>
            <a:gdLst>
              <a:gd name="T0" fmla="*/ 0 w 901"/>
              <a:gd name="T1" fmla="*/ 1678831 h 721"/>
              <a:gd name="T2" fmla="*/ 236513 w 901"/>
              <a:gd name="T3" fmla="*/ 1660178 h 721"/>
              <a:gd name="T4" fmla="*/ 353525 w 901"/>
              <a:gd name="T5" fmla="*/ 1641524 h 721"/>
              <a:gd name="T6" fmla="*/ 470536 w 901"/>
              <a:gd name="T7" fmla="*/ 1611212 h 721"/>
              <a:gd name="T8" fmla="*/ 590037 w 901"/>
              <a:gd name="T9" fmla="*/ 1573904 h 721"/>
              <a:gd name="T10" fmla="*/ 707049 w 901"/>
              <a:gd name="T11" fmla="*/ 1522607 h 721"/>
              <a:gd name="T12" fmla="*/ 824061 w 901"/>
              <a:gd name="T13" fmla="*/ 1452655 h 721"/>
              <a:gd name="T14" fmla="*/ 1060574 w 901"/>
              <a:gd name="T15" fmla="*/ 1259124 h 721"/>
              <a:gd name="T16" fmla="*/ 1297087 w 901"/>
              <a:gd name="T17" fmla="*/ 983982 h 721"/>
              <a:gd name="T18" fmla="*/ 1533600 w 901"/>
              <a:gd name="T19" fmla="*/ 655211 h 721"/>
              <a:gd name="T20" fmla="*/ 1650611 w 901"/>
              <a:gd name="T21" fmla="*/ 487327 h 721"/>
              <a:gd name="T22" fmla="*/ 1767623 w 901"/>
              <a:gd name="T23" fmla="*/ 331103 h 721"/>
              <a:gd name="T24" fmla="*/ 1884634 w 901"/>
              <a:gd name="T25" fmla="*/ 193532 h 721"/>
              <a:gd name="T26" fmla="*/ 2004136 w 901"/>
              <a:gd name="T27" fmla="*/ 88605 h 721"/>
              <a:gd name="T28" fmla="*/ 2121147 w 901"/>
              <a:gd name="T29" fmla="*/ 20985 h 721"/>
              <a:gd name="T30" fmla="*/ 2240648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a:solidFill>
              <a:srgbClr val="008000"/>
            </a:solidFill>
            <a:round/>
            <a:headEnd/>
            <a:tailEnd/>
          </a:ln>
        </p:spPr>
        <p:txBody>
          <a:bodyPr/>
          <a:lstStyle/>
          <a:p>
            <a:endParaRPr lang="en-GB"/>
          </a:p>
        </p:txBody>
      </p:sp>
      <p:sp>
        <p:nvSpPr>
          <p:cNvPr id="352262" name="Line 4"/>
          <p:cNvSpPr>
            <a:spLocks noChangeShapeType="1"/>
          </p:cNvSpPr>
          <p:nvPr/>
        </p:nvSpPr>
        <p:spPr bwMode="auto">
          <a:xfrm>
            <a:off x="2570163" y="2447925"/>
            <a:ext cx="1587" cy="0"/>
          </a:xfrm>
          <a:prstGeom prst="line">
            <a:avLst/>
          </a:prstGeom>
          <a:noFill/>
          <a:ln w="12700">
            <a:solidFill>
              <a:srgbClr val="CDCDCD"/>
            </a:solidFill>
            <a:round/>
            <a:headEnd/>
            <a:tailEnd/>
          </a:ln>
        </p:spPr>
        <p:txBody>
          <a:bodyPr wrap="none" anchor="ctr"/>
          <a:lstStyle/>
          <a:p>
            <a:endParaRPr lang="en-US"/>
          </a:p>
        </p:txBody>
      </p:sp>
      <p:sp>
        <p:nvSpPr>
          <p:cNvPr id="352263" name="Line 5"/>
          <p:cNvSpPr>
            <a:spLocks noChangeShapeType="1"/>
          </p:cNvSpPr>
          <p:nvPr/>
        </p:nvSpPr>
        <p:spPr bwMode="auto">
          <a:xfrm>
            <a:off x="2570163" y="2570163"/>
            <a:ext cx="1587" cy="0"/>
          </a:xfrm>
          <a:prstGeom prst="line">
            <a:avLst/>
          </a:prstGeom>
          <a:noFill/>
          <a:ln w="12700">
            <a:solidFill>
              <a:srgbClr val="CDCDCD"/>
            </a:solidFill>
            <a:round/>
            <a:headEnd/>
            <a:tailEnd/>
          </a:ln>
        </p:spPr>
        <p:txBody>
          <a:bodyPr wrap="none" anchor="ctr"/>
          <a:lstStyle/>
          <a:p>
            <a:endParaRPr lang="en-US"/>
          </a:p>
        </p:txBody>
      </p:sp>
      <p:sp>
        <p:nvSpPr>
          <p:cNvPr id="352264" name="Line 6"/>
          <p:cNvSpPr>
            <a:spLocks noChangeShapeType="1"/>
          </p:cNvSpPr>
          <p:nvPr/>
        </p:nvSpPr>
        <p:spPr bwMode="auto">
          <a:xfrm>
            <a:off x="2570163" y="2690813"/>
            <a:ext cx="1587" cy="0"/>
          </a:xfrm>
          <a:prstGeom prst="line">
            <a:avLst/>
          </a:prstGeom>
          <a:noFill/>
          <a:ln w="12700">
            <a:solidFill>
              <a:srgbClr val="CDCDCD"/>
            </a:solidFill>
            <a:round/>
            <a:headEnd/>
            <a:tailEnd/>
          </a:ln>
        </p:spPr>
        <p:txBody>
          <a:bodyPr wrap="none" anchor="ctr"/>
          <a:lstStyle/>
          <a:p>
            <a:endParaRPr lang="en-US"/>
          </a:p>
        </p:txBody>
      </p:sp>
      <p:sp>
        <p:nvSpPr>
          <p:cNvPr id="352265" name="Line 7"/>
          <p:cNvSpPr>
            <a:spLocks noChangeShapeType="1"/>
          </p:cNvSpPr>
          <p:nvPr/>
        </p:nvSpPr>
        <p:spPr bwMode="auto">
          <a:xfrm>
            <a:off x="2570163" y="2813050"/>
            <a:ext cx="1587" cy="0"/>
          </a:xfrm>
          <a:prstGeom prst="line">
            <a:avLst/>
          </a:prstGeom>
          <a:noFill/>
          <a:ln w="12700">
            <a:solidFill>
              <a:srgbClr val="CDCDCD"/>
            </a:solidFill>
            <a:round/>
            <a:headEnd/>
            <a:tailEnd/>
          </a:ln>
        </p:spPr>
        <p:txBody>
          <a:bodyPr wrap="none" anchor="ctr"/>
          <a:lstStyle/>
          <a:p>
            <a:endParaRPr lang="en-US"/>
          </a:p>
        </p:txBody>
      </p:sp>
      <p:sp>
        <p:nvSpPr>
          <p:cNvPr id="352266" name="Line 8"/>
          <p:cNvSpPr>
            <a:spLocks noChangeShapeType="1"/>
          </p:cNvSpPr>
          <p:nvPr/>
        </p:nvSpPr>
        <p:spPr bwMode="auto">
          <a:xfrm>
            <a:off x="2570163" y="2933700"/>
            <a:ext cx="1587" cy="0"/>
          </a:xfrm>
          <a:prstGeom prst="line">
            <a:avLst/>
          </a:prstGeom>
          <a:noFill/>
          <a:ln w="12700">
            <a:solidFill>
              <a:srgbClr val="CDCDCD"/>
            </a:solidFill>
            <a:round/>
            <a:headEnd/>
            <a:tailEnd/>
          </a:ln>
        </p:spPr>
        <p:txBody>
          <a:bodyPr wrap="none" anchor="ctr"/>
          <a:lstStyle/>
          <a:p>
            <a:endParaRPr lang="en-US"/>
          </a:p>
        </p:txBody>
      </p:sp>
      <p:sp>
        <p:nvSpPr>
          <p:cNvPr id="352267" name="Line 9"/>
          <p:cNvSpPr>
            <a:spLocks noChangeShapeType="1"/>
          </p:cNvSpPr>
          <p:nvPr/>
        </p:nvSpPr>
        <p:spPr bwMode="auto">
          <a:xfrm>
            <a:off x="2570163" y="3055938"/>
            <a:ext cx="1587" cy="0"/>
          </a:xfrm>
          <a:prstGeom prst="line">
            <a:avLst/>
          </a:prstGeom>
          <a:noFill/>
          <a:ln w="12700">
            <a:solidFill>
              <a:srgbClr val="CDCDCD"/>
            </a:solidFill>
            <a:round/>
            <a:headEnd/>
            <a:tailEnd/>
          </a:ln>
        </p:spPr>
        <p:txBody>
          <a:bodyPr wrap="none" anchor="ctr"/>
          <a:lstStyle/>
          <a:p>
            <a:endParaRPr lang="en-US"/>
          </a:p>
        </p:txBody>
      </p:sp>
      <p:sp>
        <p:nvSpPr>
          <p:cNvPr id="352268" name="Line 10"/>
          <p:cNvSpPr>
            <a:spLocks noChangeShapeType="1"/>
          </p:cNvSpPr>
          <p:nvPr/>
        </p:nvSpPr>
        <p:spPr bwMode="auto">
          <a:xfrm>
            <a:off x="2570163" y="3176588"/>
            <a:ext cx="1587" cy="0"/>
          </a:xfrm>
          <a:prstGeom prst="line">
            <a:avLst/>
          </a:prstGeom>
          <a:noFill/>
          <a:ln w="12700">
            <a:solidFill>
              <a:srgbClr val="CDCDCD"/>
            </a:solidFill>
            <a:round/>
            <a:headEnd/>
            <a:tailEnd/>
          </a:ln>
        </p:spPr>
        <p:txBody>
          <a:bodyPr wrap="none" anchor="ctr"/>
          <a:lstStyle/>
          <a:p>
            <a:endParaRPr lang="en-US"/>
          </a:p>
        </p:txBody>
      </p:sp>
      <p:sp>
        <p:nvSpPr>
          <p:cNvPr id="352269" name="Line 11"/>
          <p:cNvSpPr>
            <a:spLocks noChangeShapeType="1"/>
          </p:cNvSpPr>
          <p:nvPr/>
        </p:nvSpPr>
        <p:spPr bwMode="auto">
          <a:xfrm>
            <a:off x="2570163" y="3298825"/>
            <a:ext cx="1587" cy="0"/>
          </a:xfrm>
          <a:prstGeom prst="line">
            <a:avLst/>
          </a:prstGeom>
          <a:noFill/>
          <a:ln w="12700">
            <a:solidFill>
              <a:srgbClr val="CDCDCD"/>
            </a:solidFill>
            <a:round/>
            <a:headEnd/>
            <a:tailEnd/>
          </a:ln>
        </p:spPr>
        <p:txBody>
          <a:bodyPr wrap="none" anchor="ctr"/>
          <a:lstStyle/>
          <a:p>
            <a:endParaRPr lang="en-US"/>
          </a:p>
        </p:txBody>
      </p:sp>
      <p:sp>
        <p:nvSpPr>
          <p:cNvPr id="352270" name="Line 12"/>
          <p:cNvSpPr>
            <a:spLocks noChangeShapeType="1"/>
          </p:cNvSpPr>
          <p:nvPr/>
        </p:nvSpPr>
        <p:spPr bwMode="auto">
          <a:xfrm>
            <a:off x="2570163" y="3419475"/>
            <a:ext cx="1587" cy="0"/>
          </a:xfrm>
          <a:prstGeom prst="line">
            <a:avLst/>
          </a:prstGeom>
          <a:noFill/>
          <a:ln w="12700">
            <a:solidFill>
              <a:srgbClr val="CDCDCD"/>
            </a:solidFill>
            <a:round/>
            <a:headEnd/>
            <a:tailEnd/>
          </a:ln>
        </p:spPr>
        <p:txBody>
          <a:bodyPr wrap="none" anchor="ctr"/>
          <a:lstStyle/>
          <a:p>
            <a:endParaRPr lang="en-US"/>
          </a:p>
        </p:txBody>
      </p:sp>
      <p:sp>
        <p:nvSpPr>
          <p:cNvPr id="352271" name="Line 13"/>
          <p:cNvSpPr>
            <a:spLocks noChangeShapeType="1"/>
          </p:cNvSpPr>
          <p:nvPr/>
        </p:nvSpPr>
        <p:spPr bwMode="auto">
          <a:xfrm>
            <a:off x="2570163" y="3540125"/>
            <a:ext cx="1587" cy="0"/>
          </a:xfrm>
          <a:prstGeom prst="line">
            <a:avLst/>
          </a:prstGeom>
          <a:noFill/>
          <a:ln w="12700">
            <a:solidFill>
              <a:srgbClr val="CDCDCD"/>
            </a:solidFill>
            <a:round/>
            <a:headEnd/>
            <a:tailEnd/>
          </a:ln>
        </p:spPr>
        <p:txBody>
          <a:bodyPr wrap="none" anchor="ctr"/>
          <a:lstStyle/>
          <a:p>
            <a:endParaRPr lang="en-US"/>
          </a:p>
        </p:txBody>
      </p:sp>
      <p:sp>
        <p:nvSpPr>
          <p:cNvPr id="352272" name="Line 14"/>
          <p:cNvSpPr>
            <a:spLocks noChangeShapeType="1"/>
          </p:cNvSpPr>
          <p:nvPr/>
        </p:nvSpPr>
        <p:spPr bwMode="auto">
          <a:xfrm>
            <a:off x="5588000" y="3668713"/>
            <a:ext cx="0" cy="1587"/>
          </a:xfrm>
          <a:prstGeom prst="line">
            <a:avLst/>
          </a:prstGeom>
          <a:noFill/>
          <a:ln w="12700">
            <a:solidFill>
              <a:srgbClr val="CDCDCD"/>
            </a:solidFill>
            <a:round/>
            <a:headEnd/>
            <a:tailEnd/>
          </a:ln>
        </p:spPr>
        <p:txBody>
          <a:bodyPr wrap="none" anchor="ctr"/>
          <a:lstStyle/>
          <a:p>
            <a:endParaRPr lang="en-US"/>
          </a:p>
        </p:txBody>
      </p:sp>
      <p:sp>
        <p:nvSpPr>
          <p:cNvPr id="352273" name="Line 15"/>
          <p:cNvSpPr>
            <a:spLocks noChangeShapeType="1"/>
          </p:cNvSpPr>
          <p:nvPr/>
        </p:nvSpPr>
        <p:spPr bwMode="auto">
          <a:xfrm>
            <a:off x="5287963" y="3668713"/>
            <a:ext cx="0" cy="1587"/>
          </a:xfrm>
          <a:prstGeom prst="line">
            <a:avLst/>
          </a:prstGeom>
          <a:noFill/>
          <a:ln w="12700">
            <a:solidFill>
              <a:srgbClr val="CDCDCD"/>
            </a:solidFill>
            <a:round/>
            <a:headEnd/>
            <a:tailEnd/>
          </a:ln>
        </p:spPr>
        <p:txBody>
          <a:bodyPr wrap="none" anchor="ctr"/>
          <a:lstStyle/>
          <a:p>
            <a:endParaRPr lang="en-US"/>
          </a:p>
        </p:txBody>
      </p:sp>
      <p:sp>
        <p:nvSpPr>
          <p:cNvPr id="352274" name="Line 16"/>
          <p:cNvSpPr>
            <a:spLocks noChangeShapeType="1"/>
          </p:cNvSpPr>
          <p:nvPr/>
        </p:nvSpPr>
        <p:spPr bwMode="auto">
          <a:xfrm>
            <a:off x="4986338" y="3668713"/>
            <a:ext cx="0" cy="1587"/>
          </a:xfrm>
          <a:prstGeom prst="line">
            <a:avLst/>
          </a:prstGeom>
          <a:noFill/>
          <a:ln w="12700">
            <a:solidFill>
              <a:srgbClr val="CDCDCD"/>
            </a:solidFill>
            <a:round/>
            <a:headEnd/>
            <a:tailEnd/>
          </a:ln>
        </p:spPr>
        <p:txBody>
          <a:bodyPr wrap="none" anchor="ctr"/>
          <a:lstStyle/>
          <a:p>
            <a:endParaRPr lang="en-US"/>
          </a:p>
        </p:txBody>
      </p:sp>
      <p:sp>
        <p:nvSpPr>
          <p:cNvPr id="352275" name="Line 17"/>
          <p:cNvSpPr>
            <a:spLocks noChangeShapeType="1"/>
          </p:cNvSpPr>
          <p:nvPr/>
        </p:nvSpPr>
        <p:spPr bwMode="auto">
          <a:xfrm>
            <a:off x="4686300" y="3668713"/>
            <a:ext cx="0" cy="1587"/>
          </a:xfrm>
          <a:prstGeom prst="line">
            <a:avLst/>
          </a:prstGeom>
          <a:noFill/>
          <a:ln w="12700">
            <a:solidFill>
              <a:srgbClr val="CDCDCD"/>
            </a:solidFill>
            <a:round/>
            <a:headEnd/>
            <a:tailEnd/>
          </a:ln>
        </p:spPr>
        <p:txBody>
          <a:bodyPr wrap="none" anchor="ctr"/>
          <a:lstStyle/>
          <a:p>
            <a:endParaRPr lang="en-US"/>
          </a:p>
        </p:txBody>
      </p:sp>
      <p:sp>
        <p:nvSpPr>
          <p:cNvPr id="352276" name="Line 18"/>
          <p:cNvSpPr>
            <a:spLocks noChangeShapeType="1"/>
          </p:cNvSpPr>
          <p:nvPr/>
        </p:nvSpPr>
        <p:spPr bwMode="auto">
          <a:xfrm>
            <a:off x="4386263" y="3668713"/>
            <a:ext cx="0" cy="1587"/>
          </a:xfrm>
          <a:prstGeom prst="line">
            <a:avLst/>
          </a:prstGeom>
          <a:noFill/>
          <a:ln w="12700">
            <a:solidFill>
              <a:srgbClr val="CDCDCD"/>
            </a:solidFill>
            <a:round/>
            <a:headEnd/>
            <a:tailEnd/>
          </a:ln>
        </p:spPr>
        <p:txBody>
          <a:bodyPr wrap="none" anchor="ctr"/>
          <a:lstStyle/>
          <a:p>
            <a:endParaRPr lang="en-US"/>
          </a:p>
        </p:txBody>
      </p:sp>
      <p:sp>
        <p:nvSpPr>
          <p:cNvPr id="352277" name="Line 19"/>
          <p:cNvSpPr>
            <a:spLocks noChangeShapeType="1"/>
          </p:cNvSpPr>
          <p:nvPr/>
        </p:nvSpPr>
        <p:spPr bwMode="auto">
          <a:xfrm>
            <a:off x="4086225" y="3668713"/>
            <a:ext cx="0" cy="1587"/>
          </a:xfrm>
          <a:prstGeom prst="line">
            <a:avLst/>
          </a:prstGeom>
          <a:noFill/>
          <a:ln w="12700">
            <a:solidFill>
              <a:srgbClr val="CDCDCD"/>
            </a:solidFill>
            <a:round/>
            <a:headEnd/>
            <a:tailEnd/>
          </a:ln>
        </p:spPr>
        <p:txBody>
          <a:bodyPr wrap="none" anchor="ctr"/>
          <a:lstStyle/>
          <a:p>
            <a:endParaRPr lang="en-US"/>
          </a:p>
        </p:txBody>
      </p:sp>
      <p:sp>
        <p:nvSpPr>
          <p:cNvPr id="352278" name="Line 20"/>
          <p:cNvSpPr>
            <a:spLocks noChangeShapeType="1"/>
          </p:cNvSpPr>
          <p:nvPr/>
        </p:nvSpPr>
        <p:spPr bwMode="auto">
          <a:xfrm>
            <a:off x="3786188" y="3668713"/>
            <a:ext cx="0" cy="1587"/>
          </a:xfrm>
          <a:prstGeom prst="line">
            <a:avLst/>
          </a:prstGeom>
          <a:noFill/>
          <a:ln w="12700">
            <a:solidFill>
              <a:srgbClr val="CDCDCD"/>
            </a:solidFill>
            <a:round/>
            <a:headEnd/>
            <a:tailEnd/>
          </a:ln>
        </p:spPr>
        <p:txBody>
          <a:bodyPr wrap="none" anchor="ctr"/>
          <a:lstStyle/>
          <a:p>
            <a:endParaRPr lang="en-US"/>
          </a:p>
        </p:txBody>
      </p:sp>
      <p:sp>
        <p:nvSpPr>
          <p:cNvPr id="352279" name="Line 21"/>
          <p:cNvSpPr>
            <a:spLocks noChangeShapeType="1"/>
          </p:cNvSpPr>
          <p:nvPr/>
        </p:nvSpPr>
        <p:spPr bwMode="auto">
          <a:xfrm>
            <a:off x="3486150" y="3668713"/>
            <a:ext cx="0" cy="1587"/>
          </a:xfrm>
          <a:prstGeom prst="line">
            <a:avLst/>
          </a:prstGeom>
          <a:noFill/>
          <a:ln w="12700">
            <a:solidFill>
              <a:srgbClr val="CDCDCD"/>
            </a:solidFill>
            <a:round/>
            <a:headEnd/>
            <a:tailEnd/>
          </a:ln>
        </p:spPr>
        <p:txBody>
          <a:bodyPr wrap="none" anchor="ctr"/>
          <a:lstStyle/>
          <a:p>
            <a:endParaRPr lang="en-US"/>
          </a:p>
        </p:txBody>
      </p:sp>
      <p:sp>
        <p:nvSpPr>
          <p:cNvPr id="352280" name="Line 22"/>
          <p:cNvSpPr>
            <a:spLocks noChangeShapeType="1"/>
          </p:cNvSpPr>
          <p:nvPr/>
        </p:nvSpPr>
        <p:spPr bwMode="auto">
          <a:xfrm>
            <a:off x="3184525" y="3668713"/>
            <a:ext cx="0" cy="1587"/>
          </a:xfrm>
          <a:prstGeom prst="line">
            <a:avLst/>
          </a:prstGeom>
          <a:noFill/>
          <a:ln w="12700">
            <a:solidFill>
              <a:srgbClr val="CDCDCD"/>
            </a:solidFill>
            <a:round/>
            <a:headEnd/>
            <a:tailEnd/>
          </a:ln>
        </p:spPr>
        <p:txBody>
          <a:bodyPr wrap="none" anchor="ctr"/>
          <a:lstStyle/>
          <a:p>
            <a:endParaRPr lang="en-US"/>
          </a:p>
        </p:txBody>
      </p:sp>
      <p:sp>
        <p:nvSpPr>
          <p:cNvPr id="352281" name="Line 23"/>
          <p:cNvSpPr>
            <a:spLocks noChangeShapeType="1"/>
          </p:cNvSpPr>
          <p:nvPr/>
        </p:nvSpPr>
        <p:spPr bwMode="auto">
          <a:xfrm>
            <a:off x="2884488" y="3668713"/>
            <a:ext cx="0" cy="1587"/>
          </a:xfrm>
          <a:prstGeom prst="line">
            <a:avLst/>
          </a:prstGeom>
          <a:noFill/>
          <a:ln w="12700">
            <a:solidFill>
              <a:srgbClr val="CDCDCD"/>
            </a:solidFill>
            <a:round/>
            <a:headEnd/>
            <a:tailEnd/>
          </a:ln>
        </p:spPr>
        <p:txBody>
          <a:bodyPr wrap="none" anchor="ctr"/>
          <a:lstStyle/>
          <a:p>
            <a:endParaRPr lang="en-US"/>
          </a:p>
        </p:txBody>
      </p:sp>
      <p:sp>
        <p:nvSpPr>
          <p:cNvPr id="352282" name="Rectangle 24"/>
          <p:cNvSpPr>
            <a:spLocks noChangeArrowheads="1"/>
          </p:cNvSpPr>
          <p:nvPr/>
        </p:nvSpPr>
        <p:spPr bwMode="auto">
          <a:xfrm>
            <a:off x="2457450" y="2963863"/>
            <a:ext cx="92075" cy="184150"/>
          </a:xfrm>
          <a:prstGeom prst="rect">
            <a:avLst/>
          </a:prstGeom>
          <a:noFill/>
          <a:ln w="12700">
            <a:noFill/>
            <a:miter lim="800000"/>
            <a:headEnd/>
            <a:tailEnd/>
          </a:ln>
        </p:spPr>
        <p:txBody>
          <a:bodyPr wrap="none" anchor="ctr"/>
          <a:lstStyle/>
          <a:p>
            <a:pPr algn="ctr">
              <a:spcBef>
                <a:spcPct val="50000"/>
              </a:spcBef>
            </a:pPr>
            <a:endParaRPr lang="en-GB"/>
          </a:p>
        </p:txBody>
      </p:sp>
      <p:sp>
        <p:nvSpPr>
          <p:cNvPr id="352283" name="Rectangle 25"/>
          <p:cNvSpPr>
            <a:spLocks noChangeArrowheads="1"/>
          </p:cNvSpPr>
          <p:nvPr/>
        </p:nvSpPr>
        <p:spPr bwMode="auto">
          <a:xfrm>
            <a:off x="3994150" y="3638550"/>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352284" name="Rectangle 26"/>
          <p:cNvSpPr>
            <a:spLocks noChangeArrowheads="1"/>
          </p:cNvSpPr>
          <p:nvPr/>
        </p:nvSpPr>
        <p:spPr bwMode="auto">
          <a:xfrm>
            <a:off x="6172200" y="4267200"/>
            <a:ext cx="381000" cy="515938"/>
          </a:xfrm>
          <a:prstGeom prst="rect">
            <a:avLst/>
          </a:prstGeom>
          <a:noFill/>
          <a:ln w="12700">
            <a:noFill/>
            <a:miter lim="800000"/>
            <a:headEnd/>
            <a:tailEnd/>
          </a:ln>
        </p:spPr>
        <p:txBody>
          <a:bodyPr lIns="90487" tIns="44450" rIns="90487" bIns="44450">
            <a:spAutoFit/>
          </a:bodyPr>
          <a:lstStyle/>
          <a:p>
            <a:pPr eaLnBrk="0" hangingPunct="0"/>
            <a:r>
              <a:rPr lang="en-US" sz="2800" b="1">
                <a:solidFill>
                  <a:srgbClr val="FF3300"/>
                </a:solidFill>
              </a:rPr>
              <a:t>Z</a:t>
            </a:r>
          </a:p>
        </p:txBody>
      </p:sp>
      <p:sp>
        <p:nvSpPr>
          <p:cNvPr id="352285" name="Rectangle 27"/>
          <p:cNvSpPr>
            <a:spLocks noChangeArrowheads="1"/>
          </p:cNvSpPr>
          <p:nvPr/>
        </p:nvSpPr>
        <p:spPr bwMode="auto">
          <a:xfrm>
            <a:off x="3505200" y="3810000"/>
            <a:ext cx="1143000" cy="520700"/>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sz="2800" b="1">
                <a:solidFill>
                  <a:schemeClr val="bg2"/>
                </a:solidFill>
              </a:rPr>
              <a:t>$100</a:t>
            </a:r>
          </a:p>
        </p:txBody>
      </p:sp>
      <p:sp>
        <p:nvSpPr>
          <p:cNvPr id="352286" name="Rectangle 28"/>
          <p:cNvSpPr>
            <a:spLocks noChangeArrowheads="1"/>
          </p:cNvSpPr>
          <p:nvPr/>
        </p:nvSpPr>
        <p:spPr bwMode="auto">
          <a:xfrm>
            <a:off x="5029200" y="4267200"/>
            <a:ext cx="990600" cy="515938"/>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sz="2800" b="1">
                <a:solidFill>
                  <a:srgbClr val="FF3300"/>
                </a:solidFill>
              </a:rPr>
              <a:t>  2.0</a:t>
            </a:r>
          </a:p>
        </p:txBody>
      </p:sp>
      <p:sp>
        <p:nvSpPr>
          <p:cNvPr id="352287" name="Freeform 29"/>
          <p:cNvSpPr>
            <a:spLocks/>
          </p:cNvSpPr>
          <p:nvPr/>
        </p:nvSpPr>
        <p:spPr bwMode="auto">
          <a:xfrm>
            <a:off x="4038600" y="1981200"/>
            <a:ext cx="2101850" cy="1681163"/>
          </a:xfrm>
          <a:custGeom>
            <a:avLst/>
            <a:gdLst>
              <a:gd name="T0" fmla="*/ 2099517 w 901"/>
              <a:gd name="T1" fmla="*/ 1678831 h 721"/>
              <a:gd name="T2" fmla="*/ 1877902 w 901"/>
              <a:gd name="T3" fmla="*/ 1660178 h 721"/>
              <a:gd name="T4" fmla="*/ 1768260 w 901"/>
              <a:gd name="T5" fmla="*/ 1641524 h 721"/>
              <a:gd name="T6" fmla="*/ 1658619 w 901"/>
              <a:gd name="T7" fmla="*/ 1611212 h 721"/>
              <a:gd name="T8" fmla="*/ 1546644 w 901"/>
              <a:gd name="T9" fmla="*/ 1573904 h 721"/>
              <a:gd name="T10" fmla="*/ 1434670 w 901"/>
              <a:gd name="T11" fmla="*/ 1522607 h 721"/>
              <a:gd name="T12" fmla="*/ 1325029 w 901"/>
              <a:gd name="T13" fmla="*/ 1452655 h 721"/>
              <a:gd name="T14" fmla="*/ 1103413 w 901"/>
              <a:gd name="T15" fmla="*/ 1259124 h 721"/>
              <a:gd name="T16" fmla="*/ 881797 w 901"/>
              <a:gd name="T17" fmla="*/ 983982 h 721"/>
              <a:gd name="T18" fmla="*/ 662514 w 901"/>
              <a:gd name="T19" fmla="*/ 655211 h 721"/>
              <a:gd name="T20" fmla="*/ 550540 w 901"/>
              <a:gd name="T21" fmla="*/ 487327 h 721"/>
              <a:gd name="T22" fmla="*/ 440899 w 901"/>
              <a:gd name="T23" fmla="*/ 331103 h 721"/>
              <a:gd name="T24" fmla="*/ 331257 w 901"/>
              <a:gd name="T25" fmla="*/ 193532 h 721"/>
              <a:gd name="T26" fmla="*/ 219283 w 901"/>
              <a:gd name="T27" fmla="*/ 88605 h 721"/>
              <a:gd name="T28" fmla="*/ 109641 w 901"/>
              <a:gd name="T29" fmla="*/ 20985 h 721"/>
              <a:gd name="T30" fmla="*/ 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a:solidFill>
              <a:srgbClr val="008000"/>
            </a:solidFill>
            <a:round/>
            <a:headEnd/>
            <a:tailEnd/>
          </a:ln>
        </p:spPr>
        <p:txBody>
          <a:bodyPr/>
          <a:lstStyle/>
          <a:p>
            <a:endParaRPr lang="en-GB"/>
          </a:p>
        </p:txBody>
      </p:sp>
      <p:sp>
        <p:nvSpPr>
          <p:cNvPr id="352288" name="Line 30"/>
          <p:cNvSpPr>
            <a:spLocks noChangeShapeType="1"/>
          </p:cNvSpPr>
          <p:nvPr/>
        </p:nvSpPr>
        <p:spPr bwMode="auto">
          <a:xfrm>
            <a:off x="1676400" y="3733800"/>
            <a:ext cx="4572000" cy="0"/>
          </a:xfrm>
          <a:prstGeom prst="line">
            <a:avLst/>
          </a:prstGeom>
          <a:noFill/>
          <a:ln w="28575">
            <a:solidFill>
              <a:schemeClr val="bg2"/>
            </a:solidFill>
            <a:round/>
            <a:headEnd/>
            <a:tailEnd/>
          </a:ln>
        </p:spPr>
        <p:txBody>
          <a:bodyPr/>
          <a:lstStyle/>
          <a:p>
            <a:endParaRPr lang="en-US"/>
          </a:p>
        </p:txBody>
      </p:sp>
      <p:sp>
        <p:nvSpPr>
          <p:cNvPr id="352289" name="Rectangle 31"/>
          <p:cNvSpPr>
            <a:spLocks noChangeArrowheads="1"/>
          </p:cNvSpPr>
          <p:nvPr/>
        </p:nvSpPr>
        <p:spPr bwMode="auto">
          <a:xfrm>
            <a:off x="3886200" y="4267200"/>
            <a:ext cx="479425" cy="515938"/>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sz="2800" b="1">
                <a:solidFill>
                  <a:srgbClr val="FF3300"/>
                </a:solidFill>
              </a:rPr>
              <a:t>0</a:t>
            </a:r>
          </a:p>
        </p:txBody>
      </p:sp>
      <p:sp>
        <p:nvSpPr>
          <p:cNvPr id="352290" name="Rectangle 32"/>
          <p:cNvSpPr>
            <a:spLocks noChangeArrowheads="1"/>
          </p:cNvSpPr>
          <p:nvPr/>
        </p:nvSpPr>
        <p:spPr bwMode="auto">
          <a:xfrm>
            <a:off x="4953000" y="3810000"/>
            <a:ext cx="990600" cy="515938"/>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sz="2800" b="1">
                <a:solidFill>
                  <a:schemeClr val="bg2"/>
                </a:solidFill>
              </a:rPr>
              <a:t>$200</a:t>
            </a:r>
          </a:p>
        </p:txBody>
      </p:sp>
      <p:sp>
        <p:nvSpPr>
          <p:cNvPr id="352291" name="Rectangle 33"/>
          <p:cNvSpPr>
            <a:spLocks noChangeArrowheads="1"/>
          </p:cNvSpPr>
          <p:nvPr/>
        </p:nvSpPr>
        <p:spPr bwMode="auto">
          <a:xfrm>
            <a:off x="6172200" y="3810000"/>
            <a:ext cx="622300" cy="520700"/>
          </a:xfrm>
          <a:prstGeom prst="rect">
            <a:avLst/>
          </a:prstGeom>
          <a:noFill/>
          <a:ln w="12700">
            <a:noFill/>
            <a:miter lim="800000"/>
            <a:headEnd/>
            <a:tailEnd/>
          </a:ln>
        </p:spPr>
        <p:txBody>
          <a:bodyPr wrap="none" lIns="90487" tIns="44450" rIns="90487" bIns="44450">
            <a:spAutoFit/>
          </a:bodyPr>
          <a:lstStyle/>
          <a:p>
            <a:pPr eaLnBrk="0" hangingPunct="0"/>
            <a:r>
              <a:rPr lang="en-US" sz="2800" b="1">
                <a:solidFill>
                  <a:schemeClr val="bg2"/>
                </a:solidFill>
              </a:rPr>
              <a:t>$X</a:t>
            </a:r>
          </a:p>
        </p:txBody>
      </p:sp>
      <p:sp>
        <p:nvSpPr>
          <p:cNvPr id="352292" name="Text Box 34"/>
          <p:cNvSpPr txBox="1">
            <a:spLocks noChangeArrowheads="1"/>
          </p:cNvSpPr>
          <p:nvPr/>
        </p:nvSpPr>
        <p:spPr bwMode="auto">
          <a:xfrm>
            <a:off x="838200" y="4953000"/>
            <a:ext cx="7696200" cy="1570038"/>
          </a:xfrm>
          <a:prstGeom prst="rect">
            <a:avLst/>
          </a:prstGeom>
          <a:noFill/>
          <a:ln w="12700">
            <a:noFill/>
            <a:miter lim="800000"/>
            <a:headEnd/>
            <a:tailEnd/>
          </a:ln>
        </p:spPr>
        <p:txBody>
          <a:bodyPr>
            <a:spAutoFit/>
          </a:bodyPr>
          <a:lstStyle/>
          <a:p>
            <a:pPr eaLnBrk="0" hangingPunct="0">
              <a:spcBef>
                <a:spcPct val="50000"/>
              </a:spcBef>
            </a:pPr>
            <a:r>
              <a:rPr lang="en-US" b="1">
                <a:solidFill>
                  <a:schemeClr val="bg2"/>
                </a:solidFill>
              </a:rPr>
              <a:t>Note that the shape of the distribution is the same, only the scale has changed.  We can express the problem in the original units (X in dollars) or in standardized units (Z)</a:t>
            </a:r>
          </a:p>
        </p:txBody>
      </p:sp>
      <p:sp>
        <p:nvSpPr>
          <p:cNvPr id="352293" name="Line 35"/>
          <p:cNvSpPr>
            <a:spLocks noChangeShapeType="1"/>
          </p:cNvSpPr>
          <p:nvPr/>
        </p:nvSpPr>
        <p:spPr bwMode="auto">
          <a:xfrm>
            <a:off x="4038600" y="1981200"/>
            <a:ext cx="0" cy="1752600"/>
          </a:xfrm>
          <a:prstGeom prst="line">
            <a:avLst/>
          </a:prstGeom>
          <a:noFill/>
          <a:ln w="25400">
            <a:solidFill>
              <a:schemeClr val="bg2"/>
            </a:solidFill>
            <a:round/>
            <a:headEnd/>
            <a:tailEnd/>
          </a:ln>
        </p:spPr>
        <p:txBody>
          <a:bodyPr/>
          <a:lstStyle/>
          <a:p>
            <a:endParaRPr lang="en-US"/>
          </a:p>
        </p:txBody>
      </p:sp>
      <p:sp>
        <p:nvSpPr>
          <p:cNvPr id="352294" name="Line 36"/>
          <p:cNvSpPr>
            <a:spLocks noChangeShapeType="1"/>
          </p:cNvSpPr>
          <p:nvPr/>
        </p:nvSpPr>
        <p:spPr bwMode="auto">
          <a:xfrm>
            <a:off x="5334000" y="3429000"/>
            <a:ext cx="0" cy="304800"/>
          </a:xfrm>
          <a:prstGeom prst="line">
            <a:avLst/>
          </a:prstGeom>
          <a:noFill/>
          <a:ln w="28575">
            <a:solidFill>
              <a:schemeClr val="bg2"/>
            </a:solidFill>
            <a:round/>
            <a:headEnd/>
            <a:tailEnd/>
          </a:ln>
        </p:spPr>
        <p:txBody>
          <a:bodyPr/>
          <a:lstStyle/>
          <a:p>
            <a:endParaRPr lang="en-US"/>
          </a:p>
        </p:txBody>
      </p:sp>
      <p:sp>
        <p:nvSpPr>
          <p:cNvPr id="352295" name="Text Box 39"/>
          <p:cNvSpPr txBox="1">
            <a:spLocks noChangeArrowheads="1"/>
          </p:cNvSpPr>
          <p:nvPr/>
        </p:nvSpPr>
        <p:spPr bwMode="auto">
          <a:xfrm>
            <a:off x="6629400" y="3886200"/>
            <a:ext cx="2362200" cy="369888"/>
          </a:xfrm>
          <a:prstGeom prst="rect">
            <a:avLst/>
          </a:prstGeom>
          <a:noFill/>
          <a:ln w="9525">
            <a:noFill/>
            <a:miter lim="800000"/>
            <a:headEnd/>
            <a:tailEnd/>
          </a:ln>
        </p:spPr>
        <p:txBody>
          <a:bodyPr>
            <a:spAutoFit/>
          </a:bodyPr>
          <a:lstStyle/>
          <a:p>
            <a:r>
              <a:rPr lang="en-US" sz="1800">
                <a:solidFill>
                  <a:schemeClr val="bg2"/>
                </a:solidFill>
                <a:sym typeface="Arial" charset="0"/>
              </a:rPr>
              <a:t>(</a:t>
            </a:r>
            <a:r>
              <a:rPr lang="el-GR" sz="1800">
                <a:solidFill>
                  <a:schemeClr val="bg2"/>
                </a:solidFill>
                <a:sym typeface="Arial" charset="0"/>
              </a:rPr>
              <a:t>μ</a:t>
            </a:r>
            <a:r>
              <a:rPr lang="en-US" sz="1800">
                <a:solidFill>
                  <a:schemeClr val="bg2"/>
                </a:solidFill>
                <a:sym typeface="Arial" charset="0"/>
              </a:rPr>
              <a:t> = $100, </a:t>
            </a:r>
            <a:r>
              <a:rPr lang="el-GR" sz="1800">
                <a:solidFill>
                  <a:schemeClr val="bg2"/>
                </a:solidFill>
                <a:sym typeface="Arial" charset="0"/>
              </a:rPr>
              <a:t>σ</a:t>
            </a:r>
            <a:r>
              <a:rPr lang="en-US" sz="1800">
                <a:solidFill>
                  <a:schemeClr val="bg2"/>
                </a:solidFill>
                <a:sym typeface="Arial" charset="0"/>
              </a:rPr>
              <a:t> = $50)</a:t>
            </a:r>
          </a:p>
        </p:txBody>
      </p:sp>
      <p:sp>
        <p:nvSpPr>
          <p:cNvPr id="352296" name="Text Box 40"/>
          <p:cNvSpPr txBox="1">
            <a:spLocks noChangeArrowheads="1"/>
          </p:cNvSpPr>
          <p:nvPr/>
        </p:nvSpPr>
        <p:spPr bwMode="auto">
          <a:xfrm>
            <a:off x="6629400" y="4343400"/>
            <a:ext cx="1752600" cy="366713"/>
          </a:xfrm>
          <a:prstGeom prst="rect">
            <a:avLst/>
          </a:prstGeom>
          <a:noFill/>
          <a:ln w="9525">
            <a:noFill/>
            <a:miter lim="800000"/>
            <a:headEnd/>
            <a:tailEnd/>
          </a:ln>
        </p:spPr>
        <p:txBody>
          <a:bodyPr>
            <a:spAutoFit/>
          </a:bodyPr>
          <a:lstStyle/>
          <a:p>
            <a:r>
              <a:rPr lang="en-US" sz="1800">
                <a:solidFill>
                  <a:schemeClr val="hlink"/>
                </a:solidFill>
                <a:sym typeface="Arial" charset="0"/>
              </a:rPr>
              <a:t>(</a:t>
            </a:r>
            <a:r>
              <a:rPr lang="el-GR" sz="1800">
                <a:solidFill>
                  <a:schemeClr val="hlink"/>
                </a:solidFill>
                <a:sym typeface="Arial" charset="0"/>
              </a:rPr>
              <a:t>μ</a:t>
            </a:r>
            <a:r>
              <a:rPr lang="en-US" sz="1800">
                <a:solidFill>
                  <a:schemeClr val="hlink"/>
                </a:solidFill>
                <a:sym typeface="Arial" charset="0"/>
              </a:rPr>
              <a:t> = 0, </a:t>
            </a:r>
            <a:r>
              <a:rPr lang="el-GR" sz="1800">
                <a:solidFill>
                  <a:schemeClr val="hlink"/>
                </a:solidFill>
                <a:sym typeface="Arial" charset="0"/>
              </a:rPr>
              <a:t>σ</a:t>
            </a:r>
            <a:r>
              <a:rPr lang="en-US" sz="1800">
                <a:solidFill>
                  <a:schemeClr val="hlink"/>
                </a:solidFill>
                <a:sym typeface="Arial" charset="0"/>
              </a:rPr>
              <a:t> = 1)</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1" name="Rectangle 4"/>
          <p:cNvSpPr>
            <a:spLocks noGrp="1" noChangeArrowheads="1"/>
          </p:cNvSpPr>
          <p:nvPr>
            <p:ph type="ftr" sz="quarter" idx="10"/>
          </p:nvPr>
        </p:nvSpPr>
        <p:spPr>
          <a:noFill/>
        </p:spPr>
        <p:txBody>
          <a:bodyPr/>
          <a:lstStyle/>
          <a:p>
            <a:r>
              <a:rPr lang="en-US" smtClean="0"/>
              <a:t>Copyright ©2012 Pearson Education</a:t>
            </a:r>
          </a:p>
        </p:txBody>
      </p:sp>
      <p:sp>
        <p:nvSpPr>
          <p:cNvPr id="353282" name="Rectangle 5"/>
          <p:cNvSpPr>
            <a:spLocks noGrp="1" noChangeArrowheads="1"/>
          </p:cNvSpPr>
          <p:nvPr>
            <p:ph type="sldNum" sz="quarter" idx="11"/>
          </p:nvPr>
        </p:nvSpPr>
        <p:spPr>
          <a:noFill/>
        </p:spPr>
        <p:txBody>
          <a:bodyPr/>
          <a:lstStyle/>
          <a:p>
            <a:r>
              <a:rPr lang="en-US" smtClean="0"/>
              <a:t>Chap 6-</a:t>
            </a:r>
            <a:fld id="{30EFFD7A-9268-4C82-BCEF-D75029310110}" type="slidenum">
              <a:rPr lang="en-US" smtClean="0"/>
              <a:pPr/>
              <a:t>13</a:t>
            </a:fld>
            <a:endParaRPr lang="en-US" smtClean="0"/>
          </a:p>
        </p:txBody>
      </p:sp>
      <p:sp>
        <p:nvSpPr>
          <p:cNvPr id="353283" name="Slide Number Placeholder 5"/>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3D29D2ED-F14E-4D55-8A80-690004CB105C}" type="slidenum">
              <a:rPr lang="en-US" sz="1000"/>
              <a:pPr algn="r" defTabSz="852488"/>
              <a:t>13</a:t>
            </a:fld>
            <a:endParaRPr lang="en-US" sz="1000"/>
          </a:p>
        </p:txBody>
      </p:sp>
      <p:sp>
        <p:nvSpPr>
          <p:cNvPr id="353284" name="Rectangle 2"/>
          <p:cNvSpPr>
            <a:spLocks noGrp="1" noChangeArrowheads="1"/>
          </p:cNvSpPr>
          <p:nvPr>
            <p:ph type="title"/>
          </p:nvPr>
        </p:nvSpPr>
        <p:spPr>
          <a:xfrm>
            <a:off x="914400" y="304800"/>
            <a:ext cx="7772400" cy="904875"/>
          </a:xfrm>
        </p:spPr>
        <p:txBody>
          <a:bodyPr lIns="90487" tIns="44450" rIns="90487" bIns="44450" anchor="ctr" anchorCtr="1"/>
          <a:lstStyle/>
          <a:p>
            <a:pPr defTabSz="914400" eaLnBrk="1" hangingPunct="1">
              <a:lnSpc>
                <a:spcPct val="95000"/>
              </a:lnSpc>
            </a:pPr>
            <a:r>
              <a:rPr lang="en-US" sz="3900" smtClean="0"/>
              <a:t>Finding Normal Probabilities</a:t>
            </a:r>
            <a:r>
              <a:rPr lang="en-US" smtClean="0">
                <a:solidFill>
                  <a:srgbClr val="F8F8F8"/>
                </a:solidFill>
              </a:rPr>
              <a:t>  </a:t>
            </a:r>
          </a:p>
        </p:txBody>
      </p:sp>
      <p:sp>
        <p:nvSpPr>
          <p:cNvPr id="353285" name="Freeform 4"/>
          <p:cNvSpPr>
            <a:spLocks/>
          </p:cNvSpPr>
          <p:nvPr/>
        </p:nvSpPr>
        <p:spPr bwMode="auto">
          <a:xfrm>
            <a:off x="4094163" y="3609975"/>
            <a:ext cx="869950" cy="2041525"/>
          </a:xfrm>
          <a:custGeom>
            <a:avLst/>
            <a:gdLst>
              <a:gd name="T0" fmla="*/ 138112 w 548"/>
              <a:gd name="T1" fmla="*/ 42862 h 1286"/>
              <a:gd name="T2" fmla="*/ 238125 w 548"/>
              <a:gd name="T3" fmla="*/ 95250 h 1286"/>
              <a:gd name="T4" fmla="*/ 385762 w 548"/>
              <a:gd name="T5" fmla="*/ 276225 h 1286"/>
              <a:gd name="T6" fmla="*/ 504825 w 548"/>
              <a:gd name="T7" fmla="*/ 457200 h 1286"/>
              <a:gd name="T8" fmla="*/ 647700 w 548"/>
              <a:gd name="T9" fmla="*/ 709612 h 1286"/>
              <a:gd name="T10" fmla="*/ 766762 w 548"/>
              <a:gd name="T11" fmla="*/ 928688 h 1286"/>
              <a:gd name="T12" fmla="*/ 862013 w 548"/>
              <a:gd name="T13" fmla="*/ 1076325 h 1286"/>
              <a:gd name="T14" fmla="*/ 869950 w 548"/>
              <a:gd name="T15" fmla="*/ 2041525 h 1286"/>
              <a:gd name="T16" fmla="*/ 0 w 548"/>
              <a:gd name="T17" fmla="*/ 2041525 h 1286"/>
              <a:gd name="T18" fmla="*/ 0 w 548"/>
              <a:gd name="T19" fmla="*/ 0 h 128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48"/>
              <a:gd name="T31" fmla="*/ 0 h 1286"/>
              <a:gd name="T32" fmla="*/ 548 w 548"/>
              <a:gd name="T33" fmla="*/ 1286 h 128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48" h="1286">
                <a:moveTo>
                  <a:pt x="87" y="27"/>
                </a:moveTo>
                <a:lnTo>
                  <a:pt x="150" y="60"/>
                </a:lnTo>
                <a:lnTo>
                  <a:pt x="243" y="174"/>
                </a:lnTo>
                <a:lnTo>
                  <a:pt x="318" y="288"/>
                </a:lnTo>
                <a:lnTo>
                  <a:pt x="408" y="447"/>
                </a:lnTo>
                <a:lnTo>
                  <a:pt x="483" y="585"/>
                </a:lnTo>
                <a:lnTo>
                  <a:pt x="543" y="678"/>
                </a:lnTo>
                <a:lnTo>
                  <a:pt x="548" y="1286"/>
                </a:lnTo>
                <a:lnTo>
                  <a:pt x="0" y="1286"/>
                </a:lnTo>
                <a:lnTo>
                  <a:pt x="0" y="0"/>
                </a:lnTo>
              </a:path>
            </a:pathLst>
          </a:custGeom>
          <a:solidFill>
            <a:schemeClr val="accent2"/>
          </a:solidFill>
          <a:ln w="12700" cap="rnd">
            <a:noFill/>
            <a:round/>
            <a:headEnd/>
            <a:tailEnd/>
          </a:ln>
        </p:spPr>
        <p:txBody>
          <a:bodyPr/>
          <a:lstStyle/>
          <a:p>
            <a:endParaRPr lang="en-GB"/>
          </a:p>
        </p:txBody>
      </p:sp>
      <p:sp>
        <p:nvSpPr>
          <p:cNvPr id="353286" name="Rectangle 5"/>
          <p:cNvSpPr>
            <a:spLocks noChangeArrowheads="1"/>
          </p:cNvSpPr>
          <p:nvPr/>
        </p:nvSpPr>
        <p:spPr bwMode="auto">
          <a:xfrm>
            <a:off x="3941763" y="5576888"/>
            <a:ext cx="371475" cy="500062"/>
          </a:xfrm>
          <a:prstGeom prst="rect">
            <a:avLst/>
          </a:prstGeom>
          <a:noFill/>
          <a:ln w="12700">
            <a:noFill/>
            <a:miter lim="800000"/>
            <a:headEnd/>
            <a:tailEnd/>
          </a:ln>
        </p:spPr>
        <p:txBody>
          <a:bodyPr wrap="none" lIns="90487" tIns="44450" rIns="90487" bIns="44450">
            <a:spAutoFit/>
          </a:bodyPr>
          <a:lstStyle/>
          <a:p>
            <a:pPr eaLnBrk="0" hangingPunct="0"/>
            <a:r>
              <a:rPr lang="en-US" sz="2700" b="1">
                <a:solidFill>
                  <a:srgbClr val="33CC33"/>
                </a:solidFill>
              </a:rPr>
              <a:t>a</a:t>
            </a:r>
          </a:p>
        </p:txBody>
      </p:sp>
      <p:sp>
        <p:nvSpPr>
          <p:cNvPr id="353287" name="Freeform 6"/>
          <p:cNvSpPr>
            <a:spLocks/>
          </p:cNvSpPr>
          <p:nvPr/>
        </p:nvSpPr>
        <p:spPr bwMode="auto">
          <a:xfrm>
            <a:off x="4113213" y="3606800"/>
            <a:ext cx="322262" cy="209550"/>
          </a:xfrm>
          <a:custGeom>
            <a:avLst/>
            <a:gdLst>
              <a:gd name="T0" fmla="*/ 0 w 203"/>
              <a:gd name="T1" fmla="*/ 3175 h 132"/>
              <a:gd name="T2" fmla="*/ 42862 w 203"/>
              <a:gd name="T3" fmla="*/ 0 h 132"/>
              <a:gd name="T4" fmla="*/ 85725 w 203"/>
              <a:gd name="T5" fmla="*/ 4762 h 132"/>
              <a:gd name="T6" fmla="*/ 125412 w 203"/>
              <a:gd name="T7" fmla="*/ 22225 h 132"/>
              <a:gd name="T8" fmla="*/ 160337 w 203"/>
              <a:gd name="T9" fmla="*/ 44450 h 132"/>
              <a:gd name="T10" fmla="*/ 192087 w 203"/>
              <a:gd name="T11" fmla="*/ 71437 h 132"/>
              <a:gd name="T12" fmla="*/ 214312 w 203"/>
              <a:gd name="T13" fmla="*/ 106362 h 132"/>
              <a:gd name="T14" fmla="*/ 320675 w 203"/>
              <a:gd name="T15" fmla="*/ 207963 h 132"/>
              <a:gd name="T16" fmla="*/ 0 60000 65536"/>
              <a:gd name="T17" fmla="*/ 0 60000 65536"/>
              <a:gd name="T18" fmla="*/ 0 60000 65536"/>
              <a:gd name="T19" fmla="*/ 0 60000 65536"/>
              <a:gd name="T20" fmla="*/ 0 60000 65536"/>
              <a:gd name="T21" fmla="*/ 0 60000 65536"/>
              <a:gd name="T22" fmla="*/ 0 60000 65536"/>
              <a:gd name="T23" fmla="*/ 0 60000 65536"/>
              <a:gd name="T24" fmla="*/ 0 w 203"/>
              <a:gd name="T25" fmla="*/ 0 h 132"/>
              <a:gd name="T26" fmla="*/ 203 w 203"/>
              <a:gd name="T27" fmla="*/ 132 h 1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3" h="132">
                <a:moveTo>
                  <a:pt x="0" y="2"/>
                </a:moveTo>
                <a:lnTo>
                  <a:pt x="27" y="0"/>
                </a:lnTo>
                <a:lnTo>
                  <a:pt x="54" y="3"/>
                </a:lnTo>
                <a:lnTo>
                  <a:pt x="79" y="14"/>
                </a:lnTo>
                <a:lnTo>
                  <a:pt x="101" y="28"/>
                </a:lnTo>
                <a:lnTo>
                  <a:pt x="121" y="45"/>
                </a:lnTo>
                <a:lnTo>
                  <a:pt x="135" y="67"/>
                </a:lnTo>
                <a:lnTo>
                  <a:pt x="202" y="131"/>
                </a:lnTo>
              </a:path>
            </a:pathLst>
          </a:custGeom>
          <a:noFill/>
          <a:ln w="12700" cap="rnd">
            <a:solidFill>
              <a:srgbClr val="000000"/>
            </a:solidFill>
            <a:round/>
            <a:headEnd/>
            <a:tailEnd/>
          </a:ln>
        </p:spPr>
        <p:txBody>
          <a:bodyPr/>
          <a:lstStyle/>
          <a:p>
            <a:endParaRPr lang="en-GB"/>
          </a:p>
        </p:txBody>
      </p:sp>
      <p:sp>
        <p:nvSpPr>
          <p:cNvPr id="353288" name="Rectangle 7"/>
          <p:cNvSpPr>
            <a:spLocks noChangeArrowheads="1"/>
          </p:cNvSpPr>
          <p:nvPr/>
        </p:nvSpPr>
        <p:spPr bwMode="auto">
          <a:xfrm>
            <a:off x="4779963" y="5576888"/>
            <a:ext cx="390525" cy="500062"/>
          </a:xfrm>
          <a:prstGeom prst="rect">
            <a:avLst/>
          </a:prstGeom>
          <a:noFill/>
          <a:ln w="12700">
            <a:noFill/>
            <a:miter lim="800000"/>
            <a:headEnd/>
            <a:tailEnd/>
          </a:ln>
        </p:spPr>
        <p:txBody>
          <a:bodyPr wrap="none" lIns="90487" tIns="44450" rIns="90487" bIns="44450">
            <a:spAutoFit/>
          </a:bodyPr>
          <a:lstStyle/>
          <a:p>
            <a:pPr eaLnBrk="0" hangingPunct="0"/>
            <a:r>
              <a:rPr lang="en-US" sz="2700" b="1">
                <a:solidFill>
                  <a:srgbClr val="FF6600"/>
                </a:solidFill>
              </a:rPr>
              <a:t>b</a:t>
            </a:r>
          </a:p>
        </p:txBody>
      </p:sp>
      <p:sp>
        <p:nvSpPr>
          <p:cNvPr id="353289" name="Rectangle 8"/>
          <p:cNvSpPr>
            <a:spLocks noChangeArrowheads="1"/>
          </p:cNvSpPr>
          <p:nvPr/>
        </p:nvSpPr>
        <p:spPr bwMode="auto">
          <a:xfrm>
            <a:off x="6645275" y="5562600"/>
            <a:ext cx="384175" cy="454025"/>
          </a:xfrm>
          <a:prstGeom prst="rect">
            <a:avLst/>
          </a:prstGeom>
          <a:noFill/>
          <a:ln w="12700">
            <a:noFill/>
            <a:miter lim="800000"/>
            <a:headEnd/>
            <a:tailEnd/>
          </a:ln>
        </p:spPr>
        <p:txBody>
          <a:bodyPr wrap="none" lIns="90487" tIns="44450" rIns="90487" bIns="44450">
            <a:spAutoFit/>
          </a:bodyPr>
          <a:lstStyle/>
          <a:p>
            <a:pPr eaLnBrk="0" hangingPunct="0"/>
            <a:r>
              <a:rPr lang="en-US" b="1"/>
              <a:t>X</a:t>
            </a:r>
          </a:p>
        </p:txBody>
      </p:sp>
      <p:sp>
        <p:nvSpPr>
          <p:cNvPr id="353290" name="Freeform 9"/>
          <p:cNvSpPr>
            <a:spLocks/>
          </p:cNvSpPr>
          <p:nvPr/>
        </p:nvSpPr>
        <p:spPr bwMode="auto">
          <a:xfrm>
            <a:off x="4113213" y="3609975"/>
            <a:ext cx="2154237" cy="1981200"/>
          </a:xfrm>
          <a:custGeom>
            <a:avLst/>
            <a:gdLst>
              <a:gd name="T0" fmla="*/ 2152650 w 1357"/>
              <a:gd name="T1" fmla="*/ 1979613 h 1248"/>
              <a:gd name="T2" fmla="*/ 1925637 w 1357"/>
              <a:gd name="T3" fmla="*/ 1955800 h 1248"/>
              <a:gd name="T4" fmla="*/ 1811337 w 1357"/>
              <a:gd name="T5" fmla="*/ 1933575 h 1248"/>
              <a:gd name="T6" fmla="*/ 1698625 w 1357"/>
              <a:gd name="T7" fmla="*/ 1903413 h 1248"/>
              <a:gd name="T8" fmla="*/ 1587499 w 1357"/>
              <a:gd name="T9" fmla="*/ 1857375 h 1248"/>
              <a:gd name="T10" fmla="*/ 1471612 w 1357"/>
              <a:gd name="T11" fmla="*/ 1797050 h 1248"/>
              <a:gd name="T12" fmla="*/ 1360487 w 1357"/>
              <a:gd name="T13" fmla="*/ 1714500 h 1248"/>
              <a:gd name="T14" fmla="*/ 1133475 w 1357"/>
              <a:gd name="T15" fmla="*/ 1484312 h 1248"/>
              <a:gd name="T16" fmla="*/ 906462 w 1357"/>
              <a:gd name="T17" fmla="*/ 1160462 h 1248"/>
              <a:gd name="T18" fmla="*/ 679450 w 1357"/>
              <a:gd name="T19" fmla="*/ 773112 h 1248"/>
              <a:gd name="T20" fmla="*/ 565150 w 1357"/>
              <a:gd name="T21" fmla="*/ 576262 h 1248"/>
              <a:gd name="T22" fmla="*/ 454025 w 1357"/>
              <a:gd name="T23" fmla="*/ 392112 h 1248"/>
              <a:gd name="T24" fmla="*/ 338137 w 1357"/>
              <a:gd name="T25" fmla="*/ 230188 h 1248"/>
              <a:gd name="T26" fmla="*/ 227012 w 1357"/>
              <a:gd name="T27" fmla="*/ 106363 h 1248"/>
              <a:gd name="T28" fmla="*/ 111125 w 1357"/>
              <a:gd name="T29" fmla="*/ 26988 h 1248"/>
              <a:gd name="T30" fmla="*/ 0 w 1357"/>
              <a:gd name="T31" fmla="*/ 0 h 12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57"/>
              <a:gd name="T49" fmla="*/ 0 h 1248"/>
              <a:gd name="T50" fmla="*/ 1357 w 1357"/>
              <a:gd name="T51" fmla="*/ 1248 h 12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57" h="1248">
                <a:moveTo>
                  <a:pt x="1356" y="1247"/>
                </a:moveTo>
                <a:lnTo>
                  <a:pt x="1213" y="1232"/>
                </a:lnTo>
                <a:lnTo>
                  <a:pt x="1141" y="1218"/>
                </a:lnTo>
                <a:lnTo>
                  <a:pt x="1070" y="1199"/>
                </a:lnTo>
                <a:lnTo>
                  <a:pt x="1000" y="1170"/>
                </a:lnTo>
                <a:lnTo>
                  <a:pt x="927" y="1132"/>
                </a:lnTo>
                <a:lnTo>
                  <a:pt x="857" y="1080"/>
                </a:lnTo>
                <a:lnTo>
                  <a:pt x="714" y="935"/>
                </a:lnTo>
                <a:lnTo>
                  <a:pt x="571" y="731"/>
                </a:lnTo>
                <a:lnTo>
                  <a:pt x="428" y="487"/>
                </a:lnTo>
                <a:lnTo>
                  <a:pt x="356" y="363"/>
                </a:lnTo>
                <a:lnTo>
                  <a:pt x="286" y="247"/>
                </a:lnTo>
                <a:lnTo>
                  <a:pt x="213" y="145"/>
                </a:lnTo>
                <a:lnTo>
                  <a:pt x="143" y="67"/>
                </a:lnTo>
                <a:lnTo>
                  <a:pt x="70" y="17"/>
                </a:lnTo>
                <a:lnTo>
                  <a:pt x="0" y="0"/>
                </a:lnTo>
              </a:path>
            </a:pathLst>
          </a:custGeom>
          <a:noFill/>
          <a:ln w="50800" cap="rnd">
            <a:solidFill>
              <a:srgbClr val="008000"/>
            </a:solidFill>
            <a:round/>
            <a:headEnd/>
            <a:tailEnd/>
          </a:ln>
        </p:spPr>
        <p:txBody>
          <a:bodyPr/>
          <a:lstStyle/>
          <a:p>
            <a:endParaRPr lang="en-GB"/>
          </a:p>
        </p:txBody>
      </p:sp>
      <p:sp>
        <p:nvSpPr>
          <p:cNvPr id="353291" name="Freeform 10"/>
          <p:cNvSpPr>
            <a:spLocks/>
          </p:cNvSpPr>
          <p:nvPr/>
        </p:nvSpPr>
        <p:spPr bwMode="auto">
          <a:xfrm>
            <a:off x="1960563" y="3609975"/>
            <a:ext cx="2138362" cy="1965325"/>
          </a:xfrm>
          <a:custGeom>
            <a:avLst/>
            <a:gdLst>
              <a:gd name="T0" fmla="*/ 0 w 1347"/>
              <a:gd name="T1" fmla="*/ 1965325 h 1238"/>
              <a:gd name="T2" fmla="*/ 227012 w 1347"/>
              <a:gd name="T3" fmla="*/ 1941513 h 1238"/>
              <a:gd name="T4" fmla="*/ 338137 w 1347"/>
              <a:gd name="T5" fmla="*/ 1919288 h 1238"/>
              <a:gd name="T6" fmla="*/ 452437 w 1347"/>
              <a:gd name="T7" fmla="*/ 1889125 h 1238"/>
              <a:gd name="T8" fmla="*/ 565150 w 1347"/>
              <a:gd name="T9" fmla="*/ 1843088 h 1238"/>
              <a:gd name="T10" fmla="*/ 679450 w 1347"/>
              <a:gd name="T11" fmla="*/ 1782763 h 1238"/>
              <a:gd name="T12" fmla="*/ 792162 w 1347"/>
              <a:gd name="T13" fmla="*/ 1700213 h 1238"/>
              <a:gd name="T14" fmla="*/ 1019175 w 1347"/>
              <a:gd name="T15" fmla="*/ 1470025 h 1238"/>
              <a:gd name="T16" fmla="*/ 1244600 w 1347"/>
              <a:gd name="T17" fmla="*/ 1146175 h 1238"/>
              <a:gd name="T18" fmla="*/ 1471612 w 1347"/>
              <a:gd name="T19" fmla="*/ 758825 h 1238"/>
              <a:gd name="T20" fmla="*/ 1587499 w 1347"/>
              <a:gd name="T21" fmla="*/ 561975 h 1238"/>
              <a:gd name="T22" fmla="*/ 1698625 w 1347"/>
              <a:gd name="T23" fmla="*/ 377825 h 1238"/>
              <a:gd name="T24" fmla="*/ 1811337 w 1347"/>
              <a:gd name="T25" fmla="*/ 215900 h 1238"/>
              <a:gd name="T26" fmla="*/ 1925637 w 1347"/>
              <a:gd name="T27" fmla="*/ 92075 h 1238"/>
              <a:gd name="T28" fmla="*/ 2038350 w 1347"/>
              <a:gd name="T29" fmla="*/ 12700 h 1238"/>
              <a:gd name="T30" fmla="*/ 2138362 w 1347"/>
              <a:gd name="T31" fmla="*/ 0 h 123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47"/>
              <a:gd name="T49" fmla="*/ 0 h 1238"/>
              <a:gd name="T50" fmla="*/ 1347 w 1347"/>
              <a:gd name="T51" fmla="*/ 1238 h 123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47" h="1238">
                <a:moveTo>
                  <a:pt x="0" y="1238"/>
                </a:moveTo>
                <a:lnTo>
                  <a:pt x="143" y="1223"/>
                </a:lnTo>
                <a:lnTo>
                  <a:pt x="213" y="1209"/>
                </a:lnTo>
                <a:lnTo>
                  <a:pt x="285" y="1190"/>
                </a:lnTo>
                <a:lnTo>
                  <a:pt x="356" y="1161"/>
                </a:lnTo>
                <a:lnTo>
                  <a:pt x="428" y="1123"/>
                </a:lnTo>
                <a:lnTo>
                  <a:pt x="499" y="1071"/>
                </a:lnTo>
                <a:lnTo>
                  <a:pt x="642" y="926"/>
                </a:lnTo>
                <a:lnTo>
                  <a:pt x="784" y="722"/>
                </a:lnTo>
                <a:lnTo>
                  <a:pt x="927" y="478"/>
                </a:lnTo>
                <a:lnTo>
                  <a:pt x="1000" y="354"/>
                </a:lnTo>
                <a:lnTo>
                  <a:pt x="1070" y="238"/>
                </a:lnTo>
                <a:lnTo>
                  <a:pt x="1141" y="136"/>
                </a:lnTo>
                <a:lnTo>
                  <a:pt x="1213" y="58"/>
                </a:lnTo>
                <a:lnTo>
                  <a:pt x="1284" y="8"/>
                </a:lnTo>
                <a:lnTo>
                  <a:pt x="1347" y="0"/>
                </a:lnTo>
              </a:path>
            </a:pathLst>
          </a:custGeom>
          <a:noFill/>
          <a:ln w="50800" cap="rnd">
            <a:solidFill>
              <a:srgbClr val="008000"/>
            </a:solidFill>
            <a:round/>
            <a:headEnd/>
            <a:tailEnd/>
          </a:ln>
        </p:spPr>
        <p:txBody>
          <a:bodyPr/>
          <a:lstStyle/>
          <a:p>
            <a:endParaRPr lang="en-GB"/>
          </a:p>
        </p:txBody>
      </p:sp>
      <p:sp>
        <p:nvSpPr>
          <p:cNvPr id="353292" name="Freeform 11"/>
          <p:cNvSpPr>
            <a:spLocks/>
          </p:cNvSpPr>
          <p:nvPr/>
        </p:nvSpPr>
        <p:spPr bwMode="auto">
          <a:xfrm>
            <a:off x="1616075" y="3657600"/>
            <a:ext cx="5181600" cy="1981200"/>
          </a:xfrm>
          <a:custGeom>
            <a:avLst/>
            <a:gdLst>
              <a:gd name="T0" fmla="*/ 0 w 2764"/>
              <a:gd name="T1" fmla="*/ 0 h 1245"/>
              <a:gd name="T2" fmla="*/ 0 w 2764"/>
              <a:gd name="T3" fmla="*/ 1979609 h 1245"/>
              <a:gd name="T4" fmla="*/ 5179725 w 2764"/>
              <a:gd name="T5" fmla="*/ 1979609 h 1245"/>
              <a:gd name="T6" fmla="*/ 0 60000 65536"/>
              <a:gd name="T7" fmla="*/ 0 60000 65536"/>
              <a:gd name="T8" fmla="*/ 0 60000 65536"/>
              <a:gd name="T9" fmla="*/ 0 w 2764"/>
              <a:gd name="T10" fmla="*/ 0 h 1245"/>
              <a:gd name="T11" fmla="*/ 2764 w 2764"/>
              <a:gd name="T12" fmla="*/ 1245 h 1245"/>
            </a:gdLst>
            <a:ahLst/>
            <a:cxnLst>
              <a:cxn ang="T6">
                <a:pos x="T0" y="T1"/>
              </a:cxn>
              <a:cxn ang="T7">
                <a:pos x="T2" y="T3"/>
              </a:cxn>
              <a:cxn ang="T8">
                <a:pos x="T4" y="T5"/>
              </a:cxn>
            </a:cxnLst>
            <a:rect l="T9" t="T10" r="T11" b="T12"/>
            <a:pathLst>
              <a:path w="2764" h="1245">
                <a:moveTo>
                  <a:pt x="0" y="0"/>
                </a:moveTo>
                <a:lnTo>
                  <a:pt x="0" y="1244"/>
                </a:lnTo>
                <a:lnTo>
                  <a:pt x="2763" y="1244"/>
                </a:lnTo>
              </a:path>
            </a:pathLst>
          </a:custGeom>
          <a:noFill/>
          <a:ln w="25400" cap="rnd">
            <a:solidFill>
              <a:schemeClr val="tx1"/>
            </a:solidFill>
            <a:round/>
            <a:headEnd/>
            <a:tailEnd/>
          </a:ln>
        </p:spPr>
        <p:txBody>
          <a:bodyPr/>
          <a:lstStyle/>
          <a:p>
            <a:endParaRPr lang="en-GB"/>
          </a:p>
        </p:txBody>
      </p:sp>
      <p:sp>
        <p:nvSpPr>
          <p:cNvPr id="353293" name="Line 12"/>
          <p:cNvSpPr>
            <a:spLocks noChangeShapeType="1"/>
          </p:cNvSpPr>
          <p:nvPr/>
        </p:nvSpPr>
        <p:spPr bwMode="auto">
          <a:xfrm>
            <a:off x="1933575" y="3609975"/>
            <a:ext cx="1588" cy="0"/>
          </a:xfrm>
          <a:prstGeom prst="line">
            <a:avLst/>
          </a:prstGeom>
          <a:noFill/>
          <a:ln w="25400">
            <a:solidFill>
              <a:srgbClr val="CDCDCD"/>
            </a:solidFill>
            <a:round/>
            <a:headEnd/>
            <a:tailEnd/>
          </a:ln>
        </p:spPr>
        <p:txBody>
          <a:bodyPr wrap="none" anchor="ctr"/>
          <a:lstStyle/>
          <a:p>
            <a:endParaRPr lang="en-US"/>
          </a:p>
        </p:txBody>
      </p:sp>
      <p:sp>
        <p:nvSpPr>
          <p:cNvPr id="353294" name="Line 13"/>
          <p:cNvSpPr>
            <a:spLocks noChangeShapeType="1"/>
          </p:cNvSpPr>
          <p:nvPr/>
        </p:nvSpPr>
        <p:spPr bwMode="auto">
          <a:xfrm>
            <a:off x="1933575" y="3806825"/>
            <a:ext cx="1588" cy="0"/>
          </a:xfrm>
          <a:prstGeom prst="line">
            <a:avLst/>
          </a:prstGeom>
          <a:noFill/>
          <a:ln w="25400">
            <a:solidFill>
              <a:srgbClr val="CDCDCD"/>
            </a:solidFill>
            <a:round/>
            <a:headEnd/>
            <a:tailEnd/>
          </a:ln>
        </p:spPr>
        <p:txBody>
          <a:bodyPr wrap="none" anchor="ctr"/>
          <a:lstStyle/>
          <a:p>
            <a:endParaRPr lang="en-US"/>
          </a:p>
        </p:txBody>
      </p:sp>
      <p:sp>
        <p:nvSpPr>
          <p:cNvPr id="353295" name="Line 14"/>
          <p:cNvSpPr>
            <a:spLocks noChangeShapeType="1"/>
          </p:cNvSpPr>
          <p:nvPr/>
        </p:nvSpPr>
        <p:spPr bwMode="auto">
          <a:xfrm>
            <a:off x="1933575" y="4003675"/>
            <a:ext cx="1588" cy="0"/>
          </a:xfrm>
          <a:prstGeom prst="line">
            <a:avLst/>
          </a:prstGeom>
          <a:noFill/>
          <a:ln w="25400">
            <a:solidFill>
              <a:srgbClr val="CDCDCD"/>
            </a:solidFill>
            <a:round/>
            <a:headEnd/>
            <a:tailEnd/>
          </a:ln>
        </p:spPr>
        <p:txBody>
          <a:bodyPr wrap="none" anchor="ctr"/>
          <a:lstStyle/>
          <a:p>
            <a:endParaRPr lang="en-US"/>
          </a:p>
        </p:txBody>
      </p:sp>
      <p:sp>
        <p:nvSpPr>
          <p:cNvPr id="353296" name="Line 15"/>
          <p:cNvSpPr>
            <a:spLocks noChangeShapeType="1"/>
          </p:cNvSpPr>
          <p:nvPr/>
        </p:nvSpPr>
        <p:spPr bwMode="auto">
          <a:xfrm>
            <a:off x="1933575" y="4202113"/>
            <a:ext cx="1588" cy="0"/>
          </a:xfrm>
          <a:prstGeom prst="line">
            <a:avLst/>
          </a:prstGeom>
          <a:noFill/>
          <a:ln w="25400">
            <a:solidFill>
              <a:srgbClr val="CDCDCD"/>
            </a:solidFill>
            <a:round/>
            <a:headEnd/>
            <a:tailEnd/>
          </a:ln>
        </p:spPr>
        <p:txBody>
          <a:bodyPr wrap="none" anchor="ctr"/>
          <a:lstStyle/>
          <a:p>
            <a:endParaRPr lang="en-US"/>
          </a:p>
        </p:txBody>
      </p:sp>
      <p:sp>
        <p:nvSpPr>
          <p:cNvPr id="353297" name="Line 16"/>
          <p:cNvSpPr>
            <a:spLocks noChangeShapeType="1"/>
          </p:cNvSpPr>
          <p:nvPr/>
        </p:nvSpPr>
        <p:spPr bwMode="auto">
          <a:xfrm>
            <a:off x="1933575" y="4398963"/>
            <a:ext cx="1588" cy="0"/>
          </a:xfrm>
          <a:prstGeom prst="line">
            <a:avLst/>
          </a:prstGeom>
          <a:noFill/>
          <a:ln w="25400">
            <a:solidFill>
              <a:srgbClr val="CDCDCD"/>
            </a:solidFill>
            <a:round/>
            <a:headEnd/>
            <a:tailEnd/>
          </a:ln>
        </p:spPr>
        <p:txBody>
          <a:bodyPr wrap="none" anchor="ctr"/>
          <a:lstStyle/>
          <a:p>
            <a:endParaRPr lang="en-US"/>
          </a:p>
        </p:txBody>
      </p:sp>
      <p:sp>
        <p:nvSpPr>
          <p:cNvPr id="353298" name="Line 17"/>
          <p:cNvSpPr>
            <a:spLocks noChangeShapeType="1"/>
          </p:cNvSpPr>
          <p:nvPr/>
        </p:nvSpPr>
        <p:spPr bwMode="auto">
          <a:xfrm>
            <a:off x="1933575" y="4597400"/>
            <a:ext cx="1588" cy="0"/>
          </a:xfrm>
          <a:prstGeom prst="line">
            <a:avLst/>
          </a:prstGeom>
          <a:noFill/>
          <a:ln w="25400">
            <a:solidFill>
              <a:srgbClr val="CDCDCD"/>
            </a:solidFill>
            <a:round/>
            <a:headEnd/>
            <a:tailEnd/>
          </a:ln>
        </p:spPr>
        <p:txBody>
          <a:bodyPr wrap="none" anchor="ctr"/>
          <a:lstStyle/>
          <a:p>
            <a:endParaRPr lang="en-US"/>
          </a:p>
        </p:txBody>
      </p:sp>
      <p:sp>
        <p:nvSpPr>
          <p:cNvPr id="353299" name="Line 18"/>
          <p:cNvSpPr>
            <a:spLocks noChangeShapeType="1"/>
          </p:cNvSpPr>
          <p:nvPr/>
        </p:nvSpPr>
        <p:spPr bwMode="auto">
          <a:xfrm>
            <a:off x="1933575" y="4794250"/>
            <a:ext cx="1588" cy="0"/>
          </a:xfrm>
          <a:prstGeom prst="line">
            <a:avLst/>
          </a:prstGeom>
          <a:noFill/>
          <a:ln w="25400">
            <a:solidFill>
              <a:srgbClr val="CDCDCD"/>
            </a:solidFill>
            <a:round/>
            <a:headEnd/>
            <a:tailEnd/>
          </a:ln>
        </p:spPr>
        <p:txBody>
          <a:bodyPr wrap="none" anchor="ctr"/>
          <a:lstStyle/>
          <a:p>
            <a:endParaRPr lang="en-US"/>
          </a:p>
        </p:txBody>
      </p:sp>
      <p:sp>
        <p:nvSpPr>
          <p:cNvPr id="353300" name="Line 19"/>
          <p:cNvSpPr>
            <a:spLocks noChangeShapeType="1"/>
          </p:cNvSpPr>
          <p:nvPr/>
        </p:nvSpPr>
        <p:spPr bwMode="auto">
          <a:xfrm>
            <a:off x="1933575" y="4992688"/>
            <a:ext cx="1588" cy="0"/>
          </a:xfrm>
          <a:prstGeom prst="line">
            <a:avLst/>
          </a:prstGeom>
          <a:noFill/>
          <a:ln w="25400">
            <a:solidFill>
              <a:srgbClr val="CDCDCD"/>
            </a:solidFill>
            <a:round/>
            <a:headEnd/>
            <a:tailEnd/>
          </a:ln>
        </p:spPr>
        <p:txBody>
          <a:bodyPr wrap="none" anchor="ctr"/>
          <a:lstStyle/>
          <a:p>
            <a:endParaRPr lang="en-US"/>
          </a:p>
        </p:txBody>
      </p:sp>
      <p:sp>
        <p:nvSpPr>
          <p:cNvPr id="353301" name="Line 20"/>
          <p:cNvSpPr>
            <a:spLocks noChangeShapeType="1"/>
          </p:cNvSpPr>
          <p:nvPr/>
        </p:nvSpPr>
        <p:spPr bwMode="auto">
          <a:xfrm>
            <a:off x="1933575" y="5189538"/>
            <a:ext cx="1588" cy="0"/>
          </a:xfrm>
          <a:prstGeom prst="line">
            <a:avLst/>
          </a:prstGeom>
          <a:noFill/>
          <a:ln w="25400">
            <a:solidFill>
              <a:srgbClr val="CDCDCD"/>
            </a:solidFill>
            <a:round/>
            <a:headEnd/>
            <a:tailEnd/>
          </a:ln>
        </p:spPr>
        <p:txBody>
          <a:bodyPr wrap="none" anchor="ctr"/>
          <a:lstStyle/>
          <a:p>
            <a:endParaRPr lang="en-US"/>
          </a:p>
        </p:txBody>
      </p:sp>
      <p:sp>
        <p:nvSpPr>
          <p:cNvPr id="353302" name="Line 21"/>
          <p:cNvSpPr>
            <a:spLocks noChangeShapeType="1"/>
          </p:cNvSpPr>
          <p:nvPr/>
        </p:nvSpPr>
        <p:spPr bwMode="auto">
          <a:xfrm>
            <a:off x="1933575" y="5386388"/>
            <a:ext cx="1588" cy="0"/>
          </a:xfrm>
          <a:prstGeom prst="line">
            <a:avLst/>
          </a:prstGeom>
          <a:noFill/>
          <a:ln w="25400">
            <a:solidFill>
              <a:srgbClr val="CDCDCD"/>
            </a:solidFill>
            <a:round/>
            <a:headEnd/>
            <a:tailEnd/>
          </a:ln>
        </p:spPr>
        <p:txBody>
          <a:bodyPr wrap="none" anchor="ctr"/>
          <a:lstStyle/>
          <a:p>
            <a:endParaRPr lang="en-US"/>
          </a:p>
        </p:txBody>
      </p:sp>
      <p:sp>
        <p:nvSpPr>
          <p:cNvPr id="353303" name="Line 22"/>
          <p:cNvSpPr>
            <a:spLocks noChangeShapeType="1"/>
          </p:cNvSpPr>
          <p:nvPr/>
        </p:nvSpPr>
        <p:spPr bwMode="auto">
          <a:xfrm>
            <a:off x="6346825" y="5607050"/>
            <a:ext cx="0" cy="1588"/>
          </a:xfrm>
          <a:prstGeom prst="line">
            <a:avLst/>
          </a:prstGeom>
          <a:noFill/>
          <a:ln w="25400">
            <a:solidFill>
              <a:srgbClr val="CDCDCD"/>
            </a:solidFill>
            <a:round/>
            <a:headEnd/>
            <a:tailEnd/>
          </a:ln>
        </p:spPr>
        <p:txBody>
          <a:bodyPr wrap="none" anchor="ctr"/>
          <a:lstStyle/>
          <a:p>
            <a:endParaRPr lang="en-US"/>
          </a:p>
        </p:txBody>
      </p:sp>
      <p:sp>
        <p:nvSpPr>
          <p:cNvPr id="353304" name="Line 23"/>
          <p:cNvSpPr>
            <a:spLocks noChangeShapeType="1"/>
          </p:cNvSpPr>
          <p:nvPr/>
        </p:nvSpPr>
        <p:spPr bwMode="auto">
          <a:xfrm>
            <a:off x="5907088" y="5607050"/>
            <a:ext cx="0" cy="1588"/>
          </a:xfrm>
          <a:prstGeom prst="line">
            <a:avLst/>
          </a:prstGeom>
          <a:noFill/>
          <a:ln w="25400">
            <a:solidFill>
              <a:srgbClr val="CDCDCD"/>
            </a:solidFill>
            <a:round/>
            <a:headEnd/>
            <a:tailEnd/>
          </a:ln>
        </p:spPr>
        <p:txBody>
          <a:bodyPr wrap="none" anchor="ctr"/>
          <a:lstStyle/>
          <a:p>
            <a:endParaRPr lang="en-US"/>
          </a:p>
        </p:txBody>
      </p:sp>
      <p:sp>
        <p:nvSpPr>
          <p:cNvPr id="353305" name="Line 24"/>
          <p:cNvSpPr>
            <a:spLocks noChangeShapeType="1"/>
          </p:cNvSpPr>
          <p:nvPr/>
        </p:nvSpPr>
        <p:spPr bwMode="auto">
          <a:xfrm>
            <a:off x="5467350" y="5607050"/>
            <a:ext cx="0" cy="1588"/>
          </a:xfrm>
          <a:prstGeom prst="line">
            <a:avLst/>
          </a:prstGeom>
          <a:noFill/>
          <a:ln w="25400">
            <a:solidFill>
              <a:srgbClr val="CDCDCD"/>
            </a:solidFill>
            <a:round/>
            <a:headEnd/>
            <a:tailEnd/>
          </a:ln>
        </p:spPr>
        <p:txBody>
          <a:bodyPr wrap="none" anchor="ctr"/>
          <a:lstStyle/>
          <a:p>
            <a:endParaRPr lang="en-US"/>
          </a:p>
        </p:txBody>
      </p:sp>
      <p:sp>
        <p:nvSpPr>
          <p:cNvPr id="353306" name="Line 25"/>
          <p:cNvSpPr>
            <a:spLocks noChangeShapeType="1"/>
          </p:cNvSpPr>
          <p:nvPr/>
        </p:nvSpPr>
        <p:spPr bwMode="auto">
          <a:xfrm>
            <a:off x="5030788" y="5607050"/>
            <a:ext cx="0" cy="1588"/>
          </a:xfrm>
          <a:prstGeom prst="line">
            <a:avLst/>
          </a:prstGeom>
          <a:noFill/>
          <a:ln w="25400">
            <a:solidFill>
              <a:srgbClr val="CDCDCD"/>
            </a:solidFill>
            <a:round/>
            <a:headEnd/>
            <a:tailEnd/>
          </a:ln>
        </p:spPr>
        <p:txBody>
          <a:bodyPr wrap="none" anchor="ctr"/>
          <a:lstStyle/>
          <a:p>
            <a:endParaRPr lang="en-US"/>
          </a:p>
        </p:txBody>
      </p:sp>
      <p:sp>
        <p:nvSpPr>
          <p:cNvPr id="353307" name="Line 26"/>
          <p:cNvSpPr>
            <a:spLocks noChangeShapeType="1"/>
          </p:cNvSpPr>
          <p:nvPr/>
        </p:nvSpPr>
        <p:spPr bwMode="auto">
          <a:xfrm>
            <a:off x="4592638" y="5607050"/>
            <a:ext cx="0" cy="1588"/>
          </a:xfrm>
          <a:prstGeom prst="line">
            <a:avLst/>
          </a:prstGeom>
          <a:noFill/>
          <a:ln w="25400">
            <a:solidFill>
              <a:srgbClr val="CDCDCD"/>
            </a:solidFill>
            <a:round/>
            <a:headEnd/>
            <a:tailEnd/>
          </a:ln>
        </p:spPr>
        <p:txBody>
          <a:bodyPr wrap="none" anchor="ctr"/>
          <a:lstStyle/>
          <a:p>
            <a:endParaRPr lang="en-US"/>
          </a:p>
        </p:txBody>
      </p:sp>
      <p:sp>
        <p:nvSpPr>
          <p:cNvPr id="353308" name="Line 27"/>
          <p:cNvSpPr>
            <a:spLocks noChangeShapeType="1"/>
          </p:cNvSpPr>
          <p:nvPr/>
        </p:nvSpPr>
        <p:spPr bwMode="auto">
          <a:xfrm>
            <a:off x="4152900" y="5607050"/>
            <a:ext cx="0" cy="1588"/>
          </a:xfrm>
          <a:prstGeom prst="line">
            <a:avLst/>
          </a:prstGeom>
          <a:noFill/>
          <a:ln w="25400">
            <a:solidFill>
              <a:srgbClr val="CDCDCD"/>
            </a:solidFill>
            <a:round/>
            <a:headEnd/>
            <a:tailEnd/>
          </a:ln>
        </p:spPr>
        <p:txBody>
          <a:bodyPr wrap="none" anchor="ctr"/>
          <a:lstStyle/>
          <a:p>
            <a:endParaRPr lang="en-US"/>
          </a:p>
        </p:txBody>
      </p:sp>
      <p:sp>
        <p:nvSpPr>
          <p:cNvPr id="353309" name="Line 28"/>
          <p:cNvSpPr>
            <a:spLocks noChangeShapeType="1"/>
          </p:cNvSpPr>
          <p:nvPr/>
        </p:nvSpPr>
        <p:spPr bwMode="auto">
          <a:xfrm>
            <a:off x="3714750" y="5607050"/>
            <a:ext cx="0" cy="1588"/>
          </a:xfrm>
          <a:prstGeom prst="line">
            <a:avLst/>
          </a:prstGeom>
          <a:noFill/>
          <a:ln w="25400">
            <a:solidFill>
              <a:srgbClr val="CDCDCD"/>
            </a:solidFill>
            <a:round/>
            <a:headEnd/>
            <a:tailEnd/>
          </a:ln>
        </p:spPr>
        <p:txBody>
          <a:bodyPr wrap="none" anchor="ctr"/>
          <a:lstStyle/>
          <a:p>
            <a:endParaRPr lang="en-US"/>
          </a:p>
        </p:txBody>
      </p:sp>
      <p:sp>
        <p:nvSpPr>
          <p:cNvPr id="353310" name="Line 29"/>
          <p:cNvSpPr>
            <a:spLocks noChangeShapeType="1"/>
          </p:cNvSpPr>
          <p:nvPr/>
        </p:nvSpPr>
        <p:spPr bwMode="auto">
          <a:xfrm>
            <a:off x="3275013" y="5607050"/>
            <a:ext cx="0" cy="1588"/>
          </a:xfrm>
          <a:prstGeom prst="line">
            <a:avLst/>
          </a:prstGeom>
          <a:noFill/>
          <a:ln w="25400">
            <a:solidFill>
              <a:srgbClr val="CDCDCD"/>
            </a:solidFill>
            <a:round/>
            <a:headEnd/>
            <a:tailEnd/>
          </a:ln>
        </p:spPr>
        <p:txBody>
          <a:bodyPr wrap="none" anchor="ctr"/>
          <a:lstStyle/>
          <a:p>
            <a:endParaRPr lang="en-US"/>
          </a:p>
        </p:txBody>
      </p:sp>
      <p:sp>
        <p:nvSpPr>
          <p:cNvPr id="353311" name="Line 30"/>
          <p:cNvSpPr>
            <a:spLocks noChangeShapeType="1"/>
          </p:cNvSpPr>
          <p:nvPr/>
        </p:nvSpPr>
        <p:spPr bwMode="auto">
          <a:xfrm>
            <a:off x="2838450" y="5607050"/>
            <a:ext cx="0" cy="1588"/>
          </a:xfrm>
          <a:prstGeom prst="line">
            <a:avLst/>
          </a:prstGeom>
          <a:noFill/>
          <a:ln w="25400">
            <a:solidFill>
              <a:srgbClr val="CDCDCD"/>
            </a:solidFill>
            <a:round/>
            <a:headEnd/>
            <a:tailEnd/>
          </a:ln>
        </p:spPr>
        <p:txBody>
          <a:bodyPr wrap="none" anchor="ctr"/>
          <a:lstStyle/>
          <a:p>
            <a:endParaRPr lang="en-US"/>
          </a:p>
        </p:txBody>
      </p:sp>
      <p:sp>
        <p:nvSpPr>
          <p:cNvPr id="353312" name="Line 31"/>
          <p:cNvSpPr>
            <a:spLocks noChangeShapeType="1"/>
          </p:cNvSpPr>
          <p:nvPr/>
        </p:nvSpPr>
        <p:spPr bwMode="auto">
          <a:xfrm>
            <a:off x="2398713" y="5607050"/>
            <a:ext cx="0" cy="1588"/>
          </a:xfrm>
          <a:prstGeom prst="line">
            <a:avLst/>
          </a:prstGeom>
          <a:noFill/>
          <a:ln w="25400">
            <a:solidFill>
              <a:srgbClr val="CDCDCD"/>
            </a:solidFill>
            <a:round/>
            <a:headEnd/>
            <a:tailEnd/>
          </a:ln>
        </p:spPr>
        <p:txBody>
          <a:bodyPr wrap="none" anchor="ctr"/>
          <a:lstStyle/>
          <a:p>
            <a:endParaRPr lang="en-US"/>
          </a:p>
        </p:txBody>
      </p:sp>
      <p:sp>
        <p:nvSpPr>
          <p:cNvPr id="353313" name="Rectangle 32"/>
          <p:cNvSpPr>
            <a:spLocks noChangeArrowheads="1"/>
          </p:cNvSpPr>
          <p:nvPr/>
        </p:nvSpPr>
        <p:spPr bwMode="auto">
          <a:xfrm>
            <a:off x="1589088" y="4505325"/>
            <a:ext cx="92075" cy="184150"/>
          </a:xfrm>
          <a:prstGeom prst="rect">
            <a:avLst/>
          </a:prstGeom>
          <a:noFill/>
          <a:ln w="12700">
            <a:noFill/>
            <a:miter lim="800000"/>
            <a:headEnd/>
            <a:tailEnd/>
          </a:ln>
        </p:spPr>
        <p:txBody>
          <a:bodyPr wrap="none" anchor="ctr"/>
          <a:lstStyle/>
          <a:p>
            <a:pPr algn="ctr">
              <a:spcBef>
                <a:spcPct val="50000"/>
              </a:spcBef>
            </a:pPr>
            <a:endParaRPr lang="en-GB"/>
          </a:p>
        </p:txBody>
      </p:sp>
      <p:sp>
        <p:nvSpPr>
          <p:cNvPr id="353314" name="Rectangle 33"/>
          <p:cNvSpPr>
            <a:spLocks noChangeArrowheads="1"/>
          </p:cNvSpPr>
          <p:nvPr/>
        </p:nvSpPr>
        <p:spPr bwMode="auto">
          <a:xfrm>
            <a:off x="6254750" y="5784850"/>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353315" name="Rectangle 34"/>
          <p:cNvSpPr>
            <a:spLocks noChangeArrowheads="1"/>
          </p:cNvSpPr>
          <p:nvPr/>
        </p:nvSpPr>
        <p:spPr bwMode="auto">
          <a:xfrm>
            <a:off x="1158875" y="3124200"/>
            <a:ext cx="688975" cy="454025"/>
          </a:xfrm>
          <a:prstGeom prst="rect">
            <a:avLst/>
          </a:prstGeom>
          <a:noFill/>
          <a:ln w="12700">
            <a:noFill/>
            <a:miter lim="800000"/>
            <a:headEnd/>
            <a:tailEnd/>
          </a:ln>
        </p:spPr>
        <p:txBody>
          <a:bodyPr wrap="none" lIns="90487" tIns="44450" rIns="90487" bIns="44450">
            <a:spAutoFit/>
          </a:bodyPr>
          <a:lstStyle/>
          <a:p>
            <a:pPr eaLnBrk="0" hangingPunct="0"/>
            <a:r>
              <a:rPr lang="en-US" b="1">
                <a:solidFill>
                  <a:srgbClr val="339933"/>
                </a:solidFill>
              </a:rPr>
              <a:t>f(X)</a:t>
            </a:r>
          </a:p>
        </p:txBody>
      </p:sp>
      <p:sp>
        <p:nvSpPr>
          <p:cNvPr id="353316" name="Rectangle 35"/>
          <p:cNvSpPr>
            <a:spLocks noChangeArrowheads="1"/>
          </p:cNvSpPr>
          <p:nvPr/>
        </p:nvSpPr>
        <p:spPr bwMode="auto">
          <a:xfrm>
            <a:off x="5084763" y="3214688"/>
            <a:ext cx="427037" cy="530225"/>
          </a:xfrm>
          <a:prstGeom prst="rect">
            <a:avLst/>
          </a:prstGeom>
          <a:noFill/>
          <a:ln w="12700">
            <a:noFill/>
            <a:miter lim="800000"/>
            <a:headEnd/>
            <a:tailEnd/>
          </a:ln>
        </p:spPr>
        <p:txBody>
          <a:bodyPr wrap="none" lIns="90487" tIns="44450" rIns="90487" bIns="44450">
            <a:spAutoFit/>
          </a:bodyPr>
          <a:lstStyle/>
          <a:p>
            <a:pPr eaLnBrk="0" hangingPunct="0"/>
            <a:r>
              <a:rPr lang="en-US" sz="2900"/>
              <a:t>P</a:t>
            </a:r>
          </a:p>
        </p:txBody>
      </p:sp>
      <p:sp>
        <p:nvSpPr>
          <p:cNvPr id="353317" name="Rectangle 36"/>
          <p:cNvSpPr>
            <a:spLocks noChangeArrowheads="1"/>
          </p:cNvSpPr>
          <p:nvPr/>
        </p:nvSpPr>
        <p:spPr bwMode="auto">
          <a:xfrm>
            <a:off x="5541963" y="3214688"/>
            <a:ext cx="385762" cy="530225"/>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33CC33"/>
                </a:solidFill>
              </a:rPr>
              <a:t>a</a:t>
            </a:r>
          </a:p>
        </p:txBody>
      </p:sp>
      <p:sp>
        <p:nvSpPr>
          <p:cNvPr id="353318" name="Rectangle 37"/>
          <p:cNvSpPr>
            <a:spLocks noChangeArrowheads="1"/>
          </p:cNvSpPr>
          <p:nvPr/>
        </p:nvSpPr>
        <p:spPr bwMode="auto">
          <a:xfrm>
            <a:off x="6227763" y="3214688"/>
            <a:ext cx="427037" cy="530225"/>
          </a:xfrm>
          <a:prstGeom prst="rect">
            <a:avLst/>
          </a:prstGeom>
          <a:noFill/>
          <a:ln w="12700">
            <a:noFill/>
            <a:miter lim="800000"/>
            <a:headEnd/>
            <a:tailEnd/>
          </a:ln>
        </p:spPr>
        <p:txBody>
          <a:bodyPr wrap="none" lIns="90487" tIns="44450" rIns="90487" bIns="44450">
            <a:spAutoFit/>
          </a:bodyPr>
          <a:lstStyle/>
          <a:p>
            <a:pPr eaLnBrk="0" hangingPunct="0"/>
            <a:r>
              <a:rPr lang="en-US" sz="2900" b="1"/>
              <a:t>X</a:t>
            </a:r>
          </a:p>
        </p:txBody>
      </p:sp>
      <p:sp>
        <p:nvSpPr>
          <p:cNvPr id="353319" name="Rectangle 38"/>
          <p:cNvSpPr>
            <a:spLocks noChangeArrowheads="1"/>
          </p:cNvSpPr>
          <p:nvPr/>
        </p:nvSpPr>
        <p:spPr bwMode="auto">
          <a:xfrm>
            <a:off x="6913563" y="3214688"/>
            <a:ext cx="406400" cy="530225"/>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FF6600"/>
                </a:solidFill>
              </a:rPr>
              <a:t>b</a:t>
            </a:r>
          </a:p>
        </p:txBody>
      </p:sp>
      <p:sp>
        <p:nvSpPr>
          <p:cNvPr id="353320" name="Rectangle 39"/>
          <p:cNvSpPr>
            <a:spLocks noChangeArrowheads="1"/>
          </p:cNvSpPr>
          <p:nvPr/>
        </p:nvSpPr>
        <p:spPr bwMode="auto">
          <a:xfrm>
            <a:off x="5389563" y="3214688"/>
            <a:ext cx="303212" cy="530225"/>
          </a:xfrm>
          <a:prstGeom prst="rect">
            <a:avLst/>
          </a:prstGeom>
          <a:noFill/>
          <a:ln w="12700">
            <a:noFill/>
            <a:miter lim="800000"/>
            <a:headEnd/>
            <a:tailEnd/>
          </a:ln>
        </p:spPr>
        <p:txBody>
          <a:bodyPr wrap="none" lIns="90487" tIns="44450" rIns="90487" bIns="44450">
            <a:spAutoFit/>
          </a:bodyPr>
          <a:lstStyle/>
          <a:p>
            <a:pPr eaLnBrk="0" hangingPunct="0"/>
            <a:r>
              <a:rPr lang="en-US" sz="2900"/>
              <a:t>(</a:t>
            </a:r>
          </a:p>
        </p:txBody>
      </p:sp>
      <p:sp>
        <p:nvSpPr>
          <p:cNvPr id="353321" name="Rectangle 40"/>
          <p:cNvSpPr>
            <a:spLocks noChangeArrowheads="1"/>
          </p:cNvSpPr>
          <p:nvPr/>
        </p:nvSpPr>
        <p:spPr bwMode="auto">
          <a:xfrm>
            <a:off x="7173913" y="3170238"/>
            <a:ext cx="303212" cy="530225"/>
          </a:xfrm>
          <a:prstGeom prst="rect">
            <a:avLst/>
          </a:prstGeom>
          <a:noFill/>
          <a:ln w="12700">
            <a:noFill/>
            <a:miter lim="800000"/>
            <a:headEnd/>
            <a:tailEnd/>
          </a:ln>
        </p:spPr>
        <p:txBody>
          <a:bodyPr wrap="none" lIns="90487" tIns="44450" rIns="90487" bIns="44450">
            <a:spAutoFit/>
          </a:bodyPr>
          <a:lstStyle/>
          <a:p>
            <a:pPr eaLnBrk="0" hangingPunct="0"/>
            <a:r>
              <a:rPr lang="en-US" sz="2900"/>
              <a:t>)</a:t>
            </a:r>
          </a:p>
        </p:txBody>
      </p:sp>
      <p:sp>
        <p:nvSpPr>
          <p:cNvPr id="353322" name="Rectangle 42"/>
          <p:cNvSpPr>
            <a:spLocks noChangeArrowheads="1"/>
          </p:cNvSpPr>
          <p:nvPr/>
        </p:nvSpPr>
        <p:spPr bwMode="auto">
          <a:xfrm>
            <a:off x="6608763" y="3200400"/>
            <a:ext cx="382587" cy="530225"/>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000000"/>
                </a:solidFill>
              </a:rPr>
              <a:t>≤</a:t>
            </a:r>
          </a:p>
        </p:txBody>
      </p:sp>
      <p:sp>
        <p:nvSpPr>
          <p:cNvPr id="353323" name="Rectangle 43"/>
          <p:cNvSpPr>
            <a:spLocks noChangeArrowheads="1"/>
          </p:cNvSpPr>
          <p:nvPr/>
        </p:nvSpPr>
        <p:spPr bwMode="auto">
          <a:xfrm>
            <a:off x="1371600" y="1905000"/>
            <a:ext cx="6781800" cy="971550"/>
          </a:xfrm>
          <a:prstGeom prst="rect">
            <a:avLst/>
          </a:prstGeom>
          <a:noFill/>
          <a:ln w="12700">
            <a:noFill/>
            <a:miter lim="800000"/>
            <a:headEnd/>
            <a:tailEnd/>
          </a:ln>
        </p:spPr>
        <p:txBody>
          <a:bodyPr lIns="90487" tIns="44450" rIns="90487" bIns="44450">
            <a:spAutoFit/>
          </a:bodyPr>
          <a:lstStyle/>
          <a:p>
            <a:pPr eaLnBrk="0" hangingPunct="0"/>
            <a:r>
              <a:rPr lang="en-US" sz="2900">
                <a:solidFill>
                  <a:schemeClr val="folHlink"/>
                </a:solidFill>
              </a:rPr>
              <a:t>Probability is measured by the area under the curve</a:t>
            </a:r>
          </a:p>
        </p:txBody>
      </p:sp>
      <p:sp>
        <p:nvSpPr>
          <p:cNvPr id="353324" name="Line 44"/>
          <p:cNvSpPr>
            <a:spLocks noChangeShapeType="1"/>
          </p:cNvSpPr>
          <p:nvPr/>
        </p:nvSpPr>
        <p:spPr bwMode="auto">
          <a:xfrm flipH="1">
            <a:off x="4551363" y="3519488"/>
            <a:ext cx="533400" cy="685800"/>
          </a:xfrm>
          <a:prstGeom prst="line">
            <a:avLst/>
          </a:prstGeom>
          <a:noFill/>
          <a:ln w="19050">
            <a:solidFill>
              <a:schemeClr val="tx1"/>
            </a:solidFill>
            <a:round/>
            <a:headEnd/>
            <a:tailEnd type="triangle" w="med" len="med"/>
          </a:ln>
        </p:spPr>
        <p:txBody>
          <a:bodyPr wrap="none" anchor="ctr"/>
          <a:lstStyle/>
          <a:p>
            <a:endParaRPr lang="en-US"/>
          </a:p>
        </p:txBody>
      </p:sp>
      <p:sp>
        <p:nvSpPr>
          <p:cNvPr id="353325" name="Rectangle 45"/>
          <p:cNvSpPr>
            <a:spLocks noChangeArrowheads="1"/>
          </p:cNvSpPr>
          <p:nvPr/>
        </p:nvSpPr>
        <p:spPr bwMode="auto">
          <a:xfrm>
            <a:off x="5875338" y="3200400"/>
            <a:ext cx="382587" cy="530225"/>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000000"/>
                </a:solidFill>
              </a:rPr>
              <a:t>≤</a:t>
            </a:r>
          </a:p>
        </p:txBody>
      </p:sp>
      <p:sp>
        <p:nvSpPr>
          <p:cNvPr id="353326" name="Rectangle 46"/>
          <p:cNvSpPr>
            <a:spLocks noChangeArrowheads="1"/>
          </p:cNvSpPr>
          <p:nvPr/>
        </p:nvSpPr>
        <p:spPr bwMode="auto">
          <a:xfrm>
            <a:off x="5541963" y="3813175"/>
            <a:ext cx="427037" cy="530225"/>
          </a:xfrm>
          <a:prstGeom prst="rect">
            <a:avLst/>
          </a:prstGeom>
          <a:noFill/>
          <a:ln w="12700">
            <a:noFill/>
            <a:miter lim="800000"/>
            <a:headEnd/>
            <a:tailEnd/>
          </a:ln>
        </p:spPr>
        <p:txBody>
          <a:bodyPr wrap="none" lIns="90487" tIns="44450" rIns="90487" bIns="44450">
            <a:spAutoFit/>
          </a:bodyPr>
          <a:lstStyle/>
          <a:p>
            <a:pPr eaLnBrk="0" hangingPunct="0"/>
            <a:r>
              <a:rPr lang="en-US" sz="2900"/>
              <a:t>P</a:t>
            </a:r>
          </a:p>
        </p:txBody>
      </p:sp>
      <p:sp>
        <p:nvSpPr>
          <p:cNvPr id="353327" name="Rectangle 47"/>
          <p:cNvSpPr>
            <a:spLocks noChangeArrowheads="1"/>
          </p:cNvSpPr>
          <p:nvPr/>
        </p:nvSpPr>
        <p:spPr bwMode="auto">
          <a:xfrm>
            <a:off x="5999163" y="3813175"/>
            <a:ext cx="385762" cy="530225"/>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33CC33"/>
                </a:solidFill>
              </a:rPr>
              <a:t>a</a:t>
            </a:r>
          </a:p>
        </p:txBody>
      </p:sp>
      <p:sp>
        <p:nvSpPr>
          <p:cNvPr id="353328" name="Rectangle 48"/>
          <p:cNvSpPr>
            <a:spLocks noChangeArrowheads="1"/>
          </p:cNvSpPr>
          <p:nvPr/>
        </p:nvSpPr>
        <p:spPr bwMode="auto">
          <a:xfrm>
            <a:off x="6684963" y="3813175"/>
            <a:ext cx="427037" cy="530225"/>
          </a:xfrm>
          <a:prstGeom prst="rect">
            <a:avLst/>
          </a:prstGeom>
          <a:noFill/>
          <a:ln w="12700">
            <a:noFill/>
            <a:miter lim="800000"/>
            <a:headEnd/>
            <a:tailEnd/>
          </a:ln>
        </p:spPr>
        <p:txBody>
          <a:bodyPr wrap="none" lIns="90487" tIns="44450" rIns="90487" bIns="44450">
            <a:spAutoFit/>
          </a:bodyPr>
          <a:lstStyle/>
          <a:p>
            <a:pPr eaLnBrk="0" hangingPunct="0"/>
            <a:r>
              <a:rPr lang="en-US" sz="2900" b="1"/>
              <a:t>X</a:t>
            </a:r>
          </a:p>
        </p:txBody>
      </p:sp>
      <p:sp>
        <p:nvSpPr>
          <p:cNvPr id="353329" name="Rectangle 49"/>
          <p:cNvSpPr>
            <a:spLocks noChangeArrowheads="1"/>
          </p:cNvSpPr>
          <p:nvPr/>
        </p:nvSpPr>
        <p:spPr bwMode="auto">
          <a:xfrm>
            <a:off x="7370763" y="3813175"/>
            <a:ext cx="406400" cy="530225"/>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FF6600"/>
                </a:solidFill>
              </a:rPr>
              <a:t>b</a:t>
            </a:r>
          </a:p>
        </p:txBody>
      </p:sp>
      <p:sp>
        <p:nvSpPr>
          <p:cNvPr id="353330" name="Rectangle 50"/>
          <p:cNvSpPr>
            <a:spLocks noChangeArrowheads="1"/>
          </p:cNvSpPr>
          <p:nvPr/>
        </p:nvSpPr>
        <p:spPr bwMode="auto">
          <a:xfrm>
            <a:off x="5846763" y="3813175"/>
            <a:ext cx="303212" cy="530225"/>
          </a:xfrm>
          <a:prstGeom prst="rect">
            <a:avLst/>
          </a:prstGeom>
          <a:noFill/>
          <a:ln w="12700">
            <a:noFill/>
            <a:miter lim="800000"/>
            <a:headEnd/>
            <a:tailEnd/>
          </a:ln>
        </p:spPr>
        <p:txBody>
          <a:bodyPr wrap="none" lIns="90487" tIns="44450" rIns="90487" bIns="44450">
            <a:spAutoFit/>
          </a:bodyPr>
          <a:lstStyle/>
          <a:p>
            <a:pPr eaLnBrk="0" hangingPunct="0"/>
            <a:r>
              <a:rPr lang="en-US" sz="2900"/>
              <a:t>(</a:t>
            </a:r>
          </a:p>
        </p:txBody>
      </p:sp>
      <p:sp>
        <p:nvSpPr>
          <p:cNvPr id="353331" name="Rectangle 51"/>
          <p:cNvSpPr>
            <a:spLocks noChangeArrowheads="1"/>
          </p:cNvSpPr>
          <p:nvPr/>
        </p:nvSpPr>
        <p:spPr bwMode="auto">
          <a:xfrm>
            <a:off x="7631113" y="3768725"/>
            <a:ext cx="303212" cy="530225"/>
          </a:xfrm>
          <a:prstGeom prst="rect">
            <a:avLst/>
          </a:prstGeom>
          <a:noFill/>
          <a:ln w="12700">
            <a:noFill/>
            <a:miter lim="800000"/>
            <a:headEnd/>
            <a:tailEnd/>
          </a:ln>
        </p:spPr>
        <p:txBody>
          <a:bodyPr wrap="none" lIns="90487" tIns="44450" rIns="90487" bIns="44450">
            <a:spAutoFit/>
          </a:bodyPr>
          <a:lstStyle/>
          <a:p>
            <a:pPr eaLnBrk="0" hangingPunct="0"/>
            <a:r>
              <a:rPr lang="en-US" sz="2900"/>
              <a:t>)</a:t>
            </a:r>
          </a:p>
        </p:txBody>
      </p:sp>
      <p:sp>
        <p:nvSpPr>
          <p:cNvPr id="353332" name="Rectangle 52"/>
          <p:cNvSpPr>
            <a:spLocks noChangeArrowheads="1"/>
          </p:cNvSpPr>
          <p:nvPr/>
        </p:nvSpPr>
        <p:spPr bwMode="auto">
          <a:xfrm>
            <a:off x="7065963" y="3798888"/>
            <a:ext cx="390525" cy="530225"/>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000000"/>
                </a:solidFill>
              </a:rPr>
              <a:t>&lt;</a:t>
            </a:r>
          </a:p>
        </p:txBody>
      </p:sp>
      <p:sp>
        <p:nvSpPr>
          <p:cNvPr id="353333" name="Rectangle 53"/>
          <p:cNvSpPr>
            <a:spLocks noChangeArrowheads="1"/>
          </p:cNvSpPr>
          <p:nvPr/>
        </p:nvSpPr>
        <p:spPr bwMode="auto">
          <a:xfrm>
            <a:off x="6332538" y="3798888"/>
            <a:ext cx="390525" cy="530225"/>
          </a:xfrm>
          <a:prstGeom prst="rect">
            <a:avLst/>
          </a:prstGeom>
          <a:noFill/>
          <a:ln w="12700">
            <a:noFill/>
            <a:miter lim="800000"/>
            <a:headEnd/>
            <a:tailEnd/>
          </a:ln>
        </p:spPr>
        <p:txBody>
          <a:bodyPr wrap="none" lIns="90487" tIns="44450" rIns="90487" bIns="44450">
            <a:spAutoFit/>
          </a:bodyPr>
          <a:lstStyle/>
          <a:p>
            <a:pPr eaLnBrk="0" hangingPunct="0"/>
            <a:r>
              <a:rPr lang="en-US" sz="2900" b="1">
                <a:solidFill>
                  <a:srgbClr val="000000"/>
                </a:solidFill>
              </a:rPr>
              <a:t>&lt;</a:t>
            </a:r>
          </a:p>
        </p:txBody>
      </p:sp>
      <p:sp>
        <p:nvSpPr>
          <p:cNvPr id="353334" name="Rectangle 54"/>
          <p:cNvSpPr>
            <a:spLocks noChangeArrowheads="1"/>
          </p:cNvSpPr>
          <p:nvPr/>
        </p:nvSpPr>
        <p:spPr bwMode="auto">
          <a:xfrm>
            <a:off x="5191125" y="3810000"/>
            <a:ext cx="395288" cy="530225"/>
          </a:xfrm>
          <a:prstGeom prst="rect">
            <a:avLst/>
          </a:prstGeom>
          <a:noFill/>
          <a:ln w="12700">
            <a:noFill/>
            <a:miter lim="800000"/>
            <a:headEnd/>
            <a:tailEnd/>
          </a:ln>
        </p:spPr>
        <p:txBody>
          <a:bodyPr wrap="none" lIns="90487" tIns="44450" rIns="90487" bIns="44450">
            <a:spAutoFit/>
          </a:bodyPr>
          <a:lstStyle/>
          <a:p>
            <a:pPr eaLnBrk="0" hangingPunct="0"/>
            <a:r>
              <a:rPr lang="en-US" sz="2900"/>
              <a:t>=</a:t>
            </a:r>
          </a:p>
        </p:txBody>
      </p:sp>
      <p:sp>
        <p:nvSpPr>
          <p:cNvPr id="353335" name="Text Box 55"/>
          <p:cNvSpPr txBox="1">
            <a:spLocks noChangeArrowheads="1"/>
          </p:cNvSpPr>
          <p:nvPr/>
        </p:nvSpPr>
        <p:spPr bwMode="auto">
          <a:xfrm>
            <a:off x="6324600" y="4419600"/>
            <a:ext cx="2667000" cy="915988"/>
          </a:xfrm>
          <a:prstGeom prst="rect">
            <a:avLst/>
          </a:prstGeom>
          <a:noFill/>
          <a:ln w="9525" algn="ctr">
            <a:noFill/>
            <a:miter lim="800000"/>
            <a:headEnd/>
            <a:tailEnd/>
          </a:ln>
        </p:spPr>
        <p:txBody>
          <a:bodyPr>
            <a:spAutoFit/>
          </a:bodyPr>
          <a:lstStyle/>
          <a:p>
            <a:pPr>
              <a:spcBef>
                <a:spcPct val="50000"/>
              </a:spcBef>
            </a:pPr>
            <a:r>
              <a:rPr lang="en-US" sz="1800"/>
              <a:t>(Note that the probability of any individual value is zero)</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40" name="Rectangle 4"/>
          <p:cNvSpPr>
            <a:spLocks noGrp="1" noChangeArrowheads="1"/>
          </p:cNvSpPr>
          <p:nvPr>
            <p:ph type="ftr" sz="quarter" idx="10"/>
          </p:nvPr>
        </p:nvSpPr>
        <p:spPr>
          <a:noFill/>
        </p:spPr>
        <p:txBody>
          <a:bodyPr/>
          <a:lstStyle/>
          <a:p>
            <a:r>
              <a:rPr lang="en-US" smtClean="0"/>
              <a:t>Copyright ©2012 Pearson Education</a:t>
            </a:r>
          </a:p>
        </p:txBody>
      </p:sp>
      <p:sp>
        <p:nvSpPr>
          <p:cNvPr id="180241" name="Rectangle 5"/>
          <p:cNvSpPr>
            <a:spLocks noGrp="1" noChangeArrowheads="1"/>
          </p:cNvSpPr>
          <p:nvPr>
            <p:ph type="sldNum" sz="quarter" idx="11"/>
          </p:nvPr>
        </p:nvSpPr>
        <p:spPr>
          <a:noFill/>
        </p:spPr>
        <p:txBody>
          <a:bodyPr/>
          <a:lstStyle/>
          <a:p>
            <a:r>
              <a:rPr lang="en-US" smtClean="0"/>
              <a:t>Chap 6-</a:t>
            </a:r>
            <a:fld id="{974101B9-B33E-40DE-B402-7BA8771802EF}" type="slidenum">
              <a:rPr lang="en-US" smtClean="0"/>
              <a:pPr/>
              <a:t>14</a:t>
            </a:fld>
            <a:endParaRPr lang="en-US" smtClean="0"/>
          </a:p>
        </p:txBody>
      </p:sp>
      <p:sp>
        <p:nvSpPr>
          <p:cNvPr id="180242"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B70A3B92-A45F-4F4D-B82E-5391E00EC7F5}" type="slidenum">
              <a:rPr lang="en-US" sz="1000"/>
              <a:pPr algn="r" defTabSz="852488"/>
              <a:t>14</a:t>
            </a:fld>
            <a:endParaRPr lang="en-US" sz="1000"/>
          </a:p>
        </p:txBody>
      </p:sp>
      <p:sp>
        <p:nvSpPr>
          <p:cNvPr id="180243" name="Freeform 2"/>
          <p:cNvSpPr>
            <a:spLocks/>
          </p:cNvSpPr>
          <p:nvPr/>
        </p:nvSpPr>
        <p:spPr bwMode="auto">
          <a:xfrm>
            <a:off x="1600200" y="3048000"/>
            <a:ext cx="5486400" cy="2438400"/>
          </a:xfrm>
          <a:custGeom>
            <a:avLst/>
            <a:gdLst>
              <a:gd name="T0" fmla="*/ 0 w 1893"/>
              <a:gd name="T1" fmla="*/ 0 h 765"/>
              <a:gd name="T2" fmla="*/ 0 w 1893"/>
              <a:gd name="T3" fmla="*/ 2435213 h 765"/>
              <a:gd name="T4" fmla="*/ 5483502 w 1893"/>
              <a:gd name="T5" fmla="*/ 2435213 h 765"/>
              <a:gd name="T6" fmla="*/ 0 60000 65536"/>
              <a:gd name="T7" fmla="*/ 0 60000 65536"/>
              <a:gd name="T8" fmla="*/ 0 60000 65536"/>
              <a:gd name="T9" fmla="*/ 0 w 1893"/>
              <a:gd name="T10" fmla="*/ 0 h 765"/>
              <a:gd name="T11" fmla="*/ 1893 w 1893"/>
              <a:gd name="T12" fmla="*/ 765 h 765"/>
            </a:gdLst>
            <a:ahLst/>
            <a:cxnLst>
              <a:cxn ang="T6">
                <a:pos x="T0" y="T1"/>
              </a:cxn>
              <a:cxn ang="T7">
                <a:pos x="T2" y="T3"/>
              </a:cxn>
              <a:cxn ang="T8">
                <a:pos x="T4" y="T5"/>
              </a:cxn>
            </a:cxnLst>
            <a:rect l="T9" t="T10" r="T11" b="T12"/>
            <a:pathLst>
              <a:path w="1893" h="765">
                <a:moveTo>
                  <a:pt x="0" y="0"/>
                </a:moveTo>
                <a:lnTo>
                  <a:pt x="0" y="764"/>
                </a:lnTo>
                <a:lnTo>
                  <a:pt x="1892" y="764"/>
                </a:lnTo>
              </a:path>
            </a:pathLst>
          </a:custGeom>
          <a:noFill/>
          <a:ln w="25400" cap="rnd">
            <a:solidFill>
              <a:schemeClr val="bg2"/>
            </a:solidFill>
            <a:round/>
            <a:headEnd/>
            <a:tailEnd/>
          </a:ln>
        </p:spPr>
        <p:txBody>
          <a:bodyPr/>
          <a:lstStyle/>
          <a:p>
            <a:endParaRPr lang="en-GB"/>
          </a:p>
        </p:txBody>
      </p:sp>
      <p:sp>
        <p:nvSpPr>
          <p:cNvPr id="180244" name="Rectangle 3"/>
          <p:cNvSpPr>
            <a:spLocks noChangeArrowheads="1"/>
          </p:cNvSpPr>
          <p:nvPr/>
        </p:nvSpPr>
        <p:spPr bwMode="auto">
          <a:xfrm>
            <a:off x="914400" y="2819400"/>
            <a:ext cx="688975" cy="454025"/>
          </a:xfrm>
          <a:prstGeom prst="rect">
            <a:avLst/>
          </a:prstGeom>
          <a:noFill/>
          <a:ln w="12700">
            <a:noFill/>
            <a:miter lim="800000"/>
            <a:headEnd/>
            <a:tailEnd/>
          </a:ln>
        </p:spPr>
        <p:txBody>
          <a:bodyPr wrap="none" lIns="90487" tIns="44450" rIns="90487" bIns="44450">
            <a:spAutoFit/>
          </a:bodyPr>
          <a:lstStyle/>
          <a:p>
            <a:pPr eaLnBrk="0" hangingPunct="0"/>
            <a:r>
              <a:rPr lang="en-US" b="1">
                <a:solidFill>
                  <a:srgbClr val="339933"/>
                </a:solidFill>
              </a:rPr>
              <a:t>f(X)</a:t>
            </a:r>
          </a:p>
        </p:txBody>
      </p:sp>
      <p:sp>
        <p:nvSpPr>
          <p:cNvPr id="180245" name="Freeform 4"/>
          <p:cNvSpPr>
            <a:spLocks/>
          </p:cNvSpPr>
          <p:nvPr/>
        </p:nvSpPr>
        <p:spPr bwMode="auto">
          <a:xfrm>
            <a:off x="4495800" y="3505200"/>
            <a:ext cx="2438400" cy="1905000"/>
          </a:xfrm>
          <a:custGeom>
            <a:avLst/>
            <a:gdLst>
              <a:gd name="T0" fmla="*/ 2435694 w 901"/>
              <a:gd name="T1" fmla="*/ 1902358 h 721"/>
              <a:gd name="T2" fmla="*/ 2178593 w 901"/>
              <a:gd name="T3" fmla="*/ 1881221 h 721"/>
              <a:gd name="T4" fmla="*/ 2051395 w 901"/>
              <a:gd name="T5" fmla="*/ 1860083 h 721"/>
              <a:gd name="T6" fmla="*/ 1924198 w 901"/>
              <a:gd name="T7" fmla="*/ 1825735 h 721"/>
              <a:gd name="T8" fmla="*/ 1794295 w 901"/>
              <a:gd name="T9" fmla="*/ 1783461 h 721"/>
              <a:gd name="T10" fmla="*/ 1664391 w 901"/>
              <a:gd name="T11" fmla="*/ 1725333 h 721"/>
              <a:gd name="T12" fmla="*/ 1537194 w 901"/>
              <a:gd name="T13" fmla="*/ 1646068 h 721"/>
              <a:gd name="T14" fmla="*/ 1280092 w 901"/>
              <a:gd name="T15" fmla="*/ 1426769 h 721"/>
              <a:gd name="T16" fmla="*/ 1022991 w 901"/>
              <a:gd name="T17" fmla="*/ 1114993 h 721"/>
              <a:gd name="T18" fmla="*/ 768597 w 901"/>
              <a:gd name="T19" fmla="*/ 742448 h 721"/>
              <a:gd name="T20" fmla="*/ 638693 w 901"/>
              <a:gd name="T21" fmla="*/ 552212 h 721"/>
              <a:gd name="T22" fmla="*/ 511496 w 901"/>
              <a:gd name="T23" fmla="*/ 375187 h 721"/>
              <a:gd name="T24" fmla="*/ 384298 w 901"/>
              <a:gd name="T25" fmla="*/ 219300 h 721"/>
              <a:gd name="T26" fmla="*/ 254395 w 901"/>
              <a:gd name="T27" fmla="*/ 100402 h 721"/>
              <a:gd name="T28" fmla="*/ 127197 w 901"/>
              <a:gd name="T29" fmla="*/ 23779 h 721"/>
              <a:gd name="T30" fmla="*/ 0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50800" cap="rnd">
            <a:solidFill>
              <a:srgbClr val="008000"/>
            </a:solidFill>
            <a:round/>
            <a:headEnd/>
            <a:tailEnd/>
          </a:ln>
        </p:spPr>
        <p:txBody>
          <a:bodyPr/>
          <a:lstStyle/>
          <a:p>
            <a:endParaRPr lang="en-GB"/>
          </a:p>
        </p:txBody>
      </p:sp>
      <p:sp>
        <p:nvSpPr>
          <p:cNvPr id="180246" name="Freeform 5"/>
          <p:cNvSpPr>
            <a:spLocks/>
          </p:cNvSpPr>
          <p:nvPr/>
        </p:nvSpPr>
        <p:spPr bwMode="auto">
          <a:xfrm>
            <a:off x="2133600" y="3505200"/>
            <a:ext cx="2344738" cy="1905000"/>
          </a:xfrm>
          <a:custGeom>
            <a:avLst/>
            <a:gdLst>
              <a:gd name="T0" fmla="*/ 0 w 901"/>
              <a:gd name="T1" fmla="*/ 1902358 h 721"/>
              <a:gd name="T2" fmla="*/ 247225 w 901"/>
              <a:gd name="T3" fmla="*/ 1881221 h 721"/>
              <a:gd name="T4" fmla="*/ 369537 w 901"/>
              <a:gd name="T5" fmla="*/ 1860083 h 721"/>
              <a:gd name="T6" fmla="*/ 491849 w 901"/>
              <a:gd name="T7" fmla="*/ 1825735 h 721"/>
              <a:gd name="T8" fmla="*/ 616762 w 901"/>
              <a:gd name="T9" fmla="*/ 1783461 h 721"/>
              <a:gd name="T10" fmla="*/ 739074 w 901"/>
              <a:gd name="T11" fmla="*/ 1725333 h 721"/>
              <a:gd name="T12" fmla="*/ 861386 w 901"/>
              <a:gd name="T13" fmla="*/ 1646068 h 721"/>
              <a:gd name="T14" fmla="*/ 1108611 w 901"/>
              <a:gd name="T15" fmla="*/ 1426769 h 721"/>
              <a:gd name="T16" fmla="*/ 1355837 w 901"/>
              <a:gd name="T17" fmla="*/ 1114993 h 721"/>
              <a:gd name="T18" fmla="*/ 1603062 w 901"/>
              <a:gd name="T19" fmla="*/ 742448 h 721"/>
              <a:gd name="T20" fmla="*/ 1725373 w 901"/>
              <a:gd name="T21" fmla="*/ 552212 h 721"/>
              <a:gd name="T22" fmla="*/ 1847685 w 901"/>
              <a:gd name="T23" fmla="*/ 375187 h 721"/>
              <a:gd name="T24" fmla="*/ 1969996 w 901"/>
              <a:gd name="T25" fmla="*/ 219300 h 721"/>
              <a:gd name="T26" fmla="*/ 2094910 w 901"/>
              <a:gd name="T27" fmla="*/ 100402 h 721"/>
              <a:gd name="T28" fmla="*/ 2217222 w 901"/>
              <a:gd name="T29" fmla="*/ 23779 h 721"/>
              <a:gd name="T30" fmla="*/ 2342136 w 901"/>
              <a:gd name="T31" fmla="*/ 0 h 7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01"/>
              <a:gd name="T49" fmla="*/ 0 h 721"/>
              <a:gd name="T50" fmla="*/ 901 w 901"/>
              <a:gd name="T51" fmla="*/ 721 h 7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50800" cap="rnd">
            <a:solidFill>
              <a:srgbClr val="008000"/>
            </a:solidFill>
            <a:round/>
            <a:headEnd/>
            <a:tailEnd/>
          </a:ln>
        </p:spPr>
        <p:txBody>
          <a:bodyPr/>
          <a:lstStyle/>
          <a:p>
            <a:endParaRPr lang="en-GB"/>
          </a:p>
        </p:txBody>
      </p:sp>
      <p:sp>
        <p:nvSpPr>
          <p:cNvPr id="180247" name="Line 6"/>
          <p:cNvSpPr>
            <a:spLocks noChangeShapeType="1"/>
          </p:cNvSpPr>
          <p:nvPr/>
        </p:nvSpPr>
        <p:spPr bwMode="auto">
          <a:xfrm>
            <a:off x="4495800" y="3505200"/>
            <a:ext cx="0" cy="1981200"/>
          </a:xfrm>
          <a:prstGeom prst="line">
            <a:avLst/>
          </a:prstGeom>
          <a:noFill/>
          <a:ln w="12700">
            <a:solidFill>
              <a:srgbClr val="808080"/>
            </a:solidFill>
            <a:round/>
            <a:headEnd/>
            <a:tailEnd/>
          </a:ln>
        </p:spPr>
        <p:txBody>
          <a:bodyPr wrap="none" anchor="ctr"/>
          <a:lstStyle/>
          <a:p>
            <a:endParaRPr lang="en-US"/>
          </a:p>
        </p:txBody>
      </p:sp>
      <p:sp>
        <p:nvSpPr>
          <p:cNvPr id="180248" name="Rectangle 7"/>
          <p:cNvSpPr>
            <a:spLocks noChangeArrowheads="1"/>
          </p:cNvSpPr>
          <p:nvPr/>
        </p:nvSpPr>
        <p:spPr bwMode="auto">
          <a:xfrm>
            <a:off x="7086600" y="5334000"/>
            <a:ext cx="384175" cy="454025"/>
          </a:xfrm>
          <a:prstGeom prst="rect">
            <a:avLst/>
          </a:prstGeom>
          <a:noFill/>
          <a:ln w="12700">
            <a:noFill/>
            <a:miter lim="800000"/>
            <a:headEnd/>
            <a:tailEnd/>
          </a:ln>
        </p:spPr>
        <p:txBody>
          <a:bodyPr wrap="none" lIns="90487" tIns="44450" rIns="90487" bIns="44450">
            <a:spAutoFit/>
          </a:bodyPr>
          <a:lstStyle/>
          <a:p>
            <a:pPr eaLnBrk="0" hangingPunct="0"/>
            <a:r>
              <a:rPr lang="en-US" b="1">
                <a:solidFill>
                  <a:srgbClr val="339933"/>
                </a:solidFill>
              </a:rPr>
              <a:t>X</a:t>
            </a:r>
          </a:p>
        </p:txBody>
      </p:sp>
      <p:sp>
        <p:nvSpPr>
          <p:cNvPr id="180249" name="Rectangle 8"/>
          <p:cNvSpPr>
            <a:spLocks noChangeArrowheads="1"/>
          </p:cNvSpPr>
          <p:nvPr/>
        </p:nvSpPr>
        <p:spPr bwMode="auto">
          <a:xfrm>
            <a:off x="4343400" y="5334000"/>
            <a:ext cx="479425" cy="515938"/>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l-GR" sz="2800" b="1">
                <a:solidFill>
                  <a:srgbClr val="339933"/>
                </a:solidFill>
                <a:cs typeface="Arial" charset="0"/>
              </a:rPr>
              <a:t>μ</a:t>
            </a:r>
          </a:p>
        </p:txBody>
      </p:sp>
      <p:sp>
        <p:nvSpPr>
          <p:cNvPr id="180250" name="Rectangle 9"/>
          <p:cNvSpPr>
            <a:spLocks noGrp="1" noChangeArrowheads="1"/>
          </p:cNvSpPr>
          <p:nvPr>
            <p:ph type="title"/>
          </p:nvPr>
        </p:nvSpPr>
        <p:spPr>
          <a:xfrm>
            <a:off x="990600" y="228600"/>
            <a:ext cx="7793038" cy="1066800"/>
          </a:xfrm>
        </p:spPr>
        <p:txBody>
          <a:bodyPr/>
          <a:lstStyle/>
          <a:p>
            <a:pPr defTabSz="914400" eaLnBrk="1" hangingPunct="1">
              <a:lnSpc>
                <a:spcPct val="80000"/>
              </a:lnSpc>
            </a:pPr>
            <a:r>
              <a:rPr lang="en-US" smtClean="0"/>
              <a:t>Probability as </a:t>
            </a:r>
            <a:br>
              <a:rPr lang="en-US" smtClean="0"/>
            </a:br>
            <a:r>
              <a:rPr lang="en-US" smtClean="0"/>
              <a:t>Area Under the Curve</a:t>
            </a:r>
          </a:p>
        </p:txBody>
      </p:sp>
      <p:sp>
        <p:nvSpPr>
          <p:cNvPr id="180251" name="Text Box 10"/>
          <p:cNvSpPr txBox="1">
            <a:spLocks noChangeArrowheads="1"/>
          </p:cNvSpPr>
          <p:nvPr/>
        </p:nvSpPr>
        <p:spPr bwMode="auto">
          <a:xfrm>
            <a:off x="4648200" y="4572000"/>
            <a:ext cx="685800" cy="457200"/>
          </a:xfrm>
          <a:prstGeom prst="rect">
            <a:avLst/>
          </a:prstGeom>
          <a:noFill/>
          <a:ln w="12700">
            <a:noFill/>
            <a:miter lim="800000"/>
            <a:headEnd/>
            <a:tailEnd/>
          </a:ln>
        </p:spPr>
        <p:txBody>
          <a:bodyPr>
            <a:spAutoFit/>
          </a:bodyPr>
          <a:lstStyle/>
          <a:p>
            <a:pPr eaLnBrk="0" hangingPunct="0">
              <a:spcBef>
                <a:spcPct val="50000"/>
              </a:spcBef>
            </a:pPr>
            <a:r>
              <a:rPr lang="en-US">
                <a:solidFill>
                  <a:schemeClr val="bg1"/>
                </a:solidFill>
              </a:rPr>
              <a:t>0.5</a:t>
            </a:r>
          </a:p>
        </p:txBody>
      </p:sp>
      <p:sp>
        <p:nvSpPr>
          <p:cNvPr id="180252" name="Text Box 11"/>
          <p:cNvSpPr txBox="1">
            <a:spLocks noChangeArrowheads="1"/>
          </p:cNvSpPr>
          <p:nvPr/>
        </p:nvSpPr>
        <p:spPr bwMode="auto">
          <a:xfrm>
            <a:off x="3733800" y="4572000"/>
            <a:ext cx="685800" cy="457200"/>
          </a:xfrm>
          <a:prstGeom prst="rect">
            <a:avLst/>
          </a:prstGeom>
          <a:noFill/>
          <a:ln w="12700">
            <a:noFill/>
            <a:miter lim="800000"/>
            <a:headEnd/>
            <a:tailEnd/>
          </a:ln>
        </p:spPr>
        <p:txBody>
          <a:bodyPr>
            <a:spAutoFit/>
          </a:bodyPr>
          <a:lstStyle/>
          <a:p>
            <a:pPr eaLnBrk="0" hangingPunct="0">
              <a:spcBef>
                <a:spcPct val="50000"/>
              </a:spcBef>
            </a:pPr>
            <a:r>
              <a:rPr lang="en-US">
                <a:solidFill>
                  <a:schemeClr val="bg1"/>
                </a:solidFill>
              </a:rPr>
              <a:t>0.5</a:t>
            </a:r>
          </a:p>
        </p:txBody>
      </p:sp>
      <p:sp>
        <p:nvSpPr>
          <p:cNvPr id="180253" name="Text Box 12"/>
          <p:cNvSpPr txBox="1">
            <a:spLocks noChangeArrowheads="1"/>
          </p:cNvSpPr>
          <p:nvPr/>
        </p:nvSpPr>
        <p:spPr bwMode="auto">
          <a:xfrm>
            <a:off x="1066800" y="1676400"/>
            <a:ext cx="7467600" cy="822325"/>
          </a:xfrm>
          <a:prstGeom prst="rect">
            <a:avLst/>
          </a:prstGeom>
          <a:noFill/>
          <a:ln w="12700">
            <a:noFill/>
            <a:miter lim="800000"/>
            <a:headEnd/>
            <a:tailEnd/>
          </a:ln>
        </p:spPr>
        <p:txBody>
          <a:bodyPr>
            <a:spAutoFit/>
          </a:bodyPr>
          <a:lstStyle/>
          <a:p>
            <a:pPr eaLnBrk="0" hangingPunct="0">
              <a:spcBef>
                <a:spcPct val="50000"/>
              </a:spcBef>
            </a:pPr>
            <a:r>
              <a:rPr lang="en-US">
                <a:solidFill>
                  <a:schemeClr val="bg2"/>
                </a:solidFill>
              </a:rPr>
              <a:t>The </a:t>
            </a:r>
            <a:r>
              <a:rPr lang="en-US">
                <a:solidFill>
                  <a:schemeClr val="folHlink"/>
                </a:solidFill>
              </a:rPr>
              <a:t>total area under the curve is 1.0</a:t>
            </a:r>
            <a:r>
              <a:rPr lang="en-US">
                <a:solidFill>
                  <a:schemeClr val="bg2"/>
                </a:solidFill>
              </a:rPr>
              <a:t>, and the curve is symmetric, so half is above the mean, half is below</a:t>
            </a:r>
            <a:endParaRPr lang="en-US" sz="2800">
              <a:solidFill>
                <a:schemeClr val="bg2"/>
              </a:solidFill>
            </a:endParaRPr>
          </a:p>
        </p:txBody>
      </p:sp>
      <p:graphicFrame>
        <p:nvGraphicFramePr>
          <p:cNvPr id="180237" name="Object 13"/>
          <p:cNvGraphicFramePr>
            <a:graphicFrameLocks noChangeAspect="1"/>
          </p:cNvGraphicFramePr>
          <p:nvPr/>
        </p:nvGraphicFramePr>
        <p:xfrm>
          <a:off x="2895600" y="5867400"/>
          <a:ext cx="3586163" cy="549275"/>
        </p:xfrm>
        <a:graphic>
          <a:graphicData uri="http://schemas.openxmlformats.org/presentationml/2006/ole">
            <p:oleObj spid="_x0000_s180237" name="Equation" r:id="rId3" imgW="1346040" imgH="203040" progId="Equation.3">
              <p:embed/>
            </p:oleObj>
          </a:graphicData>
        </a:graphic>
      </p:graphicFrame>
      <p:graphicFrame>
        <p:nvGraphicFramePr>
          <p:cNvPr id="180238" name="Object 14"/>
          <p:cNvGraphicFramePr>
            <a:graphicFrameLocks noChangeAspect="1"/>
          </p:cNvGraphicFramePr>
          <p:nvPr/>
        </p:nvGraphicFramePr>
        <p:xfrm>
          <a:off x="5534025" y="3124200"/>
          <a:ext cx="2789238" cy="439738"/>
        </p:xfrm>
        <a:graphic>
          <a:graphicData uri="http://schemas.openxmlformats.org/presentationml/2006/ole">
            <p:oleObj spid="_x0000_s180238" name="Equation" r:id="rId4" imgW="1231560" imgH="203040" progId="Equation.3">
              <p:embed/>
            </p:oleObj>
          </a:graphicData>
        </a:graphic>
      </p:graphicFrame>
      <p:graphicFrame>
        <p:nvGraphicFramePr>
          <p:cNvPr id="180239" name="Object 15"/>
          <p:cNvGraphicFramePr>
            <a:graphicFrameLocks noChangeAspect="1"/>
          </p:cNvGraphicFramePr>
          <p:nvPr/>
        </p:nvGraphicFramePr>
        <p:xfrm>
          <a:off x="1724025" y="2971800"/>
          <a:ext cx="2984500" cy="441325"/>
        </p:xfrm>
        <a:graphic>
          <a:graphicData uri="http://schemas.openxmlformats.org/presentationml/2006/ole">
            <p:oleObj spid="_x0000_s180239" name="Equation" r:id="rId5" imgW="1320480" imgH="203040" progId="Equation.3">
              <p:embed/>
            </p:oleObj>
          </a:graphicData>
        </a:graphic>
      </p:graphicFrame>
      <p:sp>
        <p:nvSpPr>
          <p:cNvPr id="180254" name="Line 16"/>
          <p:cNvSpPr>
            <a:spLocks noChangeShapeType="1"/>
          </p:cNvSpPr>
          <p:nvPr/>
        </p:nvSpPr>
        <p:spPr bwMode="auto">
          <a:xfrm flipH="1">
            <a:off x="4953000" y="3581400"/>
            <a:ext cx="914400" cy="990600"/>
          </a:xfrm>
          <a:prstGeom prst="line">
            <a:avLst/>
          </a:prstGeom>
          <a:noFill/>
          <a:ln w="19050">
            <a:solidFill>
              <a:schemeClr val="tx1"/>
            </a:solidFill>
            <a:round/>
            <a:headEnd/>
            <a:tailEnd type="triangle" w="med" len="med"/>
          </a:ln>
        </p:spPr>
        <p:txBody>
          <a:bodyPr wrap="none" anchor="ctr"/>
          <a:lstStyle/>
          <a:p>
            <a:endParaRPr lang="en-US"/>
          </a:p>
        </p:txBody>
      </p:sp>
      <p:sp>
        <p:nvSpPr>
          <p:cNvPr id="180255" name="Line 17"/>
          <p:cNvSpPr>
            <a:spLocks noChangeShapeType="1"/>
          </p:cNvSpPr>
          <p:nvPr/>
        </p:nvSpPr>
        <p:spPr bwMode="auto">
          <a:xfrm>
            <a:off x="3200400" y="3429000"/>
            <a:ext cx="762000" cy="990600"/>
          </a:xfrm>
          <a:prstGeom prst="line">
            <a:avLst/>
          </a:prstGeom>
          <a:noFill/>
          <a:ln w="19050">
            <a:solidFill>
              <a:schemeClr val="tx1"/>
            </a:solidFill>
            <a:round/>
            <a:headEnd/>
            <a:tailEnd type="triangle" w="med" len="med"/>
          </a:ln>
        </p:spPr>
        <p:txBody>
          <a:bodyPr wrap="none" anchor="ctr"/>
          <a:lstStyle/>
          <a:p>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3" name="Rectangle 4"/>
          <p:cNvSpPr>
            <a:spLocks noGrp="1" noChangeArrowheads="1"/>
          </p:cNvSpPr>
          <p:nvPr>
            <p:ph type="ftr" sz="quarter" idx="10"/>
          </p:nvPr>
        </p:nvSpPr>
        <p:spPr>
          <a:noFill/>
        </p:spPr>
        <p:txBody>
          <a:bodyPr/>
          <a:lstStyle/>
          <a:p>
            <a:r>
              <a:rPr lang="en-US" smtClean="0"/>
              <a:t>Copyright ©2012 Pearson Education</a:t>
            </a:r>
          </a:p>
        </p:txBody>
      </p:sp>
      <p:sp>
        <p:nvSpPr>
          <p:cNvPr id="356354" name="Rectangle 5"/>
          <p:cNvSpPr>
            <a:spLocks noGrp="1" noChangeArrowheads="1"/>
          </p:cNvSpPr>
          <p:nvPr>
            <p:ph type="sldNum" sz="quarter" idx="11"/>
          </p:nvPr>
        </p:nvSpPr>
        <p:spPr>
          <a:noFill/>
        </p:spPr>
        <p:txBody>
          <a:bodyPr/>
          <a:lstStyle/>
          <a:p>
            <a:r>
              <a:rPr lang="en-US" smtClean="0"/>
              <a:t>Chap 6-</a:t>
            </a:r>
            <a:fld id="{1F42FBC5-59DD-4C95-81DB-90C887F1FB9D}" type="slidenum">
              <a:rPr lang="en-US" smtClean="0"/>
              <a:pPr/>
              <a:t>15</a:t>
            </a:fld>
            <a:endParaRPr lang="en-US" smtClean="0"/>
          </a:p>
        </p:txBody>
      </p:sp>
      <p:sp>
        <p:nvSpPr>
          <p:cNvPr id="356355" name="Slide Number Placeholder 2"/>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7685B276-7045-4A8D-8C6B-E47DD61F442C}" type="slidenum">
              <a:rPr lang="en-US" sz="1000"/>
              <a:pPr algn="r" defTabSz="852488"/>
              <a:t>15</a:t>
            </a:fld>
            <a:endParaRPr lang="en-US" sz="1000"/>
          </a:p>
        </p:txBody>
      </p:sp>
      <p:sp>
        <p:nvSpPr>
          <p:cNvPr id="356356" name="Freeform 2"/>
          <p:cNvSpPr>
            <a:spLocks/>
          </p:cNvSpPr>
          <p:nvPr/>
        </p:nvSpPr>
        <p:spPr bwMode="auto">
          <a:xfrm>
            <a:off x="4422775" y="4191000"/>
            <a:ext cx="1387475" cy="1219200"/>
          </a:xfrm>
          <a:custGeom>
            <a:avLst/>
            <a:gdLst>
              <a:gd name="T0" fmla="*/ 1387475 w 874"/>
              <a:gd name="T1" fmla="*/ 1219200 h 768"/>
              <a:gd name="T2" fmla="*/ 1387475 w 874"/>
              <a:gd name="T3" fmla="*/ 0 h 768"/>
              <a:gd name="T4" fmla="*/ 1249363 w 874"/>
              <a:gd name="T5" fmla="*/ 85725 h 768"/>
              <a:gd name="T6" fmla="*/ 1130300 w 874"/>
              <a:gd name="T7" fmla="*/ 200025 h 768"/>
              <a:gd name="T8" fmla="*/ 1022350 w 874"/>
              <a:gd name="T9" fmla="*/ 371475 h 768"/>
              <a:gd name="T10" fmla="*/ 904875 w 874"/>
              <a:gd name="T11" fmla="*/ 549275 h 768"/>
              <a:gd name="T12" fmla="*/ 828675 w 874"/>
              <a:gd name="T13" fmla="*/ 679450 h 768"/>
              <a:gd name="T14" fmla="*/ 723900 w 874"/>
              <a:gd name="T15" fmla="*/ 800100 h 768"/>
              <a:gd name="T16" fmla="*/ 625475 w 874"/>
              <a:gd name="T17" fmla="*/ 914400 h 768"/>
              <a:gd name="T18" fmla="*/ 428625 w 874"/>
              <a:gd name="T19" fmla="*/ 1041400 h 768"/>
              <a:gd name="T20" fmla="*/ 263525 w 874"/>
              <a:gd name="T21" fmla="*/ 1114425 h 768"/>
              <a:gd name="T22" fmla="*/ 0 w 874"/>
              <a:gd name="T23" fmla="*/ 1152525 h 768"/>
              <a:gd name="T24" fmla="*/ 0 w 874"/>
              <a:gd name="T25" fmla="*/ 1219200 h 768"/>
              <a:gd name="T26" fmla="*/ 1387475 w 874"/>
              <a:gd name="T27" fmla="*/ 1219200 h 76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74"/>
              <a:gd name="T43" fmla="*/ 0 h 768"/>
              <a:gd name="T44" fmla="*/ 874 w 874"/>
              <a:gd name="T45" fmla="*/ 768 h 76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74" h="768">
                <a:moveTo>
                  <a:pt x="874" y="768"/>
                </a:moveTo>
                <a:lnTo>
                  <a:pt x="874" y="0"/>
                </a:lnTo>
                <a:lnTo>
                  <a:pt x="787" y="54"/>
                </a:lnTo>
                <a:lnTo>
                  <a:pt x="712" y="126"/>
                </a:lnTo>
                <a:lnTo>
                  <a:pt x="644" y="234"/>
                </a:lnTo>
                <a:lnTo>
                  <a:pt x="570" y="346"/>
                </a:lnTo>
                <a:lnTo>
                  <a:pt x="522" y="428"/>
                </a:lnTo>
                <a:lnTo>
                  <a:pt x="456" y="504"/>
                </a:lnTo>
                <a:lnTo>
                  <a:pt x="394" y="576"/>
                </a:lnTo>
                <a:lnTo>
                  <a:pt x="270" y="656"/>
                </a:lnTo>
                <a:lnTo>
                  <a:pt x="166" y="702"/>
                </a:lnTo>
                <a:lnTo>
                  <a:pt x="0" y="726"/>
                </a:lnTo>
                <a:lnTo>
                  <a:pt x="0" y="768"/>
                </a:lnTo>
                <a:lnTo>
                  <a:pt x="874" y="768"/>
                </a:lnTo>
                <a:close/>
              </a:path>
            </a:pathLst>
          </a:custGeom>
          <a:solidFill>
            <a:srgbClr val="FF0000"/>
          </a:solidFill>
          <a:ln w="12700">
            <a:solidFill>
              <a:srgbClr val="FF0000"/>
            </a:solidFill>
            <a:round/>
            <a:headEnd/>
            <a:tailEnd/>
          </a:ln>
        </p:spPr>
        <p:txBody>
          <a:bodyPr/>
          <a:lstStyle/>
          <a:p>
            <a:endParaRPr lang="en-GB"/>
          </a:p>
        </p:txBody>
      </p:sp>
      <p:sp>
        <p:nvSpPr>
          <p:cNvPr id="356357" name="Line 3"/>
          <p:cNvSpPr>
            <a:spLocks noChangeShapeType="1"/>
          </p:cNvSpPr>
          <p:nvPr/>
        </p:nvSpPr>
        <p:spPr bwMode="auto">
          <a:xfrm>
            <a:off x="6553200" y="5105400"/>
            <a:ext cx="0" cy="304800"/>
          </a:xfrm>
          <a:prstGeom prst="line">
            <a:avLst/>
          </a:prstGeom>
          <a:noFill/>
          <a:ln w="101600">
            <a:solidFill>
              <a:srgbClr val="FF0000"/>
            </a:solidFill>
            <a:round/>
            <a:headEnd/>
            <a:tailEnd/>
          </a:ln>
        </p:spPr>
        <p:txBody>
          <a:bodyPr wrap="none" anchor="ctr"/>
          <a:lstStyle/>
          <a:p>
            <a:endParaRPr lang="en-US"/>
          </a:p>
        </p:txBody>
      </p:sp>
      <p:sp>
        <p:nvSpPr>
          <p:cNvPr id="356358" name="Rectangle 4"/>
          <p:cNvSpPr>
            <a:spLocks noChangeArrowheads="1"/>
          </p:cNvSpPr>
          <p:nvPr/>
        </p:nvSpPr>
        <p:spPr bwMode="auto">
          <a:xfrm>
            <a:off x="5791200" y="4191000"/>
            <a:ext cx="76200" cy="1219200"/>
          </a:xfrm>
          <a:prstGeom prst="rect">
            <a:avLst/>
          </a:prstGeom>
          <a:solidFill>
            <a:schemeClr val="hlink"/>
          </a:solidFill>
          <a:ln w="19050" algn="ctr">
            <a:noFill/>
            <a:miter lim="800000"/>
            <a:headEnd/>
            <a:tailEnd/>
          </a:ln>
        </p:spPr>
        <p:txBody>
          <a:bodyPr wrap="none" anchor="ctr"/>
          <a:lstStyle/>
          <a:p>
            <a:pPr algn="ctr">
              <a:spcBef>
                <a:spcPct val="50000"/>
              </a:spcBef>
            </a:pPr>
            <a:endParaRPr lang="en-GB"/>
          </a:p>
        </p:txBody>
      </p:sp>
      <p:sp>
        <p:nvSpPr>
          <p:cNvPr id="356359" name="Freeform 5"/>
          <p:cNvSpPr>
            <a:spLocks/>
          </p:cNvSpPr>
          <p:nvPr/>
        </p:nvSpPr>
        <p:spPr bwMode="auto">
          <a:xfrm>
            <a:off x="5780088" y="4191000"/>
            <a:ext cx="812800" cy="1214438"/>
          </a:xfrm>
          <a:custGeom>
            <a:avLst/>
            <a:gdLst>
              <a:gd name="T0" fmla="*/ 36512 w 512"/>
              <a:gd name="T1" fmla="*/ 30163 h 765"/>
              <a:gd name="T2" fmla="*/ 26987 w 512"/>
              <a:gd name="T3" fmla="*/ 26988 h 765"/>
              <a:gd name="T4" fmla="*/ 68262 w 512"/>
              <a:gd name="T5" fmla="*/ 42863 h 765"/>
              <a:gd name="T6" fmla="*/ 103187 w 512"/>
              <a:gd name="T7" fmla="*/ 42863 h 765"/>
              <a:gd name="T8" fmla="*/ 150812 w 512"/>
              <a:gd name="T9" fmla="*/ 68263 h 765"/>
              <a:gd name="T10" fmla="*/ 265112 w 512"/>
              <a:gd name="T11" fmla="*/ 168275 h 765"/>
              <a:gd name="T12" fmla="*/ 388937 w 512"/>
              <a:gd name="T13" fmla="*/ 330200 h 765"/>
              <a:gd name="T14" fmla="*/ 469900 w 512"/>
              <a:gd name="T15" fmla="*/ 444500 h 765"/>
              <a:gd name="T16" fmla="*/ 519112 w 512"/>
              <a:gd name="T17" fmla="*/ 496888 h 765"/>
              <a:gd name="T18" fmla="*/ 538162 w 512"/>
              <a:gd name="T19" fmla="*/ 539750 h 765"/>
              <a:gd name="T20" fmla="*/ 593725 w 512"/>
              <a:gd name="T21" fmla="*/ 620713 h 765"/>
              <a:gd name="T22" fmla="*/ 684212 w 512"/>
              <a:gd name="T23" fmla="*/ 727075 h 765"/>
              <a:gd name="T24" fmla="*/ 747712 w 512"/>
              <a:gd name="T25" fmla="*/ 835025 h 765"/>
              <a:gd name="T26" fmla="*/ 784225 w 512"/>
              <a:gd name="T27" fmla="*/ 906463 h 765"/>
              <a:gd name="T28" fmla="*/ 517525 w 512"/>
              <a:gd name="T29" fmla="*/ 1190625 h 765"/>
              <a:gd name="T30" fmla="*/ 431800 w 512"/>
              <a:gd name="T31" fmla="*/ 1200150 h 765"/>
              <a:gd name="T32" fmla="*/ 184150 w 512"/>
              <a:gd name="T33" fmla="*/ 1182688 h 765"/>
              <a:gd name="T34" fmla="*/ 30162 w 512"/>
              <a:gd name="T35" fmla="*/ 1182688 h 765"/>
              <a:gd name="T36" fmla="*/ 77787 w 512"/>
              <a:gd name="T37" fmla="*/ 814388 h 765"/>
              <a:gd name="T38" fmla="*/ 7937 w 512"/>
              <a:gd name="T39" fmla="*/ 36513 h 765"/>
              <a:gd name="T40" fmla="*/ 36512 w 512"/>
              <a:gd name="T41" fmla="*/ 30163 h 76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12"/>
              <a:gd name="T64" fmla="*/ 0 h 765"/>
              <a:gd name="T65" fmla="*/ 512 w 512"/>
              <a:gd name="T66" fmla="*/ 765 h 76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12" h="765">
                <a:moveTo>
                  <a:pt x="23" y="19"/>
                </a:moveTo>
                <a:cubicBezTo>
                  <a:pt x="20" y="2"/>
                  <a:pt x="14" y="16"/>
                  <a:pt x="17" y="17"/>
                </a:cubicBezTo>
                <a:cubicBezTo>
                  <a:pt x="20" y="18"/>
                  <a:pt x="35" y="25"/>
                  <a:pt x="43" y="27"/>
                </a:cubicBezTo>
                <a:cubicBezTo>
                  <a:pt x="61" y="29"/>
                  <a:pt x="48" y="21"/>
                  <a:pt x="65" y="27"/>
                </a:cubicBezTo>
                <a:cubicBezTo>
                  <a:pt x="80" y="32"/>
                  <a:pt x="83" y="33"/>
                  <a:pt x="95" y="43"/>
                </a:cubicBezTo>
                <a:cubicBezTo>
                  <a:pt x="123" y="64"/>
                  <a:pt x="138" y="88"/>
                  <a:pt x="167" y="106"/>
                </a:cubicBezTo>
                <a:cubicBezTo>
                  <a:pt x="180" y="144"/>
                  <a:pt x="215" y="179"/>
                  <a:pt x="245" y="208"/>
                </a:cubicBezTo>
                <a:cubicBezTo>
                  <a:pt x="259" y="248"/>
                  <a:pt x="272" y="246"/>
                  <a:pt x="296" y="280"/>
                </a:cubicBezTo>
                <a:cubicBezTo>
                  <a:pt x="304" y="292"/>
                  <a:pt x="315" y="306"/>
                  <a:pt x="327" y="313"/>
                </a:cubicBezTo>
                <a:cubicBezTo>
                  <a:pt x="333" y="317"/>
                  <a:pt x="339" y="340"/>
                  <a:pt x="339" y="340"/>
                </a:cubicBezTo>
                <a:cubicBezTo>
                  <a:pt x="348" y="366"/>
                  <a:pt x="360" y="368"/>
                  <a:pt x="374" y="391"/>
                </a:cubicBezTo>
                <a:cubicBezTo>
                  <a:pt x="386" y="409"/>
                  <a:pt x="416" y="440"/>
                  <a:pt x="431" y="458"/>
                </a:cubicBezTo>
                <a:cubicBezTo>
                  <a:pt x="450" y="482"/>
                  <a:pt x="447" y="510"/>
                  <a:pt x="471" y="526"/>
                </a:cubicBezTo>
                <a:cubicBezTo>
                  <a:pt x="480" y="553"/>
                  <a:pt x="494" y="532"/>
                  <a:pt x="494" y="571"/>
                </a:cubicBezTo>
                <a:cubicBezTo>
                  <a:pt x="494" y="765"/>
                  <a:pt x="512" y="743"/>
                  <a:pt x="326" y="750"/>
                </a:cubicBezTo>
                <a:cubicBezTo>
                  <a:pt x="308" y="752"/>
                  <a:pt x="290" y="757"/>
                  <a:pt x="272" y="756"/>
                </a:cubicBezTo>
                <a:cubicBezTo>
                  <a:pt x="220" y="755"/>
                  <a:pt x="116" y="745"/>
                  <a:pt x="116" y="745"/>
                </a:cubicBezTo>
                <a:cubicBezTo>
                  <a:pt x="75" y="731"/>
                  <a:pt x="60" y="731"/>
                  <a:pt x="19" y="745"/>
                </a:cubicBezTo>
                <a:cubicBezTo>
                  <a:pt x="0" y="646"/>
                  <a:pt x="28" y="594"/>
                  <a:pt x="49" y="513"/>
                </a:cubicBezTo>
                <a:cubicBezTo>
                  <a:pt x="13" y="288"/>
                  <a:pt x="9" y="166"/>
                  <a:pt x="5" y="23"/>
                </a:cubicBezTo>
                <a:cubicBezTo>
                  <a:pt x="4" y="0"/>
                  <a:pt x="44" y="19"/>
                  <a:pt x="23" y="19"/>
                </a:cubicBezTo>
                <a:close/>
              </a:path>
            </a:pathLst>
          </a:custGeom>
          <a:solidFill>
            <a:srgbClr val="FF0000"/>
          </a:solidFill>
          <a:ln w="12700">
            <a:solidFill>
              <a:srgbClr val="FF0000"/>
            </a:solidFill>
            <a:round/>
            <a:headEnd/>
            <a:tailEnd/>
          </a:ln>
        </p:spPr>
        <p:txBody>
          <a:bodyPr/>
          <a:lstStyle/>
          <a:p>
            <a:endParaRPr lang="en-GB"/>
          </a:p>
        </p:txBody>
      </p:sp>
      <p:sp>
        <p:nvSpPr>
          <p:cNvPr id="356360" name="Rectangle 6"/>
          <p:cNvSpPr>
            <a:spLocks noGrp="1" noChangeArrowheads="1"/>
          </p:cNvSpPr>
          <p:nvPr>
            <p:ph type="title" idx="4294967295"/>
          </p:nvPr>
        </p:nvSpPr>
        <p:spPr>
          <a:xfrm>
            <a:off x="1524000" y="304800"/>
            <a:ext cx="7086600" cy="838200"/>
          </a:xfrm>
        </p:spPr>
        <p:txBody>
          <a:bodyPr/>
          <a:lstStyle/>
          <a:p>
            <a:pPr defTabSz="914400" eaLnBrk="1" hangingPunct="1"/>
            <a:r>
              <a:rPr lang="en-US" sz="3600" smtClean="0"/>
              <a:t>The Standardized Normal Table</a:t>
            </a:r>
          </a:p>
        </p:txBody>
      </p:sp>
      <p:sp>
        <p:nvSpPr>
          <p:cNvPr id="356361" name="Rectangle 7"/>
          <p:cNvSpPr>
            <a:spLocks noGrp="1" noChangeArrowheads="1"/>
          </p:cNvSpPr>
          <p:nvPr>
            <p:ph type="body" idx="4294967295"/>
          </p:nvPr>
        </p:nvSpPr>
        <p:spPr>
          <a:xfrm>
            <a:off x="1143000" y="1828800"/>
            <a:ext cx="7391400" cy="2181225"/>
          </a:xfrm>
        </p:spPr>
        <p:txBody>
          <a:bodyPr/>
          <a:lstStyle/>
          <a:p>
            <a:pPr marL="0" indent="0" defTabSz="914400" eaLnBrk="1" hangingPunct="1"/>
            <a:r>
              <a:rPr lang="en-US" sz="2700" smtClean="0"/>
              <a:t>  </a:t>
            </a:r>
            <a:r>
              <a:rPr lang="en-US" smtClean="0"/>
              <a:t>The Cumulative Standardized Normal table in the textbook </a:t>
            </a:r>
            <a:r>
              <a:rPr lang="en-US" smtClean="0">
                <a:solidFill>
                  <a:schemeClr val="folHlink"/>
                </a:solidFill>
              </a:rPr>
              <a:t>(Appendix table E.2)</a:t>
            </a:r>
            <a:r>
              <a:rPr lang="en-US" smtClean="0"/>
              <a:t> gives the probability </a:t>
            </a:r>
            <a:r>
              <a:rPr lang="en-US" smtClean="0">
                <a:solidFill>
                  <a:schemeClr val="hlink"/>
                </a:solidFill>
              </a:rPr>
              <a:t>less than</a:t>
            </a:r>
            <a:r>
              <a:rPr lang="en-US" smtClean="0"/>
              <a:t> a desired value of Z (i.e., from negative infinity to Z)</a:t>
            </a:r>
          </a:p>
          <a:p>
            <a:pPr marL="0" indent="0" defTabSz="914400" eaLnBrk="1" hangingPunct="1">
              <a:buFont typeface="Wingdings" pitchFamily="2" charset="2"/>
              <a:buNone/>
            </a:pPr>
            <a:endParaRPr lang="en-US" smtClean="0"/>
          </a:p>
        </p:txBody>
      </p:sp>
      <p:sp>
        <p:nvSpPr>
          <p:cNvPr id="356362" name="Freeform 8"/>
          <p:cNvSpPr>
            <a:spLocks/>
          </p:cNvSpPr>
          <p:nvPr/>
        </p:nvSpPr>
        <p:spPr bwMode="auto">
          <a:xfrm>
            <a:off x="4419600" y="4184650"/>
            <a:ext cx="1400175" cy="1149350"/>
          </a:xfrm>
          <a:custGeom>
            <a:avLst/>
            <a:gdLst>
              <a:gd name="T0" fmla="*/ 0 w 882"/>
              <a:gd name="T1" fmla="*/ 1149350 h 724"/>
              <a:gd name="T2" fmla="*/ 150813 w 882"/>
              <a:gd name="T3" fmla="*/ 1136650 h 724"/>
              <a:gd name="T4" fmla="*/ 225425 w 882"/>
              <a:gd name="T5" fmla="*/ 1123950 h 724"/>
              <a:gd name="T6" fmla="*/ 300038 w 882"/>
              <a:gd name="T7" fmla="*/ 1103313 h 724"/>
              <a:gd name="T8" fmla="*/ 376237 w 882"/>
              <a:gd name="T9" fmla="*/ 1077913 h 724"/>
              <a:gd name="T10" fmla="*/ 450850 w 882"/>
              <a:gd name="T11" fmla="*/ 1042988 h 724"/>
              <a:gd name="T12" fmla="*/ 525463 w 882"/>
              <a:gd name="T13" fmla="*/ 995363 h 724"/>
              <a:gd name="T14" fmla="*/ 676275 w 882"/>
              <a:gd name="T15" fmla="*/ 863600 h 724"/>
              <a:gd name="T16" fmla="*/ 827088 w 882"/>
              <a:gd name="T17" fmla="*/ 676275 h 724"/>
              <a:gd name="T18" fmla="*/ 977900 w 882"/>
              <a:gd name="T19" fmla="*/ 452438 h 724"/>
              <a:gd name="T20" fmla="*/ 1052513 w 882"/>
              <a:gd name="T21" fmla="*/ 338137 h 724"/>
              <a:gd name="T22" fmla="*/ 1127125 w 882"/>
              <a:gd name="T23" fmla="*/ 231775 h 724"/>
              <a:gd name="T24" fmla="*/ 1201738 w 882"/>
              <a:gd name="T25" fmla="*/ 138113 h 724"/>
              <a:gd name="T26" fmla="*/ 1277938 w 882"/>
              <a:gd name="T27" fmla="*/ 66675 h 724"/>
              <a:gd name="T28" fmla="*/ 1352550 w 882"/>
              <a:gd name="T29" fmla="*/ 20637 h 724"/>
              <a:gd name="T30" fmla="*/ 1400175 w 882"/>
              <a:gd name="T31" fmla="*/ 0 h 72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82"/>
              <a:gd name="T49" fmla="*/ 0 h 724"/>
              <a:gd name="T50" fmla="*/ 882 w 882"/>
              <a:gd name="T51" fmla="*/ 724 h 72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82" h="724">
                <a:moveTo>
                  <a:pt x="0" y="724"/>
                </a:moveTo>
                <a:lnTo>
                  <a:pt x="95" y="716"/>
                </a:lnTo>
                <a:lnTo>
                  <a:pt x="142" y="708"/>
                </a:lnTo>
                <a:lnTo>
                  <a:pt x="189" y="695"/>
                </a:lnTo>
                <a:lnTo>
                  <a:pt x="237" y="679"/>
                </a:lnTo>
                <a:lnTo>
                  <a:pt x="284" y="657"/>
                </a:lnTo>
                <a:lnTo>
                  <a:pt x="331" y="627"/>
                </a:lnTo>
                <a:lnTo>
                  <a:pt x="426" y="544"/>
                </a:lnTo>
                <a:lnTo>
                  <a:pt x="521" y="426"/>
                </a:lnTo>
                <a:lnTo>
                  <a:pt x="616" y="285"/>
                </a:lnTo>
                <a:lnTo>
                  <a:pt x="663" y="213"/>
                </a:lnTo>
                <a:lnTo>
                  <a:pt x="710" y="146"/>
                </a:lnTo>
                <a:lnTo>
                  <a:pt x="757" y="87"/>
                </a:lnTo>
                <a:lnTo>
                  <a:pt x="805" y="42"/>
                </a:lnTo>
                <a:lnTo>
                  <a:pt x="852" y="13"/>
                </a:lnTo>
                <a:lnTo>
                  <a:pt x="882" y="0"/>
                </a:lnTo>
              </a:path>
            </a:pathLst>
          </a:custGeom>
          <a:noFill/>
          <a:ln w="50800" cap="rnd">
            <a:solidFill>
              <a:srgbClr val="008000"/>
            </a:solidFill>
            <a:round/>
            <a:headEnd/>
            <a:tailEnd/>
          </a:ln>
        </p:spPr>
        <p:txBody>
          <a:bodyPr/>
          <a:lstStyle/>
          <a:p>
            <a:endParaRPr lang="en-GB"/>
          </a:p>
        </p:txBody>
      </p:sp>
      <p:sp>
        <p:nvSpPr>
          <p:cNvPr id="356363" name="Line 9"/>
          <p:cNvSpPr>
            <a:spLocks noChangeShapeType="1"/>
          </p:cNvSpPr>
          <p:nvPr/>
        </p:nvSpPr>
        <p:spPr bwMode="auto">
          <a:xfrm>
            <a:off x="7340600" y="5268913"/>
            <a:ext cx="0" cy="1587"/>
          </a:xfrm>
          <a:prstGeom prst="line">
            <a:avLst/>
          </a:prstGeom>
          <a:noFill/>
          <a:ln w="12700">
            <a:solidFill>
              <a:srgbClr val="CDCDCD"/>
            </a:solidFill>
            <a:round/>
            <a:headEnd/>
            <a:tailEnd/>
          </a:ln>
        </p:spPr>
        <p:txBody>
          <a:bodyPr wrap="none" anchor="ctr"/>
          <a:lstStyle/>
          <a:p>
            <a:endParaRPr lang="en-US"/>
          </a:p>
        </p:txBody>
      </p:sp>
      <p:sp>
        <p:nvSpPr>
          <p:cNvPr id="356364" name="Rectangle 10"/>
          <p:cNvSpPr>
            <a:spLocks noChangeArrowheads="1"/>
          </p:cNvSpPr>
          <p:nvPr/>
        </p:nvSpPr>
        <p:spPr bwMode="auto">
          <a:xfrm>
            <a:off x="7467600" y="5334000"/>
            <a:ext cx="366713" cy="454025"/>
          </a:xfrm>
          <a:prstGeom prst="rect">
            <a:avLst/>
          </a:prstGeom>
          <a:noFill/>
          <a:ln w="12700">
            <a:noFill/>
            <a:miter lim="800000"/>
            <a:headEnd/>
            <a:tailEnd/>
          </a:ln>
        </p:spPr>
        <p:txBody>
          <a:bodyPr wrap="none" lIns="90487" tIns="44450" rIns="90487" bIns="44450">
            <a:spAutoFit/>
          </a:bodyPr>
          <a:lstStyle/>
          <a:p>
            <a:pPr eaLnBrk="0" hangingPunct="0"/>
            <a:r>
              <a:rPr lang="en-US" b="1">
                <a:solidFill>
                  <a:srgbClr val="339933"/>
                </a:solidFill>
              </a:rPr>
              <a:t>Z</a:t>
            </a:r>
          </a:p>
        </p:txBody>
      </p:sp>
      <p:sp>
        <p:nvSpPr>
          <p:cNvPr id="356365" name="Rectangle 11"/>
          <p:cNvSpPr>
            <a:spLocks noChangeArrowheads="1"/>
          </p:cNvSpPr>
          <p:nvPr/>
        </p:nvSpPr>
        <p:spPr bwMode="auto">
          <a:xfrm>
            <a:off x="5638800" y="5410200"/>
            <a:ext cx="479425" cy="454025"/>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b="1">
                <a:solidFill>
                  <a:srgbClr val="339933"/>
                </a:solidFill>
              </a:rPr>
              <a:t>0</a:t>
            </a:r>
          </a:p>
        </p:txBody>
      </p:sp>
      <p:sp>
        <p:nvSpPr>
          <p:cNvPr id="356366" name="Rectangle 12"/>
          <p:cNvSpPr>
            <a:spLocks noChangeArrowheads="1"/>
          </p:cNvSpPr>
          <p:nvPr/>
        </p:nvSpPr>
        <p:spPr bwMode="auto">
          <a:xfrm>
            <a:off x="6172200" y="5410200"/>
            <a:ext cx="990600" cy="454025"/>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b="1">
                <a:solidFill>
                  <a:srgbClr val="339933"/>
                </a:solidFill>
              </a:rPr>
              <a:t>2.00</a:t>
            </a:r>
          </a:p>
        </p:txBody>
      </p:sp>
      <p:sp>
        <p:nvSpPr>
          <p:cNvPr id="356367" name="Line 13"/>
          <p:cNvSpPr>
            <a:spLocks noChangeShapeType="1"/>
          </p:cNvSpPr>
          <p:nvPr/>
        </p:nvSpPr>
        <p:spPr bwMode="auto">
          <a:xfrm>
            <a:off x="5791200" y="5334000"/>
            <a:ext cx="762000" cy="0"/>
          </a:xfrm>
          <a:prstGeom prst="line">
            <a:avLst/>
          </a:prstGeom>
          <a:noFill/>
          <a:ln w="50800">
            <a:solidFill>
              <a:srgbClr val="FF0000"/>
            </a:solidFill>
            <a:round/>
            <a:headEnd/>
            <a:tailEnd/>
          </a:ln>
        </p:spPr>
        <p:txBody>
          <a:bodyPr/>
          <a:lstStyle/>
          <a:p>
            <a:endParaRPr lang="en-US"/>
          </a:p>
        </p:txBody>
      </p:sp>
      <p:sp>
        <p:nvSpPr>
          <p:cNvPr id="356368" name="Line 14"/>
          <p:cNvSpPr>
            <a:spLocks noChangeShapeType="1"/>
          </p:cNvSpPr>
          <p:nvPr/>
        </p:nvSpPr>
        <p:spPr bwMode="auto">
          <a:xfrm>
            <a:off x="5791200" y="5334000"/>
            <a:ext cx="762000" cy="0"/>
          </a:xfrm>
          <a:prstGeom prst="line">
            <a:avLst/>
          </a:prstGeom>
          <a:noFill/>
          <a:ln w="50800">
            <a:solidFill>
              <a:srgbClr val="FF0000"/>
            </a:solidFill>
            <a:round/>
            <a:headEnd/>
            <a:tailEnd/>
          </a:ln>
        </p:spPr>
        <p:txBody>
          <a:bodyPr/>
          <a:lstStyle/>
          <a:p>
            <a:endParaRPr lang="en-US"/>
          </a:p>
        </p:txBody>
      </p:sp>
      <p:sp>
        <p:nvSpPr>
          <p:cNvPr id="356369" name="Line 15"/>
          <p:cNvSpPr>
            <a:spLocks noChangeShapeType="1"/>
          </p:cNvSpPr>
          <p:nvPr/>
        </p:nvSpPr>
        <p:spPr bwMode="auto">
          <a:xfrm>
            <a:off x="5791200" y="5334000"/>
            <a:ext cx="762000" cy="0"/>
          </a:xfrm>
          <a:prstGeom prst="line">
            <a:avLst/>
          </a:prstGeom>
          <a:noFill/>
          <a:ln w="152400">
            <a:solidFill>
              <a:srgbClr val="FF0000"/>
            </a:solidFill>
            <a:round/>
            <a:headEnd/>
            <a:tailEnd/>
          </a:ln>
        </p:spPr>
        <p:txBody>
          <a:bodyPr/>
          <a:lstStyle/>
          <a:p>
            <a:endParaRPr lang="en-US"/>
          </a:p>
        </p:txBody>
      </p:sp>
      <p:sp>
        <p:nvSpPr>
          <p:cNvPr id="356370" name="Text Box 16"/>
          <p:cNvSpPr txBox="1">
            <a:spLocks noChangeArrowheads="1"/>
          </p:cNvSpPr>
          <p:nvPr/>
        </p:nvSpPr>
        <p:spPr bwMode="auto">
          <a:xfrm>
            <a:off x="6629400" y="4038600"/>
            <a:ext cx="1143000" cy="457200"/>
          </a:xfrm>
          <a:prstGeom prst="rect">
            <a:avLst/>
          </a:prstGeom>
          <a:solidFill>
            <a:srgbClr val="C7DAF7"/>
          </a:solidFill>
          <a:ln w="12700">
            <a:noFill/>
            <a:miter lim="800000"/>
            <a:headEnd/>
            <a:tailEnd/>
          </a:ln>
        </p:spPr>
        <p:txBody>
          <a:bodyPr>
            <a:spAutoFit/>
          </a:bodyPr>
          <a:lstStyle/>
          <a:p>
            <a:pPr eaLnBrk="0" hangingPunct="0">
              <a:spcBef>
                <a:spcPct val="50000"/>
              </a:spcBef>
            </a:pPr>
            <a:r>
              <a:rPr lang="en-US" b="1"/>
              <a:t>0.9772</a:t>
            </a:r>
          </a:p>
        </p:txBody>
      </p:sp>
      <p:sp>
        <p:nvSpPr>
          <p:cNvPr id="356371" name="Line 17"/>
          <p:cNvSpPr>
            <a:spLocks noChangeShapeType="1"/>
          </p:cNvSpPr>
          <p:nvPr/>
        </p:nvSpPr>
        <p:spPr bwMode="auto">
          <a:xfrm flipH="1">
            <a:off x="6172200" y="4495800"/>
            <a:ext cx="609600" cy="381000"/>
          </a:xfrm>
          <a:prstGeom prst="line">
            <a:avLst/>
          </a:prstGeom>
          <a:noFill/>
          <a:ln w="12700">
            <a:solidFill>
              <a:schemeClr val="tx1"/>
            </a:solidFill>
            <a:round/>
            <a:headEnd/>
            <a:tailEnd type="triangle" w="med" len="med"/>
          </a:ln>
        </p:spPr>
        <p:txBody>
          <a:bodyPr/>
          <a:lstStyle/>
          <a:p>
            <a:endParaRPr lang="en-US"/>
          </a:p>
        </p:txBody>
      </p:sp>
      <p:sp>
        <p:nvSpPr>
          <p:cNvPr id="356372" name="Freeform 18"/>
          <p:cNvSpPr>
            <a:spLocks/>
          </p:cNvSpPr>
          <p:nvPr/>
        </p:nvSpPr>
        <p:spPr bwMode="auto">
          <a:xfrm>
            <a:off x="5832475" y="4187825"/>
            <a:ext cx="1384300" cy="1139825"/>
          </a:xfrm>
          <a:custGeom>
            <a:avLst/>
            <a:gdLst>
              <a:gd name="T0" fmla="*/ 1384300 w 872"/>
              <a:gd name="T1" fmla="*/ 1139825 h 718"/>
              <a:gd name="T2" fmla="*/ 1233488 w 872"/>
              <a:gd name="T3" fmla="*/ 1127125 h 718"/>
              <a:gd name="T4" fmla="*/ 1158875 w 872"/>
              <a:gd name="T5" fmla="*/ 1114425 h 718"/>
              <a:gd name="T6" fmla="*/ 1084263 w 872"/>
              <a:gd name="T7" fmla="*/ 1093788 h 718"/>
              <a:gd name="T8" fmla="*/ 1008063 w 872"/>
              <a:gd name="T9" fmla="*/ 1068388 h 718"/>
              <a:gd name="T10" fmla="*/ 931863 w 872"/>
              <a:gd name="T11" fmla="*/ 1033463 h 718"/>
              <a:gd name="T12" fmla="*/ 857250 w 872"/>
              <a:gd name="T13" fmla="*/ 985838 h 718"/>
              <a:gd name="T14" fmla="*/ 706437 w 872"/>
              <a:gd name="T15" fmla="*/ 854075 h 718"/>
              <a:gd name="T16" fmla="*/ 555625 w 872"/>
              <a:gd name="T17" fmla="*/ 666750 h 718"/>
              <a:gd name="T18" fmla="*/ 406400 w 872"/>
              <a:gd name="T19" fmla="*/ 442913 h 718"/>
              <a:gd name="T20" fmla="*/ 330200 w 872"/>
              <a:gd name="T21" fmla="*/ 328612 h 718"/>
              <a:gd name="T22" fmla="*/ 255588 w 872"/>
              <a:gd name="T23" fmla="*/ 222250 h 718"/>
              <a:gd name="T24" fmla="*/ 180975 w 872"/>
              <a:gd name="T25" fmla="*/ 128588 h 718"/>
              <a:gd name="T26" fmla="*/ 104775 w 872"/>
              <a:gd name="T27" fmla="*/ 57150 h 718"/>
              <a:gd name="T28" fmla="*/ 28575 w 872"/>
              <a:gd name="T29" fmla="*/ 15875 h 718"/>
              <a:gd name="T30" fmla="*/ 0 w 872"/>
              <a:gd name="T31" fmla="*/ 0 h 71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2"/>
              <a:gd name="T49" fmla="*/ 0 h 718"/>
              <a:gd name="T50" fmla="*/ 872 w 872"/>
              <a:gd name="T51" fmla="*/ 718 h 71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2" h="718">
                <a:moveTo>
                  <a:pt x="872" y="718"/>
                </a:moveTo>
                <a:lnTo>
                  <a:pt x="777" y="710"/>
                </a:lnTo>
                <a:lnTo>
                  <a:pt x="730" y="702"/>
                </a:lnTo>
                <a:lnTo>
                  <a:pt x="683" y="689"/>
                </a:lnTo>
                <a:lnTo>
                  <a:pt x="635" y="673"/>
                </a:lnTo>
                <a:lnTo>
                  <a:pt x="587" y="651"/>
                </a:lnTo>
                <a:lnTo>
                  <a:pt x="540" y="621"/>
                </a:lnTo>
                <a:lnTo>
                  <a:pt x="445" y="538"/>
                </a:lnTo>
                <a:lnTo>
                  <a:pt x="350" y="420"/>
                </a:lnTo>
                <a:lnTo>
                  <a:pt x="256" y="279"/>
                </a:lnTo>
                <a:lnTo>
                  <a:pt x="208" y="207"/>
                </a:lnTo>
                <a:lnTo>
                  <a:pt x="161" y="140"/>
                </a:lnTo>
                <a:lnTo>
                  <a:pt x="114" y="81"/>
                </a:lnTo>
                <a:lnTo>
                  <a:pt x="66" y="36"/>
                </a:lnTo>
                <a:lnTo>
                  <a:pt x="18" y="10"/>
                </a:lnTo>
                <a:lnTo>
                  <a:pt x="0" y="0"/>
                </a:lnTo>
              </a:path>
            </a:pathLst>
          </a:custGeom>
          <a:noFill/>
          <a:ln w="50800" cap="rnd">
            <a:solidFill>
              <a:srgbClr val="008000"/>
            </a:solidFill>
            <a:round/>
            <a:headEnd/>
            <a:tailEnd/>
          </a:ln>
        </p:spPr>
        <p:txBody>
          <a:bodyPr/>
          <a:lstStyle/>
          <a:p>
            <a:endParaRPr lang="en-GB"/>
          </a:p>
        </p:txBody>
      </p:sp>
      <p:sp>
        <p:nvSpPr>
          <p:cNvPr id="356373" name="Freeform 19"/>
          <p:cNvSpPr>
            <a:spLocks/>
          </p:cNvSpPr>
          <p:nvPr/>
        </p:nvSpPr>
        <p:spPr bwMode="auto">
          <a:xfrm>
            <a:off x="4114800" y="5410200"/>
            <a:ext cx="3422650" cy="1588"/>
          </a:xfrm>
          <a:custGeom>
            <a:avLst/>
            <a:gdLst>
              <a:gd name="T0" fmla="*/ 0 w 2156"/>
              <a:gd name="T1" fmla="*/ 0 h 1"/>
              <a:gd name="T2" fmla="*/ 114300 w 2156"/>
              <a:gd name="T3" fmla="*/ 1588 h 1"/>
              <a:gd name="T4" fmla="*/ 3422650 w 2156"/>
              <a:gd name="T5" fmla="*/ 1588 h 1"/>
              <a:gd name="T6" fmla="*/ 0 60000 65536"/>
              <a:gd name="T7" fmla="*/ 0 60000 65536"/>
              <a:gd name="T8" fmla="*/ 0 60000 65536"/>
              <a:gd name="T9" fmla="*/ 0 w 2156"/>
              <a:gd name="T10" fmla="*/ 0 h 1"/>
              <a:gd name="T11" fmla="*/ 2156 w 2156"/>
              <a:gd name="T12" fmla="*/ 1 h 1"/>
            </a:gdLst>
            <a:ahLst/>
            <a:cxnLst>
              <a:cxn ang="T6">
                <a:pos x="T0" y="T1"/>
              </a:cxn>
              <a:cxn ang="T7">
                <a:pos x="T2" y="T3"/>
              </a:cxn>
              <a:cxn ang="T8">
                <a:pos x="T4" y="T5"/>
              </a:cxn>
            </a:cxnLst>
            <a:rect l="T9" t="T10" r="T11" b="T12"/>
            <a:pathLst>
              <a:path w="2156" h="1">
                <a:moveTo>
                  <a:pt x="0" y="0"/>
                </a:moveTo>
                <a:lnTo>
                  <a:pt x="72" y="1"/>
                </a:lnTo>
                <a:lnTo>
                  <a:pt x="2156" y="1"/>
                </a:lnTo>
              </a:path>
            </a:pathLst>
          </a:custGeom>
          <a:noFill/>
          <a:ln w="25400" cap="rnd">
            <a:solidFill>
              <a:schemeClr val="bg2"/>
            </a:solidFill>
            <a:round/>
            <a:headEnd/>
            <a:tailEnd/>
          </a:ln>
        </p:spPr>
        <p:txBody>
          <a:bodyPr/>
          <a:lstStyle/>
          <a:p>
            <a:endParaRPr lang="en-GB"/>
          </a:p>
        </p:txBody>
      </p:sp>
      <p:sp>
        <p:nvSpPr>
          <p:cNvPr id="356374" name="Rectangle 20"/>
          <p:cNvSpPr>
            <a:spLocks noChangeArrowheads="1"/>
          </p:cNvSpPr>
          <p:nvPr/>
        </p:nvSpPr>
        <p:spPr bwMode="auto">
          <a:xfrm>
            <a:off x="838200" y="4191000"/>
            <a:ext cx="3124200" cy="904875"/>
          </a:xfrm>
          <a:prstGeom prst="rect">
            <a:avLst/>
          </a:prstGeom>
          <a:solidFill>
            <a:srgbClr val="FDE0BD"/>
          </a:solidFill>
          <a:ln w="9525" algn="ctr">
            <a:solidFill>
              <a:schemeClr val="tx1"/>
            </a:solidFill>
            <a:miter lim="800000"/>
            <a:headEnd/>
            <a:tailEnd/>
          </a:ln>
        </p:spPr>
        <p:txBody>
          <a:bodyPr>
            <a:spAutoFit/>
          </a:bodyPr>
          <a:lstStyle/>
          <a:p>
            <a:pPr>
              <a:spcBef>
                <a:spcPct val="20000"/>
              </a:spcBef>
              <a:buClr>
                <a:schemeClr val="folHlink"/>
              </a:buClr>
              <a:buSzPct val="60000"/>
              <a:buFont typeface="Symbol" pitchFamily="18" charset="2"/>
              <a:buNone/>
            </a:pPr>
            <a:r>
              <a:rPr lang="en-US">
                <a:solidFill>
                  <a:schemeClr val="folHlink"/>
                </a:solidFill>
              </a:rPr>
              <a:t>Example:</a:t>
            </a:r>
            <a:r>
              <a:rPr lang="en-US"/>
              <a:t> </a:t>
            </a:r>
          </a:p>
          <a:p>
            <a:pPr>
              <a:spcBef>
                <a:spcPct val="20000"/>
              </a:spcBef>
              <a:buClr>
                <a:schemeClr val="folHlink"/>
              </a:buClr>
              <a:buSzPct val="60000"/>
              <a:buFont typeface="Symbol" pitchFamily="18" charset="2"/>
              <a:buNone/>
            </a:pPr>
            <a:r>
              <a:rPr lang="en-US"/>
              <a:t>P(Z &lt; 2.00) = 0.9772</a:t>
            </a:r>
          </a:p>
        </p:txBody>
      </p:sp>
      <p:sp>
        <p:nvSpPr>
          <p:cNvPr id="356375" name="Line 21"/>
          <p:cNvSpPr>
            <a:spLocks noChangeShapeType="1"/>
          </p:cNvSpPr>
          <p:nvPr/>
        </p:nvSpPr>
        <p:spPr bwMode="auto">
          <a:xfrm>
            <a:off x="5791200" y="4191000"/>
            <a:ext cx="0" cy="1219200"/>
          </a:xfrm>
          <a:prstGeom prst="line">
            <a:avLst/>
          </a:prstGeom>
          <a:noFill/>
          <a:ln w="12700">
            <a:solidFill>
              <a:schemeClr val="tx1"/>
            </a:solidFill>
            <a:round/>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7" name="Rectangle 4"/>
          <p:cNvSpPr>
            <a:spLocks noGrp="1" noChangeArrowheads="1"/>
          </p:cNvSpPr>
          <p:nvPr>
            <p:ph type="ftr" sz="quarter" idx="10"/>
          </p:nvPr>
        </p:nvSpPr>
        <p:spPr>
          <a:noFill/>
        </p:spPr>
        <p:txBody>
          <a:bodyPr/>
          <a:lstStyle/>
          <a:p>
            <a:r>
              <a:rPr lang="en-US" smtClean="0"/>
              <a:t>Copyright ©2012 Pearson Education</a:t>
            </a:r>
          </a:p>
        </p:txBody>
      </p:sp>
      <p:sp>
        <p:nvSpPr>
          <p:cNvPr id="357378" name="Rectangle 5"/>
          <p:cNvSpPr>
            <a:spLocks noGrp="1" noChangeArrowheads="1"/>
          </p:cNvSpPr>
          <p:nvPr>
            <p:ph type="sldNum" sz="quarter" idx="11"/>
          </p:nvPr>
        </p:nvSpPr>
        <p:spPr>
          <a:noFill/>
        </p:spPr>
        <p:txBody>
          <a:bodyPr/>
          <a:lstStyle/>
          <a:p>
            <a:r>
              <a:rPr lang="en-US" smtClean="0"/>
              <a:t>Chap 6-</a:t>
            </a:r>
            <a:fld id="{9205E69A-6CA4-4579-9400-ECB81B88508E}" type="slidenum">
              <a:rPr lang="en-US" smtClean="0"/>
              <a:pPr/>
              <a:t>16</a:t>
            </a:fld>
            <a:endParaRPr lang="en-US" smtClean="0"/>
          </a:p>
        </p:txBody>
      </p:sp>
      <p:sp>
        <p:nvSpPr>
          <p:cNvPr id="357379" name="Slide Number Placeholder 2"/>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CC52D717-E9A0-4499-8693-3B6136124943}" type="slidenum">
              <a:rPr lang="en-US" sz="1000"/>
              <a:pPr algn="r" defTabSz="852488"/>
              <a:t>16</a:t>
            </a:fld>
            <a:endParaRPr lang="en-US" sz="1000"/>
          </a:p>
        </p:txBody>
      </p:sp>
      <p:sp>
        <p:nvSpPr>
          <p:cNvPr id="357380" name="Rectangle 2"/>
          <p:cNvSpPr>
            <a:spLocks noChangeArrowheads="1"/>
          </p:cNvSpPr>
          <p:nvPr/>
        </p:nvSpPr>
        <p:spPr bwMode="auto">
          <a:xfrm>
            <a:off x="4038600" y="2743200"/>
            <a:ext cx="2590800" cy="533400"/>
          </a:xfrm>
          <a:prstGeom prst="rect">
            <a:avLst/>
          </a:prstGeom>
          <a:solidFill>
            <a:srgbClr val="B8FAC8"/>
          </a:solidFill>
          <a:ln w="19050" algn="ctr">
            <a:noFill/>
            <a:miter lim="800000"/>
            <a:headEnd/>
            <a:tailEnd/>
          </a:ln>
        </p:spPr>
        <p:txBody>
          <a:bodyPr wrap="none" anchor="ctr"/>
          <a:lstStyle/>
          <a:p>
            <a:pPr algn="ctr">
              <a:spcBef>
                <a:spcPct val="50000"/>
              </a:spcBef>
            </a:pPr>
            <a:endParaRPr lang="en-GB"/>
          </a:p>
        </p:txBody>
      </p:sp>
      <p:sp>
        <p:nvSpPr>
          <p:cNvPr id="357381" name="Rectangle 3"/>
          <p:cNvSpPr>
            <a:spLocks noChangeArrowheads="1"/>
          </p:cNvSpPr>
          <p:nvPr/>
        </p:nvSpPr>
        <p:spPr bwMode="auto">
          <a:xfrm>
            <a:off x="3276600" y="3352800"/>
            <a:ext cx="533400" cy="1828800"/>
          </a:xfrm>
          <a:prstGeom prst="rect">
            <a:avLst/>
          </a:prstGeom>
          <a:solidFill>
            <a:srgbClr val="8ED8F6"/>
          </a:solidFill>
          <a:ln w="19050" algn="ctr">
            <a:noFill/>
            <a:miter lim="800000"/>
            <a:headEnd/>
            <a:tailEnd/>
          </a:ln>
        </p:spPr>
        <p:txBody>
          <a:bodyPr wrap="none" anchor="ctr"/>
          <a:lstStyle/>
          <a:p>
            <a:pPr algn="ctr">
              <a:spcBef>
                <a:spcPct val="50000"/>
              </a:spcBef>
            </a:pPr>
            <a:endParaRPr lang="en-GB"/>
          </a:p>
        </p:txBody>
      </p:sp>
      <p:sp>
        <p:nvSpPr>
          <p:cNvPr id="357382" name="Rectangle 4"/>
          <p:cNvSpPr>
            <a:spLocks noGrp="1" noChangeArrowheads="1"/>
          </p:cNvSpPr>
          <p:nvPr>
            <p:ph type="title" idx="4294967295"/>
          </p:nvPr>
        </p:nvSpPr>
        <p:spPr>
          <a:xfrm>
            <a:off x="1447800" y="304800"/>
            <a:ext cx="7086600" cy="838200"/>
          </a:xfrm>
        </p:spPr>
        <p:txBody>
          <a:bodyPr/>
          <a:lstStyle/>
          <a:p>
            <a:pPr defTabSz="914400" eaLnBrk="1" hangingPunct="1"/>
            <a:r>
              <a:rPr lang="en-US" sz="3600" smtClean="0"/>
              <a:t>The Standardized Normal Table</a:t>
            </a:r>
          </a:p>
        </p:txBody>
      </p:sp>
      <p:sp>
        <p:nvSpPr>
          <p:cNvPr id="357383" name="Rectangle 5"/>
          <p:cNvSpPr>
            <a:spLocks noGrp="1" noChangeArrowheads="1"/>
          </p:cNvSpPr>
          <p:nvPr>
            <p:ph type="body" idx="4294967295"/>
          </p:nvPr>
        </p:nvSpPr>
        <p:spPr>
          <a:xfrm>
            <a:off x="4572000" y="4075113"/>
            <a:ext cx="4038600" cy="1981200"/>
          </a:xfrm>
        </p:spPr>
        <p:txBody>
          <a:bodyPr/>
          <a:lstStyle/>
          <a:p>
            <a:pPr marL="571500" indent="-571500" defTabSz="914400" eaLnBrk="1" hangingPunct="1">
              <a:lnSpc>
                <a:spcPct val="90000"/>
              </a:lnSpc>
              <a:buFont typeface="Wingdings" pitchFamily="2" charset="2"/>
              <a:buNone/>
            </a:pPr>
            <a:r>
              <a:rPr lang="en-US" smtClean="0"/>
              <a:t>      </a:t>
            </a:r>
            <a:r>
              <a:rPr lang="en-US" sz="2400" smtClean="0"/>
              <a:t>The value within the table gives the </a:t>
            </a:r>
            <a:r>
              <a:rPr lang="en-US" sz="2400" smtClean="0">
                <a:solidFill>
                  <a:srgbClr val="FF3300"/>
                </a:solidFill>
              </a:rPr>
              <a:t>probability </a:t>
            </a:r>
            <a:r>
              <a:rPr lang="en-US" sz="2400" smtClean="0"/>
              <a:t>from Z = </a:t>
            </a:r>
            <a:r>
              <a:rPr lang="en-US" sz="2400" b="1" smtClean="0">
                <a:sym typeface="Symbol" pitchFamily="18" charset="2"/>
              </a:rPr>
              <a:t> </a:t>
            </a:r>
            <a:r>
              <a:rPr lang="en-US" sz="2400" smtClean="0"/>
              <a:t> up to the desired Z- value</a:t>
            </a:r>
          </a:p>
        </p:txBody>
      </p:sp>
      <p:sp>
        <p:nvSpPr>
          <p:cNvPr id="357384" name="Line 7"/>
          <p:cNvSpPr>
            <a:spLocks noChangeShapeType="1"/>
          </p:cNvSpPr>
          <p:nvPr/>
        </p:nvSpPr>
        <p:spPr bwMode="auto">
          <a:xfrm flipH="1" flipV="1">
            <a:off x="4876800" y="5029200"/>
            <a:ext cx="304800" cy="76200"/>
          </a:xfrm>
          <a:prstGeom prst="line">
            <a:avLst/>
          </a:prstGeom>
          <a:noFill/>
          <a:ln w="38100">
            <a:solidFill>
              <a:srgbClr val="FF0000"/>
            </a:solidFill>
            <a:round/>
            <a:headEnd/>
            <a:tailEnd type="triangle" w="med" len="med"/>
          </a:ln>
        </p:spPr>
        <p:txBody>
          <a:bodyPr wrap="none" anchor="ctr"/>
          <a:lstStyle/>
          <a:p>
            <a:endParaRPr lang="en-US"/>
          </a:p>
        </p:txBody>
      </p:sp>
      <p:sp>
        <p:nvSpPr>
          <p:cNvPr id="357385" name="Text Box 8"/>
          <p:cNvSpPr txBox="1">
            <a:spLocks noChangeArrowheads="1"/>
          </p:cNvSpPr>
          <p:nvPr/>
        </p:nvSpPr>
        <p:spPr bwMode="auto">
          <a:xfrm>
            <a:off x="4114800" y="4800600"/>
            <a:ext cx="990600" cy="366713"/>
          </a:xfrm>
          <a:prstGeom prst="rect">
            <a:avLst/>
          </a:prstGeom>
          <a:noFill/>
          <a:ln w="12700">
            <a:noFill/>
            <a:miter lim="800000"/>
            <a:headEnd/>
            <a:tailEnd/>
          </a:ln>
        </p:spPr>
        <p:txBody>
          <a:bodyPr>
            <a:spAutoFit/>
          </a:bodyPr>
          <a:lstStyle/>
          <a:p>
            <a:pPr eaLnBrk="0" hangingPunct="0">
              <a:spcBef>
                <a:spcPct val="50000"/>
              </a:spcBef>
            </a:pPr>
            <a:r>
              <a:rPr lang="en-US" sz="1800" b="1">
                <a:solidFill>
                  <a:srgbClr val="FF3300"/>
                </a:solidFill>
              </a:rPr>
              <a:t>.9772</a:t>
            </a:r>
          </a:p>
        </p:txBody>
      </p:sp>
      <p:sp>
        <p:nvSpPr>
          <p:cNvPr id="357386" name="Text Box 9"/>
          <p:cNvSpPr txBox="1">
            <a:spLocks noChangeArrowheads="1"/>
          </p:cNvSpPr>
          <p:nvPr/>
        </p:nvSpPr>
        <p:spPr bwMode="auto">
          <a:xfrm>
            <a:off x="3200400" y="5638800"/>
            <a:ext cx="685800" cy="396875"/>
          </a:xfrm>
          <a:prstGeom prst="rect">
            <a:avLst/>
          </a:prstGeom>
          <a:noFill/>
          <a:ln w="12700">
            <a:noFill/>
            <a:miter lim="800000"/>
            <a:headEnd/>
            <a:tailEnd/>
          </a:ln>
        </p:spPr>
        <p:txBody>
          <a:bodyPr>
            <a:spAutoFit/>
          </a:bodyPr>
          <a:lstStyle/>
          <a:p>
            <a:pPr eaLnBrk="0" hangingPunct="0">
              <a:spcBef>
                <a:spcPct val="50000"/>
              </a:spcBef>
            </a:pPr>
            <a:r>
              <a:rPr lang="en-US" sz="2000">
                <a:solidFill>
                  <a:schemeClr val="bg1"/>
                </a:solidFill>
              </a:rPr>
              <a:t>2.0</a:t>
            </a:r>
          </a:p>
        </p:txBody>
      </p:sp>
      <p:sp>
        <p:nvSpPr>
          <p:cNvPr id="357387" name="Text Box 10"/>
          <p:cNvSpPr txBox="1">
            <a:spLocks noChangeArrowheads="1"/>
          </p:cNvSpPr>
          <p:nvPr/>
        </p:nvSpPr>
        <p:spPr bwMode="auto">
          <a:xfrm>
            <a:off x="1295400" y="5638800"/>
            <a:ext cx="3048000" cy="466725"/>
          </a:xfrm>
          <a:prstGeom prst="rect">
            <a:avLst/>
          </a:prstGeom>
          <a:solidFill>
            <a:srgbClr val="FDE0BD"/>
          </a:solidFill>
          <a:ln w="9525">
            <a:solidFill>
              <a:schemeClr val="tx1"/>
            </a:solidFill>
            <a:miter lim="800000"/>
            <a:headEnd/>
            <a:tailEnd/>
          </a:ln>
        </p:spPr>
        <p:txBody>
          <a:bodyPr>
            <a:spAutoFit/>
          </a:bodyPr>
          <a:lstStyle/>
          <a:p>
            <a:pPr eaLnBrk="0" hangingPunct="0">
              <a:spcBef>
                <a:spcPct val="50000"/>
              </a:spcBef>
            </a:pPr>
            <a:r>
              <a:rPr lang="en-US" b="1">
                <a:solidFill>
                  <a:schemeClr val="bg2"/>
                </a:solidFill>
              </a:rPr>
              <a:t>P(Z &lt; 2.00) =</a:t>
            </a:r>
            <a:r>
              <a:rPr lang="en-US" b="1">
                <a:solidFill>
                  <a:srgbClr val="FF3300"/>
                </a:solidFill>
              </a:rPr>
              <a:t> 0.9772</a:t>
            </a:r>
          </a:p>
        </p:txBody>
      </p:sp>
      <p:sp>
        <p:nvSpPr>
          <p:cNvPr id="357388" name="Rectangle 11"/>
          <p:cNvSpPr>
            <a:spLocks noChangeArrowheads="1"/>
          </p:cNvSpPr>
          <p:nvPr/>
        </p:nvSpPr>
        <p:spPr bwMode="auto">
          <a:xfrm>
            <a:off x="381000" y="3429000"/>
            <a:ext cx="2819400" cy="1676400"/>
          </a:xfrm>
          <a:prstGeom prst="rect">
            <a:avLst/>
          </a:prstGeom>
          <a:noFill/>
          <a:ln w="9525">
            <a:noFill/>
            <a:miter lim="800000"/>
            <a:headEnd/>
            <a:tailEnd/>
          </a:ln>
        </p:spPr>
        <p:txBody>
          <a:bodyPr lIns="85342" tIns="42672" rIns="85342" bIns="42672"/>
          <a:lstStyle/>
          <a:p>
            <a:pPr marL="571500" indent="-571500">
              <a:spcBef>
                <a:spcPct val="20000"/>
              </a:spcBef>
              <a:buClr>
                <a:schemeClr val="folHlink"/>
              </a:buClr>
              <a:buSzPct val="60000"/>
              <a:buFont typeface="Wingdings" pitchFamily="2" charset="2"/>
              <a:buNone/>
            </a:pPr>
            <a:r>
              <a:rPr lang="en-US" sz="2300"/>
              <a:t>      </a:t>
            </a:r>
            <a:r>
              <a:rPr lang="en-US"/>
              <a:t>The </a:t>
            </a:r>
            <a:r>
              <a:rPr lang="en-US">
                <a:solidFill>
                  <a:schemeClr val="folHlink"/>
                </a:solidFill>
              </a:rPr>
              <a:t>row </a:t>
            </a:r>
            <a:r>
              <a:rPr lang="en-US"/>
              <a:t>shows the value of Z to the first decimal point</a:t>
            </a:r>
          </a:p>
        </p:txBody>
      </p:sp>
      <p:sp>
        <p:nvSpPr>
          <p:cNvPr id="357389" name="Rectangle 12"/>
          <p:cNvSpPr>
            <a:spLocks noChangeArrowheads="1"/>
          </p:cNvSpPr>
          <p:nvPr/>
        </p:nvSpPr>
        <p:spPr bwMode="auto">
          <a:xfrm>
            <a:off x="3581400" y="1828800"/>
            <a:ext cx="4800600" cy="990600"/>
          </a:xfrm>
          <a:prstGeom prst="rect">
            <a:avLst/>
          </a:prstGeom>
          <a:noFill/>
          <a:ln w="9525">
            <a:noFill/>
            <a:miter lim="800000"/>
            <a:headEnd/>
            <a:tailEnd/>
          </a:ln>
        </p:spPr>
        <p:txBody>
          <a:bodyPr lIns="85342" tIns="42672" rIns="85342" bIns="42672"/>
          <a:lstStyle/>
          <a:p>
            <a:pPr marL="571500" indent="-571500">
              <a:spcBef>
                <a:spcPct val="20000"/>
              </a:spcBef>
              <a:buClr>
                <a:schemeClr val="folHlink"/>
              </a:buClr>
              <a:buSzPct val="60000"/>
              <a:buFont typeface="Wingdings" pitchFamily="2" charset="2"/>
              <a:buNone/>
            </a:pPr>
            <a:r>
              <a:rPr lang="en-US" sz="2300"/>
              <a:t>      </a:t>
            </a:r>
            <a:r>
              <a:rPr lang="en-US"/>
              <a:t>The </a:t>
            </a:r>
            <a:r>
              <a:rPr lang="en-US">
                <a:solidFill>
                  <a:srgbClr val="339933"/>
                </a:solidFill>
              </a:rPr>
              <a:t>column</a:t>
            </a:r>
            <a:r>
              <a:rPr lang="en-US">
                <a:solidFill>
                  <a:schemeClr val="hlink"/>
                </a:solidFill>
              </a:rPr>
              <a:t> </a:t>
            </a:r>
            <a:r>
              <a:rPr lang="en-US"/>
              <a:t>gives the value of Z to the second decimal point</a:t>
            </a:r>
          </a:p>
        </p:txBody>
      </p:sp>
      <p:sp>
        <p:nvSpPr>
          <p:cNvPr id="357390" name="Line 13"/>
          <p:cNvSpPr>
            <a:spLocks noChangeShapeType="1"/>
          </p:cNvSpPr>
          <p:nvPr/>
        </p:nvSpPr>
        <p:spPr bwMode="auto">
          <a:xfrm>
            <a:off x="4419600" y="3200400"/>
            <a:ext cx="0" cy="1600200"/>
          </a:xfrm>
          <a:prstGeom prst="line">
            <a:avLst/>
          </a:prstGeom>
          <a:noFill/>
          <a:ln w="28575" cap="rnd">
            <a:solidFill>
              <a:schemeClr val="bg2"/>
            </a:solidFill>
            <a:prstDash val="sysDot"/>
            <a:round/>
            <a:headEnd/>
            <a:tailEnd type="triangle" w="med" len="med"/>
          </a:ln>
        </p:spPr>
        <p:txBody>
          <a:bodyPr/>
          <a:lstStyle/>
          <a:p>
            <a:endParaRPr lang="en-US"/>
          </a:p>
        </p:txBody>
      </p:sp>
      <p:sp>
        <p:nvSpPr>
          <p:cNvPr id="357391" name="Line 14"/>
          <p:cNvSpPr>
            <a:spLocks noChangeShapeType="1"/>
          </p:cNvSpPr>
          <p:nvPr/>
        </p:nvSpPr>
        <p:spPr bwMode="auto">
          <a:xfrm>
            <a:off x="3810000" y="4953000"/>
            <a:ext cx="381000" cy="0"/>
          </a:xfrm>
          <a:prstGeom prst="line">
            <a:avLst/>
          </a:prstGeom>
          <a:noFill/>
          <a:ln w="28575" cap="rnd">
            <a:solidFill>
              <a:schemeClr val="bg2"/>
            </a:solidFill>
            <a:prstDash val="sysDot"/>
            <a:round/>
            <a:headEnd/>
            <a:tailEnd type="triangle" w="med" len="med"/>
          </a:ln>
        </p:spPr>
        <p:txBody>
          <a:bodyPr/>
          <a:lstStyle/>
          <a:p>
            <a:endParaRPr lang="en-US"/>
          </a:p>
        </p:txBody>
      </p:sp>
      <p:sp>
        <p:nvSpPr>
          <p:cNvPr id="357392" name="Text Box 15"/>
          <p:cNvSpPr txBox="1">
            <a:spLocks noChangeArrowheads="1"/>
          </p:cNvSpPr>
          <p:nvPr/>
        </p:nvSpPr>
        <p:spPr bwMode="auto">
          <a:xfrm>
            <a:off x="3124200" y="4800600"/>
            <a:ext cx="838200" cy="396875"/>
          </a:xfrm>
          <a:prstGeom prst="rect">
            <a:avLst/>
          </a:prstGeom>
          <a:noFill/>
          <a:ln w="19050" algn="ctr">
            <a:noFill/>
            <a:miter lim="800000"/>
            <a:headEnd/>
            <a:tailEnd/>
          </a:ln>
        </p:spPr>
        <p:txBody>
          <a:bodyPr>
            <a:spAutoFit/>
          </a:bodyPr>
          <a:lstStyle/>
          <a:p>
            <a:pPr algn="ctr">
              <a:spcBef>
                <a:spcPct val="50000"/>
              </a:spcBef>
            </a:pPr>
            <a:r>
              <a:rPr lang="en-US" sz="2000" b="1">
                <a:solidFill>
                  <a:schemeClr val="folHlink"/>
                </a:solidFill>
              </a:rPr>
              <a:t>2.0</a:t>
            </a:r>
          </a:p>
        </p:txBody>
      </p:sp>
      <p:sp>
        <p:nvSpPr>
          <p:cNvPr id="357393" name="Text Box 16"/>
          <p:cNvSpPr txBox="1">
            <a:spLocks noChangeArrowheads="1"/>
          </p:cNvSpPr>
          <p:nvPr/>
        </p:nvSpPr>
        <p:spPr bwMode="auto">
          <a:xfrm>
            <a:off x="3352800" y="4191000"/>
            <a:ext cx="381000" cy="641350"/>
          </a:xfrm>
          <a:prstGeom prst="rect">
            <a:avLst/>
          </a:prstGeom>
          <a:noFill/>
          <a:ln w="19050" algn="ctr">
            <a:noFill/>
            <a:miter lim="800000"/>
            <a:headEnd/>
            <a:tailEnd/>
          </a:ln>
        </p:spPr>
        <p:txBody>
          <a:bodyPr>
            <a:spAutoFit/>
          </a:bodyPr>
          <a:lstStyle/>
          <a:p>
            <a:pPr algn="ctr">
              <a:lnSpc>
                <a:spcPct val="40000"/>
              </a:lnSpc>
              <a:spcBef>
                <a:spcPct val="15000"/>
              </a:spcBef>
            </a:pPr>
            <a:r>
              <a:rPr lang="en-US">
                <a:solidFill>
                  <a:schemeClr val="folHlink"/>
                </a:solidFill>
              </a:rPr>
              <a:t>.</a:t>
            </a:r>
          </a:p>
          <a:p>
            <a:pPr algn="ctr">
              <a:lnSpc>
                <a:spcPct val="40000"/>
              </a:lnSpc>
              <a:spcBef>
                <a:spcPct val="15000"/>
              </a:spcBef>
            </a:pPr>
            <a:r>
              <a:rPr lang="en-US">
                <a:solidFill>
                  <a:schemeClr val="folHlink"/>
                </a:solidFill>
              </a:rPr>
              <a:t>.</a:t>
            </a:r>
          </a:p>
          <a:p>
            <a:pPr algn="ctr">
              <a:lnSpc>
                <a:spcPct val="40000"/>
              </a:lnSpc>
              <a:spcBef>
                <a:spcPct val="15000"/>
              </a:spcBef>
            </a:pPr>
            <a:r>
              <a:rPr lang="en-US">
                <a:solidFill>
                  <a:schemeClr val="folHlink"/>
                </a:solidFill>
              </a:rPr>
              <a:t>.</a:t>
            </a:r>
          </a:p>
        </p:txBody>
      </p:sp>
      <p:sp>
        <p:nvSpPr>
          <p:cNvPr id="357394" name="Text Box 17"/>
          <p:cNvSpPr txBox="1">
            <a:spLocks noChangeArrowheads="1"/>
          </p:cNvSpPr>
          <p:nvPr/>
        </p:nvSpPr>
        <p:spPr bwMode="auto">
          <a:xfrm>
            <a:off x="7467600" y="1203325"/>
            <a:ext cx="15240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
        <p:nvSpPr>
          <p:cNvPr id="357395" name="Text Box 18"/>
          <p:cNvSpPr txBox="1">
            <a:spLocks noChangeArrowheads="1"/>
          </p:cNvSpPr>
          <p:nvPr/>
        </p:nvSpPr>
        <p:spPr bwMode="auto">
          <a:xfrm>
            <a:off x="3276600" y="2743200"/>
            <a:ext cx="3962400" cy="1495425"/>
          </a:xfrm>
          <a:prstGeom prst="rect">
            <a:avLst/>
          </a:prstGeom>
          <a:noFill/>
          <a:ln w="9525" algn="ctr">
            <a:noFill/>
            <a:miter lim="800000"/>
            <a:headEnd/>
            <a:tailEnd/>
          </a:ln>
        </p:spPr>
        <p:txBody>
          <a:bodyPr>
            <a:spAutoFit/>
          </a:bodyPr>
          <a:lstStyle/>
          <a:p>
            <a:pPr>
              <a:spcBef>
                <a:spcPct val="50000"/>
              </a:spcBef>
            </a:pPr>
            <a:r>
              <a:rPr lang="en-US" sz="2000"/>
              <a:t>  Z       </a:t>
            </a:r>
            <a:r>
              <a:rPr lang="en-US" sz="2000">
                <a:solidFill>
                  <a:srgbClr val="008260"/>
                </a:solidFill>
              </a:rPr>
              <a:t>0.00     0.01     0.02 …</a:t>
            </a:r>
          </a:p>
          <a:p>
            <a:pPr>
              <a:spcBef>
                <a:spcPct val="50000"/>
              </a:spcBef>
            </a:pPr>
            <a:endParaRPr lang="en-US" sz="800">
              <a:solidFill>
                <a:srgbClr val="008260"/>
              </a:solidFill>
            </a:endParaRPr>
          </a:p>
          <a:p>
            <a:pPr>
              <a:spcBef>
                <a:spcPct val="50000"/>
              </a:spcBef>
            </a:pPr>
            <a:r>
              <a:rPr lang="en-US" sz="2000">
                <a:solidFill>
                  <a:schemeClr val="folHlink"/>
                </a:solidFill>
              </a:rPr>
              <a:t>0.0</a:t>
            </a:r>
          </a:p>
          <a:p>
            <a:pPr>
              <a:spcBef>
                <a:spcPct val="50000"/>
              </a:spcBef>
            </a:pPr>
            <a:r>
              <a:rPr lang="en-US" sz="2000">
                <a:solidFill>
                  <a:schemeClr val="folHlink"/>
                </a:solidFill>
              </a:rPr>
              <a:t>0.1</a:t>
            </a:r>
          </a:p>
        </p:txBody>
      </p:sp>
      <p:sp>
        <p:nvSpPr>
          <p:cNvPr id="357396" name="Line 19"/>
          <p:cNvSpPr>
            <a:spLocks noChangeShapeType="1"/>
          </p:cNvSpPr>
          <p:nvPr/>
        </p:nvSpPr>
        <p:spPr bwMode="auto">
          <a:xfrm>
            <a:off x="3886200" y="2819400"/>
            <a:ext cx="0" cy="2438400"/>
          </a:xfrm>
          <a:prstGeom prst="line">
            <a:avLst/>
          </a:prstGeom>
          <a:noFill/>
          <a:ln w="19050">
            <a:solidFill>
              <a:schemeClr val="tx1"/>
            </a:solidFill>
            <a:round/>
            <a:headEnd/>
            <a:tailEnd/>
          </a:ln>
        </p:spPr>
        <p:txBody>
          <a:bodyPr>
            <a:spAutoFit/>
          </a:bodyPr>
          <a:lstStyle/>
          <a:p>
            <a:endParaRPr lang="en-US"/>
          </a:p>
        </p:txBody>
      </p:sp>
      <p:sp>
        <p:nvSpPr>
          <p:cNvPr id="357397" name="Line 20"/>
          <p:cNvSpPr>
            <a:spLocks noChangeShapeType="1"/>
          </p:cNvSpPr>
          <p:nvPr/>
        </p:nvSpPr>
        <p:spPr bwMode="auto">
          <a:xfrm>
            <a:off x="3276600" y="3352800"/>
            <a:ext cx="3505200" cy="0"/>
          </a:xfrm>
          <a:prstGeom prst="line">
            <a:avLst/>
          </a:prstGeom>
          <a:noFill/>
          <a:ln w="19050">
            <a:solidFill>
              <a:schemeClr val="tx1"/>
            </a:solidFill>
            <a:round/>
            <a:headEnd/>
            <a:tailEnd/>
          </a:ln>
        </p:spPr>
        <p:txBody>
          <a:bodyPr>
            <a:spAutoFit/>
          </a:bodyPr>
          <a:lstStyle/>
          <a:p>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1" name="Rectangle 4"/>
          <p:cNvSpPr>
            <a:spLocks noGrp="1" noChangeArrowheads="1"/>
          </p:cNvSpPr>
          <p:nvPr>
            <p:ph type="ftr" sz="quarter" idx="10"/>
          </p:nvPr>
        </p:nvSpPr>
        <p:spPr>
          <a:noFill/>
        </p:spPr>
        <p:txBody>
          <a:bodyPr/>
          <a:lstStyle/>
          <a:p>
            <a:r>
              <a:rPr lang="en-US" smtClean="0"/>
              <a:t>Copyright ©2012 Pearson Education</a:t>
            </a:r>
          </a:p>
        </p:txBody>
      </p:sp>
      <p:sp>
        <p:nvSpPr>
          <p:cNvPr id="358402" name="Rectangle 5"/>
          <p:cNvSpPr>
            <a:spLocks noGrp="1" noChangeArrowheads="1"/>
          </p:cNvSpPr>
          <p:nvPr>
            <p:ph type="sldNum" sz="quarter" idx="11"/>
          </p:nvPr>
        </p:nvSpPr>
        <p:spPr>
          <a:noFill/>
        </p:spPr>
        <p:txBody>
          <a:bodyPr/>
          <a:lstStyle/>
          <a:p>
            <a:r>
              <a:rPr lang="en-US" smtClean="0"/>
              <a:t>Chap 6-</a:t>
            </a:r>
            <a:fld id="{50B14F2D-9C57-434E-AFD5-90171FE3460B}" type="slidenum">
              <a:rPr lang="en-US" smtClean="0"/>
              <a:pPr/>
              <a:t>17</a:t>
            </a:fld>
            <a:endParaRPr lang="en-US" smtClean="0"/>
          </a:p>
        </p:txBody>
      </p:sp>
      <p:sp>
        <p:nvSpPr>
          <p:cNvPr id="358403" name="Slide Number Placeholder 5"/>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82E5D49D-F776-4517-B962-5A27483DCE5E}" type="slidenum">
              <a:rPr lang="en-US" sz="1000"/>
              <a:pPr algn="r" defTabSz="852488"/>
              <a:t>17</a:t>
            </a:fld>
            <a:endParaRPr lang="en-US" sz="1000"/>
          </a:p>
        </p:txBody>
      </p:sp>
      <p:sp>
        <p:nvSpPr>
          <p:cNvPr id="358404" name="Rectangle 2"/>
          <p:cNvSpPr>
            <a:spLocks noGrp="1" noChangeArrowheads="1"/>
          </p:cNvSpPr>
          <p:nvPr>
            <p:ph type="title"/>
          </p:nvPr>
        </p:nvSpPr>
        <p:spPr>
          <a:xfrm>
            <a:off x="1143000" y="152400"/>
            <a:ext cx="6781800" cy="1143000"/>
          </a:xfrm>
        </p:spPr>
        <p:txBody>
          <a:bodyPr/>
          <a:lstStyle/>
          <a:p>
            <a:pPr defTabSz="914400" eaLnBrk="1" hangingPunct="1">
              <a:lnSpc>
                <a:spcPct val="85000"/>
              </a:lnSpc>
            </a:pPr>
            <a:r>
              <a:rPr lang="en-US" smtClean="0"/>
              <a:t>General Procedure for Finding Normal Probabilities</a:t>
            </a:r>
          </a:p>
        </p:txBody>
      </p:sp>
      <p:sp>
        <p:nvSpPr>
          <p:cNvPr id="358405" name="Rectangle 3"/>
          <p:cNvSpPr>
            <a:spLocks noGrp="1" noChangeArrowheads="1"/>
          </p:cNvSpPr>
          <p:nvPr>
            <p:ph type="body" sz="half" idx="2"/>
          </p:nvPr>
        </p:nvSpPr>
        <p:spPr>
          <a:xfrm>
            <a:off x="762000" y="3008313"/>
            <a:ext cx="7162800" cy="3200400"/>
          </a:xfrm>
        </p:spPr>
        <p:txBody>
          <a:bodyPr/>
          <a:lstStyle/>
          <a:p>
            <a:pPr marL="0" indent="0" defTabSz="914400" eaLnBrk="1" hangingPunct="1">
              <a:lnSpc>
                <a:spcPct val="95000"/>
              </a:lnSpc>
              <a:buSzPct val="80000"/>
            </a:pPr>
            <a:r>
              <a:rPr lang="en-US" sz="2400" smtClean="0">
                <a:solidFill>
                  <a:srgbClr val="F8F8F8"/>
                </a:solidFill>
              </a:rPr>
              <a:t>  </a:t>
            </a:r>
            <a:r>
              <a:rPr lang="en-US" smtClean="0"/>
              <a:t>Draw the normal curve for the problem in</a:t>
            </a:r>
          </a:p>
          <a:p>
            <a:pPr marL="0" indent="0" defTabSz="914400" eaLnBrk="1" hangingPunct="1">
              <a:lnSpc>
                <a:spcPct val="95000"/>
              </a:lnSpc>
              <a:buFont typeface="Wingdings" pitchFamily="2" charset="2"/>
              <a:buNone/>
            </a:pPr>
            <a:r>
              <a:rPr lang="en-US" smtClean="0"/>
              <a:t>    terms of X</a:t>
            </a:r>
          </a:p>
          <a:p>
            <a:pPr marL="0" indent="0" defTabSz="914400" eaLnBrk="1" hangingPunct="1">
              <a:lnSpc>
                <a:spcPct val="95000"/>
              </a:lnSpc>
            </a:pPr>
            <a:endParaRPr lang="en-US" smtClean="0"/>
          </a:p>
          <a:p>
            <a:pPr marL="0" indent="0" defTabSz="914400" eaLnBrk="1" hangingPunct="1">
              <a:lnSpc>
                <a:spcPct val="55000"/>
              </a:lnSpc>
            </a:pPr>
            <a:r>
              <a:rPr lang="en-US" smtClean="0"/>
              <a:t>  Translate X-values to Z-values</a:t>
            </a:r>
          </a:p>
          <a:p>
            <a:pPr marL="0" indent="0" defTabSz="914400" eaLnBrk="1" hangingPunct="1">
              <a:lnSpc>
                <a:spcPct val="95000"/>
              </a:lnSpc>
            </a:pPr>
            <a:endParaRPr lang="en-US" smtClean="0"/>
          </a:p>
          <a:p>
            <a:pPr marL="0" indent="0" defTabSz="914400" eaLnBrk="1" hangingPunct="1">
              <a:lnSpc>
                <a:spcPct val="95000"/>
              </a:lnSpc>
            </a:pPr>
            <a:r>
              <a:rPr lang="en-US" smtClean="0"/>
              <a:t>  Use the Standardized Normal Table</a:t>
            </a:r>
            <a:endParaRPr lang="en-US" sz="3200" smtClean="0"/>
          </a:p>
        </p:txBody>
      </p:sp>
      <p:sp>
        <p:nvSpPr>
          <p:cNvPr id="358406" name="Text Box 4"/>
          <p:cNvSpPr txBox="1">
            <a:spLocks noChangeArrowheads="1"/>
          </p:cNvSpPr>
          <p:nvPr/>
        </p:nvSpPr>
        <p:spPr bwMode="auto">
          <a:xfrm>
            <a:off x="1066800" y="1828800"/>
            <a:ext cx="7010400" cy="946150"/>
          </a:xfrm>
          <a:prstGeom prst="rect">
            <a:avLst/>
          </a:prstGeom>
          <a:noFill/>
          <a:ln w="12700">
            <a:noFill/>
            <a:miter lim="800000"/>
            <a:headEnd/>
            <a:tailEnd/>
          </a:ln>
        </p:spPr>
        <p:txBody>
          <a:bodyPr>
            <a:spAutoFit/>
          </a:bodyPr>
          <a:lstStyle/>
          <a:p>
            <a:pPr eaLnBrk="0" hangingPunct="0">
              <a:spcBef>
                <a:spcPct val="50000"/>
              </a:spcBef>
            </a:pPr>
            <a:r>
              <a:rPr lang="en-US" sz="2800">
                <a:solidFill>
                  <a:schemeClr val="folHlink"/>
                </a:solidFill>
              </a:rPr>
              <a:t>To find  P(a &lt; X &lt; b)  when  X  is distributed normally:</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5" name="Rectangle 4"/>
          <p:cNvSpPr>
            <a:spLocks noGrp="1" noChangeArrowheads="1"/>
          </p:cNvSpPr>
          <p:nvPr>
            <p:ph type="ftr" sz="quarter" idx="10"/>
          </p:nvPr>
        </p:nvSpPr>
        <p:spPr>
          <a:noFill/>
        </p:spPr>
        <p:txBody>
          <a:bodyPr/>
          <a:lstStyle/>
          <a:p>
            <a:r>
              <a:rPr lang="en-US" smtClean="0"/>
              <a:t>Copyright ©2012 Pearson Education</a:t>
            </a:r>
          </a:p>
        </p:txBody>
      </p:sp>
      <p:sp>
        <p:nvSpPr>
          <p:cNvPr id="359426" name="Rectangle 5"/>
          <p:cNvSpPr>
            <a:spLocks noGrp="1" noChangeArrowheads="1"/>
          </p:cNvSpPr>
          <p:nvPr>
            <p:ph type="sldNum" sz="quarter" idx="11"/>
          </p:nvPr>
        </p:nvSpPr>
        <p:spPr>
          <a:noFill/>
        </p:spPr>
        <p:txBody>
          <a:bodyPr/>
          <a:lstStyle/>
          <a:p>
            <a:r>
              <a:rPr lang="en-US" smtClean="0"/>
              <a:t>Chap 6-</a:t>
            </a:r>
            <a:fld id="{2F16DB9D-4464-44AF-9646-B85FB6F2DC92}" type="slidenum">
              <a:rPr lang="en-US" smtClean="0"/>
              <a:pPr/>
              <a:t>18</a:t>
            </a:fld>
            <a:endParaRPr lang="en-US" smtClean="0"/>
          </a:p>
        </p:txBody>
      </p:sp>
      <p:sp>
        <p:nvSpPr>
          <p:cNvPr id="359427"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189B8270-7D1C-4B6F-AC4A-38D02A2DD02B}" type="slidenum">
              <a:rPr lang="en-US" sz="1000"/>
              <a:pPr algn="r" defTabSz="852488"/>
              <a:t>18</a:t>
            </a:fld>
            <a:endParaRPr lang="en-US" sz="1000"/>
          </a:p>
        </p:txBody>
      </p:sp>
      <p:sp>
        <p:nvSpPr>
          <p:cNvPr id="359428" name="Rectangle 2"/>
          <p:cNvSpPr>
            <a:spLocks noGrp="1" noChangeArrowheads="1"/>
          </p:cNvSpPr>
          <p:nvPr>
            <p:ph type="title"/>
          </p:nvPr>
        </p:nvSpPr>
        <p:spPr/>
        <p:txBody>
          <a:bodyPr/>
          <a:lstStyle/>
          <a:p>
            <a:pPr eaLnBrk="1" hangingPunct="1"/>
            <a:r>
              <a:rPr lang="en-US" smtClean="0"/>
              <a:t>Finding Normal Probabilities</a:t>
            </a:r>
          </a:p>
        </p:txBody>
      </p:sp>
      <p:sp>
        <p:nvSpPr>
          <p:cNvPr id="359429" name="Rectangle 3"/>
          <p:cNvSpPr>
            <a:spLocks noGrp="1" noChangeArrowheads="1"/>
          </p:cNvSpPr>
          <p:nvPr>
            <p:ph type="body" idx="1"/>
          </p:nvPr>
        </p:nvSpPr>
        <p:spPr>
          <a:xfrm>
            <a:off x="228600" y="1524000"/>
            <a:ext cx="8763000" cy="2667000"/>
          </a:xfrm>
        </p:spPr>
        <p:txBody>
          <a:bodyPr/>
          <a:lstStyle/>
          <a:p>
            <a:pPr eaLnBrk="1" hangingPunct="1"/>
            <a:r>
              <a:rPr lang="en-US" sz="3200" smtClean="0"/>
              <a:t>Let X represent the time it takes (in seconds) to download an image file from the internet.</a:t>
            </a:r>
          </a:p>
          <a:p>
            <a:pPr eaLnBrk="1" hangingPunct="1"/>
            <a:r>
              <a:rPr lang="en-US" sz="3200" smtClean="0"/>
              <a:t>Suppose X is normal with a mean of 18.0 seconds and a standard deviation of 5.0 seconds.  </a:t>
            </a:r>
            <a:r>
              <a:rPr lang="en-US" sz="3200" smtClean="0">
                <a:solidFill>
                  <a:schemeClr val="folHlink"/>
                </a:solidFill>
              </a:rPr>
              <a:t>Find P(X &lt; 18.6)</a:t>
            </a:r>
          </a:p>
        </p:txBody>
      </p:sp>
      <p:grpSp>
        <p:nvGrpSpPr>
          <p:cNvPr id="359430" name="Group 18"/>
          <p:cNvGrpSpPr>
            <a:grpSpLocks/>
          </p:cNvGrpSpPr>
          <p:nvPr/>
        </p:nvGrpSpPr>
        <p:grpSpPr bwMode="auto">
          <a:xfrm>
            <a:off x="3048000" y="4143375"/>
            <a:ext cx="3765550" cy="2714625"/>
            <a:chOff x="3321050" y="3821113"/>
            <a:chExt cx="3765550" cy="2714625"/>
          </a:xfrm>
        </p:grpSpPr>
        <p:sp>
          <p:nvSpPr>
            <p:cNvPr id="359431" name="Rectangle 14"/>
            <p:cNvSpPr>
              <a:spLocks noChangeArrowheads="1"/>
            </p:cNvSpPr>
            <p:nvPr/>
          </p:nvSpPr>
          <p:spPr bwMode="auto">
            <a:xfrm>
              <a:off x="5149850" y="6168971"/>
              <a:ext cx="631582" cy="366767"/>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18.6</a:t>
              </a:r>
              <a:endParaRPr lang="en-US" b="1">
                <a:solidFill>
                  <a:srgbClr val="339933"/>
                </a:solidFill>
              </a:endParaRPr>
            </a:p>
          </p:txBody>
        </p:sp>
        <p:grpSp>
          <p:nvGrpSpPr>
            <p:cNvPr id="359432" name="Group 17"/>
            <p:cNvGrpSpPr>
              <a:grpSpLocks/>
            </p:cNvGrpSpPr>
            <p:nvPr/>
          </p:nvGrpSpPr>
          <p:grpSpPr bwMode="auto">
            <a:xfrm>
              <a:off x="3321050" y="3821113"/>
              <a:ext cx="3765550" cy="2427287"/>
              <a:chOff x="3321050" y="3821113"/>
              <a:chExt cx="3765550" cy="2427287"/>
            </a:xfrm>
          </p:grpSpPr>
          <p:sp>
            <p:nvSpPr>
              <p:cNvPr id="359433" name="Freeform 18"/>
              <p:cNvSpPr>
                <a:spLocks/>
              </p:cNvSpPr>
              <p:nvPr/>
            </p:nvSpPr>
            <p:spPr bwMode="auto">
              <a:xfrm>
                <a:off x="5029200" y="3924300"/>
                <a:ext cx="385763" cy="1652588"/>
              </a:xfrm>
              <a:custGeom>
                <a:avLst/>
                <a:gdLst>
                  <a:gd name="T0" fmla="*/ 9525 w 243"/>
                  <a:gd name="T1" fmla="*/ 0 h 1041"/>
                  <a:gd name="T2" fmla="*/ 0 w 243"/>
                  <a:gd name="T3" fmla="*/ 1647826 h 1041"/>
                  <a:gd name="T4" fmla="*/ 385763 w 243"/>
                  <a:gd name="T5" fmla="*/ 1652588 h 1041"/>
                  <a:gd name="T6" fmla="*/ 376238 w 243"/>
                  <a:gd name="T7" fmla="*/ 319088 h 1041"/>
                  <a:gd name="T8" fmla="*/ 323850 w 243"/>
                  <a:gd name="T9" fmla="*/ 228600 h 1041"/>
                  <a:gd name="T10" fmla="*/ 276225 w 243"/>
                  <a:gd name="T11" fmla="*/ 161925 h 1041"/>
                  <a:gd name="T12" fmla="*/ 161925 w 243"/>
                  <a:gd name="T13" fmla="*/ 38100 h 1041"/>
                  <a:gd name="T14" fmla="*/ 0 60000 65536"/>
                  <a:gd name="T15" fmla="*/ 0 60000 65536"/>
                  <a:gd name="T16" fmla="*/ 0 60000 65536"/>
                  <a:gd name="T17" fmla="*/ 0 60000 65536"/>
                  <a:gd name="T18" fmla="*/ 0 60000 65536"/>
                  <a:gd name="T19" fmla="*/ 0 60000 65536"/>
                  <a:gd name="T20" fmla="*/ 0 60000 65536"/>
                  <a:gd name="T21" fmla="*/ 0 w 243"/>
                  <a:gd name="T22" fmla="*/ 0 h 1041"/>
                  <a:gd name="T23" fmla="*/ 243 w 243"/>
                  <a:gd name="T24" fmla="*/ 1041 h 10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3" h="1041">
                    <a:moveTo>
                      <a:pt x="6" y="0"/>
                    </a:moveTo>
                    <a:lnTo>
                      <a:pt x="0" y="1038"/>
                    </a:lnTo>
                    <a:lnTo>
                      <a:pt x="243" y="1041"/>
                    </a:lnTo>
                    <a:lnTo>
                      <a:pt x="237" y="201"/>
                    </a:lnTo>
                    <a:lnTo>
                      <a:pt x="204" y="144"/>
                    </a:lnTo>
                    <a:lnTo>
                      <a:pt x="174" y="102"/>
                    </a:lnTo>
                    <a:lnTo>
                      <a:pt x="102" y="24"/>
                    </a:lnTo>
                  </a:path>
                </a:pathLst>
              </a:custGeom>
              <a:solidFill>
                <a:schemeClr val="hlink"/>
              </a:solidFill>
              <a:ln w="9525">
                <a:noFill/>
                <a:miter lim="800000"/>
                <a:headEnd/>
                <a:tailEnd/>
              </a:ln>
            </p:spPr>
            <p:txBody>
              <a:bodyPr wrap="none"/>
              <a:lstStyle/>
              <a:p>
                <a:endParaRPr lang="en-GB"/>
              </a:p>
            </p:txBody>
          </p:sp>
          <p:sp>
            <p:nvSpPr>
              <p:cNvPr id="359434" name="Freeform 4"/>
              <p:cNvSpPr>
                <a:spLocks/>
              </p:cNvSpPr>
              <p:nvPr/>
            </p:nvSpPr>
            <p:spPr bwMode="auto">
              <a:xfrm>
                <a:off x="3321050" y="3905250"/>
                <a:ext cx="1746250" cy="1673225"/>
              </a:xfrm>
              <a:custGeom>
                <a:avLst/>
                <a:gdLst>
                  <a:gd name="T0" fmla="*/ 1708150 w 1100"/>
                  <a:gd name="T1" fmla="*/ 1657350 h 1054"/>
                  <a:gd name="T2" fmla="*/ 1746250 w 1100"/>
                  <a:gd name="T3" fmla="*/ 0 h 1054"/>
                  <a:gd name="T4" fmla="*/ 1489075 w 1100"/>
                  <a:gd name="T5" fmla="*/ 114300 h 1054"/>
                  <a:gd name="T6" fmla="*/ 1341437 w 1100"/>
                  <a:gd name="T7" fmla="*/ 319087 h 1054"/>
                  <a:gd name="T8" fmla="*/ 1222375 w 1100"/>
                  <a:gd name="T9" fmla="*/ 519112 h 1054"/>
                  <a:gd name="T10" fmla="*/ 1108075 w 1100"/>
                  <a:gd name="T11" fmla="*/ 747712 h 1054"/>
                  <a:gd name="T12" fmla="*/ 1012825 w 1100"/>
                  <a:gd name="T13" fmla="*/ 900112 h 1054"/>
                  <a:gd name="T14" fmla="*/ 893762 w 1100"/>
                  <a:gd name="T15" fmla="*/ 1081087 h 1054"/>
                  <a:gd name="T16" fmla="*/ 817563 w 1100"/>
                  <a:gd name="T17" fmla="*/ 1195387 h 1054"/>
                  <a:gd name="T18" fmla="*/ 674687 w 1100"/>
                  <a:gd name="T19" fmla="*/ 1328737 h 1054"/>
                  <a:gd name="T20" fmla="*/ 415925 w 1100"/>
                  <a:gd name="T21" fmla="*/ 1514475 h 1054"/>
                  <a:gd name="T22" fmla="*/ 0 w 1100"/>
                  <a:gd name="T23" fmla="*/ 1584325 h 1054"/>
                  <a:gd name="T24" fmla="*/ 3175 w 1100"/>
                  <a:gd name="T25" fmla="*/ 1673225 h 1054"/>
                  <a:gd name="T26" fmla="*/ 1708150 w 1100"/>
                  <a:gd name="T27" fmla="*/ 1657350 h 10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00"/>
                  <a:gd name="T43" fmla="*/ 0 h 1054"/>
                  <a:gd name="T44" fmla="*/ 1100 w 1100"/>
                  <a:gd name="T45" fmla="*/ 1054 h 105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00" h="1054">
                    <a:moveTo>
                      <a:pt x="1076" y="1044"/>
                    </a:moveTo>
                    <a:lnTo>
                      <a:pt x="1100" y="0"/>
                    </a:lnTo>
                    <a:lnTo>
                      <a:pt x="938" y="72"/>
                    </a:lnTo>
                    <a:lnTo>
                      <a:pt x="845" y="201"/>
                    </a:lnTo>
                    <a:lnTo>
                      <a:pt x="770" y="327"/>
                    </a:lnTo>
                    <a:lnTo>
                      <a:pt x="698" y="471"/>
                    </a:lnTo>
                    <a:lnTo>
                      <a:pt x="638" y="567"/>
                    </a:lnTo>
                    <a:lnTo>
                      <a:pt x="563" y="681"/>
                    </a:lnTo>
                    <a:lnTo>
                      <a:pt x="515" y="753"/>
                    </a:lnTo>
                    <a:lnTo>
                      <a:pt x="425" y="837"/>
                    </a:lnTo>
                    <a:lnTo>
                      <a:pt x="262" y="954"/>
                    </a:lnTo>
                    <a:lnTo>
                      <a:pt x="0" y="998"/>
                    </a:lnTo>
                    <a:lnTo>
                      <a:pt x="2" y="1054"/>
                    </a:lnTo>
                    <a:lnTo>
                      <a:pt x="1076" y="1044"/>
                    </a:lnTo>
                    <a:close/>
                  </a:path>
                </a:pathLst>
              </a:custGeom>
              <a:solidFill>
                <a:srgbClr val="FF0000"/>
              </a:solidFill>
              <a:ln w="12700">
                <a:solidFill>
                  <a:srgbClr val="FF0000"/>
                </a:solidFill>
                <a:round/>
                <a:headEnd/>
                <a:tailEnd/>
              </a:ln>
            </p:spPr>
            <p:txBody>
              <a:bodyPr/>
              <a:lstStyle/>
              <a:p>
                <a:endParaRPr lang="en-GB"/>
              </a:p>
            </p:txBody>
          </p:sp>
          <p:sp>
            <p:nvSpPr>
              <p:cNvPr id="359435" name="Freeform 8"/>
              <p:cNvSpPr>
                <a:spLocks/>
              </p:cNvSpPr>
              <p:nvPr/>
            </p:nvSpPr>
            <p:spPr bwMode="auto">
              <a:xfrm>
                <a:off x="5029200" y="3932238"/>
                <a:ext cx="6350" cy="1630362"/>
              </a:xfrm>
              <a:custGeom>
                <a:avLst/>
                <a:gdLst>
                  <a:gd name="T0" fmla="*/ 0 w 4"/>
                  <a:gd name="T1" fmla="*/ 0 h 1027"/>
                  <a:gd name="T2" fmla="*/ 6350 w 4"/>
                  <a:gd name="T3" fmla="*/ 1630362 h 1027"/>
                  <a:gd name="T4" fmla="*/ 0 60000 65536"/>
                  <a:gd name="T5" fmla="*/ 0 60000 65536"/>
                  <a:gd name="T6" fmla="*/ 0 w 4"/>
                  <a:gd name="T7" fmla="*/ 0 h 1027"/>
                  <a:gd name="T8" fmla="*/ 4 w 4"/>
                  <a:gd name="T9" fmla="*/ 1027 h 1027"/>
                </a:gdLst>
                <a:ahLst/>
                <a:cxnLst>
                  <a:cxn ang="T4">
                    <a:pos x="T0" y="T1"/>
                  </a:cxn>
                  <a:cxn ang="T5">
                    <a:pos x="T2" y="T3"/>
                  </a:cxn>
                </a:cxnLst>
                <a:rect l="T6" t="T7" r="T8" b="T9"/>
                <a:pathLst>
                  <a:path w="4" h="1027">
                    <a:moveTo>
                      <a:pt x="0" y="0"/>
                    </a:moveTo>
                    <a:lnTo>
                      <a:pt x="4" y="1027"/>
                    </a:lnTo>
                  </a:path>
                </a:pathLst>
              </a:custGeom>
              <a:noFill/>
              <a:ln w="31750">
                <a:solidFill>
                  <a:schemeClr val="tx1"/>
                </a:solidFill>
                <a:round/>
                <a:headEnd/>
                <a:tailEnd/>
              </a:ln>
            </p:spPr>
            <p:txBody>
              <a:bodyPr wrap="none" anchor="ctr"/>
              <a:lstStyle/>
              <a:p>
                <a:endParaRPr lang="en-GB"/>
              </a:p>
            </p:txBody>
          </p:sp>
          <p:sp>
            <p:nvSpPr>
              <p:cNvPr id="359436" name="Freeform 9"/>
              <p:cNvSpPr>
                <a:spLocks/>
              </p:cNvSpPr>
              <p:nvPr/>
            </p:nvSpPr>
            <p:spPr bwMode="auto">
              <a:xfrm>
                <a:off x="5048250" y="3914775"/>
                <a:ext cx="1649413" cy="1574800"/>
              </a:xfrm>
              <a:custGeom>
                <a:avLst/>
                <a:gdLst>
                  <a:gd name="T0" fmla="*/ 1649413 w 1039"/>
                  <a:gd name="T1" fmla="*/ 1574800 h 992"/>
                  <a:gd name="T2" fmla="*/ 1477963 w 1039"/>
                  <a:gd name="T3" fmla="*/ 1558925 h 992"/>
                  <a:gd name="T4" fmla="*/ 1390650 w 1039"/>
                  <a:gd name="T5" fmla="*/ 1538288 h 992"/>
                  <a:gd name="T6" fmla="*/ 1306513 w 1039"/>
                  <a:gd name="T7" fmla="*/ 1514475 h 992"/>
                  <a:gd name="T8" fmla="*/ 1219200 w 1039"/>
                  <a:gd name="T9" fmla="*/ 1477963 h 992"/>
                  <a:gd name="T10" fmla="*/ 1131888 w 1039"/>
                  <a:gd name="T11" fmla="*/ 1427163 h 992"/>
                  <a:gd name="T12" fmla="*/ 1049338 w 1039"/>
                  <a:gd name="T13" fmla="*/ 1363663 h 992"/>
                  <a:gd name="T14" fmla="*/ 874713 w 1039"/>
                  <a:gd name="T15" fmla="*/ 1182688 h 992"/>
                  <a:gd name="T16" fmla="*/ 703263 w 1039"/>
                  <a:gd name="T17" fmla="*/ 925513 h 992"/>
                  <a:gd name="T18" fmla="*/ 531813 w 1039"/>
                  <a:gd name="T19" fmla="*/ 615950 h 992"/>
                  <a:gd name="T20" fmla="*/ 444500 w 1039"/>
                  <a:gd name="T21" fmla="*/ 458788 h 992"/>
                  <a:gd name="T22" fmla="*/ 357188 w 1039"/>
                  <a:gd name="T23" fmla="*/ 314325 h 992"/>
                  <a:gd name="T24" fmla="*/ 274638 w 1039"/>
                  <a:gd name="T25" fmla="*/ 187325 h 992"/>
                  <a:gd name="T26" fmla="*/ 187325 w 1039"/>
                  <a:gd name="T27" fmla="*/ 87313 h 992"/>
                  <a:gd name="T28" fmla="*/ 100013 w 1039"/>
                  <a:gd name="T29" fmla="*/ 23813 h 992"/>
                  <a:gd name="T30" fmla="*/ 60325 w 1039"/>
                  <a:gd name="T31" fmla="*/ 12700 h 992"/>
                  <a:gd name="T32" fmla="*/ 0 w 1039"/>
                  <a:gd name="T33" fmla="*/ 0 h 99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39"/>
                  <a:gd name="T52" fmla="*/ 0 h 992"/>
                  <a:gd name="T53" fmla="*/ 1039 w 1039"/>
                  <a:gd name="T54" fmla="*/ 992 h 99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39" h="992">
                    <a:moveTo>
                      <a:pt x="1039" y="992"/>
                    </a:moveTo>
                    <a:lnTo>
                      <a:pt x="931" y="982"/>
                    </a:lnTo>
                    <a:lnTo>
                      <a:pt x="876" y="969"/>
                    </a:lnTo>
                    <a:lnTo>
                      <a:pt x="823" y="954"/>
                    </a:lnTo>
                    <a:lnTo>
                      <a:pt x="768" y="931"/>
                    </a:lnTo>
                    <a:lnTo>
                      <a:pt x="713" y="899"/>
                    </a:lnTo>
                    <a:lnTo>
                      <a:pt x="661" y="859"/>
                    </a:lnTo>
                    <a:lnTo>
                      <a:pt x="551" y="745"/>
                    </a:lnTo>
                    <a:lnTo>
                      <a:pt x="443" y="583"/>
                    </a:lnTo>
                    <a:lnTo>
                      <a:pt x="335" y="388"/>
                    </a:lnTo>
                    <a:lnTo>
                      <a:pt x="280" y="289"/>
                    </a:lnTo>
                    <a:lnTo>
                      <a:pt x="225" y="198"/>
                    </a:lnTo>
                    <a:lnTo>
                      <a:pt x="173" y="118"/>
                    </a:lnTo>
                    <a:lnTo>
                      <a:pt x="118" y="55"/>
                    </a:lnTo>
                    <a:lnTo>
                      <a:pt x="63" y="15"/>
                    </a:lnTo>
                    <a:lnTo>
                      <a:pt x="38" y="8"/>
                    </a:lnTo>
                    <a:lnTo>
                      <a:pt x="0" y="0"/>
                    </a:lnTo>
                  </a:path>
                </a:pathLst>
              </a:custGeom>
              <a:noFill/>
              <a:ln w="50800" cap="rnd">
                <a:solidFill>
                  <a:srgbClr val="008000"/>
                </a:solidFill>
                <a:round/>
                <a:headEnd/>
                <a:tailEnd/>
              </a:ln>
            </p:spPr>
            <p:txBody>
              <a:bodyPr/>
              <a:lstStyle/>
              <a:p>
                <a:endParaRPr lang="en-GB"/>
              </a:p>
            </p:txBody>
          </p:sp>
          <p:sp>
            <p:nvSpPr>
              <p:cNvPr id="359437" name="Freeform 10"/>
              <p:cNvSpPr>
                <a:spLocks/>
              </p:cNvSpPr>
              <p:nvPr/>
            </p:nvSpPr>
            <p:spPr bwMode="auto">
              <a:xfrm>
                <a:off x="3352800" y="3919538"/>
                <a:ext cx="1676400" cy="1570037"/>
              </a:xfrm>
              <a:custGeom>
                <a:avLst/>
                <a:gdLst>
                  <a:gd name="T0" fmla="*/ 0 w 1056"/>
                  <a:gd name="T1" fmla="*/ 1570037 h 989"/>
                  <a:gd name="T2" fmla="*/ 171450 w 1056"/>
                  <a:gd name="T3" fmla="*/ 1554162 h 989"/>
                  <a:gd name="T4" fmla="*/ 258762 w 1056"/>
                  <a:gd name="T5" fmla="*/ 1533525 h 989"/>
                  <a:gd name="T6" fmla="*/ 346075 w 1056"/>
                  <a:gd name="T7" fmla="*/ 1509712 h 989"/>
                  <a:gd name="T8" fmla="*/ 430212 w 1056"/>
                  <a:gd name="T9" fmla="*/ 1473200 h 989"/>
                  <a:gd name="T10" fmla="*/ 517525 w 1056"/>
                  <a:gd name="T11" fmla="*/ 1422400 h 989"/>
                  <a:gd name="T12" fmla="*/ 604837 w 1056"/>
                  <a:gd name="T13" fmla="*/ 1358900 h 989"/>
                  <a:gd name="T14" fmla="*/ 774700 w 1056"/>
                  <a:gd name="T15" fmla="*/ 1177925 h 989"/>
                  <a:gd name="T16" fmla="*/ 946150 w 1056"/>
                  <a:gd name="T17" fmla="*/ 920750 h 989"/>
                  <a:gd name="T18" fmla="*/ 1120775 w 1056"/>
                  <a:gd name="T19" fmla="*/ 611187 h 989"/>
                  <a:gd name="T20" fmla="*/ 1204912 w 1056"/>
                  <a:gd name="T21" fmla="*/ 454025 h 989"/>
                  <a:gd name="T22" fmla="*/ 1292225 w 1056"/>
                  <a:gd name="T23" fmla="*/ 309562 h 989"/>
                  <a:gd name="T24" fmla="*/ 1377950 w 1056"/>
                  <a:gd name="T25" fmla="*/ 182562 h 989"/>
                  <a:gd name="T26" fmla="*/ 1443037 w 1056"/>
                  <a:gd name="T27" fmla="*/ 114300 h 989"/>
                  <a:gd name="T28" fmla="*/ 1538287 w 1056"/>
                  <a:gd name="T29" fmla="*/ 28575 h 989"/>
                  <a:gd name="T30" fmla="*/ 1676400 w 1056"/>
                  <a:gd name="T31" fmla="*/ 0 h 98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56"/>
                  <a:gd name="T49" fmla="*/ 0 h 989"/>
                  <a:gd name="T50" fmla="*/ 1056 w 1056"/>
                  <a:gd name="T51" fmla="*/ 989 h 98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56" h="989">
                    <a:moveTo>
                      <a:pt x="0" y="989"/>
                    </a:moveTo>
                    <a:lnTo>
                      <a:pt x="108" y="979"/>
                    </a:lnTo>
                    <a:lnTo>
                      <a:pt x="163" y="966"/>
                    </a:lnTo>
                    <a:lnTo>
                      <a:pt x="218" y="951"/>
                    </a:lnTo>
                    <a:lnTo>
                      <a:pt x="271" y="928"/>
                    </a:lnTo>
                    <a:lnTo>
                      <a:pt x="326" y="896"/>
                    </a:lnTo>
                    <a:lnTo>
                      <a:pt x="381" y="856"/>
                    </a:lnTo>
                    <a:lnTo>
                      <a:pt x="488" y="742"/>
                    </a:lnTo>
                    <a:lnTo>
                      <a:pt x="596" y="580"/>
                    </a:lnTo>
                    <a:lnTo>
                      <a:pt x="706" y="385"/>
                    </a:lnTo>
                    <a:lnTo>
                      <a:pt x="759" y="286"/>
                    </a:lnTo>
                    <a:lnTo>
                      <a:pt x="814" y="195"/>
                    </a:lnTo>
                    <a:lnTo>
                      <a:pt x="868" y="115"/>
                    </a:lnTo>
                    <a:lnTo>
                      <a:pt x="909" y="72"/>
                    </a:lnTo>
                    <a:lnTo>
                      <a:pt x="969" y="18"/>
                    </a:lnTo>
                    <a:lnTo>
                      <a:pt x="1056" y="0"/>
                    </a:lnTo>
                  </a:path>
                </a:pathLst>
              </a:custGeom>
              <a:noFill/>
              <a:ln w="50800" cap="rnd">
                <a:solidFill>
                  <a:srgbClr val="008000"/>
                </a:solidFill>
                <a:round/>
                <a:headEnd/>
                <a:tailEnd/>
              </a:ln>
            </p:spPr>
            <p:txBody>
              <a:bodyPr/>
              <a:lstStyle/>
              <a:p>
                <a:endParaRPr lang="en-GB"/>
              </a:p>
            </p:txBody>
          </p:sp>
          <p:sp>
            <p:nvSpPr>
              <p:cNvPr id="359438" name="Freeform 11"/>
              <p:cNvSpPr>
                <a:spLocks/>
              </p:cNvSpPr>
              <p:nvPr/>
            </p:nvSpPr>
            <p:spPr bwMode="auto">
              <a:xfrm>
                <a:off x="3376613" y="5575300"/>
                <a:ext cx="3395662" cy="6350"/>
              </a:xfrm>
              <a:custGeom>
                <a:avLst/>
                <a:gdLst>
                  <a:gd name="T0" fmla="*/ 0 w 2139"/>
                  <a:gd name="T1" fmla="*/ 0 h 4"/>
                  <a:gd name="T2" fmla="*/ 0 w 2139"/>
                  <a:gd name="T3" fmla="*/ 0 h 4"/>
                  <a:gd name="T4" fmla="*/ 3395662 w 2139"/>
                  <a:gd name="T5" fmla="*/ 6350 h 4"/>
                  <a:gd name="T6" fmla="*/ 0 60000 65536"/>
                  <a:gd name="T7" fmla="*/ 0 60000 65536"/>
                  <a:gd name="T8" fmla="*/ 0 60000 65536"/>
                  <a:gd name="T9" fmla="*/ 0 w 2139"/>
                  <a:gd name="T10" fmla="*/ 0 h 4"/>
                  <a:gd name="T11" fmla="*/ 2139 w 2139"/>
                  <a:gd name="T12" fmla="*/ 4 h 4"/>
                </a:gdLst>
                <a:ahLst/>
                <a:cxnLst>
                  <a:cxn ang="T6">
                    <a:pos x="T0" y="T1"/>
                  </a:cxn>
                  <a:cxn ang="T7">
                    <a:pos x="T2" y="T3"/>
                  </a:cxn>
                  <a:cxn ang="T8">
                    <a:pos x="T4" y="T5"/>
                  </a:cxn>
                </a:cxnLst>
                <a:rect l="T9" t="T10" r="T11" b="T12"/>
                <a:pathLst>
                  <a:path w="2139" h="4">
                    <a:moveTo>
                      <a:pt x="0" y="0"/>
                    </a:moveTo>
                    <a:lnTo>
                      <a:pt x="0" y="0"/>
                    </a:lnTo>
                    <a:lnTo>
                      <a:pt x="2139" y="4"/>
                    </a:lnTo>
                  </a:path>
                </a:pathLst>
              </a:custGeom>
              <a:noFill/>
              <a:ln w="50800" cap="rnd">
                <a:solidFill>
                  <a:schemeClr val="tx1"/>
                </a:solidFill>
                <a:round/>
                <a:headEnd/>
                <a:tailEnd/>
              </a:ln>
            </p:spPr>
            <p:txBody>
              <a:bodyPr/>
              <a:lstStyle/>
              <a:p>
                <a:endParaRPr lang="en-GB"/>
              </a:p>
            </p:txBody>
          </p:sp>
          <p:sp>
            <p:nvSpPr>
              <p:cNvPr id="359439" name="Rectangle 12"/>
              <p:cNvSpPr>
                <a:spLocks noChangeArrowheads="1"/>
              </p:cNvSpPr>
              <p:nvPr/>
            </p:nvSpPr>
            <p:spPr bwMode="auto">
              <a:xfrm>
                <a:off x="6705600" y="5562600"/>
                <a:ext cx="381000" cy="363538"/>
              </a:xfrm>
              <a:prstGeom prst="rect">
                <a:avLst/>
              </a:prstGeom>
              <a:noFill/>
              <a:ln w="12700">
                <a:noFill/>
                <a:miter lim="800000"/>
                <a:headEnd/>
                <a:tailEnd/>
              </a:ln>
            </p:spPr>
            <p:txBody>
              <a:bodyPr lIns="90487" tIns="44450" rIns="90487" bIns="44450">
                <a:spAutoFit/>
              </a:bodyPr>
              <a:lstStyle/>
              <a:p>
                <a:pPr eaLnBrk="0" hangingPunct="0"/>
                <a:r>
                  <a:rPr lang="en-US" sz="1800" b="1"/>
                  <a:t>X</a:t>
                </a:r>
              </a:p>
            </p:txBody>
          </p:sp>
          <p:sp>
            <p:nvSpPr>
              <p:cNvPr id="359440" name="Rectangle 13"/>
              <p:cNvSpPr>
                <a:spLocks noChangeArrowheads="1"/>
              </p:cNvSpPr>
              <p:nvPr/>
            </p:nvSpPr>
            <p:spPr bwMode="auto">
              <a:xfrm>
                <a:off x="6567488" y="3821113"/>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359441" name="Rectangle 15"/>
              <p:cNvSpPr>
                <a:spLocks noChangeArrowheads="1"/>
              </p:cNvSpPr>
              <p:nvPr/>
            </p:nvSpPr>
            <p:spPr bwMode="auto">
              <a:xfrm>
                <a:off x="4800600" y="5791200"/>
                <a:ext cx="631582" cy="366767"/>
              </a:xfrm>
              <a:prstGeom prst="rect">
                <a:avLst/>
              </a:prstGeom>
              <a:noFill/>
              <a:ln w="12700">
                <a:noFill/>
                <a:miter lim="800000"/>
                <a:headEnd/>
                <a:tailEnd/>
              </a:ln>
            </p:spPr>
            <p:txBody>
              <a:bodyPr wrap="none" lIns="90487" tIns="44450" rIns="90487" bIns="44450">
                <a:spAutoFit/>
              </a:bodyPr>
              <a:lstStyle/>
              <a:p>
                <a:pPr eaLnBrk="0" hangingPunct="0"/>
                <a:r>
                  <a:rPr lang="en-US" sz="1800" b="1"/>
                  <a:t>18.0</a:t>
                </a:r>
                <a:endParaRPr lang="en-US" b="1"/>
              </a:p>
            </p:txBody>
          </p:sp>
          <p:sp>
            <p:nvSpPr>
              <p:cNvPr id="359442" name="Line 16"/>
              <p:cNvSpPr>
                <a:spLocks noChangeShapeType="1"/>
              </p:cNvSpPr>
              <p:nvPr/>
            </p:nvSpPr>
            <p:spPr bwMode="auto">
              <a:xfrm flipV="1">
                <a:off x="5029200" y="5562600"/>
                <a:ext cx="0" cy="228600"/>
              </a:xfrm>
              <a:prstGeom prst="line">
                <a:avLst/>
              </a:prstGeom>
              <a:noFill/>
              <a:ln w="12700">
                <a:solidFill>
                  <a:schemeClr val="tx1"/>
                </a:solidFill>
                <a:round/>
                <a:headEnd/>
                <a:tailEnd type="triangle" w="med" len="med"/>
              </a:ln>
            </p:spPr>
            <p:txBody>
              <a:bodyPr wrap="none" anchor="ctr"/>
              <a:lstStyle/>
              <a:p>
                <a:endParaRPr lang="en-US"/>
              </a:p>
            </p:txBody>
          </p:sp>
          <p:sp>
            <p:nvSpPr>
              <p:cNvPr id="359443" name="Line 17"/>
              <p:cNvSpPr>
                <a:spLocks noChangeShapeType="1"/>
              </p:cNvSpPr>
              <p:nvPr/>
            </p:nvSpPr>
            <p:spPr bwMode="auto">
              <a:xfrm flipV="1">
                <a:off x="5410200" y="5562600"/>
                <a:ext cx="0" cy="685800"/>
              </a:xfrm>
              <a:prstGeom prst="line">
                <a:avLst/>
              </a:prstGeom>
              <a:noFill/>
              <a:ln w="12700">
                <a:solidFill>
                  <a:schemeClr val="tx1"/>
                </a:solidFill>
                <a:round/>
                <a:headEnd/>
                <a:tailEnd type="triangle" w="med" len="med"/>
              </a:ln>
            </p:spPr>
            <p:txBody>
              <a:bodyPr wrap="none" anchor="ctr"/>
              <a:lstStyle/>
              <a:p>
                <a:endParaRPr lang="en-US"/>
              </a:p>
            </p:txBody>
          </p:sp>
        </p:gr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72" name="Rectangle 4"/>
          <p:cNvSpPr>
            <a:spLocks noGrp="1" noChangeArrowheads="1"/>
          </p:cNvSpPr>
          <p:nvPr>
            <p:ph type="ftr" sz="quarter" idx="10"/>
          </p:nvPr>
        </p:nvSpPr>
        <p:spPr>
          <a:noFill/>
        </p:spPr>
        <p:txBody>
          <a:bodyPr/>
          <a:lstStyle/>
          <a:p>
            <a:r>
              <a:rPr lang="en-US" smtClean="0"/>
              <a:t>Copyright ©2012 Pearson Education</a:t>
            </a:r>
          </a:p>
        </p:txBody>
      </p:sp>
      <p:sp>
        <p:nvSpPr>
          <p:cNvPr id="193573" name="Rectangle 5"/>
          <p:cNvSpPr>
            <a:spLocks noGrp="1" noChangeArrowheads="1"/>
          </p:cNvSpPr>
          <p:nvPr>
            <p:ph type="sldNum" sz="quarter" idx="11"/>
          </p:nvPr>
        </p:nvSpPr>
        <p:spPr>
          <a:noFill/>
        </p:spPr>
        <p:txBody>
          <a:bodyPr/>
          <a:lstStyle/>
          <a:p>
            <a:r>
              <a:rPr lang="en-US" smtClean="0"/>
              <a:t>Chap 6-</a:t>
            </a:r>
            <a:fld id="{BD394E19-8862-4264-AED1-3E50CD104520}" type="slidenum">
              <a:rPr lang="en-US" smtClean="0"/>
              <a:pPr/>
              <a:t>19</a:t>
            </a:fld>
            <a:endParaRPr lang="en-US" smtClean="0"/>
          </a:p>
        </p:txBody>
      </p:sp>
      <p:sp>
        <p:nvSpPr>
          <p:cNvPr id="193574" name="Slide Number Placeholder 2"/>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0A9A946B-3CC6-4267-A46A-FC84EEA9D83E}" type="slidenum">
              <a:rPr lang="en-US" sz="1000"/>
              <a:pPr algn="r" defTabSz="852488"/>
              <a:t>19</a:t>
            </a:fld>
            <a:endParaRPr lang="en-US" sz="1000"/>
          </a:p>
        </p:txBody>
      </p:sp>
      <p:sp>
        <p:nvSpPr>
          <p:cNvPr id="193575" name="Freeform 2"/>
          <p:cNvSpPr>
            <a:spLocks/>
          </p:cNvSpPr>
          <p:nvPr/>
        </p:nvSpPr>
        <p:spPr bwMode="auto">
          <a:xfrm>
            <a:off x="4914900" y="3976688"/>
            <a:ext cx="1562100" cy="1657350"/>
          </a:xfrm>
          <a:custGeom>
            <a:avLst/>
            <a:gdLst>
              <a:gd name="T0" fmla="*/ 1562100 w 984"/>
              <a:gd name="T1" fmla="*/ 1638300 h 1044"/>
              <a:gd name="T2" fmla="*/ 1557338 w 984"/>
              <a:gd name="T3" fmla="*/ 0 h 1044"/>
              <a:gd name="T4" fmla="*/ 1409700 w 984"/>
              <a:gd name="T5" fmla="*/ 114300 h 1044"/>
              <a:gd name="T6" fmla="*/ 1257300 w 984"/>
              <a:gd name="T7" fmla="*/ 266700 h 1044"/>
              <a:gd name="T8" fmla="*/ 1152525 w 984"/>
              <a:gd name="T9" fmla="*/ 482600 h 1044"/>
              <a:gd name="T10" fmla="*/ 1012825 w 984"/>
              <a:gd name="T11" fmla="*/ 717550 h 1044"/>
              <a:gd name="T12" fmla="*/ 930275 w 984"/>
              <a:gd name="T13" fmla="*/ 876300 h 1044"/>
              <a:gd name="T14" fmla="*/ 828675 w 984"/>
              <a:gd name="T15" fmla="*/ 1042987 h 1044"/>
              <a:gd name="T16" fmla="*/ 723900 w 984"/>
              <a:gd name="T17" fmla="*/ 1181100 h 1044"/>
              <a:gd name="T18" fmla="*/ 571500 w 984"/>
              <a:gd name="T19" fmla="*/ 1352550 h 1044"/>
              <a:gd name="T20" fmla="*/ 323850 w 984"/>
              <a:gd name="T21" fmla="*/ 1504950 h 1044"/>
              <a:gd name="T22" fmla="*/ 0 w 984"/>
              <a:gd name="T23" fmla="*/ 1562100 h 1044"/>
              <a:gd name="T24" fmla="*/ 4763 w 984"/>
              <a:gd name="T25" fmla="*/ 1657350 h 1044"/>
              <a:gd name="T26" fmla="*/ 1562100 w 984"/>
              <a:gd name="T27" fmla="*/ 1638300 h 10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4"/>
              <a:gd name="T43" fmla="*/ 0 h 1044"/>
              <a:gd name="T44" fmla="*/ 984 w 984"/>
              <a:gd name="T45" fmla="*/ 1044 h 10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4" h="1044">
                <a:moveTo>
                  <a:pt x="984" y="1032"/>
                </a:moveTo>
                <a:lnTo>
                  <a:pt x="981" y="0"/>
                </a:lnTo>
                <a:lnTo>
                  <a:pt x="888" y="72"/>
                </a:lnTo>
                <a:lnTo>
                  <a:pt x="792" y="168"/>
                </a:lnTo>
                <a:lnTo>
                  <a:pt x="726" y="304"/>
                </a:lnTo>
                <a:lnTo>
                  <a:pt x="638" y="452"/>
                </a:lnTo>
                <a:lnTo>
                  <a:pt x="586" y="552"/>
                </a:lnTo>
                <a:lnTo>
                  <a:pt x="522" y="657"/>
                </a:lnTo>
                <a:lnTo>
                  <a:pt x="456" y="744"/>
                </a:lnTo>
                <a:lnTo>
                  <a:pt x="360" y="852"/>
                </a:lnTo>
                <a:lnTo>
                  <a:pt x="204" y="948"/>
                </a:lnTo>
                <a:lnTo>
                  <a:pt x="0" y="984"/>
                </a:lnTo>
                <a:lnTo>
                  <a:pt x="3" y="1044"/>
                </a:lnTo>
                <a:lnTo>
                  <a:pt x="984" y="1032"/>
                </a:lnTo>
                <a:close/>
              </a:path>
            </a:pathLst>
          </a:custGeom>
          <a:solidFill>
            <a:srgbClr val="FF0000"/>
          </a:solidFill>
          <a:ln w="12700">
            <a:solidFill>
              <a:srgbClr val="FF0000"/>
            </a:solidFill>
            <a:round/>
            <a:headEnd/>
            <a:tailEnd/>
          </a:ln>
        </p:spPr>
        <p:txBody>
          <a:bodyPr/>
          <a:lstStyle/>
          <a:p>
            <a:endParaRPr lang="en-GB"/>
          </a:p>
        </p:txBody>
      </p:sp>
      <p:sp>
        <p:nvSpPr>
          <p:cNvPr id="193576" name="Freeform 3"/>
          <p:cNvSpPr>
            <a:spLocks/>
          </p:cNvSpPr>
          <p:nvPr/>
        </p:nvSpPr>
        <p:spPr bwMode="auto">
          <a:xfrm>
            <a:off x="647700" y="3995738"/>
            <a:ext cx="1562100" cy="1657350"/>
          </a:xfrm>
          <a:custGeom>
            <a:avLst/>
            <a:gdLst>
              <a:gd name="T0" fmla="*/ 1562100 w 984"/>
              <a:gd name="T1" fmla="*/ 1638300 h 1044"/>
              <a:gd name="T2" fmla="*/ 1557338 w 984"/>
              <a:gd name="T3" fmla="*/ 0 h 1044"/>
              <a:gd name="T4" fmla="*/ 1409700 w 984"/>
              <a:gd name="T5" fmla="*/ 114300 h 1044"/>
              <a:gd name="T6" fmla="*/ 1257300 w 984"/>
              <a:gd name="T7" fmla="*/ 266700 h 1044"/>
              <a:gd name="T8" fmla="*/ 1152525 w 984"/>
              <a:gd name="T9" fmla="*/ 482600 h 1044"/>
              <a:gd name="T10" fmla="*/ 1012825 w 984"/>
              <a:gd name="T11" fmla="*/ 717550 h 1044"/>
              <a:gd name="T12" fmla="*/ 930275 w 984"/>
              <a:gd name="T13" fmla="*/ 876300 h 1044"/>
              <a:gd name="T14" fmla="*/ 828675 w 984"/>
              <a:gd name="T15" fmla="*/ 1042987 h 1044"/>
              <a:gd name="T16" fmla="*/ 723900 w 984"/>
              <a:gd name="T17" fmla="*/ 1181100 h 1044"/>
              <a:gd name="T18" fmla="*/ 571500 w 984"/>
              <a:gd name="T19" fmla="*/ 1352550 h 1044"/>
              <a:gd name="T20" fmla="*/ 323850 w 984"/>
              <a:gd name="T21" fmla="*/ 1504950 h 1044"/>
              <a:gd name="T22" fmla="*/ 0 w 984"/>
              <a:gd name="T23" fmla="*/ 1562100 h 1044"/>
              <a:gd name="T24" fmla="*/ 4763 w 984"/>
              <a:gd name="T25" fmla="*/ 1657350 h 1044"/>
              <a:gd name="T26" fmla="*/ 1562100 w 984"/>
              <a:gd name="T27" fmla="*/ 1638300 h 10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4"/>
              <a:gd name="T43" fmla="*/ 0 h 1044"/>
              <a:gd name="T44" fmla="*/ 984 w 984"/>
              <a:gd name="T45" fmla="*/ 1044 h 10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4" h="1044">
                <a:moveTo>
                  <a:pt x="984" y="1032"/>
                </a:moveTo>
                <a:lnTo>
                  <a:pt x="981" y="0"/>
                </a:lnTo>
                <a:lnTo>
                  <a:pt x="888" y="72"/>
                </a:lnTo>
                <a:lnTo>
                  <a:pt x="792" y="168"/>
                </a:lnTo>
                <a:lnTo>
                  <a:pt x="726" y="304"/>
                </a:lnTo>
                <a:lnTo>
                  <a:pt x="638" y="452"/>
                </a:lnTo>
                <a:lnTo>
                  <a:pt x="586" y="552"/>
                </a:lnTo>
                <a:lnTo>
                  <a:pt x="522" y="657"/>
                </a:lnTo>
                <a:lnTo>
                  <a:pt x="456" y="744"/>
                </a:lnTo>
                <a:lnTo>
                  <a:pt x="360" y="852"/>
                </a:lnTo>
                <a:lnTo>
                  <a:pt x="204" y="948"/>
                </a:lnTo>
                <a:lnTo>
                  <a:pt x="0" y="984"/>
                </a:lnTo>
                <a:lnTo>
                  <a:pt x="3" y="1044"/>
                </a:lnTo>
                <a:lnTo>
                  <a:pt x="984" y="1032"/>
                </a:lnTo>
                <a:close/>
              </a:path>
            </a:pathLst>
          </a:custGeom>
          <a:solidFill>
            <a:srgbClr val="FF0000"/>
          </a:solidFill>
          <a:ln w="12700">
            <a:solidFill>
              <a:srgbClr val="FF0000"/>
            </a:solidFill>
            <a:round/>
            <a:headEnd/>
            <a:tailEnd/>
          </a:ln>
        </p:spPr>
        <p:txBody>
          <a:bodyPr/>
          <a:lstStyle/>
          <a:p>
            <a:endParaRPr lang="en-GB"/>
          </a:p>
        </p:txBody>
      </p:sp>
      <p:sp>
        <p:nvSpPr>
          <p:cNvPr id="193577" name="Rectangle 4"/>
          <p:cNvSpPr>
            <a:spLocks noGrp="1" noChangeArrowheads="1"/>
          </p:cNvSpPr>
          <p:nvPr>
            <p:ph type="body" idx="4294967295"/>
          </p:nvPr>
        </p:nvSpPr>
        <p:spPr>
          <a:xfrm>
            <a:off x="762000" y="1524000"/>
            <a:ext cx="8077200" cy="1090613"/>
          </a:xfrm>
        </p:spPr>
        <p:txBody>
          <a:bodyPr/>
          <a:lstStyle/>
          <a:p>
            <a:pPr marL="571500" indent="-571500" defTabSz="914400" eaLnBrk="1" hangingPunct="1">
              <a:lnSpc>
                <a:spcPct val="80000"/>
              </a:lnSpc>
            </a:pPr>
            <a:r>
              <a:rPr lang="en-US" sz="1800" smtClean="0"/>
              <a:t>Let X represent the time it takes, in seconds to download an image file from the internet.</a:t>
            </a:r>
          </a:p>
          <a:p>
            <a:pPr marL="571500" indent="-571500" defTabSz="914400" eaLnBrk="1" hangingPunct="1">
              <a:lnSpc>
                <a:spcPct val="80000"/>
              </a:lnSpc>
            </a:pPr>
            <a:r>
              <a:rPr lang="en-US" sz="1800" smtClean="0"/>
              <a:t>Suppose X is normal with a mean of 18.0 seconds and a standard deviation of 5.0 seconds.  </a:t>
            </a:r>
            <a:r>
              <a:rPr lang="en-US" sz="1800" smtClean="0">
                <a:solidFill>
                  <a:schemeClr val="folHlink"/>
                </a:solidFill>
              </a:rPr>
              <a:t>Find P(X &lt; 18.6)</a:t>
            </a:r>
          </a:p>
          <a:p>
            <a:pPr marL="571500" indent="-571500" defTabSz="914400" eaLnBrk="1" hangingPunct="1">
              <a:lnSpc>
                <a:spcPct val="90000"/>
              </a:lnSpc>
            </a:pPr>
            <a:endParaRPr lang="en-US" sz="1800" smtClean="0">
              <a:solidFill>
                <a:schemeClr val="folHlink"/>
              </a:solidFill>
            </a:endParaRPr>
          </a:p>
        </p:txBody>
      </p:sp>
      <p:sp>
        <p:nvSpPr>
          <p:cNvPr id="193578" name="Freeform 6"/>
          <p:cNvSpPr>
            <a:spLocks/>
          </p:cNvSpPr>
          <p:nvPr/>
        </p:nvSpPr>
        <p:spPr bwMode="auto">
          <a:xfrm>
            <a:off x="6472238" y="5405438"/>
            <a:ext cx="320675" cy="242887"/>
          </a:xfrm>
          <a:custGeom>
            <a:avLst/>
            <a:gdLst>
              <a:gd name="T0" fmla="*/ 19050 w 202"/>
              <a:gd name="T1" fmla="*/ 223837 h 153"/>
              <a:gd name="T2" fmla="*/ 166687 w 202"/>
              <a:gd name="T3" fmla="*/ 230187 h 153"/>
              <a:gd name="T4" fmla="*/ 257175 w 202"/>
              <a:gd name="T5" fmla="*/ 228600 h 153"/>
              <a:gd name="T6" fmla="*/ 304800 w 202"/>
              <a:gd name="T7" fmla="*/ 233362 h 153"/>
              <a:gd name="T8" fmla="*/ 319088 w 202"/>
              <a:gd name="T9" fmla="*/ 209550 h 153"/>
              <a:gd name="T10" fmla="*/ 296863 w 202"/>
              <a:gd name="T11" fmla="*/ 38100 h 153"/>
              <a:gd name="T12" fmla="*/ 238125 w 202"/>
              <a:gd name="T13" fmla="*/ 0 h 153"/>
              <a:gd name="T14" fmla="*/ 111125 w 202"/>
              <a:gd name="T15" fmla="*/ 73025 h 153"/>
              <a:gd name="T16" fmla="*/ 80962 w 202"/>
              <a:gd name="T17" fmla="*/ 82550 h 153"/>
              <a:gd name="T18" fmla="*/ 42862 w 202"/>
              <a:gd name="T19" fmla="*/ 90487 h 153"/>
              <a:gd name="T20" fmla="*/ 11112 w 202"/>
              <a:gd name="T21" fmla="*/ 115887 h 153"/>
              <a:gd name="T22" fmla="*/ 0 w 202"/>
              <a:gd name="T23" fmla="*/ 142875 h 153"/>
              <a:gd name="T24" fmla="*/ 1588 w 202"/>
              <a:gd name="T25" fmla="*/ 211137 h 153"/>
              <a:gd name="T26" fmla="*/ 19050 w 202"/>
              <a:gd name="T27" fmla="*/ 223837 h 1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2"/>
              <a:gd name="T43" fmla="*/ 0 h 153"/>
              <a:gd name="T44" fmla="*/ 202 w 202"/>
              <a:gd name="T45" fmla="*/ 153 h 1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2" h="153">
                <a:moveTo>
                  <a:pt x="12" y="141"/>
                </a:moveTo>
                <a:cubicBezTo>
                  <a:pt x="39" y="153"/>
                  <a:pt x="79" y="146"/>
                  <a:pt x="105" y="145"/>
                </a:cubicBezTo>
                <a:cubicBezTo>
                  <a:pt x="127" y="143"/>
                  <a:pt x="135" y="143"/>
                  <a:pt x="162" y="144"/>
                </a:cubicBezTo>
                <a:cubicBezTo>
                  <a:pt x="172" y="148"/>
                  <a:pt x="181" y="148"/>
                  <a:pt x="192" y="147"/>
                </a:cubicBezTo>
                <a:cubicBezTo>
                  <a:pt x="200" y="136"/>
                  <a:pt x="198" y="142"/>
                  <a:pt x="201" y="132"/>
                </a:cubicBezTo>
                <a:cubicBezTo>
                  <a:pt x="200" y="102"/>
                  <a:pt x="202" y="55"/>
                  <a:pt x="187" y="24"/>
                </a:cubicBezTo>
                <a:cubicBezTo>
                  <a:pt x="185" y="7"/>
                  <a:pt x="165" y="1"/>
                  <a:pt x="150" y="0"/>
                </a:cubicBezTo>
                <a:cubicBezTo>
                  <a:pt x="116" y="2"/>
                  <a:pt x="102" y="41"/>
                  <a:pt x="70" y="46"/>
                </a:cubicBezTo>
                <a:cubicBezTo>
                  <a:pt x="63" y="49"/>
                  <a:pt x="58" y="51"/>
                  <a:pt x="51" y="52"/>
                </a:cubicBezTo>
                <a:cubicBezTo>
                  <a:pt x="43" y="55"/>
                  <a:pt x="36" y="56"/>
                  <a:pt x="27" y="57"/>
                </a:cubicBezTo>
                <a:cubicBezTo>
                  <a:pt x="19" y="62"/>
                  <a:pt x="14" y="67"/>
                  <a:pt x="7" y="73"/>
                </a:cubicBezTo>
                <a:cubicBezTo>
                  <a:pt x="0" y="87"/>
                  <a:pt x="2" y="81"/>
                  <a:pt x="0" y="90"/>
                </a:cubicBezTo>
                <a:cubicBezTo>
                  <a:pt x="0" y="104"/>
                  <a:pt x="0" y="119"/>
                  <a:pt x="1" y="133"/>
                </a:cubicBezTo>
                <a:cubicBezTo>
                  <a:pt x="1" y="138"/>
                  <a:pt x="8" y="147"/>
                  <a:pt x="12" y="141"/>
                </a:cubicBezTo>
                <a:close/>
              </a:path>
            </a:pathLst>
          </a:custGeom>
          <a:solidFill>
            <a:srgbClr val="FF0000"/>
          </a:solidFill>
          <a:ln w="12700">
            <a:solidFill>
              <a:srgbClr val="FF0000"/>
            </a:solidFill>
            <a:round/>
            <a:headEnd/>
            <a:tailEnd/>
          </a:ln>
        </p:spPr>
        <p:txBody>
          <a:bodyPr/>
          <a:lstStyle/>
          <a:p>
            <a:endParaRPr lang="en-GB"/>
          </a:p>
        </p:txBody>
      </p:sp>
      <p:sp>
        <p:nvSpPr>
          <p:cNvPr id="193579" name="Freeform 7"/>
          <p:cNvSpPr>
            <a:spLocks/>
          </p:cNvSpPr>
          <p:nvPr/>
        </p:nvSpPr>
        <p:spPr bwMode="auto">
          <a:xfrm>
            <a:off x="6432550" y="3989388"/>
            <a:ext cx="366713" cy="1625600"/>
          </a:xfrm>
          <a:custGeom>
            <a:avLst/>
            <a:gdLst>
              <a:gd name="T0" fmla="*/ 39688 w 231"/>
              <a:gd name="T1" fmla="*/ 1562100 h 1024"/>
              <a:gd name="T2" fmla="*/ 58738 w 231"/>
              <a:gd name="T3" fmla="*/ 908050 h 1024"/>
              <a:gd name="T4" fmla="*/ 52388 w 231"/>
              <a:gd name="T5" fmla="*/ 539750 h 1024"/>
              <a:gd name="T6" fmla="*/ 46038 w 231"/>
              <a:gd name="T7" fmla="*/ 222250 h 1024"/>
              <a:gd name="T8" fmla="*/ 65088 w 231"/>
              <a:gd name="T9" fmla="*/ 6350 h 1024"/>
              <a:gd name="T10" fmla="*/ 211138 w 231"/>
              <a:gd name="T11" fmla="*/ 44450 h 1024"/>
              <a:gd name="T12" fmla="*/ 242888 w 231"/>
              <a:gd name="T13" fmla="*/ 69850 h 1024"/>
              <a:gd name="T14" fmla="*/ 255588 w 231"/>
              <a:gd name="T15" fmla="*/ 88900 h 1024"/>
              <a:gd name="T16" fmla="*/ 274638 w 231"/>
              <a:gd name="T17" fmla="*/ 101600 h 1024"/>
              <a:gd name="T18" fmla="*/ 331788 w 231"/>
              <a:gd name="T19" fmla="*/ 177800 h 1024"/>
              <a:gd name="T20" fmla="*/ 350838 w 231"/>
              <a:gd name="T21" fmla="*/ 215900 h 1024"/>
              <a:gd name="T22" fmla="*/ 338138 w 231"/>
              <a:gd name="T23" fmla="*/ 342900 h 1024"/>
              <a:gd name="T24" fmla="*/ 357188 w 231"/>
              <a:gd name="T25" fmla="*/ 596900 h 1024"/>
              <a:gd name="T26" fmla="*/ 350838 w 231"/>
              <a:gd name="T27" fmla="*/ 704850 h 1024"/>
              <a:gd name="T28" fmla="*/ 338138 w 231"/>
              <a:gd name="T29" fmla="*/ 742950 h 1024"/>
              <a:gd name="T30" fmla="*/ 331788 w 231"/>
              <a:gd name="T31" fmla="*/ 1009650 h 1024"/>
              <a:gd name="T32" fmla="*/ 350838 w 231"/>
              <a:gd name="T33" fmla="*/ 946150 h 1024"/>
              <a:gd name="T34" fmla="*/ 274638 w 231"/>
              <a:gd name="T35" fmla="*/ 1555750 h 1024"/>
              <a:gd name="T36" fmla="*/ 39688 w 231"/>
              <a:gd name="T37" fmla="*/ 1562100 h 102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1"/>
              <a:gd name="T58" fmla="*/ 0 h 1024"/>
              <a:gd name="T59" fmla="*/ 231 w 231"/>
              <a:gd name="T60" fmla="*/ 1024 h 102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1" h="1024">
                <a:moveTo>
                  <a:pt x="25" y="984"/>
                </a:moveTo>
                <a:cubicBezTo>
                  <a:pt x="28" y="847"/>
                  <a:pt x="34" y="709"/>
                  <a:pt x="37" y="572"/>
                </a:cubicBezTo>
                <a:cubicBezTo>
                  <a:pt x="33" y="476"/>
                  <a:pt x="30" y="440"/>
                  <a:pt x="33" y="340"/>
                </a:cubicBezTo>
                <a:cubicBezTo>
                  <a:pt x="30" y="269"/>
                  <a:pt x="25" y="210"/>
                  <a:pt x="29" y="140"/>
                </a:cubicBezTo>
                <a:cubicBezTo>
                  <a:pt x="28" y="100"/>
                  <a:pt x="0" y="32"/>
                  <a:pt x="41" y="4"/>
                </a:cubicBezTo>
                <a:cubicBezTo>
                  <a:pt x="122" y="9"/>
                  <a:pt x="91" y="0"/>
                  <a:pt x="133" y="28"/>
                </a:cubicBezTo>
                <a:cubicBezTo>
                  <a:pt x="156" y="62"/>
                  <a:pt x="125" y="22"/>
                  <a:pt x="153" y="44"/>
                </a:cubicBezTo>
                <a:cubicBezTo>
                  <a:pt x="157" y="47"/>
                  <a:pt x="158" y="53"/>
                  <a:pt x="161" y="56"/>
                </a:cubicBezTo>
                <a:cubicBezTo>
                  <a:pt x="164" y="59"/>
                  <a:pt x="169" y="61"/>
                  <a:pt x="173" y="64"/>
                </a:cubicBezTo>
                <a:cubicBezTo>
                  <a:pt x="185" y="82"/>
                  <a:pt x="194" y="97"/>
                  <a:pt x="209" y="112"/>
                </a:cubicBezTo>
                <a:cubicBezTo>
                  <a:pt x="212" y="120"/>
                  <a:pt x="221" y="127"/>
                  <a:pt x="221" y="136"/>
                </a:cubicBezTo>
                <a:cubicBezTo>
                  <a:pt x="221" y="163"/>
                  <a:pt x="213" y="216"/>
                  <a:pt x="213" y="216"/>
                </a:cubicBezTo>
                <a:cubicBezTo>
                  <a:pt x="215" y="282"/>
                  <a:pt x="217" y="319"/>
                  <a:pt x="225" y="376"/>
                </a:cubicBezTo>
                <a:cubicBezTo>
                  <a:pt x="224" y="399"/>
                  <a:pt x="224" y="421"/>
                  <a:pt x="221" y="444"/>
                </a:cubicBezTo>
                <a:cubicBezTo>
                  <a:pt x="220" y="452"/>
                  <a:pt x="213" y="468"/>
                  <a:pt x="213" y="468"/>
                </a:cubicBezTo>
                <a:cubicBezTo>
                  <a:pt x="207" y="564"/>
                  <a:pt x="209" y="508"/>
                  <a:pt x="209" y="636"/>
                </a:cubicBezTo>
                <a:cubicBezTo>
                  <a:pt x="213" y="623"/>
                  <a:pt x="222" y="582"/>
                  <a:pt x="221" y="596"/>
                </a:cubicBezTo>
                <a:cubicBezTo>
                  <a:pt x="208" y="724"/>
                  <a:pt x="231" y="865"/>
                  <a:pt x="173" y="980"/>
                </a:cubicBezTo>
                <a:cubicBezTo>
                  <a:pt x="151" y="1024"/>
                  <a:pt x="74" y="983"/>
                  <a:pt x="25" y="984"/>
                </a:cubicBezTo>
                <a:close/>
              </a:path>
            </a:pathLst>
          </a:custGeom>
          <a:solidFill>
            <a:srgbClr val="FF0000"/>
          </a:solidFill>
          <a:ln w="12700">
            <a:solidFill>
              <a:srgbClr val="FF0000"/>
            </a:solidFill>
            <a:round/>
            <a:headEnd/>
            <a:tailEnd/>
          </a:ln>
        </p:spPr>
        <p:txBody>
          <a:bodyPr/>
          <a:lstStyle/>
          <a:p>
            <a:endParaRPr lang="en-GB"/>
          </a:p>
        </p:txBody>
      </p:sp>
      <p:sp>
        <p:nvSpPr>
          <p:cNvPr id="193580" name="Line 8"/>
          <p:cNvSpPr>
            <a:spLocks noChangeShapeType="1"/>
          </p:cNvSpPr>
          <p:nvPr/>
        </p:nvSpPr>
        <p:spPr bwMode="auto">
          <a:xfrm>
            <a:off x="6783388" y="4249738"/>
            <a:ext cx="0" cy="1371600"/>
          </a:xfrm>
          <a:prstGeom prst="line">
            <a:avLst/>
          </a:prstGeom>
          <a:noFill/>
          <a:ln w="63500">
            <a:solidFill>
              <a:srgbClr val="FF0000"/>
            </a:solidFill>
            <a:round/>
            <a:headEnd/>
            <a:tailEnd/>
          </a:ln>
        </p:spPr>
        <p:txBody>
          <a:bodyPr wrap="none" anchor="ctr"/>
          <a:lstStyle/>
          <a:p>
            <a:endParaRPr lang="en-US"/>
          </a:p>
        </p:txBody>
      </p:sp>
      <p:sp>
        <p:nvSpPr>
          <p:cNvPr id="193581" name="Line 9"/>
          <p:cNvSpPr>
            <a:spLocks noChangeShapeType="1"/>
          </p:cNvSpPr>
          <p:nvPr/>
        </p:nvSpPr>
        <p:spPr bwMode="auto">
          <a:xfrm>
            <a:off x="6478588" y="4021138"/>
            <a:ext cx="0" cy="1600200"/>
          </a:xfrm>
          <a:prstGeom prst="line">
            <a:avLst/>
          </a:prstGeom>
          <a:noFill/>
          <a:ln w="31750">
            <a:solidFill>
              <a:schemeClr val="tx1"/>
            </a:solidFill>
            <a:round/>
            <a:headEnd/>
            <a:tailEnd/>
          </a:ln>
        </p:spPr>
        <p:txBody>
          <a:bodyPr wrap="none" anchor="ctr"/>
          <a:lstStyle/>
          <a:p>
            <a:endParaRPr lang="en-US"/>
          </a:p>
        </p:txBody>
      </p:sp>
      <p:sp>
        <p:nvSpPr>
          <p:cNvPr id="193582" name="Freeform 10"/>
          <p:cNvSpPr>
            <a:spLocks/>
          </p:cNvSpPr>
          <p:nvPr/>
        </p:nvSpPr>
        <p:spPr bwMode="auto">
          <a:xfrm>
            <a:off x="6513513" y="3976688"/>
            <a:ext cx="1635125" cy="1573212"/>
          </a:xfrm>
          <a:custGeom>
            <a:avLst/>
            <a:gdLst>
              <a:gd name="T0" fmla="*/ 1633538 w 1030"/>
              <a:gd name="T1" fmla="*/ 1571625 h 991"/>
              <a:gd name="T2" fmla="*/ 1462087 w 1030"/>
              <a:gd name="T3" fmla="*/ 1555750 h 991"/>
              <a:gd name="T4" fmla="*/ 1374775 w 1030"/>
              <a:gd name="T5" fmla="*/ 1535112 h 991"/>
              <a:gd name="T6" fmla="*/ 1290637 w 1030"/>
              <a:gd name="T7" fmla="*/ 1511300 h 991"/>
              <a:gd name="T8" fmla="*/ 1203325 w 1030"/>
              <a:gd name="T9" fmla="*/ 1474787 h 991"/>
              <a:gd name="T10" fmla="*/ 1116012 w 1030"/>
              <a:gd name="T11" fmla="*/ 1423987 h 991"/>
              <a:gd name="T12" fmla="*/ 1033462 w 1030"/>
              <a:gd name="T13" fmla="*/ 1360487 h 991"/>
              <a:gd name="T14" fmla="*/ 858837 w 1030"/>
              <a:gd name="T15" fmla="*/ 1179512 h 991"/>
              <a:gd name="T16" fmla="*/ 687387 w 1030"/>
              <a:gd name="T17" fmla="*/ 922337 h 991"/>
              <a:gd name="T18" fmla="*/ 515937 w 1030"/>
              <a:gd name="T19" fmla="*/ 612775 h 991"/>
              <a:gd name="T20" fmla="*/ 428625 w 1030"/>
              <a:gd name="T21" fmla="*/ 455612 h 991"/>
              <a:gd name="T22" fmla="*/ 341312 w 1030"/>
              <a:gd name="T23" fmla="*/ 311150 h 991"/>
              <a:gd name="T24" fmla="*/ 258762 w 1030"/>
              <a:gd name="T25" fmla="*/ 184150 h 991"/>
              <a:gd name="T26" fmla="*/ 171450 w 1030"/>
              <a:gd name="T27" fmla="*/ 84137 h 991"/>
              <a:gd name="T28" fmla="*/ 84137 w 1030"/>
              <a:gd name="T29" fmla="*/ 20637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a:solidFill>
              <a:srgbClr val="008000"/>
            </a:solidFill>
            <a:round/>
            <a:headEnd/>
            <a:tailEnd/>
          </a:ln>
        </p:spPr>
        <p:txBody>
          <a:bodyPr/>
          <a:lstStyle/>
          <a:p>
            <a:endParaRPr lang="en-GB"/>
          </a:p>
        </p:txBody>
      </p:sp>
      <p:sp>
        <p:nvSpPr>
          <p:cNvPr id="193583" name="Freeform 11"/>
          <p:cNvSpPr>
            <a:spLocks/>
          </p:cNvSpPr>
          <p:nvPr/>
        </p:nvSpPr>
        <p:spPr bwMode="auto">
          <a:xfrm>
            <a:off x="4876800" y="3976688"/>
            <a:ext cx="1638300" cy="1573212"/>
          </a:xfrm>
          <a:custGeom>
            <a:avLst/>
            <a:gdLst>
              <a:gd name="T0" fmla="*/ 0 w 1032"/>
              <a:gd name="T1" fmla="*/ 1571625 h 991"/>
              <a:gd name="T2" fmla="*/ 171450 w 1032"/>
              <a:gd name="T3" fmla="*/ 1555750 h 991"/>
              <a:gd name="T4" fmla="*/ 258762 w 1032"/>
              <a:gd name="T5" fmla="*/ 1535112 h 991"/>
              <a:gd name="T6" fmla="*/ 346075 w 1032"/>
              <a:gd name="T7" fmla="*/ 1511300 h 991"/>
              <a:gd name="T8" fmla="*/ 430212 w 1032"/>
              <a:gd name="T9" fmla="*/ 1474787 h 991"/>
              <a:gd name="T10" fmla="*/ 517525 w 1032"/>
              <a:gd name="T11" fmla="*/ 1423987 h 991"/>
              <a:gd name="T12" fmla="*/ 604837 w 1032"/>
              <a:gd name="T13" fmla="*/ 1360487 h 991"/>
              <a:gd name="T14" fmla="*/ 774700 w 1032"/>
              <a:gd name="T15" fmla="*/ 1179512 h 991"/>
              <a:gd name="T16" fmla="*/ 946150 w 1032"/>
              <a:gd name="T17" fmla="*/ 922337 h 991"/>
              <a:gd name="T18" fmla="*/ 1120775 w 1032"/>
              <a:gd name="T19" fmla="*/ 612775 h 991"/>
              <a:gd name="T20" fmla="*/ 1204912 w 1032"/>
              <a:gd name="T21" fmla="*/ 455612 h 991"/>
              <a:gd name="T22" fmla="*/ 1292225 w 1032"/>
              <a:gd name="T23" fmla="*/ 311150 h 991"/>
              <a:gd name="T24" fmla="*/ 1377950 w 1032"/>
              <a:gd name="T25" fmla="*/ 184150 h 991"/>
              <a:gd name="T26" fmla="*/ 1462087 w 1032"/>
              <a:gd name="T27" fmla="*/ 84137 h 991"/>
              <a:gd name="T28" fmla="*/ 1549400 w 1032"/>
              <a:gd name="T29" fmla="*/ 20637 h 991"/>
              <a:gd name="T30" fmla="*/ 1636713 w 1032"/>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2"/>
              <a:gd name="T49" fmla="*/ 0 h 991"/>
              <a:gd name="T50" fmla="*/ 1032 w 1032"/>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2" h="991">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a:solidFill>
              <a:srgbClr val="008000"/>
            </a:solidFill>
            <a:round/>
            <a:headEnd/>
            <a:tailEnd/>
          </a:ln>
        </p:spPr>
        <p:txBody>
          <a:bodyPr/>
          <a:lstStyle/>
          <a:p>
            <a:endParaRPr lang="en-GB"/>
          </a:p>
        </p:txBody>
      </p:sp>
      <p:sp>
        <p:nvSpPr>
          <p:cNvPr id="193584" name="Freeform 12"/>
          <p:cNvSpPr>
            <a:spLocks/>
          </p:cNvSpPr>
          <p:nvPr/>
        </p:nvSpPr>
        <p:spPr bwMode="auto">
          <a:xfrm>
            <a:off x="4838700" y="5632450"/>
            <a:ext cx="3309938" cy="1588"/>
          </a:xfrm>
          <a:custGeom>
            <a:avLst/>
            <a:gdLst>
              <a:gd name="T0" fmla="*/ 0 w 2085"/>
              <a:gd name="T1" fmla="*/ 1588 h 1"/>
              <a:gd name="T2" fmla="*/ 39687 w 2085"/>
              <a:gd name="T3" fmla="*/ 0 h 1"/>
              <a:gd name="T4" fmla="*/ 3309938 w 2085"/>
              <a:gd name="T5" fmla="*/ 0 h 1"/>
              <a:gd name="T6" fmla="*/ 0 60000 65536"/>
              <a:gd name="T7" fmla="*/ 0 60000 65536"/>
              <a:gd name="T8" fmla="*/ 0 60000 65536"/>
              <a:gd name="T9" fmla="*/ 0 w 2085"/>
              <a:gd name="T10" fmla="*/ 0 h 1"/>
              <a:gd name="T11" fmla="*/ 2085 w 2085"/>
              <a:gd name="T12" fmla="*/ 1 h 1"/>
            </a:gdLst>
            <a:ahLst/>
            <a:cxnLst>
              <a:cxn ang="T6">
                <a:pos x="T0" y="T1"/>
              </a:cxn>
              <a:cxn ang="T7">
                <a:pos x="T2" y="T3"/>
              </a:cxn>
              <a:cxn ang="T8">
                <a:pos x="T4" y="T5"/>
              </a:cxn>
            </a:cxnLst>
            <a:rect l="T9" t="T10" r="T11" b="T12"/>
            <a:pathLst>
              <a:path w="2085" h="1">
                <a:moveTo>
                  <a:pt x="0" y="1"/>
                </a:moveTo>
                <a:lnTo>
                  <a:pt x="25" y="0"/>
                </a:lnTo>
                <a:lnTo>
                  <a:pt x="2085" y="0"/>
                </a:lnTo>
              </a:path>
            </a:pathLst>
          </a:custGeom>
          <a:noFill/>
          <a:ln w="50800" cap="rnd">
            <a:solidFill>
              <a:schemeClr val="tx1"/>
            </a:solidFill>
            <a:round/>
            <a:headEnd/>
            <a:tailEnd/>
          </a:ln>
        </p:spPr>
        <p:txBody>
          <a:bodyPr/>
          <a:lstStyle/>
          <a:p>
            <a:endParaRPr lang="en-GB"/>
          </a:p>
        </p:txBody>
      </p:sp>
      <p:sp>
        <p:nvSpPr>
          <p:cNvPr id="193585" name="Rectangle 13"/>
          <p:cNvSpPr>
            <a:spLocks noChangeArrowheads="1"/>
          </p:cNvSpPr>
          <p:nvPr/>
        </p:nvSpPr>
        <p:spPr bwMode="auto">
          <a:xfrm>
            <a:off x="2511425" y="4340225"/>
            <a:ext cx="92075" cy="184150"/>
          </a:xfrm>
          <a:prstGeom prst="rect">
            <a:avLst/>
          </a:prstGeom>
          <a:noFill/>
          <a:ln w="12700">
            <a:noFill/>
            <a:miter lim="800000"/>
            <a:headEnd/>
            <a:tailEnd/>
          </a:ln>
        </p:spPr>
        <p:txBody>
          <a:bodyPr wrap="none" anchor="ctr"/>
          <a:lstStyle/>
          <a:p>
            <a:pPr algn="ctr">
              <a:spcBef>
                <a:spcPct val="50000"/>
              </a:spcBef>
            </a:pPr>
            <a:endParaRPr lang="en-GB"/>
          </a:p>
        </p:txBody>
      </p:sp>
      <p:sp>
        <p:nvSpPr>
          <p:cNvPr id="193586" name="Rectangle 14"/>
          <p:cNvSpPr>
            <a:spLocks noChangeArrowheads="1"/>
          </p:cNvSpPr>
          <p:nvPr/>
        </p:nvSpPr>
        <p:spPr bwMode="auto">
          <a:xfrm>
            <a:off x="8153400" y="5576888"/>
            <a:ext cx="381000" cy="363537"/>
          </a:xfrm>
          <a:prstGeom prst="rect">
            <a:avLst/>
          </a:prstGeom>
          <a:noFill/>
          <a:ln w="12700">
            <a:noFill/>
            <a:miter lim="800000"/>
            <a:headEnd/>
            <a:tailEnd/>
          </a:ln>
        </p:spPr>
        <p:txBody>
          <a:bodyPr lIns="90487" tIns="44450" rIns="90487" bIns="44450">
            <a:spAutoFit/>
          </a:bodyPr>
          <a:lstStyle/>
          <a:p>
            <a:pPr eaLnBrk="0" hangingPunct="0"/>
            <a:r>
              <a:rPr lang="en-US" sz="1800" b="1">
                <a:solidFill>
                  <a:schemeClr val="folHlink"/>
                </a:solidFill>
              </a:rPr>
              <a:t>Z</a:t>
            </a:r>
          </a:p>
        </p:txBody>
      </p:sp>
      <p:sp>
        <p:nvSpPr>
          <p:cNvPr id="193587" name="Rectangle 15"/>
          <p:cNvSpPr>
            <a:spLocks noChangeArrowheads="1"/>
          </p:cNvSpPr>
          <p:nvPr/>
        </p:nvSpPr>
        <p:spPr bwMode="auto">
          <a:xfrm>
            <a:off x="6553200" y="5653088"/>
            <a:ext cx="625475" cy="363537"/>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chemeClr val="folHlink"/>
                </a:solidFill>
              </a:rPr>
              <a:t>0.12</a:t>
            </a:r>
            <a:endParaRPr lang="en-US" b="1">
              <a:solidFill>
                <a:schemeClr val="folHlink"/>
              </a:solidFill>
            </a:endParaRPr>
          </a:p>
        </p:txBody>
      </p:sp>
      <p:sp>
        <p:nvSpPr>
          <p:cNvPr id="193588" name="Rectangle 16"/>
          <p:cNvSpPr>
            <a:spLocks noChangeArrowheads="1"/>
          </p:cNvSpPr>
          <p:nvPr/>
        </p:nvSpPr>
        <p:spPr bwMode="auto">
          <a:xfrm>
            <a:off x="6248400" y="5653088"/>
            <a:ext cx="371475" cy="363537"/>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chemeClr val="folHlink"/>
                </a:solidFill>
              </a:rPr>
              <a:t> 0</a:t>
            </a:r>
            <a:endParaRPr lang="en-US" b="1">
              <a:solidFill>
                <a:schemeClr val="folHlink"/>
              </a:solidFill>
            </a:endParaRPr>
          </a:p>
        </p:txBody>
      </p:sp>
      <p:sp>
        <p:nvSpPr>
          <p:cNvPr id="193589" name="Freeform 17"/>
          <p:cNvSpPr>
            <a:spLocks/>
          </p:cNvSpPr>
          <p:nvPr/>
        </p:nvSpPr>
        <p:spPr bwMode="auto">
          <a:xfrm>
            <a:off x="2205038" y="5405438"/>
            <a:ext cx="320675" cy="242887"/>
          </a:xfrm>
          <a:custGeom>
            <a:avLst/>
            <a:gdLst>
              <a:gd name="T0" fmla="*/ 19050 w 202"/>
              <a:gd name="T1" fmla="*/ 223837 h 153"/>
              <a:gd name="T2" fmla="*/ 166687 w 202"/>
              <a:gd name="T3" fmla="*/ 230187 h 153"/>
              <a:gd name="T4" fmla="*/ 257175 w 202"/>
              <a:gd name="T5" fmla="*/ 228600 h 153"/>
              <a:gd name="T6" fmla="*/ 304800 w 202"/>
              <a:gd name="T7" fmla="*/ 233362 h 153"/>
              <a:gd name="T8" fmla="*/ 319088 w 202"/>
              <a:gd name="T9" fmla="*/ 209550 h 153"/>
              <a:gd name="T10" fmla="*/ 296863 w 202"/>
              <a:gd name="T11" fmla="*/ 38100 h 153"/>
              <a:gd name="T12" fmla="*/ 238125 w 202"/>
              <a:gd name="T13" fmla="*/ 0 h 153"/>
              <a:gd name="T14" fmla="*/ 111125 w 202"/>
              <a:gd name="T15" fmla="*/ 73025 h 153"/>
              <a:gd name="T16" fmla="*/ 80962 w 202"/>
              <a:gd name="T17" fmla="*/ 82550 h 153"/>
              <a:gd name="T18" fmla="*/ 42862 w 202"/>
              <a:gd name="T19" fmla="*/ 90487 h 153"/>
              <a:gd name="T20" fmla="*/ 11112 w 202"/>
              <a:gd name="T21" fmla="*/ 115887 h 153"/>
              <a:gd name="T22" fmla="*/ 0 w 202"/>
              <a:gd name="T23" fmla="*/ 142875 h 153"/>
              <a:gd name="T24" fmla="*/ 1588 w 202"/>
              <a:gd name="T25" fmla="*/ 211137 h 153"/>
              <a:gd name="T26" fmla="*/ 19050 w 202"/>
              <a:gd name="T27" fmla="*/ 223837 h 1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2"/>
              <a:gd name="T43" fmla="*/ 0 h 153"/>
              <a:gd name="T44" fmla="*/ 202 w 202"/>
              <a:gd name="T45" fmla="*/ 153 h 1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2" h="153">
                <a:moveTo>
                  <a:pt x="12" y="141"/>
                </a:moveTo>
                <a:cubicBezTo>
                  <a:pt x="39" y="153"/>
                  <a:pt x="79" y="146"/>
                  <a:pt x="105" y="145"/>
                </a:cubicBezTo>
                <a:cubicBezTo>
                  <a:pt x="127" y="143"/>
                  <a:pt x="135" y="143"/>
                  <a:pt x="162" y="144"/>
                </a:cubicBezTo>
                <a:cubicBezTo>
                  <a:pt x="172" y="148"/>
                  <a:pt x="181" y="148"/>
                  <a:pt x="192" y="147"/>
                </a:cubicBezTo>
                <a:cubicBezTo>
                  <a:pt x="200" y="136"/>
                  <a:pt x="198" y="142"/>
                  <a:pt x="201" y="132"/>
                </a:cubicBezTo>
                <a:cubicBezTo>
                  <a:pt x="200" y="102"/>
                  <a:pt x="202" y="55"/>
                  <a:pt x="187" y="24"/>
                </a:cubicBezTo>
                <a:cubicBezTo>
                  <a:pt x="185" y="7"/>
                  <a:pt x="165" y="1"/>
                  <a:pt x="150" y="0"/>
                </a:cubicBezTo>
                <a:cubicBezTo>
                  <a:pt x="116" y="2"/>
                  <a:pt x="102" y="41"/>
                  <a:pt x="70" y="46"/>
                </a:cubicBezTo>
                <a:cubicBezTo>
                  <a:pt x="63" y="49"/>
                  <a:pt x="58" y="51"/>
                  <a:pt x="51" y="52"/>
                </a:cubicBezTo>
                <a:cubicBezTo>
                  <a:pt x="43" y="55"/>
                  <a:pt x="36" y="56"/>
                  <a:pt x="27" y="57"/>
                </a:cubicBezTo>
                <a:cubicBezTo>
                  <a:pt x="19" y="62"/>
                  <a:pt x="14" y="67"/>
                  <a:pt x="7" y="73"/>
                </a:cubicBezTo>
                <a:cubicBezTo>
                  <a:pt x="0" y="87"/>
                  <a:pt x="2" y="81"/>
                  <a:pt x="0" y="90"/>
                </a:cubicBezTo>
                <a:cubicBezTo>
                  <a:pt x="0" y="104"/>
                  <a:pt x="0" y="119"/>
                  <a:pt x="1" y="133"/>
                </a:cubicBezTo>
                <a:cubicBezTo>
                  <a:pt x="1" y="138"/>
                  <a:pt x="8" y="147"/>
                  <a:pt x="12" y="141"/>
                </a:cubicBezTo>
                <a:close/>
              </a:path>
            </a:pathLst>
          </a:custGeom>
          <a:solidFill>
            <a:srgbClr val="FF0000"/>
          </a:solidFill>
          <a:ln w="12700">
            <a:solidFill>
              <a:srgbClr val="FF0000"/>
            </a:solidFill>
            <a:round/>
            <a:headEnd/>
            <a:tailEnd/>
          </a:ln>
        </p:spPr>
        <p:txBody>
          <a:bodyPr/>
          <a:lstStyle/>
          <a:p>
            <a:endParaRPr lang="en-GB"/>
          </a:p>
        </p:txBody>
      </p:sp>
      <p:sp>
        <p:nvSpPr>
          <p:cNvPr id="193590" name="Freeform 18"/>
          <p:cNvSpPr>
            <a:spLocks/>
          </p:cNvSpPr>
          <p:nvPr/>
        </p:nvSpPr>
        <p:spPr bwMode="auto">
          <a:xfrm>
            <a:off x="2165350" y="3989388"/>
            <a:ext cx="366713" cy="1625600"/>
          </a:xfrm>
          <a:custGeom>
            <a:avLst/>
            <a:gdLst>
              <a:gd name="T0" fmla="*/ 39688 w 231"/>
              <a:gd name="T1" fmla="*/ 1562100 h 1024"/>
              <a:gd name="T2" fmla="*/ 58738 w 231"/>
              <a:gd name="T3" fmla="*/ 908050 h 1024"/>
              <a:gd name="T4" fmla="*/ 52388 w 231"/>
              <a:gd name="T5" fmla="*/ 539750 h 1024"/>
              <a:gd name="T6" fmla="*/ 46038 w 231"/>
              <a:gd name="T7" fmla="*/ 222250 h 1024"/>
              <a:gd name="T8" fmla="*/ 65088 w 231"/>
              <a:gd name="T9" fmla="*/ 6350 h 1024"/>
              <a:gd name="T10" fmla="*/ 211138 w 231"/>
              <a:gd name="T11" fmla="*/ 44450 h 1024"/>
              <a:gd name="T12" fmla="*/ 242888 w 231"/>
              <a:gd name="T13" fmla="*/ 69850 h 1024"/>
              <a:gd name="T14" fmla="*/ 255588 w 231"/>
              <a:gd name="T15" fmla="*/ 88900 h 1024"/>
              <a:gd name="T16" fmla="*/ 274638 w 231"/>
              <a:gd name="T17" fmla="*/ 101600 h 1024"/>
              <a:gd name="T18" fmla="*/ 331788 w 231"/>
              <a:gd name="T19" fmla="*/ 177800 h 1024"/>
              <a:gd name="T20" fmla="*/ 350838 w 231"/>
              <a:gd name="T21" fmla="*/ 215900 h 1024"/>
              <a:gd name="T22" fmla="*/ 338138 w 231"/>
              <a:gd name="T23" fmla="*/ 342900 h 1024"/>
              <a:gd name="T24" fmla="*/ 357188 w 231"/>
              <a:gd name="T25" fmla="*/ 596900 h 1024"/>
              <a:gd name="T26" fmla="*/ 350838 w 231"/>
              <a:gd name="T27" fmla="*/ 704850 h 1024"/>
              <a:gd name="T28" fmla="*/ 338138 w 231"/>
              <a:gd name="T29" fmla="*/ 742950 h 1024"/>
              <a:gd name="T30" fmla="*/ 331788 w 231"/>
              <a:gd name="T31" fmla="*/ 1009650 h 1024"/>
              <a:gd name="T32" fmla="*/ 350838 w 231"/>
              <a:gd name="T33" fmla="*/ 946150 h 1024"/>
              <a:gd name="T34" fmla="*/ 274638 w 231"/>
              <a:gd name="T35" fmla="*/ 1555750 h 1024"/>
              <a:gd name="T36" fmla="*/ 39688 w 231"/>
              <a:gd name="T37" fmla="*/ 1562100 h 102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1"/>
              <a:gd name="T58" fmla="*/ 0 h 1024"/>
              <a:gd name="T59" fmla="*/ 231 w 231"/>
              <a:gd name="T60" fmla="*/ 1024 h 102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1" h="1024">
                <a:moveTo>
                  <a:pt x="25" y="984"/>
                </a:moveTo>
                <a:cubicBezTo>
                  <a:pt x="28" y="847"/>
                  <a:pt x="34" y="709"/>
                  <a:pt x="37" y="572"/>
                </a:cubicBezTo>
                <a:cubicBezTo>
                  <a:pt x="33" y="476"/>
                  <a:pt x="30" y="440"/>
                  <a:pt x="33" y="340"/>
                </a:cubicBezTo>
                <a:cubicBezTo>
                  <a:pt x="30" y="269"/>
                  <a:pt x="25" y="210"/>
                  <a:pt x="29" y="140"/>
                </a:cubicBezTo>
                <a:cubicBezTo>
                  <a:pt x="28" y="100"/>
                  <a:pt x="0" y="32"/>
                  <a:pt x="41" y="4"/>
                </a:cubicBezTo>
                <a:cubicBezTo>
                  <a:pt x="122" y="9"/>
                  <a:pt x="91" y="0"/>
                  <a:pt x="133" y="28"/>
                </a:cubicBezTo>
                <a:cubicBezTo>
                  <a:pt x="156" y="62"/>
                  <a:pt x="125" y="22"/>
                  <a:pt x="153" y="44"/>
                </a:cubicBezTo>
                <a:cubicBezTo>
                  <a:pt x="157" y="47"/>
                  <a:pt x="158" y="53"/>
                  <a:pt x="161" y="56"/>
                </a:cubicBezTo>
                <a:cubicBezTo>
                  <a:pt x="164" y="59"/>
                  <a:pt x="169" y="61"/>
                  <a:pt x="173" y="64"/>
                </a:cubicBezTo>
                <a:cubicBezTo>
                  <a:pt x="185" y="82"/>
                  <a:pt x="194" y="97"/>
                  <a:pt x="209" y="112"/>
                </a:cubicBezTo>
                <a:cubicBezTo>
                  <a:pt x="212" y="120"/>
                  <a:pt x="221" y="127"/>
                  <a:pt x="221" y="136"/>
                </a:cubicBezTo>
                <a:cubicBezTo>
                  <a:pt x="221" y="163"/>
                  <a:pt x="213" y="216"/>
                  <a:pt x="213" y="216"/>
                </a:cubicBezTo>
                <a:cubicBezTo>
                  <a:pt x="215" y="282"/>
                  <a:pt x="217" y="319"/>
                  <a:pt x="225" y="376"/>
                </a:cubicBezTo>
                <a:cubicBezTo>
                  <a:pt x="224" y="399"/>
                  <a:pt x="224" y="421"/>
                  <a:pt x="221" y="444"/>
                </a:cubicBezTo>
                <a:cubicBezTo>
                  <a:pt x="220" y="452"/>
                  <a:pt x="213" y="468"/>
                  <a:pt x="213" y="468"/>
                </a:cubicBezTo>
                <a:cubicBezTo>
                  <a:pt x="207" y="564"/>
                  <a:pt x="209" y="508"/>
                  <a:pt x="209" y="636"/>
                </a:cubicBezTo>
                <a:cubicBezTo>
                  <a:pt x="213" y="623"/>
                  <a:pt x="222" y="582"/>
                  <a:pt x="221" y="596"/>
                </a:cubicBezTo>
                <a:cubicBezTo>
                  <a:pt x="208" y="724"/>
                  <a:pt x="231" y="865"/>
                  <a:pt x="173" y="980"/>
                </a:cubicBezTo>
                <a:cubicBezTo>
                  <a:pt x="151" y="1024"/>
                  <a:pt x="74" y="983"/>
                  <a:pt x="25" y="984"/>
                </a:cubicBezTo>
                <a:close/>
              </a:path>
            </a:pathLst>
          </a:custGeom>
          <a:solidFill>
            <a:srgbClr val="FF0000"/>
          </a:solidFill>
          <a:ln w="12700">
            <a:solidFill>
              <a:srgbClr val="FF0000"/>
            </a:solidFill>
            <a:round/>
            <a:headEnd/>
            <a:tailEnd/>
          </a:ln>
        </p:spPr>
        <p:txBody>
          <a:bodyPr/>
          <a:lstStyle/>
          <a:p>
            <a:endParaRPr lang="en-GB"/>
          </a:p>
        </p:txBody>
      </p:sp>
      <p:sp>
        <p:nvSpPr>
          <p:cNvPr id="193591" name="Line 19"/>
          <p:cNvSpPr>
            <a:spLocks noChangeShapeType="1"/>
          </p:cNvSpPr>
          <p:nvPr/>
        </p:nvSpPr>
        <p:spPr bwMode="auto">
          <a:xfrm>
            <a:off x="2516188" y="4249738"/>
            <a:ext cx="0" cy="1371600"/>
          </a:xfrm>
          <a:prstGeom prst="line">
            <a:avLst/>
          </a:prstGeom>
          <a:noFill/>
          <a:ln w="63500">
            <a:solidFill>
              <a:srgbClr val="FF0000"/>
            </a:solidFill>
            <a:round/>
            <a:headEnd/>
            <a:tailEnd/>
          </a:ln>
        </p:spPr>
        <p:txBody>
          <a:bodyPr wrap="none" anchor="ctr"/>
          <a:lstStyle/>
          <a:p>
            <a:endParaRPr lang="en-US"/>
          </a:p>
        </p:txBody>
      </p:sp>
      <p:sp>
        <p:nvSpPr>
          <p:cNvPr id="193592" name="Line 20"/>
          <p:cNvSpPr>
            <a:spLocks noChangeShapeType="1"/>
          </p:cNvSpPr>
          <p:nvPr/>
        </p:nvSpPr>
        <p:spPr bwMode="auto">
          <a:xfrm>
            <a:off x="2211388" y="4021138"/>
            <a:ext cx="0" cy="1600200"/>
          </a:xfrm>
          <a:prstGeom prst="line">
            <a:avLst/>
          </a:prstGeom>
          <a:noFill/>
          <a:ln w="31750">
            <a:solidFill>
              <a:schemeClr val="tx1"/>
            </a:solidFill>
            <a:round/>
            <a:headEnd/>
            <a:tailEnd/>
          </a:ln>
        </p:spPr>
        <p:txBody>
          <a:bodyPr wrap="none" anchor="ctr"/>
          <a:lstStyle/>
          <a:p>
            <a:endParaRPr lang="en-US"/>
          </a:p>
        </p:txBody>
      </p:sp>
      <p:sp>
        <p:nvSpPr>
          <p:cNvPr id="193593" name="Freeform 21"/>
          <p:cNvSpPr>
            <a:spLocks/>
          </p:cNvSpPr>
          <p:nvPr/>
        </p:nvSpPr>
        <p:spPr bwMode="auto">
          <a:xfrm>
            <a:off x="2246313" y="3976688"/>
            <a:ext cx="1635125" cy="1573212"/>
          </a:xfrm>
          <a:custGeom>
            <a:avLst/>
            <a:gdLst>
              <a:gd name="T0" fmla="*/ 1633538 w 1030"/>
              <a:gd name="T1" fmla="*/ 1571625 h 991"/>
              <a:gd name="T2" fmla="*/ 1462087 w 1030"/>
              <a:gd name="T3" fmla="*/ 1555750 h 991"/>
              <a:gd name="T4" fmla="*/ 1374775 w 1030"/>
              <a:gd name="T5" fmla="*/ 1535112 h 991"/>
              <a:gd name="T6" fmla="*/ 1290637 w 1030"/>
              <a:gd name="T7" fmla="*/ 1511300 h 991"/>
              <a:gd name="T8" fmla="*/ 1203325 w 1030"/>
              <a:gd name="T9" fmla="*/ 1474787 h 991"/>
              <a:gd name="T10" fmla="*/ 1116012 w 1030"/>
              <a:gd name="T11" fmla="*/ 1423987 h 991"/>
              <a:gd name="T12" fmla="*/ 1033462 w 1030"/>
              <a:gd name="T13" fmla="*/ 1360487 h 991"/>
              <a:gd name="T14" fmla="*/ 858837 w 1030"/>
              <a:gd name="T15" fmla="*/ 1179512 h 991"/>
              <a:gd name="T16" fmla="*/ 687387 w 1030"/>
              <a:gd name="T17" fmla="*/ 922337 h 991"/>
              <a:gd name="T18" fmla="*/ 515937 w 1030"/>
              <a:gd name="T19" fmla="*/ 612775 h 991"/>
              <a:gd name="T20" fmla="*/ 428625 w 1030"/>
              <a:gd name="T21" fmla="*/ 455612 h 991"/>
              <a:gd name="T22" fmla="*/ 341312 w 1030"/>
              <a:gd name="T23" fmla="*/ 311150 h 991"/>
              <a:gd name="T24" fmla="*/ 258762 w 1030"/>
              <a:gd name="T25" fmla="*/ 184150 h 991"/>
              <a:gd name="T26" fmla="*/ 171450 w 1030"/>
              <a:gd name="T27" fmla="*/ 84137 h 991"/>
              <a:gd name="T28" fmla="*/ 84137 w 1030"/>
              <a:gd name="T29" fmla="*/ 20637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a:solidFill>
              <a:srgbClr val="008000"/>
            </a:solidFill>
            <a:round/>
            <a:headEnd/>
            <a:tailEnd/>
          </a:ln>
        </p:spPr>
        <p:txBody>
          <a:bodyPr/>
          <a:lstStyle/>
          <a:p>
            <a:endParaRPr lang="en-GB"/>
          </a:p>
        </p:txBody>
      </p:sp>
      <p:sp>
        <p:nvSpPr>
          <p:cNvPr id="193594" name="Freeform 22"/>
          <p:cNvSpPr>
            <a:spLocks/>
          </p:cNvSpPr>
          <p:nvPr/>
        </p:nvSpPr>
        <p:spPr bwMode="auto">
          <a:xfrm>
            <a:off x="609600" y="3976688"/>
            <a:ext cx="1638300" cy="1573212"/>
          </a:xfrm>
          <a:custGeom>
            <a:avLst/>
            <a:gdLst>
              <a:gd name="T0" fmla="*/ 0 w 1032"/>
              <a:gd name="T1" fmla="*/ 1571625 h 991"/>
              <a:gd name="T2" fmla="*/ 171450 w 1032"/>
              <a:gd name="T3" fmla="*/ 1555750 h 991"/>
              <a:gd name="T4" fmla="*/ 258762 w 1032"/>
              <a:gd name="T5" fmla="*/ 1535112 h 991"/>
              <a:gd name="T6" fmla="*/ 346075 w 1032"/>
              <a:gd name="T7" fmla="*/ 1511300 h 991"/>
              <a:gd name="T8" fmla="*/ 430212 w 1032"/>
              <a:gd name="T9" fmla="*/ 1474787 h 991"/>
              <a:gd name="T10" fmla="*/ 517525 w 1032"/>
              <a:gd name="T11" fmla="*/ 1423987 h 991"/>
              <a:gd name="T12" fmla="*/ 604837 w 1032"/>
              <a:gd name="T13" fmla="*/ 1360487 h 991"/>
              <a:gd name="T14" fmla="*/ 774700 w 1032"/>
              <a:gd name="T15" fmla="*/ 1179512 h 991"/>
              <a:gd name="T16" fmla="*/ 946150 w 1032"/>
              <a:gd name="T17" fmla="*/ 922337 h 991"/>
              <a:gd name="T18" fmla="*/ 1120775 w 1032"/>
              <a:gd name="T19" fmla="*/ 612775 h 991"/>
              <a:gd name="T20" fmla="*/ 1204912 w 1032"/>
              <a:gd name="T21" fmla="*/ 455612 h 991"/>
              <a:gd name="T22" fmla="*/ 1292225 w 1032"/>
              <a:gd name="T23" fmla="*/ 311150 h 991"/>
              <a:gd name="T24" fmla="*/ 1377950 w 1032"/>
              <a:gd name="T25" fmla="*/ 184150 h 991"/>
              <a:gd name="T26" fmla="*/ 1462087 w 1032"/>
              <a:gd name="T27" fmla="*/ 84137 h 991"/>
              <a:gd name="T28" fmla="*/ 1549400 w 1032"/>
              <a:gd name="T29" fmla="*/ 20637 h 991"/>
              <a:gd name="T30" fmla="*/ 1636713 w 1032"/>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2"/>
              <a:gd name="T49" fmla="*/ 0 h 991"/>
              <a:gd name="T50" fmla="*/ 1032 w 1032"/>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2" h="991">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a:solidFill>
              <a:srgbClr val="008000"/>
            </a:solidFill>
            <a:round/>
            <a:headEnd/>
            <a:tailEnd/>
          </a:ln>
        </p:spPr>
        <p:txBody>
          <a:bodyPr/>
          <a:lstStyle/>
          <a:p>
            <a:endParaRPr lang="en-GB"/>
          </a:p>
        </p:txBody>
      </p:sp>
      <p:sp>
        <p:nvSpPr>
          <p:cNvPr id="193595" name="Freeform 23"/>
          <p:cNvSpPr>
            <a:spLocks/>
          </p:cNvSpPr>
          <p:nvPr/>
        </p:nvSpPr>
        <p:spPr bwMode="auto">
          <a:xfrm>
            <a:off x="574675" y="5630863"/>
            <a:ext cx="3306763" cy="1587"/>
          </a:xfrm>
          <a:custGeom>
            <a:avLst/>
            <a:gdLst>
              <a:gd name="T0" fmla="*/ 0 w 2083"/>
              <a:gd name="T1" fmla="*/ 0 h 1"/>
              <a:gd name="T2" fmla="*/ 36513 w 2083"/>
              <a:gd name="T3" fmla="*/ 1587 h 1"/>
              <a:gd name="T4" fmla="*/ 3306763 w 2083"/>
              <a:gd name="T5" fmla="*/ 1587 h 1"/>
              <a:gd name="T6" fmla="*/ 0 60000 65536"/>
              <a:gd name="T7" fmla="*/ 0 60000 65536"/>
              <a:gd name="T8" fmla="*/ 0 60000 65536"/>
              <a:gd name="T9" fmla="*/ 0 w 2083"/>
              <a:gd name="T10" fmla="*/ 0 h 1"/>
              <a:gd name="T11" fmla="*/ 2083 w 2083"/>
              <a:gd name="T12" fmla="*/ 1 h 1"/>
            </a:gdLst>
            <a:ahLst/>
            <a:cxnLst>
              <a:cxn ang="T6">
                <a:pos x="T0" y="T1"/>
              </a:cxn>
              <a:cxn ang="T7">
                <a:pos x="T2" y="T3"/>
              </a:cxn>
              <a:cxn ang="T8">
                <a:pos x="T4" y="T5"/>
              </a:cxn>
            </a:cxnLst>
            <a:rect l="T9" t="T10" r="T11" b="T12"/>
            <a:pathLst>
              <a:path w="2083" h="1">
                <a:moveTo>
                  <a:pt x="0" y="0"/>
                </a:moveTo>
                <a:lnTo>
                  <a:pt x="23" y="1"/>
                </a:lnTo>
                <a:lnTo>
                  <a:pt x="2083" y="1"/>
                </a:lnTo>
              </a:path>
            </a:pathLst>
          </a:custGeom>
          <a:noFill/>
          <a:ln w="50800" cap="rnd">
            <a:solidFill>
              <a:schemeClr val="tx1"/>
            </a:solidFill>
            <a:round/>
            <a:headEnd/>
            <a:tailEnd/>
          </a:ln>
        </p:spPr>
        <p:txBody>
          <a:bodyPr/>
          <a:lstStyle/>
          <a:p>
            <a:endParaRPr lang="en-GB"/>
          </a:p>
        </p:txBody>
      </p:sp>
      <p:sp>
        <p:nvSpPr>
          <p:cNvPr id="193596" name="Rectangle 24"/>
          <p:cNvSpPr>
            <a:spLocks noChangeArrowheads="1"/>
          </p:cNvSpPr>
          <p:nvPr/>
        </p:nvSpPr>
        <p:spPr bwMode="auto">
          <a:xfrm>
            <a:off x="3810000" y="5576888"/>
            <a:ext cx="381000" cy="363537"/>
          </a:xfrm>
          <a:prstGeom prst="rect">
            <a:avLst/>
          </a:prstGeom>
          <a:noFill/>
          <a:ln w="12700">
            <a:noFill/>
            <a:miter lim="800000"/>
            <a:headEnd/>
            <a:tailEnd/>
          </a:ln>
        </p:spPr>
        <p:txBody>
          <a:bodyPr lIns="90487" tIns="44450" rIns="90487" bIns="44450">
            <a:spAutoFit/>
          </a:bodyPr>
          <a:lstStyle/>
          <a:p>
            <a:pPr eaLnBrk="0" hangingPunct="0"/>
            <a:r>
              <a:rPr lang="en-US" sz="1800" b="1"/>
              <a:t>X</a:t>
            </a:r>
          </a:p>
        </p:txBody>
      </p:sp>
      <p:sp>
        <p:nvSpPr>
          <p:cNvPr id="193597" name="Rectangle 25"/>
          <p:cNvSpPr>
            <a:spLocks noChangeArrowheads="1"/>
          </p:cNvSpPr>
          <p:nvPr/>
        </p:nvSpPr>
        <p:spPr bwMode="auto">
          <a:xfrm>
            <a:off x="2362200" y="5653088"/>
            <a:ext cx="631825" cy="366712"/>
          </a:xfrm>
          <a:prstGeom prst="rect">
            <a:avLst/>
          </a:prstGeom>
          <a:noFill/>
          <a:ln w="12700">
            <a:noFill/>
            <a:miter lim="800000"/>
            <a:headEnd/>
            <a:tailEnd/>
          </a:ln>
        </p:spPr>
        <p:txBody>
          <a:bodyPr wrap="none" lIns="90487" tIns="44450" rIns="90487" bIns="44450">
            <a:spAutoFit/>
          </a:bodyPr>
          <a:lstStyle/>
          <a:p>
            <a:pPr eaLnBrk="0" hangingPunct="0"/>
            <a:r>
              <a:rPr lang="en-US" sz="1800" b="1"/>
              <a:t>18.6</a:t>
            </a:r>
            <a:endParaRPr lang="en-US" b="1"/>
          </a:p>
        </p:txBody>
      </p:sp>
      <p:sp>
        <p:nvSpPr>
          <p:cNvPr id="193598" name="Rectangle 26"/>
          <p:cNvSpPr>
            <a:spLocks noChangeArrowheads="1"/>
          </p:cNvSpPr>
          <p:nvPr/>
        </p:nvSpPr>
        <p:spPr bwMode="auto">
          <a:xfrm>
            <a:off x="1981200" y="5653088"/>
            <a:ext cx="503238" cy="366712"/>
          </a:xfrm>
          <a:prstGeom prst="rect">
            <a:avLst/>
          </a:prstGeom>
          <a:noFill/>
          <a:ln w="12700">
            <a:noFill/>
            <a:miter lim="800000"/>
            <a:headEnd/>
            <a:tailEnd/>
          </a:ln>
        </p:spPr>
        <p:txBody>
          <a:bodyPr wrap="none" lIns="90487" tIns="44450" rIns="90487" bIns="44450">
            <a:spAutoFit/>
          </a:bodyPr>
          <a:lstStyle/>
          <a:p>
            <a:pPr eaLnBrk="0" hangingPunct="0"/>
            <a:r>
              <a:rPr lang="en-US" sz="1800" b="1"/>
              <a:t> 18</a:t>
            </a:r>
            <a:endParaRPr lang="en-US" b="1"/>
          </a:p>
        </p:txBody>
      </p:sp>
      <p:sp>
        <p:nvSpPr>
          <p:cNvPr id="193599" name="Text Box 28"/>
          <p:cNvSpPr txBox="1">
            <a:spLocks noChangeArrowheads="1"/>
          </p:cNvSpPr>
          <p:nvPr/>
        </p:nvSpPr>
        <p:spPr bwMode="auto">
          <a:xfrm>
            <a:off x="2743200" y="3976688"/>
            <a:ext cx="1219200" cy="854075"/>
          </a:xfrm>
          <a:prstGeom prst="rect">
            <a:avLst/>
          </a:prstGeom>
          <a:noFill/>
          <a:ln w="19050" algn="ctr">
            <a:noFill/>
            <a:miter lim="800000"/>
            <a:headEnd/>
            <a:tailEnd/>
          </a:ln>
        </p:spPr>
        <p:txBody>
          <a:bodyPr>
            <a:spAutoFit/>
          </a:bodyPr>
          <a:lstStyle/>
          <a:p>
            <a:pPr algn="ctr">
              <a:spcBef>
                <a:spcPct val="50000"/>
              </a:spcBef>
              <a:buFont typeface="Arial" charset="0"/>
              <a:buNone/>
            </a:pPr>
            <a:r>
              <a:rPr lang="el-GR">
                <a:sym typeface="Arial" charset="0"/>
              </a:rPr>
              <a:t>μ</a:t>
            </a:r>
            <a:r>
              <a:rPr lang="en-US">
                <a:sym typeface="Arial" charset="0"/>
              </a:rPr>
              <a:t> = 18</a:t>
            </a:r>
          </a:p>
          <a:p>
            <a:pPr algn="ctr">
              <a:lnSpc>
                <a:spcPct val="50000"/>
              </a:lnSpc>
              <a:spcBef>
                <a:spcPct val="50000"/>
              </a:spcBef>
              <a:buFont typeface="Arial" charset="0"/>
              <a:buNone/>
            </a:pPr>
            <a:r>
              <a:rPr lang="en-US">
                <a:sym typeface="Arial" charset="0"/>
              </a:rPr>
              <a:t> </a:t>
            </a:r>
            <a:r>
              <a:rPr lang="el-GR">
                <a:sym typeface="Arial" charset="0"/>
              </a:rPr>
              <a:t>σ</a:t>
            </a:r>
            <a:r>
              <a:rPr lang="en-US">
                <a:sym typeface="Arial" charset="0"/>
              </a:rPr>
              <a:t> = 5</a:t>
            </a:r>
          </a:p>
        </p:txBody>
      </p:sp>
      <p:sp>
        <p:nvSpPr>
          <p:cNvPr id="193600" name="Text Box 29"/>
          <p:cNvSpPr txBox="1">
            <a:spLocks noChangeArrowheads="1"/>
          </p:cNvSpPr>
          <p:nvPr/>
        </p:nvSpPr>
        <p:spPr bwMode="auto">
          <a:xfrm>
            <a:off x="7010400" y="3976688"/>
            <a:ext cx="1219200" cy="822325"/>
          </a:xfrm>
          <a:prstGeom prst="rect">
            <a:avLst/>
          </a:prstGeom>
          <a:noFill/>
          <a:ln w="19050" algn="ctr">
            <a:noFill/>
            <a:miter lim="800000"/>
            <a:headEnd/>
            <a:tailEnd/>
          </a:ln>
        </p:spPr>
        <p:txBody>
          <a:bodyPr>
            <a:spAutoFit/>
          </a:bodyPr>
          <a:lstStyle/>
          <a:p>
            <a:pPr algn="ctr">
              <a:spcBef>
                <a:spcPct val="50000"/>
              </a:spcBef>
              <a:buFont typeface="Arial" charset="0"/>
              <a:buNone/>
            </a:pPr>
            <a:r>
              <a:rPr lang="el-GR">
                <a:solidFill>
                  <a:schemeClr val="folHlink"/>
                </a:solidFill>
                <a:sym typeface="Arial" charset="0"/>
              </a:rPr>
              <a:t>μ</a:t>
            </a:r>
            <a:r>
              <a:rPr lang="en-US">
                <a:solidFill>
                  <a:schemeClr val="folHlink"/>
                </a:solidFill>
                <a:sym typeface="Arial" charset="0"/>
              </a:rPr>
              <a:t> </a:t>
            </a:r>
            <a:r>
              <a:rPr lang="en-US" b="1">
                <a:solidFill>
                  <a:schemeClr val="folHlink"/>
                </a:solidFill>
                <a:sym typeface="Arial" charset="0"/>
              </a:rPr>
              <a:t>= 0</a:t>
            </a:r>
          </a:p>
          <a:p>
            <a:pPr algn="ctr">
              <a:lnSpc>
                <a:spcPct val="50000"/>
              </a:lnSpc>
              <a:spcBef>
                <a:spcPct val="50000"/>
              </a:spcBef>
              <a:buFont typeface="Arial" charset="0"/>
              <a:buNone/>
            </a:pPr>
            <a:r>
              <a:rPr lang="el-GR" b="1">
                <a:solidFill>
                  <a:schemeClr val="folHlink"/>
                </a:solidFill>
                <a:sym typeface="Arial" charset="0"/>
              </a:rPr>
              <a:t>σ</a:t>
            </a:r>
            <a:r>
              <a:rPr lang="en-US" b="1">
                <a:solidFill>
                  <a:schemeClr val="folHlink"/>
                </a:solidFill>
                <a:sym typeface="Arial" charset="0"/>
              </a:rPr>
              <a:t> = 1</a:t>
            </a:r>
          </a:p>
        </p:txBody>
      </p:sp>
      <p:grpSp>
        <p:nvGrpSpPr>
          <p:cNvPr id="193601" name="Group 30"/>
          <p:cNvGrpSpPr>
            <a:grpSpLocks/>
          </p:cNvGrpSpPr>
          <p:nvPr/>
        </p:nvGrpSpPr>
        <p:grpSpPr bwMode="auto">
          <a:xfrm>
            <a:off x="3810000" y="3976688"/>
            <a:ext cx="1903413" cy="612775"/>
            <a:chOff x="1825" y="2398"/>
            <a:chExt cx="1728" cy="793"/>
          </a:xfrm>
        </p:grpSpPr>
        <p:sp>
          <p:nvSpPr>
            <p:cNvPr id="193606" name="Freeform 31"/>
            <p:cNvSpPr>
              <a:spLocks/>
            </p:cNvSpPr>
            <p:nvPr/>
          </p:nvSpPr>
          <p:spPr bwMode="auto">
            <a:xfrm>
              <a:off x="1827" y="2432"/>
              <a:ext cx="1726" cy="759"/>
            </a:xfrm>
            <a:custGeom>
              <a:avLst/>
              <a:gdLst>
                <a:gd name="T0" fmla="*/ 0 w 1726"/>
                <a:gd name="T1" fmla="*/ 386 h 759"/>
                <a:gd name="T2" fmla="*/ 86 w 1726"/>
                <a:gd name="T3" fmla="*/ 282 h 759"/>
                <a:gd name="T4" fmla="*/ 151 w 1726"/>
                <a:gd name="T5" fmla="*/ 227 h 759"/>
                <a:gd name="T6" fmla="*/ 224 w 1726"/>
                <a:gd name="T7" fmla="*/ 175 h 759"/>
                <a:gd name="T8" fmla="*/ 304 w 1726"/>
                <a:gd name="T9" fmla="*/ 134 h 759"/>
                <a:gd name="T10" fmla="*/ 394 w 1726"/>
                <a:gd name="T11" fmla="*/ 93 h 759"/>
                <a:gd name="T12" fmla="*/ 502 w 1726"/>
                <a:gd name="T13" fmla="*/ 57 h 759"/>
                <a:gd name="T14" fmla="*/ 646 w 1726"/>
                <a:gd name="T15" fmla="*/ 20 h 759"/>
                <a:gd name="T16" fmla="*/ 778 w 1726"/>
                <a:gd name="T17" fmla="*/ 6 h 759"/>
                <a:gd name="T18" fmla="*/ 896 w 1726"/>
                <a:gd name="T19" fmla="*/ 2 h 759"/>
                <a:gd name="T20" fmla="*/ 1021 w 1726"/>
                <a:gd name="T21" fmla="*/ 14 h 759"/>
                <a:gd name="T22" fmla="*/ 1132 w 1726"/>
                <a:gd name="T23" fmla="*/ 36 h 759"/>
                <a:gd name="T24" fmla="*/ 1236 w 1726"/>
                <a:gd name="T25" fmla="*/ 79 h 759"/>
                <a:gd name="T26" fmla="*/ 1342 w 1726"/>
                <a:gd name="T27" fmla="*/ 147 h 759"/>
                <a:gd name="T28" fmla="*/ 1426 w 1726"/>
                <a:gd name="T29" fmla="*/ 225 h 759"/>
                <a:gd name="T30" fmla="*/ 1472 w 1726"/>
                <a:gd name="T31" fmla="*/ 277 h 759"/>
                <a:gd name="T32" fmla="*/ 1594 w 1726"/>
                <a:gd name="T33" fmla="*/ 94 h 759"/>
                <a:gd name="T34" fmla="*/ 1596 w 1726"/>
                <a:gd name="T35" fmla="*/ 197 h 759"/>
                <a:gd name="T36" fmla="*/ 1605 w 1726"/>
                <a:gd name="T37" fmla="*/ 300 h 759"/>
                <a:gd name="T38" fmla="*/ 1624 w 1726"/>
                <a:gd name="T39" fmla="*/ 398 h 759"/>
                <a:gd name="T40" fmla="*/ 1651 w 1726"/>
                <a:gd name="T41" fmla="*/ 499 h 759"/>
                <a:gd name="T42" fmla="*/ 1706 w 1726"/>
                <a:gd name="T43" fmla="*/ 627 h 759"/>
                <a:gd name="T44" fmla="*/ 1685 w 1726"/>
                <a:gd name="T45" fmla="*/ 685 h 759"/>
                <a:gd name="T46" fmla="*/ 1601 w 1726"/>
                <a:gd name="T47" fmla="*/ 667 h 759"/>
                <a:gd name="T48" fmla="*/ 1534 w 1726"/>
                <a:gd name="T49" fmla="*/ 664 h 759"/>
                <a:gd name="T50" fmla="*/ 1469 w 1726"/>
                <a:gd name="T51" fmla="*/ 671 h 759"/>
                <a:gd name="T52" fmla="*/ 1403 w 1726"/>
                <a:gd name="T53" fmla="*/ 690 h 759"/>
                <a:gd name="T54" fmla="*/ 1330 w 1726"/>
                <a:gd name="T55" fmla="*/ 723 h 759"/>
                <a:gd name="T56" fmla="*/ 1259 w 1726"/>
                <a:gd name="T57" fmla="*/ 687 h 759"/>
                <a:gd name="T58" fmla="*/ 1345 w 1726"/>
                <a:gd name="T59" fmla="*/ 482 h 759"/>
                <a:gd name="T60" fmla="*/ 1237 w 1726"/>
                <a:gd name="T61" fmla="*/ 396 h 759"/>
                <a:gd name="T62" fmla="*/ 1131 w 1726"/>
                <a:gd name="T63" fmla="*/ 328 h 759"/>
                <a:gd name="T64" fmla="*/ 1036 w 1726"/>
                <a:gd name="T65" fmla="*/ 277 h 759"/>
                <a:gd name="T66" fmla="*/ 921 w 1726"/>
                <a:gd name="T67" fmla="*/ 232 h 759"/>
                <a:gd name="T68" fmla="*/ 811 w 1726"/>
                <a:gd name="T69" fmla="*/ 209 h 759"/>
                <a:gd name="T70" fmla="*/ 707 w 1726"/>
                <a:gd name="T71" fmla="*/ 195 h 759"/>
                <a:gd name="T72" fmla="*/ 587 w 1726"/>
                <a:gd name="T73" fmla="*/ 201 h 759"/>
                <a:gd name="T74" fmla="*/ 470 w 1726"/>
                <a:gd name="T75" fmla="*/ 211 h 759"/>
                <a:gd name="T76" fmla="*/ 334 w 1726"/>
                <a:gd name="T77" fmla="*/ 232 h 759"/>
                <a:gd name="T78" fmla="*/ 231 w 1726"/>
                <a:gd name="T79" fmla="*/ 266 h 759"/>
                <a:gd name="T80" fmla="*/ 158 w 1726"/>
                <a:gd name="T81" fmla="*/ 301 h 759"/>
                <a:gd name="T82" fmla="*/ 97 w 1726"/>
                <a:gd name="T83" fmla="*/ 343 h 75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726"/>
                <a:gd name="T127" fmla="*/ 0 h 759"/>
                <a:gd name="T128" fmla="*/ 1726 w 1726"/>
                <a:gd name="T129" fmla="*/ 759 h 75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726" h="759">
                  <a:moveTo>
                    <a:pt x="7" y="425"/>
                  </a:moveTo>
                  <a:lnTo>
                    <a:pt x="0" y="386"/>
                  </a:lnTo>
                  <a:lnTo>
                    <a:pt x="52" y="320"/>
                  </a:lnTo>
                  <a:lnTo>
                    <a:pt x="86" y="282"/>
                  </a:lnTo>
                  <a:lnTo>
                    <a:pt x="122" y="255"/>
                  </a:lnTo>
                  <a:lnTo>
                    <a:pt x="151" y="227"/>
                  </a:lnTo>
                  <a:lnTo>
                    <a:pt x="190" y="200"/>
                  </a:lnTo>
                  <a:lnTo>
                    <a:pt x="224" y="175"/>
                  </a:lnTo>
                  <a:lnTo>
                    <a:pt x="269" y="153"/>
                  </a:lnTo>
                  <a:lnTo>
                    <a:pt x="304" y="134"/>
                  </a:lnTo>
                  <a:lnTo>
                    <a:pt x="341" y="113"/>
                  </a:lnTo>
                  <a:lnTo>
                    <a:pt x="394" y="93"/>
                  </a:lnTo>
                  <a:lnTo>
                    <a:pt x="443" y="75"/>
                  </a:lnTo>
                  <a:lnTo>
                    <a:pt x="502" y="57"/>
                  </a:lnTo>
                  <a:lnTo>
                    <a:pt x="581" y="34"/>
                  </a:lnTo>
                  <a:lnTo>
                    <a:pt x="646" y="20"/>
                  </a:lnTo>
                  <a:lnTo>
                    <a:pt x="700" y="14"/>
                  </a:lnTo>
                  <a:lnTo>
                    <a:pt x="778" y="6"/>
                  </a:lnTo>
                  <a:lnTo>
                    <a:pt x="837" y="0"/>
                  </a:lnTo>
                  <a:lnTo>
                    <a:pt x="896" y="2"/>
                  </a:lnTo>
                  <a:lnTo>
                    <a:pt x="958" y="4"/>
                  </a:lnTo>
                  <a:lnTo>
                    <a:pt x="1021" y="14"/>
                  </a:lnTo>
                  <a:lnTo>
                    <a:pt x="1076" y="22"/>
                  </a:lnTo>
                  <a:lnTo>
                    <a:pt x="1132" y="36"/>
                  </a:lnTo>
                  <a:lnTo>
                    <a:pt x="1185" y="57"/>
                  </a:lnTo>
                  <a:lnTo>
                    <a:pt x="1236" y="79"/>
                  </a:lnTo>
                  <a:lnTo>
                    <a:pt x="1290" y="108"/>
                  </a:lnTo>
                  <a:lnTo>
                    <a:pt x="1342" y="147"/>
                  </a:lnTo>
                  <a:lnTo>
                    <a:pt x="1382" y="181"/>
                  </a:lnTo>
                  <a:lnTo>
                    <a:pt x="1426" y="225"/>
                  </a:lnTo>
                  <a:lnTo>
                    <a:pt x="1457" y="258"/>
                  </a:lnTo>
                  <a:lnTo>
                    <a:pt x="1472" y="277"/>
                  </a:lnTo>
                  <a:lnTo>
                    <a:pt x="1582" y="46"/>
                  </a:lnTo>
                  <a:lnTo>
                    <a:pt x="1594" y="94"/>
                  </a:lnTo>
                  <a:lnTo>
                    <a:pt x="1594" y="147"/>
                  </a:lnTo>
                  <a:lnTo>
                    <a:pt x="1596" y="197"/>
                  </a:lnTo>
                  <a:lnTo>
                    <a:pt x="1600" y="247"/>
                  </a:lnTo>
                  <a:lnTo>
                    <a:pt x="1605" y="300"/>
                  </a:lnTo>
                  <a:lnTo>
                    <a:pt x="1615" y="354"/>
                  </a:lnTo>
                  <a:lnTo>
                    <a:pt x="1624" y="398"/>
                  </a:lnTo>
                  <a:lnTo>
                    <a:pt x="1637" y="450"/>
                  </a:lnTo>
                  <a:lnTo>
                    <a:pt x="1651" y="499"/>
                  </a:lnTo>
                  <a:lnTo>
                    <a:pt x="1671" y="561"/>
                  </a:lnTo>
                  <a:lnTo>
                    <a:pt x="1706" y="627"/>
                  </a:lnTo>
                  <a:lnTo>
                    <a:pt x="1725" y="698"/>
                  </a:lnTo>
                  <a:lnTo>
                    <a:pt x="1685" y="685"/>
                  </a:lnTo>
                  <a:lnTo>
                    <a:pt x="1646" y="676"/>
                  </a:lnTo>
                  <a:lnTo>
                    <a:pt x="1601" y="667"/>
                  </a:lnTo>
                  <a:lnTo>
                    <a:pt x="1559" y="663"/>
                  </a:lnTo>
                  <a:lnTo>
                    <a:pt x="1534" y="664"/>
                  </a:lnTo>
                  <a:lnTo>
                    <a:pt x="1507" y="666"/>
                  </a:lnTo>
                  <a:lnTo>
                    <a:pt x="1469" y="671"/>
                  </a:lnTo>
                  <a:lnTo>
                    <a:pt x="1434" y="681"/>
                  </a:lnTo>
                  <a:lnTo>
                    <a:pt x="1403" y="690"/>
                  </a:lnTo>
                  <a:lnTo>
                    <a:pt x="1367" y="707"/>
                  </a:lnTo>
                  <a:lnTo>
                    <a:pt x="1330" y="723"/>
                  </a:lnTo>
                  <a:lnTo>
                    <a:pt x="1277" y="758"/>
                  </a:lnTo>
                  <a:lnTo>
                    <a:pt x="1259" y="687"/>
                  </a:lnTo>
                  <a:lnTo>
                    <a:pt x="1362" y="500"/>
                  </a:lnTo>
                  <a:lnTo>
                    <a:pt x="1345" y="482"/>
                  </a:lnTo>
                  <a:lnTo>
                    <a:pt x="1286" y="434"/>
                  </a:lnTo>
                  <a:lnTo>
                    <a:pt x="1237" y="396"/>
                  </a:lnTo>
                  <a:lnTo>
                    <a:pt x="1172" y="350"/>
                  </a:lnTo>
                  <a:lnTo>
                    <a:pt x="1131" y="328"/>
                  </a:lnTo>
                  <a:lnTo>
                    <a:pt x="1092" y="305"/>
                  </a:lnTo>
                  <a:lnTo>
                    <a:pt x="1036" y="277"/>
                  </a:lnTo>
                  <a:lnTo>
                    <a:pt x="982" y="251"/>
                  </a:lnTo>
                  <a:lnTo>
                    <a:pt x="921" y="232"/>
                  </a:lnTo>
                  <a:lnTo>
                    <a:pt x="868" y="219"/>
                  </a:lnTo>
                  <a:lnTo>
                    <a:pt x="811" y="209"/>
                  </a:lnTo>
                  <a:lnTo>
                    <a:pt x="753" y="197"/>
                  </a:lnTo>
                  <a:lnTo>
                    <a:pt x="707" y="195"/>
                  </a:lnTo>
                  <a:lnTo>
                    <a:pt x="647" y="196"/>
                  </a:lnTo>
                  <a:lnTo>
                    <a:pt x="587" y="201"/>
                  </a:lnTo>
                  <a:lnTo>
                    <a:pt x="531" y="204"/>
                  </a:lnTo>
                  <a:lnTo>
                    <a:pt x="470" y="211"/>
                  </a:lnTo>
                  <a:lnTo>
                    <a:pt x="401" y="222"/>
                  </a:lnTo>
                  <a:lnTo>
                    <a:pt x="334" y="232"/>
                  </a:lnTo>
                  <a:lnTo>
                    <a:pt x="273" y="254"/>
                  </a:lnTo>
                  <a:lnTo>
                    <a:pt x="231" y="266"/>
                  </a:lnTo>
                  <a:lnTo>
                    <a:pt x="189" y="284"/>
                  </a:lnTo>
                  <a:lnTo>
                    <a:pt x="158" y="301"/>
                  </a:lnTo>
                  <a:lnTo>
                    <a:pt x="126" y="322"/>
                  </a:lnTo>
                  <a:lnTo>
                    <a:pt x="97" y="343"/>
                  </a:lnTo>
                  <a:lnTo>
                    <a:pt x="7" y="425"/>
                  </a:lnTo>
                </a:path>
              </a:pathLst>
            </a:custGeom>
            <a:solidFill>
              <a:srgbClr val="C7DAF7"/>
            </a:solidFill>
            <a:ln w="12700" cap="rnd">
              <a:solidFill>
                <a:srgbClr val="000000"/>
              </a:solidFill>
              <a:round/>
              <a:headEnd/>
              <a:tailEnd/>
            </a:ln>
          </p:spPr>
          <p:txBody>
            <a:bodyPr/>
            <a:lstStyle/>
            <a:p>
              <a:endParaRPr lang="en-GB"/>
            </a:p>
          </p:txBody>
        </p:sp>
        <p:sp>
          <p:nvSpPr>
            <p:cNvPr id="193607" name="Freeform 32"/>
            <p:cNvSpPr>
              <a:spLocks/>
            </p:cNvSpPr>
            <p:nvPr/>
          </p:nvSpPr>
          <p:spPr bwMode="auto">
            <a:xfrm>
              <a:off x="1825" y="2398"/>
              <a:ext cx="1708" cy="718"/>
            </a:xfrm>
            <a:custGeom>
              <a:avLst/>
              <a:gdLst>
                <a:gd name="T0" fmla="*/ 57 w 1708"/>
                <a:gd name="T1" fmla="*/ 326 h 718"/>
                <a:gd name="T2" fmla="*/ 117 w 1708"/>
                <a:gd name="T3" fmla="*/ 264 h 718"/>
                <a:gd name="T4" fmla="*/ 183 w 1708"/>
                <a:gd name="T5" fmla="*/ 210 h 718"/>
                <a:gd name="T6" fmla="*/ 263 w 1708"/>
                <a:gd name="T7" fmla="*/ 156 h 718"/>
                <a:gd name="T8" fmla="*/ 336 w 1708"/>
                <a:gd name="T9" fmla="*/ 117 h 718"/>
                <a:gd name="T10" fmla="*/ 438 w 1708"/>
                <a:gd name="T11" fmla="*/ 79 h 718"/>
                <a:gd name="T12" fmla="*/ 575 w 1708"/>
                <a:gd name="T13" fmla="*/ 37 h 718"/>
                <a:gd name="T14" fmla="*/ 694 w 1708"/>
                <a:gd name="T15" fmla="*/ 16 h 718"/>
                <a:gd name="T16" fmla="*/ 831 w 1708"/>
                <a:gd name="T17" fmla="*/ 0 h 718"/>
                <a:gd name="T18" fmla="*/ 951 w 1708"/>
                <a:gd name="T19" fmla="*/ 2 h 718"/>
                <a:gd name="T20" fmla="*/ 1069 w 1708"/>
                <a:gd name="T21" fmla="*/ 17 h 718"/>
                <a:gd name="T22" fmla="*/ 1176 w 1708"/>
                <a:gd name="T23" fmla="*/ 49 h 718"/>
                <a:gd name="T24" fmla="*/ 1280 w 1708"/>
                <a:gd name="T25" fmla="*/ 96 h 718"/>
                <a:gd name="T26" fmla="*/ 1371 w 1708"/>
                <a:gd name="T27" fmla="*/ 164 h 718"/>
                <a:gd name="T28" fmla="*/ 1445 w 1708"/>
                <a:gd name="T29" fmla="*/ 236 h 718"/>
                <a:gd name="T30" fmla="*/ 1583 w 1708"/>
                <a:gd name="T31" fmla="*/ 78 h 718"/>
                <a:gd name="T32" fmla="*/ 1583 w 1708"/>
                <a:gd name="T33" fmla="*/ 176 h 718"/>
                <a:gd name="T34" fmla="*/ 1592 w 1708"/>
                <a:gd name="T35" fmla="*/ 274 h 718"/>
                <a:gd name="T36" fmla="*/ 1609 w 1708"/>
                <a:gd name="T37" fmla="*/ 368 h 718"/>
                <a:gd name="T38" fmla="*/ 1635 w 1708"/>
                <a:gd name="T39" fmla="*/ 464 h 718"/>
                <a:gd name="T40" fmla="*/ 1674 w 1708"/>
                <a:gd name="T41" fmla="*/ 576 h 718"/>
                <a:gd name="T42" fmla="*/ 1707 w 1708"/>
                <a:gd name="T43" fmla="*/ 656 h 718"/>
                <a:gd name="T44" fmla="*/ 1628 w 1708"/>
                <a:gd name="T45" fmla="*/ 634 h 718"/>
                <a:gd name="T46" fmla="*/ 1542 w 1708"/>
                <a:gd name="T47" fmla="*/ 623 h 718"/>
                <a:gd name="T48" fmla="*/ 1491 w 1708"/>
                <a:gd name="T49" fmla="*/ 626 h 718"/>
                <a:gd name="T50" fmla="*/ 1417 w 1708"/>
                <a:gd name="T51" fmla="*/ 641 h 718"/>
                <a:gd name="T52" fmla="*/ 1350 w 1708"/>
                <a:gd name="T53" fmla="*/ 668 h 718"/>
                <a:gd name="T54" fmla="*/ 1260 w 1708"/>
                <a:gd name="T55" fmla="*/ 717 h 718"/>
                <a:gd name="T56" fmla="*/ 1332 w 1708"/>
                <a:gd name="T57" fmla="*/ 453 h 718"/>
                <a:gd name="T58" fmla="*/ 1224 w 1708"/>
                <a:gd name="T59" fmla="*/ 372 h 718"/>
                <a:gd name="T60" fmla="*/ 1119 w 1708"/>
                <a:gd name="T61" fmla="*/ 308 h 718"/>
                <a:gd name="T62" fmla="*/ 1026 w 1708"/>
                <a:gd name="T63" fmla="*/ 261 h 718"/>
                <a:gd name="T64" fmla="*/ 911 w 1708"/>
                <a:gd name="T65" fmla="*/ 220 h 718"/>
                <a:gd name="T66" fmla="*/ 802 w 1708"/>
                <a:gd name="T67" fmla="*/ 200 h 718"/>
                <a:gd name="T68" fmla="*/ 699 w 1708"/>
                <a:gd name="T69" fmla="*/ 189 h 718"/>
                <a:gd name="T70" fmla="*/ 579 w 1708"/>
                <a:gd name="T71" fmla="*/ 196 h 718"/>
                <a:gd name="T72" fmla="*/ 462 w 1708"/>
                <a:gd name="T73" fmla="*/ 208 h 718"/>
                <a:gd name="T74" fmla="*/ 327 w 1708"/>
                <a:gd name="T75" fmla="*/ 230 h 718"/>
                <a:gd name="T76" fmla="*/ 224 w 1708"/>
                <a:gd name="T77" fmla="*/ 263 h 718"/>
                <a:gd name="T78" fmla="*/ 148 w 1708"/>
                <a:gd name="T79" fmla="*/ 299 h 718"/>
                <a:gd name="T80" fmla="*/ 91 w 1708"/>
                <a:gd name="T81" fmla="*/ 340 h 7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8"/>
                <a:gd name="T124" fmla="*/ 0 h 718"/>
                <a:gd name="T125" fmla="*/ 1708 w 1708"/>
                <a:gd name="T126" fmla="*/ 718 h 7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8" h="718">
                  <a:moveTo>
                    <a:pt x="0" y="421"/>
                  </a:moveTo>
                  <a:lnTo>
                    <a:pt x="57" y="326"/>
                  </a:lnTo>
                  <a:lnTo>
                    <a:pt x="84" y="296"/>
                  </a:lnTo>
                  <a:lnTo>
                    <a:pt x="117" y="264"/>
                  </a:lnTo>
                  <a:lnTo>
                    <a:pt x="146" y="239"/>
                  </a:lnTo>
                  <a:lnTo>
                    <a:pt x="183" y="210"/>
                  </a:lnTo>
                  <a:lnTo>
                    <a:pt x="219" y="183"/>
                  </a:lnTo>
                  <a:lnTo>
                    <a:pt x="263" y="156"/>
                  </a:lnTo>
                  <a:lnTo>
                    <a:pt x="299" y="137"/>
                  </a:lnTo>
                  <a:lnTo>
                    <a:pt x="336" y="117"/>
                  </a:lnTo>
                  <a:lnTo>
                    <a:pt x="388" y="95"/>
                  </a:lnTo>
                  <a:lnTo>
                    <a:pt x="438" y="79"/>
                  </a:lnTo>
                  <a:lnTo>
                    <a:pt x="496" y="61"/>
                  </a:lnTo>
                  <a:lnTo>
                    <a:pt x="575" y="37"/>
                  </a:lnTo>
                  <a:lnTo>
                    <a:pt x="640" y="23"/>
                  </a:lnTo>
                  <a:lnTo>
                    <a:pt x="694" y="16"/>
                  </a:lnTo>
                  <a:lnTo>
                    <a:pt x="771" y="6"/>
                  </a:lnTo>
                  <a:lnTo>
                    <a:pt x="831" y="0"/>
                  </a:lnTo>
                  <a:lnTo>
                    <a:pt x="889" y="1"/>
                  </a:lnTo>
                  <a:lnTo>
                    <a:pt x="951" y="2"/>
                  </a:lnTo>
                  <a:lnTo>
                    <a:pt x="1013" y="10"/>
                  </a:lnTo>
                  <a:lnTo>
                    <a:pt x="1069" y="17"/>
                  </a:lnTo>
                  <a:lnTo>
                    <a:pt x="1124" y="30"/>
                  </a:lnTo>
                  <a:lnTo>
                    <a:pt x="1176" y="49"/>
                  </a:lnTo>
                  <a:lnTo>
                    <a:pt x="1228" y="69"/>
                  </a:lnTo>
                  <a:lnTo>
                    <a:pt x="1280" y="96"/>
                  </a:lnTo>
                  <a:lnTo>
                    <a:pt x="1332" y="132"/>
                  </a:lnTo>
                  <a:lnTo>
                    <a:pt x="1371" y="164"/>
                  </a:lnTo>
                  <a:lnTo>
                    <a:pt x="1414" y="205"/>
                  </a:lnTo>
                  <a:lnTo>
                    <a:pt x="1445" y="236"/>
                  </a:lnTo>
                  <a:lnTo>
                    <a:pt x="1488" y="281"/>
                  </a:lnTo>
                  <a:lnTo>
                    <a:pt x="1583" y="78"/>
                  </a:lnTo>
                  <a:lnTo>
                    <a:pt x="1582" y="129"/>
                  </a:lnTo>
                  <a:lnTo>
                    <a:pt x="1583" y="176"/>
                  </a:lnTo>
                  <a:lnTo>
                    <a:pt x="1587" y="224"/>
                  </a:lnTo>
                  <a:lnTo>
                    <a:pt x="1592" y="274"/>
                  </a:lnTo>
                  <a:lnTo>
                    <a:pt x="1601" y="326"/>
                  </a:lnTo>
                  <a:lnTo>
                    <a:pt x="1609" y="368"/>
                  </a:lnTo>
                  <a:lnTo>
                    <a:pt x="1622" y="417"/>
                  </a:lnTo>
                  <a:lnTo>
                    <a:pt x="1635" y="464"/>
                  </a:lnTo>
                  <a:lnTo>
                    <a:pt x="1655" y="523"/>
                  </a:lnTo>
                  <a:lnTo>
                    <a:pt x="1674" y="576"/>
                  </a:lnTo>
                  <a:lnTo>
                    <a:pt x="1689" y="611"/>
                  </a:lnTo>
                  <a:lnTo>
                    <a:pt x="1707" y="656"/>
                  </a:lnTo>
                  <a:lnTo>
                    <a:pt x="1668" y="643"/>
                  </a:lnTo>
                  <a:lnTo>
                    <a:pt x="1628" y="634"/>
                  </a:lnTo>
                  <a:lnTo>
                    <a:pt x="1583" y="626"/>
                  </a:lnTo>
                  <a:lnTo>
                    <a:pt x="1542" y="623"/>
                  </a:lnTo>
                  <a:lnTo>
                    <a:pt x="1516" y="623"/>
                  </a:lnTo>
                  <a:lnTo>
                    <a:pt x="1491" y="626"/>
                  </a:lnTo>
                  <a:lnTo>
                    <a:pt x="1452" y="632"/>
                  </a:lnTo>
                  <a:lnTo>
                    <a:pt x="1417" y="641"/>
                  </a:lnTo>
                  <a:lnTo>
                    <a:pt x="1386" y="650"/>
                  </a:lnTo>
                  <a:lnTo>
                    <a:pt x="1350" y="668"/>
                  </a:lnTo>
                  <a:lnTo>
                    <a:pt x="1313" y="684"/>
                  </a:lnTo>
                  <a:lnTo>
                    <a:pt x="1260" y="717"/>
                  </a:lnTo>
                  <a:lnTo>
                    <a:pt x="1381" y="493"/>
                  </a:lnTo>
                  <a:lnTo>
                    <a:pt x="1332" y="453"/>
                  </a:lnTo>
                  <a:lnTo>
                    <a:pt x="1274" y="408"/>
                  </a:lnTo>
                  <a:lnTo>
                    <a:pt x="1224" y="372"/>
                  </a:lnTo>
                  <a:lnTo>
                    <a:pt x="1160" y="330"/>
                  </a:lnTo>
                  <a:lnTo>
                    <a:pt x="1119" y="308"/>
                  </a:lnTo>
                  <a:lnTo>
                    <a:pt x="1081" y="287"/>
                  </a:lnTo>
                  <a:lnTo>
                    <a:pt x="1026" y="261"/>
                  </a:lnTo>
                  <a:lnTo>
                    <a:pt x="972" y="238"/>
                  </a:lnTo>
                  <a:lnTo>
                    <a:pt x="911" y="220"/>
                  </a:lnTo>
                  <a:lnTo>
                    <a:pt x="859" y="209"/>
                  </a:lnTo>
                  <a:lnTo>
                    <a:pt x="802" y="200"/>
                  </a:lnTo>
                  <a:lnTo>
                    <a:pt x="744" y="190"/>
                  </a:lnTo>
                  <a:lnTo>
                    <a:pt x="699" y="189"/>
                  </a:lnTo>
                  <a:lnTo>
                    <a:pt x="640" y="191"/>
                  </a:lnTo>
                  <a:lnTo>
                    <a:pt x="579" y="196"/>
                  </a:lnTo>
                  <a:lnTo>
                    <a:pt x="523" y="200"/>
                  </a:lnTo>
                  <a:lnTo>
                    <a:pt x="462" y="208"/>
                  </a:lnTo>
                  <a:lnTo>
                    <a:pt x="393" y="218"/>
                  </a:lnTo>
                  <a:lnTo>
                    <a:pt x="327" y="230"/>
                  </a:lnTo>
                  <a:lnTo>
                    <a:pt x="267" y="252"/>
                  </a:lnTo>
                  <a:lnTo>
                    <a:pt x="224" y="263"/>
                  </a:lnTo>
                  <a:lnTo>
                    <a:pt x="182" y="281"/>
                  </a:lnTo>
                  <a:lnTo>
                    <a:pt x="148" y="299"/>
                  </a:lnTo>
                  <a:lnTo>
                    <a:pt x="117" y="317"/>
                  </a:lnTo>
                  <a:lnTo>
                    <a:pt x="91" y="340"/>
                  </a:lnTo>
                  <a:lnTo>
                    <a:pt x="0" y="421"/>
                  </a:lnTo>
                </a:path>
              </a:pathLst>
            </a:custGeom>
            <a:solidFill>
              <a:srgbClr val="C7DAF7"/>
            </a:solidFill>
            <a:ln w="12700" cap="rnd">
              <a:solidFill>
                <a:srgbClr val="000000"/>
              </a:solidFill>
              <a:round/>
              <a:headEnd/>
              <a:tailEnd/>
            </a:ln>
          </p:spPr>
          <p:txBody>
            <a:bodyPr/>
            <a:lstStyle/>
            <a:p>
              <a:endParaRPr lang="en-GB"/>
            </a:p>
          </p:txBody>
        </p:sp>
      </p:grpSp>
      <p:sp>
        <p:nvSpPr>
          <p:cNvPr id="193602" name="Text Box 33"/>
          <p:cNvSpPr txBox="1">
            <a:spLocks noChangeArrowheads="1"/>
          </p:cNvSpPr>
          <p:nvPr/>
        </p:nvSpPr>
        <p:spPr bwMode="auto">
          <a:xfrm>
            <a:off x="7467600" y="1066800"/>
            <a:ext cx="15240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
        <p:nvSpPr>
          <p:cNvPr id="193603" name="Rectangle 34"/>
          <p:cNvSpPr>
            <a:spLocks noChangeArrowheads="1"/>
          </p:cNvSpPr>
          <p:nvPr/>
        </p:nvSpPr>
        <p:spPr bwMode="auto">
          <a:xfrm>
            <a:off x="990600" y="381000"/>
            <a:ext cx="7793038" cy="762000"/>
          </a:xfrm>
          <a:prstGeom prst="rect">
            <a:avLst/>
          </a:prstGeom>
          <a:noFill/>
          <a:ln w="9525">
            <a:noFill/>
            <a:miter lim="800000"/>
            <a:headEnd/>
            <a:tailEnd/>
          </a:ln>
        </p:spPr>
        <p:txBody>
          <a:bodyPr lIns="85342" tIns="42672" rIns="85342" bIns="42672" anchor="b"/>
          <a:lstStyle/>
          <a:p>
            <a:pPr algn="ctr"/>
            <a:r>
              <a:rPr lang="en-US" sz="4000">
                <a:solidFill>
                  <a:schemeClr val="tx2"/>
                </a:solidFill>
              </a:rPr>
              <a:t>Finding Normal Probabilities</a:t>
            </a:r>
          </a:p>
        </p:txBody>
      </p:sp>
      <p:graphicFrame>
        <p:nvGraphicFramePr>
          <p:cNvPr id="193571" name="Object 35"/>
          <p:cNvGraphicFramePr>
            <a:graphicFrameLocks noChangeAspect="1"/>
          </p:cNvGraphicFramePr>
          <p:nvPr/>
        </p:nvGraphicFramePr>
        <p:xfrm>
          <a:off x="2490788" y="2743200"/>
          <a:ext cx="3706812" cy="776288"/>
        </p:xfrm>
        <a:graphic>
          <a:graphicData uri="http://schemas.openxmlformats.org/presentationml/2006/ole">
            <p:oleObj spid="_x0000_s193571" name="Equation" r:id="rId3" imgW="1879560" imgH="393480" progId="Equation.3">
              <p:embed/>
            </p:oleObj>
          </a:graphicData>
        </a:graphic>
      </p:graphicFrame>
      <p:sp>
        <p:nvSpPr>
          <p:cNvPr id="193604" name="Text Box 36"/>
          <p:cNvSpPr txBox="1">
            <a:spLocks noChangeArrowheads="1"/>
          </p:cNvSpPr>
          <p:nvPr/>
        </p:nvSpPr>
        <p:spPr bwMode="auto">
          <a:xfrm>
            <a:off x="1143000" y="6019800"/>
            <a:ext cx="2438400" cy="457200"/>
          </a:xfrm>
          <a:prstGeom prst="rect">
            <a:avLst/>
          </a:prstGeom>
          <a:noFill/>
          <a:ln w="9525" algn="ctr">
            <a:noFill/>
            <a:miter lim="800000"/>
            <a:headEnd/>
            <a:tailEnd/>
          </a:ln>
        </p:spPr>
        <p:txBody>
          <a:bodyPr>
            <a:spAutoFit/>
          </a:bodyPr>
          <a:lstStyle/>
          <a:p>
            <a:pPr algn="ctr">
              <a:spcBef>
                <a:spcPct val="50000"/>
              </a:spcBef>
            </a:pPr>
            <a:r>
              <a:rPr lang="en-US"/>
              <a:t>P(X &lt; 18.6)</a:t>
            </a:r>
          </a:p>
        </p:txBody>
      </p:sp>
      <p:sp>
        <p:nvSpPr>
          <p:cNvPr id="193605" name="Text Box 37"/>
          <p:cNvSpPr txBox="1">
            <a:spLocks noChangeArrowheads="1"/>
          </p:cNvSpPr>
          <p:nvPr/>
        </p:nvSpPr>
        <p:spPr bwMode="auto">
          <a:xfrm>
            <a:off x="5410200" y="6019800"/>
            <a:ext cx="2438400" cy="457200"/>
          </a:xfrm>
          <a:prstGeom prst="rect">
            <a:avLst/>
          </a:prstGeom>
          <a:noFill/>
          <a:ln w="9525" algn="ctr">
            <a:noFill/>
            <a:miter lim="800000"/>
            <a:headEnd/>
            <a:tailEnd/>
          </a:ln>
        </p:spPr>
        <p:txBody>
          <a:bodyPr>
            <a:spAutoFit/>
          </a:bodyPr>
          <a:lstStyle/>
          <a:p>
            <a:pPr algn="ctr">
              <a:spcBef>
                <a:spcPct val="50000"/>
              </a:spcBef>
            </a:pPr>
            <a:r>
              <a:rPr lang="en-US">
                <a:solidFill>
                  <a:schemeClr val="folHlink"/>
                </a:solidFill>
              </a:rPr>
              <a:t>P(Z &lt; 0.12)</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3" name="Rectangle 4"/>
          <p:cNvSpPr>
            <a:spLocks noGrp="1" noChangeArrowheads="1"/>
          </p:cNvSpPr>
          <p:nvPr>
            <p:ph type="ftr" sz="quarter" idx="10"/>
          </p:nvPr>
        </p:nvSpPr>
        <p:spPr>
          <a:noFill/>
        </p:spPr>
        <p:txBody>
          <a:bodyPr/>
          <a:lstStyle/>
          <a:p>
            <a:r>
              <a:rPr lang="en-US" smtClean="0"/>
              <a:t>Copyright ©2012 Pearson Education</a:t>
            </a:r>
          </a:p>
        </p:txBody>
      </p:sp>
      <p:sp>
        <p:nvSpPr>
          <p:cNvPr id="361474" name="Rectangle 5"/>
          <p:cNvSpPr>
            <a:spLocks noGrp="1" noChangeArrowheads="1"/>
          </p:cNvSpPr>
          <p:nvPr>
            <p:ph type="sldNum" sz="quarter" idx="11"/>
          </p:nvPr>
        </p:nvSpPr>
        <p:spPr>
          <a:noFill/>
        </p:spPr>
        <p:txBody>
          <a:bodyPr/>
          <a:lstStyle/>
          <a:p>
            <a:r>
              <a:rPr lang="en-US" smtClean="0"/>
              <a:t>Chap 6-</a:t>
            </a:r>
            <a:fld id="{74B5C07E-9A54-4058-B3C8-B09247533864}" type="slidenum">
              <a:rPr lang="en-US" smtClean="0"/>
              <a:pPr/>
              <a:t>20</a:t>
            </a:fld>
            <a:endParaRPr lang="en-US" smtClean="0"/>
          </a:p>
        </p:txBody>
      </p:sp>
      <p:sp>
        <p:nvSpPr>
          <p:cNvPr id="361475" name="Slide Number Placeholder 5"/>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8AE03F55-28E5-4B4F-ACBB-3D8BD19250A7}" type="slidenum">
              <a:rPr lang="en-US" sz="1000"/>
              <a:pPr algn="r" defTabSz="852488"/>
              <a:t>20</a:t>
            </a:fld>
            <a:endParaRPr lang="en-US" sz="1000"/>
          </a:p>
        </p:txBody>
      </p:sp>
      <p:sp>
        <p:nvSpPr>
          <p:cNvPr id="361476" name="Freeform 2"/>
          <p:cNvSpPr>
            <a:spLocks/>
          </p:cNvSpPr>
          <p:nvPr/>
        </p:nvSpPr>
        <p:spPr bwMode="auto">
          <a:xfrm>
            <a:off x="4724400" y="3581400"/>
            <a:ext cx="1562100" cy="1657350"/>
          </a:xfrm>
          <a:custGeom>
            <a:avLst/>
            <a:gdLst>
              <a:gd name="T0" fmla="*/ 1562100 w 984"/>
              <a:gd name="T1" fmla="*/ 1638300 h 1044"/>
              <a:gd name="T2" fmla="*/ 1557338 w 984"/>
              <a:gd name="T3" fmla="*/ 0 h 1044"/>
              <a:gd name="T4" fmla="*/ 1409700 w 984"/>
              <a:gd name="T5" fmla="*/ 114300 h 1044"/>
              <a:gd name="T6" fmla="*/ 1257300 w 984"/>
              <a:gd name="T7" fmla="*/ 266700 h 1044"/>
              <a:gd name="T8" fmla="*/ 1152525 w 984"/>
              <a:gd name="T9" fmla="*/ 482600 h 1044"/>
              <a:gd name="T10" fmla="*/ 1012825 w 984"/>
              <a:gd name="T11" fmla="*/ 717550 h 1044"/>
              <a:gd name="T12" fmla="*/ 930275 w 984"/>
              <a:gd name="T13" fmla="*/ 876300 h 1044"/>
              <a:gd name="T14" fmla="*/ 828675 w 984"/>
              <a:gd name="T15" fmla="*/ 1042987 h 1044"/>
              <a:gd name="T16" fmla="*/ 723900 w 984"/>
              <a:gd name="T17" fmla="*/ 1181100 h 1044"/>
              <a:gd name="T18" fmla="*/ 571500 w 984"/>
              <a:gd name="T19" fmla="*/ 1352550 h 1044"/>
              <a:gd name="T20" fmla="*/ 323850 w 984"/>
              <a:gd name="T21" fmla="*/ 1504950 h 1044"/>
              <a:gd name="T22" fmla="*/ 0 w 984"/>
              <a:gd name="T23" fmla="*/ 1562100 h 1044"/>
              <a:gd name="T24" fmla="*/ 4763 w 984"/>
              <a:gd name="T25" fmla="*/ 1657350 h 1044"/>
              <a:gd name="T26" fmla="*/ 1562100 w 984"/>
              <a:gd name="T27" fmla="*/ 1638300 h 10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4"/>
              <a:gd name="T43" fmla="*/ 0 h 1044"/>
              <a:gd name="T44" fmla="*/ 984 w 984"/>
              <a:gd name="T45" fmla="*/ 1044 h 104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4" h="1044">
                <a:moveTo>
                  <a:pt x="984" y="1032"/>
                </a:moveTo>
                <a:lnTo>
                  <a:pt x="981" y="0"/>
                </a:lnTo>
                <a:lnTo>
                  <a:pt x="888" y="72"/>
                </a:lnTo>
                <a:lnTo>
                  <a:pt x="792" y="168"/>
                </a:lnTo>
                <a:lnTo>
                  <a:pt x="726" y="304"/>
                </a:lnTo>
                <a:lnTo>
                  <a:pt x="638" y="452"/>
                </a:lnTo>
                <a:lnTo>
                  <a:pt x="586" y="552"/>
                </a:lnTo>
                <a:lnTo>
                  <a:pt x="522" y="657"/>
                </a:lnTo>
                <a:lnTo>
                  <a:pt x="456" y="744"/>
                </a:lnTo>
                <a:lnTo>
                  <a:pt x="360" y="852"/>
                </a:lnTo>
                <a:lnTo>
                  <a:pt x="204" y="948"/>
                </a:lnTo>
                <a:lnTo>
                  <a:pt x="0" y="984"/>
                </a:lnTo>
                <a:lnTo>
                  <a:pt x="3" y="1044"/>
                </a:lnTo>
                <a:lnTo>
                  <a:pt x="984" y="1032"/>
                </a:lnTo>
                <a:close/>
              </a:path>
            </a:pathLst>
          </a:custGeom>
          <a:solidFill>
            <a:srgbClr val="FF0000"/>
          </a:solidFill>
          <a:ln w="12700">
            <a:solidFill>
              <a:srgbClr val="FF0000"/>
            </a:solidFill>
            <a:round/>
            <a:headEnd/>
            <a:tailEnd/>
          </a:ln>
        </p:spPr>
        <p:txBody>
          <a:bodyPr/>
          <a:lstStyle/>
          <a:p>
            <a:endParaRPr lang="en-GB"/>
          </a:p>
        </p:txBody>
      </p:sp>
      <p:sp>
        <p:nvSpPr>
          <p:cNvPr id="361477" name="Freeform 3"/>
          <p:cNvSpPr>
            <a:spLocks/>
          </p:cNvSpPr>
          <p:nvPr/>
        </p:nvSpPr>
        <p:spPr bwMode="auto">
          <a:xfrm>
            <a:off x="6288088" y="4997450"/>
            <a:ext cx="320675" cy="242888"/>
          </a:xfrm>
          <a:custGeom>
            <a:avLst/>
            <a:gdLst>
              <a:gd name="T0" fmla="*/ 19050 w 202"/>
              <a:gd name="T1" fmla="*/ 223838 h 153"/>
              <a:gd name="T2" fmla="*/ 166687 w 202"/>
              <a:gd name="T3" fmla="*/ 230188 h 153"/>
              <a:gd name="T4" fmla="*/ 257175 w 202"/>
              <a:gd name="T5" fmla="*/ 228600 h 153"/>
              <a:gd name="T6" fmla="*/ 304800 w 202"/>
              <a:gd name="T7" fmla="*/ 233363 h 153"/>
              <a:gd name="T8" fmla="*/ 319088 w 202"/>
              <a:gd name="T9" fmla="*/ 209550 h 153"/>
              <a:gd name="T10" fmla="*/ 296863 w 202"/>
              <a:gd name="T11" fmla="*/ 38100 h 153"/>
              <a:gd name="T12" fmla="*/ 238125 w 202"/>
              <a:gd name="T13" fmla="*/ 0 h 153"/>
              <a:gd name="T14" fmla="*/ 111125 w 202"/>
              <a:gd name="T15" fmla="*/ 73025 h 153"/>
              <a:gd name="T16" fmla="*/ 80962 w 202"/>
              <a:gd name="T17" fmla="*/ 82550 h 153"/>
              <a:gd name="T18" fmla="*/ 42862 w 202"/>
              <a:gd name="T19" fmla="*/ 90488 h 153"/>
              <a:gd name="T20" fmla="*/ 11112 w 202"/>
              <a:gd name="T21" fmla="*/ 115888 h 153"/>
              <a:gd name="T22" fmla="*/ 0 w 202"/>
              <a:gd name="T23" fmla="*/ 142875 h 153"/>
              <a:gd name="T24" fmla="*/ 1588 w 202"/>
              <a:gd name="T25" fmla="*/ 211138 h 153"/>
              <a:gd name="T26" fmla="*/ 19050 w 202"/>
              <a:gd name="T27" fmla="*/ 223838 h 1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2"/>
              <a:gd name="T43" fmla="*/ 0 h 153"/>
              <a:gd name="T44" fmla="*/ 202 w 202"/>
              <a:gd name="T45" fmla="*/ 153 h 1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2" h="153">
                <a:moveTo>
                  <a:pt x="12" y="141"/>
                </a:moveTo>
                <a:cubicBezTo>
                  <a:pt x="39" y="153"/>
                  <a:pt x="79" y="146"/>
                  <a:pt x="105" y="145"/>
                </a:cubicBezTo>
                <a:cubicBezTo>
                  <a:pt x="127" y="143"/>
                  <a:pt x="135" y="143"/>
                  <a:pt x="162" y="144"/>
                </a:cubicBezTo>
                <a:cubicBezTo>
                  <a:pt x="172" y="148"/>
                  <a:pt x="181" y="148"/>
                  <a:pt x="192" y="147"/>
                </a:cubicBezTo>
                <a:cubicBezTo>
                  <a:pt x="200" y="136"/>
                  <a:pt x="198" y="142"/>
                  <a:pt x="201" y="132"/>
                </a:cubicBezTo>
                <a:cubicBezTo>
                  <a:pt x="200" y="102"/>
                  <a:pt x="202" y="55"/>
                  <a:pt x="187" y="24"/>
                </a:cubicBezTo>
                <a:cubicBezTo>
                  <a:pt x="185" y="7"/>
                  <a:pt x="165" y="1"/>
                  <a:pt x="150" y="0"/>
                </a:cubicBezTo>
                <a:cubicBezTo>
                  <a:pt x="116" y="2"/>
                  <a:pt x="102" y="41"/>
                  <a:pt x="70" y="46"/>
                </a:cubicBezTo>
                <a:cubicBezTo>
                  <a:pt x="63" y="49"/>
                  <a:pt x="58" y="51"/>
                  <a:pt x="51" y="52"/>
                </a:cubicBezTo>
                <a:cubicBezTo>
                  <a:pt x="43" y="55"/>
                  <a:pt x="36" y="56"/>
                  <a:pt x="27" y="57"/>
                </a:cubicBezTo>
                <a:cubicBezTo>
                  <a:pt x="19" y="62"/>
                  <a:pt x="14" y="67"/>
                  <a:pt x="7" y="73"/>
                </a:cubicBezTo>
                <a:cubicBezTo>
                  <a:pt x="0" y="87"/>
                  <a:pt x="2" y="81"/>
                  <a:pt x="0" y="90"/>
                </a:cubicBezTo>
                <a:cubicBezTo>
                  <a:pt x="0" y="104"/>
                  <a:pt x="0" y="119"/>
                  <a:pt x="1" y="133"/>
                </a:cubicBezTo>
                <a:cubicBezTo>
                  <a:pt x="1" y="138"/>
                  <a:pt x="8" y="147"/>
                  <a:pt x="12" y="141"/>
                </a:cubicBezTo>
                <a:close/>
              </a:path>
            </a:pathLst>
          </a:custGeom>
          <a:solidFill>
            <a:srgbClr val="FF0000"/>
          </a:solidFill>
          <a:ln w="12700">
            <a:solidFill>
              <a:srgbClr val="FF0000"/>
            </a:solidFill>
            <a:round/>
            <a:headEnd/>
            <a:tailEnd/>
          </a:ln>
        </p:spPr>
        <p:txBody>
          <a:bodyPr/>
          <a:lstStyle/>
          <a:p>
            <a:endParaRPr lang="en-GB"/>
          </a:p>
        </p:txBody>
      </p:sp>
      <p:sp>
        <p:nvSpPr>
          <p:cNvPr id="361478" name="Freeform 4"/>
          <p:cNvSpPr>
            <a:spLocks/>
          </p:cNvSpPr>
          <p:nvPr/>
        </p:nvSpPr>
        <p:spPr bwMode="auto">
          <a:xfrm>
            <a:off x="6248400" y="3581400"/>
            <a:ext cx="366713" cy="1625600"/>
          </a:xfrm>
          <a:custGeom>
            <a:avLst/>
            <a:gdLst>
              <a:gd name="T0" fmla="*/ 39688 w 231"/>
              <a:gd name="T1" fmla="*/ 1562100 h 1024"/>
              <a:gd name="T2" fmla="*/ 58738 w 231"/>
              <a:gd name="T3" fmla="*/ 908050 h 1024"/>
              <a:gd name="T4" fmla="*/ 52388 w 231"/>
              <a:gd name="T5" fmla="*/ 539750 h 1024"/>
              <a:gd name="T6" fmla="*/ 46038 w 231"/>
              <a:gd name="T7" fmla="*/ 222250 h 1024"/>
              <a:gd name="T8" fmla="*/ 65088 w 231"/>
              <a:gd name="T9" fmla="*/ 6350 h 1024"/>
              <a:gd name="T10" fmla="*/ 211138 w 231"/>
              <a:gd name="T11" fmla="*/ 44450 h 1024"/>
              <a:gd name="T12" fmla="*/ 242888 w 231"/>
              <a:gd name="T13" fmla="*/ 69850 h 1024"/>
              <a:gd name="T14" fmla="*/ 255588 w 231"/>
              <a:gd name="T15" fmla="*/ 88900 h 1024"/>
              <a:gd name="T16" fmla="*/ 274638 w 231"/>
              <a:gd name="T17" fmla="*/ 101600 h 1024"/>
              <a:gd name="T18" fmla="*/ 331788 w 231"/>
              <a:gd name="T19" fmla="*/ 177800 h 1024"/>
              <a:gd name="T20" fmla="*/ 350838 w 231"/>
              <a:gd name="T21" fmla="*/ 215900 h 1024"/>
              <a:gd name="T22" fmla="*/ 338138 w 231"/>
              <a:gd name="T23" fmla="*/ 342900 h 1024"/>
              <a:gd name="T24" fmla="*/ 357188 w 231"/>
              <a:gd name="T25" fmla="*/ 596900 h 1024"/>
              <a:gd name="T26" fmla="*/ 350838 w 231"/>
              <a:gd name="T27" fmla="*/ 704850 h 1024"/>
              <a:gd name="T28" fmla="*/ 338138 w 231"/>
              <a:gd name="T29" fmla="*/ 742950 h 1024"/>
              <a:gd name="T30" fmla="*/ 331788 w 231"/>
              <a:gd name="T31" fmla="*/ 1009650 h 1024"/>
              <a:gd name="T32" fmla="*/ 350838 w 231"/>
              <a:gd name="T33" fmla="*/ 946150 h 1024"/>
              <a:gd name="T34" fmla="*/ 274638 w 231"/>
              <a:gd name="T35" fmla="*/ 1555750 h 1024"/>
              <a:gd name="T36" fmla="*/ 39688 w 231"/>
              <a:gd name="T37" fmla="*/ 1562100 h 102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1"/>
              <a:gd name="T58" fmla="*/ 0 h 1024"/>
              <a:gd name="T59" fmla="*/ 231 w 231"/>
              <a:gd name="T60" fmla="*/ 1024 h 102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1" h="1024">
                <a:moveTo>
                  <a:pt x="25" y="984"/>
                </a:moveTo>
                <a:cubicBezTo>
                  <a:pt x="28" y="847"/>
                  <a:pt x="34" y="709"/>
                  <a:pt x="37" y="572"/>
                </a:cubicBezTo>
                <a:cubicBezTo>
                  <a:pt x="33" y="476"/>
                  <a:pt x="30" y="440"/>
                  <a:pt x="33" y="340"/>
                </a:cubicBezTo>
                <a:cubicBezTo>
                  <a:pt x="30" y="269"/>
                  <a:pt x="25" y="210"/>
                  <a:pt x="29" y="140"/>
                </a:cubicBezTo>
                <a:cubicBezTo>
                  <a:pt x="28" y="100"/>
                  <a:pt x="0" y="32"/>
                  <a:pt x="41" y="4"/>
                </a:cubicBezTo>
                <a:cubicBezTo>
                  <a:pt x="122" y="9"/>
                  <a:pt x="91" y="0"/>
                  <a:pt x="133" y="28"/>
                </a:cubicBezTo>
                <a:cubicBezTo>
                  <a:pt x="156" y="62"/>
                  <a:pt x="125" y="22"/>
                  <a:pt x="153" y="44"/>
                </a:cubicBezTo>
                <a:cubicBezTo>
                  <a:pt x="157" y="47"/>
                  <a:pt x="158" y="53"/>
                  <a:pt x="161" y="56"/>
                </a:cubicBezTo>
                <a:cubicBezTo>
                  <a:pt x="164" y="59"/>
                  <a:pt x="169" y="61"/>
                  <a:pt x="173" y="64"/>
                </a:cubicBezTo>
                <a:cubicBezTo>
                  <a:pt x="185" y="82"/>
                  <a:pt x="194" y="97"/>
                  <a:pt x="209" y="112"/>
                </a:cubicBezTo>
                <a:cubicBezTo>
                  <a:pt x="212" y="120"/>
                  <a:pt x="221" y="127"/>
                  <a:pt x="221" y="136"/>
                </a:cubicBezTo>
                <a:cubicBezTo>
                  <a:pt x="221" y="163"/>
                  <a:pt x="213" y="216"/>
                  <a:pt x="213" y="216"/>
                </a:cubicBezTo>
                <a:cubicBezTo>
                  <a:pt x="215" y="282"/>
                  <a:pt x="217" y="319"/>
                  <a:pt x="225" y="376"/>
                </a:cubicBezTo>
                <a:cubicBezTo>
                  <a:pt x="224" y="399"/>
                  <a:pt x="224" y="421"/>
                  <a:pt x="221" y="444"/>
                </a:cubicBezTo>
                <a:cubicBezTo>
                  <a:pt x="220" y="452"/>
                  <a:pt x="213" y="468"/>
                  <a:pt x="213" y="468"/>
                </a:cubicBezTo>
                <a:cubicBezTo>
                  <a:pt x="207" y="564"/>
                  <a:pt x="209" y="508"/>
                  <a:pt x="209" y="636"/>
                </a:cubicBezTo>
                <a:cubicBezTo>
                  <a:pt x="213" y="623"/>
                  <a:pt x="222" y="582"/>
                  <a:pt x="221" y="596"/>
                </a:cubicBezTo>
                <a:cubicBezTo>
                  <a:pt x="208" y="724"/>
                  <a:pt x="231" y="865"/>
                  <a:pt x="173" y="980"/>
                </a:cubicBezTo>
                <a:cubicBezTo>
                  <a:pt x="151" y="1024"/>
                  <a:pt x="74" y="983"/>
                  <a:pt x="25" y="984"/>
                </a:cubicBezTo>
                <a:close/>
              </a:path>
            </a:pathLst>
          </a:custGeom>
          <a:solidFill>
            <a:srgbClr val="FF0000"/>
          </a:solidFill>
          <a:ln w="12700">
            <a:solidFill>
              <a:srgbClr val="FF0000"/>
            </a:solidFill>
            <a:round/>
            <a:headEnd/>
            <a:tailEnd/>
          </a:ln>
        </p:spPr>
        <p:txBody>
          <a:bodyPr/>
          <a:lstStyle/>
          <a:p>
            <a:endParaRPr lang="en-GB"/>
          </a:p>
        </p:txBody>
      </p:sp>
      <p:sp>
        <p:nvSpPr>
          <p:cNvPr id="361479" name="Line 5"/>
          <p:cNvSpPr>
            <a:spLocks noChangeShapeType="1"/>
          </p:cNvSpPr>
          <p:nvPr/>
        </p:nvSpPr>
        <p:spPr bwMode="auto">
          <a:xfrm>
            <a:off x="6599238" y="3841750"/>
            <a:ext cx="0" cy="1371600"/>
          </a:xfrm>
          <a:prstGeom prst="line">
            <a:avLst/>
          </a:prstGeom>
          <a:noFill/>
          <a:ln w="63500">
            <a:solidFill>
              <a:srgbClr val="FF0000"/>
            </a:solidFill>
            <a:round/>
            <a:headEnd/>
            <a:tailEnd/>
          </a:ln>
        </p:spPr>
        <p:txBody>
          <a:bodyPr wrap="none" anchor="ctr"/>
          <a:lstStyle/>
          <a:p>
            <a:endParaRPr lang="en-US"/>
          </a:p>
        </p:txBody>
      </p:sp>
      <p:sp>
        <p:nvSpPr>
          <p:cNvPr id="361480" name="Line 6"/>
          <p:cNvSpPr>
            <a:spLocks noChangeShapeType="1"/>
          </p:cNvSpPr>
          <p:nvPr/>
        </p:nvSpPr>
        <p:spPr bwMode="auto">
          <a:xfrm>
            <a:off x="6294438" y="3613150"/>
            <a:ext cx="0" cy="1600200"/>
          </a:xfrm>
          <a:prstGeom prst="line">
            <a:avLst/>
          </a:prstGeom>
          <a:noFill/>
          <a:ln w="31750">
            <a:solidFill>
              <a:schemeClr val="tx1"/>
            </a:solidFill>
            <a:round/>
            <a:headEnd/>
            <a:tailEnd/>
          </a:ln>
        </p:spPr>
        <p:txBody>
          <a:bodyPr wrap="none" anchor="ctr"/>
          <a:lstStyle/>
          <a:p>
            <a:endParaRPr lang="en-US"/>
          </a:p>
        </p:txBody>
      </p:sp>
      <p:sp>
        <p:nvSpPr>
          <p:cNvPr id="361481" name="Freeform 7"/>
          <p:cNvSpPr>
            <a:spLocks/>
          </p:cNvSpPr>
          <p:nvPr/>
        </p:nvSpPr>
        <p:spPr bwMode="auto">
          <a:xfrm>
            <a:off x="6329363" y="3568700"/>
            <a:ext cx="1635125" cy="1573213"/>
          </a:xfrm>
          <a:custGeom>
            <a:avLst/>
            <a:gdLst>
              <a:gd name="T0" fmla="*/ 1633538 w 1030"/>
              <a:gd name="T1" fmla="*/ 1571625 h 991"/>
              <a:gd name="T2" fmla="*/ 1462087 w 1030"/>
              <a:gd name="T3" fmla="*/ 1555750 h 991"/>
              <a:gd name="T4" fmla="*/ 1374775 w 1030"/>
              <a:gd name="T5" fmla="*/ 1535113 h 991"/>
              <a:gd name="T6" fmla="*/ 1290637 w 1030"/>
              <a:gd name="T7" fmla="*/ 1511300 h 991"/>
              <a:gd name="T8" fmla="*/ 1203325 w 1030"/>
              <a:gd name="T9" fmla="*/ 1474788 h 991"/>
              <a:gd name="T10" fmla="*/ 1116012 w 1030"/>
              <a:gd name="T11" fmla="*/ 1423988 h 991"/>
              <a:gd name="T12" fmla="*/ 1033462 w 1030"/>
              <a:gd name="T13" fmla="*/ 1360488 h 991"/>
              <a:gd name="T14" fmla="*/ 858837 w 1030"/>
              <a:gd name="T15" fmla="*/ 1179513 h 991"/>
              <a:gd name="T16" fmla="*/ 687387 w 1030"/>
              <a:gd name="T17" fmla="*/ 922338 h 991"/>
              <a:gd name="T18" fmla="*/ 515937 w 1030"/>
              <a:gd name="T19" fmla="*/ 612775 h 991"/>
              <a:gd name="T20" fmla="*/ 428625 w 1030"/>
              <a:gd name="T21" fmla="*/ 455613 h 991"/>
              <a:gd name="T22" fmla="*/ 341312 w 1030"/>
              <a:gd name="T23" fmla="*/ 311150 h 991"/>
              <a:gd name="T24" fmla="*/ 258762 w 1030"/>
              <a:gd name="T25" fmla="*/ 184150 h 991"/>
              <a:gd name="T26" fmla="*/ 171450 w 1030"/>
              <a:gd name="T27" fmla="*/ 84138 h 991"/>
              <a:gd name="T28" fmla="*/ 84137 w 1030"/>
              <a:gd name="T29" fmla="*/ 20638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a:solidFill>
              <a:srgbClr val="008000"/>
            </a:solidFill>
            <a:round/>
            <a:headEnd/>
            <a:tailEnd/>
          </a:ln>
        </p:spPr>
        <p:txBody>
          <a:bodyPr/>
          <a:lstStyle/>
          <a:p>
            <a:endParaRPr lang="en-GB"/>
          </a:p>
        </p:txBody>
      </p:sp>
      <p:sp>
        <p:nvSpPr>
          <p:cNvPr id="361482" name="Freeform 8"/>
          <p:cNvSpPr>
            <a:spLocks/>
          </p:cNvSpPr>
          <p:nvPr/>
        </p:nvSpPr>
        <p:spPr bwMode="auto">
          <a:xfrm>
            <a:off x="4692650" y="3568700"/>
            <a:ext cx="1638300" cy="1573213"/>
          </a:xfrm>
          <a:custGeom>
            <a:avLst/>
            <a:gdLst>
              <a:gd name="T0" fmla="*/ 0 w 1032"/>
              <a:gd name="T1" fmla="*/ 1571625 h 991"/>
              <a:gd name="T2" fmla="*/ 171450 w 1032"/>
              <a:gd name="T3" fmla="*/ 1555750 h 991"/>
              <a:gd name="T4" fmla="*/ 258762 w 1032"/>
              <a:gd name="T5" fmla="*/ 1535113 h 991"/>
              <a:gd name="T6" fmla="*/ 346075 w 1032"/>
              <a:gd name="T7" fmla="*/ 1511300 h 991"/>
              <a:gd name="T8" fmla="*/ 430212 w 1032"/>
              <a:gd name="T9" fmla="*/ 1474788 h 991"/>
              <a:gd name="T10" fmla="*/ 517525 w 1032"/>
              <a:gd name="T11" fmla="*/ 1423988 h 991"/>
              <a:gd name="T12" fmla="*/ 604837 w 1032"/>
              <a:gd name="T13" fmla="*/ 1360488 h 991"/>
              <a:gd name="T14" fmla="*/ 774700 w 1032"/>
              <a:gd name="T15" fmla="*/ 1179513 h 991"/>
              <a:gd name="T16" fmla="*/ 946150 w 1032"/>
              <a:gd name="T17" fmla="*/ 922338 h 991"/>
              <a:gd name="T18" fmla="*/ 1120775 w 1032"/>
              <a:gd name="T19" fmla="*/ 612775 h 991"/>
              <a:gd name="T20" fmla="*/ 1204912 w 1032"/>
              <a:gd name="T21" fmla="*/ 455613 h 991"/>
              <a:gd name="T22" fmla="*/ 1292225 w 1032"/>
              <a:gd name="T23" fmla="*/ 311150 h 991"/>
              <a:gd name="T24" fmla="*/ 1377950 w 1032"/>
              <a:gd name="T25" fmla="*/ 184150 h 991"/>
              <a:gd name="T26" fmla="*/ 1462087 w 1032"/>
              <a:gd name="T27" fmla="*/ 84138 h 991"/>
              <a:gd name="T28" fmla="*/ 1549400 w 1032"/>
              <a:gd name="T29" fmla="*/ 20638 h 991"/>
              <a:gd name="T30" fmla="*/ 1636713 w 1032"/>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2"/>
              <a:gd name="T49" fmla="*/ 0 h 991"/>
              <a:gd name="T50" fmla="*/ 1032 w 1032"/>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2" h="991">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a:solidFill>
              <a:srgbClr val="008000"/>
            </a:solidFill>
            <a:round/>
            <a:headEnd/>
            <a:tailEnd/>
          </a:ln>
        </p:spPr>
        <p:txBody>
          <a:bodyPr/>
          <a:lstStyle/>
          <a:p>
            <a:endParaRPr lang="en-GB"/>
          </a:p>
        </p:txBody>
      </p:sp>
      <p:sp>
        <p:nvSpPr>
          <p:cNvPr id="361483" name="Freeform 9"/>
          <p:cNvSpPr>
            <a:spLocks/>
          </p:cNvSpPr>
          <p:nvPr/>
        </p:nvSpPr>
        <p:spPr bwMode="auto">
          <a:xfrm>
            <a:off x="4675188" y="5224463"/>
            <a:ext cx="3289300" cy="7937"/>
          </a:xfrm>
          <a:custGeom>
            <a:avLst/>
            <a:gdLst>
              <a:gd name="T0" fmla="*/ 0 w 2072"/>
              <a:gd name="T1" fmla="*/ 7937 h 5"/>
              <a:gd name="T2" fmla="*/ 19050 w 2072"/>
              <a:gd name="T3" fmla="*/ 0 h 5"/>
              <a:gd name="T4" fmla="*/ 3289300 w 2072"/>
              <a:gd name="T5" fmla="*/ 0 h 5"/>
              <a:gd name="T6" fmla="*/ 0 60000 65536"/>
              <a:gd name="T7" fmla="*/ 0 60000 65536"/>
              <a:gd name="T8" fmla="*/ 0 60000 65536"/>
              <a:gd name="T9" fmla="*/ 0 w 2072"/>
              <a:gd name="T10" fmla="*/ 0 h 5"/>
              <a:gd name="T11" fmla="*/ 2072 w 2072"/>
              <a:gd name="T12" fmla="*/ 5 h 5"/>
            </a:gdLst>
            <a:ahLst/>
            <a:cxnLst>
              <a:cxn ang="T6">
                <a:pos x="T0" y="T1"/>
              </a:cxn>
              <a:cxn ang="T7">
                <a:pos x="T2" y="T3"/>
              </a:cxn>
              <a:cxn ang="T8">
                <a:pos x="T4" y="T5"/>
              </a:cxn>
            </a:cxnLst>
            <a:rect l="T9" t="T10" r="T11" b="T12"/>
            <a:pathLst>
              <a:path w="2072" h="5">
                <a:moveTo>
                  <a:pt x="0" y="5"/>
                </a:moveTo>
                <a:lnTo>
                  <a:pt x="12" y="0"/>
                </a:lnTo>
                <a:lnTo>
                  <a:pt x="2072" y="0"/>
                </a:lnTo>
              </a:path>
            </a:pathLst>
          </a:custGeom>
          <a:noFill/>
          <a:ln w="50800" cap="rnd">
            <a:solidFill>
              <a:schemeClr val="tx1"/>
            </a:solidFill>
            <a:round/>
            <a:headEnd/>
            <a:tailEnd/>
          </a:ln>
        </p:spPr>
        <p:txBody>
          <a:bodyPr/>
          <a:lstStyle/>
          <a:p>
            <a:endParaRPr lang="en-GB"/>
          </a:p>
        </p:txBody>
      </p:sp>
      <p:sp>
        <p:nvSpPr>
          <p:cNvPr id="361484" name="Rectangle 10"/>
          <p:cNvSpPr>
            <a:spLocks noChangeArrowheads="1"/>
          </p:cNvSpPr>
          <p:nvPr/>
        </p:nvSpPr>
        <p:spPr bwMode="auto">
          <a:xfrm>
            <a:off x="7970838" y="5213350"/>
            <a:ext cx="381000" cy="363538"/>
          </a:xfrm>
          <a:prstGeom prst="rect">
            <a:avLst/>
          </a:prstGeom>
          <a:noFill/>
          <a:ln w="12700">
            <a:noFill/>
            <a:miter lim="800000"/>
            <a:headEnd/>
            <a:tailEnd/>
          </a:ln>
        </p:spPr>
        <p:txBody>
          <a:bodyPr lIns="90487" tIns="44450" rIns="90487" bIns="44450">
            <a:spAutoFit/>
          </a:bodyPr>
          <a:lstStyle/>
          <a:p>
            <a:pPr eaLnBrk="0" hangingPunct="0"/>
            <a:r>
              <a:rPr lang="en-US" sz="1800" b="1"/>
              <a:t>Z</a:t>
            </a:r>
          </a:p>
        </p:txBody>
      </p:sp>
      <p:sp>
        <p:nvSpPr>
          <p:cNvPr id="361485" name="Rectangle 11"/>
          <p:cNvSpPr>
            <a:spLocks noChangeArrowheads="1"/>
          </p:cNvSpPr>
          <p:nvPr/>
        </p:nvSpPr>
        <p:spPr bwMode="auto">
          <a:xfrm>
            <a:off x="6342063" y="5516563"/>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361486" name="Rectangle 12"/>
          <p:cNvSpPr>
            <a:spLocks noChangeArrowheads="1"/>
          </p:cNvSpPr>
          <p:nvPr/>
        </p:nvSpPr>
        <p:spPr bwMode="auto">
          <a:xfrm>
            <a:off x="7832725" y="3319463"/>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361487" name="Rectangle 13"/>
          <p:cNvSpPr>
            <a:spLocks noChangeArrowheads="1"/>
          </p:cNvSpPr>
          <p:nvPr/>
        </p:nvSpPr>
        <p:spPr bwMode="auto">
          <a:xfrm>
            <a:off x="6446838" y="5822950"/>
            <a:ext cx="625475" cy="363538"/>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0.12</a:t>
            </a:r>
            <a:endParaRPr lang="en-US" b="1">
              <a:solidFill>
                <a:srgbClr val="339933"/>
              </a:solidFill>
            </a:endParaRPr>
          </a:p>
        </p:txBody>
      </p:sp>
      <p:sp>
        <p:nvSpPr>
          <p:cNvPr id="361488" name="Rectangle 14"/>
          <p:cNvSpPr>
            <a:spLocks noChangeArrowheads="1"/>
          </p:cNvSpPr>
          <p:nvPr/>
        </p:nvSpPr>
        <p:spPr bwMode="auto">
          <a:xfrm>
            <a:off x="388938" y="2736850"/>
            <a:ext cx="601662" cy="69215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61489" name="Rectangle 15"/>
          <p:cNvSpPr>
            <a:spLocks noChangeArrowheads="1"/>
          </p:cNvSpPr>
          <p:nvPr/>
        </p:nvSpPr>
        <p:spPr bwMode="auto">
          <a:xfrm>
            <a:off x="474663" y="2809875"/>
            <a:ext cx="374650" cy="469900"/>
          </a:xfrm>
          <a:prstGeom prst="rect">
            <a:avLst/>
          </a:prstGeom>
          <a:noFill/>
          <a:ln w="12700">
            <a:noFill/>
            <a:miter lim="800000"/>
            <a:headEnd/>
            <a:tailEnd/>
          </a:ln>
        </p:spPr>
        <p:txBody>
          <a:bodyPr wrap="none" lIns="90487" tIns="44450" rIns="90487" bIns="44450">
            <a:spAutoFit/>
          </a:bodyPr>
          <a:lstStyle/>
          <a:p>
            <a:pPr eaLnBrk="0" hangingPunct="0"/>
            <a:r>
              <a:rPr lang="en-US" sz="2500"/>
              <a:t>Z</a:t>
            </a:r>
          </a:p>
        </p:txBody>
      </p:sp>
      <p:sp>
        <p:nvSpPr>
          <p:cNvPr id="361490" name="Rectangle 16"/>
          <p:cNvSpPr>
            <a:spLocks noChangeArrowheads="1"/>
          </p:cNvSpPr>
          <p:nvPr/>
        </p:nvSpPr>
        <p:spPr bwMode="auto">
          <a:xfrm>
            <a:off x="990600" y="2736850"/>
            <a:ext cx="914400" cy="69215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61491" name="Rectangle 17"/>
          <p:cNvSpPr>
            <a:spLocks noChangeArrowheads="1"/>
          </p:cNvSpPr>
          <p:nvPr/>
        </p:nvSpPr>
        <p:spPr bwMode="auto">
          <a:xfrm>
            <a:off x="1108075" y="2809875"/>
            <a:ext cx="622300" cy="469900"/>
          </a:xfrm>
          <a:prstGeom prst="rect">
            <a:avLst/>
          </a:prstGeom>
          <a:noFill/>
          <a:ln w="12700">
            <a:noFill/>
            <a:miter lim="800000"/>
            <a:headEnd/>
            <a:tailEnd/>
          </a:ln>
        </p:spPr>
        <p:txBody>
          <a:bodyPr wrap="none" lIns="90487" tIns="44450" rIns="90487" bIns="44450">
            <a:spAutoFit/>
          </a:bodyPr>
          <a:lstStyle/>
          <a:p>
            <a:pPr eaLnBrk="0" hangingPunct="0"/>
            <a:r>
              <a:rPr lang="en-US" sz="2500"/>
              <a:t>.00</a:t>
            </a:r>
          </a:p>
        </p:txBody>
      </p:sp>
      <p:sp>
        <p:nvSpPr>
          <p:cNvPr id="361492" name="Rectangle 18"/>
          <p:cNvSpPr>
            <a:spLocks noChangeArrowheads="1"/>
          </p:cNvSpPr>
          <p:nvPr/>
        </p:nvSpPr>
        <p:spPr bwMode="auto">
          <a:xfrm>
            <a:off x="1905000" y="2736850"/>
            <a:ext cx="990600" cy="69215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61493" name="Rectangle 19"/>
          <p:cNvSpPr>
            <a:spLocks noChangeArrowheads="1"/>
          </p:cNvSpPr>
          <p:nvPr/>
        </p:nvSpPr>
        <p:spPr bwMode="auto">
          <a:xfrm>
            <a:off x="2052638" y="2809875"/>
            <a:ext cx="622300" cy="469900"/>
          </a:xfrm>
          <a:prstGeom prst="rect">
            <a:avLst/>
          </a:prstGeom>
          <a:noFill/>
          <a:ln w="12700">
            <a:noFill/>
            <a:miter lim="800000"/>
            <a:headEnd/>
            <a:tailEnd/>
          </a:ln>
        </p:spPr>
        <p:txBody>
          <a:bodyPr wrap="none" lIns="90487" tIns="44450" rIns="90487" bIns="44450">
            <a:spAutoFit/>
          </a:bodyPr>
          <a:lstStyle/>
          <a:p>
            <a:pPr eaLnBrk="0" hangingPunct="0"/>
            <a:r>
              <a:rPr lang="en-US" sz="2500"/>
              <a:t>.01</a:t>
            </a:r>
          </a:p>
        </p:txBody>
      </p:sp>
      <p:sp>
        <p:nvSpPr>
          <p:cNvPr id="361494" name="Rectangle 20"/>
          <p:cNvSpPr>
            <a:spLocks noChangeArrowheads="1"/>
          </p:cNvSpPr>
          <p:nvPr/>
        </p:nvSpPr>
        <p:spPr bwMode="auto">
          <a:xfrm>
            <a:off x="2895600" y="2736850"/>
            <a:ext cx="942975" cy="692150"/>
          </a:xfrm>
          <a:prstGeom prst="rect">
            <a:avLst/>
          </a:prstGeom>
          <a:solidFill>
            <a:srgbClr val="969696"/>
          </a:solidFill>
          <a:ln w="12700">
            <a:noFill/>
            <a:miter lim="800000"/>
            <a:headEnd/>
            <a:tailEnd/>
          </a:ln>
        </p:spPr>
        <p:txBody>
          <a:bodyPr wrap="none" anchor="ctr"/>
          <a:lstStyle/>
          <a:p>
            <a:pPr algn="ctr">
              <a:spcBef>
                <a:spcPct val="50000"/>
              </a:spcBef>
            </a:pPr>
            <a:endParaRPr lang="en-GB"/>
          </a:p>
        </p:txBody>
      </p:sp>
      <p:sp>
        <p:nvSpPr>
          <p:cNvPr id="361495" name="Rectangle 21"/>
          <p:cNvSpPr>
            <a:spLocks noChangeArrowheads="1"/>
          </p:cNvSpPr>
          <p:nvPr/>
        </p:nvSpPr>
        <p:spPr bwMode="auto">
          <a:xfrm>
            <a:off x="388938" y="3406775"/>
            <a:ext cx="601662" cy="631825"/>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61496" name="Rectangle 22"/>
          <p:cNvSpPr>
            <a:spLocks noChangeArrowheads="1"/>
          </p:cNvSpPr>
          <p:nvPr/>
        </p:nvSpPr>
        <p:spPr bwMode="auto">
          <a:xfrm>
            <a:off x="349250" y="3479800"/>
            <a:ext cx="622300" cy="469900"/>
          </a:xfrm>
          <a:prstGeom prst="rect">
            <a:avLst/>
          </a:prstGeom>
          <a:noFill/>
          <a:ln w="12700">
            <a:noFill/>
            <a:miter lim="800000"/>
            <a:headEnd/>
            <a:tailEnd/>
          </a:ln>
        </p:spPr>
        <p:txBody>
          <a:bodyPr wrap="none" lIns="90487" tIns="44450" rIns="90487" bIns="44450">
            <a:spAutoFit/>
          </a:bodyPr>
          <a:lstStyle/>
          <a:p>
            <a:pPr eaLnBrk="0" hangingPunct="0"/>
            <a:r>
              <a:rPr lang="en-US" sz="2500"/>
              <a:t>0.0</a:t>
            </a:r>
          </a:p>
        </p:txBody>
      </p:sp>
      <p:sp>
        <p:nvSpPr>
          <p:cNvPr id="361497" name="Rectangle 23"/>
          <p:cNvSpPr>
            <a:spLocks noChangeArrowheads="1"/>
          </p:cNvSpPr>
          <p:nvPr/>
        </p:nvSpPr>
        <p:spPr bwMode="auto">
          <a:xfrm>
            <a:off x="958850" y="347345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.5000</a:t>
            </a:r>
          </a:p>
        </p:txBody>
      </p:sp>
      <p:sp>
        <p:nvSpPr>
          <p:cNvPr id="361498" name="Rectangle 24"/>
          <p:cNvSpPr>
            <a:spLocks noChangeArrowheads="1"/>
          </p:cNvSpPr>
          <p:nvPr/>
        </p:nvSpPr>
        <p:spPr bwMode="auto">
          <a:xfrm>
            <a:off x="1874838" y="347980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.5040</a:t>
            </a:r>
          </a:p>
        </p:txBody>
      </p:sp>
      <p:sp>
        <p:nvSpPr>
          <p:cNvPr id="361499" name="Rectangle 25"/>
          <p:cNvSpPr>
            <a:spLocks noChangeArrowheads="1"/>
          </p:cNvSpPr>
          <p:nvPr/>
        </p:nvSpPr>
        <p:spPr bwMode="auto">
          <a:xfrm>
            <a:off x="2843213" y="347980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.5080</a:t>
            </a:r>
          </a:p>
        </p:txBody>
      </p:sp>
      <p:sp>
        <p:nvSpPr>
          <p:cNvPr id="361500" name="Rectangle 26"/>
          <p:cNvSpPr>
            <a:spLocks noChangeArrowheads="1"/>
          </p:cNvSpPr>
          <p:nvPr/>
        </p:nvSpPr>
        <p:spPr bwMode="auto">
          <a:xfrm>
            <a:off x="388938" y="4038600"/>
            <a:ext cx="601662" cy="685800"/>
          </a:xfrm>
          <a:prstGeom prst="rect">
            <a:avLst/>
          </a:prstGeom>
          <a:solidFill>
            <a:srgbClr val="969696"/>
          </a:solidFill>
          <a:ln w="12700">
            <a:noFill/>
            <a:miter lim="800000"/>
            <a:headEnd/>
            <a:tailEnd/>
          </a:ln>
        </p:spPr>
        <p:txBody>
          <a:bodyPr wrap="none" anchor="ctr"/>
          <a:lstStyle/>
          <a:p>
            <a:pPr algn="ctr">
              <a:spcBef>
                <a:spcPct val="50000"/>
              </a:spcBef>
            </a:pPr>
            <a:endParaRPr lang="en-GB"/>
          </a:p>
        </p:txBody>
      </p:sp>
      <p:sp>
        <p:nvSpPr>
          <p:cNvPr id="361501" name="Rectangle 27"/>
          <p:cNvSpPr>
            <a:spLocks noChangeArrowheads="1"/>
          </p:cNvSpPr>
          <p:nvPr/>
        </p:nvSpPr>
        <p:spPr bwMode="auto">
          <a:xfrm>
            <a:off x="388938" y="4710113"/>
            <a:ext cx="590550" cy="1587"/>
          </a:xfrm>
          <a:prstGeom prst="rect">
            <a:avLst/>
          </a:prstGeom>
          <a:solidFill>
            <a:srgbClr val="A64C4C"/>
          </a:solidFill>
          <a:ln w="12700">
            <a:noFill/>
            <a:miter lim="800000"/>
            <a:headEnd/>
            <a:tailEnd/>
          </a:ln>
        </p:spPr>
        <p:txBody>
          <a:bodyPr wrap="none" anchor="ctr"/>
          <a:lstStyle/>
          <a:p>
            <a:pPr algn="ctr">
              <a:spcBef>
                <a:spcPct val="50000"/>
              </a:spcBef>
            </a:pPr>
            <a:endParaRPr lang="en-GB"/>
          </a:p>
        </p:txBody>
      </p:sp>
      <p:sp>
        <p:nvSpPr>
          <p:cNvPr id="361502" name="Rectangle 28"/>
          <p:cNvSpPr>
            <a:spLocks noChangeArrowheads="1"/>
          </p:cNvSpPr>
          <p:nvPr/>
        </p:nvSpPr>
        <p:spPr bwMode="auto">
          <a:xfrm>
            <a:off x="930275" y="414020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.5398</a:t>
            </a:r>
          </a:p>
        </p:txBody>
      </p:sp>
      <p:sp>
        <p:nvSpPr>
          <p:cNvPr id="361503" name="Rectangle 29"/>
          <p:cNvSpPr>
            <a:spLocks noChangeArrowheads="1"/>
          </p:cNvSpPr>
          <p:nvPr/>
        </p:nvSpPr>
        <p:spPr bwMode="auto">
          <a:xfrm>
            <a:off x="1873250" y="415925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.5438</a:t>
            </a:r>
          </a:p>
        </p:txBody>
      </p:sp>
      <p:sp>
        <p:nvSpPr>
          <p:cNvPr id="361504" name="Rectangle 30"/>
          <p:cNvSpPr>
            <a:spLocks noChangeArrowheads="1"/>
          </p:cNvSpPr>
          <p:nvPr/>
        </p:nvSpPr>
        <p:spPr bwMode="auto">
          <a:xfrm>
            <a:off x="2894013" y="4067175"/>
            <a:ext cx="944562" cy="642938"/>
          </a:xfrm>
          <a:prstGeom prst="rect">
            <a:avLst/>
          </a:prstGeom>
          <a:noFill/>
          <a:ln w="12700">
            <a:noFill/>
            <a:miter lim="800000"/>
            <a:headEnd/>
            <a:tailEnd/>
          </a:ln>
        </p:spPr>
        <p:txBody>
          <a:bodyPr wrap="none" anchor="ctr"/>
          <a:lstStyle/>
          <a:p>
            <a:pPr algn="ctr">
              <a:spcBef>
                <a:spcPct val="50000"/>
              </a:spcBef>
            </a:pPr>
            <a:endParaRPr lang="en-GB"/>
          </a:p>
        </p:txBody>
      </p:sp>
      <p:sp>
        <p:nvSpPr>
          <p:cNvPr id="361505" name="Rectangle 31"/>
          <p:cNvSpPr>
            <a:spLocks noChangeArrowheads="1"/>
          </p:cNvSpPr>
          <p:nvPr/>
        </p:nvSpPr>
        <p:spPr bwMode="auto">
          <a:xfrm>
            <a:off x="388938" y="4724400"/>
            <a:ext cx="601662" cy="68580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61506" name="Rectangle 32"/>
          <p:cNvSpPr>
            <a:spLocks noChangeArrowheads="1"/>
          </p:cNvSpPr>
          <p:nvPr/>
        </p:nvSpPr>
        <p:spPr bwMode="auto">
          <a:xfrm>
            <a:off x="349250" y="4810125"/>
            <a:ext cx="622300" cy="469900"/>
          </a:xfrm>
          <a:prstGeom prst="rect">
            <a:avLst/>
          </a:prstGeom>
          <a:noFill/>
          <a:ln w="12700">
            <a:noFill/>
            <a:miter lim="800000"/>
            <a:headEnd/>
            <a:tailEnd/>
          </a:ln>
        </p:spPr>
        <p:txBody>
          <a:bodyPr wrap="none" lIns="90487" tIns="44450" rIns="90487" bIns="44450">
            <a:spAutoFit/>
          </a:bodyPr>
          <a:lstStyle/>
          <a:p>
            <a:pPr eaLnBrk="0" hangingPunct="0"/>
            <a:r>
              <a:rPr lang="en-US" sz="2500"/>
              <a:t>0.2</a:t>
            </a:r>
          </a:p>
        </p:txBody>
      </p:sp>
      <p:sp>
        <p:nvSpPr>
          <p:cNvPr id="361507" name="Rectangle 33"/>
          <p:cNvSpPr>
            <a:spLocks noChangeArrowheads="1"/>
          </p:cNvSpPr>
          <p:nvPr/>
        </p:nvSpPr>
        <p:spPr bwMode="auto">
          <a:xfrm>
            <a:off x="930275" y="48101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.5793</a:t>
            </a:r>
          </a:p>
        </p:txBody>
      </p:sp>
      <p:sp>
        <p:nvSpPr>
          <p:cNvPr id="361508" name="Rectangle 34"/>
          <p:cNvSpPr>
            <a:spLocks noChangeArrowheads="1"/>
          </p:cNvSpPr>
          <p:nvPr/>
        </p:nvSpPr>
        <p:spPr bwMode="auto">
          <a:xfrm>
            <a:off x="1874838" y="48101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.5832</a:t>
            </a:r>
          </a:p>
        </p:txBody>
      </p:sp>
      <p:sp>
        <p:nvSpPr>
          <p:cNvPr id="361509" name="Rectangle 35"/>
          <p:cNvSpPr>
            <a:spLocks noChangeArrowheads="1"/>
          </p:cNvSpPr>
          <p:nvPr/>
        </p:nvSpPr>
        <p:spPr bwMode="auto">
          <a:xfrm>
            <a:off x="2843213" y="48101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.5871</a:t>
            </a:r>
          </a:p>
        </p:txBody>
      </p:sp>
      <p:sp>
        <p:nvSpPr>
          <p:cNvPr id="361510" name="Rectangle 36"/>
          <p:cNvSpPr>
            <a:spLocks noChangeArrowheads="1"/>
          </p:cNvSpPr>
          <p:nvPr/>
        </p:nvSpPr>
        <p:spPr bwMode="auto">
          <a:xfrm>
            <a:off x="388938" y="5397500"/>
            <a:ext cx="601662" cy="63500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61511" name="Rectangle 37"/>
          <p:cNvSpPr>
            <a:spLocks noChangeArrowheads="1"/>
          </p:cNvSpPr>
          <p:nvPr/>
        </p:nvSpPr>
        <p:spPr bwMode="auto">
          <a:xfrm>
            <a:off x="349250" y="5470525"/>
            <a:ext cx="622300" cy="469900"/>
          </a:xfrm>
          <a:prstGeom prst="rect">
            <a:avLst/>
          </a:prstGeom>
          <a:noFill/>
          <a:ln w="12700">
            <a:noFill/>
            <a:miter lim="800000"/>
            <a:headEnd/>
            <a:tailEnd/>
          </a:ln>
        </p:spPr>
        <p:txBody>
          <a:bodyPr wrap="none" lIns="90487" tIns="44450" rIns="90487" bIns="44450">
            <a:spAutoFit/>
          </a:bodyPr>
          <a:lstStyle/>
          <a:p>
            <a:pPr eaLnBrk="0" hangingPunct="0"/>
            <a:r>
              <a:rPr lang="en-US" sz="2500"/>
              <a:t>0.3</a:t>
            </a:r>
          </a:p>
        </p:txBody>
      </p:sp>
      <p:sp>
        <p:nvSpPr>
          <p:cNvPr id="361512" name="Rectangle 38"/>
          <p:cNvSpPr>
            <a:spLocks noChangeArrowheads="1"/>
          </p:cNvSpPr>
          <p:nvPr/>
        </p:nvSpPr>
        <p:spPr bwMode="auto">
          <a:xfrm>
            <a:off x="930275" y="54705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.6179</a:t>
            </a:r>
          </a:p>
        </p:txBody>
      </p:sp>
      <p:sp>
        <p:nvSpPr>
          <p:cNvPr id="361513" name="Rectangle 39"/>
          <p:cNvSpPr>
            <a:spLocks noChangeArrowheads="1"/>
          </p:cNvSpPr>
          <p:nvPr/>
        </p:nvSpPr>
        <p:spPr bwMode="auto">
          <a:xfrm>
            <a:off x="1874838" y="54705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.6217</a:t>
            </a:r>
          </a:p>
        </p:txBody>
      </p:sp>
      <p:sp>
        <p:nvSpPr>
          <p:cNvPr id="361514" name="Rectangle 40"/>
          <p:cNvSpPr>
            <a:spLocks noChangeArrowheads="1"/>
          </p:cNvSpPr>
          <p:nvPr/>
        </p:nvSpPr>
        <p:spPr bwMode="auto">
          <a:xfrm>
            <a:off x="2843213" y="54705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.6255</a:t>
            </a:r>
          </a:p>
        </p:txBody>
      </p:sp>
      <p:sp>
        <p:nvSpPr>
          <p:cNvPr id="361515" name="Rectangle 41"/>
          <p:cNvSpPr>
            <a:spLocks noGrp="1" noChangeArrowheads="1"/>
          </p:cNvSpPr>
          <p:nvPr>
            <p:ph type="title"/>
          </p:nvPr>
        </p:nvSpPr>
        <p:spPr>
          <a:xfrm>
            <a:off x="1143000" y="304800"/>
            <a:ext cx="7848600" cy="1143000"/>
          </a:xfrm>
        </p:spPr>
        <p:txBody>
          <a:bodyPr lIns="90487" tIns="44450" rIns="90487" bIns="44450" anchor="ctr" anchorCtr="1"/>
          <a:lstStyle/>
          <a:p>
            <a:pPr defTabSz="914400" eaLnBrk="1" hangingPunct="1">
              <a:lnSpc>
                <a:spcPct val="95000"/>
              </a:lnSpc>
            </a:pPr>
            <a:r>
              <a:rPr lang="en-US" sz="3900" smtClean="0"/>
              <a:t>Solution: Finding P(Z &lt; 0.12)</a:t>
            </a:r>
          </a:p>
        </p:txBody>
      </p:sp>
      <p:sp>
        <p:nvSpPr>
          <p:cNvPr id="361516" name="Rectangle 42"/>
          <p:cNvSpPr>
            <a:spLocks noChangeArrowheads="1"/>
          </p:cNvSpPr>
          <p:nvPr/>
        </p:nvSpPr>
        <p:spPr bwMode="auto">
          <a:xfrm>
            <a:off x="7010400" y="2895600"/>
            <a:ext cx="1206500" cy="458788"/>
          </a:xfrm>
          <a:prstGeom prst="rect">
            <a:avLst/>
          </a:prstGeom>
          <a:solidFill>
            <a:srgbClr val="CCFFCC"/>
          </a:solidFill>
          <a:ln w="12700">
            <a:noFill/>
            <a:miter lim="800000"/>
            <a:headEnd/>
            <a:tailEnd/>
          </a:ln>
        </p:spPr>
        <p:txBody>
          <a:bodyPr lIns="90487" tIns="44450" rIns="90487" bIns="44450">
            <a:spAutoFit/>
          </a:bodyPr>
          <a:lstStyle/>
          <a:p>
            <a:pPr algn="ctr" eaLnBrk="0" hangingPunct="0">
              <a:spcBef>
                <a:spcPct val="50000"/>
              </a:spcBef>
            </a:pPr>
            <a:r>
              <a:rPr lang="en-US">
                <a:solidFill>
                  <a:srgbClr val="FF0000"/>
                </a:solidFill>
              </a:rPr>
              <a:t>0.5478</a:t>
            </a:r>
          </a:p>
        </p:txBody>
      </p:sp>
      <p:sp>
        <p:nvSpPr>
          <p:cNvPr id="361517" name="Rectangle 43"/>
          <p:cNvSpPr>
            <a:spLocks noChangeArrowheads="1"/>
          </p:cNvSpPr>
          <p:nvPr/>
        </p:nvSpPr>
        <p:spPr bwMode="auto">
          <a:xfrm>
            <a:off x="3016250" y="2741613"/>
            <a:ext cx="1130300" cy="611187"/>
          </a:xfrm>
          <a:prstGeom prst="rect">
            <a:avLst/>
          </a:prstGeom>
          <a:noFill/>
          <a:ln w="12700">
            <a:noFill/>
            <a:miter lim="800000"/>
            <a:headEnd/>
            <a:tailEnd/>
          </a:ln>
        </p:spPr>
        <p:txBody>
          <a:bodyPr lIns="92075" tIns="92075" rIns="92075" bIns="92075">
            <a:spAutoFit/>
          </a:bodyPr>
          <a:lstStyle/>
          <a:p>
            <a:pPr eaLnBrk="0" hangingPunct="0">
              <a:spcBef>
                <a:spcPct val="50000"/>
              </a:spcBef>
            </a:pPr>
            <a:r>
              <a:rPr lang="en-US" sz="2800" b="1">
                <a:solidFill>
                  <a:srgbClr val="00FF00"/>
                </a:solidFill>
              </a:rPr>
              <a:t>.02</a:t>
            </a:r>
          </a:p>
        </p:txBody>
      </p:sp>
      <p:sp>
        <p:nvSpPr>
          <p:cNvPr id="361518" name="Rectangle 44"/>
          <p:cNvSpPr>
            <a:spLocks noChangeArrowheads="1"/>
          </p:cNvSpPr>
          <p:nvPr/>
        </p:nvSpPr>
        <p:spPr bwMode="auto">
          <a:xfrm>
            <a:off x="304800" y="4191000"/>
            <a:ext cx="1066800" cy="473075"/>
          </a:xfrm>
          <a:prstGeom prst="rect">
            <a:avLst/>
          </a:prstGeom>
          <a:noFill/>
          <a:ln w="12700">
            <a:noFill/>
            <a:miter lim="800000"/>
            <a:headEnd/>
            <a:tailEnd/>
          </a:ln>
        </p:spPr>
        <p:txBody>
          <a:bodyPr lIns="92075" tIns="0" rIns="92075" bIns="0" anchor="ctr"/>
          <a:lstStyle/>
          <a:p>
            <a:pPr eaLnBrk="0" hangingPunct="0">
              <a:spcBef>
                <a:spcPct val="50000"/>
              </a:spcBef>
            </a:pPr>
            <a:r>
              <a:rPr lang="en-US" sz="2800" b="1">
                <a:solidFill>
                  <a:srgbClr val="00FF00"/>
                </a:solidFill>
              </a:rPr>
              <a:t>0.1</a:t>
            </a:r>
          </a:p>
        </p:txBody>
      </p:sp>
      <p:sp>
        <p:nvSpPr>
          <p:cNvPr id="361519" name="Rectangle 45"/>
          <p:cNvSpPr>
            <a:spLocks noChangeArrowheads="1"/>
          </p:cNvSpPr>
          <p:nvPr/>
        </p:nvSpPr>
        <p:spPr bwMode="auto">
          <a:xfrm>
            <a:off x="2895600" y="4159250"/>
            <a:ext cx="1022350" cy="500063"/>
          </a:xfrm>
          <a:prstGeom prst="rect">
            <a:avLst/>
          </a:prstGeom>
          <a:solidFill>
            <a:srgbClr val="FDE0BD"/>
          </a:solidFill>
          <a:ln w="12700">
            <a:noFill/>
            <a:miter lim="800000"/>
            <a:headEnd/>
            <a:tailEnd/>
          </a:ln>
        </p:spPr>
        <p:txBody>
          <a:bodyPr lIns="90487" tIns="44450" rIns="90487" bIns="44450">
            <a:spAutoFit/>
          </a:bodyPr>
          <a:lstStyle/>
          <a:p>
            <a:pPr eaLnBrk="0" hangingPunct="0">
              <a:spcBef>
                <a:spcPct val="50000"/>
              </a:spcBef>
            </a:pPr>
            <a:r>
              <a:rPr lang="en-US" sz="2700" b="1">
                <a:solidFill>
                  <a:srgbClr val="FF0000"/>
                </a:solidFill>
              </a:rPr>
              <a:t>.</a:t>
            </a:r>
            <a:r>
              <a:rPr lang="en-US">
                <a:solidFill>
                  <a:srgbClr val="FF0000"/>
                </a:solidFill>
              </a:rPr>
              <a:t>5478</a:t>
            </a:r>
          </a:p>
        </p:txBody>
      </p:sp>
      <p:sp>
        <p:nvSpPr>
          <p:cNvPr id="361520" name="Rectangle 46"/>
          <p:cNvSpPr>
            <a:spLocks noChangeArrowheads="1"/>
          </p:cNvSpPr>
          <p:nvPr/>
        </p:nvSpPr>
        <p:spPr bwMode="auto">
          <a:xfrm>
            <a:off x="381000" y="1905000"/>
            <a:ext cx="4572000" cy="782638"/>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a:t>Standardized Normal Probability </a:t>
            </a:r>
          </a:p>
          <a:p>
            <a:pPr eaLnBrk="0" hangingPunct="0">
              <a:lnSpc>
                <a:spcPct val="40000"/>
              </a:lnSpc>
              <a:spcBef>
                <a:spcPct val="50000"/>
              </a:spcBef>
            </a:pPr>
            <a:r>
              <a:rPr lang="en-US"/>
              <a:t>Table (Portion)</a:t>
            </a:r>
          </a:p>
        </p:txBody>
      </p:sp>
      <p:sp>
        <p:nvSpPr>
          <p:cNvPr id="361521" name="Rectangle 47"/>
          <p:cNvSpPr>
            <a:spLocks noChangeArrowheads="1"/>
          </p:cNvSpPr>
          <p:nvPr/>
        </p:nvSpPr>
        <p:spPr bwMode="auto">
          <a:xfrm>
            <a:off x="6065838" y="5441950"/>
            <a:ext cx="625475" cy="363538"/>
          </a:xfrm>
          <a:prstGeom prst="rect">
            <a:avLst/>
          </a:prstGeom>
          <a:noFill/>
          <a:ln w="12700">
            <a:noFill/>
            <a:miter lim="800000"/>
            <a:headEnd/>
            <a:tailEnd/>
          </a:ln>
        </p:spPr>
        <p:txBody>
          <a:bodyPr wrap="none" lIns="90487" tIns="44450" rIns="90487" bIns="44450">
            <a:spAutoFit/>
          </a:bodyPr>
          <a:lstStyle/>
          <a:p>
            <a:pPr eaLnBrk="0" hangingPunct="0"/>
            <a:r>
              <a:rPr lang="en-US" sz="1800" b="1"/>
              <a:t>0.00</a:t>
            </a:r>
            <a:endParaRPr lang="en-US" b="1"/>
          </a:p>
        </p:txBody>
      </p:sp>
      <p:sp>
        <p:nvSpPr>
          <p:cNvPr id="361522" name="Line 48"/>
          <p:cNvSpPr>
            <a:spLocks noChangeShapeType="1"/>
          </p:cNvSpPr>
          <p:nvPr/>
        </p:nvSpPr>
        <p:spPr bwMode="auto">
          <a:xfrm flipV="1">
            <a:off x="6294438" y="5213350"/>
            <a:ext cx="0" cy="228600"/>
          </a:xfrm>
          <a:prstGeom prst="line">
            <a:avLst/>
          </a:prstGeom>
          <a:noFill/>
          <a:ln w="12700">
            <a:solidFill>
              <a:schemeClr val="tx1"/>
            </a:solidFill>
            <a:round/>
            <a:headEnd/>
            <a:tailEnd type="triangle" w="med" len="med"/>
          </a:ln>
        </p:spPr>
        <p:txBody>
          <a:bodyPr wrap="none" anchor="ctr"/>
          <a:lstStyle/>
          <a:p>
            <a:endParaRPr lang="en-US"/>
          </a:p>
        </p:txBody>
      </p:sp>
      <p:sp>
        <p:nvSpPr>
          <p:cNvPr id="361523" name="Line 49"/>
          <p:cNvSpPr>
            <a:spLocks noChangeShapeType="1"/>
          </p:cNvSpPr>
          <p:nvPr/>
        </p:nvSpPr>
        <p:spPr bwMode="auto">
          <a:xfrm flipV="1">
            <a:off x="6675438" y="5213350"/>
            <a:ext cx="0" cy="685800"/>
          </a:xfrm>
          <a:prstGeom prst="line">
            <a:avLst/>
          </a:prstGeom>
          <a:noFill/>
          <a:ln w="12700">
            <a:solidFill>
              <a:schemeClr val="tx1"/>
            </a:solidFill>
            <a:round/>
            <a:headEnd/>
            <a:tailEnd type="triangle" w="med" len="med"/>
          </a:ln>
        </p:spPr>
        <p:txBody>
          <a:bodyPr wrap="none" anchor="ctr"/>
          <a:lstStyle/>
          <a:p>
            <a:endParaRPr lang="en-US"/>
          </a:p>
        </p:txBody>
      </p:sp>
      <p:sp>
        <p:nvSpPr>
          <p:cNvPr id="361524" name="Line 50"/>
          <p:cNvSpPr>
            <a:spLocks noChangeShapeType="1"/>
          </p:cNvSpPr>
          <p:nvPr/>
        </p:nvSpPr>
        <p:spPr bwMode="auto">
          <a:xfrm flipH="1">
            <a:off x="6477000" y="3352800"/>
            <a:ext cx="762000" cy="838200"/>
          </a:xfrm>
          <a:prstGeom prst="line">
            <a:avLst/>
          </a:prstGeom>
          <a:noFill/>
          <a:ln w="12700">
            <a:solidFill>
              <a:schemeClr val="tx1"/>
            </a:solidFill>
            <a:round/>
            <a:headEnd/>
            <a:tailEnd type="triangle" w="med" len="med"/>
          </a:ln>
        </p:spPr>
        <p:txBody>
          <a:bodyPr wrap="none" anchor="ctr"/>
          <a:lstStyle/>
          <a:p>
            <a:endParaRPr lang="en-US"/>
          </a:p>
        </p:txBody>
      </p:sp>
      <p:sp>
        <p:nvSpPr>
          <p:cNvPr id="361525" name="Rectangle 51"/>
          <p:cNvSpPr>
            <a:spLocks noChangeArrowheads="1"/>
          </p:cNvSpPr>
          <p:nvPr/>
        </p:nvSpPr>
        <p:spPr bwMode="auto">
          <a:xfrm>
            <a:off x="6662738" y="2362200"/>
            <a:ext cx="1978025" cy="457200"/>
          </a:xfrm>
          <a:prstGeom prst="rect">
            <a:avLst/>
          </a:prstGeom>
          <a:noFill/>
          <a:ln w="19050" algn="ctr">
            <a:noFill/>
            <a:miter lim="800000"/>
            <a:headEnd/>
            <a:tailEnd/>
          </a:ln>
        </p:spPr>
        <p:txBody>
          <a:bodyPr wrap="none">
            <a:spAutoFit/>
          </a:bodyPr>
          <a:lstStyle/>
          <a:p>
            <a:pPr algn="ctr" eaLnBrk="0" hangingPunct="0">
              <a:spcBef>
                <a:spcPct val="50000"/>
              </a:spcBef>
            </a:pPr>
            <a:r>
              <a:rPr lang="en-US">
                <a:solidFill>
                  <a:schemeClr val="folHlink"/>
                </a:solidFill>
              </a:rPr>
              <a:t>= P(</a:t>
            </a:r>
            <a:r>
              <a:rPr lang="en-US">
                <a:solidFill>
                  <a:schemeClr val="folHlink"/>
                </a:solidFill>
                <a:sym typeface="Arial" charset="0"/>
              </a:rPr>
              <a:t>Z &lt; 0.12)</a:t>
            </a:r>
          </a:p>
        </p:txBody>
      </p:sp>
      <p:sp>
        <p:nvSpPr>
          <p:cNvPr id="361526" name="Rectangle 52"/>
          <p:cNvSpPr>
            <a:spLocks noChangeArrowheads="1"/>
          </p:cNvSpPr>
          <p:nvPr/>
        </p:nvSpPr>
        <p:spPr bwMode="auto">
          <a:xfrm>
            <a:off x="6767513" y="1981200"/>
            <a:ext cx="1747837" cy="461963"/>
          </a:xfrm>
          <a:prstGeom prst="rect">
            <a:avLst/>
          </a:prstGeom>
          <a:noFill/>
          <a:ln w="19050" algn="ctr">
            <a:noFill/>
            <a:miter lim="800000"/>
            <a:headEnd/>
            <a:tailEnd/>
          </a:ln>
        </p:spPr>
        <p:txBody>
          <a:bodyPr wrap="none">
            <a:spAutoFit/>
          </a:bodyPr>
          <a:lstStyle/>
          <a:p>
            <a:pPr algn="ctr"/>
            <a:r>
              <a:rPr lang="en-US">
                <a:solidFill>
                  <a:schemeClr val="bg2"/>
                </a:solidFill>
              </a:rPr>
              <a:t>P(</a:t>
            </a:r>
            <a:r>
              <a:rPr lang="en-US">
                <a:solidFill>
                  <a:schemeClr val="bg2"/>
                </a:solidFill>
                <a:sym typeface="Arial" charset="0"/>
              </a:rPr>
              <a:t>X &lt; 18.6)</a:t>
            </a:r>
          </a:p>
        </p:txBody>
      </p:sp>
      <p:sp>
        <p:nvSpPr>
          <p:cNvPr id="361527" name="Rectangle 53"/>
          <p:cNvSpPr>
            <a:spLocks noChangeArrowheads="1"/>
          </p:cNvSpPr>
          <p:nvPr/>
        </p:nvSpPr>
        <p:spPr bwMode="auto">
          <a:xfrm>
            <a:off x="6400800" y="1905000"/>
            <a:ext cx="2514600" cy="1447800"/>
          </a:xfrm>
          <a:prstGeom prst="rect">
            <a:avLst/>
          </a:prstGeom>
          <a:noFill/>
          <a:ln w="19050" algn="ctr">
            <a:solidFill>
              <a:schemeClr val="tx1"/>
            </a:solidFill>
            <a:miter lim="800000"/>
            <a:headEnd/>
            <a:tailEnd/>
          </a:ln>
        </p:spPr>
        <p:txBody>
          <a:bodyPr wrap="none" anchor="ctr"/>
          <a:lstStyle/>
          <a:p>
            <a:pPr algn="ctr">
              <a:spcBef>
                <a:spcPct val="50000"/>
              </a:spcBef>
            </a:pPr>
            <a:endParaRPr lang="en-GB"/>
          </a:p>
        </p:txBody>
      </p:sp>
      <p:sp>
        <p:nvSpPr>
          <p:cNvPr id="361528" name="Line 54"/>
          <p:cNvSpPr>
            <a:spLocks noChangeShapeType="1"/>
          </p:cNvSpPr>
          <p:nvPr/>
        </p:nvSpPr>
        <p:spPr bwMode="auto">
          <a:xfrm>
            <a:off x="990600" y="2743200"/>
            <a:ext cx="0" cy="3276600"/>
          </a:xfrm>
          <a:prstGeom prst="line">
            <a:avLst/>
          </a:prstGeom>
          <a:noFill/>
          <a:ln w="9525">
            <a:solidFill>
              <a:srgbClr val="FF99FF"/>
            </a:solidFill>
            <a:miter lim="800000"/>
            <a:headEnd/>
            <a:tailEnd/>
          </a:ln>
        </p:spPr>
        <p:txBody>
          <a:bodyPr wrap="none"/>
          <a:lstStyle/>
          <a:p>
            <a:endParaRPr lang="en-US"/>
          </a:p>
        </p:txBody>
      </p:sp>
      <p:sp>
        <p:nvSpPr>
          <p:cNvPr id="361529" name="Line 55"/>
          <p:cNvSpPr>
            <a:spLocks noChangeShapeType="1"/>
          </p:cNvSpPr>
          <p:nvPr/>
        </p:nvSpPr>
        <p:spPr bwMode="auto">
          <a:xfrm>
            <a:off x="1905000" y="2743200"/>
            <a:ext cx="0" cy="3276600"/>
          </a:xfrm>
          <a:prstGeom prst="line">
            <a:avLst/>
          </a:prstGeom>
          <a:noFill/>
          <a:ln w="9525">
            <a:solidFill>
              <a:srgbClr val="FF99FF"/>
            </a:solidFill>
            <a:miter lim="800000"/>
            <a:headEnd/>
            <a:tailEnd/>
          </a:ln>
        </p:spPr>
        <p:txBody>
          <a:bodyPr wrap="none"/>
          <a:lstStyle/>
          <a:p>
            <a:endParaRPr lang="en-US"/>
          </a:p>
        </p:txBody>
      </p:sp>
      <p:sp>
        <p:nvSpPr>
          <p:cNvPr id="361530" name="Line 56"/>
          <p:cNvSpPr>
            <a:spLocks noChangeShapeType="1"/>
          </p:cNvSpPr>
          <p:nvPr/>
        </p:nvSpPr>
        <p:spPr bwMode="auto">
          <a:xfrm>
            <a:off x="2895600" y="2743200"/>
            <a:ext cx="0" cy="3276600"/>
          </a:xfrm>
          <a:prstGeom prst="line">
            <a:avLst/>
          </a:prstGeom>
          <a:noFill/>
          <a:ln w="9525">
            <a:solidFill>
              <a:srgbClr val="FF99FF"/>
            </a:solidFill>
            <a:miter lim="800000"/>
            <a:headEnd/>
            <a:tailEnd/>
          </a:ln>
        </p:spPr>
        <p:txBody>
          <a:bodyPr wrap="none"/>
          <a:lstStyle/>
          <a:p>
            <a:endParaRPr lang="en-US"/>
          </a:p>
        </p:txBody>
      </p:sp>
      <p:sp>
        <p:nvSpPr>
          <p:cNvPr id="361531" name="Line 57"/>
          <p:cNvSpPr>
            <a:spLocks noChangeShapeType="1"/>
          </p:cNvSpPr>
          <p:nvPr/>
        </p:nvSpPr>
        <p:spPr bwMode="auto">
          <a:xfrm>
            <a:off x="381000" y="3429000"/>
            <a:ext cx="3429000" cy="0"/>
          </a:xfrm>
          <a:prstGeom prst="line">
            <a:avLst/>
          </a:prstGeom>
          <a:noFill/>
          <a:ln w="9525">
            <a:solidFill>
              <a:srgbClr val="FF99FF"/>
            </a:solidFill>
            <a:miter lim="800000"/>
            <a:headEnd/>
            <a:tailEnd/>
          </a:ln>
        </p:spPr>
        <p:txBody>
          <a:bodyPr wrap="none"/>
          <a:lstStyle/>
          <a:p>
            <a:endParaRPr lang="en-US"/>
          </a:p>
        </p:txBody>
      </p:sp>
      <p:sp>
        <p:nvSpPr>
          <p:cNvPr id="361532" name="Line 58"/>
          <p:cNvSpPr>
            <a:spLocks noChangeShapeType="1"/>
          </p:cNvSpPr>
          <p:nvPr/>
        </p:nvSpPr>
        <p:spPr bwMode="auto">
          <a:xfrm>
            <a:off x="381000" y="4038600"/>
            <a:ext cx="3429000" cy="0"/>
          </a:xfrm>
          <a:prstGeom prst="line">
            <a:avLst/>
          </a:prstGeom>
          <a:noFill/>
          <a:ln w="9525">
            <a:solidFill>
              <a:srgbClr val="FF99FF"/>
            </a:solidFill>
            <a:miter lim="800000"/>
            <a:headEnd/>
            <a:tailEnd/>
          </a:ln>
        </p:spPr>
        <p:txBody>
          <a:bodyPr wrap="none"/>
          <a:lstStyle/>
          <a:p>
            <a:endParaRPr lang="en-US"/>
          </a:p>
        </p:txBody>
      </p:sp>
      <p:sp>
        <p:nvSpPr>
          <p:cNvPr id="361533" name="Line 59"/>
          <p:cNvSpPr>
            <a:spLocks noChangeShapeType="1"/>
          </p:cNvSpPr>
          <p:nvPr/>
        </p:nvSpPr>
        <p:spPr bwMode="auto">
          <a:xfrm>
            <a:off x="381000" y="4724400"/>
            <a:ext cx="3429000" cy="0"/>
          </a:xfrm>
          <a:prstGeom prst="line">
            <a:avLst/>
          </a:prstGeom>
          <a:noFill/>
          <a:ln w="9525">
            <a:solidFill>
              <a:srgbClr val="FF99FF"/>
            </a:solidFill>
            <a:miter lim="800000"/>
            <a:headEnd/>
            <a:tailEnd/>
          </a:ln>
        </p:spPr>
        <p:txBody>
          <a:bodyPr wrap="none"/>
          <a:lstStyle/>
          <a:p>
            <a:endParaRPr lang="en-US"/>
          </a:p>
        </p:txBody>
      </p:sp>
      <p:sp>
        <p:nvSpPr>
          <p:cNvPr id="361534" name="Line 60"/>
          <p:cNvSpPr>
            <a:spLocks noChangeShapeType="1"/>
          </p:cNvSpPr>
          <p:nvPr/>
        </p:nvSpPr>
        <p:spPr bwMode="auto">
          <a:xfrm>
            <a:off x="381000" y="5410200"/>
            <a:ext cx="3429000" cy="0"/>
          </a:xfrm>
          <a:prstGeom prst="line">
            <a:avLst/>
          </a:prstGeom>
          <a:noFill/>
          <a:ln w="9525">
            <a:solidFill>
              <a:srgbClr val="FF99FF"/>
            </a:solidFill>
            <a:miter lim="800000"/>
            <a:headEnd/>
            <a:tailEnd/>
          </a:ln>
        </p:spPr>
        <p:txBody>
          <a:bodyPr wrap="none"/>
          <a:lstStyle/>
          <a:p>
            <a:endParaRPr lang="en-US"/>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4"/>
          <p:cNvSpPr>
            <a:spLocks noGrp="1" noChangeArrowheads="1"/>
          </p:cNvSpPr>
          <p:nvPr>
            <p:ph type="ftr" sz="quarter" idx="10"/>
          </p:nvPr>
        </p:nvSpPr>
        <p:spPr>
          <a:noFill/>
        </p:spPr>
        <p:txBody>
          <a:bodyPr/>
          <a:lstStyle/>
          <a:p>
            <a:r>
              <a:rPr lang="en-US" smtClean="0"/>
              <a:t>Copyright ©2012 Pearson Education</a:t>
            </a:r>
          </a:p>
        </p:txBody>
      </p:sp>
      <p:sp>
        <p:nvSpPr>
          <p:cNvPr id="363522" name="Rectangle 5"/>
          <p:cNvSpPr>
            <a:spLocks noGrp="1" noChangeArrowheads="1"/>
          </p:cNvSpPr>
          <p:nvPr>
            <p:ph type="sldNum" sz="quarter" idx="11"/>
          </p:nvPr>
        </p:nvSpPr>
        <p:spPr>
          <a:noFill/>
        </p:spPr>
        <p:txBody>
          <a:bodyPr/>
          <a:lstStyle/>
          <a:p>
            <a:r>
              <a:rPr lang="en-US" smtClean="0"/>
              <a:t>Chap 6-</a:t>
            </a:r>
            <a:fld id="{5727902C-BB74-4E68-AA10-659F1AE138BB}" type="slidenum">
              <a:rPr lang="en-US" smtClean="0"/>
              <a:pPr/>
              <a:t>21</a:t>
            </a:fld>
            <a:endParaRPr lang="en-US" smtClean="0"/>
          </a:p>
        </p:txBody>
      </p:sp>
      <p:sp>
        <p:nvSpPr>
          <p:cNvPr id="363523"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60E81AEF-23DC-4F2B-BB61-63BC40A63931}" type="slidenum">
              <a:rPr lang="en-US" sz="1000"/>
              <a:pPr algn="r" defTabSz="852488"/>
              <a:t>21</a:t>
            </a:fld>
            <a:endParaRPr lang="en-US" sz="1000"/>
          </a:p>
        </p:txBody>
      </p:sp>
      <p:sp>
        <p:nvSpPr>
          <p:cNvPr id="363524" name="Rectangle 2"/>
          <p:cNvSpPr>
            <a:spLocks noGrp="1" noChangeArrowheads="1"/>
          </p:cNvSpPr>
          <p:nvPr>
            <p:ph type="title"/>
          </p:nvPr>
        </p:nvSpPr>
        <p:spPr>
          <a:xfrm>
            <a:off x="990600" y="381000"/>
            <a:ext cx="7793038" cy="838200"/>
          </a:xfrm>
        </p:spPr>
        <p:txBody>
          <a:bodyPr/>
          <a:lstStyle/>
          <a:p>
            <a:pPr eaLnBrk="1" hangingPunct="1"/>
            <a:r>
              <a:rPr lang="en-US" sz="3600" smtClean="0"/>
              <a:t/>
            </a:r>
            <a:br>
              <a:rPr lang="en-US" sz="3600" smtClean="0"/>
            </a:br>
            <a:r>
              <a:rPr lang="en-US" sz="3600" smtClean="0"/>
              <a:t>Finding Normal</a:t>
            </a:r>
            <a:br>
              <a:rPr lang="en-US" sz="3600" smtClean="0"/>
            </a:br>
            <a:r>
              <a:rPr lang="en-US" sz="3600" smtClean="0"/>
              <a:t>Upper Tail Probabilities</a:t>
            </a:r>
          </a:p>
        </p:txBody>
      </p:sp>
      <p:sp>
        <p:nvSpPr>
          <p:cNvPr id="363525" name="Rectangle 3"/>
          <p:cNvSpPr>
            <a:spLocks noGrp="1" noChangeArrowheads="1"/>
          </p:cNvSpPr>
          <p:nvPr>
            <p:ph type="body" idx="1"/>
          </p:nvPr>
        </p:nvSpPr>
        <p:spPr>
          <a:xfrm>
            <a:off x="762000" y="1752600"/>
            <a:ext cx="8077200" cy="4532313"/>
          </a:xfrm>
        </p:spPr>
        <p:txBody>
          <a:bodyPr/>
          <a:lstStyle/>
          <a:p>
            <a:pPr eaLnBrk="1" hangingPunct="1"/>
            <a:r>
              <a:rPr lang="en-US" sz="3200" smtClean="0"/>
              <a:t>Suppose  X  is normal with mean 18.0 and standard deviation 5.0.  </a:t>
            </a:r>
          </a:p>
          <a:p>
            <a:pPr eaLnBrk="1" hangingPunct="1"/>
            <a:r>
              <a:rPr lang="en-US" sz="3200" smtClean="0">
                <a:solidFill>
                  <a:schemeClr val="folHlink"/>
                </a:solidFill>
              </a:rPr>
              <a:t>Now Find P(X &gt; 18.6)</a:t>
            </a:r>
          </a:p>
        </p:txBody>
      </p:sp>
      <p:sp>
        <p:nvSpPr>
          <p:cNvPr id="363526" name="Freeform 4"/>
          <p:cNvSpPr>
            <a:spLocks/>
          </p:cNvSpPr>
          <p:nvPr/>
        </p:nvSpPr>
        <p:spPr bwMode="auto">
          <a:xfrm>
            <a:off x="5391150" y="4176713"/>
            <a:ext cx="1314450" cy="1404937"/>
          </a:xfrm>
          <a:custGeom>
            <a:avLst/>
            <a:gdLst>
              <a:gd name="T0" fmla="*/ 4763 w 828"/>
              <a:gd name="T1" fmla="*/ 1400175 h 885"/>
              <a:gd name="T2" fmla="*/ 0 w 828"/>
              <a:gd name="T3" fmla="*/ 0 h 885"/>
              <a:gd name="T4" fmla="*/ 42862 w 828"/>
              <a:gd name="T5" fmla="*/ 114300 h 885"/>
              <a:gd name="T6" fmla="*/ 128588 w 828"/>
              <a:gd name="T7" fmla="*/ 252412 h 885"/>
              <a:gd name="T8" fmla="*/ 185737 w 828"/>
              <a:gd name="T9" fmla="*/ 376237 h 885"/>
              <a:gd name="T10" fmla="*/ 247650 w 828"/>
              <a:gd name="T11" fmla="*/ 471487 h 885"/>
              <a:gd name="T12" fmla="*/ 319088 w 828"/>
              <a:gd name="T13" fmla="*/ 609600 h 885"/>
              <a:gd name="T14" fmla="*/ 433388 w 828"/>
              <a:gd name="T15" fmla="*/ 785812 h 885"/>
              <a:gd name="T16" fmla="*/ 538163 w 828"/>
              <a:gd name="T17" fmla="*/ 928687 h 885"/>
              <a:gd name="T18" fmla="*/ 701675 w 828"/>
              <a:gd name="T19" fmla="*/ 1100137 h 885"/>
              <a:gd name="T20" fmla="*/ 966788 w 828"/>
              <a:gd name="T21" fmla="*/ 1252537 h 885"/>
              <a:gd name="T22" fmla="*/ 1314450 w 828"/>
              <a:gd name="T23" fmla="*/ 1309687 h 885"/>
              <a:gd name="T24" fmla="*/ 1309688 w 828"/>
              <a:gd name="T25" fmla="*/ 1404937 h 885"/>
              <a:gd name="T26" fmla="*/ 4763 w 828"/>
              <a:gd name="T27" fmla="*/ 1400175 h 88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28"/>
              <a:gd name="T43" fmla="*/ 0 h 885"/>
              <a:gd name="T44" fmla="*/ 828 w 828"/>
              <a:gd name="T45" fmla="*/ 885 h 88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28" h="885">
                <a:moveTo>
                  <a:pt x="3" y="882"/>
                </a:moveTo>
                <a:lnTo>
                  <a:pt x="0" y="0"/>
                </a:lnTo>
                <a:lnTo>
                  <a:pt x="27" y="72"/>
                </a:lnTo>
                <a:lnTo>
                  <a:pt x="81" y="159"/>
                </a:lnTo>
                <a:lnTo>
                  <a:pt x="117" y="237"/>
                </a:lnTo>
                <a:lnTo>
                  <a:pt x="156" y="297"/>
                </a:lnTo>
                <a:lnTo>
                  <a:pt x="201" y="384"/>
                </a:lnTo>
                <a:lnTo>
                  <a:pt x="273" y="495"/>
                </a:lnTo>
                <a:lnTo>
                  <a:pt x="339" y="585"/>
                </a:lnTo>
                <a:lnTo>
                  <a:pt x="442" y="693"/>
                </a:lnTo>
                <a:lnTo>
                  <a:pt x="609" y="789"/>
                </a:lnTo>
                <a:lnTo>
                  <a:pt x="828" y="825"/>
                </a:lnTo>
                <a:lnTo>
                  <a:pt x="825" y="885"/>
                </a:lnTo>
                <a:lnTo>
                  <a:pt x="3" y="882"/>
                </a:lnTo>
                <a:close/>
              </a:path>
            </a:pathLst>
          </a:custGeom>
          <a:solidFill>
            <a:srgbClr val="FF0000"/>
          </a:solidFill>
          <a:ln w="12700">
            <a:solidFill>
              <a:srgbClr val="FF0000"/>
            </a:solidFill>
            <a:round/>
            <a:headEnd/>
            <a:tailEnd/>
          </a:ln>
        </p:spPr>
        <p:txBody>
          <a:bodyPr/>
          <a:lstStyle/>
          <a:p>
            <a:endParaRPr lang="en-GB"/>
          </a:p>
        </p:txBody>
      </p:sp>
      <p:sp>
        <p:nvSpPr>
          <p:cNvPr id="363527" name="Freeform 5"/>
          <p:cNvSpPr>
            <a:spLocks/>
          </p:cNvSpPr>
          <p:nvPr/>
        </p:nvSpPr>
        <p:spPr bwMode="auto">
          <a:xfrm>
            <a:off x="5064125" y="3917950"/>
            <a:ext cx="1635125" cy="1573213"/>
          </a:xfrm>
          <a:custGeom>
            <a:avLst/>
            <a:gdLst>
              <a:gd name="T0" fmla="*/ 1633538 w 1030"/>
              <a:gd name="T1" fmla="*/ 1571625 h 991"/>
              <a:gd name="T2" fmla="*/ 1462087 w 1030"/>
              <a:gd name="T3" fmla="*/ 1555750 h 991"/>
              <a:gd name="T4" fmla="*/ 1374775 w 1030"/>
              <a:gd name="T5" fmla="*/ 1535113 h 991"/>
              <a:gd name="T6" fmla="*/ 1290637 w 1030"/>
              <a:gd name="T7" fmla="*/ 1511300 h 991"/>
              <a:gd name="T8" fmla="*/ 1203325 w 1030"/>
              <a:gd name="T9" fmla="*/ 1474788 h 991"/>
              <a:gd name="T10" fmla="*/ 1116012 w 1030"/>
              <a:gd name="T11" fmla="*/ 1423988 h 991"/>
              <a:gd name="T12" fmla="*/ 1033462 w 1030"/>
              <a:gd name="T13" fmla="*/ 1360488 h 991"/>
              <a:gd name="T14" fmla="*/ 858837 w 1030"/>
              <a:gd name="T15" fmla="*/ 1179513 h 991"/>
              <a:gd name="T16" fmla="*/ 687387 w 1030"/>
              <a:gd name="T17" fmla="*/ 922338 h 991"/>
              <a:gd name="T18" fmla="*/ 515937 w 1030"/>
              <a:gd name="T19" fmla="*/ 612775 h 991"/>
              <a:gd name="T20" fmla="*/ 428625 w 1030"/>
              <a:gd name="T21" fmla="*/ 455613 h 991"/>
              <a:gd name="T22" fmla="*/ 341312 w 1030"/>
              <a:gd name="T23" fmla="*/ 311150 h 991"/>
              <a:gd name="T24" fmla="*/ 258762 w 1030"/>
              <a:gd name="T25" fmla="*/ 184150 h 991"/>
              <a:gd name="T26" fmla="*/ 171450 w 1030"/>
              <a:gd name="T27" fmla="*/ 84138 h 991"/>
              <a:gd name="T28" fmla="*/ 84137 w 1030"/>
              <a:gd name="T29" fmla="*/ 20638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a:solidFill>
              <a:srgbClr val="008000"/>
            </a:solidFill>
            <a:round/>
            <a:headEnd/>
            <a:tailEnd/>
          </a:ln>
        </p:spPr>
        <p:txBody>
          <a:bodyPr/>
          <a:lstStyle/>
          <a:p>
            <a:endParaRPr lang="en-GB"/>
          </a:p>
        </p:txBody>
      </p:sp>
      <p:sp>
        <p:nvSpPr>
          <p:cNvPr id="363528" name="Freeform 6"/>
          <p:cNvSpPr>
            <a:spLocks/>
          </p:cNvSpPr>
          <p:nvPr/>
        </p:nvSpPr>
        <p:spPr bwMode="auto">
          <a:xfrm>
            <a:off x="3427413" y="3917950"/>
            <a:ext cx="1638300" cy="1573213"/>
          </a:xfrm>
          <a:custGeom>
            <a:avLst/>
            <a:gdLst>
              <a:gd name="T0" fmla="*/ 0 w 1032"/>
              <a:gd name="T1" fmla="*/ 1571625 h 991"/>
              <a:gd name="T2" fmla="*/ 171450 w 1032"/>
              <a:gd name="T3" fmla="*/ 1555750 h 991"/>
              <a:gd name="T4" fmla="*/ 258762 w 1032"/>
              <a:gd name="T5" fmla="*/ 1535113 h 991"/>
              <a:gd name="T6" fmla="*/ 346075 w 1032"/>
              <a:gd name="T7" fmla="*/ 1511300 h 991"/>
              <a:gd name="T8" fmla="*/ 430212 w 1032"/>
              <a:gd name="T9" fmla="*/ 1474788 h 991"/>
              <a:gd name="T10" fmla="*/ 517525 w 1032"/>
              <a:gd name="T11" fmla="*/ 1423988 h 991"/>
              <a:gd name="T12" fmla="*/ 604837 w 1032"/>
              <a:gd name="T13" fmla="*/ 1360488 h 991"/>
              <a:gd name="T14" fmla="*/ 774700 w 1032"/>
              <a:gd name="T15" fmla="*/ 1179513 h 991"/>
              <a:gd name="T16" fmla="*/ 946150 w 1032"/>
              <a:gd name="T17" fmla="*/ 922338 h 991"/>
              <a:gd name="T18" fmla="*/ 1120775 w 1032"/>
              <a:gd name="T19" fmla="*/ 612775 h 991"/>
              <a:gd name="T20" fmla="*/ 1204912 w 1032"/>
              <a:gd name="T21" fmla="*/ 455613 h 991"/>
              <a:gd name="T22" fmla="*/ 1292225 w 1032"/>
              <a:gd name="T23" fmla="*/ 311150 h 991"/>
              <a:gd name="T24" fmla="*/ 1377950 w 1032"/>
              <a:gd name="T25" fmla="*/ 184150 h 991"/>
              <a:gd name="T26" fmla="*/ 1462087 w 1032"/>
              <a:gd name="T27" fmla="*/ 84138 h 991"/>
              <a:gd name="T28" fmla="*/ 1549400 w 1032"/>
              <a:gd name="T29" fmla="*/ 20638 h 991"/>
              <a:gd name="T30" fmla="*/ 1636713 w 1032"/>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2"/>
              <a:gd name="T49" fmla="*/ 0 h 991"/>
              <a:gd name="T50" fmla="*/ 1032 w 1032"/>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2" h="991">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a:solidFill>
              <a:srgbClr val="008000"/>
            </a:solidFill>
            <a:round/>
            <a:headEnd/>
            <a:tailEnd/>
          </a:ln>
        </p:spPr>
        <p:txBody>
          <a:bodyPr/>
          <a:lstStyle/>
          <a:p>
            <a:endParaRPr lang="en-GB"/>
          </a:p>
        </p:txBody>
      </p:sp>
      <p:sp>
        <p:nvSpPr>
          <p:cNvPr id="363529" name="Freeform 7"/>
          <p:cNvSpPr>
            <a:spLocks/>
          </p:cNvSpPr>
          <p:nvPr/>
        </p:nvSpPr>
        <p:spPr bwMode="auto">
          <a:xfrm>
            <a:off x="3409950" y="5573713"/>
            <a:ext cx="3289300" cy="7937"/>
          </a:xfrm>
          <a:custGeom>
            <a:avLst/>
            <a:gdLst>
              <a:gd name="T0" fmla="*/ 0 w 2072"/>
              <a:gd name="T1" fmla="*/ 7937 h 5"/>
              <a:gd name="T2" fmla="*/ 19050 w 2072"/>
              <a:gd name="T3" fmla="*/ 0 h 5"/>
              <a:gd name="T4" fmla="*/ 3289300 w 2072"/>
              <a:gd name="T5" fmla="*/ 0 h 5"/>
              <a:gd name="T6" fmla="*/ 0 60000 65536"/>
              <a:gd name="T7" fmla="*/ 0 60000 65536"/>
              <a:gd name="T8" fmla="*/ 0 60000 65536"/>
              <a:gd name="T9" fmla="*/ 0 w 2072"/>
              <a:gd name="T10" fmla="*/ 0 h 5"/>
              <a:gd name="T11" fmla="*/ 2072 w 2072"/>
              <a:gd name="T12" fmla="*/ 5 h 5"/>
            </a:gdLst>
            <a:ahLst/>
            <a:cxnLst>
              <a:cxn ang="T6">
                <a:pos x="T0" y="T1"/>
              </a:cxn>
              <a:cxn ang="T7">
                <a:pos x="T2" y="T3"/>
              </a:cxn>
              <a:cxn ang="T8">
                <a:pos x="T4" y="T5"/>
              </a:cxn>
            </a:cxnLst>
            <a:rect l="T9" t="T10" r="T11" b="T12"/>
            <a:pathLst>
              <a:path w="2072" h="5">
                <a:moveTo>
                  <a:pt x="0" y="5"/>
                </a:moveTo>
                <a:lnTo>
                  <a:pt x="12" y="0"/>
                </a:lnTo>
                <a:lnTo>
                  <a:pt x="2072" y="0"/>
                </a:lnTo>
              </a:path>
            </a:pathLst>
          </a:custGeom>
          <a:noFill/>
          <a:ln w="50800" cap="rnd">
            <a:solidFill>
              <a:schemeClr val="tx1"/>
            </a:solidFill>
            <a:round/>
            <a:headEnd/>
            <a:tailEnd/>
          </a:ln>
        </p:spPr>
        <p:txBody>
          <a:bodyPr/>
          <a:lstStyle/>
          <a:p>
            <a:endParaRPr lang="en-GB"/>
          </a:p>
        </p:txBody>
      </p:sp>
      <p:sp>
        <p:nvSpPr>
          <p:cNvPr id="363530" name="Rectangle 8"/>
          <p:cNvSpPr>
            <a:spLocks noChangeArrowheads="1"/>
          </p:cNvSpPr>
          <p:nvPr/>
        </p:nvSpPr>
        <p:spPr bwMode="auto">
          <a:xfrm>
            <a:off x="6705600" y="5562600"/>
            <a:ext cx="381000" cy="363538"/>
          </a:xfrm>
          <a:prstGeom prst="rect">
            <a:avLst/>
          </a:prstGeom>
          <a:noFill/>
          <a:ln w="12700">
            <a:noFill/>
            <a:miter lim="800000"/>
            <a:headEnd/>
            <a:tailEnd/>
          </a:ln>
        </p:spPr>
        <p:txBody>
          <a:bodyPr lIns="90487" tIns="44450" rIns="90487" bIns="44450">
            <a:spAutoFit/>
          </a:bodyPr>
          <a:lstStyle/>
          <a:p>
            <a:pPr eaLnBrk="0" hangingPunct="0"/>
            <a:r>
              <a:rPr lang="en-US" sz="1800" b="1"/>
              <a:t>X</a:t>
            </a:r>
          </a:p>
        </p:txBody>
      </p:sp>
      <p:sp>
        <p:nvSpPr>
          <p:cNvPr id="363531" name="Rectangle 9"/>
          <p:cNvSpPr>
            <a:spLocks noChangeArrowheads="1"/>
          </p:cNvSpPr>
          <p:nvPr/>
        </p:nvSpPr>
        <p:spPr bwMode="auto">
          <a:xfrm>
            <a:off x="6567488" y="3821113"/>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363532" name="Rectangle 10"/>
          <p:cNvSpPr>
            <a:spLocks noChangeArrowheads="1"/>
          </p:cNvSpPr>
          <p:nvPr/>
        </p:nvSpPr>
        <p:spPr bwMode="auto">
          <a:xfrm>
            <a:off x="5181600" y="6172200"/>
            <a:ext cx="631825" cy="366713"/>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18.6</a:t>
            </a:r>
            <a:endParaRPr lang="en-US" b="1">
              <a:solidFill>
                <a:srgbClr val="339933"/>
              </a:solidFill>
            </a:endParaRPr>
          </a:p>
        </p:txBody>
      </p:sp>
      <p:sp>
        <p:nvSpPr>
          <p:cNvPr id="363533" name="Rectangle 11"/>
          <p:cNvSpPr>
            <a:spLocks noChangeArrowheads="1"/>
          </p:cNvSpPr>
          <p:nvPr/>
        </p:nvSpPr>
        <p:spPr bwMode="auto">
          <a:xfrm>
            <a:off x="4800600" y="5791200"/>
            <a:ext cx="631825" cy="366713"/>
          </a:xfrm>
          <a:prstGeom prst="rect">
            <a:avLst/>
          </a:prstGeom>
          <a:noFill/>
          <a:ln w="12700">
            <a:noFill/>
            <a:miter lim="800000"/>
            <a:headEnd/>
            <a:tailEnd/>
          </a:ln>
        </p:spPr>
        <p:txBody>
          <a:bodyPr wrap="none" lIns="90487" tIns="44450" rIns="90487" bIns="44450">
            <a:spAutoFit/>
          </a:bodyPr>
          <a:lstStyle/>
          <a:p>
            <a:pPr eaLnBrk="0" hangingPunct="0"/>
            <a:r>
              <a:rPr lang="en-US" sz="1800" b="1"/>
              <a:t>18.0</a:t>
            </a:r>
            <a:endParaRPr lang="en-US" b="1"/>
          </a:p>
        </p:txBody>
      </p:sp>
      <p:sp>
        <p:nvSpPr>
          <p:cNvPr id="363534" name="Line 12"/>
          <p:cNvSpPr>
            <a:spLocks noChangeShapeType="1"/>
          </p:cNvSpPr>
          <p:nvPr/>
        </p:nvSpPr>
        <p:spPr bwMode="auto">
          <a:xfrm flipV="1">
            <a:off x="5410200" y="5562600"/>
            <a:ext cx="0" cy="685800"/>
          </a:xfrm>
          <a:prstGeom prst="line">
            <a:avLst/>
          </a:prstGeom>
          <a:noFill/>
          <a:ln w="12700">
            <a:solidFill>
              <a:schemeClr val="tx1"/>
            </a:solidFill>
            <a:round/>
            <a:headEnd/>
            <a:tailEnd type="triangle" w="med" len="med"/>
          </a:ln>
        </p:spPr>
        <p:txBody>
          <a:bodyPr wrap="none" anchor="ctr"/>
          <a:lstStyle/>
          <a:p>
            <a:endParaRPr lang="en-US"/>
          </a:p>
        </p:txBody>
      </p:sp>
      <p:sp>
        <p:nvSpPr>
          <p:cNvPr id="363535" name="Line 13"/>
          <p:cNvSpPr>
            <a:spLocks noChangeShapeType="1"/>
          </p:cNvSpPr>
          <p:nvPr/>
        </p:nvSpPr>
        <p:spPr bwMode="auto">
          <a:xfrm>
            <a:off x="5029200" y="3962400"/>
            <a:ext cx="0" cy="1600200"/>
          </a:xfrm>
          <a:prstGeom prst="line">
            <a:avLst/>
          </a:prstGeom>
          <a:noFill/>
          <a:ln w="19050" cap="rnd">
            <a:solidFill>
              <a:schemeClr val="tx1"/>
            </a:solidFill>
            <a:prstDash val="sysDot"/>
            <a:round/>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5" name="Rectangle 4"/>
          <p:cNvSpPr>
            <a:spLocks noGrp="1" noChangeArrowheads="1"/>
          </p:cNvSpPr>
          <p:nvPr>
            <p:ph type="ftr" sz="quarter" idx="10"/>
          </p:nvPr>
        </p:nvSpPr>
        <p:spPr>
          <a:noFill/>
        </p:spPr>
        <p:txBody>
          <a:bodyPr/>
          <a:lstStyle/>
          <a:p>
            <a:r>
              <a:rPr lang="en-US" smtClean="0"/>
              <a:t>Copyright ©2012 Pearson Education</a:t>
            </a:r>
          </a:p>
        </p:txBody>
      </p:sp>
      <p:sp>
        <p:nvSpPr>
          <p:cNvPr id="364546" name="Rectangle 5"/>
          <p:cNvSpPr>
            <a:spLocks noGrp="1" noChangeArrowheads="1"/>
          </p:cNvSpPr>
          <p:nvPr>
            <p:ph type="sldNum" sz="quarter" idx="11"/>
          </p:nvPr>
        </p:nvSpPr>
        <p:spPr>
          <a:noFill/>
        </p:spPr>
        <p:txBody>
          <a:bodyPr/>
          <a:lstStyle/>
          <a:p>
            <a:r>
              <a:rPr lang="en-US" smtClean="0"/>
              <a:t>Chap 6-</a:t>
            </a:r>
            <a:fld id="{B947AF63-0957-410A-B939-BDE8EF8CF3A4}" type="slidenum">
              <a:rPr lang="en-US" smtClean="0"/>
              <a:pPr/>
              <a:t>22</a:t>
            </a:fld>
            <a:endParaRPr lang="en-US" smtClean="0"/>
          </a:p>
        </p:txBody>
      </p:sp>
      <p:sp>
        <p:nvSpPr>
          <p:cNvPr id="364547"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08D92493-5079-4414-A83A-661CDD7B9500}" type="slidenum">
              <a:rPr lang="en-US" sz="1000"/>
              <a:pPr algn="r" defTabSz="852488"/>
              <a:t>22</a:t>
            </a:fld>
            <a:endParaRPr lang="en-US" sz="1000"/>
          </a:p>
        </p:txBody>
      </p:sp>
      <p:sp>
        <p:nvSpPr>
          <p:cNvPr id="364548" name="Freeform 2"/>
          <p:cNvSpPr>
            <a:spLocks/>
          </p:cNvSpPr>
          <p:nvPr/>
        </p:nvSpPr>
        <p:spPr bwMode="auto">
          <a:xfrm>
            <a:off x="6229350" y="3892550"/>
            <a:ext cx="349250" cy="1651000"/>
          </a:xfrm>
          <a:custGeom>
            <a:avLst/>
            <a:gdLst>
              <a:gd name="T0" fmla="*/ 0 w 220"/>
              <a:gd name="T1" fmla="*/ 0 h 1040"/>
              <a:gd name="T2" fmla="*/ 163513 w 220"/>
              <a:gd name="T3" fmla="*/ 71437 h 1040"/>
              <a:gd name="T4" fmla="*/ 236538 w 220"/>
              <a:gd name="T5" fmla="*/ 147637 h 1040"/>
              <a:gd name="T6" fmla="*/ 293688 w 220"/>
              <a:gd name="T7" fmla="*/ 225425 h 1040"/>
              <a:gd name="T8" fmla="*/ 346075 w 220"/>
              <a:gd name="T9" fmla="*/ 304800 h 1040"/>
              <a:gd name="T10" fmla="*/ 349250 w 220"/>
              <a:gd name="T11" fmla="*/ 1651000 h 1040"/>
              <a:gd name="T12" fmla="*/ 0 w 220"/>
              <a:gd name="T13" fmla="*/ 1651000 h 1040"/>
              <a:gd name="T14" fmla="*/ 0 w 220"/>
              <a:gd name="T15" fmla="*/ 0 h 1040"/>
              <a:gd name="T16" fmla="*/ 0 60000 65536"/>
              <a:gd name="T17" fmla="*/ 0 60000 65536"/>
              <a:gd name="T18" fmla="*/ 0 60000 65536"/>
              <a:gd name="T19" fmla="*/ 0 60000 65536"/>
              <a:gd name="T20" fmla="*/ 0 60000 65536"/>
              <a:gd name="T21" fmla="*/ 0 60000 65536"/>
              <a:gd name="T22" fmla="*/ 0 60000 65536"/>
              <a:gd name="T23" fmla="*/ 0 60000 65536"/>
              <a:gd name="T24" fmla="*/ 0 w 220"/>
              <a:gd name="T25" fmla="*/ 0 h 1040"/>
              <a:gd name="T26" fmla="*/ 220 w 220"/>
              <a:gd name="T27" fmla="*/ 1040 h 10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0" h="1040">
                <a:moveTo>
                  <a:pt x="0" y="0"/>
                </a:moveTo>
                <a:lnTo>
                  <a:pt x="103" y="45"/>
                </a:lnTo>
                <a:lnTo>
                  <a:pt x="149" y="93"/>
                </a:lnTo>
                <a:lnTo>
                  <a:pt x="185" y="142"/>
                </a:lnTo>
                <a:lnTo>
                  <a:pt x="218" y="192"/>
                </a:lnTo>
                <a:lnTo>
                  <a:pt x="220" y="1040"/>
                </a:lnTo>
                <a:lnTo>
                  <a:pt x="0" y="1040"/>
                </a:lnTo>
                <a:lnTo>
                  <a:pt x="0" y="0"/>
                </a:lnTo>
                <a:close/>
              </a:path>
            </a:pathLst>
          </a:custGeom>
          <a:solidFill>
            <a:srgbClr val="C7DAF7"/>
          </a:solidFill>
          <a:ln w="19050">
            <a:noFill/>
            <a:round/>
            <a:headEnd/>
            <a:tailEnd/>
          </a:ln>
        </p:spPr>
        <p:txBody>
          <a:bodyPr wrap="none" anchor="ctr"/>
          <a:lstStyle/>
          <a:p>
            <a:endParaRPr lang="en-GB"/>
          </a:p>
        </p:txBody>
      </p:sp>
      <p:sp>
        <p:nvSpPr>
          <p:cNvPr id="364549" name="Freeform 3"/>
          <p:cNvSpPr>
            <a:spLocks/>
          </p:cNvSpPr>
          <p:nvPr/>
        </p:nvSpPr>
        <p:spPr bwMode="auto">
          <a:xfrm>
            <a:off x="4619625" y="3886200"/>
            <a:ext cx="1628775" cy="1663700"/>
          </a:xfrm>
          <a:custGeom>
            <a:avLst/>
            <a:gdLst>
              <a:gd name="T0" fmla="*/ 1628775 w 1026"/>
              <a:gd name="T1" fmla="*/ 1654175 h 1048"/>
              <a:gd name="T2" fmla="*/ 1625600 w 1026"/>
              <a:gd name="T3" fmla="*/ 0 h 1048"/>
              <a:gd name="T4" fmla="*/ 1501775 w 1026"/>
              <a:gd name="T5" fmla="*/ 47625 h 1048"/>
              <a:gd name="T6" fmla="*/ 1314450 w 1026"/>
              <a:gd name="T7" fmla="*/ 276225 h 1048"/>
              <a:gd name="T8" fmla="*/ 1165225 w 1026"/>
              <a:gd name="T9" fmla="*/ 527050 h 1048"/>
              <a:gd name="T10" fmla="*/ 1050925 w 1026"/>
              <a:gd name="T11" fmla="*/ 749300 h 1048"/>
              <a:gd name="T12" fmla="*/ 952500 w 1026"/>
              <a:gd name="T13" fmla="*/ 911225 h 1048"/>
              <a:gd name="T14" fmla="*/ 828675 w 1026"/>
              <a:gd name="T15" fmla="*/ 1095375 h 1048"/>
              <a:gd name="T16" fmla="*/ 692150 w 1026"/>
              <a:gd name="T17" fmla="*/ 1254125 h 1048"/>
              <a:gd name="T18" fmla="*/ 555625 w 1026"/>
              <a:gd name="T19" fmla="*/ 1397000 h 1048"/>
              <a:gd name="T20" fmla="*/ 285750 w 1026"/>
              <a:gd name="T21" fmla="*/ 1533525 h 1048"/>
              <a:gd name="T22" fmla="*/ 0 w 1026"/>
              <a:gd name="T23" fmla="*/ 1581150 h 1048"/>
              <a:gd name="T24" fmla="*/ 19050 w 1026"/>
              <a:gd name="T25" fmla="*/ 1663700 h 1048"/>
              <a:gd name="T26" fmla="*/ 1628775 w 1026"/>
              <a:gd name="T27" fmla="*/ 1654175 h 10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26"/>
              <a:gd name="T43" fmla="*/ 0 h 1048"/>
              <a:gd name="T44" fmla="*/ 1026 w 1026"/>
              <a:gd name="T45" fmla="*/ 1048 h 10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26" h="1048">
                <a:moveTo>
                  <a:pt x="1026" y="1042"/>
                </a:moveTo>
                <a:lnTo>
                  <a:pt x="1024" y="0"/>
                </a:lnTo>
                <a:lnTo>
                  <a:pt x="946" y="30"/>
                </a:lnTo>
                <a:lnTo>
                  <a:pt x="828" y="174"/>
                </a:lnTo>
                <a:lnTo>
                  <a:pt x="734" y="332"/>
                </a:lnTo>
                <a:lnTo>
                  <a:pt x="662" y="472"/>
                </a:lnTo>
                <a:lnTo>
                  <a:pt x="600" y="574"/>
                </a:lnTo>
                <a:lnTo>
                  <a:pt x="522" y="690"/>
                </a:lnTo>
                <a:lnTo>
                  <a:pt x="436" y="790"/>
                </a:lnTo>
                <a:lnTo>
                  <a:pt x="350" y="880"/>
                </a:lnTo>
                <a:lnTo>
                  <a:pt x="180" y="966"/>
                </a:lnTo>
                <a:lnTo>
                  <a:pt x="0" y="996"/>
                </a:lnTo>
                <a:lnTo>
                  <a:pt x="12" y="1048"/>
                </a:lnTo>
                <a:lnTo>
                  <a:pt x="1026" y="1042"/>
                </a:lnTo>
                <a:close/>
              </a:path>
            </a:pathLst>
          </a:custGeom>
          <a:solidFill>
            <a:srgbClr val="C7DAF7"/>
          </a:solidFill>
          <a:ln w="12700">
            <a:noFill/>
            <a:round/>
            <a:headEnd/>
            <a:tailEnd/>
          </a:ln>
        </p:spPr>
        <p:txBody>
          <a:bodyPr/>
          <a:lstStyle/>
          <a:p>
            <a:endParaRPr lang="en-GB"/>
          </a:p>
        </p:txBody>
      </p:sp>
      <p:sp>
        <p:nvSpPr>
          <p:cNvPr id="364550" name="Freeform 4"/>
          <p:cNvSpPr>
            <a:spLocks/>
          </p:cNvSpPr>
          <p:nvPr/>
        </p:nvSpPr>
        <p:spPr bwMode="auto">
          <a:xfrm>
            <a:off x="762000" y="3940175"/>
            <a:ext cx="1600200" cy="1622425"/>
          </a:xfrm>
          <a:custGeom>
            <a:avLst/>
            <a:gdLst>
              <a:gd name="T0" fmla="*/ 1600200 w 1008"/>
              <a:gd name="T1" fmla="*/ 1617663 h 1022"/>
              <a:gd name="T2" fmla="*/ 1597025 w 1008"/>
              <a:gd name="T3" fmla="*/ 0 h 1022"/>
              <a:gd name="T4" fmla="*/ 1473200 w 1008"/>
              <a:gd name="T5" fmla="*/ 46038 h 1022"/>
              <a:gd name="T6" fmla="*/ 1301750 w 1008"/>
              <a:gd name="T7" fmla="*/ 266700 h 1022"/>
              <a:gd name="T8" fmla="*/ 1165225 w 1008"/>
              <a:gd name="T9" fmla="*/ 504825 h 1022"/>
              <a:gd name="T10" fmla="*/ 1035050 w 1008"/>
              <a:gd name="T11" fmla="*/ 723900 h 1022"/>
              <a:gd name="T12" fmla="*/ 958850 w 1008"/>
              <a:gd name="T13" fmla="*/ 866775 h 1022"/>
              <a:gd name="T14" fmla="*/ 847725 w 1008"/>
              <a:gd name="T15" fmla="*/ 1050925 h 1022"/>
              <a:gd name="T16" fmla="*/ 746125 w 1008"/>
              <a:gd name="T17" fmla="*/ 1190625 h 1022"/>
              <a:gd name="T18" fmla="*/ 587375 w 1008"/>
              <a:gd name="T19" fmla="*/ 1352550 h 1022"/>
              <a:gd name="T20" fmla="*/ 333375 w 1008"/>
              <a:gd name="T21" fmla="*/ 1498600 h 1022"/>
              <a:gd name="T22" fmla="*/ 0 w 1008"/>
              <a:gd name="T23" fmla="*/ 1549400 h 1022"/>
              <a:gd name="T24" fmla="*/ 0 w 1008"/>
              <a:gd name="T25" fmla="*/ 1622425 h 1022"/>
              <a:gd name="T26" fmla="*/ 1600200 w 1008"/>
              <a:gd name="T27" fmla="*/ 1617663 h 10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08"/>
              <a:gd name="T43" fmla="*/ 0 h 1022"/>
              <a:gd name="T44" fmla="*/ 1008 w 1008"/>
              <a:gd name="T45" fmla="*/ 1022 h 10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08" h="1022">
                <a:moveTo>
                  <a:pt x="1008" y="1019"/>
                </a:moveTo>
                <a:lnTo>
                  <a:pt x="1006" y="0"/>
                </a:lnTo>
                <a:lnTo>
                  <a:pt x="928" y="29"/>
                </a:lnTo>
                <a:lnTo>
                  <a:pt x="820" y="168"/>
                </a:lnTo>
                <a:lnTo>
                  <a:pt x="734" y="318"/>
                </a:lnTo>
                <a:lnTo>
                  <a:pt x="652" y="456"/>
                </a:lnTo>
                <a:lnTo>
                  <a:pt x="604" y="546"/>
                </a:lnTo>
                <a:lnTo>
                  <a:pt x="534" y="662"/>
                </a:lnTo>
                <a:lnTo>
                  <a:pt x="470" y="750"/>
                </a:lnTo>
                <a:lnTo>
                  <a:pt x="370" y="852"/>
                </a:lnTo>
                <a:lnTo>
                  <a:pt x="210" y="944"/>
                </a:lnTo>
                <a:lnTo>
                  <a:pt x="0" y="976"/>
                </a:lnTo>
                <a:lnTo>
                  <a:pt x="0" y="1022"/>
                </a:lnTo>
                <a:lnTo>
                  <a:pt x="1008" y="1019"/>
                </a:lnTo>
                <a:close/>
              </a:path>
            </a:pathLst>
          </a:custGeom>
          <a:solidFill>
            <a:srgbClr val="FF0000"/>
          </a:solidFill>
          <a:ln w="12700">
            <a:solidFill>
              <a:srgbClr val="FF0000"/>
            </a:solidFill>
            <a:round/>
            <a:headEnd/>
            <a:tailEnd/>
          </a:ln>
        </p:spPr>
        <p:txBody>
          <a:bodyPr/>
          <a:lstStyle/>
          <a:p>
            <a:endParaRPr lang="en-GB"/>
          </a:p>
        </p:txBody>
      </p:sp>
      <p:sp>
        <p:nvSpPr>
          <p:cNvPr id="364551" name="Rectangle 5"/>
          <p:cNvSpPr>
            <a:spLocks noChangeArrowheads="1"/>
          </p:cNvSpPr>
          <p:nvPr/>
        </p:nvSpPr>
        <p:spPr bwMode="auto">
          <a:xfrm>
            <a:off x="6705600" y="2667000"/>
            <a:ext cx="1066800" cy="533400"/>
          </a:xfrm>
          <a:prstGeom prst="rect">
            <a:avLst/>
          </a:prstGeom>
          <a:solidFill>
            <a:srgbClr val="B8FAC8"/>
          </a:solidFill>
          <a:ln w="19050" algn="ctr">
            <a:solidFill>
              <a:schemeClr val="tx1"/>
            </a:solidFill>
            <a:miter lim="800000"/>
            <a:headEnd/>
            <a:tailEnd/>
          </a:ln>
        </p:spPr>
        <p:txBody>
          <a:bodyPr wrap="none" anchor="ctr"/>
          <a:lstStyle/>
          <a:p>
            <a:pPr algn="ctr">
              <a:spcBef>
                <a:spcPct val="50000"/>
              </a:spcBef>
            </a:pPr>
            <a:endParaRPr lang="en-GB"/>
          </a:p>
        </p:txBody>
      </p:sp>
      <p:sp>
        <p:nvSpPr>
          <p:cNvPr id="364552" name="Freeform 6"/>
          <p:cNvSpPr>
            <a:spLocks/>
          </p:cNvSpPr>
          <p:nvPr/>
        </p:nvSpPr>
        <p:spPr bwMode="auto">
          <a:xfrm>
            <a:off x="6575425" y="4144963"/>
            <a:ext cx="1314450" cy="1404937"/>
          </a:xfrm>
          <a:custGeom>
            <a:avLst/>
            <a:gdLst>
              <a:gd name="T0" fmla="*/ 4763 w 828"/>
              <a:gd name="T1" fmla="*/ 1400175 h 885"/>
              <a:gd name="T2" fmla="*/ 0 w 828"/>
              <a:gd name="T3" fmla="*/ 0 h 885"/>
              <a:gd name="T4" fmla="*/ 42862 w 828"/>
              <a:gd name="T5" fmla="*/ 114300 h 885"/>
              <a:gd name="T6" fmla="*/ 128588 w 828"/>
              <a:gd name="T7" fmla="*/ 252412 h 885"/>
              <a:gd name="T8" fmla="*/ 185737 w 828"/>
              <a:gd name="T9" fmla="*/ 376237 h 885"/>
              <a:gd name="T10" fmla="*/ 247650 w 828"/>
              <a:gd name="T11" fmla="*/ 471487 h 885"/>
              <a:gd name="T12" fmla="*/ 319088 w 828"/>
              <a:gd name="T13" fmla="*/ 609600 h 885"/>
              <a:gd name="T14" fmla="*/ 433388 w 828"/>
              <a:gd name="T15" fmla="*/ 785812 h 885"/>
              <a:gd name="T16" fmla="*/ 538163 w 828"/>
              <a:gd name="T17" fmla="*/ 928687 h 885"/>
              <a:gd name="T18" fmla="*/ 701675 w 828"/>
              <a:gd name="T19" fmla="*/ 1100137 h 885"/>
              <a:gd name="T20" fmla="*/ 966788 w 828"/>
              <a:gd name="T21" fmla="*/ 1252537 h 885"/>
              <a:gd name="T22" fmla="*/ 1314450 w 828"/>
              <a:gd name="T23" fmla="*/ 1309687 h 885"/>
              <a:gd name="T24" fmla="*/ 1309688 w 828"/>
              <a:gd name="T25" fmla="*/ 1404937 h 885"/>
              <a:gd name="T26" fmla="*/ 4763 w 828"/>
              <a:gd name="T27" fmla="*/ 1400175 h 88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28"/>
              <a:gd name="T43" fmla="*/ 0 h 885"/>
              <a:gd name="T44" fmla="*/ 828 w 828"/>
              <a:gd name="T45" fmla="*/ 885 h 88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28" h="885">
                <a:moveTo>
                  <a:pt x="3" y="882"/>
                </a:moveTo>
                <a:lnTo>
                  <a:pt x="0" y="0"/>
                </a:lnTo>
                <a:lnTo>
                  <a:pt x="27" y="72"/>
                </a:lnTo>
                <a:lnTo>
                  <a:pt x="81" y="159"/>
                </a:lnTo>
                <a:lnTo>
                  <a:pt x="117" y="237"/>
                </a:lnTo>
                <a:lnTo>
                  <a:pt x="156" y="297"/>
                </a:lnTo>
                <a:lnTo>
                  <a:pt x="201" y="384"/>
                </a:lnTo>
                <a:lnTo>
                  <a:pt x="273" y="495"/>
                </a:lnTo>
                <a:lnTo>
                  <a:pt x="339" y="585"/>
                </a:lnTo>
                <a:lnTo>
                  <a:pt x="442" y="693"/>
                </a:lnTo>
                <a:lnTo>
                  <a:pt x="609" y="789"/>
                </a:lnTo>
                <a:lnTo>
                  <a:pt x="828" y="825"/>
                </a:lnTo>
                <a:lnTo>
                  <a:pt x="825" y="885"/>
                </a:lnTo>
                <a:lnTo>
                  <a:pt x="3" y="882"/>
                </a:lnTo>
                <a:close/>
              </a:path>
            </a:pathLst>
          </a:custGeom>
          <a:solidFill>
            <a:srgbClr val="FF0000"/>
          </a:solidFill>
          <a:ln w="12700">
            <a:solidFill>
              <a:srgbClr val="FF0000"/>
            </a:solidFill>
            <a:round/>
            <a:headEnd/>
            <a:tailEnd/>
          </a:ln>
        </p:spPr>
        <p:txBody>
          <a:bodyPr/>
          <a:lstStyle/>
          <a:p>
            <a:endParaRPr lang="en-GB"/>
          </a:p>
        </p:txBody>
      </p:sp>
      <p:sp>
        <p:nvSpPr>
          <p:cNvPr id="364553" name="Line 7"/>
          <p:cNvSpPr>
            <a:spLocks noChangeShapeType="1"/>
          </p:cNvSpPr>
          <p:nvPr/>
        </p:nvSpPr>
        <p:spPr bwMode="auto">
          <a:xfrm flipH="1">
            <a:off x="6858000" y="4572000"/>
            <a:ext cx="533400" cy="609600"/>
          </a:xfrm>
          <a:prstGeom prst="line">
            <a:avLst/>
          </a:prstGeom>
          <a:noFill/>
          <a:ln w="12700">
            <a:solidFill>
              <a:schemeClr val="tx1"/>
            </a:solidFill>
            <a:round/>
            <a:headEnd/>
            <a:tailEnd type="triangle" w="med" len="med"/>
          </a:ln>
        </p:spPr>
        <p:txBody>
          <a:bodyPr wrap="none" anchor="ctr"/>
          <a:lstStyle/>
          <a:p>
            <a:endParaRPr lang="en-US"/>
          </a:p>
        </p:txBody>
      </p:sp>
      <p:sp>
        <p:nvSpPr>
          <p:cNvPr id="364554" name="Line 8"/>
          <p:cNvSpPr>
            <a:spLocks noChangeShapeType="1"/>
          </p:cNvSpPr>
          <p:nvPr/>
        </p:nvSpPr>
        <p:spPr bwMode="auto">
          <a:xfrm>
            <a:off x="5562600" y="3962400"/>
            <a:ext cx="381000" cy="685800"/>
          </a:xfrm>
          <a:prstGeom prst="line">
            <a:avLst/>
          </a:prstGeom>
          <a:noFill/>
          <a:ln w="12700">
            <a:solidFill>
              <a:schemeClr val="tx1"/>
            </a:solidFill>
            <a:round/>
            <a:headEnd/>
            <a:tailEnd type="triangle" w="med" len="med"/>
          </a:ln>
        </p:spPr>
        <p:txBody>
          <a:bodyPr wrap="none" anchor="ctr"/>
          <a:lstStyle/>
          <a:p>
            <a:endParaRPr lang="en-US"/>
          </a:p>
        </p:txBody>
      </p:sp>
      <p:sp>
        <p:nvSpPr>
          <p:cNvPr id="364555" name="Rectangle 9"/>
          <p:cNvSpPr>
            <a:spLocks noGrp="1" noChangeArrowheads="1"/>
          </p:cNvSpPr>
          <p:nvPr>
            <p:ph type="body" idx="1"/>
          </p:nvPr>
        </p:nvSpPr>
        <p:spPr>
          <a:xfrm>
            <a:off x="1066800" y="1524000"/>
            <a:ext cx="5257800" cy="685800"/>
          </a:xfrm>
        </p:spPr>
        <p:txBody>
          <a:bodyPr/>
          <a:lstStyle/>
          <a:p>
            <a:pPr eaLnBrk="1" hangingPunct="1"/>
            <a:r>
              <a:rPr lang="en-US" sz="3400" smtClean="0">
                <a:solidFill>
                  <a:schemeClr val="folHlink"/>
                </a:solidFill>
              </a:rPr>
              <a:t>Now Find P(X &gt; 18.6)…</a:t>
            </a:r>
          </a:p>
        </p:txBody>
      </p:sp>
      <p:sp>
        <p:nvSpPr>
          <p:cNvPr id="364556" name="Text Box 10"/>
          <p:cNvSpPr txBox="1">
            <a:spLocks noChangeArrowheads="1"/>
          </p:cNvSpPr>
          <p:nvPr/>
        </p:nvSpPr>
        <p:spPr bwMode="auto">
          <a:xfrm>
            <a:off x="7467600" y="1143000"/>
            <a:ext cx="15240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
        <p:nvSpPr>
          <p:cNvPr id="364557" name="Freeform 11"/>
          <p:cNvSpPr>
            <a:spLocks/>
          </p:cNvSpPr>
          <p:nvPr/>
        </p:nvSpPr>
        <p:spPr bwMode="auto">
          <a:xfrm>
            <a:off x="6248400" y="3886200"/>
            <a:ext cx="1635125" cy="1573213"/>
          </a:xfrm>
          <a:custGeom>
            <a:avLst/>
            <a:gdLst>
              <a:gd name="T0" fmla="*/ 1633538 w 1030"/>
              <a:gd name="T1" fmla="*/ 1571625 h 991"/>
              <a:gd name="T2" fmla="*/ 1462087 w 1030"/>
              <a:gd name="T3" fmla="*/ 1555750 h 991"/>
              <a:gd name="T4" fmla="*/ 1374775 w 1030"/>
              <a:gd name="T5" fmla="*/ 1535113 h 991"/>
              <a:gd name="T6" fmla="*/ 1290637 w 1030"/>
              <a:gd name="T7" fmla="*/ 1511300 h 991"/>
              <a:gd name="T8" fmla="*/ 1203325 w 1030"/>
              <a:gd name="T9" fmla="*/ 1474788 h 991"/>
              <a:gd name="T10" fmla="*/ 1116012 w 1030"/>
              <a:gd name="T11" fmla="*/ 1423988 h 991"/>
              <a:gd name="T12" fmla="*/ 1033462 w 1030"/>
              <a:gd name="T13" fmla="*/ 1360488 h 991"/>
              <a:gd name="T14" fmla="*/ 858837 w 1030"/>
              <a:gd name="T15" fmla="*/ 1179513 h 991"/>
              <a:gd name="T16" fmla="*/ 687387 w 1030"/>
              <a:gd name="T17" fmla="*/ 922338 h 991"/>
              <a:gd name="T18" fmla="*/ 515937 w 1030"/>
              <a:gd name="T19" fmla="*/ 612775 h 991"/>
              <a:gd name="T20" fmla="*/ 428625 w 1030"/>
              <a:gd name="T21" fmla="*/ 455613 h 991"/>
              <a:gd name="T22" fmla="*/ 341312 w 1030"/>
              <a:gd name="T23" fmla="*/ 311150 h 991"/>
              <a:gd name="T24" fmla="*/ 258762 w 1030"/>
              <a:gd name="T25" fmla="*/ 184150 h 991"/>
              <a:gd name="T26" fmla="*/ 171450 w 1030"/>
              <a:gd name="T27" fmla="*/ 84138 h 991"/>
              <a:gd name="T28" fmla="*/ 84137 w 1030"/>
              <a:gd name="T29" fmla="*/ 20638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a:solidFill>
              <a:srgbClr val="008000"/>
            </a:solidFill>
            <a:round/>
            <a:headEnd/>
            <a:tailEnd/>
          </a:ln>
        </p:spPr>
        <p:txBody>
          <a:bodyPr/>
          <a:lstStyle/>
          <a:p>
            <a:endParaRPr lang="en-GB"/>
          </a:p>
        </p:txBody>
      </p:sp>
      <p:sp>
        <p:nvSpPr>
          <p:cNvPr id="364558" name="Freeform 12"/>
          <p:cNvSpPr>
            <a:spLocks/>
          </p:cNvSpPr>
          <p:nvPr/>
        </p:nvSpPr>
        <p:spPr bwMode="auto">
          <a:xfrm>
            <a:off x="4611688" y="3886200"/>
            <a:ext cx="1638300" cy="1573213"/>
          </a:xfrm>
          <a:custGeom>
            <a:avLst/>
            <a:gdLst>
              <a:gd name="T0" fmla="*/ 0 w 1032"/>
              <a:gd name="T1" fmla="*/ 1571625 h 991"/>
              <a:gd name="T2" fmla="*/ 171450 w 1032"/>
              <a:gd name="T3" fmla="*/ 1555750 h 991"/>
              <a:gd name="T4" fmla="*/ 258762 w 1032"/>
              <a:gd name="T5" fmla="*/ 1535113 h 991"/>
              <a:gd name="T6" fmla="*/ 346075 w 1032"/>
              <a:gd name="T7" fmla="*/ 1511300 h 991"/>
              <a:gd name="T8" fmla="*/ 430212 w 1032"/>
              <a:gd name="T9" fmla="*/ 1474788 h 991"/>
              <a:gd name="T10" fmla="*/ 517525 w 1032"/>
              <a:gd name="T11" fmla="*/ 1423988 h 991"/>
              <a:gd name="T12" fmla="*/ 604837 w 1032"/>
              <a:gd name="T13" fmla="*/ 1360488 h 991"/>
              <a:gd name="T14" fmla="*/ 774700 w 1032"/>
              <a:gd name="T15" fmla="*/ 1179513 h 991"/>
              <a:gd name="T16" fmla="*/ 946150 w 1032"/>
              <a:gd name="T17" fmla="*/ 922338 h 991"/>
              <a:gd name="T18" fmla="*/ 1120775 w 1032"/>
              <a:gd name="T19" fmla="*/ 612775 h 991"/>
              <a:gd name="T20" fmla="*/ 1204912 w 1032"/>
              <a:gd name="T21" fmla="*/ 455613 h 991"/>
              <a:gd name="T22" fmla="*/ 1292225 w 1032"/>
              <a:gd name="T23" fmla="*/ 311150 h 991"/>
              <a:gd name="T24" fmla="*/ 1377950 w 1032"/>
              <a:gd name="T25" fmla="*/ 184150 h 991"/>
              <a:gd name="T26" fmla="*/ 1462087 w 1032"/>
              <a:gd name="T27" fmla="*/ 84138 h 991"/>
              <a:gd name="T28" fmla="*/ 1549400 w 1032"/>
              <a:gd name="T29" fmla="*/ 20638 h 991"/>
              <a:gd name="T30" fmla="*/ 1636713 w 1032"/>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2"/>
              <a:gd name="T49" fmla="*/ 0 h 991"/>
              <a:gd name="T50" fmla="*/ 1032 w 1032"/>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2" h="991">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a:solidFill>
              <a:srgbClr val="008000"/>
            </a:solidFill>
            <a:round/>
            <a:headEnd/>
            <a:tailEnd/>
          </a:ln>
        </p:spPr>
        <p:txBody>
          <a:bodyPr/>
          <a:lstStyle/>
          <a:p>
            <a:endParaRPr lang="en-GB"/>
          </a:p>
        </p:txBody>
      </p:sp>
      <p:sp>
        <p:nvSpPr>
          <p:cNvPr id="364559" name="Rectangle 13"/>
          <p:cNvSpPr>
            <a:spLocks noChangeArrowheads="1"/>
          </p:cNvSpPr>
          <p:nvPr/>
        </p:nvSpPr>
        <p:spPr bwMode="auto">
          <a:xfrm>
            <a:off x="7889875" y="5530850"/>
            <a:ext cx="381000" cy="363538"/>
          </a:xfrm>
          <a:prstGeom prst="rect">
            <a:avLst/>
          </a:prstGeom>
          <a:noFill/>
          <a:ln w="12700">
            <a:noFill/>
            <a:miter lim="800000"/>
            <a:headEnd/>
            <a:tailEnd/>
          </a:ln>
        </p:spPr>
        <p:txBody>
          <a:bodyPr lIns="90487" tIns="44450" rIns="90487" bIns="44450">
            <a:spAutoFit/>
          </a:bodyPr>
          <a:lstStyle/>
          <a:p>
            <a:pPr eaLnBrk="0" hangingPunct="0"/>
            <a:r>
              <a:rPr lang="en-US" sz="1800" b="1"/>
              <a:t>Z</a:t>
            </a:r>
          </a:p>
        </p:txBody>
      </p:sp>
      <p:sp>
        <p:nvSpPr>
          <p:cNvPr id="364560" name="Rectangle 14"/>
          <p:cNvSpPr>
            <a:spLocks noChangeArrowheads="1"/>
          </p:cNvSpPr>
          <p:nvPr/>
        </p:nvSpPr>
        <p:spPr bwMode="auto">
          <a:xfrm>
            <a:off x="6365875" y="6140450"/>
            <a:ext cx="625475" cy="363538"/>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0.12</a:t>
            </a:r>
            <a:endParaRPr lang="en-US" b="1">
              <a:solidFill>
                <a:srgbClr val="339933"/>
              </a:solidFill>
            </a:endParaRPr>
          </a:p>
        </p:txBody>
      </p:sp>
      <p:sp>
        <p:nvSpPr>
          <p:cNvPr id="364561" name="Rectangle 15"/>
          <p:cNvSpPr>
            <a:spLocks noChangeArrowheads="1"/>
          </p:cNvSpPr>
          <p:nvPr/>
        </p:nvSpPr>
        <p:spPr bwMode="auto">
          <a:xfrm>
            <a:off x="5984875" y="5759450"/>
            <a:ext cx="371475" cy="363538"/>
          </a:xfrm>
          <a:prstGeom prst="rect">
            <a:avLst/>
          </a:prstGeom>
          <a:noFill/>
          <a:ln w="12700">
            <a:noFill/>
            <a:miter lim="800000"/>
            <a:headEnd/>
            <a:tailEnd/>
          </a:ln>
        </p:spPr>
        <p:txBody>
          <a:bodyPr wrap="none" lIns="90487" tIns="44450" rIns="90487" bIns="44450">
            <a:spAutoFit/>
          </a:bodyPr>
          <a:lstStyle/>
          <a:p>
            <a:pPr eaLnBrk="0" hangingPunct="0"/>
            <a:r>
              <a:rPr lang="en-US" sz="1800" b="1"/>
              <a:t> 0</a:t>
            </a:r>
            <a:endParaRPr lang="en-US" b="1"/>
          </a:p>
        </p:txBody>
      </p:sp>
      <p:sp>
        <p:nvSpPr>
          <p:cNvPr id="364562" name="Line 16"/>
          <p:cNvSpPr>
            <a:spLocks noChangeShapeType="1"/>
          </p:cNvSpPr>
          <p:nvPr/>
        </p:nvSpPr>
        <p:spPr bwMode="auto">
          <a:xfrm flipV="1">
            <a:off x="6594475" y="5530850"/>
            <a:ext cx="0" cy="685800"/>
          </a:xfrm>
          <a:prstGeom prst="line">
            <a:avLst/>
          </a:prstGeom>
          <a:noFill/>
          <a:ln w="12700">
            <a:solidFill>
              <a:schemeClr val="tx1"/>
            </a:solidFill>
            <a:round/>
            <a:headEnd/>
            <a:tailEnd type="triangle" w="med" len="med"/>
          </a:ln>
        </p:spPr>
        <p:txBody>
          <a:bodyPr wrap="none" anchor="ctr"/>
          <a:lstStyle/>
          <a:p>
            <a:endParaRPr lang="en-US"/>
          </a:p>
        </p:txBody>
      </p:sp>
      <p:sp>
        <p:nvSpPr>
          <p:cNvPr id="364563" name="Line 17"/>
          <p:cNvSpPr>
            <a:spLocks noChangeShapeType="1"/>
          </p:cNvSpPr>
          <p:nvPr/>
        </p:nvSpPr>
        <p:spPr bwMode="auto">
          <a:xfrm>
            <a:off x="6213475" y="3930650"/>
            <a:ext cx="0" cy="1600200"/>
          </a:xfrm>
          <a:prstGeom prst="line">
            <a:avLst/>
          </a:prstGeom>
          <a:noFill/>
          <a:ln w="19050" cap="rnd">
            <a:solidFill>
              <a:schemeClr val="tx1"/>
            </a:solidFill>
            <a:prstDash val="sysDot"/>
            <a:round/>
            <a:headEnd/>
            <a:tailEnd/>
          </a:ln>
        </p:spPr>
        <p:txBody>
          <a:bodyPr wrap="none" anchor="ctr"/>
          <a:lstStyle/>
          <a:p>
            <a:endParaRPr lang="en-US"/>
          </a:p>
        </p:txBody>
      </p:sp>
      <p:sp>
        <p:nvSpPr>
          <p:cNvPr id="364564" name="Freeform 18"/>
          <p:cNvSpPr>
            <a:spLocks/>
          </p:cNvSpPr>
          <p:nvPr/>
        </p:nvSpPr>
        <p:spPr bwMode="auto">
          <a:xfrm>
            <a:off x="2362200" y="3929063"/>
            <a:ext cx="1676400" cy="1638300"/>
          </a:xfrm>
          <a:custGeom>
            <a:avLst/>
            <a:gdLst>
              <a:gd name="T0" fmla="*/ 0 w 1056"/>
              <a:gd name="T1" fmla="*/ 1633538 h 1032"/>
              <a:gd name="T2" fmla="*/ 4762 w 1056"/>
              <a:gd name="T3" fmla="*/ 0 h 1032"/>
              <a:gd name="T4" fmla="*/ 133350 w 1056"/>
              <a:gd name="T5" fmla="*/ 23812 h 1032"/>
              <a:gd name="T6" fmla="*/ 342900 w 1056"/>
              <a:gd name="T7" fmla="*/ 238125 h 1032"/>
              <a:gd name="T8" fmla="*/ 476250 w 1056"/>
              <a:gd name="T9" fmla="*/ 481012 h 1032"/>
              <a:gd name="T10" fmla="*/ 600075 w 1056"/>
              <a:gd name="T11" fmla="*/ 714375 h 1032"/>
              <a:gd name="T12" fmla="*/ 681037 w 1056"/>
              <a:gd name="T13" fmla="*/ 862012 h 1032"/>
              <a:gd name="T14" fmla="*/ 795337 w 1056"/>
              <a:gd name="T15" fmla="*/ 1038225 h 1032"/>
              <a:gd name="T16" fmla="*/ 900112 w 1056"/>
              <a:gd name="T17" fmla="*/ 1176337 h 1032"/>
              <a:gd name="T18" fmla="*/ 1063625 w 1056"/>
              <a:gd name="T19" fmla="*/ 1347787 h 1032"/>
              <a:gd name="T20" fmla="*/ 1328737 w 1056"/>
              <a:gd name="T21" fmla="*/ 1500187 h 1032"/>
              <a:gd name="T22" fmla="*/ 1676400 w 1056"/>
              <a:gd name="T23" fmla="*/ 1557337 h 1032"/>
              <a:gd name="T24" fmla="*/ 1676400 w 1056"/>
              <a:gd name="T25" fmla="*/ 1638300 h 1032"/>
              <a:gd name="T26" fmla="*/ 0 w 1056"/>
              <a:gd name="T27" fmla="*/ 1633538 h 103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6"/>
              <a:gd name="T43" fmla="*/ 0 h 1032"/>
              <a:gd name="T44" fmla="*/ 1056 w 1056"/>
              <a:gd name="T45" fmla="*/ 1032 h 103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6" h="1032">
                <a:moveTo>
                  <a:pt x="0" y="1029"/>
                </a:moveTo>
                <a:lnTo>
                  <a:pt x="3" y="0"/>
                </a:lnTo>
                <a:lnTo>
                  <a:pt x="84" y="15"/>
                </a:lnTo>
                <a:lnTo>
                  <a:pt x="216" y="150"/>
                </a:lnTo>
                <a:lnTo>
                  <a:pt x="300" y="303"/>
                </a:lnTo>
                <a:lnTo>
                  <a:pt x="378" y="450"/>
                </a:lnTo>
                <a:lnTo>
                  <a:pt x="429" y="543"/>
                </a:lnTo>
                <a:lnTo>
                  <a:pt x="501" y="654"/>
                </a:lnTo>
                <a:lnTo>
                  <a:pt x="567" y="741"/>
                </a:lnTo>
                <a:lnTo>
                  <a:pt x="670" y="849"/>
                </a:lnTo>
                <a:lnTo>
                  <a:pt x="837" y="945"/>
                </a:lnTo>
                <a:lnTo>
                  <a:pt x="1056" y="981"/>
                </a:lnTo>
                <a:lnTo>
                  <a:pt x="1056" y="1032"/>
                </a:lnTo>
                <a:lnTo>
                  <a:pt x="0" y="1029"/>
                </a:lnTo>
                <a:close/>
              </a:path>
            </a:pathLst>
          </a:custGeom>
          <a:solidFill>
            <a:srgbClr val="FF0000"/>
          </a:solidFill>
          <a:ln w="12700">
            <a:solidFill>
              <a:srgbClr val="FF0000"/>
            </a:solidFill>
            <a:round/>
            <a:headEnd/>
            <a:tailEnd/>
          </a:ln>
        </p:spPr>
        <p:txBody>
          <a:bodyPr/>
          <a:lstStyle/>
          <a:p>
            <a:endParaRPr lang="en-GB"/>
          </a:p>
        </p:txBody>
      </p:sp>
      <p:sp>
        <p:nvSpPr>
          <p:cNvPr id="364565" name="Line 19"/>
          <p:cNvSpPr>
            <a:spLocks noChangeShapeType="1"/>
          </p:cNvSpPr>
          <p:nvPr/>
        </p:nvSpPr>
        <p:spPr bwMode="auto">
          <a:xfrm>
            <a:off x="2362200" y="3962400"/>
            <a:ext cx="0" cy="1600200"/>
          </a:xfrm>
          <a:prstGeom prst="line">
            <a:avLst/>
          </a:prstGeom>
          <a:noFill/>
          <a:ln w="31750">
            <a:solidFill>
              <a:schemeClr val="tx1"/>
            </a:solidFill>
            <a:round/>
            <a:headEnd/>
            <a:tailEnd/>
          </a:ln>
        </p:spPr>
        <p:txBody>
          <a:bodyPr wrap="none" anchor="ctr"/>
          <a:lstStyle/>
          <a:p>
            <a:endParaRPr lang="en-US"/>
          </a:p>
        </p:txBody>
      </p:sp>
      <p:sp>
        <p:nvSpPr>
          <p:cNvPr id="364566" name="Freeform 20"/>
          <p:cNvSpPr>
            <a:spLocks/>
          </p:cNvSpPr>
          <p:nvPr/>
        </p:nvSpPr>
        <p:spPr bwMode="auto">
          <a:xfrm>
            <a:off x="2397125" y="3917950"/>
            <a:ext cx="1635125" cy="1573213"/>
          </a:xfrm>
          <a:custGeom>
            <a:avLst/>
            <a:gdLst>
              <a:gd name="T0" fmla="*/ 1633538 w 1030"/>
              <a:gd name="T1" fmla="*/ 1571625 h 991"/>
              <a:gd name="T2" fmla="*/ 1462087 w 1030"/>
              <a:gd name="T3" fmla="*/ 1555750 h 991"/>
              <a:gd name="T4" fmla="*/ 1374775 w 1030"/>
              <a:gd name="T5" fmla="*/ 1535113 h 991"/>
              <a:gd name="T6" fmla="*/ 1290637 w 1030"/>
              <a:gd name="T7" fmla="*/ 1511300 h 991"/>
              <a:gd name="T8" fmla="*/ 1203325 w 1030"/>
              <a:gd name="T9" fmla="*/ 1474788 h 991"/>
              <a:gd name="T10" fmla="*/ 1116012 w 1030"/>
              <a:gd name="T11" fmla="*/ 1423988 h 991"/>
              <a:gd name="T12" fmla="*/ 1033462 w 1030"/>
              <a:gd name="T13" fmla="*/ 1360488 h 991"/>
              <a:gd name="T14" fmla="*/ 858837 w 1030"/>
              <a:gd name="T15" fmla="*/ 1179513 h 991"/>
              <a:gd name="T16" fmla="*/ 687387 w 1030"/>
              <a:gd name="T17" fmla="*/ 922338 h 991"/>
              <a:gd name="T18" fmla="*/ 515937 w 1030"/>
              <a:gd name="T19" fmla="*/ 612775 h 991"/>
              <a:gd name="T20" fmla="*/ 428625 w 1030"/>
              <a:gd name="T21" fmla="*/ 455613 h 991"/>
              <a:gd name="T22" fmla="*/ 341312 w 1030"/>
              <a:gd name="T23" fmla="*/ 311150 h 991"/>
              <a:gd name="T24" fmla="*/ 258762 w 1030"/>
              <a:gd name="T25" fmla="*/ 184150 h 991"/>
              <a:gd name="T26" fmla="*/ 171450 w 1030"/>
              <a:gd name="T27" fmla="*/ 84138 h 991"/>
              <a:gd name="T28" fmla="*/ 84137 w 1030"/>
              <a:gd name="T29" fmla="*/ 20638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a:solidFill>
              <a:srgbClr val="008000"/>
            </a:solidFill>
            <a:round/>
            <a:headEnd/>
            <a:tailEnd/>
          </a:ln>
        </p:spPr>
        <p:txBody>
          <a:bodyPr/>
          <a:lstStyle/>
          <a:p>
            <a:endParaRPr lang="en-GB"/>
          </a:p>
        </p:txBody>
      </p:sp>
      <p:sp>
        <p:nvSpPr>
          <p:cNvPr id="364567" name="Freeform 21"/>
          <p:cNvSpPr>
            <a:spLocks/>
          </p:cNvSpPr>
          <p:nvPr/>
        </p:nvSpPr>
        <p:spPr bwMode="auto">
          <a:xfrm>
            <a:off x="760413" y="3917950"/>
            <a:ext cx="1638300" cy="1573213"/>
          </a:xfrm>
          <a:custGeom>
            <a:avLst/>
            <a:gdLst>
              <a:gd name="T0" fmla="*/ 0 w 1032"/>
              <a:gd name="T1" fmla="*/ 1571625 h 991"/>
              <a:gd name="T2" fmla="*/ 171450 w 1032"/>
              <a:gd name="T3" fmla="*/ 1555750 h 991"/>
              <a:gd name="T4" fmla="*/ 258762 w 1032"/>
              <a:gd name="T5" fmla="*/ 1535113 h 991"/>
              <a:gd name="T6" fmla="*/ 346075 w 1032"/>
              <a:gd name="T7" fmla="*/ 1511300 h 991"/>
              <a:gd name="T8" fmla="*/ 430212 w 1032"/>
              <a:gd name="T9" fmla="*/ 1474788 h 991"/>
              <a:gd name="T10" fmla="*/ 517525 w 1032"/>
              <a:gd name="T11" fmla="*/ 1423988 h 991"/>
              <a:gd name="T12" fmla="*/ 604837 w 1032"/>
              <a:gd name="T13" fmla="*/ 1360488 h 991"/>
              <a:gd name="T14" fmla="*/ 774700 w 1032"/>
              <a:gd name="T15" fmla="*/ 1179513 h 991"/>
              <a:gd name="T16" fmla="*/ 946150 w 1032"/>
              <a:gd name="T17" fmla="*/ 922338 h 991"/>
              <a:gd name="T18" fmla="*/ 1120775 w 1032"/>
              <a:gd name="T19" fmla="*/ 612775 h 991"/>
              <a:gd name="T20" fmla="*/ 1204912 w 1032"/>
              <a:gd name="T21" fmla="*/ 455613 h 991"/>
              <a:gd name="T22" fmla="*/ 1292225 w 1032"/>
              <a:gd name="T23" fmla="*/ 311150 h 991"/>
              <a:gd name="T24" fmla="*/ 1377950 w 1032"/>
              <a:gd name="T25" fmla="*/ 184150 h 991"/>
              <a:gd name="T26" fmla="*/ 1462087 w 1032"/>
              <a:gd name="T27" fmla="*/ 84138 h 991"/>
              <a:gd name="T28" fmla="*/ 1549400 w 1032"/>
              <a:gd name="T29" fmla="*/ 20638 h 991"/>
              <a:gd name="T30" fmla="*/ 1636713 w 1032"/>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2"/>
              <a:gd name="T49" fmla="*/ 0 h 991"/>
              <a:gd name="T50" fmla="*/ 1032 w 1032"/>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2" h="991">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a:solidFill>
              <a:srgbClr val="008000"/>
            </a:solidFill>
            <a:round/>
            <a:headEnd/>
            <a:tailEnd/>
          </a:ln>
        </p:spPr>
        <p:txBody>
          <a:bodyPr/>
          <a:lstStyle/>
          <a:p>
            <a:endParaRPr lang="en-GB"/>
          </a:p>
        </p:txBody>
      </p:sp>
      <p:sp>
        <p:nvSpPr>
          <p:cNvPr id="364568" name="Freeform 22"/>
          <p:cNvSpPr>
            <a:spLocks/>
          </p:cNvSpPr>
          <p:nvPr/>
        </p:nvSpPr>
        <p:spPr bwMode="auto">
          <a:xfrm>
            <a:off x="742950" y="5573713"/>
            <a:ext cx="3289300" cy="7937"/>
          </a:xfrm>
          <a:custGeom>
            <a:avLst/>
            <a:gdLst>
              <a:gd name="T0" fmla="*/ 0 w 2072"/>
              <a:gd name="T1" fmla="*/ 7937 h 5"/>
              <a:gd name="T2" fmla="*/ 19050 w 2072"/>
              <a:gd name="T3" fmla="*/ 0 h 5"/>
              <a:gd name="T4" fmla="*/ 3289300 w 2072"/>
              <a:gd name="T5" fmla="*/ 0 h 5"/>
              <a:gd name="T6" fmla="*/ 0 60000 65536"/>
              <a:gd name="T7" fmla="*/ 0 60000 65536"/>
              <a:gd name="T8" fmla="*/ 0 60000 65536"/>
              <a:gd name="T9" fmla="*/ 0 w 2072"/>
              <a:gd name="T10" fmla="*/ 0 h 5"/>
              <a:gd name="T11" fmla="*/ 2072 w 2072"/>
              <a:gd name="T12" fmla="*/ 5 h 5"/>
            </a:gdLst>
            <a:ahLst/>
            <a:cxnLst>
              <a:cxn ang="T6">
                <a:pos x="T0" y="T1"/>
              </a:cxn>
              <a:cxn ang="T7">
                <a:pos x="T2" y="T3"/>
              </a:cxn>
              <a:cxn ang="T8">
                <a:pos x="T4" y="T5"/>
              </a:cxn>
            </a:cxnLst>
            <a:rect l="T9" t="T10" r="T11" b="T12"/>
            <a:pathLst>
              <a:path w="2072" h="5">
                <a:moveTo>
                  <a:pt x="0" y="5"/>
                </a:moveTo>
                <a:lnTo>
                  <a:pt x="12" y="0"/>
                </a:lnTo>
                <a:lnTo>
                  <a:pt x="2072" y="0"/>
                </a:lnTo>
              </a:path>
            </a:pathLst>
          </a:custGeom>
          <a:noFill/>
          <a:ln w="50800" cap="rnd">
            <a:solidFill>
              <a:schemeClr val="tx1"/>
            </a:solidFill>
            <a:round/>
            <a:headEnd/>
            <a:tailEnd/>
          </a:ln>
        </p:spPr>
        <p:txBody>
          <a:bodyPr/>
          <a:lstStyle/>
          <a:p>
            <a:endParaRPr lang="en-GB"/>
          </a:p>
        </p:txBody>
      </p:sp>
      <p:sp>
        <p:nvSpPr>
          <p:cNvPr id="364569" name="Line 23"/>
          <p:cNvSpPr>
            <a:spLocks noChangeShapeType="1"/>
          </p:cNvSpPr>
          <p:nvPr/>
        </p:nvSpPr>
        <p:spPr bwMode="auto">
          <a:xfrm>
            <a:off x="4030663" y="5508625"/>
            <a:ext cx="0" cy="1588"/>
          </a:xfrm>
          <a:prstGeom prst="line">
            <a:avLst/>
          </a:prstGeom>
          <a:noFill/>
          <a:ln w="25400">
            <a:solidFill>
              <a:srgbClr val="CDCDCD"/>
            </a:solidFill>
            <a:round/>
            <a:headEnd/>
            <a:tailEnd/>
          </a:ln>
        </p:spPr>
        <p:txBody>
          <a:bodyPr wrap="none" anchor="ctr"/>
          <a:lstStyle/>
          <a:p>
            <a:endParaRPr lang="en-US"/>
          </a:p>
        </p:txBody>
      </p:sp>
      <p:sp>
        <p:nvSpPr>
          <p:cNvPr id="364570" name="Rectangle 24"/>
          <p:cNvSpPr>
            <a:spLocks noChangeArrowheads="1"/>
          </p:cNvSpPr>
          <p:nvPr/>
        </p:nvSpPr>
        <p:spPr bwMode="auto">
          <a:xfrm>
            <a:off x="4038600" y="5562600"/>
            <a:ext cx="381000" cy="363538"/>
          </a:xfrm>
          <a:prstGeom prst="rect">
            <a:avLst/>
          </a:prstGeom>
          <a:noFill/>
          <a:ln w="12700">
            <a:noFill/>
            <a:miter lim="800000"/>
            <a:headEnd/>
            <a:tailEnd/>
          </a:ln>
        </p:spPr>
        <p:txBody>
          <a:bodyPr lIns="90487" tIns="44450" rIns="90487" bIns="44450">
            <a:spAutoFit/>
          </a:bodyPr>
          <a:lstStyle/>
          <a:p>
            <a:pPr eaLnBrk="0" hangingPunct="0"/>
            <a:r>
              <a:rPr lang="en-US" sz="1800" b="1"/>
              <a:t>Z</a:t>
            </a:r>
          </a:p>
        </p:txBody>
      </p:sp>
      <p:sp>
        <p:nvSpPr>
          <p:cNvPr id="364571" name="Rectangle 25"/>
          <p:cNvSpPr>
            <a:spLocks noChangeArrowheads="1"/>
          </p:cNvSpPr>
          <p:nvPr/>
        </p:nvSpPr>
        <p:spPr bwMode="auto">
          <a:xfrm>
            <a:off x="2409825" y="5865813"/>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364572" name="Rectangle 26"/>
          <p:cNvSpPr>
            <a:spLocks noChangeArrowheads="1"/>
          </p:cNvSpPr>
          <p:nvPr/>
        </p:nvSpPr>
        <p:spPr bwMode="auto">
          <a:xfrm>
            <a:off x="3900488" y="3821113"/>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364573" name="Rectangle 27"/>
          <p:cNvSpPr>
            <a:spLocks noChangeArrowheads="1"/>
          </p:cNvSpPr>
          <p:nvPr/>
        </p:nvSpPr>
        <p:spPr bwMode="auto">
          <a:xfrm>
            <a:off x="2514600" y="6172200"/>
            <a:ext cx="625475" cy="363538"/>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0.12</a:t>
            </a:r>
            <a:endParaRPr lang="en-US" b="1">
              <a:solidFill>
                <a:srgbClr val="339933"/>
              </a:solidFill>
            </a:endParaRPr>
          </a:p>
        </p:txBody>
      </p:sp>
      <p:sp>
        <p:nvSpPr>
          <p:cNvPr id="364574" name="Rectangle 28"/>
          <p:cNvSpPr>
            <a:spLocks noChangeArrowheads="1"/>
          </p:cNvSpPr>
          <p:nvPr/>
        </p:nvSpPr>
        <p:spPr bwMode="auto">
          <a:xfrm>
            <a:off x="4800600" y="3581400"/>
            <a:ext cx="1130300" cy="454025"/>
          </a:xfrm>
          <a:prstGeom prst="rect">
            <a:avLst/>
          </a:prstGeom>
          <a:solidFill>
            <a:srgbClr val="CCFFCC"/>
          </a:solidFill>
          <a:ln w="12700">
            <a:noFill/>
            <a:miter lim="800000"/>
            <a:headEnd/>
            <a:tailEnd/>
          </a:ln>
        </p:spPr>
        <p:txBody>
          <a:bodyPr lIns="90487" tIns="44450" rIns="90487" bIns="44450">
            <a:spAutoFit/>
          </a:bodyPr>
          <a:lstStyle/>
          <a:p>
            <a:pPr algn="ctr" eaLnBrk="0" hangingPunct="0">
              <a:spcBef>
                <a:spcPct val="50000"/>
              </a:spcBef>
            </a:pPr>
            <a:r>
              <a:rPr lang="en-US">
                <a:solidFill>
                  <a:srgbClr val="FF0000"/>
                </a:solidFill>
              </a:rPr>
              <a:t>0.5478</a:t>
            </a:r>
          </a:p>
        </p:txBody>
      </p:sp>
      <p:sp>
        <p:nvSpPr>
          <p:cNvPr id="364575" name="Line 29"/>
          <p:cNvSpPr>
            <a:spLocks noChangeShapeType="1"/>
          </p:cNvSpPr>
          <p:nvPr/>
        </p:nvSpPr>
        <p:spPr bwMode="auto">
          <a:xfrm flipH="1">
            <a:off x="2743200" y="4191000"/>
            <a:ext cx="457200" cy="609600"/>
          </a:xfrm>
          <a:prstGeom prst="line">
            <a:avLst/>
          </a:prstGeom>
          <a:noFill/>
          <a:ln w="12700">
            <a:solidFill>
              <a:schemeClr val="tx1"/>
            </a:solidFill>
            <a:round/>
            <a:headEnd/>
            <a:tailEnd type="triangle" w="med" len="med"/>
          </a:ln>
        </p:spPr>
        <p:txBody>
          <a:bodyPr wrap="none" anchor="ctr"/>
          <a:lstStyle/>
          <a:p>
            <a:endParaRPr lang="en-US"/>
          </a:p>
        </p:txBody>
      </p:sp>
      <p:sp>
        <p:nvSpPr>
          <p:cNvPr id="364576" name="Rectangle 30"/>
          <p:cNvSpPr>
            <a:spLocks noChangeArrowheads="1"/>
          </p:cNvSpPr>
          <p:nvPr/>
        </p:nvSpPr>
        <p:spPr bwMode="auto">
          <a:xfrm>
            <a:off x="2133600" y="5791200"/>
            <a:ext cx="371475" cy="363538"/>
          </a:xfrm>
          <a:prstGeom prst="rect">
            <a:avLst/>
          </a:prstGeom>
          <a:noFill/>
          <a:ln w="12700">
            <a:noFill/>
            <a:miter lim="800000"/>
            <a:headEnd/>
            <a:tailEnd/>
          </a:ln>
        </p:spPr>
        <p:txBody>
          <a:bodyPr wrap="none" lIns="90487" tIns="44450" rIns="90487" bIns="44450">
            <a:spAutoFit/>
          </a:bodyPr>
          <a:lstStyle/>
          <a:p>
            <a:pPr eaLnBrk="0" hangingPunct="0"/>
            <a:r>
              <a:rPr lang="en-US" sz="1800" b="1"/>
              <a:t> 0</a:t>
            </a:r>
            <a:endParaRPr lang="en-US" b="1"/>
          </a:p>
        </p:txBody>
      </p:sp>
      <p:sp>
        <p:nvSpPr>
          <p:cNvPr id="364577" name="Line 31"/>
          <p:cNvSpPr>
            <a:spLocks noChangeShapeType="1"/>
          </p:cNvSpPr>
          <p:nvPr/>
        </p:nvSpPr>
        <p:spPr bwMode="auto">
          <a:xfrm flipV="1">
            <a:off x="2362200" y="5562600"/>
            <a:ext cx="0" cy="228600"/>
          </a:xfrm>
          <a:prstGeom prst="line">
            <a:avLst/>
          </a:prstGeom>
          <a:noFill/>
          <a:ln w="12700">
            <a:solidFill>
              <a:schemeClr val="tx1"/>
            </a:solidFill>
            <a:round/>
            <a:headEnd/>
            <a:tailEnd type="triangle" w="med" len="med"/>
          </a:ln>
        </p:spPr>
        <p:txBody>
          <a:bodyPr wrap="none" anchor="ctr"/>
          <a:lstStyle/>
          <a:p>
            <a:endParaRPr lang="en-US"/>
          </a:p>
        </p:txBody>
      </p:sp>
      <p:sp>
        <p:nvSpPr>
          <p:cNvPr id="364578" name="Line 32"/>
          <p:cNvSpPr>
            <a:spLocks noChangeShapeType="1"/>
          </p:cNvSpPr>
          <p:nvPr/>
        </p:nvSpPr>
        <p:spPr bwMode="auto">
          <a:xfrm flipV="1">
            <a:off x="2743200" y="5562600"/>
            <a:ext cx="0" cy="685800"/>
          </a:xfrm>
          <a:prstGeom prst="line">
            <a:avLst/>
          </a:prstGeom>
          <a:noFill/>
          <a:ln w="12700">
            <a:solidFill>
              <a:schemeClr val="tx1"/>
            </a:solidFill>
            <a:round/>
            <a:headEnd/>
            <a:tailEnd type="triangle" w="med" len="med"/>
          </a:ln>
        </p:spPr>
        <p:txBody>
          <a:bodyPr wrap="none" anchor="ctr"/>
          <a:lstStyle/>
          <a:p>
            <a:endParaRPr lang="en-US"/>
          </a:p>
        </p:txBody>
      </p:sp>
      <p:sp>
        <p:nvSpPr>
          <p:cNvPr id="364579" name="Rectangle 33"/>
          <p:cNvSpPr>
            <a:spLocks noChangeArrowheads="1"/>
          </p:cNvSpPr>
          <p:nvPr/>
        </p:nvSpPr>
        <p:spPr bwMode="auto">
          <a:xfrm>
            <a:off x="3124200" y="3810000"/>
            <a:ext cx="1206500" cy="454025"/>
          </a:xfrm>
          <a:prstGeom prst="rect">
            <a:avLst/>
          </a:prstGeom>
          <a:solidFill>
            <a:srgbClr val="CCFFCC"/>
          </a:solidFill>
          <a:ln w="12700">
            <a:noFill/>
            <a:miter lim="800000"/>
            <a:headEnd/>
            <a:tailEnd/>
          </a:ln>
        </p:spPr>
        <p:txBody>
          <a:bodyPr lIns="90487" tIns="44450" rIns="90487" bIns="44450">
            <a:spAutoFit/>
          </a:bodyPr>
          <a:lstStyle/>
          <a:p>
            <a:pPr algn="ctr" eaLnBrk="0" hangingPunct="0">
              <a:spcBef>
                <a:spcPct val="50000"/>
              </a:spcBef>
            </a:pPr>
            <a:r>
              <a:rPr lang="en-US">
                <a:solidFill>
                  <a:srgbClr val="FF0000"/>
                </a:solidFill>
              </a:rPr>
              <a:t>1.000</a:t>
            </a:r>
          </a:p>
        </p:txBody>
      </p:sp>
      <p:sp>
        <p:nvSpPr>
          <p:cNvPr id="364580" name="Rectangle 34"/>
          <p:cNvSpPr>
            <a:spLocks noChangeArrowheads="1"/>
          </p:cNvSpPr>
          <p:nvPr/>
        </p:nvSpPr>
        <p:spPr bwMode="auto">
          <a:xfrm>
            <a:off x="7086600" y="3886200"/>
            <a:ext cx="1905000" cy="819150"/>
          </a:xfrm>
          <a:prstGeom prst="rect">
            <a:avLst/>
          </a:prstGeom>
          <a:solidFill>
            <a:srgbClr val="CCFFCC"/>
          </a:solidFill>
          <a:ln w="12700">
            <a:noFill/>
            <a:miter lim="800000"/>
            <a:headEnd/>
            <a:tailEnd/>
          </a:ln>
        </p:spPr>
        <p:txBody>
          <a:bodyPr lIns="90487" tIns="44450" rIns="90487" bIns="44450">
            <a:spAutoFit/>
          </a:bodyPr>
          <a:lstStyle/>
          <a:p>
            <a:pPr algn="ctr" eaLnBrk="0" hangingPunct="0">
              <a:spcBef>
                <a:spcPct val="50000"/>
              </a:spcBef>
            </a:pPr>
            <a:r>
              <a:rPr lang="en-US">
                <a:solidFill>
                  <a:srgbClr val="FF0000"/>
                </a:solidFill>
              </a:rPr>
              <a:t>1.0 - 0.5478 = 0.4522</a:t>
            </a:r>
          </a:p>
        </p:txBody>
      </p:sp>
      <p:sp>
        <p:nvSpPr>
          <p:cNvPr id="364581" name="Text Box 35"/>
          <p:cNvSpPr txBox="1">
            <a:spLocks noChangeArrowheads="1"/>
          </p:cNvSpPr>
          <p:nvPr/>
        </p:nvSpPr>
        <p:spPr bwMode="auto">
          <a:xfrm>
            <a:off x="838200" y="2133600"/>
            <a:ext cx="7696200" cy="1016000"/>
          </a:xfrm>
          <a:prstGeom prst="rect">
            <a:avLst/>
          </a:prstGeom>
          <a:noFill/>
          <a:ln w="19050" algn="ctr">
            <a:noFill/>
            <a:miter lim="800000"/>
            <a:headEnd/>
            <a:tailEnd/>
          </a:ln>
        </p:spPr>
        <p:txBody>
          <a:bodyPr>
            <a:spAutoFit/>
          </a:bodyPr>
          <a:lstStyle/>
          <a:p>
            <a:pPr>
              <a:spcBef>
                <a:spcPct val="50000"/>
              </a:spcBef>
            </a:pPr>
            <a:r>
              <a:rPr lang="en-US"/>
              <a:t>   P(X &gt; 18.6) = P(Z &gt; 0.12) = 1.0 - P(Z </a:t>
            </a:r>
            <a:r>
              <a:rPr lang="en-US">
                <a:cs typeface="Arial" charset="0"/>
              </a:rPr>
              <a:t>≤</a:t>
            </a:r>
            <a:r>
              <a:rPr lang="en-US"/>
              <a:t> 0.12)</a:t>
            </a:r>
          </a:p>
          <a:p>
            <a:pPr>
              <a:spcBef>
                <a:spcPct val="50000"/>
              </a:spcBef>
            </a:pPr>
            <a:r>
              <a:rPr lang="en-US"/>
              <a:t>                                           = 1.0 - 0.5478 = </a:t>
            </a:r>
            <a:r>
              <a:rPr lang="en-US">
                <a:solidFill>
                  <a:schemeClr val="hlink"/>
                </a:solidFill>
              </a:rPr>
              <a:t>0.4522</a:t>
            </a:r>
          </a:p>
        </p:txBody>
      </p:sp>
      <p:sp>
        <p:nvSpPr>
          <p:cNvPr id="364582" name="Line 36"/>
          <p:cNvSpPr>
            <a:spLocks noChangeShapeType="1"/>
          </p:cNvSpPr>
          <p:nvPr/>
        </p:nvSpPr>
        <p:spPr bwMode="auto">
          <a:xfrm flipV="1">
            <a:off x="6218238" y="5518150"/>
            <a:ext cx="0" cy="228600"/>
          </a:xfrm>
          <a:prstGeom prst="line">
            <a:avLst/>
          </a:prstGeom>
          <a:noFill/>
          <a:ln w="12700">
            <a:solidFill>
              <a:schemeClr val="tx1"/>
            </a:solidFill>
            <a:round/>
            <a:headEnd/>
            <a:tailEnd type="triangle" w="med" len="med"/>
          </a:ln>
        </p:spPr>
        <p:txBody>
          <a:bodyPr wrap="none" anchor="ctr"/>
          <a:lstStyle/>
          <a:p>
            <a:endParaRPr lang="en-US"/>
          </a:p>
        </p:txBody>
      </p:sp>
      <p:sp>
        <p:nvSpPr>
          <p:cNvPr id="364583" name="Freeform 37"/>
          <p:cNvSpPr>
            <a:spLocks/>
          </p:cNvSpPr>
          <p:nvPr/>
        </p:nvSpPr>
        <p:spPr bwMode="auto">
          <a:xfrm>
            <a:off x="4594225" y="5541963"/>
            <a:ext cx="3289300" cy="7937"/>
          </a:xfrm>
          <a:custGeom>
            <a:avLst/>
            <a:gdLst>
              <a:gd name="T0" fmla="*/ 0 w 2072"/>
              <a:gd name="T1" fmla="*/ 7937 h 5"/>
              <a:gd name="T2" fmla="*/ 19050 w 2072"/>
              <a:gd name="T3" fmla="*/ 0 h 5"/>
              <a:gd name="T4" fmla="*/ 3289300 w 2072"/>
              <a:gd name="T5" fmla="*/ 0 h 5"/>
              <a:gd name="T6" fmla="*/ 0 60000 65536"/>
              <a:gd name="T7" fmla="*/ 0 60000 65536"/>
              <a:gd name="T8" fmla="*/ 0 60000 65536"/>
              <a:gd name="T9" fmla="*/ 0 w 2072"/>
              <a:gd name="T10" fmla="*/ 0 h 5"/>
              <a:gd name="T11" fmla="*/ 2072 w 2072"/>
              <a:gd name="T12" fmla="*/ 5 h 5"/>
            </a:gdLst>
            <a:ahLst/>
            <a:cxnLst>
              <a:cxn ang="T6">
                <a:pos x="T0" y="T1"/>
              </a:cxn>
              <a:cxn ang="T7">
                <a:pos x="T2" y="T3"/>
              </a:cxn>
              <a:cxn ang="T8">
                <a:pos x="T4" y="T5"/>
              </a:cxn>
            </a:cxnLst>
            <a:rect l="T9" t="T10" r="T11" b="T12"/>
            <a:pathLst>
              <a:path w="2072" h="5">
                <a:moveTo>
                  <a:pt x="0" y="5"/>
                </a:moveTo>
                <a:lnTo>
                  <a:pt x="12" y="0"/>
                </a:lnTo>
                <a:lnTo>
                  <a:pt x="2072" y="0"/>
                </a:lnTo>
              </a:path>
            </a:pathLst>
          </a:custGeom>
          <a:noFill/>
          <a:ln w="50800" cap="rnd">
            <a:solidFill>
              <a:schemeClr val="tx1"/>
            </a:solidFill>
            <a:round/>
            <a:headEnd/>
            <a:tailEnd/>
          </a:ln>
        </p:spPr>
        <p:txBody>
          <a:bodyPr/>
          <a:lstStyle/>
          <a:p>
            <a:endParaRPr lang="en-GB"/>
          </a:p>
        </p:txBody>
      </p:sp>
      <p:sp>
        <p:nvSpPr>
          <p:cNvPr id="364584" name="Rectangle 38"/>
          <p:cNvSpPr>
            <a:spLocks noChangeArrowheads="1"/>
          </p:cNvSpPr>
          <p:nvPr/>
        </p:nvSpPr>
        <p:spPr bwMode="auto">
          <a:xfrm>
            <a:off x="990600" y="2133600"/>
            <a:ext cx="7239000" cy="1143000"/>
          </a:xfrm>
          <a:prstGeom prst="rect">
            <a:avLst/>
          </a:prstGeom>
          <a:noFill/>
          <a:ln w="19050" algn="ctr">
            <a:solidFill>
              <a:schemeClr val="tx1"/>
            </a:solidFill>
            <a:miter lim="800000"/>
            <a:headEnd/>
            <a:tailEnd/>
          </a:ln>
        </p:spPr>
        <p:txBody>
          <a:bodyPr wrap="none" anchor="ctr"/>
          <a:lstStyle/>
          <a:p>
            <a:pPr algn="ctr">
              <a:spcBef>
                <a:spcPct val="50000"/>
              </a:spcBef>
            </a:pPr>
            <a:endParaRPr lang="en-GB"/>
          </a:p>
        </p:txBody>
      </p:sp>
      <p:sp>
        <p:nvSpPr>
          <p:cNvPr id="364585" name="Rectangle 39"/>
          <p:cNvSpPr>
            <a:spLocks noGrp="1" noChangeArrowheads="1"/>
          </p:cNvSpPr>
          <p:nvPr>
            <p:ph type="title"/>
          </p:nvPr>
        </p:nvSpPr>
        <p:spPr>
          <a:xfrm>
            <a:off x="1066800" y="228600"/>
            <a:ext cx="7772400" cy="990600"/>
          </a:xfrm>
        </p:spPr>
        <p:txBody>
          <a:bodyPr/>
          <a:lstStyle/>
          <a:p>
            <a:pPr eaLnBrk="1" hangingPunct="1"/>
            <a:r>
              <a:rPr lang="en-US" smtClean="0"/>
              <a:t/>
            </a:r>
            <a:br>
              <a:rPr lang="en-US" smtClean="0"/>
            </a:br>
            <a:r>
              <a:rPr lang="en-US" sz="3600" smtClean="0"/>
              <a:t>Finding Normal</a:t>
            </a:r>
            <a:br>
              <a:rPr lang="en-US" sz="3600" smtClean="0"/>
            </a:br>
            <a:r>
              <a:rPr lang="en-US" sz="3600" smtClean="0"/>
              <a:t>Upper Tail Probabilities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3" name="Rectangle 4"/>
          <p:cNvSpPr>
            <a:spLocks noGrp="1" noChangeArrowheads="1"/>
          </p:cNvSpPr>
          <p:nvPr>
            <p:ph type="ftr" sz="quarter" idx="10"/>
          </p:nvPr>
        </p:nvSpPr>
        <p:spPr>
          <a:noFill/>
        </p:spPr>
        <p:txBody>
          <a:bodyPr/>
          <a:lstStyle/>
          <a:p>
            <a:r>
              <a:rPr lang="en-US" smtClean="0"/>
              <a:t>Copyright ©2012 Pearson Education</a:t>
            </a:r>
          </a:p>
        </p:txBody>
      </p:sp>
      <p:sp>
        <p:nvSpPr>
          <p:cNvPr id="276504" name="Rectangle 5"/>
          <p:cNvSpPr>
            <a:spLocks noGrp="1" noChangeArrowheads="1"/>
          </p:cNvSpPr>
          <p:nvPr>
            <p:ph type="sldNum" sz="quarter" idx="11"/>
          </p:nvPr>
        </p:nvSpPr>
        <p:spPr>
          <a:noFill/>
        </p:spPr>
        <p:txBody>
          <a:bodyPr/>
          <a:lstStyle/>
          <a:p>
            <a:r>
              <a:rPr lang="en-US" smtClean="0"/>
              <a:t>Chap 6-</a:t>
            </a:r>
            <a:fld id="{93EF270E-FA04-4EDD-872A-949AD3797222}" type="slidenum">
              <a:rPr lang="en-US" smtClean="0"/>
              <a:pPr/>
              <a:t>23</a:t>
            </a:fld>
            <a:endParaRPr lang="en-US" smtClean="0"/>
          </a:p>
        </p:txBody>
      </p:sp>
      <p:sp>
        <p:nvSpPr>
          <p:cNvPr id="276505" name="Slide Number Placeholder 2"/>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7A93C22A-AEEC-4DD4-84BD-8F61AE48CB49}" type="slidenum">
              <a:rPr lang="en-US" sz="1000"/>
              <a:pPr algn="r" defTabSz="852488"/>
              <a:t>23</a:t>
            </a:fld>
            <a:endParaRPr lang="en-US" sz="1000"/>
          </a:p>
        </p:txBody>
      </p:sp>
      <p:sp>
        <p:nvSpPr>
          <p:cNvPr id="276506" name="Freeform 2"/>
          <p:cNvSpPr>
            <a:spLocks/>
          </p:cNvSpPr>
          <p:nvPr/>
        </p:nvSpPr>
        <p:spPr bwMode="auto">
          <a:xfrm>
            <a:off x="6505575" y="2892425"/>
            <a:ext cx="311150" cy="1654175"/>
          </a:xfrm>
          <a:custGeom>
            <a:avLst/>
            <a:gdLst>
              <a:gd name="T0" fmla="*/ 3175 w 196"/>
              <a:gd name="T1" fmla="*/ 1651000 h 1042"/>
              <a:gd name="T2" fmla="*/ 0 w 196"/>
              <a:gd name="T3" fmla="*/ 0 h 1042"/>
              <a:gd name="T4" fmla="*/ 47625 w 196"/>
              <a:gd name="T5" fmla="*/ 3175 h 1042"/>
              <a:gd name="T6" fmla="*/ 104775 w 196"/>
              <a:gd name="T7" fmla="*/ 28575 h 1042"/>
              <a:gd name="T8" fmla="*/ 161925 w 196"/>
              <a:gd name="T9" fmla="*/ 80962 h 1042"/>
              <a:gd name="T10" fmla="*/ 219075 w 196"/>
              <a:gd name="T11" fmla="*/ 134937 h 1042"/>
              <a:gd name="T12" fmla="*/ 276225 w 196"/>
              <a:gd name="T13" fmla="*/ 215900 h 1042"/>
              <a:gd name="T14" fmla="*/ 311150 w 196"/>
              <a:gd name="T15" fmla="*/ 250825 h 1042"/>
              <a:gd name="T16" fmla="*/ 311150 w 196"/>
              <a:gd name="T17" fmla="*/ 1654175 h 1042"/>
              <a:gd name="T18" fmla="*/ 3175 w 196"/>
              <a:gd name="T19" fmla="*/ 1651000 h 10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96"/>
              <a:gd name="T31" fmla="*/ 0 h 1042"/>
              <a:gd name="T32" fmla="*/ 196 w 196"/>
              <a:gd name="T33" fmla="*/ 1042 h 10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96" h="1042">
                <a:moveTo>
                  <a:pt x="2" y="1040"/>
                </a:moveTo>
                <a:lnTo>
                  <a:pt x="0" y="0"/>
                </a:lnTo>
                <a:lnTo>
                  <a:pt x="30" y="2"/>
                </a:lnTo>
                <a:lnTo>
                  <a:pt x="66" y="18"/>
                </a:lnTo>
                <a:lnTo>
                  <a:pt x="102" y="51"/>
                </a:lnTo>
                <a:lnTo>
                  <a:pt x="138" y="85"/>
                </a:lnTo>
                <a:lnTo>
                  <a:pt x="174" y="136"/>
                </a:lnTo>
                <a:lnTo>
                  <a:pt x="196" y="158"/>
                </a:lnTo>
                <a:lnTo>
                  <a:pt x="196" y="1042"/>
                </a:lnTo>
                <a:lnTo>
                  <a:pt x="2" y="1040"/>
                </a:lnTo>
                <a:close/>
              </a:path>
            </a:pathLst>
          </a:custGeom>
          <a:solidFill>
            <a:schemeClr val="hlink"/>
          </a:solidFill>
          <a:ln w="19050">
            <a:noFill/>
            <a:round/>
            <a:headEnd/>
            <a:tailEnd/>
          </a:ln>
        </p:spPr>
        <p:txBody>
          <a:bodyPr wrap="none" anchor="ctr"/>
          <a:lstStyle/>
          <a:p>
            <a:endParaRPr lang="en-GB"/>
          </a:p>
        </p:txBody>
      </p:sp>
      <p:sp>
        <p:nvSpPr>
          <p:cNvPr id="276507" name="Rectangle 3"/>
          <p:cNvSpPr>
            <a:spLocks noChangeArrowheads="1"/>
          </p:cNvSpPr>
          <p:nvPr/>
        </p:nvSpPr>
        <p:spPr bwMode="auto">
          <a:xfrm>
            <a:off x="5562600" y="5334000"/>
            <a:ext cx="2819400" cy="1219200"/>
          </a:xfrm>
          <a:prstGeom prst="rect">
            <a:avLst/>
          </a:prstGeom>
          <a:solidFill>
            <a:srgbClr val="C7DAF7"/>
          </a:solidFill>
          <a:ln w="9525" algn="ctr">
            <a:solidFill>
              <a:schemeClr val="tx1"/>
            </a:solidFill>
            <a:miter lim="800000"/>
            <a:headEnd/>
            <a:tailEnd/>
          </a:ln>
        </p:spPr>
        <p:txBody>
          <a:bodyPr wrap="none" anchor="ctr"/>
          <a:lstStyle/>
          <a:p>
            <a:pPr algn="ctr">
              <a:spcBef>
                <a:spcPct val="50000"/>
              </a:spcBef>
            </a:pPr>
            <a:endParaRPr lang="en-GB"/>
          </a:p>
        </p:txBody>
      </p:sp>
      <p:sp>
        <p:nvSpPr>
          <p:cNvPr id="276508" name="Rectangle 4"/>
          <p:cNvSpPr>
            <a:spLocks noGrp="1" noChangeArrowheads="1"/>
          </p:cNvSpPr>
          <p:nvPr>
            <p:ph type="title" idx="4294967295"/>
          </p:nvPr>
        </p:nvSpPr>
        <p:spPr>
          <a:xfrm>
            <a:off x="1143000" y="228600"/>
            <a:ext cx="6781800" cy="990600"/>
          </a:xfrm>
        </p:spPr>
        <p:txBody>
          <a:bodyPr/>
          <a:lstStyle/>
          <a:p>
            <a:pPr defTabSz="914400" eaLnBrk="1" hangingPunct="1">
              <a:lnSpc>
                <a:spcPct val="80000"/>
              </a:lnSpc>
            </a:pPr>
            <a:r>
              <a:rPr lang="en-US" sz="3600" smtClean="0"/>
              <a:t>Finding a Normal Probability Between Two Values</a:t>
            </a:r>
          </a:p>
        </p:txBody>
      </p:sp>
      <p:sp>
        <p:nvSpPr>
          <p:cNvPr id="276509" name="Rectangle 5"/>
          <p:cNvSpPr>
            <a:spLocks noGrp="1" noChangeArrowheads="1"/>
          </p:cNvSpPr>
          <p:nvPr>
            <p:ph type="body" idx="4294967295"/>
          </p:nvPr>
        </p:nvSpPr>
        <p:spPr>
          <a:xfrm>
            <a:off x="762000" y="1676400"/>
            <a:ext cx="8077200" cy="1090613"/>
          </a:xfrm>
        </p:spPr>
        <p:txBody>
          <a:bodyPr/>
          <a:lstStyle/>
          <a:p>
            <a:pPr marL="571500" indent="-571500" defTabSz="914400" eaLnBrk="1" hangingPunct="1"/>
            <a:r>
              <a:rPr lang="en-US" smtClean="0"/>
              <a:t>Suppose  X  is normal with mean 18.0 and standard deviation 5.0.  Find P(18 &lt; X &lt; 18.6)</a:t>
            </a:r>
            <a:endParaRPr lang="en-US" sz="2700" smtClean="0"/>
          </a:p>
        </p:txBody>
      </p:sp>
      <p:sp>
        <p:nvSpPr>
          <p:cNvPr id="276510" name="Text Box 6"/>
          <p:cNvSpPr txBox="1">
            <a:spLocks noChangeArrowheads="1"/>
          </p:cNvSpPr>
          <p:nvPr/>
        </p:nvSpPr>
        <p:spPr bwMode="auto">
          <a:xfrm>
            <a:off x="5638800" y="5410200"/>
            <a:ext cx="2743200" cy="1016000"/>
          </a:xfrm>
          <a:prstGeom prst="rect">
            <a:avLst/>
          </a:prstGeom>
          <a:noFill/>
          <a:ln w="12700">
            <a:noFill/>
            <a:miter lim="800000"/>
            <a:headEnd/>
            <a:tailEnd/>
          </a:ln>
        </p:spPr>
        <p:txBody>
          <a:bodyPr>
            <a:spAutoFit/>
          </a:bodyPr>
          <a:lstStyle/>
          <a:p>
            <a:pPr eaLnBrk="0" hangingPunct="0">
              <a:spcBef>
                <a:spcPct val="50000"/>
              </a:spcBef>
            </a:pPr>
            <a:r>
              <a:rPr lang="en-US">
                <a:solidFill>
                  <a:schemeClr val="bg2"/>
                </a:solidFill>
              </a:rPr>
              <a:t>   P(1</a:t>
            </a:r>
            <a:r>
              <a:rPr lang="en-US">
                <a:solidFill>
                  <a:schemeClr val="bg2"/>
                </a:solidFill>
                <a:sym typeface="Arial" charset="0"/>
              </a:rPr>
              <a:t>8 &lt; X &lt; 18.6)</a:t>
            </a:r>
          </a:p>
          <a:p>
            <a:pPr eaLnBrk="0" hangingPunct="0">
              <a:spcBef>
                <a:spcPct val="50000"/>
              </a:spcBef>
            </a:pPr>
            <a:r>
              <a:rPr lang="en-US">
                <a:solidFill>
                  <a:schemeClr val="bg2"/>
                </a:solidFill>
              </a:rPr>
              <a:t>= </a:t>
            </a:r>
            <a:r>
              <a:rPr lang="en-US">
                <a:solidFill>
                  <a:schemeClr val="folHlink"/>
                </a:solidFill>
              </a:rPr>
              <a:t>P(</a:t>
            </a:r>
            <a:r>
              <a:rPr lang="en-US">
                <a:solidFill>
                  <a:schemeClr val="folHlink"/>
                </a:solidFill>
                <a:sym typeface="Arial" charset="0"/>
              </a:rPr>
              <a:t>0 &lt; Z &lt; 0.12)</a:t>
            </a:r>
          </a:p>
        </p:txBody>
      </p:sp>
      <p:sp>
        <p:nvSpPr>
          <p:cNvPr id="276511" name="Freeform 7"/>
          <p:cNvSpPr>
            <a:spLocks/>
          </p:cNvSpPr>
          <p:nvPr/>
        </p:nvSpPr>
        <p:spPr bwMode="auto">
          <a:xfrm>
            <a:off x="6499225" y="2895600"/>
            <a:ext cx="6350" cy="1644650"/>
          </a:xfrm>
          <a:custGeom>
            <a:avLst/>
            <a:gdLst>
              <a:gd name="T0" fmla="*/ 0 w 4"/>
              <a:gd name="T1" fmla="*/ 0 h 1036"/>
              <a:gd name="T2" fmla="*/ 6350 w 4"/>
              <a:gd name="T3" fmla="*/ 1644650 h 1036"/>
              <a:gd name="T4" fmla="*/ 0 60000 65536"/>
              <a:gd name="T5" fmla="*/ 0 60000 65536"/>
              <a:gd name="T6" fmla="*/ 0 w 4"/>
              <a:gd name="T7" fmla="*/ 0 h 1036"/>
              <a:gd name="T8" fmla="*/ 4 w 4"/>
              <a:gd name="T9" fmla="*/ 1036 h 1036"/>
            </a:gdLst>
            <a:ahLst/>
            <a:cxnLst>
              <a:cxn ang="T4">
                <a:pos x="T0" y="T1"/>
              </a:cxn>
              <a:cxn ang="T5">
                <a:pos x="T2" y="T3"/>
              </a:cxn>
            </a:cxnLst>
            <a:rect l="T6" t="T7" r="T8" b="T9"/>
            <a:pathLst>
              <a:path w="4" h="1036">
                <a:moveTo>
                  <a:pt x="0" y="0"/>
                </a:moveTo>
                <a:lnTo>
                  <a:pt x="4" y="1036"/>
                </a:lnTo>
              </a:path>
            </a:pathLst>
          </a:custGeom>
          <a:noFill/>
          <a:ln w="19050">
            <a:solidFill>
              <a:schemeClr val="tx1"/>
            </a:solidFill>
            <a:round/>
            <a:headEnd/>
            <a:tailEnd/>
          </a:ln>
        </p:spPr>
        <p:txBody>
          <a:bodyPr wrap="none" anchor="ctr"/>
          <a:lstStyle/>
          <a:p>
            <a:endParaRPr lang="en-GB"/>
          </a:p>
        </p:txBody>
      </p:sp>
      <p:sp>
        <p:nvSpPr>
          <p:cNvPr id="276512" name="Freeform 8"/>
          <p:cNvSpPr>
            <a:spLocks/>
          </p:cNvSpPr>
          <p:nvPr/>
        </p:nvSpPr>
        <p:spPr bwMode="auto">
          <a:xfrm>
            <a:off x="6513513" y="2895600"/>
            <a:ext cx="1635125" cy="1573213"/>
          </a:xfrm>
          <a:custGeom>
            <a:avLst/>
            <a:gdLst>
              <a:gd name="T0" fmla="*/ 1633538 w 1030"/>
              <a:gd name="T1" fmla="*/ 1571625 h 991"/>
              <a:gd name="T2" fmla="*/ 1462087 w 1030"/>
              <a:gd name="T3" fmla="*/ 1555750 h 991"/>
              <a:gd name="T4" fmla="*/ 1374775 w 1030"/>
              <a:gd name="T5" fmla="*/ 1535113 h 991"/>
              <a:gd name="T6" fmla="*/ 1290637 w 1030"/>
              <a:gd name="T7" fmla="*/ 1511300 h 991"/>
              <a:gd name="T8" fmla="*/ 1203325 w 1030"/>
              <a:gd name="T9" fmla="*/ 1474788 h 991"/>
              <a:gd name="T10" fmla="*/ 1116012 w 1030"/>
              <a:gd name="T11" fmla="*/ 1423988 h 991"/>
              <a:gd name="T12" fmla="*/ 1033462 w 1030"/>
              <a:gd name="T13" fmla="*/ 1360488 h 991"/>
              <a:gd name="T14" fmla="*/ 858837 w 1030"/>
              <a:gd name="T15" fmla="*/ 1179513 h 991"/>
              <a:gd name="T16" fmla="*/ 687387 w 1030"/>
              <a:gd name="T17" fmla="*/ 922338 h 991"/>
              <a:gd name="T18" fmla="*/ 515937 w 1030"/>
              <a:gd name="T19" fmla="*/ 612775 h 991"/>
              <a:gd name="T20" fmla="*/ 428625 w 1030"/>
              <a:gd name="T21" fmla="*/ 455613 h 991"/>
              <a:gd name="T22" fmla="*/ 341312 w 1030"/>
              <a:gd name="T23" fmla="*/ 311150 h 991"/>
              <a:gd name="T24" fmla="*/ 258762 w 1030"/>
              <a:gd name="T25" fmla="*/ 184150 h 991"/>
              <a:gd name="T26" fmla="*/ 171450 w 1030"/>
              <a:gd name="T27" fmla="*/ 84138 h 991"/>
              <a:gd name="T28" fmla="*/ 84137 w 1030"/>
              <a:gd name="T29" fmla="*/ 20638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a:solidFill>
              <a:srgbClr val="008000"/>
            </a:solidFill>
            <a:round/>
            <a:headEnd/>
            <a:tailEnd/>
          </a:ln>
        </p:spPr>
        <p:txBody>
          <a:bodyPr/>
          <a:lstStyle/>
          <a:p>
            <a:endParaRPr lang="en-GB"/>
          </a:p>
        </p:txBody>
      </p:sp>
      <p:sp>
        <p:nvSpPr>
          <p:cNvPr id="276513" name="Freeform 9"/>
          <p:cNvSpPr>
            <a:spLocks/>
          </p:cNvSpPr>
          <p:nvPr/>
        </p:nvSpPr>
        <p:spPr bwMode="auto">
          <a:xfrm>
            <a:off x="4876800" y="2895600"/>
            <a:ext cx="1638300" cy="1573213"/>
          </a:xfrm>
          <a:custGeom>
            <a:avLst/>
            <a:gdLst>
              <a:gd name="T0" fmla="*/ 0 w 1032"/>
              <a:gd name="T1" fmla="*/ 1571625 h 991"/>
              <a:gd name="T2" fmla="*/ 171450 w 1032"/>
              <a:gd name="T3" fmla="*/ 1555750 h 991"/>
              <a:gd name="T4" fmla="*/ 258762 w 1032"/>
              <a:gd name="T5" fmla="*/ 1535113 h 991"/>
              <a:gd name="T6" fmla="*/ 346075 w 1032"/>
              <a:gd name="T7" fmla="*/ 1511300 h 991"/>
              <a:gd name="T8" fmla="*/ 430212 w 1032"/>
              <a:gd name="T9" fmla="*/ 1474788 h 991"/>
              <a:gd name="T10" fmla="*/ 517525 w 1032"/>
              <a:gd name="T11" fmla="*/ 1423988 h 991"/>
              <a:gd name="T12" fmla="*/ 604837 w 1032"/>
              <a:gd name="T13" fmla="*/ 1360488 h 991"/>
              <a:gd name="T14" fmla="*/ 774700 w 1032"/>
              <a:gd name="T15" fmla="*/ 1179513 h 991"/>
              <a:gd name="T16" fmla="*/ 946150 w 1032"/>
              <a:gd name="T17" fmla="*/ 922338 h 991"/>
              <a:gd name="T18" fmla="*/ 1120775 w 1032"/>
              <a:gd name="T19" fmla="*/ 612775 h 991"/>
              <a:gd name="T20" fmla="*/ 1204912 w 1032"/>
              <a:gd name="T21" fmla="*/ 455613 h 991"/>
              <a:gd name="T22" fmla="*/ 1292225 w 1032"/>
              <a:gd name="T23" fmla="*/ 311150 h 991"/>
              <a:gd name="T24" fmla="*/ 1377950 w 1032"/>
              <a:gd name="T25" fmla="*/ 184150 h 991"/>
              <a:gd name="T26" fmla="*/ 1462087 w 1032"/>
              <a:gd name="T27" fmla="*/ 84138 h 991"/>
              <a:gd name="T28" fmla="*/ 1549400 w 1032"/>
              <a:gd name="T29" fmla="*/ 20638 h 991"/>
              <a:gd name="T30" fmla="*/ 1636713 w 1032"/>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2"/>
              <a:gd name="T49" fmla="*/ 0 h 991"/>
              <a:gd name="T50" fmla="*/ 1032 w 1032"/>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2" h="991">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a:solidFill>
              <a:srgbClr val="008000"/>
            </a:solidFill>
            <a:round/>
            <a:headEnd/>
            <a:tailEnd/>
          </a:ln>
        </p:spPr>
        <p:txBody>
          <a:bodyPr/>
          <a:lstStyle/>
          <a:p>
            <a:endParaRPr lang="en-GB"/>
          </a:p>
        </p:txBody>
      </p:sp>
      <p:sp>
        <p:nvSpPr>
          <p:cNvPr id="276514" name="Freeform 10"/>
          <p:cNvSpPr>
            <a:spLocks/>
          </p:cNvSpPr>
          <p:nvPr/>
        </p:nvSpPr>
        <p:spPr bwMode="auto">
          <a:xfrm>
            <a:off x="4859338" y="4551363"/>
            <a:ext cx="3289300" cy="7937"/>
          </a:xfrm>
          <a:custGeom>
            <a:avLst/>
            <a:gdLst>
              <a:gd name="T0" fmla="*/ 0 w 2072"/>
              <a:gd name="T1" fmla="*/ 7937 h 5"/>
              <a:gd name="T2" fmla="*/ 19050 w 2072"/>
              <a:gd name="T3" fmla="*/ 0 h 5"/>
              <a:gd name="T4" fmla="*/ 3289300 w 2072"/>
              <a:gd name="T5" fmla="*/ 0 h 5"/>
              <a:gd name="T6" fmla="*/ 0 60000 65536"/>
              <a:gd name="T7" fmla="*/ 0 60000 65536"/>
              <a:gd name="T8" fmla="*/ 0 60000 65536"/>
              <a:gd name="T9" fmla="*/ 0 w 2072"/>
              <a:gd name="T10" fmla="*/ 0 h 5"/>
              <a:gd name="T11" fmla="*/ 2072 w 2072"/>
              <a:gd name="T12" fmla="*/ 5 h 5"/>
            </a:gdLst>
            <a:ahLst/>
            <a:cxnLst>
              <a:cxn ang="T6">
                <a:pos x="T0" y="T1"/>
              </a:cxn>
              <a:cxn ang="T7">
                <a:pos x="T2" y="T3"/>
              </a:cxn>
              <a:cxn ang="T8">
                <a:pos x="T4" y="T5"/>
              </a:cxn>
            </a:cxnLst>
            <a:rect l="T9" t="T10" r="T11" b="T12"/>
            <a:pathLst>
              <a:path w="2072" h="5">
                <a:moveTo>
                  <a:pt x="0" y="5"/>
                </a:moveTo>
                <a:lnTo>
                  <a:pt x="12" y="0"/>
                </a:lnTo>
                <a:lnTo>
                  <a:pt x="2072" y="0"/>
                </a:lnTo>
              </a:path>
            </a:pathLst>
          </a:custGeom>
          <a:noFill/>
          <a:ln w="50800" cap="rnd">
            <a:solidFill>
              <a:schemeClr val="tx1"/>
            </a:solidFill>
            <a:round/>
            <a:headEnd/>
            <a:tailEnd/>
          </a:ln>
        </p:spPr>
        <p:txBody>
          <a:bodyPr/>
          <a:lstStyle/>
          <a:p>
            <a:endParaRPr lang="en-GB"/>
          </a:p>
        </p:txBody>
      </p:sp>
      <p:sp>
        <p:nvSpPr>
          <p:cNvPr id="276515" name="Line 11"/>
          <p:cNvSpPr>
            <a:spLocks noChangeShapeType="1"/>
          </p:cNvSpPr>
          <p:nvPr/>
        </p:nvSpPr>
        <p:spPr bwMode="auto">
          <a:xfrm>
            <a:off x="4862513" y="2932113"/>
            <a:ext cx="1587" cy="0"/>
          </a:xfrm>
          <a:prstGeom prst="line">
            <a:avLst/>
          </a:prstGeom>
          <a:noFill/>
          <a:ln w="25400">
            <a:solidFill>
              <a:srgbClr val="CDCDCD"/>
            </a:solidFill>
            <a:round/>
            <a:headEnd/>
            <a:tailEnd/>
          </a:ln>
        </p:spPr>
        <p:txBody>
          <a:bodyPr wrap="none" anchor="ctr"/>
          <a:lstStyle/>
          <a:p>
            <a:endParaRPr lang="en-US"/>
          </a:p>
        </p:txBody>
      </p:sp>
      <p:sp>
        <p:nvSpPr>
          <p:cNvPr id="276516" name="Line 12"/>
          <p:cNvSpPr>
            <a:spLocks noChangeShapeType="1"/>
          </p:cNvSpPr>
          <p:nvPr/>
        </p:nvSpPr>
        <p:spPr bwMode="auto">
          <a:xfrm>
            <a:off x="4862513" y="3082925"/>
            <a:ext cx="1587" cy="0"/>
          </a:xfrm>
          <a:prstGeom prst="line">
            <a:avLst/>
          </a:prstGeom>
          <a:noFill/>
          <a:ln w="25400">
            <a:solidFill>
              <a:srgbClr val="CDCDCD"/>
            </a:solidFill>
            <a:round/>
            <a:headEnd/>
            <a:tailEnd/>
          </a:ln>
        </p:spPr>
        <p:txBody>
          <a:bodyPr wrap="none" anchor="ctr"/>
          <a:lstStyle/>
          <a:p>
            <a:endParaRPr lang="en-US"/>
          </a:p>
        </p:txBody>
      </p:sp>
      <p:sp>
        <p:nvSpPr>
          <p:cNvPr id="276517" name="Rectangle 13"/>
          <p:cNvSpPr>
            <a:spLocks noChangeArrowheads="1"/>
          </p:cNvSpPr>
          <p:nvPr/>
        </p:nvSpPr>
        <p:spPr bwMode="auto">
          <a:xfrm>
            <a:off x="2511425" y="3259138"/>
            <a:ext cx="92075" cy="184150"/>
          </a:xfrm>
          <a:prstGeom prst="rect">
            <a:avLst/>
          </a:prstGeom>
          <a:noFill/>
          <a:ln w="12700">
            <a:noFill/>
            <a:miter lim="800000"/>
            <a:headEnd/>
            <a:tailEnd/>
          </a:ln>
        </p:spPr>
        <p:txBody>
          <a:bodyPr wrap="none" anchor="ctr"/>
          <a:lstStyle/>
          <a:p>
            <a:pPr algn="ctr">
              <a:spcBef>
                <a:spcPct val="50000"/>
              </a:spcBef>
            </a:pPr>
            <a:endParaRPr lang="en-GB"/>
          </a:p>
        </p:txBody>
      </p:sp>
      <p:sp>
        <p:nvSpPr>
          <p:cNvPr id="276518" name="Rectangle 14"/>
          <p:cNvSpPr>
            <a:spLocks noChangeArrowheads="1"/>
          </p:cNvSpPr>
          <p:nvPr/>
        </p:nvSpPr>
        <p:spPr bwMode="auto">
          <a:xfrm>
            <a:off x="8153400" y="4953000"/>
            <a:ext cx="381000" cy="363538"/>
          </a:xfrm>
          <a:prstGeom prst="rect">
            <a:avLst/>
          </a:prstGeom>
          <a:noFill/>
          <a:ln w="12700">
            <a:noFill/>
            <a:miter lim="800000"/>
            <a:headEnd/>
            <a:tailEnd/>
          </a:ln>
        </p:spPr>
        <p:txBody>
          <a:bodyPr lIns="90487" tIns="44450" rIns="90487" bIns="44450">
            <a:spAutoFit/>
          </a:bodyPr>
          <a:lstStyle/>
          <a:p>
            <a:pPr eaLnBrk="0" hangingPunct="0"/>
            <a:r>
              <a:rPr lang="en-US" sz="1800" b="1">
                <a:solidFill>
                  <a:schemeClr val="folHlink"/>
                </a:solidFill>
              </a:rPr>
              <a:t>Z</a:t>
            </a:r>
          </a:p>
        </p:txBody>
      </p:sp>
      <p:sp>
        <p:nvSpPr>
          <p:cNvPr id="276519" name="Rectangle 15"/>
          <p:cNvSpPr>
            <a:spLocks noChangeArrowheads="1"/>
          </p:cNvSpPr>
          <p:nvPr/>
        </p:nvSpPr>
        <p:spPr bwMode="auto">
          <a:xfrm>
            <a:off x="6526213" y="4843463"/>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276520" name="Rectangle 16"/>
          <p:cNvSpPr>
            <a:spLocks noChangeArrowheads="1"/>
          </p:cNvSpPr>
          <p:nvPr/>
        </p:nvSpPr>
        <p:spPr bwMode="auto">
          <a:xfrm>
            <a:off x="6553200" y="4953000"/>
            <a:ext cx="625475" cy="363538"/>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chemeClr val="folHlink"/>
                </a:solidFill>
              </a:rPr>
              <a:t>0.12</a:t>
            </a:r>
            <a:endParaRPr lang="en-US" b="1">
              <a:solidFill>
                <a:schemeClr val="folHlink"/>
              </a:solidFill>
            </a:endParaRPr>
          </a:p>
        </p:txBody>
      </p:sp>
      <p:sp>
        <p:nvSpPr>
          <p:cNvPr id="276521" name="Rectangle 17"/>
          <p:cNvSpPr>
            <a:spLocks noChangeArrowheads="1"/>
          </p:cNvSpPr>
          <p:nvPr/>
        </p:nvSpPr>
        <p:spPr bwMode="auto">
          <a:xfrm>
            <a:off x="6248400" y="4953000"/>
            <a:ext cx="371475" cy="363538"/>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chemeClr val="folHlink"/>
                </a:solidFill>
              </a:rPr>
              <a:t> 0</a:t>
            </a:r>
            <a:endParaRPr lang="en-US" b="1">
              <a:solidFill>
                <a:schemeClr val="folHlink"/>
              </a:solidFill>
            </a:endParaRPr>
          </a:p>
        </p:txBody>
      </p:sp>
      <p:sp>
        <p:nvSpPr>
          <p:cNvPr id="276522" name="Rectangle 18"/>
          <p:cNvSpPr>
            <a:spLocks noChangeArrowheads="1"/>
          </p:cNvSpPr>
          <p:nvPr/>
        </p:nvSpPr>
        <p:spPr bwMode="auto">
          <a:xfrm>
            <a:off x="8153400" y="4572000"/>
            <a:ext cx="381000" cy="363538"/>
          </a:xfrm>
          <a:prstGeom prst="rect">
            <a:avLst/>
          </a:prstGeom>
          <a:noFill/>
          <a:ln w="12700">
            <a:noFill/>
            <a:miter lim="800000"/>
            <a:headEnd/>
            <a:tailEnd/>
          </a:ln>
        </p:spPr>
        <p:txBody>
          <a:bodyPr lIns="90487" tIns="44450" rIns="90487" bIns="44450">
            <a:spAutoFit/>
          </a:bodyPr>
          <a:lstStyle/>
          <a:p>
            <a:pPr eaLnBrk="0" hangingPunct="0"/>
            <a:r>
              <a:rPr lang="en-US" sz="1800" b="1"/>
              <a:t>X</a:t>
            </a:r>
          </a:p>
        </p:txBody>
      </p:sp>
      <p:sp>
        <p:nvSpPr>
          <p:cNvPr id="276523" name="Rectangle 19"/>
          <p:cNvSpPr>
            <a:spLocks noChangeArrowheads="1"/>
          </p:cNvSpPr>
          <p:nvPr/>
        </p:nvSpPr>
        <p:spPr bwMode="auto">
          <a:xfrm>
            <a:off x="6629400" y="4572000"/>
            <a:ext cx="631825" cy="366713"/>
          </a:xfrm>
          <a:prstGeom prst="rect">
            <a:avLst/>
          </a:prstGeom>
          <a:noFill/>
          <a:ln w="12700">
            <a:noFill/>
            <a:miter lim="800000"/>
            <a:headEnd/>
            <a:tailEnd/>
          </a:ln>
        </p:spPr>
        <p:txBody>
          <a:bodyPr wrap="none" lIns="90487" tIns="44450" rIns="90487" bIns="44450">
            <a:spAutoFit/>
          </a:bodyPr>
          <a:lstStyle/>
          <a:p>
            <a:pPr eaLnBrk="0" hangingPunct="0"/>
            <a:r>
              <a:rPr lang="en-US" sz="1800" b="1"/>
              <a:t>18.6</a:t>
            </a:r>
            <a:endParaRPr lang="en-US" b="1"/>
          </a:p>
        </p:txBody>
      </p:sp>
      <p:sp>
        <p:nvSpPr>
          <p:cNvPr id="276524" name="Rectangle 20"/>
          <p:cNvSpPr>
            <a:spLocks noChangeArrowheads="1"/>
          </p:cNvSpPr>
          <p:nvPr/>
        </p:nvSpPr>
        <p:spPr bwMode="auto">
          <a:xfrm>
            <a:off x="6248400" y="4572000"/>
            <a:ext cx="503238" cy="366713"/>
          </a:xfrm>
          <a:prstGeom prst="rect">
            <a:avLst/>
          </a:prstGeom>
          <a:noFill/>
          <a:ln w="12700">
            <a:noFill/>
            <a:miter lim="800000"/>
            <a:headEnd/>
            <a:tailEnd/>
          </a:ln>
        </p:spPr>
        <p:txBody>
          <a:bodyPr wrap="none" lIns="90487" tIns="44450" rIns="90487" bIns="44450">
            <a:spAutoFit/>
          </a:bodyPr>
          <a:lstStyle/>
          <a:p>
            <a:pPr eaLnBrk="0" hangingPunct="0"/>
            <a:r>
              <a:rPr lang="en-US" sz="1800" b="1"/>
              <a:t> 18</a:t>
            </a:r>
            <a:endParaRPr lang="en-US" b="1"/>
          </a:p>
        </p:txBody>
      </p:sp>
      <p:graphicFrame>
        <p:nvGraphicFramePr>
          <p:cNvPr id="276501" name="Object 21"/>
          <p:cNvGraphicFramePr>
            <a:graphicFrameLocks noChangeAspect="1"/>
          </p:cNvGraphicFramePr>
          <p:nvPr/>
        </p:nvGraphicFramePr>
        <p:xfrm>
          <a:off x="704850" y="3657600"/>
          <a:ext cx="3433763" cy="849313"/>
        </p:xfrm>
        <a:graphic>
          <a:graphicData uri="http://schemas.openxmlformats.org/presentationml/2006/ole">
            <p:oleObj spid="_x0000_s276501" name="Equation" r:id="rId3" imgW="1460160" imgH="393480" progId="Equation.3">
              <p:embed/>
            </p:oleObj>
          </a:graphicData>
        </a:graphic>
      </p:graphicFrame>
      <p:graphicFrame>
        <p:nvGraphicFramePr>
          <p:cNvPr id="276502" name="Object 22"/>
          <p:cNvGraphicFramePr>
            <a:graphicFrameLocks noChangeAspect="1"/>
          </p:cNvGraphicFramePr>
          <p:nvPr/>
        </p:nvGraphicFramePr>
        <p:xfrm>
          <a:off x="520700" y="4876800"/>
          <a:ext cx="4149725" cy="849313"/>
        </p:xfrm>
        <a:graphic>
          <a:graphicData uri="http://schemas.openxmlformats.org/presentationml/2006/ole">
            <p:oleObj spid="_x0000_s276502" name="Equation" r:id="rId4" imgW="1765080" imgH="393480" progId="Equation.3">
              <p:embed/>
            </p:oleObj>
          </a:graphicData>
        </a:graphic>
      </p:graphicFrame>
      <p:sp>
        <p:nvSpPr>
          <p:cNvPr id="276525" name="Text Box 23"/>
          <p:cNvSpPr txBox="1">
            <a:spLocks noChangeArrowheads="1"/>
          </p:cNvSpPr>
          <p:nvPr/>
        </p:nvSpPr>
        <p:spPr bwMode="auto">
          <a:xfrm>
            <a:off x="533400" y="2971800"/>
            <a:ext cx="3124200" cy="457200"/>
          </a:xfrm>
          <a:prstGeom prst="rect">
            <a:avLst/>
          </a:prstGeom>
          <a:noFill/>
          <a:ln w="19050" algn="ctr">
            <a:noFill/>
            <a:miter lim="800000"/>
            <a:headEnd/>
            <a:tailEnd/>
          </a:ln>
        </p:spPr>
        <p:txBody>
          <a:bodyPr>
            <a:spAutoFit/>
          </a:bodyPr>
          <a:lstStyle/>
          <a:p>
            <a:pPr algn="ctr">
              <a:spcBef>
                <a:spcPct val="50000"/>
              </a:spcBef>
            </a:pPr>
            <a:r>
              <a:rPr lang="en-US">
                <a:solidFill>
                  <a:schemeClr val="folHlink"/>
                </a:solidFill>
              </a:rPr>
              <a:t>Calculate Z-values: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3" name="Rectangle 4"/>
          <p:cNvSpPr>
            <a:spLocks noGrp="1" noChangeArrowheads="1"/>
          </p:cNvSpPr>
          <p:nvPr>
            <p:ph type="ftr" sz="quarter" idx="10"/>
          </p:nvPr>
        </p:nvSpPr>
        <p:spPr>
          <a:noFill/>
        </p:spPr>
        <p:txBody>
          <a:bodyPr/>
          <a:lstStyle/>
          <a:p>
            <a:r>
              <a:rPr lang="en-US" smtClean="0"/>
              <a:t>Copyright ©2012 Pearson Education</a:t>
            </a:r>
          </a:p>
        </p:txBody>
      </p:sp>
      <p:sp>
        <p:nvSpPr>
          <p:cNvPr id="366594" name="Rectangle 5"/>
          <p:cNvSpPr>
            <a:spLocks noGrp="1" noChangeArrowheads="1"/>
          </p:cNvSpPr>
          <p:nvPr>
            <p:ph type="sldNum" sz="quarter" idx="11"/>
          </p:nvPr>
        </p:nvSpPr>
        <p:spPr>
          <a:noFill/>
        </p:spPr>
        <p:txBody>
          <a:bodyPr/>
          <a:lstStyle/>
          <a:p>
            <a:r>
              <a:rPr lang="en-US" smtClean="0"/>
              <a:t>Chap 6-</a:t>
            </a:r>
            <a:fld id="{42B2A39B-CF69-494E-AF4F-2010D6C7559C}" type="slidenum">
              <a:rPr lang="en-US" smtClean="0"/>
              <a:pPr/>
              <a:t>24</a:t>
            </a:fld>
            <a:endParaRPr lang="en-US" smtClean="0"/>
          </a:p>
        </p:txBody>
      </p:sp>
      <p:sp>
        <p:nvSpPr>
          <p:cNvPr id="366595" name="Slide Number Placeholder 5"/>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D08DFF6E-0862-4D9E-A6A8-F05BDCDF3623}" type="slidenum">
              <a:rPr lang="en-US" sz="1000"/>
              <a:pPr algn="r" defTabSz="852488"/>
              <a:t>24</a:t>
            </a:fld>
            <a:endParaRPr lang="en-US" sz="1000"/>
          </a:p>
        </p:txBody>
      </p:sp>
      <p:sp>
        <p:nvSpPr>
          <p:cNvPr id="366596" name="Rectangle 2"/>
          <p:cNvSpPr>
            <a:spLocks noChangeArrowheads="1"/>
          </p:cNvSpPr>
          <p:nvPr/>
        </p:nvSpPr>
        <p:spPr bwMode="auto">
          <a:xfrm>
            <a:off x="7848600" y="2895600"/>
            <a:ext cx="990600" cy="457200"/>
          </a:xfrm>
          <a:prstGeom prst="rect">
            <a:avLst/>
          </a:prstGeom>
          <a:solidFill>
            <a:srgbClr val="FDE0BD"/>
          </a:solidFill>
          <a:ln w="19050" algn="ctr">
            <a:noFill/>
            <a:miter lim="800000"/>
            <a:headEnd/>
            <a:tailEnd/>
          </a:ln>
        </p:spPr>
        <p:txBody>
          <a:bodyPr wrap="none" anchor="ctr"/>
          <a:lstStyle/>
          <a:p>
            <a:pPr algn="ctr">
              <a:spcBef>
                <a:spcPct val="50000"/>
              </a:spcBef>
            </a:pPr>
            <a:endParaRPr lang="en-GB"/>
          </a:p>
        </p:txBody>
      </p:sp>
      <p:sp>
        <p:nvSpPr>
          <p:cNvPr id="366597" name="Freeform 3"/>
          <p:cNvSpPr>
            <a:spLocks/>
          </p:cNvSpPr>
          <p:nvPr/>
        </p:nvSpPr>
        <p:spPr bwMode="auto">
          <a:xfrm>
            <a:off x="5916613" y="4024313"/>
            <a:ext cx="366712" cy="1625600"/>
          </a:xfrm>
          <a:custGeom>
            <a:avLst/>
            <a:gdLst>
              <a:gd name="T0" fmla="*/ 39687 w 231"/>
              <a:gd name="T1" fmla="*/ 1562100 h 1024"/>
              <a:gd name="T2" fmla="*/ 58737 w 231"/>
              <a:gd name="T3" fmla="*/ 908050 h 1024"/>
              <a:gd name="T4" fmla="*/ 52387 w 231"/>
              <a:gd name="T5" fmla="*/ 539750 h 1024"/>
              <a:gd name="T6" fmla="*/ 46037 w 231"/>
              <a:gd name="T7" fmla="*/ 222250 h 1024"/>
              <a:gd name="T8" fmla="*/ 65087 w 231"/>
              <a:gd name="T9" fmla="*/ 6350 h 1024"/>
              <a:gd name="T10" fmla="*/ 211137 w 231"/>
              <a:gd name="T11" fmla="*/ 44450 h 1024"/>
              <a:gd name="T12" fmla="*/ 242887 w 231"/>
              <a:gd name="T13" fmla="*/ 69850 h 1024"/>
              <a:gd name="T14" fmla="*/ 255587 w 231"/>
              <a:gd name="T15" fmla="*/ 88900 h 1024"/>
              <a:gd name="T16" fmla="*/ 274637 w 231"/>
              <a:gd name="T17" fmla="*/ 101600 h 1024"/>
              <a:gd name="T18" fmla="*/ 331787 w 231"/>
              <a:gd name="T19" fmla="*/ 177800 h 1024"/>
              <a:gd name="T20" fmla="*/ 350837 w 231"/>
              <a:gd name="T21" fmla="*/ 215900 h 1024"/>
              <a:gd name="T22" fmla="*/ 338137 w 231"/>
              <a:gd name="T23" fmla="*/ 342900 h 1024"/>
              <a:gd name="T24" fmla="*/ 357187 w 231"/>
              <a:gd name="T25" fmla="*/ 596900 h 1024"/>
              <a:gd name="T26" fmla="*/ 350837 w 231"/>
              <a:gd name="T27" fmla="*/ 704850 h 1024"/>
              <a:gd name="T28" fmla="*/ 338137 w 231"/>
              <a:gd name="T29" fmla="*/ 742950 h 1024"/>
              <a:gd name="T30" fmla="*/ 331787 w 231"/>
              <a:gd name="T31" fmla="*/ 1009650 h 1024"/>
              <a:gd name="T32" fmla="*/ 350837 w 231"/>
              <a:gd name="T33" fmla="*/ 946150 h 1024"/>
              <a:gd name="T34" fmla="*/ 274637 w 231"/>
              <a:gd name="T35" fmla="*/ 1555750 h 1024"/>
              <a:gd name="T36" fmla="*/ 39687 w 231"/>
              <a:gd name="T37" fmla="*/ 1562100 h 102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1"/>
              <a:gd name="T58" fmla="*/ 0 h 1024"/>
              <a:gd name="T59" fmla="*/ 231 w 231"/>
              <a:gd name="T60" fmla="*/ 1024 h 102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1" h="1024">
                <a:moveTo>
                  <a:pt x="25" y="984"/>
                </a:moveTo>
                <a:cubicBezTo>
                  <a:pt x="28" y="847"/>
                  <a:pt x="34" y="709"/>
                  <a:pt x="37" y="572"/>
                </a:cubicBezTo>
                <a:cubicBezTo>
                  <a:pt x="33" y="476"/>
                  <a:pt x="30" y="440"/>
                  <a:pt x="33" y="340"/>
                </a:cubicBezTo>
                <a:cubicBezTo>
                  <a:pt x="30" y="269"/>
                  <a:pt x="25" y="210"/>
                  <a:pt x="29" y="140"/>
                </a:cubicBezTo>
                <a:cubicBezTo>
                  <a:pt x="28" y="100"/>
                  <a:pt x="0" y="32"/>
                  <a:pt x="41" y="4"/>
                </a:cubicBezTo>
                <a:cubicBezTo>
                  <a:pt x="122" y="9"/>
                  <a:pt x="91" y="0"/>
                  <a:pt x="133" y="28"/>
                </a:cubicBezTo>
                <a:cubicBezTo>
                  <a:pt x="156" y="62"/>
                  <a:pt x="125" y="22"/>
                  <a:pt x="153" y="44"/>
                </a:cubicBezTo>
                <a:cubicBezTo>
                  <a:pt x="157" y="47"/>
                  <a:pt x="158" y="53"/>
                  <a:pt x="161" y="56"/>
                </a:cubicBezTo>
                <a:cubicBezTo>
                  <a:pt x="164" y="59"/>
                  <a:pt x="169" y="61"/>
                  <a:pt x="173" y="64"/>
                </a:cubicBezTo>
                <a:cubicBezTo>
                  <a:pt x="185" y="82"/>
                  <a:pt x="194" y="97"/>
                  <a:pt x="209" y="112"/>
                </a:cubicBezTo>
                <a:cubicBezTo>
                  <a:pt x="212" y="120"/>
                  <a:pt x="221" y="127"/>
                  <a:pt x="221" y="136"/>
                </a:cubicBezTo>
                <a:cubicBezTo>
                  <a:pt x="221" y="163"/>
                  <a:pt x="213" y="216"/>
                  <a:pt x="213" y="216"/>
                </a:cubicBezTo>
                <a:cubicBezTo>
                  <a:pt x="215" y="282"/>
                  <a:pt x="217" y="319"/>
                  <a:pt x="225" y="376"/>
                </a:cubicBezTo>
                <a:cubicBezTo>
                  <a:pt x="224" y="399"/>
                  <a:pt x="224" y="421"/>
                  <a:pt x="221" y="444"/>
                </a:cubicBezTo>
                <a:cubicBezTo>
                  <a:pt x="220" y="452"/>
                  <a:pt x="213" y="468"/>
                  <a:pt x="213" y="468"/>
                </a:cubicBezTo>
                <a:cubicBezTo>
                  <a:pt x="207" y="564"/>
                  <a:pt x="209" y="508"/>
                  <a:pt x="209" y="636"/>
                </a:cubicBezTo>
                <a:cubicBezTo>
                  <a:pt x="213" y="623"/>
                  <a:pt x="222" y="582"/>
                  <a:pt x="221" y="596"/>
                </a:cubicBezTo>
                <a:cubicBezTo>
                  <a:pt x="208" y="724"/>
                  <a:pt x="231" y="865"/>
                  <a:pt x="173" y="980"/>
                </a:cubicBezTo>
                <a:cubicBezTo>
                  <a:pt x="151" y="1024"/>
                  <a:pt x="74" y="983"/>
                  <a:pt x="25" y="984"/>
                </a:cubicBezTo>
                <a:close/>
              </a:path>
            </a:pathLst>
          </a:custGeom>
          <a:solidFill>
            <a:srgbClr val="FF0000"/>
          </a:solidFill>
          <a:ln w="12700">
            <a:solidFill>
              <a:srgbClr val="FF0000"/>
            </a:solidFill>
            <a:round/>
            <a:headEnd/>
            <a:tailEnd/>
          </a:ln>
        </p:spPr>
        <p:txBody>
          <a:bodyPr/>
          <a:lstStyle/>
          <a:p>
            <a:endParaRPr lang="en-GB"/>
          </a:p>
        </p:txBody>
      </p:sp>
      <p:sp>
        <p:nvSpPr>
          <p:cNvPr id="366598" name="Freeform 4"/>
          <p:cNvSpPr>
            <a:spLocks/>
          </p:cNvSpPr>
          <p:nvPr/>
        </p:nvSpPr>
        <p:spPr bwMode="auto">
          <a:xfrm>
            <a:off x="5997575" y="4011613"/>
            <a:ext cx="1635125" cy="1573212"/>
          </a:xfrm>
          <a:custGeom>
            <a:avLst/>
            <a:gdLst>
              <a:gd name="T0" fmla="*/ 1633538 w 1030"/>
              <a:gd name="T1" fmla="*/ 1571625 h 991"/>
              <a:gd name="T2" fmla="*/ 1462087 w 1030"/>
              <a:gd name="T3" fmla="*/ 1555750 h 991"/>
              <a:gd name="T4" fmla="*/ 1374775 w 1030"/>
              <a:gd name="T5" fmla="*/ 1535112 h 991"/>
              <a:gd name="T6" fmla="*/ 1290637 w 1030"/>
              <a:gd name="T7" fmla="*/ 1511300 h 991"/>
              <a:gd name="T8" fmla="*/ 1203325 w 1030"/>
              <a:gd name="T9" fmla="*/ 1474787 h 991"/>
              <a:gd name="T10" fmla="*/ 1116012 w 1030"/>
              <a:gd name="T11" fmla="*/ 1423987 h 991"/>
              <a:gd name="T12" fmla="*/ 1033462 w 1030"/>
              <a:gd name="T13" fmla="*/ 1360487 h 991"/>
              <a:gd name="T14" fmla="*/ 858837 w 1030"/>
              <a:gd name="T15" fmla="*/ 1179512 h 991"/>
              <a:gd name="T16" fmla="*/ 687387 w 1030"/>
              <a:gd name="T17" fmla="*/ 922337 h 991"/>
              <a:gd name="T18" fmla="*/ 515937 w 1030"/>
              <a:gd name="T19" fmla="*/ 612775 h 991"/>
              <a:gd name="T20" fmla="*/ 428625 w 1030"/>
              <a:gd name="T21" fmla="*/ 455612 h 991"/>
              <a:gd name="T22" fmla="*/ 341312 w 1030"/>
              <a:gd name="T23" fmla="*/ 311150 h 991"/>
              <a:gd name="T24" fmla="*/ 258762 w 1030"/>
              <a:gd name="T25" fmla="*/ 184150 h 991"/>
              <a:gd name="T26" fmla="*/ 171450 w 1030"/>
              <a:gd name="T27" fmla="*/ 84137 h 991"/>
              <a:gd name="T28" fmla="*/ 84137 w 1030"/>
              <a:gd name="T29" fmla="*/ 20637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a:solidFill>
              <a:srgbClr val="008000"/>
            </a:solidFill>
            <a:round/>
            <a:headEnd/>
            <a:tailEnd/>
          </a:ln>
        </p:spPr>
        <p:txBody>
          <a:bodyPr/>
          <a:lstStyle/>
          <a:p>
            <a:endParaRPr lang="en-GB"/>
          </a:p>
        </p:txBody>
      </p:sp>
      <p:sp>
        <p:nvSpPr>
          <p:cNvPr id="366599" name="Line 5"/>
          <p:cNvSpPr>
            <a:spLocks noChangeShapeType="1"/>
          </p:cNvSpPr>
          <p:nvPr/>
        </p:nvSpPr>
        <p:spPr bwMode="auto">
          <a:xfrm>
            <a:off x="6267450" y="4284663"/>
            <a:ext cx="0" cy="1371600"/>
          </a:xfrm>
          <a:prstGeom prst="line">
            <a:avLst/>
          </a:prstGeom>
          <a:noFill/>
          <a:ln w="63500">
            <a:solidFill>
              <a:srgbClr val="FF0000"/>
            </a:solidFill>
            <a:round/>
            <a:headEnd/>
            <a:tailEnd/>
          </a:ln>
        </p:spPr>
        <p:txBody>
          <a:bodyPr wrap="none" anchor="ctr"/>
          <a:lstStyle/>
          <a:p>
            <a:endParaRPr lang="en-US"/>
          </a:p>
        </p:txBody>
      </p:sp>
      <p:sp>
        <p:nvSpPr>
          <p:cNvPr id="366600" name="Line 6"/>
          <p:cNvSpPr>
            <a:spLocks noChangeShapeType="1"/>
          </p:cNvSpPr>
          <p:nvPr/>
        </p:nvSpPr>
        <p:spPr bwMode="auto">
          <a:xfrm flipH="1">
            <a:off x="6145213" y="3886200"/>
            <a:ext cx="560387" cy="747713"/>
          </a:xfrm>
          <a:prstGeom prst="line">
            <a:avLst/>
          </a:prstGeom>
          <a:noFill/>
          <a:ln w="12700">
            <a:solidFill>
              <a:schemeClr val="tx1"/>
            </a:solidFill>
            <a:round/>
            <a:headEnd/>
            <a:tailEnd type="triangle" w="med" len="med"/>
          </a:ln>
        </p:spPr>
        <p:txBody>
          <a:bodyPr wrap="none" anchor="ctr"/>
          <a:lstStyle/>
          <a:p>
            <a:endParaRPr lang="en-US"/>
          </a:p>
        </p:txBody>
      </p:sp>
      <p:sp>
        <p:nvSpPr>
          <p:cNvPr id="366601" name="Freeform 7"/>
          <p:cNvSpPr>
            <a:spLocks/>
          </p:cNvSpPr>
          <p:nvPr/>
        </p:nvSpPr>
        <p:spPr bwMode="auto">
          <a:xfrm>
            <a:off x="5956300" y="5440363"/>
            <a:ext cx="320675" cy="242887"/>
          </a:xfrm>
          <a:custGeom>
            <a:avLst/>
            <a:gdLst>
              <a:gd name="T0" fmla="*/ 19050 w 202"/>
              <a:gd name="T1" fmla="*/ 223837 h 153"/>
              <a:gd name="T2" fmla="*/ 166687 w 202"/>
              <a:gd name="T3" fmla="*/ 230187 h 153"/>
              <a:gd name="T4" fmla="*/ 257175 w 202"/>
              <a:gd name="T5" fmla="*/ 228600 h 153"/>
              <a:gd name="T6" fmla="*/ 304800 w 202"/>
              <a:gd name="T7" fmla="*/ 233362 h 153"/>
              <a:gd name="T8" fmla="*/ 319088 w 202"/>
              <a:gd name="T9" fmla="*/ 209550 h 153"/>
              <a:gd name="T10" fmla="*/ 296863 w 202"/>
              <a:gd name="T11" fmla="*/ 38100 h 153"/>
              <a:gd name="T12" fmla="*/ 238125 w 202"/>
              <a:gd name="T13" fmla="*/ 0 h 153"/>
              <a:gd name="T14" fmla="*/ 111125 w 202"/>
              <a:gd name="T15" fmla="*/ 73025 h 153"/>
              <a:gd name="T16" fmla="*/ 80962 w 202"/>
              <a:gd name="T17" fmla="*/ 82550 h 153"/>
              <a:gd name="T18" fmla="*/ 42862 w 202"/>
              <a:gd name="T19" fmla="*/ 90487 h 153"/>
              <a:gd name="T20" fmla="*/ 11112 w 202"/>
              <a:gd name="T21" fmla="*/ 115887 h 153"/>
              <a:gd name="T22" fmla="*/ 0 w 202"/>
              <a:gd name="T23" fmla="*/ 142875 h 153"/>
              <a:gd name="T24" fmla="*/ 1588 w 202"/>
              <a:gd name="T25" fmla="*/ 211137 h 153"/>
              <a:gd name="T26" fmla="*/ 19050 w 202"/>
              <a:gd name="T27" fmla="*/ 223837 h 1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02"/>
              <a:gd name="T43" fmla="*/ 0 h 153"/>
              <a:gd name="T44" fmla="*/ 202 w 202"/>
              <a:gd name="T45" fmla="*/ 153 h 1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02" h="153">
                <a:moveTo>
                  <a:pt x="12" y="141"/>
                </a:moveTo>
                <a:cubicBezTo>
                  <a:pt x="39" y="153"/>
                  <a:pt x="79" y="146"/>
                  <a:pt x="105" y="145"/>
                </a:cubicBezTo>
                <a:cubicBezTo>
                  <a:pt x="127" y="143"/>
                  <a:pt x="135" y="143"/>
                  <a:pt x="162" y="144"/>
                </a:cubicBezTo>
                <a:cubicBezTo>
                  <a:pt x="172" y="148"/>
                  <a:pt x="181" y="148"/>
                  <a:pt x="192" y="147"/>
                </a:cubicBezTo>
                <a:cubicBezTo>
                  <a:pt x="200" y="136"/>
                  <a:pt x="198" y="142"/>
                  <a:pt x="201" y="132"/>
                </a:cubicBezTo>
                <a:cubicBezTo>
                  <a:pt x="200" y="102"/>
                  <a:pt x="202" y="55"/>
                  <a:pt x="187" y="24"/>
                </a:cubicBezTo>
                <a:cubicBezTo>
                  <a:pt x="185" y="7"/>
                  <a:pt x="165" y="1"/>
                  <a:pt x="150" y="0"/>
                </a:cubicBezTo>
                <a:cubicBezTo>
                  <a:pt x="116" y="2"/>
                  <a:pt x="102" y="41"/>
                  <a:pt x="70" y="46"/>
                </a:cubicBezTo>
                <a:cubicBezTo>
                  <a:pt x="63" y="49"/>
                  <a:pt x="58" y="51"/>
                  <a:pt x="51" y="52"/>
                </a:cubicBezTo>
                <a:cubicBezTo>
                  <a:pt x="43" y="55"/>
                  <a:pt x="36" y="56"/>
                  <a:pt x="27" y="57"/>
                </a:cubicBezTo>
                <a:cubicBezTo>
                  <a:pt x="19" y="62"/>
                  <a:pt x="14" y="67"/>
                  <a:pt x="7" y="73"/>
                </a:cubicBezTo>
                <a:cubicBezTo>
                  <a:pt x="0" y="87"/>
                  <a:pt x="2" y="81"/>
                  <a:pt x="0" y="90"/>
                </a:cubicBezTo>
                <a:cubicBezTo>
                  <a:pt x="0" y="104"/>
                  <a:pt x="0" y="119"/>
                  <a:pt x="1" y="133"/>
                </a:cubicBezTo>
                <a:cubicBezTo>
                  <a:pt x="1" y="138"/>
                  <a:pt x="8" y="147"/>
                  <a:pt x="12" y="141"/>
                </a:cubicBezTo>
                <a:close/>
              </a:path>
            </a:pathLst>
          </a:custGeom>
          <a:solidFill>
            <a:srgbClr val="FF0000"/>
          </a:solidFill>
          <a:ln w="12700">
            <a:solidFill>
              <a:srgbClr val="FF0000"/>
            </a:solidFill>
            <a:round/>
            <a:headEnd/>
            <a:tailEnd/>
          </a:ln>
        </p:spPr>
        <p:txBody>
          <a:bodyPr/>
          <a:lstStyle/>
          <a:p>
            <a:endParaRPr lang="en-GB"/>
          </a:p>
        </p:txBody>
      </p:sp>
      <p:sp>
        <p:nvSpPr>
          <p:cNvPr id="366602" name="Line 8"/>
          <p:cNvSpPr>
            <a:spLocks noChangeShapeType="1"/>
          </p:cNvSpPr>
          <p:nvPr/>
        </p:nvSpPr>
        <p:spPr bwMode="auto">
          <a:xfrm>
            <a:off x="5962650" y="4056063"/>
            <a:ext cx="0" cy="1600200"/>
          </a:xfrm>
          <a:prstGeom prst="line">
            <a:avLst/>
          </a:prstGeom>
          <a:noFill/>
          <a:ln w="31750">
            <a:solidFill>
              <a:schemeClr val="tx1"/>
            </a:solidFill>
            <a:round/>
            <a:headEnd/>
            <a:tailEnd/>
          </a:ln>
        </p:spPr>
        <p:txBody>
          <a:bodyPr wrap="none" anchor="ctr"/>
          <a:lstStyle/>
          <a:p>
            <a:endParaRPr lang="en-US"/>
          </a:p>
        </p:txBody>
      </p:sp>
      <p:sp>
        <p:nvSpPr>
          <p:cNvPr id="366603" name="Freeform 9"/>
          <p:cNvSpPr>
            <a:spLocks/>
          </p:cNvSpPr>
          <p:nvPr/>
        </p:nvSpPr>
        <p:spPr bwMode="auto">
          <a:xfrm>
            <a:off x="4360863" y="4011613"/>
            <a:ext cx="1638300" cy="1573212"/>
          </a:xfrm>
          <a:custGeom>
            <a:avLst/>
            <a:gdLst>
              <a:gd name="T0" fmla="*/ 0 w 1032"/>
              <a:gd name="T1" fmla="*/ 1571625 h 991"/>
              <a:gd name="T2" fmla="*/ 171450 w 1032"/>
              <a:gd name="T3" fmla="*/ 1555750 h 991"/>
              <a:gd name="T4" fmla="*/ 258762 w 1032"/>
              <a:gd name="T5" fmla="*/ 1535112 h 991"/>
              <a:gd name="T6" fmla="*/ 346075 w 1032"/>
              <a:gd name="T7" fmla="*/ 1511300 h 991"/>
              <a:gd name="T8" fmla="*/ 430212 w 1032"/>
              <a:gd name="T9" fmla="*/ 1474787 h 991"/>
              <a:gd name="T10" fmla="*/ 517525 w 1032"/>
              <a:gd name="T11" fmla="*/ 1423987 h 991"/>
              <a:gd name="T12" fmla="*/ 604837 w 1032"/>
              <a:gd name="T13" fmla="*/ 1360487 h 991"/>
              <a:gd name="T14" fmla="*/ 774700 w 1032"/>
              <a:gd name="T15" fmla="*/ 1179512 h 991"/>
              <a:gd name="T16" fmla="*/ 946150 w 1032"/>
              <a:gd name="T17" fmla="*/ 922337 h 991"/>
              <a:gd name="T18" fmla="*/ 1120775 w 1032"/>
              <a:gd name="T19" fmla="*/ 612775 h 991"/>
              <a:gd name="T20" fmla="*/ 1204912 w 1032"/>
              <a:gd name="T21" fmla="*/ 455612 h 991"/>
              <a:gd name="T22" fmla="*/ 1292225 w 1032"/>
              <a:gd name="T23" fmla="*/ 311150 h 991"/>
              <a:gd name="T24" fmla="*/ 1377950 w 1032"/>
              <a:gd name="T25" fmla="*/ 184150 h 991"/>
              <a:gd name="T26" fmla="*/ 1462087 w 1032"/>
              <a:gd name="T27" fmla="*/ 84137 h 991"/>
              <a:gd name="T28" fmla="*/ 1549400 w 1032"/>
              <a:gd name="T29" fmla="*/ 20637 h 991"/>
              <a:gd name="T30" fmla="*/ 1636713 w 1032"/>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2"/>
              <a:gd name="T49" fmla="*/ 0 h 991"/>
              <a:gd name="T50" fmla="*/ 1032 w 1032"/>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2" h="991">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a:solidFill>
              <a:srgbClr val="008000"/>
            </a:solidFill>
            <a:round/>
            <a:headEnd/>
            <a:tailEnd/>
          </a:ln>
        </p:spPr>
        <p:txBody>
          <a:bodyPr/>
          <a:lstStyle/>
          <a:p>
            <a:endParaRPr lang="en-GB"/>
          </a:p>
        </p:txBody>
      </p:sp>
      <p:sp>
        <p:nvSpPr>
          <p:cNvPr id="366604" name="Freeform 10"/>
          <p:cNvSpPr>
            <a:spLocks/>
          </p:cNvSpPr>
          <p:nvPr/>
        </p:nvSpPr>
        <p:spPr bwMode="auto">
          <a:xfrm>
            <a:off x="4343400" y="5667375"/>
            <a:ext cx="3289300" cy="7938"/>
          </a:xfrm>
          <a:custGeom>
            <a:avLst/>
            <a:gdLst>
              <a:gd name="T0" fmla="*/ 0 w 2072"/>
              <a:gd name="T1" fmla="*/ 7938 h 5"/>
              <a:gd name="T2" fmla="*/ 19050 w 2072"/>
              <a:gd name="T3" fmla="*/ 0 h 5"/>
              <a:gd name="T4" fmla="*/ 3289300 w 2072"/>
              <a:gd name="T5" fmla="*/ 0 h 5"/>
              <a:gd name="T6" fmla="*/ 0 60000 65536"/>
              <a:gd name="T7" fmla="*/ 0 60000 65536"/>
              <a:gd name="T8" fmla="*/ 0 60000 65536"/>
              <a:gd name="T9" fmla="*/ 0 w 2072"/>
              <a:gd name="T10" fmla="*/ 0 h 5"/>
              <a:gd name="T11" fmla="*/ 2072 w 2072"/>
              <a:gd name="T12" fmla="*/ 5 h 5"/>
            </a:gdLst>
            <a:ahLst/>
            <a:cxnLst>
              <a:cxn ang="T6">
                <a:pos x="T0" y="T1"/>
              </a:cxn>
              <a:cxn ang="T7">
                <a:pos x="T2" y="T3"/>
              </a:cxn>
              <a:cxn ang="T8">
                <a:pos x="T4" y="T5"/>
              </a:cxn>
            </a:cxnLst>
            <a:rect l="T9" t="T10" r="T11" b="T12"/>
            <a:pathLst>
              <a:path w="2072" h="5">
                <a:moveTo>
                  <a:pt x="0" y="5"/>
                </a:moveTo>
                <a:lnTo>
                  <a:pt x="12" y="0"/>
                </a:lnTo>
                <a:lnTo>
                  <a:pt x="2072" y="0"/>
                </a:lnTo>
              </a:path>
            </a:pathLst>
          </a:custGeom>
          <a:noFill/>
          <a:ln w="50800" cap="rnd">
            <a:solidFill>
              <a:schemeClr val="tx1"/>
            </a:solidFill>
            <a:round/>
            <a:headEnd/>
            <a:tailEnd/>
          </a:ln>
        </p:spPr>
        <p:txBody>
          <a:bodyPr/>
          <a:lstStyle/>
          <a:p>
            <a:endParaRPr lang="en-GB"/>
          </a:p>
        </p:txBody>
      </p:sp>
      <p:sp>
        <p:nvSpPr>
          <p:cNvPr id="366605" name="Rectangle 11"/>
          <p:cNvSpPr>
            <a:spLocks noChangeArrowheads="1"/>
          </p:cNvSpPr>
          <p:nvPr/>
        </p:nvSpPr>
        <p:spPr bwMode="auto">
          <a:xfrm>
            <a:off x="7639050" y="5656263"/>
            <a:ext cx="381000" cy="363537"/>
          </a:xfrm>
          <a:prstGeom prst="rect">
            <a:avLst/>
          </a:prstGeom>
          <a:noFill/>
          <a:ln w="12700">
            <a:noFill/>
            <a:miter lim="800000"/>
            <a:headEnd/>
            <a:tailEnd/>
          </a:ln>
        </p:spPr>
        <p:txBody>
          <a:bodyPr lIns="90487" tIns="44450" rIns="90487" bIns="44450">
            <a:spAutoFit/>
          </a:bodyPr>
          <a:lstStyle/>
          <a:p>
            <a:pPr eaLnBrk="0" hangingPunct="0"/>
            <a:r>
              <a:rPr lang="en-US" sz="1800" b="1"/>
              <a:t>Z</a:t>
            </a:r>
          </a:p>
        </p:txBody>
      </p:sp>
      <p:sp>
        <p:nvSpPr>
          <p:cNvPr id="366606" name="Rectangle 12"/>
          <p:cNvSpPr>
            <a:spLocks noChangeArrowheads="1"/>
          </p:cNvSpPr>
          <p:nvPr/>
        </p:nvSpPr>
        <p:spPr bwMode="auto">
          <a:xfrm>
            <a:off x="6010275" y="5959475"/>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366607" name="Rectangle 13"/>
          <p:cNvSpPr>
            <a:spLocks noChangeArrowheads="1"/>
          </p:cNvSpPr>
          <p:nvPr/>
        </p:nvSpPr>
        <p:spPr bwMode="auto">
          <a:xfrm>
            <a:off x="6115050" y="6265863"/>
            <a:ext cx="625475" cy="363537"/>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0.12</a:t>
            </a:r>
            <a:endParaRPr lang="en-US" b="1">
              <a:solidFill>
                <a:srgbClr val="339933"/>
              </a:solidFill>
            </a:endParaRPr>
          </a:p>
        </p:txBody>
      </p:sp>
      <p:sp>
        <p:nvSpPr>
          <p:cNvPr id="366608" name="Rectangle 14"/>
          <p:cNvSpPr>
            <a:spLocks noChangeArrowheads="1"/>
          </p:cNvSpPr>
          <p:nvPr/>
        </p:nvSpPr>
        <p:spPr bwMode="auto">
          <a:xfrm>
            <a:off x="388938" y="4710113"/>
            <a:ext cx="590550" cy="1587"/>
          </a:xfrm>
          <a:prstGeom prst="rect">
            <a:avLst/>
          </a:prstGeom>
          <a:solidFill>
            <a:srgbClr val="A64C4C"/>
          </a:solidFill>
          <a:ln w="12700">
            <a:noFill/>
            <a:miter lim="800000"/>
            <a:headEnd/>
            <a:tailEnd/>
          </a:ln>
        </p:spPr>
        <p:txBody>
          <a:bodyPr wrap="none" anchor="ctr"/>
          <a:lstStyle/>
          <a:p>
            <a:pPr algn="ctr">
              <a:spcBef>
                <a:spcPct val="50000"/>
              </a:spcBef>
            </a:pPr>
            <a:endParaRPr lang="en-GB"/>
          </a:p>
        </p:txBody>
      </p:sp>
      <p:sp>
        <p:nvSpPr>
          <p:cNvPr id="366609" name="Rectangle 15"/>
          <p:cNvSpPr>
            <a:spLocks noChangeArrowheads="1"/>
          </p:cNvSpPr>
          <p:nvPr/>
        </p:nvSpPr>
        <p:spPr bwMode="auto">
          <a:xfrm>
            <a:off x="2876550" y="4719638"/>
            <a:ext cx="6350" cy="6350"/>
          </a:xfrm>
          <a:prstGeom prst="rect">
            <a:avLst/>
          </a:prstGeom>
          <a:solidFill>
            <a:srgbClr val="D989B8"/>
          </a:solidFill>
          <a:ln w="12700">
            <a:noFill/>
            <a:miter lim="800000"/>
            <a:headEnd/>
            <a:tailEnd/>
          </a:ln>
        </p:spPr>
        <p:txBody>
          <a:bodyPr wrap="none" anchor="ctr"/>
          <a:lstStyle/>
          <a:p>
            <a:pPr algn="ctr">
              <a:spcBef>
                <a:spcPct val="50000"/>
              </a:spcBef>
            </a:pPr>
            <a:endParaRPr lang="en-GB"/>
          </a:p>
        </p:txBody>
      </p:sp>
      <p:sp>
        <p:nvSpPr>
          <p:cNvPr id="366610" name="Rectangle 16"/>
          <p:cNvSpPr>
            <a:spLocks noGrp="1" noChangeArrowheads="1"/>
          </p:cNvSpPr>
          <p:nvPr>
            <p:ph type="title"/>
          </p:nvPr>
        </p:nvSpPr>
        <p:spPr>
          <a:xfrm>
            <a:off x="1143000" y="304800"/>
            <a:ext cx="7848600" cy="1143000"/>
          </a:xfrm>
        </p:spPr>
        <p:txBody>
          <a:bodyPr lIns="90487" tIns="44450" rIns="90487" bIns="44450" anchor="ctr" anchorCtr="1"/>
          <a:lstStyle/>
          <a:p>
            <a:pPr defTabSz="914400" eaLnBrk="1" hangingPunct="1">
              <a:lnSpc>
                <a:spcPct val="95000"/>
              </a:lnSpc>
            </a:pPr>
            <a:r>
              <a:rPr lang="en-US" sz="3900" smtClean="0"/>
              <a:t>Solution: Finding P(0 &lt; Z &lt; 0.12)</a:t>
            </a:r>
          </a:p>
        </p:txBody>
      </p:sp>
      <p:sp>
        <p:nvSpPr>
          <p:cNvPr id="366611" name="Rectangle 17"/>
          <p:cNvSpPr>
            <a:spLocks noChangeArrowheads="1"/>
          </p:cNvSpPr>
          <p:nvPr/>
        </p:nvSpPr>
        <p:spPr bwMode="auto">
          <a:xfrm>
            <a:off x="6248400" y="3505200"/>
            <a:ext cx="1206500" cy="454025"/>
          </a:xfrm>
          <a:prstGeom prst="rect">
            <a:avLst/>
          </a:prstGeom>
          <a:solidFill>
            <a:srgbClr val="FDE0BD"/>
          </a:solidFill>
          <a:ln w="12700">
            <a:noFill/>
            <a:miter lim="800000"/>
            <a:headEnd/>
            <a:tailEnd/>
          </a:ln>
        </p:spPr>
        <p:txBody>
          <a:bodyPr lIns="90487" tIns="44450" rIns="90487" bIns="44450">
            <a:spAutoFit/>
          </a:bodyPr>
          <a:lstStyle/>
          <a:p>
            <a:pPr algn="ctr" eaLnBrk="0" hangingPunct="0">
              <a:spcBef>
                <a:spcPct val="50000"/>
              </a:spcBef>
            </a:pPr>
            <a:r>
              <a:rPr lang="en-US">
                <a:solidFill>
                  <a:srgbClr val="FF0000"/>
                </a:solidFill>
              </a:rPr>
              <a:t>0.0478</a:t>
            </a:r>
          </a:p>
        </p:txBody>
      </p:sp>
      <p:sp>
        <p:nvSpPr>
          <p:cNvPr id="366612" name="Rectangle 18"/>
          <p:cNvSpPr>
            <a:spLocks noChangeArrowheads="1"/>
          </p:cNvSpPr>
          <p:nvPr/>
        </p:nvSpPr>
        <p:spPr bwMode="auto">
          <a:xfrm>
            <a:off x="5734050" y="5884863"/>
            <a:ext cx="625475" cy="363537"/>
          </a:xfrm>
          <a:prstGeom prst="rect">
            <a:avLst/>
          </a:prstGeom>
          <a:noFill/>
          <a:ln w="12700">
            <a:noFill/>
            <a:miter lim="800000"/>
            <a:headEnd/>
            <a:tailEnd/>
          </a:ln>
        </p:spPr>
        <p:txBody>
          <a:bodyPr wrap="none" lIns="90487" tIns="44450" rIns="90487" bIns="44450">
            <a:spAutoFit/>
          </a:bodyPr>
          <a:lstStyle/>
          <a:p>
            <a:pPr eaLnBrk="0" hangingPunct="0"/>
            <a:r>
              <a:rPr lang="en-US" sz="1800" b="1"/>
              <a:t>0.00</a:t>
            </a:r>
            <a:endParaRPr lang="en-US" b="1"/>
          </a:p>
        </p:txBody>
      </p:sp>
      <p:sp>
        <p:nvSpPr>
          <p:cNvPr id="366613" name="Line 19"/>
          <p:cNvSpPr>
            <a:spLocks noChangeShapeType="1"/>
          </p:cNvSpPr>
          <p:nvPr/>
        </p:nvSpPr>
        <p:spPr bwMode="auto">
          <a:xfrm flipV="1">
            <a:off x="5962650" y="5656263"/>
            <a:ext cx="0" cy="228600"/>
          </a:xfrm>
          <a:prstGeom prst="line">
            <a:avLst/>
          </a:prstGeom>
          <a:noFill/>
          <a:ln w="12700">
            <a:solidFill>
              <a:schemeClr val="tx1"/>
            </a:solidFill>
            <a:round/>
            <a:headEnd/>
            <a:tailEnd type="triangle" w="med" len="med"/>
          </a:ln>
        </p:spPr>
        <p:txBody>
          <a:bodyPr wrap="none" anchor="ctr"/>
          <a:lstStyle/>
          <a:p>
            <a:endParaRPr lang="en-US"/>
          </a:p>
        </p:txBody>
      </p:sp>
      <p:sp>
        <p:nvSpPr>
          <p:cNvPr id="366614" name="Line 20"/>
          <p:cNvSpPr>
            <a:spLocks noChangeShapeType="1"/>
          </p:cNvSpPr>
          <p:nvPr/>
        </p:nvSpPr>
        <p:spPr bwMode="auto">
          <a:xfrm flipV="1">
            <a:off x="6343650" y="5656263"/>
            <a:ext cx="0" cy="685800"/>
          </a:xfrm>
          <a:prstGeom prst="line">
            <a:avLst/>
          </a:prstGeom>
          <a:noFill/>
          <a:ln w="12700">
            <a:solidFill>
              <a:schemeClr val="tx1"/>
            </a:solidFill>
            <a:round/>
            <a:headEnd/>
            <a:tailEnd type="triangle" w="med" len="med"/>
          </a:ln>
        </p:spPr>
        <p:txBody>
          <a:bodyPr wrap="none" anchor="ctr"/>
          <a:lstStyle/>
          <a:p>
            <a:endParaRPr lang="en-US"/>
          </a:p>
        </p:txBody>
      </p:sp>
      <p:sp>
        <p:nvSpPr>
          <p:cNvPr id="366615" name="Rectangle 21"/>
          <p:cNvSpPr>
            <a:spLocks noChangeArrowheads="1"/>
          </p:cNvSpPr>
          <p:nvPr/>
        </p:nvSpPr>
        <p:spPr bwMode="auto">
          <a:xfrm>
            <a:off x="4959350" y="2133600"/>
            <a:ext cx="2493963" cy="457200"/>
          </a:xfrm>
          <a:prstGeom prst="rect">
            <a:avLst/>
          </a:prstGeom>
          <a:noFill/>
          <a:ln w="19050" algn="ctr">
            <a:noFill/>
            <a:miter lim="800000"/>
            <a:headEnd/>
            <a:tailEnd/>
          </a:ln>
        </p:spPr>
        <p:txBody>
          <a:bodyPr wrap="none">
            <a:spAutoFit/>
          </a:bodyPr>
          <a:lstStyle/>
          <a:p>
            <a:pPr algn="ctr" eaLnBrk="0" hangingPunct="0">
              <a:spcBef>
                <a:spcPct val="50000"/>
              </a:spcBef>
            </a:pPr>
            <a:r>
              <a:rPr lang="en-US">
                <a:solidFill>
                  <a:schemeClr val="folHlink"/>
                </a:solidFill>
              </a:rPr>
              <a:t>= P(</a:t>
            </a:r>
            <a:r>
              <a:rPr lang="en-US">
                <a:solidFill>
                  <a:schemeClr val="folHlink"/>
                </a:solidFill>
                <a:sym typeface="Arial" charset="0"/>
              </a:rPr>
              <a:t>0 &lt; Z &lt; 0.12)</a:t>
            </a:r>
          </a:p>
        </p:txBody>
      </p:sp>
      <p:sp>
        <p:nvSpPr>
          <p:cNvPr id="366616" name="Rectangle 22"/>
          <p:cNvSpPr>
            <a:spLocks noChangeArrowheads="1"/>
          </p:cNvSpPr>
          <p:nvPr/>
        </p:nvSpPr>
        <p:spPr bwMode="auto">
          <a:xfrm>
            <a:off x="4959350" y="1752600"/>
            <a:ext cx="2441575" cy="461963"/>
          </a:xfrm>
          <a:prstGeom prst="rect">
            <a:avLst/>
          </a:prstGeom>
          <a:noFill/>
          <a:ln w="19050" algn="ctr">
            <a:noFill/>
            <a:miter lim="800000"/>
            <a:headEnd/>
            <a:tailEnd/>
          </a:ln>
        </p:spPr>
        <p:txBody>
          <a:bodyPr wrap="none">
            <a:spAutoFit/>
          </a:bodyPr>
          <a:lstStyle/>
          <a:p>
            <a:pPr algn="ctr"/>
            <a:r>
              <a:rPr lang="en-US">
                <a:solidFill>
                  <a:schemeClr val="bg2"/>
                </a:solidFill>
              </a:rPr>
              <a:t>P(1</a:t>
            </a:r>
            <a:r>
              <a:rPr lang="en-US">
                <a:solidFill>
                  <a:schemeClr val="bg2"/>
                </a:solidFill>
                <a:sym typeface="Arial" charset="0"/>
              </a:rPr>
              <a:t>8 &lt; X &lt; 18.6)</a:t>
            </a:r>
          </a:p>
        </p:txBody>
      </p:sp>
      <p:sp>
        <p:nvSpPr>
          <p:cNvPr id="366617" name="Rectangle 23"/>
          <p:cNvSpPr>
            <a:spLocks noChangeArrowheads="1"/>
          </p:cNvSpPr>
          <p:nvPr/>
        </p:nvSpPr>
        <p:spPr bwMode="auto">
          <a:xfrm>
            <a:off x="4953000" y="1676400"/>
            <a:ext cx="3967163" cy="1752600"/>
          </a:xfrm>
          <a:prstGeom prst="rect">
            <a:avLst/>
          </a:prstGeom>
          <a:noFill/>
          <a:ln w="19050" algn="ctr">
            <a:solidFill>
              <a:schemeClr val="tx1"/>
            </a:solidFill>
            <a:miter lim="800000"/>
            <a:headEnd/>
            <a:tailEnd/>
          </a:ln>
        </p:spPr>
        <p:txBody>
          <a:bodyPr wrap="none" anchor="ctr"/>
          <a:lstStyle/>
          <a:p>
            <a:pPr algn="ctr">
              <a:spcBef>
                <a:spcPct val="50000"/>
              </a:spcBef>
            </a:pPr>
            <a:endParaRPr lang="en-GB"/>
          </a:p>
        </p:txBody>
      </p:sp>
      <p:sp>
        <p:nvSpPr>
          <p:cNvPr id="366618" name="Rectangle 24"/>
          <p:cNvSpPr>
            <a:spLocks noChangeArrowheads="1"/>
          </p:cNvSpPr>
          <p:nvPr/>
        </p:nvSpPr>
        <p:spPr bwMode="auto">
          <a:xfrm>
            <a:off x="4959350" y="2514600"/>
            <a:ext cx="3432175" cy="457200"/>
          </a:xfrm>
          <a:prstGeom prst="rect">
            <a:avLst/>
          </a:prstGeom>
          <a:noFill/>
          <a:ln w="19050" algn="ctr">
            <a:noFill/>
            <a:miter lim="800000"/>
            <a:headEnd/>
            <a:tailEnd/>
          </a:ln>
        </p:spPr>
        <p:txBody>
          <a:bodyPr>
            <a:spAutoFit/>
          </a:bodyPr>
          <a:lstStyle/>
          <a:p>
            <a:pPr algn="ctr" eaLnBrk="0" hangingPunct="0">
              <a:spcBef>
                <a:spcPct val="50000"/>
              </a:spcBef>
            </a:pPr>
            <a:r>
              <a:rPr lang="en-US">
                <a:solidFill>
                  <a:schemeClr val="folHlink"/>
                </a:solidFill>
              </a:rPr>
              <a:t>= P(</a:t>
            </a:r>
            <a:r>
              <a:rPr lang="en-US">
                <a:solidFill>
                  <a:schemeClr val="folHlink"/>
                </a:solidFill>
                <a:sym typeface="Arial" charset="0"/>
              </a:rPr>
              <a:t>Z &lt; 0.12) – P(Z </a:t>
            </a:r>
            <a:r>
              <a:rPr lang="en-US">
                <a:solidFill>
                  <a:schemeClr val="folHlink"/>
                </a:solidFill>
                <a:cs typeface="Arial" charset="0"/>
                <a:sym typeface="Arial" charset="0"/>
              </a:rPr>
              <a:t>≤</a:t>
            </a:r>
            <a:r>
              <a:rPr lang="en-US">
                <a:solidFill>
                  <a:schemeClr val="folHlink"/>
                </a:solidFill>
                <a:sym typeface="Arial" charset="0"/>
              </a:rPr>
              <a:t> 0)</a:t>
            </a:r>
          </a:p>
        </p:txBody>
      </p:sp>
      <p:sp>
        <p:nvSpPr>
          <p:cNvPr id="366619" name="Rectangle 25"/>
          <p:cNvSpPr>
            <a:spLocks noChangeArrowheads="1"/>
          </p:cNvSpPr>
          <p:nvPr/>
        </p:nvSpPr>
        <p:spPr bwMode="auto">
          <a:xfrm>
            <a:off x="4959350" y="2895600"/>
            <a:ext cx="3892550" cy="461963"/>
          </a:xfrm>
          <a:prstGeom prst="rect">
            <a:avLst/>
          </a:prstGeom>
          <a:noFill/>
          <a:ln w="19050" algn="ctr">
            <a:noFill/>
            <a:miter lim="800000"/>
            <a:headEnd/>
            <a:tailEnd/>
          </a:ln>
        </p:spPr>
        <p:txBody>
          <a:bodyPr>
            <a:spAutoFit/>
          </a:bodyPr>
          <a:lstStyle/>
          <a:p>
            <a:pPr algn="ctr" eaLnBrk="0" hangingPunct="0">
              <a:spcBef>
                <a:spcPct val="50000"/>
              </a:spcBef>
            </a:pPr>
            <a:r>
              <a:rPr lang="en-US">
                <a:solidFill>
                  <a:schemeClr val="folHlink"/>
                </a:solidFill>
              </a:rPr>
              <a:t>= 0.5478 - 0.5000 = </a:t>
            </a:r>
            <a:r>
              <a:rPr lang="en-US">
                <a:solidFill>
                  <a:schemeClr val="hlink"/>
                </a:solidFill>
              </a:rPr>
              <a:t>0.0478</a:t>
            </a:r>
            <a:endParaRPr lang="en-US">
              <a:solidFill>
                <a:schemeClr val="hlink"/>
              </a:solidFill>
              <a:sym typeface="Arial" charset="0"/>
            </a:endParaRPr>
          </a:p>
        </p:txBody>
      </p:sp>
      <p:sp>
        <p:nvSpPr>
          <p:cNvPr id="366620" name="Rectangle 26"/>
          <p:cNvSpPr>
            <a:spLocks noChangeArrowheads="1"/>
          </p:cNvSpPr>
          <p:nvPr/>
        </p:nvSpPr>
        <p:spPr bwMode="auto">
          <a:xfrm>
            <a:off x="4343400" y="3813175"/>
            <a:ext cx="1206500" cy="454025"/>
          </a:xfrm>
          <a:prstGeom prst="rect">
            <a:avLst/>
          </a:prstGeom>
          <a:solidFill>
            <a:srgbClr val="FDE0BD"/>
          </a:solidFill>
          <a:ln w="12700">
            <a:noFill/>
            <a:miter lim="800000"/>
            <a:headEnd/>
            <a:tailEnd/>
          </a:ln>
        </p:spPr>
        <p:txBody>
          <a:bodyPr lIns="90487" tIns="44450" rIns="90487" bIns="44450">
            <a:spAutoFit/>
          </a:bodyPr>
          <a:lstStyle/>
          <a:p>
            <a:pPr algn="ctr" eaLnBrk="0" hangingPunct="0">
              <a:spcBef>
                <a:spcPct val="50000"/>
              </a:spcBef>
            </a:pPr>
            <a:r>
              <a:rPr lang="en-US">
                <a:solidFill>
                  <a:schemeClr val="folHlink"/>
                </a:solidFill>
              </a:rPr>
              <a:t>0.5000</a:t>
            </a:r>
          </a:p>
        </p:txBody>
      </p:sp>
      <p:sp>
        <p:nvSpPr>
          <p:cNvPr id="366621" name="Line 27"/>
          <p:cNvSpPr>
            <a:spLocks noChangeShapeType="1"/>
          </p:cNvSpPr>
          <p:nvPr/>
        </p:nvSpPr>
        <p:spPr bwMode="auto">
          <a:xfrm>
            <a:off x="5181600" y="4267200"/>
            <a:ext cx="457200" cy="519113"/>
          </a:xfrm>
          <a:prstGeom prst="line">
            <a:avLst/>
          </a:prstGeom>
          <a:noFill/>
          <a:ln w="12700">
            <a:solidFill>
              <a:schemeClr val="tx1"/>
            </a:solidFill>
            <a:round/>
            <a:headEnd/>
            <a:tailEnd type="triangle" w="med" len="med"/>
          </a:ln>
        </p:spPr>
        <p:txBody>
          <a:bodyPr wrap="none" anchor="ctr"/>
          <a:lstStyle/>
          <a:p>
            <a:endParaRPr lang="en-US"/>
          </a:p>
        </p:txBody>
      </p:sp>
      <p:sp>
        <p:nvSpPr>
          <p:cNvPr id="366622" name="Rectangle 28"/>
          <p:cNvSpPr>
            <a:spLocks noChangeArrowheads="1"/>
          </p:cNvSpPr>
          <p:nvPr/>
        </p:nvSpPr>
        <p:spPr bwMode="auto">
          <a:xfrm>
            <a:off x="2887663" y="4719638"/>
            <a:ext cx="6350" cy="6350"/>
          </a:xfrm>
          <a:prstGeom prst="rect">
            <a:avLst/>
          </a:prstGeom>
          <a:solidFill>
            <a:srgbClr val="D989B8"/>
          </a:solidFill>
          <a:ln w="12700">
            <a:noFill/>
            <a:miter lim="800000"/>
            <a:headEnd/>
            <a:tailEnd/>
          </a:ln>
        </p:spPr>
        <p:txBody>
          <a:bodyPr wrap="none" anchor="ctr"/>
          <a:lstStyle/>
          <a:p>
            <a:pPr algn="ctr">
              <a:spcBef>
                <a:spcPct val="50000"/>
              </a:spcBef>
            </a:pPr>
            <a:endParaRPr lang="en-GB"/>
          </a:p>
        </p:txBody>
      </p:sp>
      <p:sp>
        <p:nvSpPr>
          <p:cNvPr id="366623" name="Rectangle 29"/>
          <p:cNvSpPr>
            <a:spLocks noChangeArrowheads="1"/>
          </p:cNvSpPr>
          <p:nvPr/>
        </p:nvSpPr>
        <p:spPr bwMode="auto">
          <a:xfrm>
            <a:off x="388938" y="2736850"/>
            <a:ext cx="601662" cy="69215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66624" name="Rectangle 30"/>
          <p:cNvSpPr>
            <a:spLocks noChangeArrowheads="1"/>
          </p:cNvSpPr>
          <p:nvPr/>
        </p:nvSpPr>
        <p:spPr bwMode="auto">
          <a:xfrm>
            <a:off x="474663" y="2809875"/>
            <a:ext cx="374650" cy="469900"/>
          </a:xfrm>
          <a:prstGeom prst="rect">
            <a:avLst/>
          </a:prstGeom>
          <a:noFill/>
          <a:ln w="12700">
            <a:noFill/>
            <a:miter lim="800000"/>
            <a:headEnd/>
            <a:tailEnd/>
          </a:ln>
        </p:spPr>
        <p:txBody>
          <a:bodyPr wrap="none" lIns="90487" tIns="44450" rIns="90487" bIns="44450">
            <a:spAutoFit/>
          </a:bodyPr>
          <a:lstStyle/>
          <a:p>
            <a:pPr eaLnBrk="0" hangingPunct="0"/>
            <a:r>
              <a:rPr lang="en-US" sz="2500"/>
              <a:t>Z</a:t>
            </a:r>
          </a:p>
        </p:txBody>
      </p:sp>
      <p:sp>
        <p:nvSpPr>
          <p:cNvPr id="366625" name="Rectangle 31"/>
          <p:cNvSpPr>
            <a:spLocks noChangeArrowheads="1"/>
          </p:cNvSpPr>
          <p:nvPr/>
        </p:nvSpPr>
        <p:spPr bwMode="auto">
          <a:xfrm>
            <a:off x="990600" y="2736850"/>
            <a:ext cx="914400" cy="69215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66626" name="Rectangle 32"/>
          <p:cNvSpPr>
            <a:spLocks noChangeArrowheads="1"/>
          </p:cNvSpPr>
          <p:nvPr/>
        </p:nvSpPr>
        <p:spPr bwMode="auto">
          <a:xfrm>
            <a:off x="1108075" y="2809875"/>
            <a:ext cx="622300" cy="469900"/>
          </a:xfrm>
          <a:prstGeom prst="rect">
            <a:avLst/>
          </a:prstGeom>
          <a:noFill/>
          <a:ln w="12700">
            <a:noFill/>
            <a:miter lim="800000"/>
            <a:headEnd/>
            <a:tailEnd/>
          </a:ln>
        </p:spPr>
        <p:txBody>
          <a:bodyPr wrap="none" lIns="90487" tIns="44450" rIns="90487" bIns="44450">
            <a:spAutoFit/>
          </a:bodyPr>
          <a:lstStyle/>
          <a:p>
            <a:pPr eaLnBrk="0" hangingPunct="0"/>
            <a:r>
              <a:rPr lang="en-US" sz="2500"/>
              <a:t>.00</a:t>
            </a:r>
          </a:p>
        </p:txBody>
      </p:sp>
      <p:sp>
        <p:nvSpPr>
          <p:cNvPr id="366627" name="Rectangle 33"/>
          <p:cNvSpPr>
            <a:spLocks noChangeArrowheads="1"/>
          </p:cNvSpPr>
          <p:nvPr/>
        </p:nvSpPr>
        <p:spPr bwMode="auto">
          <a:xfrm>
            <a:off x="1905000" y="2736850"/>
            <a:ext cx="990600" cy="69215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66628" name="Rectangle 34"/>
          <p:cNvSpPr>
            <a:spLocks noChangeArrowheads="1"/>
          </p:cNvSpPr>
          <p:nvPr/>
        </p:nvSpPr>
        <p:spPr bwMode="auto">
          <a:xfrm>
            <a:off x="2052638" y="2809875"/>
            <a:ext cx="622300" cy="469900"/>
          </a:xfrm>
          <a:prstGeom prst="rect">
            <a:avLst/>
          </a:prstGeom>
          <a:noFill/>
          <a:ln w="12700">
            <a:noFill/>
            <a:miter lim="800000"/>
            <a:headEnd/>
            <a:tailEnd/>
          </a:ln>
        </p:spPr>
        <p:txBody>
          <a:bodyPr wrap="none" lIns="90487" tIns="44450" rIns="90487" bIns="44450">
            <a:spAutoFit/>
          </a:bodyPr>
          <a:lstStyle/>
          <a:p>
            <a:pPr eaLnBrk="0" hangingPunct="0"/>
            <a:r>
              <a:rPr lang="en-US" sz="2500"/>
              <a:t>.01</a:t>
            </a:r>
          </a:p>
        </p:txBody>
      </p:sp>
      <p:sp>
        <p:nvSpPr>
          <p:cNvPr id="366629" name="Rectangle 35"/>
          <p:cNvSpPr>
            <a:spLocks noChangeArrowheads="1"/>
          </p:cNvSpPr>
          <p:nvPr/>
        </p:nvSpPr>
        <p:spPr bwMode="auto">
          <a:xfrm>
            <a:off x="2895600" y="2736850"/>
            <a:ext cx="942975" cy="692150"/>
          </a:xfrm>
          <a:prstGeom prst="rect">
            <a:avLst/>
          </a:prstGeom>
          <a:solidFill>
            <a:srgbClr val="969696"/>
          </a:solidFill>
          <a:ln w="12700">
            <a:noFill/>
            <a:miter lim="800000"/>
            <a:headEnd/>
            <a:tailEnd/>
          </a:ln>
        </p:spPr>
        <p:txBody>
          <a:bodyPr wrap="none" anchor="ctr"/>
          <a:lstStyle/>
          <a:p>
            <a:pPr algn="ctr">
              <a:spcBef>
                <a:spcPct val="50000"/>
              </a:spcBef>
            </a:pPr>
            <a:endParaRPr lang="en-GB"/>
          </a:p>
        </p:txBody>
      </p:sp>
      <p:sp>
        <p:nvSpPr>
          <p:cNvPr id="366630" name="Rectangle 36"/>
          <p:cNvSpPr>
            <a:spLocks noChangeArrowheads="1"/>
          </p:cNvSpPr>
          <p:nvPr/>
        </p:nvSpPr>
        <p:spPr bwMode="auto">
          <a:xfrm>
            <a:off x="388938" y="3406775"/>
            <a:ext cx="601662" cy="631825"/>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66631" name="Rectangle 37"/>
          <p:cNvSpPr>
            <a:spLocks noChangeArrowheads="1"/>
          </p:cNvSpPr>
          <p:nvPr/>
        </p:nvSpPr>
        <p:spPr bwMode="auto">
          <a:xfrm>
            <a:off x="349250" y="3479800"/>
            <a:ext cx="622300" cy="469900"/>
          </a:xfrm>
          <a:prstGeom prst="rect">
            <a:avLst/>
          </a:prstGeom>
          <a:noFill/>
          <a:ln w="12700">
            <a:noFill/>
            <a:miter lim="800000"/>
            <a:headEnd/>
            <a:tailEnd/>
          </a:ln>
        </p:spPr>
        <p:txBody>
          <a:bodyPr wrap="none" lIns="90487" tIns="44450" rIns="90487" bIns="44450">
            <a:spAutoFit/>
          </a:bodyPr>
          <a:lstStyle/>
          <a:p>
            <a:pPr eaLnBrk="0" hangingPunct="0"/>
            <a:r>
              <a:rPr lang="en-US" sz="2500"/>
              <a:t>0.0</a:t>
            </a:r>
          </a:p>
        </p:txBody>
      </p:sp>
      <p:sp>
        <p:nvSpPr>
          <p:cNvPr id="366632" name="Rectangle 38"/>
          <p:cNvSpPr>
            <a:spLocks noChangeArrowheads="1"/>
          </p:cNvSpPr>
          <p:nvPr/>
        </p:nvSpPr>
        <p:spPr bwMode="auto">
          <a:xfrm>
            <a:off x="958850" y="3473450"/>
            <a:ext cx="974725" cy="469900"/>
          </a:xfrm>
          <a:prstGeom prst="rect">
            <a:avLst/>
          </a:prstGeom>
          <a:solidFill>
            <a:srgbClr val="FDE0BD"/>
          </a:solidFill>
          <a:ln w="12700">
            <a:noFill/>
            <a:miter lim="800000"/>
            <a:headEnd/>
            <a:tailEnd/>
          </a:ln>
        </p:spPr>
        <p:txBody>
          <a:bodyPr wrap="none" lIns="90487" tIns="44450" rIns="90487" bIns="44450">
            <a:spAutoFit/>
          </a:bodyPr>
          <a:lstStyle/>
          <a:p>
            <a:pPr eaLnBrk="0" hangingPunct="0"/>
            <a:r>
              <a:rPr lang="en-US" sz="2500">
                <a:solidFill>
                  <a:schemeClr val="hlink"/>
                </a:solidFill>
              </a:rPr>
              <a:t>.</a:t>
            </a:r>
            <a:r>
              <a:rPr lang="en-US" sz="2500">
                <a:solidFill>
                  <a:schemeClr val="folHlink"/>
                </a:solidFill>
              </a:rPr>
              <a:t>5000</a:t>
            </a:r>
          </a:p>
        </p:txBody>
      </p:sp>
      <p:sp>
        <p:nvSpPr>
          <p:cNvPr id="366633" name="Rectangle 39"/>
          <p:cNvSpPr>
            <a:spLocks noChangeArrowheads="1"/>
          </p:cNvSpPr>
          <p:nvPr/>
        </p:nvSpPr>
        <p:spPr bwMode="auto">
          <a:xfrm>
            <a:off x="1874838" y="347980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.5040</a:t>
            </a:r>
          </a:p>
        </p:txBody>
      </p:sp>
      <p:sp>
        <p:nvSpPr>
          <p:cNvPr id="366634" name="Rectangle 40"/>
          <p:cNvSpPr>
            <a:spLocks noChangeArrowheads="1"/>
          </p:cNvSpPr>
          <p:nvPr/>
        </p:nvSpPr>
        <p:spPr bwMode="auto">
          <a:xfrm>
            <a:off x="2843213" y="347980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.5080</a:t>
            </a:r>
          </a:p>
        </p:txBody>
      </p:sp>
      <p:sp>
        <p:nvSpPr>
          <p:cNvPr id="366635" name="Rectangle 41"/>
          <p:cNvSpPr>
            <a:spLocks noChangeArrowheads="1"/>
          </p:cNvSpPr>
          <p:nvPr/>
        </p:nvSpPr>
        <p:spPr bwMode="auto">
          <a:xfrm>
            <a:off x="388938" y="4038600"/>
            <a:ext cx="601662" cy="685800"/>
          </a:xfrm>
          <a:prstGeom prst="rect">
            <a:avLst/>
          </a:prstGeom>
          <a:solidFill>
            <a:srgbClr val="969696"/>
          </a:solidFill>
          <a:ln w="12700">
            <a:noFill/>
            <a:miter lim="800000"/>
            <a:headEnd/>
            <a:tailEnd/>
          </a:ln>
        </p:spPr>
        <p:txBody>
          <a:bodyPr wrap="none" anchor="ctr"/>
          <a:lstStyle/>
          <a:p>
            <a:pPr algn="ctr">
              <a:spcBef>
                <a:spcPct val="50000"/>
              </a:spcBef>
            </a:pPr>
            <a:endParaRPr lang="en-GB"/>
          </a:p>
        </p:txBody>
      </p:sp>
      <p:sp>
        <p:nvSpPr>
          <p:cNvPr id="366636" name="Rectangle 42"/>
          <p:cNvSpPr>
            <a:spLocks noChangeArrowheads="1"/>
          </p:cNvSpPr>
          <p:nvPr/>
        </p:nvSpPr>
        <p:spPr bwMode="auto">
          <a:xfrm>
            <a:off x="930275" y="414020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.5398</a:t>
            </a:r>
          </a:p>
        </p:txBody>
      </p:sp>
      <p:sp>
        <p:nvSpPr>
          <p:cNvPr id="366637" name="Rectangle 43"/>
          <p:cNvSpPr>
            <a:spLocks noChangeArrowheads="1"/>
          </p:cNvSpPr>
          <p:nvPr/>
        </p:nvSpPr>
        <p:spPr bwMode="auto">
          <a:xfrm>
            <a:off x="1873250" y="415925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.5438</a:t>
            </a:r>
          </a:p>
        </p:txBody>
      </p:sp>
      <p:sp>
        <p:nvSpPr>
          <p:cNvPr id="366638" name="Rectangle 44"/>
          <p:cNvSpPr>
            <a:spLocks noChangeArrowheads="1"/>
          </p:cNvSpPr>
          <p:nvPr/>
        </p:nvSpPr>
        <p:spPr bwMode="auto">
          <a:xfrm>
            <a:off x="2894013" y="4067175"/>
            <a:ext cx="944562" cy="642938"/>
          </a:xfrm>
          <a:prstGeom prst="rect">
            <a:avLst/>
          </a:prstGeom>
          <a:noFill/>
          <a:ln w="12700">
            <a:noFill/>
            <a:miter lim="800000"/>
            <a:headEnd/>
            <a:tailEnd/>
          </a:ln>
        </p:spPr>
        <p:txBody>
          <a:bodyPr wrap="none" anchor="ctr"/>
          <a:lstStyle/>
          <a:p>
            <a:pPr algn="ctr">
              <a:spcBef>
                <a:spcPct val="50000"/>
              </a:spcBef>
            </a:pPr>
            <a:endParaRPr lang="en-GB"/>
          </a:p>
        </p:txBody>
      </p:sp>
      <p:sp>
        <p:nvSpPr>
          <p:cNvPr id="366639" name="Rectangle 45"/>
          <p:cNvSpPr>
            <a:spLocks noChangeArrowheads="1"/>
          </p:cNvSpPr>
          <p:nvPr/>
        </p:nvSpPr>
        <p:spPr bwMode="auto">
          <a:xfrm>
            <a:off x="388938" y="4724400"/>
            <a:ext cx="601662" cy="68580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66640" name="Rectangle 46"/>
          <p:cNvSpPr>
            <a:spLocks noChangeArrowheads="1"/>
          </p:cNvSpPr>
          <p:nvPr/>
        </p:nvSpPr>
        <p:spPr bwMode="auto">
          <a:xfrm>
            <a:off x="349250" y="4810125"/>
            <a:ext cx="622300" cy="469900"/>
          </a:xfrm>
          <a:prstGeom prst="rect">
            <a:avLst/>
          </a:prstGeom>
          <a:noFill/>
          <a:ln w="12700">
            <a:noFill/>
            <a:miter lim="800000"/>
            <a:headEnd/>
            <a:tailEnd/>
          </a:ln>
        </p:spPr>
        <p:txBody>
          <a:bodyPr wrap="none" lIns="90487" tIns="44450" rIns="90487" bIns="44450">
            <a:spAutoFit/>
          </a:bodyPr>
          <a:lstStyle/>
          <a:p>
            <a:pPr eaLnBrk="0" hangingPunct="0"/>
            <a:r>
              <a:rPr lang="en-US" sz="2500"/>
              <a:t>0.2</a:t>
            </a:r>
          </a:p>
        </p:txBody>
      </p:sp>
      <p:sp>
        <p:nvSpPr>
          <p:cNvPr id="366641" name="Rectangle 47"/>
          <p:cNvSpPr>
            <a:spLocks noChangeArrowheads="1"/>
          </p:cNvSpPr>
          <p:nvPr/>
        </p:nvSpPr>
        <p:spPr bwMode="auto">
          <a:xfrm>
            <a:off x="930275" y="48101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.5793</a:t>
            </a:r>
          </a:p>
        </p:txBody>
      </p:sp>
      <p:sp>
        <p:nvSpPr>
          <p:cNvPr id="366642" name="Rectangle 48"/>
          <p:cNvSpPr>
            <a:spLocks noChangeArrowheads="1"/>
          </p:cNvSpPr>
          <p:nvPr/>
        </p:nvSpPr>
        <p:spPr bwMode="auto">
          <a:xfrm>
            <a:off x="1874838" y="48101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.5832</a:t>
            </a:r>
          </a:p>
        </p:txBody>
      </p:sp>
      <p:sp>
        <p:nvSpPr>
          <p:cNvPr id="366643" name="Rectangle 49"/>
          <p:cNvSpPr>
            <a:spLocks noChangeArrowheads="1"/>
          </p:cNvSpPr>
          <p:nvPr/>
        </p:nvSpPr>
        <p:spPr bwMode="auto">
          <a:xfrm>
            <a:off x="2843213" y="48101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.5871</a:t>
            </a:r>
          </a:p>
        </p:txBody>
      </p:sp>
      <p:sp>
        <p:nvSpPr>
          <p:cNvPr id="366644" name="Rectangle 50"/>
          <p:cNvSpPr>
            <a:spLocks noChangeArrowheads="1"/>
          </p:cNvSpPr>
          <p:nvPr/>
        </p:nvSpPr>
        <p:spPr bwMode="auto">
          <a:xfrm>
            <a:off x="388938" y="5397500"/>
            <a:ext cx="601662" cy="63500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66645" name="Rectangle 51"/>
          <p:cNvSpPr>
            <a:spLocks noChangeArrowheads="1"/>
          </p:cNvSpPr>
          <p:nvPr/>
        </p:nvSpPr>
        <p:spPr bwMode="auto">
          <a:xfrm>
            <a:off x="349250" y="5470525"/>
            <a:ext cx="622300" cy="469900"/>
          </a:xfrm>
          <a:prstGeom prst="rect">
            <a:avLst/>
          </a:prstGeom>
          <a:noFill/>
          <a:ln w="12700">
            <a:noFill/>
            <a:miter lim="800000"/>
            <a:headEnd/>
            <a:tailEnd/>
          </a:ln>
        </p:spPr>
        <p:txBody>
          <a:bodyPr wrap="none" lIns="90487" tIns="44450" rIns="90487" bIns="44450">
            <a:spAutoFit/>
          </a:bodyPr>
          <a:lstStyle/>
          <a:p>
            <a:pPr eaLnBrk="0" hangingPunct="0"/>
            <a:r>
              <a:rPr lang="en-US" sz="2500"/>
              <a:t>0.3</a:t>
            </a:r>
          </a:p>
        </p:txBody>
      </p:sp>
      <p:sp>
        <p:nvSpPr>
          <p:cNvPr id="366646" name="Rectangle 52"/>
          <p:cNvSpPr>
            <a:spLocks noChangeArrowheads="1"/>
          </p:cNvSpPr>
          <p:nvPr/>
        </p:nvSpPr>
        <p:spPr bwMode="auto">
          <a:xfrm>
            <a:off x="930275" y="54705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.6179</a:t>
            </a:r>
          </a:p>
        </p:txBody>
      </p:sp>
      <p:sp>
        <p:nvSpPr>
          <p:cNvPr id="366647" name="Rectangle 53"/>
          <p:cNvSpPr>
            <a:spLocks noChangeArrowheads="1"/>
          </p:cNvSpPr>
          <p:nvPr/>
        </p:nvSpPr>
        <p:spPr bwMode="auto">
          <a:xfrm>
            <a:off x="1874838" y="54705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.6217</a:t>
            </a:r>
          </a:p>
        </p:txBody>
      </p:sp>
      <p:sp>
        <p:nvSpPr>
          <p:cNvPr id="366648" name="Rectangle 54"/>
          <p:cNvSpPr>
            <a:spLocks noChangeArrowheads="1"/>
          </p:cNvSpPr>
          <p:nvPr/>
        </p:nvSpPr>
        <p:spPr bwMode="auto">
          <a:xfrm>
            <a:off x="2843213" y="54705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.6255</a:t>
            </a:r>
          </a:p>
        </p:txBody>
      </p:sp>
      <p:sp>
        <p:nvSpPr>
          <p:cNvPr id="366649" name="Rectangle 55"/>
          <p:cNvSpPr>
            <a:spLocks noChangeArrowheads="1"/>
          </p:cNvSpPr>
          <p:nvPr/>
        </p:nvSpPr>
        <p:spPr bwMode="auto">
          <a:xfrm>
            <a:off x="3016250" y="2741613"/>
            <a:ext cx="1130300" cy="611187"/>
          </a:xfrm>
          <a:prstGeom prst="rect">
            <a:avLst/>
          </a:prstGeom>
          <a:noFill/>
          <a:ln w="12700">
            <a:noFill/>
            <a:miter lim="800000"/>
            <a:headEnd/>
            <a:tailEnd/>
          </a:ln>
        </p:spPr>
        <p:txBody>
          <a:bodyPr lIns="92075" tIns="92075" rIns="92075" bIns="92075">
            <a:spAutoFit/>
          </a:bodyPr>
          <a:lstStyle/>
          <a:p>
            <a:pPr eaLnBrk="0" hangingPunct="0">
              <a:spcBef>
                <a:spcPct val="50000"/>
              </a:spcBef>
            </a:pPr>
            <a:r>
              <a:rPr lang="en-US" sz="2800" b="1">
                <a:solidFill>
                  <a:srgbClr val="00FF00"/>
                </a:solidFill>
              </a:rPr>
              <a:t>.02</a:t>
            </a:r>
          </a:p>
        </p:txBody>
      </p:sp>
      <p:sp>
        <p:nvSpPr>
          <p:cNvPr id="366650" name="Rectangle 56"/>
          <p:cNvSpPr>
            <a:spLocks noChangeArrowheads="1"/>
          </p:cNvSpPr>
          <p:nvPr/>
        </p:nvSpPr>
        <p:spPr bwMode="auto">
          <a:xfrm>
            <a:off x="304800" y="4191000"/>
            <a:ext cx="1066800" cy="473075"/>
          </a:xfrm>
          <a:prstGeom prst="rect">
            <a:avLst/>
          </a:prstGeom>
          <a:noFill/>
          <a:ln w="12700">
            <a:noFill/>
            <a:miter lim="800000"/>
            <a:headEnd/>
            <a:tailEnd/>
          </a:ln>
        </p:spPr>
        <p:txBody>
          <a:bodyPr lIns="92075" tIns="0" rIns="92075" bIns="0" anchor="ctr"/>
          <a:lstStyle/>
          <a:p>
            <a:pPr eaLnBrk="0" hangingPunct="0">
              <a:spcBef>
                <a:spcPct val="50000"/>
              </a:spcBef>
            </a:pPr>
            <a:r>
              <a:rPr lang="en-US" sz="2800" b="1">
                <a:solidFill>
                  <a:srgbClr val="00FF00"/>
                </a:solidFill>
              </a:rPr>
              <a:t>0.1</a:t>
            </a:r>
          </a:p>
        </p:txBody>
      </p:sp>
      <p:sp>
        <p:nvSpPr>
          <p:cNvPr id="366651" name="Rectangle 57"/>
          <p:cNvSpPr>
            <a:spLocks noChangeArrowheads="1"/>
          </p:cNvSpPr>
          <p:nvPr/>
        </p:nvSpPr>
        <p:spPr bwMode="auto">
          <a:xfrm>
            <a:off x="2895600" y="4159250"/>
            <a:ext cx="1022350" cy="500063"/>
          </a:xfrm>
          <a:prstGeom prst="rect">
            <a:avLst/>
          </a:prstGeom>
          <a:solidFill>
            <a:srgbClr val="FDE0BD"/>
          </a:solidFill>
          <a:ln w="12700">
            <a:noFill/>
            <a:miter lim="800000"/>
            <a:headEnd/>
            <a:tailEnd/>
          </a:ln>
        </p:spPr>
        <p:txBody>
          <a:bodyPr lIns="90487" tIns="44450" rIns="90487" bIns="44450">
            <a:spAutoFit/>
          </a:bodyPr>
          <a:lstStyle/>
          <a:p>
            <a:pPr eaLnBrk="0" hangingPunct="0">
              <a:spcBef>
                <a:spcPct val="50000"/>
              </a:spcBef>
            </a:pPr>
            <a:r>
              <a:rPr lang="en-US" sz="2700" b="1">
                <a:solidFill>
                  <a:schemeClr val="folHlink"/>
                </a:solidFill>
              </a:rPr>
              <a:t>.</a:t>
            </a:r>
            <a:r>
              <a:rPr lang="en-US">
                <a:solidFill>
                  <a:schemeClr val="folHlink"/>
                </a:solidFill>
              </a:rPr>
              <a:t>5478</a:t>
            </a:r>
          </a:p>
        </p:txBody>
      </p:sp>
      <p:sp>
        <p:nvSpPr>
          <p:cNvPr id="366652" name="Rectangle 58"/>
          <p:cNvSpPr>
            <a:spLocks noChangeArrowheads="1"/>
          </p:cNvSpPr>
          <p:nvPr/>
        </p:nvSpPr>
        <p:spPr bwMode="auto">
          <a:xfrm>
            <a:off x="381000" y="1905000"/>
            <a:ext cx="4572000" cy="782638"/>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a:t>Standardized Normal Probability </a:t>
            </a:r>
          </a:p>
          <a:p>
            <a:pPr eaLnBrk="0" hangingPunct="0">
              <a:lnSpc>
                <a:spcPct val="40000"/>
              </a:lnSpc>
              <a:spcBef>
                <a:spcPct val="50000"/>
              </a:spcBef>
            </a:pPr>
            <a:r>
              <a:rPr lang="en-US"/>
              <a:t>Table (Portion)</a:t>
            </a:r>
          </a:p>
        </p:txBody>
      </p:sp>
      <p:sp>
        <p:nvSpPr>
          <p:cNvPr id="366653" name="Line 59"/>
          <p:cNvSpPr>
            <a:spLocks noChangeShapeType="1"/>
          </p:cNvSpPr>
          <p:nvPr/>
        </p:nvSpPr>
        <p:spPr bwMode="auto">
          <a:xfrm>
            <a:off x="990600" y="2743200"/>
            <a:ext cx="0" cy="3276600"/>
          </a:xfrm>
          <a:prstGeom prst="line">
            <a:avLst/>
          </a:prstGeom>
          <a:noFill/>
          <a:ln w="9525">
            <a:solidFill>
              <a:srgbClr val="FF99FF"/>
            </a:solidFill>
            <a:miter lim="800000"/>
            <a:headEnd/>
            <a:tailEnd/>
          </a:ln>
        </p:spPr>
        <p:txBody>
          <a:bodyPr wrap="none"/>
          <a:lstStyle/>
          <a:p>
            <a:endParaRPr lang="en-US"/>
          </a:p>
        </p:txBody>
      </p:sp>
      <p:sp>
        <p:nvSpPr>
          <p:cNvPr id="366654" name="Line 60"/>
          <p:cNvSpPr>
            <a:spLocks noChangeShapeType="1"/>
          </p:cNvSpPr>
          <p:nvPr/>
        </p:nvSpPr>
        <p:spPr bwMode="auto">
          <a:xfrm>
            <a:off x="1905000" y="2743200"/>
            <a:ext cx="0" cy="3276600"/>
          </a:xfrm>
          <a:prstGeom prst="line">
            <a:avLst/>
          </a:prstGeom>
          <a:noFill/>
          <a:ln w="9525">
            <a:solidFill>
              <a:srgbClr val="FF99FF"/>
            </a:solidFill>
            <a:miter lim="800000"/>
            <a:headEnd/>
            <a:tailEnd/>
          </a:ln>
        </p:spPr>
        <p:txBody>
          <a:bodyPr wrap="none"/>
          <a:lstStyle/>
          <a:p>
            <a:endParaRPr lang="en-US"/>
          </a:p>
        </p:txBody>
      </p:sp>
      <p:sp>
        <p:nvSpPr>
          <p:cNvPr id="366655" name="Line 61"/>
          <p:cNvSpPr>
            <a:spLocks noChangeShapeType="1"/>
          </p:cNvSpPr>
          <p:nvPr/>
        </p:nvSpPr>
        <p:spPr bwMode="auto">
          <a:xfrm>
            <a:off x="2895600" y="2743200"/>
            <a:ext cx="0" cy="3276600"/>
          </a:xfrm>
          <a:prstGeom prst="line">
            <a:avLst/>
          </a:prstGeom>
          <a:noFill/>
          <a:ln w="9525">
            <a:solidFill>
              <a:srgbClr val="FF99FF"/>
            </a:solidFill>
            <a:miter lim="800000"/>
            <a:headEnd/>
            <a:tailEnd/>
          </a:ln>
        </p:spPr>
        <p:txBody>
          <a:bodyPr wrap="none"/>
          <a:lstStyle/>
          <a:p>
            <a:endParaRPr lang="en-US"/>
          </a:p>
        </p:txBody>
      </p:sp>
      <p:sp>
        <p:nvSpPr>
          <p:cNvPr id="366656" name="Line 62"/>
          <p:cNvSpPr>
            <a:spLocks noChangeShapeType="1"/>
          </p:cNvSpPr>
          <p:nvPr/>
        </p:nvSpPr>
        <p:spPr bwMode="auto">
          <a:xfrm>
            <a:off x="381000" y="3429000"/>
            <a:ext cx="3429000" cy="0"/>
          </a:xfrm>
          <a:prstGeom prst="line">
            <a:avLst/>
          </a:prstGeom>
          <a:noFill/>
          <a:ln w="9525">
            <a:solidFill>
              <a:srgbClr val="FF99FF"/>
            </a:solidFill>
            <a:miter lim="800000"/>
            <a:headEnd/>
            <a:tailEnd/>
          </a:ln>
        </p:spPr>
        <p:txBody>
          <a:bodyPr wrap="none"/>
          <a:lstStyle/>
          <a:p>
            <a:endParaRPr lang="en-US"/>
          </a:p>
        </p:txBody>
      </p:sp>
      <p:sp>
        <p:nvSpPr>
          <p:cNvPr id="366657" name="Line 63"/>
          <p:cNvSpPr>
            <a:spLocks noChangeShapeType="1"/>
          </p:cNvSpPr>
          <p:nvPr/>
        </p:nvSpPr>
        <p:spPr bwMode="auto">
          <a:xfrm>
            <a:off x="381000" y="4038600"/>
            <a:ext cx="3429000" cy="0"/>
          </a:xfrm>
          <a:prstGeom prst="line">
            <a:avLst/>
          </a:prstGeom>
          <a:noFill/>
          <a:ln w="9525">
            <a:solidFill>
              <a:srgbClr val="FF99FF"/>
            </a:solidFill>
            <a:miter lim="800000"/>
            <a:headEnd/>
            <a:tailEnd/>
          </a:ln>
        </p:spPr>
        <p:txBody>
          <a:bodyPr wrap="none"/>
          <a:lstStyle/>
          <a:p>
            <a:endParaRPr lang="en-US"/>
          </a:p>
        </p:txBody>
      </p:sp>
      <p:sp>
        <p:nvSpPr>
          <p:cNvPr id="366658" name="Line 64"/>
          <p:cNvSpPr>
            <a:spLocks noChangeShapeType="1"/>
          </p:cNvSpPr>
          <p:nvPr/>
        </p:nvSpPr>
        <p:spPr bwMode="auto">
          <a:xfrm>
            <a:off x="381000" y="4724400"/>
            <a:ext cx="3429000" cy="0"/>
          </a:xfrm>
          <a:prstGeom prst="line">
            <a:avLst/>
          </a:prstGeom>
          <a:noFill/>
          <a:ln w="9525">
            <a:solidFill>
              <a:srgbClr val="FF99FF"/>
            </a:solidFill>
            <a:miter lim="800000"/>
            <a:headEnd/>
            <a:tailEnd/>
          </a:ln>
        </p:spPr>
        <p:txBody>
          <a:bodyPr wrap="none"/>
          <a:lstStyle/>
          <a:p>
            <a:endParaRPr lang="en-US"/>
          </a:p>
        </p:txBody>
      </p:sp>
      <p:sp>
        <p:nvSpPr>
          <p:cNvPr id="366659" name="Line 65"/>
          <p:cNvSpPr>
            <a:spLocks noChangeShapeType="1"/>
          </p:cNvSpPr>
          <p:nvPr/>
        </p:nvSpPr>
        <p:spPr bwMode="auto">
          <a:xfrm>
            <a:off x="381000" y="5410200"/>
            <a:ext cx="3429000" cy="0"/>
          </a:xfrm>
          <a:prstGeom prst="line">
            <a:avLst/>
          </a:prstGeom>
          <a:noFill/>
          <a:ln w="9525">
            <a:solidFill>
              <a:srgbClr val="FF99FF"/>
            </a:solidFill>
            <a:miter lim="800000"/>
            <a:headEnd/>
            <a:tailEnd/>
          </a:ln>
        </p:spPr>
        <p:txBody>
          <a:bodyPr wrap="none"/>
          <a:lstStyle/>
          <a:p>
            <a:endParaRPr lang="en-US"/>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1" name="Rectangle 4"/>
          <p:cNvSpPr>
            <a:spLocks noGrp="1" noChangeArrowheads="1"/>
          </p:cNvSpPr>
          <p:nvPr>
            <p:ph type="ftr" sz="quarter" idx="10"/>
          </p:nvPr>
        </p:nvSpPr>
        <p:spPr>
          <a:noFill/>
        </p:spPr>
        <p:txBody>
          <a:bodyPr/>
          <a:lstStyle/>
          <a:p>
            <a:r>
              <a:rPr lang="en-US" smtClean="0"/>
              <a:t>Copyright ©2012 Pearson Education</a:t>
            </a:r>
          </a:p>
        </p:txBody>
      </p:sp>
      <p:sp>
        <p:nvSpPr>
          <p:cNvPr id="368642" name="Rectangle 5"/>
          <p:cNvSpPr>
            <a:spLocks noGrp="1" noChangeArrowheads="1"/>
          </p:cNvSpPr>
          <p:nvPr>
            <p:ph type="sldNum" sz="quarter" idx="11"/>
          </p:nvPr>
        </p:nvSpPr>
        <p:spPr>
          <a:noFill/>
        </p:spPr>
        <p:txBody>
          <a:bodyPr/>
          <a:lstStyle/>
          <a:p>
            <a:r>
              <a:rPr lang="en-US" smtClean="0"/>
              <a:t>Chap 6-</a:t>
            </a:r>
            <a:fld id="{0EEB9D33-8060-4F9D-9629-9685D5A0B270}" type="slidenum">
              <a:rPr lang="en-US" smtClean="0"/>
              <a:pPr/>
              <a:t>25</a:t>
            </a:fld>
            <a:endParaRPr lang="en-US" smtClean="0"/>
          </a:p>
        </p:txBody>
      </p:sp>
      <p:sp>
        <p:nvSpPr>
          <p:cNvPr id="368643"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F3F36972-40C7-40F5-83A4-0F6639E2863B}" type="slidenum">
              <a:rPr lang="en-US" sz="1000"/>
              <a:pPr algn="r" defTabSz="852488"/>
              <a:t>25</a:t>
            </a:fld>
            <a:endParaRPr lang="en-US" sz="1000"/>
          </a:p>
        </p:txBody>
      </p:sp>
      <p:sp>
        <p:nvSpPr>
          <p:cNvPr id="368644" name="Freeform 2"/>
          <p:cNvSpPr>
            <a:spLocks/>
          </p:cNvSpPr>
          <p:nvPr/>
        </p:nvSpPr>
        <p:spPr bwMode="auto">
          <a:xfrm>
            <a:off x="4711700" y="3962400"/>
            <a:ext cx="317500" cy="1600200"/>
          </a:xfrm>
          <a:custGeom>
            <a:avLst/>
            <a:gdLst>
              <a:gd name="T0" fmla="*/ 12700 w 200"/>
              <a:gd name="T1" fmla="*/ 1600200 h 1008"/>
              <a:gd name="T2" fmla="*/ 0 w 200"/>
              <a:gd name="T3" fmla="*/ 263525 h 1008"/>
              <a:gd name="T4" fmla="*/ 41275 w 200"/>
              <a:gd name="T5" fmla="*/ 200025 h 1008"/>
              <a:gd name="T6" fmla="*/ 101600 w 200"/>
              <a:gd name="T7" fmla="*/ 120650 h 1008"/>
              <a:gd name="T8" fmla="*/ 152400 w 200"/>
              <a:gd name="T9" fmla="*/ 66675 h 1008"/>
              <a:gd name="T10" fmla="*/ 200025 w 200"/>
              <a:gd name="T11" fmla="*/ 34925 h 1008"/>
              <a:gd name="T12" fmla="*/ 241300 w 200"/>
              <a:gd name="T13" fmla="*/ 0 h 1008"/>
              <a:gd name="T14" fmla="*/ 317500 w 200"/>
              <a:gd name="T15" fmla="*/ 0 h 1008"/>
              <a:gd name="T16" fmla="*/ 317500 w 200"/>
              <a:gd name="T17" fmla="*/ 1600200 h 1008"/>
              <a:gd name="T18" fmla="*/ 12700 w 200"/>
              <a:gd name="T19" fmla="*/ 1600200 h 100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0"/>
              <a:gd name="T31" fmla="*/ 0 h 1008"/>
              <a:gd name="T32" fmla="*/ 200 w 200"/>
              <a:gd name="T33" fmla="*/ 1008 h 100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0" h="1008">
                <a:moveTo>
                  <a:pt x="8" y="1008"/>
                </a:moveTo>
                <a:lnTo>
                  <a:pt x="0" y="166"/>
                </a:lnTo>
                <a:lnTo>
                  <a:pt x="26" y="126"/>
                </a:lnTo>
                <a:lnTo>
                  <a:pt x="64" y="76"/>
                </a:lnTo>
                <a:lnTo>
                  <a:pt x="96" y="42"/>
                </a:lnTo>
                <a:lnTo>
                  <a:pt x="126" y="22"/>
                </a:lnTo>
                <a:lnTo>
                  <a:pt x="152" y="0"/>
                </a:lnTo>
                <a:lnTo>
                  <a:pt x="200" y="0"/>
                </a:lnTo>
                <a:lnTo>
                  <a:pt x="200" y="1008"/>
                </a:lnTo>
                <a:lnTo>
                  <a:pt x="8" y="1008"/>
                </a:lnTo>
                <a:close/>
              </a:path>
            </a:pathLst>
          </a:custGeom>
          <a:solidFill>
            <a:schemeClr val="hlink"/>
          </a:solidFill>
          <a:ln w="19050">
            <a:noFill/>
            <a:round/>
            <a:headEnd/>
            <a:tailEnd/>
          </a:ln>
        </p:spPr>
        <p:txBody>
          <a:bodyPr wrap="none" anchor="ctr"/>
          <a:lstStyle/>
          <a:p>
            <a:endParaRPr lang="en-GB"/>
          </a:p>
        </p:txBody>
      </p:sp>
      <p:sp>
        <p:nvSpPr>
          <p:cNvPr id="368645" name="Rectangle 4"/>
          <p:cNvSpPr>
            <a:spLocks noGrp="1" noChangeArrowheads="1"/>
          </p:cNvSpPr>
          <p:nvPr>
            <p:ph type="body" idx="1"/>
          </p:nvPr>
        </p:nvSpPr>
        <p:spPr>
          <a:xfrm>
            <a:off x="838200" y="1752600"/>
            <a:ext cx="8077200" cy="4532313"/>
          </a:xfrm>
        </p:spPr>
        <p:txBody>
          <a:bodyPr/>
          <a:lstStyle/>
          <a:p>
            <a:pPr eaLnBrk="1" hangingPunct="1"/>
            <a:r>
              <a:rPr lang="en-US" sz="3200" smtClean="0"/>
              <a:t>Suppose  X  is normal with mean 18.0 and standard deviation 5.0.  </a:t>
            </a:r>
          </a:p>
          <a:p>
            <a:pPr eaLnBrk="1" hangingPunct="1"/>
            <a:r>
              <a:rPr lang="en-US" sz="3200" smtClean="0">
                <a:solidFill>
                  <a:schemeClr val="folHlink"/>
                </a:solidFill>
              </a:rPr>
              <a:t>Now Find P(17.4 &lt; X &lt; 18)</a:t>
            </a:r>
          </a:p>
        </p:txBody>
      </p:sp>
      <p:sp>
        <p:nvSpPr>
          <p:cNvPr id="368646" name="Line 5"/>
          <p:cNvSpPr>
            <a:spLocks noChangeShapeType="1"/>
          </p:cNvSpPr>
          <p:nvPr/>
        </p:nvSpPr>
        <p:spPr bwMode="auto">
          <a:xfrm>
            <a:off x="5029200" y="3962400"/>
            <a:ext cx="0" cy="1600200"/>
          </a:xfrm>
          <a:prstGeom prst="line">
            <a:avLst/>
          </a:prstGeom>
          <a:noFill/>
          <a:ln w="31750">
            <a:solidFill>
              <a:schemeClr val="tx1"/>
            </a:solidFill>
            <a:round/>
            <a:headEnd/>
            <a:tailEnd/>
          </a:ln>
        </p:spPr>
        <p:txBody>
          <a:bodyPr wrap="none" anchor="ctr"/>
          <a:lstStyle/>
          <a:p>
            <a:endParaRPr lang="en-US"/>
          </a:p>
        </p:txBody>
      </p:sp>
      <p:sp>
        <p:nvSpPr>
          <p:cNvPr id="368647" name="Freeform 6"/>
          <p:cNvSpPr>
            <a:spLocks/>
          </p:cNvSpPr>
          <p:nvPr/>
        </p:nvSpPr>
        <p:spPr bwMode="auto">
          <a:xfrm>
            <a:off x="5105400" y="3962400"/>
            <a:ext cx="1593850" cy="1528763"/>
          </a:xfrm>
          <a:custGeom>
            <a:avLst/>
            <a:gdLst>
              <a:gd name="T0" fmla="*/ 1592303 w 1030"/>
              <a:gd name="T1" fmla="*/ 1527220 h 991"/>
              <a:gd name="T2" fmla="*/ 1425180 w 1030"/>
              <a:gd name="T3" fmla="*/ 1511794 h 991"/>
              <a:gd name="T4" fmla="*/ 1340072 w 1030"/>
              <a:gd name="T5" fmla="*/ 1491739 h 991"/>
              <a:gd name="T6" fmla="*/ 1258058 w 1030"/>
              <a:gd name="T7" fmla="*/ 1468600 h 991"/>
              <a:gd name="T8" fmla="*/ 1172950 w 1030"/>
              <a:gd name="T9" fmla="*/ 1433119 h 991"/>
              <a:gd name="T10" fmla="*/ 1087841 w 1030"/>
              <a:gd name="T11" fmla="*/ 1383754 h 991"/>
              <a:gd name="T12" fmla="*/ 1007375 w 1030"/>
              <a:gd name="T13" fmla="*/ 1322048 h 991"/>
              <a:gd name="T14" fmla="*/ 837158 w 1030"/>
              <a:gd name="T15" fmla="*/ 1146187 h 991"/>
              <a:gd name="T16" fmla="*/ 670036 w 1030"/>
              <a:gd name="T17" fmla="*/ 896278 h 991"/>
              <a:gd name="T18" fmla="*/ 502914 w 1030"/>
              <a:gd name="T19" fmla="*/ 595462 h 991"/>
              <a:gd name="T20" fmla="*/ 417805 w 1030"/>
              <a:gd name="T21" fmla="*/ 442740 h 991"/>
              <a:gd name="T22" fmla="*/ 332697 w 1030"/>
              <a:gd name="T23" fmla="*/ 302359 h 991"/>
              <a:gd name="T24" fmla="*/ 252231 w 1030"/>
              <a:gd name="T25" fmla="*/ 178947 h 991"/>
              <a:gd name="T26" fmla="*/ 167122 w 1030"/>
              <a:gd name="T27" fmla="*/ 81760 h 991"/>
              <a:gd name="T28" fmla="*/ 82014 w 1030"/>
              <a:gd name="T29" fmla="*/ 20054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a:solidFill>
              <a:srgbClr val="008000"/>
            </a:solidFill>
            <a:round/>
            <a:headEnd/>
            <a:tailEnd/>
          </a:ln>
        </p:spPr>
        <p:txBody>
          <a:bodyPr/>
          <a:lstStyle/>
          <a:p>
            <a:endParaRPr lang="en-GB"/>
          </a:p>
        </p:txBody>
      </p:sp>
      <p:sp>
        <p:nvSpPr>
          <p:cNvPr id="368648" name="Freeform 7"/>
          <p:cNvSpPr>
            <a:spLocks/>
          </p:cNvSpPr>
          <p:nvPr/>
        </p:nvSpPr>
        <p:spPr bwMode="auto">
          <a:xfrm>
            <a:off x="3427413" y="3957638"/>
            <a:ext cx="1644650" cy="1531937"/>
          </a:xfrm>
          <a:custGeom>
            <a:avLst/>
            <a:gdLst>
              <a:gd name="T0" fmla="*/ 0 w 1036"/>
              <a:gd name="T1" fmla="*/ 1531937 h 965"/>
              <a:gd name="T2" fmla="*/ 171450 w 1036"/>
              <a:gd name="T3" fmla="*/ 1516062 h 965"/>
              <a:gd name="T4" fmla="*/ 258762 w 1036"/>
              <a:gd name="T5" fmla="*/ 1495425 h 965"/>
              <a:gd name="T6" fmla="*/ 346075 w 1036"/>
              <a:gd name="T7" fmla="*/ 1471612 h 965"/>
              <a:gd name="T8" fmla="*/ 430212 w 1036"/>
              <a:gd name="T9" fmla="*/ 1435100 h 965"/>
              <a:gd name="T10" fmla="*/ 517525 w 1036"/>
              <a:gd name="T11" fmla="*/ 1384300 h 965"/>
              <a:gd name="T12" fmla="*/ 604837 w 1036"/>
              <a:gd name="T13" fmla="*/ 1320800 h 965"/>
              <a:gd name="T14" fmla="*/ 774700 w 1036"/>
              <a:gd name="T15" fmla="*/ 1139825 h 965"/>
              <a:gd name="T16" fmla="*/ 946150 w 1036"/>
              <a:gd name="T17" fmla="*/ 882650 h 965"/>
              <a:gd name="T18" fmla="*/ 1120775 w 1036"/>
              <a:gd name="T19" fmla="*/ 573087 h 965"/>
              <a:gd name="T20" fmla="*/ 1204912 w 1036"/>
              <a:gd name="T21" fmla="*/ 415925 h 965"/>
              <a:gd name="T22" fmla="*/ 1292225 w 1036"/>
              <a:gd name="T23" fmla="*/ 271462 h 965"/>
              <a:gd name="T24" fmla="*/ 1377950 w 1036"/>
              <a:gd name="T25" fmla="*/ 144462 h 965"/>
              <a:gd name="T26" fmla="*/ 1458912 w 1036"/>
              <a:gd name="T27" fmla="*/ 52387 h 965"/>
              <a:gd name="T28" fmla="*/ 1544637 w 1036"/>
              <a:gd name="T29" fmla="*/ 14287 h 965"/>
              <a:gd name="T30" fmla="*/ 1644650 w 1036"/>
              <a:gd name="T31" fmla="*/ 0 h 9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6"/>
              <a:gd name="T49" fmla="*/ 0 h 965"/>
              <a:gd name="T50" fmla="*/ 1036 w 1036"/>
              <a:gd name="T51" fmla="*/ 965 h 9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6" h="965">
                <a:moveTo>
                  <a:pt x="0" y="965"/>
                </a:moveTo>
                <a:lnTo>
                  <a:pt x="108" y="955"/>
                </a:lnTo>
                <a:lnTo>
                  <a:pt x="163" y="942"/>
                </a:lnTo>
                <a:lnTo>
                  <a:pt x="218" y="927"/>
                </a:lnTo>
                <a:lnTo>
                  <a:pt x="271" y="904"/>
                </a:lnTo>
                <a:lnTo>
                  <a:pt x="326" y="872"/>
                </a:lnTo>
                <a:lnTo>
                  <a:pt x="381" y="832"/>
                </a:lnTo>
                <a:lnTo>
                  <a:pt x="488" y="718"/>
                </a:lnTo>
                <a:lnTo>
                  <a:pt x="596" y="556"/>
                </a:lnTo>
                <a:lnTo>
                  <a:pt x="706" y="361"/>
                </a:lnTo>
                <a:lnTo>
                  <a:pt x="759" y="262"/>
                </a:lnTo>
                <a:lnTo>
                  <a:pt x="814" y="171"/>
                </a:lnTo>
                <a:lnTo>
                  <a:pt x="868" y="91"/>
                </a:lnTo>
                <a:lnTo>
                  <a:pt x="919" y="33"/>
                </a:lnTo>
                <a:lnTo>
                  <a:pt x="973" y="9"/>
                </a:lnTo>
                <a:lnTo>
                  <a:pt x="1036" y="0"/>
                </a:lnTo>
              </a:path>
            </a:pathLst>
          </a:custGeom>
          <a:noFill/>
          <a:ln w="50800" cap="rnd">
            <a:solidFill>
              <a:srgbClr val="008000"/>
            </a:solidFill>
            <a:round/>
            <a:headEnd/>
            <a:tailEnd/>
          </a:ln>
        </p:spPr>
        <p:txBody>
          <a:bodyPr/>
          <a:lstStyle/>
          <a:p>
            <a:endParaRPr lang="en-GB"/>
          </a:p>
        </p:txBody>
      </p:sp>
      <p:sp>
        <p:nvSpPr>
          <p:cNvPr id="368649" name="Freeform 8"/>
          <p:cNvSpPr>
            <a:spLocks/>
          </p:cNvSpPr>
          <p:nvPr/>
        </p:nvSpPr>
        <p:spPr bwMode="auto">
          <a:xfrm>
            <a:off x="3409950" y="5573713"/>
            <a:ext cx="3289300" cy="7937"/>
          </a:xfrm>
          <a:custGeom>
            <a:avLst/>
            <a:gdLst>
              <a:gd name="T0" fmla="*/ 0 w 2072"/>
              <a:gd name="T1" fmla="*/ 7937 h 5"/>
              <a:gd name="T2" fmla="*/ 19050 w 2072"/>
              <a:gd name="T3" fmla="*/ 0 h 5"/>
              <a:gd name="T4" fmla="*/ 3289300 w 2072"/>
              <a:gd name="T5" fmla="*/ 0 h 5"/>
              <a:gd name="T6" fmla="*/ 0 60000 65536"/>
              <a:gd name="T7" fmla="*/ 0 60000 65536"/>
              <a:gd name="T8" fmla="*/ 0 60000 65536"/>
              <a:gd name="T9" fmla="*/ 0 w 2072"/>
              <a:gd name="T10" fmla="*/ 0 h 5"/>
              <a:gd name="T11" fmla="*/ 2072 w 2072"/>
              <a:gd name="T12" fmla="*/ 5 h 5"/>
            </a:gdLst>
            <a:ahLst/>
            <a:cxnLst>
              <a:cxn ang="T6">
                <a:pos x="T0" y="T1"/>
              </a:cxn>
              <a:cxn ang="T7">
                <a:pos x="T2" y="T3"/>
              </a:cxn>
              <a:cxn ang="T8">
                <a:pos x="T4" y="T5"/>
              </a:cxn>
            </a:cxnLst>
            <a:rect l="T9" t="T10" r="T11" b="T12"/>
            <a:pathLst>
              <a:path w="2072" h="5">
                <a:moveTo>
                  <a:pt x="0" y="5"/>
                </a:moveTo>
                <a:lnTo>
                  <a:pt x="12" y="0"/>
                </a:lnTo>
                <a:lnTo>
                  <a:pt x="2072" y="0"/>
                </a:lnTo>
              </a:path>
            </a:pathLst>
          </a:custGeom>
          <a:noFill/>
          <a:ln w="50800" cap="rnd">
            <a:solidFill>
              <a:schemeClr val="tx1"/>
            </a:solidFill>
            <a:round/>
            <a:headEnd/>
            <a:tailEnd/>
          </a:ln>
        </p:spPr>
        <p:txBody>
          <a:bodyPr/>
          <a:lstStyle/>
          <a:p>
            <a:endParaRPr lang="en-GB"/>
          </a:p>
        </p:txBody>
      </p:sp>
      <p:sp>
        <p:nvSpPr>
          <p:cNvPr id="368650" name="Rectangle 9"/>
          <p:cNvSpPr>
            <a:spLocks noChangeArrowheads="1"/>
          </p:cNvSpPr>
          <p:nvPr/>
        </p:nvSpPr>
        <p:spPr bwMode="auto">
          <a:xfrm>
            <a:off x="6705600" y="5562600"/>
            <a:ext cx="381000" cy="363538"/>
          </a:xfrm>
          <a:prstGeom prst="rect">
            <a:avLst/>
          </a:prstGeom>
          <a:noFill/>
          <a:ln w="12700">
            <a:noFill/>
            <a:miter lim="800000"/>
            <a:headEnd/>
            <a:tailEnd/>
          </a:ln>
        </p:spPr>
        <p:txBody>
          <a:bodyPr lIns="90487" tIns="44450" rIns="90487" bIns="44450">
            <a:spAutoFit/>
          </a:bodyPr>
          <a:lstStyle/>
          <a:p>
            <a:pPr eaLnBrk="0" hangingPunct="0"/>
            <a:r>
              <a:rPr lang="en-US" sz="1800" b="1"/>
              <a:t>X</a:t>
            </a:r>
          </a:p>
        </p:txBody>
      </p:sp>
      <p:sp>
        <p:nvSpPr>
          <p:cNvPr id="368651" name="Rectangle 10"/>
          <p:cNvSpPr>
            <a:spLocks noChangeArrowheads="1"/>
          </p:cNvSpPr>
          <p:nvPr/>
        </p:nvSpPr>
        <p:spPr bwMode="auto">
          <a:xfrm>
            <a:off x="6567488" y="3821113"/>
            <a:ext cx="184150" cy="92075"/>
          </a:xfrm>
          <a:prstGeom prst="rect">
            <a:avLst/>
          </a:prstGeom>
          <a:noFill/>
          <a:ln w="12700">
            <a:noFill/>
            <a:miter lim="800000"/>
            <a:headEnd/>
            <a:tailEnd/>
          </a:ln>
        </p:spPr>
        <p:txBody>
          <a:bodyPr wrap="none" anchor="ctr"/>
          <a:lstStyle/>
          <a:p>
            <a:pPr algn="ctr">
              <a:spcBef>
                <a:spcPct val="50000"/>
              </a:spcBef>
            </a:pPr>
            <a:endParaRPr lang="en-GB"/>
          </a:p>
        </p:txBody>
      </p:sp>
      <p:sp>
        <p:nvSpPr>
          <p:cNvPr id="368652" name="Rectangle 11"/>
          <p:cNvSpPr>
            <a:spLocks noChangeArrowheads="1"/>
          </p:cNvSpPr>
          <p:nvPr/>
        </p:nvSpPr>
        <p:spPr bwMode="auto">
          <a:xfrm>
            <a:off x="4419600" y="6019800"/>
            <a:ext cx="631825" cy="366713"/>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17.4</a:t>
            </a:r>
            <a:endParaRPr lang="en-US" b="1">
              <a:solidFill>
                <a:srgbClr val="339933"/>
              </a:solidFill>
            </a:endParaRPr>
          </a:p>
        </p:txBody>
      </p:sp>
      <p:sp>
        <p:nvSpPr>
          <p:cNvPr id="368653" name="Rectangle 12"/>
          <p:cNvSpPr>
            <a:spLocks noChangeArrowheads="1"/>
          </p:cNvSpPr>
          <p:nvPr/>
        </p:nvSpPr>
        <p:spPr bwMode="auto">
          <a:xfrm>
            <a:off x="4800600" y="5791200"/>
            <a:ext cx="631825" cy="366713"/>
          </a:xfrm>
          <a:prstGeom prst="rect">
            <a:avLst/>
          </a:prstGeom>
          <a:noFill/>
          <a:ln w="12700">
            <a:noFill/>
            <a:miter lim="800000"/>
            <a:headEnd/>
            <a:tailEnd/>
          </a:ln>
        </p:spPr>
        <p:txBody>
          <a:bodyPr wrap="none" lIns="90487" tIns="44450" rIns="90487" bIns="44450">
            <a:spAutoFit/>
          </a:bodyPr>
          <a:lstStyle/>
          <a:p>
            <a:pPr eaLnBrk="0" hangingPunct="0"/>
            <a:r>
              <a:rPr lang="en-US" sz="1800" b="1"/>
              <a:t>18.0</a:t>
            </a:r>
            <a:endParaRPr lang="en-US" b="1"/>
          </a:p>
        </p:txBody>
      </p:sp>
      <p:sp>
        <p:nvSpPr>
          <p:cNvPr id="368654" name="Line 13"/>
          <p:cNvSpPr>
            <a:spLocks noChangeShapeType="1"/>
          </p:cNvSpPr>
          <p:nvPr/>
        </p:nvSpPr>
        <p:spPr bwMode="auto">
          <a:xfrm flipV="1">
            <a:off x="5029200" y="5562600"/>
            <a:ext cx="0" cy="228600"/>
          </a:xfrm>
          <a:prstGeom prst="line">
            <a:avLst/>
          </a:prstGeom>
          <a:noFill/>
          <a:ln w="12700">
            <a:solidFill>
              <a:schemeClr val="tx1"/>
            </a:solidFill>
            <a:round/>
            <a:headEnd/>
            <a:tailEnd type="triangle" w="med" len="med"/>
          </a:ln>
        </p:spPr>
        <p:txBody>
          <a:bodyPr wrap="none" anchor="ctr"/>
          <a:lstStyle/>
          <a:p>
            <a:endParaRPr lang="en-US"/>
          </a:p>
        </p:txBody>
      </p:sp>
      <p:sp>
        <p:nvSpPr>
          <p:cNvPr id="368655" name="Line 14"/>
          <p:cNvSpPr>
            <a:spLocks noChangeShapeType="1"/>
          </p:cNvSpPr>
          <p:nvPr/>
        </p:nvSpPr>
        <p:spPr bwMode="auto">
          <a:xfrm flipV="1">
            <a:off x="4724400" y="5562600"/>
            <a:ext cx="0" cy="457200"/>
          </a:xfrm>
          <a:prstGeom prst="line">
            <a:avLst/>
          </a:prstGeom>
          <a:noFill/>
          <a:ln w="12700">
            <a:solidFill>
              <a:schemeClr val="tx1"/>
            </a:solidFill>
            <a:round/>
            <a:headEnd/>
            <a:tailEnd type="triangle" w="med" len="med"/>
          </a:ln>
        </p:spPr>
        <p:txBody>
          <a:bodyPr wrap="none" anchor="ctr"/>
          <a:lstStyle/>
          <a:p>
            <a:endParaRPr lang="en-US"/>
          </a:p>
        </p:txBody>
      </p:sp>
      <p:sp>
        <p:nvSpPr>
          <p:cNvPr id="368656" name="Rectangle 16"/>
          <p:cNvSpPr>
            <a:spLocks noGrp="1" noChangeArrowheads="1"/>
          </p:cNvSpPr>
          <p:nvPr>
            <p:ph type="title"/>
          </p:nvPr>
        </p:nvSpPr>
        <p:spPr/>
        <p:txBody>
          <a:bodyPr/>
          <a:lstStyle/>
          <a:p>
            <a:pPr defTabSz="914400" eaLnBrk="1" hangingPunct="1"/>
            <a:r>
              <a:rPr lang="en-US" smtClean="0"/>
              <a:t>Probabilities in the Lower Tail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5" name="Rectangle 4"/>
          <p:cNvSpPr>
            <a:spLocks noGrp="1" noChangeArrowheads="1"/>
          </p:cNvSpPr>
          <p:nvPr>
            <p:ph type="ftr" sz="quarter" idx="10"/>
          </p:nvPr>
        </p:nvSpPr>
        <p:spPr>
          <a:noFill/>
        </p:spPr>
        <p:txBody>
          <a:bodyPr/>
          <a:lstStyle/>
          <a:p>
            <a:r>
              <a:rPr lang="en-US" smtClean="0"/>
              <a:t>Copyright ©2012 Pearson Education</a:t>
            </a:r>
          </a:p>
        </p:txBody>
      </p:sp>
      <p:sp>
        <p:nvSpPr>
          <p:cNvPr id="369666" name="Rectangle 5"/>
          <p:cNvSpPr>
            <a:spLocks noGrp="1" noChangeArrowheads="1"/>
          </p:cNvSpPr>
          <p:nvPr>
            <p:ph type="sldNum" sz="quarter" idx="11"/>
          </p:nvPr>
        </p:nvSpPr>
        <p:spPr>
          <a:noFill/>
        </p:spPr>
        <p:txBody>
          <a:bodyPr/>
          <a:lstStyle/>
          <a:p>
            <a:r>
              <a:rPr lang="en-US" smtClean="0"/>
              <a:t>Chap 6-</a:t>
            </a:r>
            <a:fld id="{310CC9C8-997E-4D93-A949-75183E285A6D}" type="slidenum">
              <a:rPr lang="en-US" smtClean="0"/>
              <a:pPr/>
              <a:t>26</a:t>
            </a:fld>
            <a:endParaRPr lang="en-US" smtClean="0"/>
          </a:p>
        </p:txBody>
      </p:sp>
      <p:sp>
        <p:nvSpPr>
          <p:cNvPr id="369667"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6136BEFC-6CAA-4CE4-8DA6-99B5DDD4B915}" type="slidenum">
              <a:rPr lang="en-US" sz="1000"/>
              <a:pPr algn="r" defTabSz="852488"/>
              <a:t>26</a:t>
            </a:fld>
            <a:endParaRPr lang="en-US" sz="1000"/>
          </a:p>
        </p:txBody>
      </p:sp>
      <p:sp>
        <p:nvSpPr>
          <p:cNvPr id="369668" name="Freeform 2"/>
          <p:cNvSpPr>
            <a:spLocks/>
          </p:cNvSpPr>
          <p:nvPr/>
        </p:nvSpPr>
        <p:spPr bwMode="auto">
          <a:xfrm>
            <a:off x="5089525" y="4038600"/>
            <a:ext cx="1343025" cy="1374775"/>
          </a:xfrm>
          <a:custGeom>
            <a:avLst/>
            <a:gdLst>
              <a:gd name="T0" fmla="*/ 1343025 w 846"/>
              <a:gd name="T1" fmla="*/ 1374775 h 866"/>
              <a:gd name="T2" fmla="*/ 1336675 w 846"/>
              <a:gd name="T3" fmla="*/ 0 h 866"/>
              <a:gd name="T4" fmla="*/ 1260475 w 846"/>
              <a:gd name="T5" fmla="*/ 88900 h 866"/>
              <a:gd name="T6" fmla="*/ 1149350 w 846"/>
              <a:gd name="T7" fmla="*/ 304800 h 866"/>
              <a:gd name="T8" fmla="*/ 1085850 w 846"/>
              <a:gd name="T9" fmla="*/ 428625 h 866"/>
              <a:gd name="T10" fmla="*/ 1028700 w 846"/>
              <a:gd name="T11" fmla="*/ 517525 h 866"/>
              <a:gd name="T12" fmla="*/ 946150 w 846"/>
              <a:gd name="T13" fmla="*/ 676275 h 866"/>
              <a:gd name="T14" fmla="*/ 850900 w 846"/>
              <a:gd name="T15" fmla="*/ 819150 h 866"/>
              <a:gd name="T16" fmla="*/ 733425 w 846"/>
              <a:gd name="T17" fmla="*/ 993775 h 866"/>
              <a:gd name="T18" fmla="*/ 622300 w 846"/>
              <a:gd name="T19" fmla="*/ 1082675 h 866"/>
              <a:gd name="T20" fmla="*/ 482600 w 846"/>
              <a:gd name="T21" fmla="*/ 1193800 h 866"/>
              <a:gd name="T22" fmla="*/ 250825 w 846"/>
              <a:gd name="T23" fmla="*/ 1266825 h 866"/>
              <a:gd name="T24" fmla="*/ 0 w 846"/>
              <a:gd name="T25" fmla="*/ 1298575 h 866"/>
              <a:gd name="T26" fmla="*/ 0 w 846"/>
              <a:gd name="T27" fmla="*/ 1374775 h 866"/>
              <a:gd name="T28" fmla="*/ 1343025 w 846"/>
              <a:gd name="T29" fmla="*/ 1374775 h 86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46"/>
              <a:gd name="T46" fmla="*/ 0 h 866"/>
              <a:gd name="T47" fmla="*/ 846 w 846"/>
              <a:gd name="T48" fmla="*/ 866 h 86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46" h="866">
                <a:moveTo>
                  <a:pt x="846" y="866"/>
                </a:moveTo>
                <a:lnTo>
                  <a:pt x="842" y="0"/>
                </a:lnTo>
                <a:lnTo>
                  <a:pt x="794" y="56"/>
                </a:lnTo>
                <a:lnTo>
                  <a:pt x="724" y="192"/>
                </a:lnTo>
                <a:lnTo>
                  <a:pt x="684" y="270"/>
                </a:lnTo>
                <a:lnTo>
                  <a:pt x="648" y="326"/>
                </a:lnTo>
                <a:lnTo>
                  <a:pt x="596" y="426"/>
                </a:lnTo>
                <a:lnTo>
                  <a:pt x="536" y="516"/>
                </a:lnTo>
                <a:lnTo>
                  <a:pt x="462" y="626"/>
                </a:lnTo>
                <a:lnTo>
                  <a:pt x="392" y="682"/>
                </a:lnTo>
                <a:lnTo>
                  <a:pt x="304" y="752"/>
                </a:lnTo>
                <a:lnTo>
                  <a:pt x="158" y="798"/>
                </a:lnTo>
                <a:lnTo>
                  <a:pt x="0" y="818"/>
                </a:lnTo>
                <a:lnTo>
                  <a:pt x="0" y="866"/>
                </a:lnTo>
                <a:lnTo>
                  <a:pt x="846" y="866"/>
                </a:lnTo>
                <a:close/>
              </a:path>
            </a:pathLst>
          </a:custGeom>
          <a:solidFill>
            <a:srgbClr val="C7DAF7"/>
          </a:solidFill>
          <a:ln w="12700">
            <a:noFill/>
            <a:round/>
            <a:headEnd/>
            <a:tailEnd/>
          </a:ln>
        </p:spPr>
        <p:txBody>
          <a:bodyPr/>
          <a:lstStyle/>
          <a:p>
            <a:endParaRPr lang="en-GB"/>
          </a:p>
        </p:txBody>
      </p:sp>
      <p:sp>
        <p:nvSpPr>
          <p:cNvPr id="369669" name="Line 3"/>
          <p:cNvSpPr>
            <a:spLocks noChangeShapeType="1"/>
          </p:cNvSpPr>
          <p:nvPr/>
        </p:nvSpPr>
        <p:spPr bwMode="auto">
          <a:xfrm>
            <a:off x="5562600" y="4572000"/>
            <a:ext cx="457200" cy="533400"/>
          </a:xfrm>
          <a:prstGeom prst="line">
            <a:avLst/>
          </a:prstGeom>
          <a:noFill/>
          <a:ln w="19050">
            <a:solidFill>
              <a:schemeClr val="tx1"/>
            </a:solidFill>
            <a:round/>
            <a:headEnd/>
            <a:tailEnd type="triangle" w="med" len="med"/>
          </a:ln>
        </p:spPr>
        <p:txBody>
          <a:bodyPr wrap="none" anchor="ctr"/>
          <a:lstStyle/>
          <a:p>
            <a:endParaRPr lang="en-US"/>
          </a:p>
        </p:txBody>
      </p:sp>
      <p:sp>
        <p:nvSpPr>
          <p:cNvPr id="369670" name="Freeform 4"/>
          <p:cNvSpPr>
            <a:spLocks/>
          </p:cNvSpPr>
          <p:nvPr/>
        </p:nvSpPr>
        <p:spPr bwMode="auto">
          <a:xfrm>
            <a:off x="6400800" y="3810000"/>
            <a:ext cx="317500" cy="1606550"/>
          </a:xfrm>
          <a:custGeom>
            <a:avLst/>
            <a:gdLst>
              <a:gd name="T0" fmla="*/ 6350 w 200"/>
              <a:gd name="T1" fmla="*/ 1606550 h 1012"/>
              <a:gd name="T2" fmla="*/ 0 w 200"/>
              <a:gd name="T3" fmla="*/ 263525 h 1012"/>
              <a:gd name="T4" fmla="*/ 41275 w 200"/>
              <a:gd name="T5" fmla="*/ 200025 h 1012"/>
              <a:gd name="T6" fmla="*/ 101600 w 200"/>
              <a:gd name="T7" fmla="*/ 120650 h 1012"/>
              <a:gd name="T8" fmla="*/ 152400 w 200"/>
              <a:gd name="T9" fmla="*/ 66675 h 1012"/>
              <a:gd name="T10" fmla="*/ 200025 w 200"/>
              <a:gd name="T11" fmla="*/ 34925 h 1012"/>
              <a:gd name="T12" fmla="*/ 241300 w 200"/>
              <a:gd name="T13" fmla="*/ 0 h 1012"/>
              <a:gd name="T14" fmla="*/ 317500 w 200"/>
              <a:gd name="T15" fmla="*/ 0 h 1012"/>
              <a:gd name="T16" fmla="*/ 317500 w 200"/>
              <a:gd name="T17" fmla="*/ 1600200 h 1012"/>
              <a:gd name="T18" fmla="*/ 6350 w 200"/>
              <a:gd name="T19" fmla="*/ 1606550 h 10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0"/>
              <a:gd name="T31" fmla="*/ 0 h 1012"/>
              <a:gd name="T32" fmla="*/ 200 w 200"/>
              <a:gd name="T33" fmla="*/ 1012 h 101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0" h="1012">
                <a:moveTo>
                  <a:pt x="4" y="1012"/>
                </a:moveTo>
                <a:lnTo>
                  <a:pt x="0" y="166"/>
                </a:lnTo>
                <a:lnTo>
                  <a:pt x="26" y="126"/>
                </a:lnTo>
                <a:lnTo>
                  <a:pt x="64" y="76"/>
                </a:lnTo>
                <a:lnTo>
                  <a:pt x="96" y="42"/>
                </a:lnTo>
                <a:lnTo>
                  <a:pt x="126" y="22"/>
                </a:lnTo>
                <a:lnTo>
                  <a:pt x="152" y="0"/>
                </a:lnTo>
                <a:lnTo>
                  <a:pt x="200" y="0"/>
                </a:lnTo>
                <a:lnTo>
                  <a:pt x="200" y="1008"/>
                </a:lnTo>
                <a:lnTo>
                  <a:pt x="4" y="1012"/>
                </a:lnTo>
                <a:close/>
              </a:path>
            </a:pathLst>
          </a:custGeom>
          <a:solidFill>
            <a:schemeClr val="hlink"/>
          </a:solidFill>
          <a:ln w="19050">
            <a:noFill/>
            <a:round/>
            <a:headEnd/>
            <a:tailEnd/>
          </a:ln>
        </p:spPr>
        <p:txBody>
          <a:bodyPr wrap="none" anchor="ctr"/>
          <a:lstStyle/>
          <a:p>
            <a:endParaRPr lang="en-GB"/>
          </a:p>
        </p:txBody>
      </p:sp>
      <p:sp>
        <p:nvSpPr>
          <p:cNvPr id="369671" name="Line 5"/>
          <p:cNvSpPr>
            <a:spLocks noChangeShapeType="1"/>
          </p:cNvSpPr>
          <p:nvPr/>
        </p:nvSpPr>
        <p:spPr bwMode="auto">
          <a:xfrm>
            <a:off x="6324600" y="3505200"/>
            <a:ext cx="228600" cy="685800"/>
          </a:xfrm>
          <a:prstGeom prst="line">
            <a:avLst/>
          </a:prstGeom>
          <a:noFill/>
          <a:ln w="19050">
            <a:solidFill>
              <a:schemeClr val="tx1"/>
            </a:solidFill>
            <a:round/>
            <a:headEnd/>
            <a:tailEnd type="triangle" w="med" len="med"/>
          </a:ln>
        </p:spPr>
        <p:txBody>
          <a:bodyPr wrap="none" anchor="ctr"/>
          <a:lstStyle/>
          <a:p>
            <a:endParaRPr lang="en-US"/>
          </a:p>
        </p:txBody>
      </p:sp>
      <p:sp>
        <p:nvSpPr>
          <p:cNvPr id="369672" name="Rectangle 6"/>
          <p:cNvSpPr>
            <a:spLocks noChangeArrowheads="1"/>
          </p:cNvSpPr>
          <p:nvPr/>
        </p:nvSpPr>
        <p:spPr bwMode="auto">
          <a:xfrm>
            <a:off x="3605213" y="4038600"/>
            <a:ext cx="1066800" cy="533400"/>
          </a:xfrm>
          <a:prstGeom prst="rect">
            <a:avLst/>
          </a:prstGeom>
          <a:solidFill>
            <a:srgbClr val="B8FAC8"/>
          </a:solidFill>
          <a:ln w="19050" algn="ctr">
            <a:solidFill>
              <a:schemeClr val="tx1"/>
            </a:solidFill>
            <a:miter lim="800000"/>
            <a:headEnd/>
            <a:tailEnd/>
          </a:ln>
        </p:spPr>
        <p:txBody>
          <a:bodyPr wrap="none" anchor="ctr"/>
          <a:lstStyle/>
          <a:p>
            <a:pPr algn="ctr">
              <a:spcBef>
                <a:spcPct val="50000"/>
              </a:spcBef>
            </a:pPr>
            <a:endParaRPr lang="en-GB"/>
          </a:p>
        </p:txBody>
      </p:sp>
      <p:sp>
        <p:nvSpPr>
          <p:cNvPr id="369673" name="Rectangle 7"/>
          <p:cNvSpPr>
            <a:spLocks noGrp="1" noChangeArrowheads="1"/>
          </p:cNvSpPr>
          <p:nvPr>
            <p:ph type="title"/>
          </p:nvPr>
        </p:nvSpPr>
        <p:spPr/>
        <p:txBody>
          <a:bodyPr/>
          <a:lstStyle/>
          <a:p>
            <a:pPr eaLnBrk="1" hangingPunct="1"/>
            <a:r>
              <a:rPr lang="en-US" smtClean="0"/>
              <a:t>Probabilities in the Lower Tail </a:t>
            </a:r>
          </a:p>
        </p:txBody>
      </p:sp>
      <p:sp>
        <p:nvSpPr>
          <p:cNvPr id="369674" name="Rectangle 8"/>
          <p:cNvSpPr>
            <a:spLocks noGrp="1" noChangeArrowheads="1"/>
          </p:cNvSpPr>
          <p:nvPr>
            <p:ph type="body" idx="1"/>
          </p:nvPr>
        </p:nvSpPr>
        <p:spPr>
          <a:xfrm>
            <a:off x="838200" y="1676400"/>
            <a:ext cx="8077200" cy="4532313"/>
          </a:xfrm>
        </p:spPr>
        <p:txBody>
          <a:bodyPr/>
          <a:lstStyle/>
          <a:p>
            <a:pPr eaLnBrk="1" hangingPunct="1">
              <a:buFont typeface="Wingdings" pitchFamily="2" charset="2"/>
              <a:buNone/>
            </a:pPr>
            <a:r>
              <a:rPr lang="en-US" sz="3400" smtClean="0">
                <a:solidFill>
                  <a:schemeClr val="folHlink"/>
                </a:solidFill>
              </a:rPr>
              <a:t>   Now Find P(17.4 &lt; X &lt; 18)…</a:t>
            </a:r>
          </a:p>
        </p:txBody>
      </p:sp>
      <p:sp>
        <p:nvSpPr>
          <p:cNvPr id="369675" name="Line 9"/>
          <p:cNvSpPr>
            <a:spLocks noChangeShapeType="1"/>
          </p:cNvSpPr>
          <p:nvPr/>
        </p:nvSpPr>
        <p:spPr bwMode="auto">
          <a:xfrm>
            <a:off x="6705600" y="3810000"/>
            <a:ext cx="0" cy="1600200"/>
          </a:xfrm>
          <a:prstGeom prst="line">
            <a:avLst/>
          </a:prstGeom>
          <a:noFill/>
          <a:ln w="31750">
            <a:solidFill>
              <a:schemeClr val="tx1"/>
            </a:solidFill>
            <a:round/>
            <a:headEnd/>
            <a:tailEnd/>
          </a:ln>
        </p:spPr>
        <p:txBody>
          <a:bodyPr wrap="none" anchor="ctr"/>
          <a:lstStyle/>
          <a:p>
            <a:endParaRPr lang="en-US"/>
          </a:p>
        </p:txBody>
      </p:sp>
      <p:sp>
        <p:nvSpPr>
          <p:cNvPr id="369676" name="Freeform 10"/>
          <p:cNvSpPr>
            <a:spLocks/>
          </p:cNvSpPr>
          <p:nvPr/>
        </p:nvSpPr>
        <p:spPr bwMode="auto">
          <a:xfrm>
            <a:off x="6781800" y="3810000"/>
            <a:ext cx="1593850" cy="1528763"/>
          </a:xfrm>
          <a:custGeom>
            <a:avLst/>
            <a:gdLst>
              <a:gd name="T0" fmla="*/ 1592303 w 1030"/>
              <a:gd name="T1" fmla="*/ 1527220 h 991"/>
              <a:gd name="T2" fmla="*/ 1425180 w 1030"/>
              <a:gd name="T3" fmla="*/ 1511794 h 991"/>
              <a:gd name="T4" fmla="*/ 1340072 w 1030"/>
              <a:gd name="T5" fmla="*/ 1491739 h 991"/>
              <a:gd name="T6" fmla="*/ 1258058 w 1030"/>
              <a:gd name="T7" fmla="*/ 1468600 h 991"/>
              <a:gd name="T8" fmla="*/ 1172950 w 1030"/>
              <a:gd name="T9" fmla="*/ 1433119 h 991"/>
              <a:gd name="T10" fmla="*/ 1087841 w 1030"/>
              <a:gd name="T11" fmla="*/ 1383754 h 991"/>
              <a:gd name="T12" fmla="*/ 1007375 w 1030"/>
              <a:gd name="T13" fmla="*/ 1322048 h 991"/>
              <a:gd name="T14" fmla="*/ 837158 w 1030"/>
              <a:gd name="T15" fmla="*/ 1146187 h 991"/>
              <a:gd name="T16" fmla="*/ 670036 w 1030"/>
              <a:gd name="T17" fmla="*/ 896278 h 991"/>
              <a:gd name="T18" fmla="*/ 502914 w 1030"/>
              <a:gd name="T19" fmla="*/ 595462 h 991"/>
              <a:gd name="T20" fmla="*/ 417805 w 1030"/>
              <a:gd name="T21" fmla="*/ 442740 h 991"/>
              <a:gd name="T22" fmla="*/ 332697 w 1030"/>
              <a:gd name="T23" fmla="*/ 302359 h 991"/>
              <a:gd name="T24" fmla="*/ 252231 w 1030"/>
              <a:gd name="T25" fmla="*/ 178947 h 991"/>
              <a:gd name="T26" fmla="*/ 167122 w 1030"/>
              <a:gd name="T27" fmla="*/ 81760 h 991"/>
              <a:gd name="T28" fmla="*/ 82014 w 1030"/>
              <a:gd name="T29" fmla="*/ 20054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a:solidFill>
              <a:srgbClr val="008000"/>
            </a:solidFill>
            <a:round/>
            <a:headEnd/>
            <a:tailEnd/>
          </a:ln>
        </p:spPr>
        <p:txBody>
          <a:bodyPr/>
          <a:lstStyle/>
          <a:p>
            <a:endParaRPr lang="en-GB"/>
          </a:p>
        </p:txBody>
      </p:sp>
      <p:sp>
        <p:nvSpPr>
          <p:cNvPr id="369677" name="Freeform 11"/>
          <p:cNvSpPr>
            <a:spLocks/>
          </p:cNvSpPr>
          <p:nvPr/>
        </p:nvSpPr>
        <p:spPr bwMode="auto">
          <a:xfrm>
            <a:off x="5103813" y="3805238"/>
            <a:ext cx="1644650" cy="1531937"/>
          </a:xfrm>
          <a:custGeom>
            <a:avLst/>
            <a:gdLst>
              <a:gd name="T0" fmla="*/ 0 w 1036"/>
              <a:gd name="T1" fmla="*/ 1531937 h 965"/>
              <a:gd name="T2" fmla="*/ 171450 w 1036"/>
              <a:gd name="T3" fmla="*/ 1516062 h 965"/>
              <a:gd name="T4" fmla="*/ 258762 w 1036"/>
              <a:gd name="T5" fmla="*/ 1495425 h 965"/>
              <a:gd name="T6" fmla="*/ 346075 w 1036"/>
              <a:gd name="T7" fmla="*/ 1471612 h 965"/>
              <a:gd name="T8" fmla="*/ 430212 w 1036"/>
              <a:gd name="T9" fmla="*/ 1435100 h 965"/>
              <a:gd name="T10" fmla="*/ 517525 w 1036"/>
              <a:gd name="T11" fmla="*/ 1384300 h 965"/>
              <a:gd name="T12" fmla="*/ 604837 w 1036"/>
              <a:gd name="T13" fmla="*/ 1320800 h 965"/>
              <a:gd name="T14" fmla="*/ 774700 w 1036"/>
              <a:gd name="T15" fmla="*/ 1139825 h 965"/>
              <a:gd name="T16" fmla="*/ 946150 w 1036"/>
              <a:gd name="T17" fmla="*/ 882650 h 965"/>
              <a:gd name="T18" fmla="*/ 1120775 w 1036"/>
              <a:gd name="T19" fmla="*/ 573087 h 965"/>
              <a:gd name="T20" fmla="*/ 1204912 w 1036"/>
              <a:gd name="T21" fmla="*/ 415925 h 965"/>
              <a:gd name="T22" fmla="*/ 1292225 w 1036"/>
              <a:gd name="T23" fmla="*/ 271462 h 965"/>
              <a:gd name="T24" fmla="*/ 1377950 w 1036"/>
              <a:gd name="T25" fmla="*/ 144462 h 965"/>
              <a:gd name="T26" fmla="*/ 1458912 w 1036"/>
              <a:gd name="T27" fmla="*/ 52387 h 965"/>
              <a:gd name="T28" fmla="*/ 1544637 w 1036"/>
              <a:gd name="T29" fmla="*/ 14287 h 965"/>
              <a:gd name="T30" fmla="*/ 1644650 w 1036"/>
              <a:gd name="T31" fmla="*/ 0 h 9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6"/>
              <a:gd name="T49" fmla="*/ 0 h 965"/>
              <a:gd name="T50" fmla="*/ 1036 w 1036"/>
              <a:gd name="T51" fmla="*/ 965 h 9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6" h="965">
                <a:moveTo>
                  <a:pt x="0" y="965"/>
                </a:moveTo>
                <a:lnTo>
                  <a:pt x="108" y="955"/>
                </a:lnTo>
                <a:lnTo>
                  <a:pt x="163" y="942"/>
                </a:lnTo>
                <a:lnTo>
                  <a:pt x="218" y="927"/>
                </a:lnTo>
                <a:lnTo>
                  <a:pt x="271" y="904"/>
                </a:lnTo>
                <a:lnTo>
                  <a:pt x="326" y="872"/>
                </a:lnTo>
                <a:lnTo>
                  <a:pt x="381" y="832"/>
                </a:lnTo>
                <a:lnTo>
                  <a:pt x="488" y="718"/>
                </a:lnTo>
                <a:lnTo>
                  <a:pt x="596" y="556"/>
                </a:lnTo>
                <a:lnTo>
                  <a:pt x="706" y="361"/>
                </a:lnTo>
                <a:lnTo>
                  <a:pt x="759" y="262"/>
                </a:lnTo>
                <a:lnTo>
                  <a:pt x="814" y="171"/>
                </a:lnTo>
                <a:lnTo>
                  <a:pt x="868" y="91"/>
                </a:lnTo>
                <a:lnTo>
                  <a:pt x="919" y="33"/>
                </a:lnTo>
                <a:lnTo>
                  <a:pt x="973" y="9"/>
                </a:lnTo>
                <a:lnTo>
                  <a:pt x="1036" y="0"/>
                </a:lnTo>
              </a:path>
            </a:pathLst>
          </a:custGeom>
          <a:noFill/>
          <a:ln w="50800" cap="rnd">
            <a:solidFill>
              <a:srgbClr val="008000"/>
            </a:solidFill>
            <a:round/>
            <a:headEnd/>
            <a:tailEnd/>
          </a:ln>
        </p:spPr>
        <p:txBody>
          <a:bodyPr/>
          <a:lstStyle/>
          <a:p>
            <a:endParaRPr lang="en-GB"/>
          </a:p>
        </p:txBody>
      </p:sp>
      <p:sp>
        <p:nvSpPr>
          <p:cNvPr id="369678" name="Freeform 12"/>
          <p:cNvSpPr>
            <a:spLocks/>
          </p:cNvSpPr>
          <p:nvPr/>
        </p:nvSpPr>
        <p:spPr bwMode="auto">
          <a:xfrm>
            <a:off x="5086350" y="5421313"/>
            <a:ext cx="3289300" cy="7937"/>
          </a:xfrm>
          <a:custGeom>
            <a:avLst/>
            <a:gdLst>
              <a:gd name="T0" fmla="*/ 0 w 2072"/>
              <a:gd name="T1" fmla="*/ 7937 h 5"/>
              <a:gd name="T2" fmla="*/ 19050 w 2072"/>
              <a:gd name="T3" fmla="*/ 0 h 5"/>
              <a:gd name="T4" fmla="*/ 3289300 w 2072"/>
              <a:gd name="T5" fmla="*/ 0 h 5"/>
              <a:gd name="T6" fmla="*/ 0 60000 65536"/>
              <a:gd name="T7" fmla="*/ 0 60000 65536"/>
              <a:gd name="T8" fmla="*/ 0 60000 65536"/>
              <a:gd name="T9" fmla="*/ 0 w 2072"/>
              <a:gd name="T10" fmla="*/ 0 h 5"/>
              <a:gd name="T11" fmla="*/ 2072 w 2072"/>
              <a:gd name="T12" fmla="*/ 5 h 5"/>
            </a:gdLst>
            <a:ahLst/>
            <a:cxnLst>
              <a:cxn ang="T6">
                <a:pos x="T0" y="T1"/>
              </a:cxn>
              <a:cxn ang="T7">
                <a:pos x="T2" y="T3"/>
              </a:cxn>
              <a:cxn ang="T8">
                <a:pos x="T4" y="T5"/>
              </a:cxn>
            </a:cxnLst>
            <a:rect l="T9" t="T10" r="T11" b="T12"/>
            <a:pathLst>
              <a:path w="2072" h="5">
                <a:moveTo>
                  <a:pt x="0" y="5"/>
                </a:moveTo>
                <a:lnTo>
                  <a:pt x="12" y="0"/>
                </a:lnTo>
                <a:lnTo>
                  <a:pt x="2072" y="0"/>
                </a:lnTo>
              </a:path>
            </a:pathLst>
          </a:custGeom>
          <a:noFill/>
          <a:ln w="50800" cap="rnd">
            <a:solidFill>
              <a:schemeClr val="tx1"/>
            </a:solidFill>
            <a:round/>
            <a:headEnd/>
            <a:tailEnd/>
          </a:ln>
        </p:spPr>
        <p:txBody>
          <a:bodyPr/>
          <a:lstStyle/>
          <a:p>
            <a:endParaRPr lang="en-GB"/>
          </a:p>
        </p:txBody>
      </p:sp>
      <p:sp>
        <p:nvSpPr>
          <p:cNvPr id="369679" name="Rectangle 13"/>
          <p:cNvSpPr>
            <a:spLocks noChangeArrowheads="1"/>
          </p:cNvSpPr>
          <p:nvPr/>
        </p:nvSpPr>
        <p:spPr bwMode="auto">
          <a:xfrm>
            <a:off x="8382000" y="5580063"/>
            <a:ext cx="381000" cy="363537"/>
          </a:xfrm>
          <a:prstGeom prst="rect">
            <a:avLst/>
          </a:prstGeom>
          <a:noFill/>
          <a:ln w="12700">
            <a:noFill/>
            <a:miter lim="800000"/>
            <a:headEnd/>
            <a:tailEnd/>
          </a:ln>
        </p:spPr>
        <p:txBody>
          <a:bodyPr lIns="90487" tIns="44450" rIns="90487" bIns="44450">
            <a:spAutoFit/>
          </a:bodyPr>
          <a:lstStyle/>
          <a:p>
            <a:pPr eaLnBrk="0" hangingPunct="0"/>
            <a:r>
              <a:rPr lang="en-US" sz="1800" b="1"/>
              <a:t>X</a:t>
            </a:r>
          </a:p>
        </p:txBody>
      </p:sp>
      <p:sp>
        <p:nvSpPr>
          <p:cNvPr id="369680" name="Rectangle 14"/>
          <p:cNvSpPr>
            <a:spLocks noChangeArrowheads="1"/>
          </p:cNvSpPr>
          <p:nvPr/>
        </p:nvSpPr>
        <p:spPr bwMode="auto">
          <a:xfrm>
            <a:off x="5943600" y="5638800"/>
            <a:ext cx="631825" cy="366713"/>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17.4</a:t>
            </a:r>
            <a:endParaRPr lang="en-US" b="1">
              <a:solidFill>
                <a:srgbClr val="339933"/>
              </a:solidFill>
            </a:endParaRPr>
          </a:p>
        </p:txBody>
      </p:sp>
      <p:sp>
        <p:nvSpPr>
          <p:cNvPr id="369681" name="Rectangle 15"/>
          <p:cNvSpPr>
            <a:spLocks noChangeArrowheads="1"/>
          </p:cNvSpPr>
          <p:nvPr/>
        </p:nvSpPr>
        <p:spPr bwMode="auto">
          <a:xfrm>
            <a:off x="6511925" y="5638800"/>
            <a:ext cx="631825" cy="366713"/>
          </a:xfrm>
          <a:prstGeom prst="rect">
            <a:avLst/>
          </a:prstGeom>
          <a:noFill/>
          <a:ln w="12700">
            <a:noFill/>
            <a:miter lim="800000"/>
            <a:headEnd/>
            <a:tailEnd/>
          </a:ln>
        </p:spPr>
        <p:txBody>
          <a:bodyPr wrap="none" lIns="90487" tIns="44450" rIns="90487" bIns="44450">
            <a:spAutoFit/>
          </a:bodyPr>
          <a:lstStyle/>
          <a:p>
            <a:pPr eaLnBrk="0" hangingPunct="0"/>
            <a:r>
              <a:rPr lang="en-US" sz="1800" b="1"/>
              <a:t>18.0</a:t>
            </a:r>
            <a:endParaRPr lang="en-US" b="1"/>
          </a:p>
        </p:txBody>
      </p:sp>
      <p:sp>
        <p:nvSpPr>
          <p:cNvPr id="369682" name="Line 16"/>
          <p:cNvSpPr>
            <a:spLocks noChangeShapeType="1"/>
          </p:cNvSpPr>
          <p:nvPr/>
        </p:nvSpPr>
        <p:spPr bwMode="auto">
          <a:xfrm flipV="1">
            <a:off x="6400800" y="5410200"/>
            <a:ext cx="0" cy="304800"/>
          </a:xfrm>
          <a:prstGeom prst="line">
            <a:avLst/>
          </a:prstGeom>
          <a:noFill/>
          <a:ln w="12700">
            <a:solidFill>
              <a:schemeClr val="tx1"/>
            </a:solidFill>
            <a:round/>
            <a:headEnd/>
            <a:tailEnd type="triangle" w="med" len="med"/>
          </a:ln>
        </p:spPr>
        <p:txBody>
          <a:bodyPr wrap="none" anchor="ctr"/>
          <a:lstStyle/>
          <a:p>
            <a:endParaRPr lang="en-US"/>
          </a:p>
        </p:txBody>
      </p:sp>
      <p:sp>
        <p:nvSpPr>
          <p:cNvPr id="369683" name="Text Box 17"/>
          <p:cNvSpPr txBox="1">
            <a:spLocks noChangeArrowheads="1"/>
          </p:cNvSpPr>
          <p:nvPr/>
        </p:nvSpPr>
        <p:spPr bwMode="auto">
          <a:xfrm>
            <a:off x="457200" y="3810000"/>
            <a:ext cx="1066800" cy="457200"/>
          </a:xfrm>
          <a:prstGeom prst="rect">
            <a:avLst/>
          </a:prstGeom>
          <a:noFill/>
          <a:ln w="19050" algn="ctr">
            <a:noFill/>
            <a:miter lim="800000"/>
            <a:headEnd/>
            <a:tailEnd/>
          </a:ln>
        </p:spPr>
        <p:txBody>
          <a:bodyPr>
            <a:spAutoFit/>
          </a:bodyPr>
          <a:lstStyle/>
          <a:p>
            <a:pPr algn="ctr">
              <a:spcBef>
                <a:spcPct val="50000"/>
              </a:spcBef>
            </a:pPr>
            <a:endParaRPr lang="en-GB"/>
          </a:p>
        </p:txBody>
      </p:sp>
      <p:sp>
        <p:nvSpPr>
          <p:cNvPr id="369684" name="Text Box 18"/>
          <p:cNvSpPr txBox="1">
            <a:spLocks noChangeArrowheads="1"/>
          </p:cNvSpPr>
          <p:nvPr/>
        </p:nvSpPr>
        <p:spPr bwMode="auto">
          <a:xfrm>
            <a:off x="742950" y="2438400"/>
            <a:ext cx="3962400" cy="2124075"/>
          </a:xfrm>
          <a:prstGeom prst="rect">
            <a:avLst/>
          </a:prstGeom>
          <a:noFill/>
          <a:ln w="19050" algn="ctr">
            <a:noFill/>
            <a:miter lim="800000"/>
            <a:headEnd/>
            <a:tailEnd/>
          </a:ln>
        </p:spPr>
        <p:txBody>
          <a:bodyPr>
            <a:spAutoFit/>
          </a:bodyPr>
          <a:lstStyle/>
          <a:p>
            <a:pPr>
              <a:spcBef>
                <a:spcPct val="50000"/>
              </a:spcBef>
            </a:pPr>
            <a:r>
              <a:rPr lang="en-US"/>
              <a:t>    P(17.4 &lt; X &lt; 18) </a:t>
            </a:r>
          </a:p>
          <a:p>
            <a:pPr>
              <a:spcBef>
                <a:spcPct val="50000"/>
              </a:spcBef>
            </a:pPr>
            <a:r>
              <a:rPr lang="en-US"/>
              <a:t>= P(-0.12 &lt; Z &lt; 0)</a:t>
            </a:r>
          </a:p>
          <a:p>
            <a:pPr>
              <a:spcBef>
                <a:spcPct val="50000"/>
              </a:spcBef>
            </a:pPr>
            <a:r>
              <a:rPr lang="en-US"/>
              <a:t>= P(Z &lt; 0) – P(Z </a:t>
            </a:r>
            <a:r>
              <a:rPr lang="en-US">
                <a:cs typeface="Arial" charset="0"/>
              </a:rPr>
              <a:t>≤</a:t>
            </a:r>
            <a:r>
              <a:rPr lang="en-US"/>
              <a:t> -0.12)</a:t>
            </a:r>
          </a:p>
          <a:p>
            <a:pPr>
              <a:spcBef>
                <a:spcPct val="50000"/>
              </a:spcBef>
            </a:pPr>
            <a:r>
              <a:rPr lang="en-US"/>
              <a:t>= 0.5000 - 0.4522 =  </a:t>
            </a:r>
            <a:r>
              <a:rPr lang="en-US">
                <a:solidFill>
                  <a:schemeClr val="hlink"/>
                </a:solidFill>
              </a:rPr>
              <a:t>0.0478</a:t>
            </a:r>
          </a:p>
        </p:txBody>
      </p:sp>
      <p:sp>
        <p:nvSpPr>
          <p:cNvPr id="369685" name="Text Box 19"/>
          <p:cNvSpPr txBox="1">
            <a:spLocks noChangeArrowheads="1"/>
          </p:cNvSpPr>
          <p:nvPr/>
        </p:nvSpPr>
        <p:spPr bwMode="auto">
          <a:xfrm>
            <a:off x="7467600" y="1143000"/>
            <a:ext cx="15240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
        <p:nvSpPr>
          <p:cNvPr id="369686" name="Rectangle 20"/>
          <p:cNvSpPr>
            <a:spLocks noChangeArrowheads="1"/>
          </p:cNvSpPr>
          <p:nvPr/>
        </p:nvSpPr>
        <p:spPr bwMode="auto">
          <a:xfrm>
            <a:off x="5783263" y="3124200"/>
            <a:ext cx="1117600" cy="457200"/>
          </a:xfrm>
          <a:prstGeom prst="rect">
            <a:avLst/>
          </a:prstGeom>
          <a:solidFill>
            <a:srgbClr val="A0F8B5"/>
          </a:solidFill>
          <a:ln w="19050" algn="ctr">
            <a:noFill/>
            <a:miter lim="800000"/>
            <a:headEnd/>
            <a:tailEnd/>
          </a:ln>
        </p:spPr>
        <p:txBody>
          <a:bodyPr wrap="none">
            <a:spAutoFit/>
          </a:bodyPr>
          <a:lstStyle/>
          <a:p>
            <a:pPr algn="ctr"/>
            <a:r>
              <a:rPr lang="en-US">
                <a:solidFill>
                  <a:schemeClr val="hlink"/>
                </a:solidFill>
              </a:rPr>
              <a:t>0.0478</a:t>
            </a:r>
          </a:p>
        </p:txBody>
      </p:sp>
      <p:sp>
        <p:nvSpPr>
          <p:cNvPr id="369687" name="Line 21"/>
          <p:cNvSpPr>
            <a:spLocks noChangeShapeType="1"/>
          </p:cNvSpPr>
          <p:nvPr/>
        </p:nvSpPr>
        <p:spPr bwMode="auto">
          <a:xfrm>
            <a:off x="6400800" y="4114800"/>
            <a:ext cx="0" cy="1295400"/>
          </a:xfrm>
          <a:prstGeom prst="line">
            <a:avLst/>
          </a:prstGeom>
          <a:noFill/>
          <a:ln w="12700">
            <a:solidFill>
              <a:schemeClr val="tx1"/>
            </a:solidFill>
            <a:round/>
            <a:headEnd/>
            <a:tailEnd/>
          </a:ln>
        </p:spPr>
        <p:txBody>
          <a:bodyPr wrap="none" anchor="ctr"/>
          <a:lstStyle/>
          <a:p>
            <a:endParaRPr lang="en-US"/>
          </a:p>
        </p:txBody>
      </p:sp>
      <p:sp>
        <p:nvSpPr>
          <p:cNvPr id="369688" name="Rectangle 22"/>
          <p:cNvSpPr>
            <a:spLocks noChangeArrowheads="1"/>
          </p:cNvSpPr>
          <p:nvPr/>
        </p:nvSpPr>
        <p:spPr bwMode="auto">
          <a:xfrm>
            <a:off x="4945063" y="4191000"/>
            <a:ext cx="1117600" cy="457200"/>
          </a:xfrm>
          <a:prstGeom prst="rect">
            <a:avLst/>
          </a:prstGeom>
          <a:solidFill>
            <a:srgbClr val="C7DAF7"/>
          </a:solidFill>
          <a:ln w="19050" algn="ctr">
            <a:noFill/>
            <a:miter lim="800000"/>
            <a:headEnd/>
            <a:tailEnd/>
          </a:ln>
        </p:spPr>
        <p:txBody>
          <a:bodyPr wrap="none">
            <a:spAutoFit/>
          </a:bodyPr>
          <a:lstStyle/>
          <a:p>
            <a:pPr algn="ctr"/>
            <a:r>
              <a:rPr lang="en-US"/>
              <a:t>0.4522</a:t>
            </a:r>
          </a:p>
        </p:txBody>
      </p:sp>
      <p:sp>
        <p:nvSpPr>
          <p:cNvPr id="369689" name="Rectangle 23"/>
          <p:cNvSpPr>
            <a:spLocks noChangeArrowheads="1"/>
          </p:cNvSpPr>
          <p:nvPr/>
        </p:nvSpPr>
        <p:spPr bwMode="auto">
          <a:xfrm>
            <a:off x="8382000" y="5884863"/>
            <a:ext cx="381000" cy="363537"/>
          </a:xfrm>
          <a:prstGeom prst="rect">
            <a:avLst/>
          </a:prstGeom>
          <a:noFill/>
          <a:ln w="12700">
            <a:noFill/>
            <a:miter lim="800000"/>
            <a:headEnd/>
            <a:tailEnd/>
          </a:ln>
        </p:spPr>
        <p:txBody>
          <a:bodyPr lIns="90487" tIns="44450" rIns="90487" bIns="44450">
            <a:spAutoFit/>
          </a:bodyPr>
          <a:lstStyle/>
          <a:p>
            <a:pPr eaLnBrk="0" hangingPunct="0"/>
            <a:r>
              <a:rPr lang="en-US" sz="1800" b="1"/>
              <a:t>Z</a:t>
            </a:r>
          </a:p>
        </p:txBody>
      </p:sp>
      <p:sp>
        <p:nvSpPr>
          <p:cNvPr id="369690" name="Rectangle 24"/>
          <p:cNvSpPr>
            <a:spLocks noChangeArrowheads="1"/>
          </p:cNvSpPr>
          <p:nvPr/>
        </p:nvSpPr>
        <p:spPr bwMode="auto">
          <a:xfrm>
            <a:off x="5943600" y="5961063"/>
            <a:ext cx="701675" cy="363537"/>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-0.12</a:t>
            </a:r>
            <a:endParaRPr lang="en-US" b="1">
              <a:solidFill>
                <a:srgbClr val="339933"/>
              </a:solidFill>
            </a:endParaRPr>
          </a:p>
        </p:txBody>
      </p:sp>
      <p:sp>
        <p:nvSpPr>
          <p:cNvPr id="369691" name="Rectangle 25"/>
          <p:cNvSpPr>
            <a:spLocks noChangeArrowheads="1"/>
          </p:cNvSpPr>
          <p:nvPr/>
        </p:nvSpPr>
        <p:spPr bwMode="auto">
          <a:xfrm>
            <a:off x="6511925" y="5961063"/>
            <a:ext cx="371475" cy="363537"/>
          </a:xfrm>
          <a:prstGeom prst="rect">
            <a:avLst/>
          </a:prstGeom>
          <a:noFill/>
          <a:ln w="12700">
            <a:noFill/>
            <a:miter lim="800000"/>
            <a:headEnd/>
            <a:tailEnd/>
          </a:ln>
        </p:spPr>
        <p:txBody>
          <a:bodyPr wrap="none" lIns="90487" tIns="44450" rIns="90487" bIns="44450">
            <a:spAutoFit/>
          </a:bodyPr>
          <a:lstStyle/>
          <a:p>
            <a:pPr eaLnBrk="0" hangingPunct="0"/>
            <a:r>
              <a:rPr lang="en-US" sz="1800" b="1"/>
              <a:t> 0</a:t>
            </a:r>
            <a:endParaRPr lang="en-US" b="1"/>
          </a:p>
        </p:txBody>
      </p:sp>
      <p:sp>
        <p:nvSpPr>
          <p:cNvPr id="369692" name="Text Box 26"/>
          <p:cNvSpPr txBox="1">
            <a:spLocks noChangeArrowheads="1"/>
          </p:cNvSpPr>
          <p:nvPr/>
        </p:nvSpPr>
        <p:spPr bwMode="auto">
          <a:xfrm>
            <a:off x="304800" y="4953000"/>
            <a:ext cx="4343400" cy="1200150"/>
          </a:xfrm>
          <a:prstGeom prst="rect">
            <a:avLst/>
          </a:prstGeom>
          <a:solidFill>
            <a:srgbClr val="FDE0BD"/>
          </a:solidFill>
          <a:ln w="12700" algn="ctr">
            <a:solidFill>
              <a:schemeClr val="tx1"/>
            </a:solidFill>
            <a:miter lim="800000"/>
            <a:headEnd/>
            <a:tailEnd/>
          </a:ln>
        </p:spPr>
        <p:txBody>
          <a:bodyPr>
            <a:spAutoFit/>
          </a:bodyPr>
          <a:lstStyle/>
          <a:p>
            <a:pPr>
              <a:spcBef>
                <a:spcPct val="50000"/>
              </a:spcBef>
            </a:pPr>
            <a:r>
              <a:rPr lang="en-US"/>
              <a:t>The Normal distribution is symmetric, so this probability is the same as P(0 &lt; Z &lt; 0.12)</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5" name="Rectangle 4"/>
          <p:cNvSpPr>
            <a:spLocks noGrp="1" noChangeArrowheads="1"/>
          </p:cNvSpPr>
          <p:nvPr>
            <p:ph type="ftr" sz="quarter" idx="10"/>
          </p:nvPr>
        </p:nvSpPr>
        <p:spPr>
          <a:noFill/>
        </p:spPr>
        <p:txBody>
          <a:bodyPr/>
          <a:lstStyle/>
          <a:p>
            <a:r>
              <a:rPr lang="en-US" smtClean="0"/>
              <a:t>Copyright ©2012 Pearson Education</a:t>
            </a:r>
          </a:p>
        </p:txBody>
      </p:sp>
      <p:sp>
        <p:nvSpPr>
          <p:cNvPr id="281606" name="Rectangle 5"/>
          <p:cNvSpPr>
            <a:spLocks noGrp="1" noChangeArrowheads="1"/>
          </p:cNvSpPr>
          <p:nvPr>
            <p:ph type="sldNum" sz="quarter" idx="11"/>
          </p:nvPr>
        </p:nvSpPr>
        <p:spPr>
          <a:noFill/>
        </p:spPr>
        <p:txBody>
          <a:bodyPr/>
          <a:lstStyle/>
          <a:p>
            <a:r>
              <a:rPr lang="en-US" smtClean="0"/>
              <a:t>Chap 6-</a:t>
            </a:r>
            <a:fld id="{EF0B35BE-66E1-4A34-83C6-BE9834178C0E}" type="slidenum">
              <a:rPr lang="en-US" smtClean="0"/>
              <a:pPr/>
              <a:t>27</a:t>
            </a:fld>
            <a:endParaRPr lang="en-US" smtClean="0"/>
          </a:p>
        </p:txBody>
      </p:sp>
      <p:sp>
        <p:nvSpPr>
          <p:cNvPr id="281607"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A92E0BAC-B826-4B66-8732-1E5029DB964A}" type="slidenum">
              <a:rPr lang="en-US" sz="1000"/>
              <a:pPr algn="r" defTabSz="852488"/>
              <a:t>27</a:t>
            </a:fld>
            <a:endParaRPr lang="en-US" sz="1000"/>
          </a:p>
        </p:txBody>
      </p:sp>
      <p:sp>
        <p:nvSpPr>
          <p:cNvPr id="281608" name="Rectangle 2"/>
          <p:cNvSpPr>
            <a:spLocks noGrp="1" noChangeArrowheads="1"/>
          </p:cNvSpPr>
          <p:nvPr>
            <p:ph type="body" idx="1"/>
          </p:nvPr>
        </p:nvSpPr>
        <p:spPr/>
        <p:txBody>
          <a:bodyPr/>
          <a:lstStyle/>
          <a:p>
            <a:pPr eaLnBrk="1" hangingPunct="1"/>
            <a:r>
              <a:rPr lang="en-US" sz="3200" smtClean="0"/>
              <a:t>Steps to find the X value for a known probability:</a:t>
            </a:r>
          </a:p>
          <a:p>
            <a:pPr eaLnBrk="1" hangingPunct="1">
              <a:buFont typeface="Wingdings" pitchFamily="2" charset="2"/>
              <a:buNone/>
            </a:pPr>
            <a:r>
              <a:rPr lang="en-US" smtClean="0"/>
              <a:t>	1.  Find the Z-value for the known probability</a:t>
            </a:r>
          </a:p>
          <a:p>
            <a:pPr eaLnBrk="1" hangingPunct="1">
              <a:buFont typeface="Wingdings" pitchFamily="2" charset="2"/>
              <a:buNone/>
            </a:pPr>
            <a:r>
              <a:rPr lang="en-US" smtClean="0"/>
              <a:t>	2.  Convert to X units using the formula:</a:t>
            </a:r>
          </a:p>
        </p:txBody>
      </p:sp>
      <p:sp>
        <p:nvSpPr>
          <p:cNvPr id="281609" name="Rectangle 3"/>
          <p:cNvSpPr>
            <a:spLocks noGrp="1" noChangeArrowheads="1"/>
          </p:cNvSpPr>
          <p:nvPr>
            <p:ph type="title"/>
          </p:nvPr>
        </p:nvSpPr>
        <p:spPr>
          <a:xfrm>
            <a:off x="1766888" y="512763"/>
            <a:ext cx="6623050" cy="858837"/>
          </a:xfrm>
        </p:spPr>
        <p:txBody>
          <a:bodyPr/>
          <a:lstStyle/>
          <a:p>
            <a:pPr eaLnBrk="1" hangingPunct="1">
              <a:lnSpc>
                <a:spcPct val="80000"/>
              </a:lnSpc>
            </a:pPr>
            <a:r>
              <a:rPr lang="en-US" smtClean="0"/>
              <a:t>Given a Normal Probability</a:t>
            </a:r>
            <a:br>
              <a:rPr lang="en-US" smtClean="0"/>
            </a:br>
            <a:r>
              <a:rPr lang="en-US" smtClean="0"/>
              <a:t>Find the X Value</a:t>
            </a:r>
          </a:p>
        </p:txBody>
      </p:sp>
      <p:graphicFrame>
        <p:nvGraphicFramePr>
          <p:cNvPr id="281604" name="Object 4"/>
          <p:cNvGraphicFramePr>
            <a:graphicFrameLocks noChangeAspect="1"/>
          </p:cNvGraphicFramePr>
          <p:nvPr/>
        </p:nvGraphicFramePr>
        <p:xfrm>
          <a:off x="3124200" y="4343400"/>
          <a:ext cx="2895600" cy="812800"/>
        </p:xfrm>
        <a:graphic>
          <a:graphicData uri="http://schemas.openxmlformats.org/presentationml/2006/ole">
            <p:oleObj spid="_x0000_s281604" name="Equation" r:id="rId3" imgW="723600" imgH="203040" progId="Equation.3">
              <p:embed/>
            </p:oleObj>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3" name="Rectangle 4"/>
          <p:cNvSpPr>
            <a:spLocks noGrp="1" noChangeArrowheads="1"/>
          </p:cNvSpPr>
          <p:nvPr>
            <p:ph type="ftr" sz="quarter" idx="10"/>
          </p:nvPr>
        </p:nvSpPr>
        <p:spPr>
          <a:noFill/>
        </p:spPr>
        <p:txBody>
          <a:bodyPr/>
          <a:lstStyle/>
          <a:p>
            <a:r>
              <a:rPr lang="en-US" smtClean="0"/>
              <a:t>Copyright ©2012 Pearson Education</a:t>
            </a:r>
          </a:p>
        </p:txBody>
      </p:sp>
      <p:sp>
        <p:nvSpPr>
          <p:cNvPr id="371714" name="Rectangle 5"/>
          <p:cNvSpPr>
            <a:spLocks noGrp="1" noChangeArrowheads="1"/>
          </p:cNvSpPr>
          <p:nvPr>
            <p:ph type="sldNum" sz="quarter" idx="11"/>
          </p:nvPr>
        </p:nvSpPr>
        <p:spPr>
          <a:noFill/>
        </p:spPr>
        <p:txBody>
          <a:bodyPr/>
          <a:lstStyle/>
          <a:p>
            <a:r>
              <a:rPr lang="en-US" smtClean="0"/>
              <a:t>Chap 6-</a:t>
            </a:r>
            <a:fld id="{7CCF123C-5A0C-4517-BDF0-2098F9429CF7}" type="slidenum">
              <a:rPr lang="en-US" smtClean="0"/>
              <a:pPr/>
              <a:t>28</a:t>
            </a:fld>
            <a:endParaRPr lang="en-US" smtClean="0"/>
          </a:p>
        </p:txBody>
      </p:sp>
      <p:sp>
        <p:nvSpPr>
          <p:cNvPr id="371715"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FC31FE4B-AC5D-4CEB-9164-EC223958363C}" type="slidenum">
              <a:rPr lang="en-US" sz="1000"/>
              <a:pPr algn="r" defTabSz="852488"/>
              <a:t>28</a:t>
            </a:fld>
            <a:endParaRPr lang="en-US" sz="1000"/>
          </a:p>
        </p:txBody>
      </p:sp>
      <p:sp>
        <p:nvSpPr>
          <p:cNvPr id="371716" name="Freeform 2"/>
          <p:cNvSpPr>
            <a:spLocks/>
          </p:cNvSpPr>
          <p:nvPr/>
        </p:nvSpPr>
        <p:spPr bwMode="auto">
          <a:xfrm>
            <a:off x="3870325" y="4848225"/>
            <a:ext cx="1085850" cy="946150"/>
          </a:xfrm>
          <a:custGeom>
            <a:avLst/>
            <a:gdLst>
              <a:gd name="T0" fmla="*/ 1085850 w 684"/>
              <a:gd name="T1" fmla="*/ 946150 h 596"/>
              <a:gd name="T2" fmla="*/ 1085850 w 684"/>
              <a:gd name="T3" fmla="*/ 0 h 596"/>
              <a:gd name="T4" fmla="*/ 1033463 w 684"/>
              <a:gd name="T5" fmla="*/ 95250 h 596"/>
              <a:gd name="T6" fmla="*/ 973138 w 684"/>
              <a:gd name="T7" fmla="*/ 190500 h 596"/>
              <a:gd name="T8" fmla="*/ 909638 w 684"/>
              <a:gd name="T9" fmla="*/ 293687 h 596"/>
              <a:gd name="T10" fmla="*/ 868363 w 684"/>
              <a:gd name="T11" fmla="*/ 360362 h 596"/>
              <a:gd name="T12" fmla="*/ 792162 w 684"/>
              <a:gd name="T13" fmla="*/ 465138 h 596"/>
              <a:gd name="T14" fmla="*/ 619125 w 684"/>
              <a:gd name="T15" fmla="*/ 650875 h 596"/>
              <a:gd name="T16" fmla="*/ 549275 w 684"/>
              <a:gd name="T17" fmla="*/ 704850 h 596"/>
              <a:gd name="T18" fmla="*/ 357187 w 684"/>
              <a:gd name="T19" fmla="*/ 804862 h 596"/>
              <a:gd name="T20" fmla="*/ 252413 w 684"/>
              <a:gd name="T21" fmla="*/ 838200 h 596"/>
              <a:gd name="T22" fmla="*/ 138112 w 684"/>
              <a:gd name="T23" fmla="*/ 860425 h 596"/>
              <a:gd name="T24" fmla="*/ 0 w 684"/>
              <a:gd name="T25" fmla="*/ 869950 h 596"/>
              <a:gd name="T26" fmla="*/ 0 w 684"/>
              <a:gd name="T27" fmla="*/ 946150 h 596"/>
              <a:gd name="T28" fmla="*/ 1085850 w 684"/>
              <a:gd name="T29" fmla="*/ 946150 h 59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84"/>
              <a:gd name="T46" fmla="*/ 0 h 596"/>
              <a:gd name="T47" fmla="*/ 684 w 684"/>
              <a:gd name="T48" fmla="*/ 596 h 59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84" h="596">
                <a:moveTo>
                  <a:pt x="684" y="596"/>
                </a:moveTo>
                <a:lnTo>
                  <a:pt x="684" y="0"/>
                </a:lnTo>
                <a:lnTo>
                  <a:pt x="651" y="60"/>
                </a:lnTo>
                <a:lnTo>
                  <a:pt x="613" y="120"/>
                </a:lnTo>
                <a:lnTo>
                  <a:pt x="573" y="185"/>
                </a:lnTo>
                <a:lnTo>
                  <a:pt x="547" y="227"/>
                </a:lnTo>
                <a:lnTo>
                  <a:pt x="499" y="293"/>
                </a:lnTo>
                <a:lnTo>
                  <a:pt x="390" y="410"/>
                </a:lnTo>
                <a:lnTo>
                  <a:pt x="346" y="444"/>
                </a:lnTo>
                <a:lnTo>
                  <a:pt x="225" y="507"/>
                </a:lnTo>
                <a:lnTo>
                  <a:pt x="159" y="528"/>
                </a:lnTo>
                <a:lnTo>
                  <a:pt x="87" y="542"/>
                </a:lnTo>
                <a:lnTo>
                  <a:pt x="0" y="548"/>
                </a:lnTo>
                <a:lnTo>
                  <a:pt x="0" y="596"/>
                </a:lnTo>
                <a:lnTo>
                  <a:pt x="684" y="596"/>
                </a:lnTo>
                <a:close/>
              </a:path>
            </a:pathLst>
          </a:custGeom>
          <a:solidFill>
            <a:srgbClr val="C7DAF7"/>
          </a:solidFill>
          <a:ln w="12700">
            <a:noFill/>
            <a:round/>
            <a:headEnd/>
            <a:tailEnd/>
          </a:ln>
        </p:spPr>
        <p:txBody>
          <a:bodyPr/>
          <a:lstStyle/>
          <a:p>
            <a:endParaRPr lang="en-GB"/>
          </a:p>
        </p:txBody>
      </p:sp>
      <p:sp>
        <p:nvSpPr>
          <p:cNvPr id="371717" name="Line 3"/>
          <p:cNvSpPr>
            <a:spLocks noChangeShapeType="1"/>
          </p:cNvSpPr>
          <p:nvPr/>
        </p:nvSpPr>
        <p:spPr bwMode="auto">
          <a:xfrm>
            <a:off x="4953000" y="4876800"/>
            <a:ext cx="0" cy="914400"/>
          </a:xfrm>
          <a:prstGeom prst="line">
            <a:avLst/>
          </a:prstGeom>
          <a:noFill/>
          <a:ln w="12700">
            <a:solidFill>
              <a:schemeClr val="tx1"/>
            </a:solidFill>
            <a:round/>
            <a:headEnd/>
            <a:tailEnd/>
          </a:ln>
        </p:spPr>
        <p:txBody>
          <a:bodyPr wrap="none" anchor="ctr"/>
          <a:lstStyle/>
          <a:p>
            <a:endParaRPr lang="en-US"/>
          </a:p>
        </p:txBody>
      </p:sp>
      <p:sp>
        <p:nvSpPr>
          <p:cNvPr id="371718" name="Rectangle 4"/>
          <p:cNvSpPr>
            <a:spLocks noGrp="1" noChangeArrowheads="1"/>
          </p:cNvSpPr>
          <p:nvPr>
            <p:ph type="title"/>
          </p:nvPr>
        </p:nvSpPr>
        <p:spPr>
          <a:xfrm>
            <a:off x="1766888" y="320675"/>
            <a:ext cx="6623050" cy="858838"/>
          </a:xfrm>
        </p:spPr>
        <p:txBody>
          <a:bodyPr/>
          <a:lstStyle/>
          <a:p>
            <a:pPr eaLnBrk="1" hangingPunct="1">
              <a:lnSpc>
                <a:spcPct val="80000"/>
              </a:lnSpc>
            </a:pPr>
            <a:r>
              <a:rPr lang="en-US" smtClean="0"/>
              <a:t>Finding the X value for a Known Probability</a:t>
            </a:r>
          </a:p>
        </p:txBody>
      </p:sp>
      <p:sp>
        <p:nvSpPr>
          <p:cNvPr id="371719" name="Rectangle 5"/>
          <p:cNvSpPr>
            <a:spLocks noGrp="1" noChangeArrowheads="1"/>
          </p:cNvSpPr>
          <p:nvPr>
            <p:ph type="body" idx="1"/>
          </p:nvPr>
        </p:nvSpPr>
        <p:spPr>
          <a:xfrm>
            <a:off x="762000" y="1676400"/>
            <a:ext cx="8077200" cy="4532313"/>
          </a:xfrm>
        </p:spPr>
        <p:txBody>
          <a:bodyPr/>
          <a:lstStyle/>
          <a:p>
            <a:pPr eaLnBrk="1" hangingPunct="1">
              <a:buFont typeface="Wingdings" pitchFamily="2" charset="2"/>
              <a:buNone/>
            </a:pPr>
            <a:r>
              <a:rPr lang="en-US" smtClean="0"/>
              <a:t>Example:</a:t>
            </a:r>
          </a:p>
          <a:p>
            <a:pPr eaLnBrk="1" hangingPunct="1"/>
            <a:r>
              <a:rPr lang="en-US" sz="2400" smtClean="0"/>
              <a:t>Let X represent the time it takes (in seconds) to download an image file from the internet.</a:t>
            </a:r>
          </a:p>
          <a:p>
            <a:pPr eaLnBrk="1" hangingPunct="1"/>
            <a:r>
              <a:rPr lang="en-US" sz="2400" smtClean="0"/>
              <a:t>Suppose  X  is normal with mean 18.0 and standard deviation 5.0</a:t>
            </a:r>
          </a:p>
          <a:p>
            <a:pPr eaLnBrk="1" hangingPunct="1"/>
            <a:r>
              <a:rPr lang="en-US" sz="2400" smtClean="0"/>
              <a:t>Find X such that 20% of download times are less than X.</a:t>
            </a:r>
          </a:p>
        </p:txBody>
      </p:sp>
      <p:sp>
        <p:nvSpPr>
          <p:cNvPr id="371720" name="Line 6"/>
          <p:cNvSpPr>
            <a:spLocks noChangeShapeType="1"/>
          </p:cNvSpPr>
          <p:nvPr/>
        </p:nvSpPr>
        <p:spPr bwMode="auto">
          <a:xfrm>
            <a:off x="4343400" y="4953000"/>
            <a:ext cx="457200" cy="533400"/>
          </a:xfrm>
          <a:prstGeom prst="line">
            <a:avLst/>
          </a:prstGeom>
          <a:noFill/>
          <a:ln w="19050">
            <a:solidFill>
              <a:schemeClr val="tx1"/>
            </a:solidFill>
            <a:round/>
            <a:headEnd/>
            <a:tailEnd type="triangle" w="med" len="med"/>
          </a:ln>
        </p:spPr>
        <p:txBody>
          <a:bodyPr wrap="none" anchor="ctr"/>
          <a:lstStyle/>
          <a:p>
            <a:endParaRPr lang="en-US"/>
          </a:p>
        </p:txBody>
      </p:sp>
      <p:sp>
        <p:nvSpPr>
          <p:cNvPr id="371721" name="Line 7"/>
          <p:cNvSpPr>
            <a:spLocks noChangeShapeType="1"/>
          </p:cNvSpPr>
          <p:nvPr/>
        </p:nvSpPr>
        <p:spPr bwMode="auto">
          <a:xfrm>
            <a:off x="5486400" y="4191000"/>
            <a:ext cx="0" cy="1600200"/>
          </a:xfrm>
          <a:prstGeom prst="line">
            <a:avLst/>
          </a:prstGeom>
          <a:noFill/>
          <a:ln w="31750">
            <a:solidFill>
              <a:schemeClr val="tx1"/>
            </a:solidFill>
            <a:round/>
            <a:headEnd/>
            <a:tailEnd/>
          </a:ln>
        </p:spPr>
        <p:txBody>
          <a:bodyPr wrap="none" anchor="ctr"/>
          <a:lstStyle/>
          <a:p>
            <a:endParaRPr lang="en-US"/>
          </a:p>
        </p:txBody>
      </p:sp>
      <p:sp>
        <p:nvSpPr>
          <p:cNvPr id="371722" name="Freeform 8"/>
          <p:cNvSpPr>
            <a:spLocks/>
          </p:cNvSpPr>
          <p:nvPr/>
        </p:nvSpPr>
        <p:spPr bwMode="auto">
          <a:xfrm>
            <a:off x="5562600" y="4191000"/>
            <a:ext cx="1593850" cy="1528763"/>
          </a:xfrm>
          <a:custGeom>
            <a:avLst/>
            <a:gdLst>
              <a:gd name="T0" fmla="*/ 1592303 w 1030"/>
              <a:gd name="T1" fmla="*/ 1527220 h 991"/>
              <a:gd name="T2" fmla="*/ 1425180 w 1030"/>
              <a:gd name="T3" fmla="*/ 1511794 h 991"/>
              <a:gd name="T4" fmla="*/ 1340072 w 1030"/>
              <a:gd name="T5" fmla="*/ 1491739 h 991"/>
              <a:gd name="T6" fmla="*/ 1258058 w 1030"/>
              <a:gd name="T7" fmla="*/ 1468600 h 991"/>
              <a:gd name="T8" fmla="*/ 1172950 w 1030"/>
              <a:gd name="T9" fmla="*/ 1433119 h 991"/>
              <a:gd name="T10" fmla="*/ 1087841 w 1030"/>
              <a:gd name="T11" fmla="*/ 1383754 h 991"/>
              <a:gd name="T12" fmla="*/ 1007375 w 1030"/>
              <a:gd name="T13" fmla="*/ 1322048 h 991"/>
              <a:gd name="T14" fmla="*/ 837158 w 1030"/>
              <a:gd name="T15" fmla="*/ 1146187 h 991"/>
              <a:gd name="T16" fmla="*/ 670036 w 1030"/>
              <a:gd name="T17" fmla="*/ 896278 h 991"/>
              <a:gd name="T18" fmla="*/ 502914 w 1030"/>
              <a:gd name="T19" fmla="*/ 595462 h 991"/>
              <a:gd name="T20" fmla="*/ 417805 w 1030"/>
              <a:gd name="T21" fmla="*/ 442740 h 991"/>
              <a:gd name="T22" fmla="*/ 332697 w 1030"/>
              <a:gd name="T23" fmla="*/ 302359 h 991"/>
              <a:gd name="T24" fmla="*/ 252231 w 1030"/>
              <a:gd name="T25" fmla="*/ 178947 h 991"/>
              <a:gd name="T26" fmla="*/ 167122 w 1030"/>
              <a:gd name="T27" fmla="*/ 81760 h 991"/>
              <a:gd name="T28" fmla="*/ 82014 w 1030"/>
              <a:gd name="T29" fmla="*/ 20054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a:solidFill>
              <a:srgbClr val="008000"/>
            </a:solidFill>
            <a:round/>
            <a:headEnd/>
            <a:tailEnd/>
          </a:ln>
        </p:spPr>
        <p:txBody>
          <a:bodyPr/>
          <a:lstStyle/>
          <a:p>
            <a:endParaRPr lang="en-GB"/>
          </a:p>
        </p:txBody>
      </p:sp>
      <p:sp>
        <p:nvSpPr>
          <p:cNvPr id="371723" name="Freeform 9"/>
          <p:cNvSpPr>
            <a:spLocks/>
          </p:cNvSpPr>
          <p:nvPr/>
        </p:nvSpPr>
        <p:spPr bwMode="auto">
          <a:xfrm>
            <a:off x="3884613" y="4186238"/>
            <a:ext cx="1644650" cy="1531937"/>
          </a:xfrm>
          <a:custGeom>
            <a:avLst/>
            <a:gdLst>
              <a:gd name="T0" fmla="*/ 0 w 1036"/>
              <a:gd name="T1" fmla="*/ 1531937 h 965"/>
              <a:gd name="T2" fmla="*/ 171450 w 1036"/>
              <a:gd name="T3" fmla="*/ 1516062 h 965"/>
              <a:gd name="T4" fmla="*/ 258762 w 1036"/>
              <a:gd name="T5" fmla="*/ 1495425 h 965"/>
              <a:gd name="T6" fmla="*/ 346075 w 1036"/>
              <a:gd name="T7" fmla="*/ 1471612 h 965"/>
              <a:gd name="T8" fmla="*/ 430212 w 1036"/>
              <a:gd name="T9" fmla="*/ 1435100 h 965"/>
              <a:gd name="T10" fmla="*/ 517525 w 1036"/>
              <a:gd name="T11" fmla="*/ 1384300 h 965"/>
              <a:gd name="T12" fmla="*/ 604837 w 1036"/>
              <a:gd name="T13" fmla="*/ 1320800 h 965"/>
              <a:gd name="T14" fmla="*/ 774700 w 1036"/>
              <a:gd name="T15" fmla="*/ 1139825 h 965"/>
              <a:gd name="T16" fmla="*/ 946150 w 1036"/>
              <a:gd name="T17" fmla="*/ 882650 h 965"/>
              <a:gd name="T18" fmla="*/ 1120775 w 1036"/>
              <a:gd name="T19" fmla="*/ 573087 h 965"/>
              <a:gd name="T20" fmla="*/ 1204912 w 1036"/>
              <a:gd name="T21" fmla="*/ 415925 h 965"/>
              <a:gd name="T22" fmla="*/ 1292225 w 1036"/>
              <a:gd name="T23" fmla="*/ 271462 h 965"/>
              <a:gd name="T24" fmla="*/ 1377950 w 1036"/>
              <a:gd name="T25" fmla="*/ 144462 h 965"/>
              <a:gd name="T26" fmla="*/ 1458912 w 1036"/>
              <a:gd name="T27" fmla="*/ 52387 h 965"/>
              <a:gd name="T28" fmla="*/ 1544637 w 1036"/>
              <a:gd name="T29" fmla="*/ 14287 h 965"/>
              <a:gd name="T30" fmla="*/ 1644650 w 1036"/>
              <a:gd name="T31" fmla="*/ 0 h 9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6"/>
              <a:gd name="T49" fmla="*/ 0 h 965"/>
              <a:gd name="T50" fmla="*/ 1036 w 1036"/>
              <a:gd name="T51" fmla="*/ 965 h 9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6" h="965">
                <a:moveTo>
                  <a:pt x="0" y="965"/>
                </a:moveTo>
                <a:lnTo>
                  <a:pt x="108" y="955"/>
                </a:lnTo>
                <a:lnTo>
                  <a:pt x="163" y="942"/>
                </a:lnTo>
                <a:lnTo>
                  <a:pt x="218" y="927"/>
                </a:lnTo>
                <a:lnTo>
                  <a:pt x="271" y="904"/>
                </a:lnTo>
                <a:lnTo>
                  <a:pt x="326" y="872"/>
                </a:lnTo>
                <a:lnTo>
                  <a:pt x="381" y="832"/>
                </a:lnTo>
                <a:lnTo>
                  <a:pt x="488" y="718"/>
                </a:lnTo>
                <a:lnTo>
                  <a:pt x="596" y="556"/>
                </a:lnTo>
                <a:lnTo>
                  <a:pt x="706" y="361"/>
                </a:lnTo>
                <a:lnTo>
                  <a:pt x="759" y="262"/>
                </a:lnTo>
                <a:lnTo>
                  <a:pt x="814" y="171"/>
                </a:lnTo>
                <a:lnTo>
                  <a:pt x="868" y="91"/>
                </a:lnTo>
                <a:lnTo>
                  <a:pt x="919" y="33"/>
                </a:lnTo>
                <a:lnTo>
                  <a:pt x="973" y="9"/>
                </a:lnTo>
                <a:lnTo>
                  <a:pt x="1036" y="0"/>
                </a:lnTo>
              </a:path>
            </a:pathLst>
          </a:custGeom>
          <a:noFill/>
          <a:ln w="50800" cap="rnd">
            <a:solidFill>
              <a:srgbClr val="008000"/>
            </a:solidFill>
            <a:round/>
            <a:headEnd/>
            <a:tailEnd/>
          </a:ln>
        </p:spPr>
        <p:txBody>
          <a:bodyPr/>
          <a:lstStyle/>
          <a:p>
            <a:endParaRPr lang="en-GB"/>
          </a:p>
        </p:txBody>
      </p:sp>
      <p:sp>
        <p:nvSpPr>
          <p:cNvPr id="371724" name="Freeform 10"/>
          <p:cNvSpPr>
            <a:spLocks/>
          </p:cNvSpPr>
          <p:nvPr/>
        </p:nvSpPr>
        <p:spPr bwMode="auto">
          <a:xfrm>
            <a:off x="3867150" y="5802313"/>
            <a:ext cx="3289300" cy="7937"/>
          </a:xfrm>
          <a:custGeom>
            <a:avLst/>
            <a:gdLst>
              <a:gd name="T0" fmla="*/ 0 w 2072"/>
              <a:gd name="T1" fmla="*/ 7937 h 5"/>
              <a:gd name="T2" fmla="*/ 19050 w 2072"/>
              <a:gd name="T3" fmla="*/ 0 h 5"/>
              <a:gd name="T4" fmla="*/ 3289300 w 2072"/>
              <a:gd name="T5" fmla="*/ 0 h 5"/>
              <a:gd name="T6" fmla="*/ 0 60000 65536"/>
              <a:gd name="T7" fmla="*/ 0 60000 65536"/>
              <a:gd name="T8" fmla="*/ 0 60000 65536"/>
              <a:gd name="T9" fmla="*/ 0 w 2072"/>
              <a:gd name="T10" fmla="*/ 0 h 5"/>
              <a:gd name="T11" fmla="*/ 2072 w 2072"/>
              <a:gd name="T12" fmla="*/ 5 h 5"/>
            </a:gdLst>
            <a:ahLst/>
            <a:cxnLst>
              <a:cxn ang="T6">
                <a:pos x="T0" y="T1"/>
              </a:cxn>
              <a:cxn ang="T7">
                <a:pos x="T2" y="T3"/>
              </a:cxn>
              <a:cxn ang="T8">
                <a:pos x="T4" y="T5"/>
              </a:cxn>
            </a:cxnLst>
            <a:rect l="T9" t="T10" r="T11" b="T12"/>
            <a:pathLst>
              <a:path w="2072" h="5">
                <a:moveTo>
                  <a:pt x="0" y="5"/>
                </a:moveTo>
                <a:lnTo>
                  <a:pt x="12" y="0"/>
                </a:lnTo>
                <a:lnTo>
                  <a:pt x="2072" y="0"/>
                </a:lnTo>
              </a:path>
            </a:pathLst>
          </a:custGeom>
          <a:noFill/>
          <a:ln w="50800" cap="rnd">
            <a:solidFill>
              <a:schemeClr val="tx1"/>
            </a:solidFill>
            <a:round/>
            <a:headEnd/>
            <a:tailEnd/>
          </a:ln>
        </p:spPr>
        <p:txBody>
          <a:bodyPr/>
          <a:lstStyle/>
          <a:p>
            <a:endParaRPr lang="en-GB"/>
          </a:p>
        </p:txBody>
      </p:sp>
      <p:sp>
        <p:nvSpPr>
          <p:cNvPr id="371725" name="Rectangle 11"/>
          <p:cNvSpPr>
            <a:spLocks noChangeArrowheads="1"/>
          </p:cNvSpPr>
          <p:nvPr/>
        </p:nvSpPr>
        <p:spPr bwMode="auto">
          <a:xfrm>
            <a:off x="7162800" y="5961063"/>
            <a:ext cx="381000" cy="363537"/>
          </a:xfrm>
          <a:prstGeom prst="rect">
            <a:avLst/>
          </a:prstGeom>
          <a:noFill/>
          <a:ln w="12700">
            <a:noFill/>
            <a:miter lim="800000"/>
            <a:headEnd/>
            <a:tailEnd/>
          </a:ln>
        </p:spPr>
        <p:txBody>
          <a:bodyPr lIns="90487" tIns="44450" rIns="90487" bIns="44450">
            <a:spAutoFit/>
          </a:bodyPr>
          <a:lstStyle/>
          <a:p>
            <a:pPr eaLnBrk="0" hangingPunct="0"/>
            <a:r>
              <a:rPr lang="en-US" sz="1800" b="1"/>
              <a:t>X</a:t>
            </a:r>
          </a:p>
        </p:txBody>
      </p:sp>
      <p:sp>
        <p:nvSpPr>
          <p:cNvPr id="371726" name="Rectangle 12"/>
          <p:cNvSpPr>
            <a:spLocks noChangeArrowheads="1"/>
          </p:cNvSpPr>
          <p:nvPr/>
        </p:nvSpPr>
        <p:spPr bwMode="auto">
          <a:xfrm>
            <a:off x="4784725" y="6019800"/>
            <a:ext cx="320675" cy="363538"/>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a:t>
            </a:r>
            <a:endParaRPr lang="en-US" b="1">
              <a:solidFill>
                <a:srgbClr val="339933"/>
              </a:solidFill>
            </a:endParaRPr>
          </a:p>
        </p:txBody>
      </p:sp>
      <p:sp>
        <p:nvSpPr>
          <p:cNvPr id="371727" name="Rectangle 13"/>
          <p:cNvSpPr>
            <a:spLocks noChangeArrowheads="1"/>
          </p:cNvSpPr>
          <p:nvPr/>
        </p:nvSpPr>
        <p:spPr bwMode="auto">
          <a:xfrm>
            <a:off x="5292725" y="6019800"/>
            <a:ext cx="631825" cy="366713"/>
          </a:xfrm>
          <a:prstGeom prst="rect">
            <a:avLst/>
          </a:prstGeom>
          <a:noFill/>
          <a:ln w="12700">
            <a:noFill/>
            <a:miter lim="800000"/>
            <a:headEnd/>
            <a:tailEnd/>
          </a:ln>
        </p:spPr>
        <p:txBody>
          <a:bodyPr wrap="none" lIns="90487" tIns="44450" rIns="90487" bIns="44450">
            <a:spAutoFit/>
          </a:bodyPr>
          <a:lstStyle/>
          <a:p>
            <a:pPr eaLnBrk="0" hangingPunct="0"/>
            <a:r>
              <a:rPr lang="en-US" sz="1800" b="1"/>
              <a:t>18.0</a:t>
            </a:r>
            <a:endParaRPr lang="en-US" b="1"/>
          </a:p>
        </p:txBody>
      </p:sp>
      <p:sp>
        <p:nvSpPr>
          <p:cNvPr id="371728" name="Line 14"/>
          <p:cNvSpPr>
            <a:spLocks noChangeShapeType="1"/>
          </p:cNvSpPr>
          <p:nvPr/>
        </p:nvSpPr>
        <p:spPr bwMode="auto">
          <a:xfrm flipV="1">
            <a:off x="4953000" y="5791200"/>
            <a:ext cx="0" cy="304800"/>
          </a:xfrm>
          <a:prstGeom prst="line">
            <a:avLst/>
          </a:prstGeom>
          <a:noFill/>
          <a:ln w="12700">
            <a:solidFill>
              <a:schemeClr val="tx1"/>
            </a:solidFill>
            <a:round/>
            <a:headEnd/>
            <a:tailEnd type="triangle" w="med" len="med"/>
          </a:ln>
        </p:spPr>
        <p:txBody>
          <a:bodyPr wrap="none" anchor="ctr"/>
          <a:lstStyle/>
          <a:p>
            <a:endParaRPr lang="en-US"/>
          </a:p>
        </p:txBody>
      </p:sp>
      <p:sp>
        <p:nvSpPr>
          <p:cNvPr id="371729" name="Rectangle 15"/>
          <p:cNvSpPr>
            <a:spLocks noChangeArrowheads="1"/>
          </p:cNvSpPr>
          <p:nvPr/>
        </p:nvSpPr>
        <p:spPr bwMode="auto">
          <a:xfrm>
            <a:off x="3581400" y="4572000"/>
            <a:ext cx="1117600" cy="457200"/>
          </a:xfrm>
          <a:prstGeom prst="rect">
            <a:avLst/>
          </a:prstGeom>
          <a:solidFill>
            <a:srgbClr val="C7DAF7"/>
          </a:solidFill>
          <a:ln w="19050" algn="ctr">
            <a:noFill/>
            <a:miter lim="800000"/>
            <a:headEnd/>
            <a:tailEnd/>
          </a:ln>
        </p:spPr>
        <p:txBody>
          <a:bodyPr wrap="none">
            <a:spAutoFit/>
          </a:bodyPr>
          <a:lstStyle/>
          <a:p>
            <a:pPr algn="ctr"/>
            <a:r>
              <a:rPr lang="en-US"/>
              <a:t>0.2000</a:t>
            </a:r>
          </a:p>
        </p:txBody>
      </p:sp>
      <p:sp>
        <p:nvSpPr>
          <p:cNvPr id="371730" name="Rectangle 16"/>
          <p:cNvSpPr>
            <a:spLocks noChangeArrowheads="1"/>
          </p:cNvSpPr>
          <p:nvPr/>
        </p:nvSpPr>
        <p:spPr bwMode="auto">
          <a:xfrm>
            <a:off x="7162800" y="6265863"/>
            <a:ext cx="381000" cy="363537"/>
          </a:xfrm>
          <a:prstGeom prst="rect">
            <a:avLst/>
          </a:prstGeom>
          <a:noFill/>
          <a:ln w="12700">
            <a:noFill/>
            <a:miter lim="800000"/>
            <a:headEnd/>
            <a:tailEnd/>
          </a:ln>
        </p:spPr>
        <p:txBody>
          <a:bodyPr lIns="90487" tIns="44450" rIns="90487" bIns="44450">
            <a:spAutoFit/>
          </a:bodyPr>
          <a:lstStyle/>
          <a:p>
            <a:pPr eaLnBrk="0" hangingPunct="0"/>
            <a:r>
              <a:rPr lang="en-US" sz="1800" b="1"/>
              <a:t>Z</a:t>
            </a:r>
          </a:p>
        </p:txBody>
      </p:sp>
      <p:sp>
        <p:nvSpPr>
          <p:cNvPr id="371731" name="Rectangle 17"/>
          <p:cNvSpPr>
            <a:spLocks noChangeArrowheads="1"/>
          </p:cNvSpPr>
          <p:nvPr/>
        </p:nvSpPr>
        <p:spPr bwMode="auto">
          <a:xfrm>
            <a:off x="4784725" y="6342063"/>
            <a:ext cx="320675" cy="363537"/>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a:t>
            </a:r>
            <a:endParaRPr lang="en-US" b="1">
              <a:solidFill>
                <a:srgbClr val="339933"/>
              </a:solidFill>
            </a:endParaRPr>
          </a:p>
        </p:txBody>
      </p:sp>
      <p:sp>
        <p:nvSpPr>
          <p:cNvPr id="371732" name="Rectangle 18"/>
          <p:cNvSpPr>
            <a:spLocks noChangeArrowheads="1"/>
          </p:cNvSpPr>
          <p:nvPr/>
        </p:nvSpPr>
        <p:spPr bwMode="auto">
          <a:xfrm>
            <a:off x="5292725" y="6342063"/>
            <a:ext cx="371475" cy="363537"/>
          </a:xfrm>
          <a:prstGeom prst="rect">
            <a:avLst/>
          </a:prstGeom>
          <a:noFill/>
          <a:ln w="12700">
            <a:noFill/>
            <a:miter lim="800000"/>
            <a:headEnd/>
            <a:tailEnd/>
          </a:ln>
        </p:spPr>
        <p:txBody>
          <a:bodyPr wrap="none" lIns="90487" tIns="44450" rIns="90487" bIns="44450">
            <a:spAutoFit/>
          </a:bodyPr>
          <a:lstStyle/>
          <a:p>
            <a:pPr eaLnBrk="0" hangingPunct="0"/>
            <a:r>
              <a:rPr lang="en-US" sz="1800" b="1"/>
              <a:t> 0</a:t>
            </a:r>
            <a:endParaRPr lang="en-US" b="1"/>
          </a:p>
        </p:txBody>
      </p:sp>
      <p:sp>
        <p:nvSpPr>
          <p:cNvPr id="371733" name="Oval 19"/>
          <p:cNvSpPr>
            <a:spLocks noChangeArrowheads="1"/>
          </p:cNvSpPr>
          <p:nvPr/>
        </p:nvSpPr>
        <p:spPr bwMode="auto">
          <a:xfrm>
            <a:off x="4648200" y="5943600"/>
            <a:ext cx="609600" cy="762000"/>
          </a:xfrm>
          <a:prstGeom prst="ellipse">
            <a:avLst/>
          </a:prstGeom>
          <a:noFill/>
          <a:ln w="28575">
            <a:solidFill>
              <a:schemeClr val="hlink"/>
            </a:solidFill>
            <a:miter lim="800000"/>
            <a:headEnd/>
            <a:tailEnd/>
          </a:ln>
        </p:spPr>
        <p:txBody>
          <a:bodyPr wrap="none" anchor="ctr"/>
          <a:lstStyle/>
          <a:p>
            <a:pPr algn="ctr">
              <a:spcBef>
                <a:spcPct val="50000"/>
              </a:spcBef>
            </a:pPr>
            <a:endParaRPr lang="en-GB"/>
          </a:p>
        </p:txBody>
      </p:sp>
      <p:sp>
        <p:nvSpPr>
          <p:cNvPr id="371734" name="Text Box 20"/>
          <p:cNvSpPr txBox="1">
            <a:spLocks noChangeArrowheads="1"/>
          </p:cNvSpPr>
          <p:nvPr/>
        </p:nvSpPr>
        <p:spPr bwMode="auto">
          <a:xfrm>
            <a:off x="7467600" y="1143000"/>
            <a:ext cx="15240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7" name="Rectangle 4"/>
          <p:cNvSpPr>
            <a:spLocks noGrp="1" noChangeArrowheads="1"/>
          </p:cNvSpPr>
          <p:nvPr>
            <p:ph type="ftr" sz="quarter" idx="10"/>
          </p:nvPr>
        </p:nvSpPr>
        <p:spPr>
          <a:noFill/>
        </p:spPr>
        <p:txBody>
          <a:bodyPr/>
          <a:lstStyle/>
          <a:p>
            <a:r>
              <a:rPr lang="en-US" smtClean="0"/>
              <a:t>Copyright ©2012 Pearson Education</a:t>
            </a:r>
          </a:p>
        </p:txBody>
      </p:sp>
      <p:sp>
        <p:nvSpPr>
          <p:cNvPr id="372738" name="Rectangle 5"/>
          <p:cNvSpPr>
            <a:spLocks noGrp="1" noChangeArrowheads="1"/>
          </p:cNvSpPr>
          <p:nvPr>
            <p:ph type="sldNum" sz="quarter" idx="11"/>
          </p:nvPr>
        </p:nvSpPr>
        <p:spPr>
          <a:noFill/>
        </p:spPr>
        <p:txBody>
          <a:bodyPr/>
          <a:lstStyle/>
          <a:p>
            <a:r>
              <a:rPr lang="en-US" smtClean="0"/>
              <a:t>Chap 6-</a:t>
            </a:r>
            <a:fld id="{491FEE28-453D-4E61-BAF7-0D481E8741FB}" type="slidenum">
              <a:rPr lang="en-US" smtClean="0"/>
              <a:pPr/>
              <a:t>29</a:t>
            </a:fld>
            <a:endParaRPr lang="en-US" smtClean="0"/>
          </a:p>
        </p:txBody>
      </p:sp>
      <p:sp>
        <p:nvSpPr>
          <p:cNvPr id="372739"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965BE5F1-DBEB-495F-95F6-2FB32363FF74}" type="slidenum">
              <a:rPr lang="en-US" sz="1000"/>
              <a:pPr algn="r" defTabSz="852488"/>
              <a:t>29</a:t>
            </a:fld>
            <a:endParaRPr lang="en-US" sz="1000"/>
          </a:p>
        </p:txBody>
      </p:sp>
      <p:grpSp>
        <p:nvGrpSpPr>
          <p:cNvPr id="372740" name="Group 2"/>
          <p:cNvGrpSpPr>
            <a:grpSpLocks/>
          </p:cNvGrpSpPr>
          <p:nvPr/>
        </p:nvGrpSpPr>
        <p:grpSpPr bwMode="auto">
          <a:xfrm rot="-587800">
            <a:off x="3352800" y="4127500"/>
            <a:ext cx="1752600" cy="612775"/>
            <a:chOff x="1825" y="2398"/>
            <a:chExt cx="1728" cy="793"/>
          </a:xfrm>
        </p:grpSpPr>
        <p:sp>
          <p:nvSpPr>
            <p:cNvPr id="372797" name="Freeform 3"/>
            <p:cNvSpPr>
              <a:spLocks/>
            </p:cNvSpPr>
            <p:nvPr/>
          </p:nvSpPr>
          <p:spPr bwMode="auto">
            <a:xfrm>
              <a:off x="1827" y="2432"/>
              <a:ext cx="1726" cy="759"/>
            </a:xfrm>
            <a:custGeom>
              <a:avLst/>
              <a:gdLst>
                <a:gd name="T0" fmla="*/ 0 w 1726"/>
                <a:gd name="T1" fmla="*/ 386 h 759"/>
                <a:gd name="T2" fmla="*/ 86 w 1726"/>
                <a:gd name="T3" fmla="*/ 282 h 759"/>
                <a:gd name="T4" fmla="*/ 151 w 1726"/>
                <a:gd name="T5" fmla="*/ 227 h 759"/>
                <a:gd name="T6" fmla="*/ 224 w 1726"/>
                <a:gd name="T7" fmla="*/ 175 h 759"/>
                <a:gd name="T8" fmla="*/ 304 w 1726"/>
                <a:gd name="T9" fmla="*/ 134 h 759"/>
                <a:gd name="T10" fmla="*/ 394 w 1726"/>
                <a:gd name="T11" fmla="*/ 93 h 759"/>
                <a:gd name="T12" fmla="*/ 502 w 1726"/>
                <a:gd name="T13" fmla="*/ 57 h 759"/>
                <a:gd name="T14" fmla="*/ 646 w 1726"/>
                <a:gd name="T15" fmla="*/ 20 h 759"/>
                <a:gd name="T16" fmla="*/ 778 w 1726"/>
                <a:gd name="T17" fmla="*/ 6 h 759"/>
                <a:gd name="T18" fmla="*/ 896 w 1726"/>
                <a:gd name="T19" fmla="*/ 2 h 759"/>
                <a:gd name="T20" fmla="*/ 1021 w 1726"/>
                <a:gd name="T21" fmla="*/ 14 h 759"/>
                <a:gd name="T22" fmla="*/ 1132 w 1726"/>
                <a:gd name="T23" fmla="*/ 36 h 759"/>
                <a:gd name="T24" fmla="*/ 1236 w 1726"/>
                <a:gd name="T25" fmla="*/ 79 h 759"/>
                <a:gd name="T26" fmla="*/ 1342 w 1726"/>
                <a:gd name="T27" fmla="*/ 147 h 759"/>
                <a:gd name="T28" fmla="*/ 1426 w 1726"/>
                <a:gd name="T29" fmla="*/ 225 h 759"/>
                <a:gd name="T30" fmla="*/ 1472 w 1726"/>
                <a:gd name="T31" fmla="*/ 277 h 759"/>
                <a:gd name="T32" fmla="*/ 1594 w 1726"/>
                <a:gd name="T33" fmla="*/ 94 h 759"/>
                <a:gd name="T34" fmla="*/ 1596 w 1726"/>
                <a:gd name="T35" fmla="*/ 197 h 759"/>
                <a:gd name="T36" fmla="*/ 1605 w 1726"/>
                <a:gd name="T37" fmla="*/ 300 h 759"/>
                <a:gd name="T38" fmla="*/ 1624 w 1726"/>
                <a:gd name="T39" fmla="*/ 398 h 759"/>
                <a:gd name="T40" fmla="*/ 1651 w 1726"/>
                <a:gd name="T41" fmla="*/ 499 h 759"/>
                <a:gd name="T42" fmla="*/ 1706 w 1726"/>
                <a:gd name="T43" fmla="*/ 627 h 759"/>
                <a:gd name="T44" fmla="*/ 1685 w 1726"/>
                <a:gd name="T45" fmla="*/ 685 h 759"/>
                <a:gd name="T46" fmla="*/ 1601 w 1726"/>
                <a:gd name="T47" fmla="*/ 667 h 759"/>
                <a:gd name="T48" fmla="*/ 1534 w 1726"/>
                <a:gd name="T49" fmla="*/ 664 h 759"/>
                <a:gd name="T50" fmla="*/ 1469 w 1726"/>
                <a:gd name="T51" fmla="*/ 671 h 759"/>
                <a:gd name="T52" fmla="*/ 1403 w 1726"/>
                <a:gd name="T53" fmla="*/ 690 h 759"/>
                <a:gd name="T54" fmla="*/ 1330 w 1726"/>
                <a:gd name="T55" fmla="*/ 723 h 759"/>
                <a:gd name="T56" fmla="*/ 1259 w 1726"/>
                <a:gd name="T57" fmla="*/ 687 h 759"/>
                <a:gd name="T58" fmla="*/ 1345 w 1726"/>
                <a:gd name="T59" fmla="*/ 482 h 759"/>
                <a:gd name="T60" fmla="*/ 1237 w 1726"/>
                <a:gd name="T61" fmla="*/ 396 h 759"/>
                <a:gd name="T62" fmla="*/ 1131 w 1726"/>
                <a:gd name="T63" fmla="*/ 328 h 759"/>
                <a:gd name="T64" fmla="*/ 1036 w 1726"/>
                <a:gd name="T65" fmla="*/ 277 h 759"/>
                <a:gd name="T66" fmla="*/ 921 w 1726"/>
                <a:gd name="T67" fmla="*/ 232 h 759"/>
                <a:gd name="T68" fmla="*/ 811 w 1726"/>
                <a:gd name="T69" fmla="*/ 209 h 759"/>
                <a:gd name="T70" fmla="*/ 707 w 1726"/>
                <a:gd name="T71" fmla="*/ 195 h 759"/>
                <a:gd name="T72" fmla="*/ 587 w 1726"/>
                <a:gd name="T73" fmla="*/ 201 h 759"/>
                <a:gd name="T74" fmla="*/ 470 w 1726"/>
                <a:gd name="T75" fmla="*/ 211 h 759"/>
                <a:gd name="T76" fmla="*/ 334 w 1726"/>
                <a:gd name="T77" fmla="*/ 232 h 759"/>
                <a:gd name="T78" fmla="*/ 231 w 1726"/>
                <a:gd name="T79" fmla="*/ 266 h 759"/>
                <a:gd name="T80" fmla="*/ 158 w 1726"/>
                <a:gd name="T81" fmla="*/ 301 h 759"/>
                <a:gd name="T82" fmla="*/ 97 w 1726"/>
                <a:gd name="T83" fmla="*/ 343 h 75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726"/>
                <a:gd name="T127" fmla="*/ 0 h 759"/>
                <a:gd name="T128" fmla="*/ 1726 w 1726"/>
                <a:gd name="T129" fmla="*/ 759 h 75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726" h="759">
                  <a:moveTo>
                    <a:pt x="7" y="425"/>
                  </a:moveTo>
                  <a:lnTo>
                    <a:pt x="0" y="386"/>
                  </a:lnTo>
                  <a:lnTo>
                    <a:pt x="52" y="320"/>
                  </a:lnTo>
                  <a:lnTo>
                    <a:pt x="86" y="282"/>
                  </a:lnTo>
                  <a:lnTo>
                    <a:pt x="122" y="255"/>
                  </a:lnTo>
                  <a:lnTo>
                    <a:pt x="151" y="227"/>
                  </a:lnTo>
                  <a:lnTo>
                    <a:pt x="190" y="200"/>
                  </a:lnTo>
                  <a:lnTo>
                    <a:pt x="224" y="175"/>
                  </a:lnTo>
                  <a:lnTo>
                    <a:pt x="269" y="153"/>
                  </a:lnTo>
                  <a:lnTo>
                    <a:pt x="304" y="134"/>
                  </a:lnTo>
                  <a:lnTo>
                    <a:pt x="341" y="113"/>
                  </a:lnTo>
                  <a:lnTo>
                    <a:pt x="394" y="93"/>
                  </a:lnTo>
                  <a:lnTo>
                    <a:pt x="443" y="75"/>
                  </a:lnTo>
                  <a:lnTo>
                    <a:pt x="502" y="57"/>
                  </a:lnTo>
                  <a:lnTo>
                    <a:pt x="581" y="34"/>
                  </a:lnTo>
                  <a:lnTo>
                    <a:pt x="646" y="20"/>
                  </a:lnTo>
                  <a:lnTo>
                    <a:pt x="700" y="14"/>
                  </a:lnTo>
                  <a:lnTo>
                    <a:pt x="778" y="6"/>
                  </a:lnTo>
                  <a:lnTo>
                    <a:pt x="837" y="0"/>
                  </a:lnTo>
                  <a:lnTo>
                    <a:pt x="896" y="2"/>
                  </a:lnTo>
                  <a:lnTo>
                    <a:pt x="958" y="4"/>
                  </a:lnTo>
                  <a:lnTo>
                    <a:pt x="1021" y="14"/>
                  </a:lnTo>
                  <a:lnTo>
                    <a:pt x="1076" y="22"/>
                  </a:lnTo>
                  <a:lnTo>
                    <a:pt x="1132" y="36"/>
                  </a:lnTo>
                  <a:lnTo>
                    <a:pt x="1185" y="57"/>
                  </a:lnTo>
                  <a:lnTo>
                    <a:pt x="1236" y="79"/>
                  </a:lnTo>
                  <a:lnTo>
                    <a:pt x="1290" y="108"/>
                  </a:lnTo>
                  <a:lnTo>
                    <a:pt x="1342" y="147"/>
                  </a:lnTo>
                  <a:lnTo>
                    <a:pt x="1382" y="181"/>
                  </a:lnTo>
                  <a:lnTo>
                    <a:pt x="1426" y="225"/>
                  </a:lnTo>
                  <a:lnTo>
                    <a:pt x="1457" y="258"/>
                  </a:lnTo>
                  <a:lnTo>
                    <a:pt x="1472" y="277"/>
                  </a:lnTo>
                  <a:lnTo>
                    <a:pt x="1582" y="46"/>
                  </a:lnTo>
                  <a:lnTo>
                    <a:pt x="1594" y="94"/>
                  </a:lnTo>
                  <a:lnTo>
                    <a:pt x="1594" y="147"/>
                  </a:lnTo>
                  <a:lnTo>
                    <a:pt x="1596" y="197"/>
                  </a:lnTo>
                  <a:lnTo>
                    <a:pt x="1600" y="247"/>
                  </a:lnTo>
                  <a:lnTo>
                    <a:pt x="1605" y="300"/>
                  </a:lnTo>
                  <a:lnTo>
                    <a:pt x="1615" y="354"/>
                  </a:lnTo>
                  <a:lnTo>
                    <a:pt x="1624" y="398"/>
                  </a:lnTo>
                  <a:lnTo>
                    <a:pt x="1637" y="450"/>
                  </a:lnTo>
                  <a:lnTo>
                    <a:pt x="1651" y="499"/>
                  </a:lnTo>
                  <a:lnTo>
                    <a:pt x="1671" y="561"/>
                  </a:lnTo>
                  <a:lnTo>
                    <a:pt x="1706" y="627"/>
                  </a:lnTo>
                  <a:lnTo>
                    <a:pt x="1725" y="698"/>
                  </a:lnTo>
                  <a:lnTo>
                    <a:pt x="1685" y="685"/>
                  </a:lnTo>
                  <a:lnTo>
                    <a:pt x="1646" y="676"/>
                  </a:lnTo>
                  <a:lnTo>
                    <a:pt x="1601" y="667"/>
                  </a:lnTo>
                  <a:lnTo>
                    <a:pt x="1559" y="663"/>
                  </a:lnTo>
                  <a:lnTo>
                    <a:pt x="1534" y="664"/>
                  </a:lnTo>
                  <a:lnTo>
                    <a:pt x="1507" y="666"/>
                  </a:lnTo>
                  <a:lnTo>
                    <a:pt x="1469" y="671"/>
                  </a:lnTo>
                  <a:lnTo>
                    <a:pt x="1434" y="681"/>
                  </a:lnTo>
                  <a:lnTo>
                    <a:pt x="1403" y="690"/>
                  </a:lnTo>
                  <a:lnTo>
                    <a:pt x="1367" y="707"/>
                  </a:lnTo>
                  <a:lnTo>
                    <a:pt x="1330" y="723"/>
                  </a:lnTo>
                  <a:lnTo>
                    <a:pt x="1277" y="758"/>
                  </a:lnTo>
                  <a:lnTo>
                    <a:pt x="1259" y="687"/>
                  </a:lnTo>
                  <a:lnTo>
                    <a:pt x="1362" y="500"/>
                  </a:lnTo>
                  <a:lnTo>
                    <a:pt x="1345" y="482"/>
                  </a:lnTo>
                  <a:lnTo>
                    <a:pt x="1286" y="434"/>
                  </a:lnTo>
                  <a:lnTo>
                    <a:pt x="1237" y="396"/>
                  </a:lnTo>
                  <a:lnTo>
                    <a:pt x="1172" y="350"/>
                  </a:lnTo>
                  <a:lnTo>
                    <a:pt x="1131" y="328"/>
                  </a:lnTo>
                  <a:lnTo>
                    <a:pt x="1092" y="305"/>
                  </a:lnTo>
                  <a:lnTo>
                    <a:pt x="1036" y="277"/>
                  </a:lnTo>
                  <a:lnTo>
                    <a:pt x="982" y="251"/>
                  </a:lnTo>
                  <a:lnTo>
                    <a:pt x="921" y="232"/>
                  </a:lnTo>
                  <a:lnTo>
                    <a:pt x="868" y="219"/>
                  </a:lnTo>
                  <a:lnTo>
                    <a:pt x="811" y="209"/>
                  </a:lnTo>
                  <a:lnTo>
                    <a:pt x="753" y="197"/>
                  </a:lnTo>
                  <a:lnTo>
                    <a:pt x="707" y="195"/>
                  </a:lnTo>
                  <a:lnTo>
                    <a:pt x="647" y="196"/>
                  </a:lnTo>
                  <a:lnTo>
                    <a:pt x="587" y="201"/>
                  </a:lnTo>
                  <a:lnTo>
                    <a:pt x="531" y="204"/>
                  </a:lnTo>
                  <a:lnTo>
                    <a:pt x="470" y="211"/>
                  </a:lnTo>
                  <a:lnTo>
                    <a:pt x="401" y="222"/>
                  </a:lnTo>
                  <a:lnTo>
                    <a:pt x="334" y="232"/>
                  </a:lnTo>
                  <a:lnTo>
                    <a:pt x="273" y="254"/>
                  </a:lnTo>
                  <a:lnTo>
                    <a:pt x="231" y="266"/>
                  </a:lnTo>
                  <a:lnTo>
                    <a:pt x="189" y="284"/>
                  </a:lnTo>
                  <a:lnTo>
                    <a:pt x="158" y="301"/>
                  </a:lnTo>
                  <a:lnTo>
                    <a:pt x="126" y="322"/>
                  </a:lnTo>
                  <a:lnTo>
                    <a:pt x="97" y="343"/>
                  </a:lnTo>
                  <a:lnTo>
                    <a:pt x="7" y="425"/>
                  </a:lnTo>
                </a:path>
              </a:pathLst>
            </a:custGeom>
            <a:solidFill>
              <a:srgbClr val="C7DAF7"/>
            </a:solidFill>
            <a:ln w="12700" cap="rnd">
              <a:solidFill>
                <a:srgbClr val="000000"/>
              </a:solidFill>
              <a:round/>
              <a:headEnd/>
              <a:tailEnd/>
            </a:ln>
          </p:spPr>
          <p:txBody>
            <a:bodyPr/>
            <a:lstStyle/>
            <a:p>
              <a:endParaRPr lang="en-GB"/>
            </a:p>
          </p:txBody>
        </p:sp>
        <p:sp>
          <p:nvSpPr>
            <p:cNvPr id="372798" name="Freeform 4"/>
            <p:cNvSpPr>
              <a:spLocks/>
            </p:cNvSpPr>
            <p:nvPr/>
          </p:nvSpPr>
          <p:spPr bwMode="auto">
            <a:xfrm>
              <a:off x="1825" y="2398"/>
              <a:ext cx="1708" cy="718"/>
            </a:xfrm>
            <a:custGeom>
              <a:avLst/>
              <a:gdLst>
                <a:gd name="T0" fmla="*/ 57 w 1708"/>
                <a:gd name="T1" fmla="*/ 326 h 718"/>
                <a:gd name="T2" fmla="*/ 117 w 1708"/>
                <a:gd name="T3" fmla="*/ 264 h 718"/>
                <a:gd name="T4" fmla="*/ 183 w 1708"/>
                <a:gd name="T5" fmla="*/ 210 h 718"/>
                <a:gd name="T6" fmla="*/ 263 w 1708"/>
                <a:gd name="T7" fmla="*/ 156 h 718"/>
                <a:gd name="T8" fmla="*/ 336 w 1708"/>
                <a:gd name="T9" fmla="*/ 117 h 718"/>
                <a:gd name="T10" fmla="*/ 438 w 1708"/>
                <a:gd name="T11" fmla="*/ 79 h 718"/>
                <a:gd name="T12" fmla="*/ 575 w 1708"/>
                <a:gd name="T13" fmla="*/ 37 h 718"/>
                <a:gd name="T14" fmla="*/ 694 w 1708"/>
                <a:gd name="T15" fmla="*/ 16 h 718"/>
                <a:gd name="T16" fmla="*/ 831 w 1708"/>
                <a:gd name="T17" fmla="*/ 0 h 718"/>
                <a:gd name="T18" fmla="*/ 951 w 1708"/>
                <a:gd name="T19" fmla="*/ 2 h 718"/>
                <a:gd name="T20" fmla="*/ 1069 w 1708"/>
                <a:gd name="T21" fmla="*/ 17 h 718"/>
                <a:gd name="T22" fmla="*/ 1176 w 1708"/>
                <a:gd name="T23" fmla="*/ 49 h 718"/>
                <a:gd name="T24" fmla="*/ 1280 w 1708"/>
                <a:gd name="T25" fmla="*/ 96 h 718"/>
                <a:gd name="T26" fmla="*/ 1371 w 1708"/>
                <a:gd name="T27" fmla="*/ 164 h 718"/>
                <a:gd name="T28" fmla="*/ 1445 w 1708"/>
                <a:gd name="T29" fmla="*/ 236 h 718"/>
                <a:gd name="T30" fmla="*/ 1583 w 1708"/>
                <a:gd name="T31" fmla="*/ 78 h 718"/>
                <a:gd name="T32" fmla="*/ 1583 w 1708"/>
                <a:gd name="T33" fmla="*/ 176 h 718"/>
                <a:gd name="T34" fmla="*/ 1592 w 1708"/>
                <a:gd name="T35" fmla="*/ 274 h 718"/>
                <a:gd name="T36" fmla="*/ 1609 w 1708"/>
                <a:gd name="T37" fmla="*/ 368 h 718"/>
                <a:gd name="T38" fmla="*/ 1635 w 1708"/>
                <a:gd name="T39" fmla="*/ 464 h 718"/>
                <a:gd name="T40" fmla="*/ 1674 w 1708"/>
                <a:gd name="T41" fmla="*/ 576 h 718"/>
                <a:gd name="T42" fmla="*/ 1707 w 1708"/>
                <a:gd name="T43" fmla="*/ 656 h 718"/>
                <a:gd name="T44" fmla="*/ 1628 w 1708"/>
                <a:gd name="T45" fmla="*/ 634 h 718"/>
                <a:gd name="T46" fmla="*/ 1542 w 1708"/>
                <a:gd name="T47" fmla="*/ 623 h 718"/>
                <a:gd name="T48" fmla="*/ 1491 w 1708"/>
                <a:gd name="T49" fmla="*/ 626 h 718"/>
                <a:gd name="T50" fmla="*/ 1417 w 1708"/>
                <a:gd name="T51" fmla="*/ 641 h 718"/>
                <a:gd name="T52" fmla="*/ 1350 w 1708"/>
                <a:gd name="T53" fmla="*/ 668 h 718"/>
                <a:gd name="T54" fmla="*/ 1260 w 1708"/>
                <a:gd name="T55" fmla="*/ 717 h 718"/>
                <a:gd name="T56" fmla="*/ 1332 w 1708"/>
                <a:gd name="T57" fmla="*/ 453 h 718"/>
                <a:gd name="T58" fmla="*/ 1224 w 1708"/>
                <a:gd name="T59" fmla="*/ 372 h 718"/>
                <a:gd name="T60" fmla="*/ 1119 w 1708"/>
                <a:gd name="T61" fmla="*/ 308 h 718"/>
                <a:gd name="T62" fmla="*/ 1026 w 1708"/>
                <a:gd name="T63" fmla="*/ 261 h 718"/>
                <a:gd name="T64" fmla="*/ 911 w 1708"/>
                <a:gd name="T65" fmla="*/ 220 h 718"/>
                <a:gd name="T66" fmla="*/ 802 w 1708"/>
                <a:gd name="T67" fmla="*/ 200 h 718"/>
                <a:gd name="T68" fmla="*/ 699 w 1708"/>
                <a:gd name="T69" fmla="*/ 189 h 718"/>
                <a:gd name="T70" fmla="*/ 579 w 1708"/>
                <a:gd name="T71" fmla="*/ 196 h 718"/>
                <a:gd name="T72" fmla="*/ 462 w 1708"/>
                <a:gd name="T73" fmla="*/ 208 h 718"/>
                <a:gd name="T74" fmla="*/ 327 w 1708"/>
                <a:gd name="T75" fmla="*/ 230 h 718"/>
                <a:gd name="T76" fmla="*/ 224 w 1708"/>
                <a:gd name="T77" fmla="*/ 263 h 718"/>
                <a:gd name="T78" fmla="*/ 148 w 1708"/>
                <a:gd name="T79" fmla="*/ 299 h 718"/>
                <a:gd name="T80" fmla="*/ 91 w 1708"/>
                <a:gd name="T81" fmla="*/ 340 h 7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8"/>
                <a:gd name="T124" fmla="*/ 0 h 718"/>
                <a:gd name="T125" fmla="*/ 1708 w 1708"/>
                <a:gd name="T126" fmla="*/ 718 h 7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8" h="718">
                  <a:moveTo>
                    <a:pt x="0" y="421"/>
                  </a:moveTo>
                  <a:lnTo>
                    <a:pt x="57" y="326"/>
                  </a:lnTo>
                  <a:lnTo>
                    <a:pt x="84" y="296"/>
                  </a:lnTo>
                  <a:lnTo>
                    <a:pt x="117" y="264"/>
                  </a:lnTo>
                  <a:lnTo>
                    <a:pt x="146" y="239"/>
                  </a:lnTo>
                  <a:lnTo>
                    <a:pt x="183" y="210"/>
                  </a:lnTo>
                  <a:lnTo>
                    <a:pt x="219" y="183"/>
                  </a:lnTo>
                  <a:lnTo>
                    <a:pt x="263" y="156"/>
                  </a:lnTo>
                  <a:lnTo>
                    <a:pt x="299" y="137"/>
                  </a:lnTo>
                  <a:lnTo>
                    <a:pt x="336" y="117"/>
                  </a:lnTo>
                  <a:lnTo>
                    <a:pt x="388" y="95"/>
                  </a:lnTo>
                  <a:lnTo>
                    <a:pt x="438" y="79"/>
                  </a:lnTo>
                  <a:lnTo>
                    <a:pt x="496" y="61"/>
                  </a:lnTo>
                  <a:lnTo>
                    <a:pt x="575" y="37"/>
                  </a:lnTo>
                  <a:lnTo>
                    <a:pt x="640" y="23"/>
                  </a:lnTo>
                  <a:lnTo>
                    <a:pt x="694" y="16"/>
                  </a:lnTo>
                  <a:lnTo>
                    <a:pt x="771" y="6"/>
                  </a:lnTo>
                  <a:lnTo>
                    <a:pt x="831" y="0"/>
                  </a:lnTo>
                  <a:lnTo>
                    <a:pt x="889" y="1"/>
                  </a:lnTo>
                  <a:lnTo>
                    <a:pt x="951" y="2"/>
                  </a:lnTo>
                  <a:lnTo>
                    <a:pt x="1013" y="10"/>
                  </a:lnTo>
                  <a:lnTo>
                    <a:pt x="1069" y="17"/>
                  </a:lnTo>
                  <a:lnTo>
                    <a:pt x="1124" y="30"/>
                  </a:lnTo>
                  <a:lnTo>
                    <a:pt x="1176" y="49"/>
                  </a:lnTo>
                  <a:lnTo>
                    <a:pt x="1228" y="69"/>
                  </a:lnTo>
                  <a:lnTo>
                    <a:pt x="1280" y="96"/>
                  </a:lnTo>
                  <a:lnTo>
                    <a:pt x="1332" y="132"/>
                  </a:lnTo>
                  <a:lnTo>
                    <a:pt x="1371" y="164"/>
                  </a:lnTo>
                  <a:lnTo>
                    <a:pt x="1414" y="205"/>
                  </a:lnTo>
                  <a:lnTo>
                    <a:pt x="1445" y="236"/>
                  </a:lnTo>
                  <a:lnTo>
                    <a:pt x="1488" y="281"/>
                  </a:lnTo>
                  <a:lnTo>
                    <a:pt x="1583" y="78"/>
                  </a:lnTo>
                  <a:lnTo>
                    <a:pt x="1582" y="129"/>
                  </a:lnTo>
                  <a:lnTo>
                    <a:pt x="1583" y="176"/>
                  </a:lnTo>
                  <a:lnTo>
                    <a:pt x="1587" y="224"/>
                  </a:lnTo>
                  <a:lnTo>
                    <a:pt x="1592" y="274"/>
                  </a:lnTo>
                  <a:lnTo>
                    <a:pt x="1601" y="326"/>
                  </a:lnTo>
                  <a:lnTo>
                    <a:pt x="1609" y="368"/>
                  </a:lnTo>
                  <a:lnTo>
                    <a:pt x="1622" y="417"/>
                  </a:lnTo>
                  <a:lnTo>
                    <a:pt x="1635" y="464"/>
                  </a:lnTo>
                  <a:lnTo>
                    <a:pt x="1655" y="523"/>
                  </a:lnTo>
                  <a:lnTo>
                    <a:pt x="1674" y="576"/>
                  </a:lnTo>
                  <a:lnTo>
                    <a:pt x="1689" y="611"/>
                  </a:lnTo>
                  <a:lnTo>
                    <a:pt x="1707" y="656"/>
                  </a:lnTo>
                  <a:lnTo>
                    <a:pt x="1668" y="643"/>
                  </a:lnTo>
                  <a:lnTo>
                    <a:pt x="1628" y="634"/>
                  </a:lnTo>
                  <a:lnTo>
                    <a:pt x="1583" y="626"/>
                  </a:lnTo>
                  <a:lnTo>
                    <a:pt x="1542" y="623"/>
                  </a:lnTo>
                  <a:lnTo>
                    <a:pt x="1516" y="623"/>
                  </a:lnTo>
                  <a:lnTo>
                    <a:pt x="1491" y="626"/>
                  </a:lnTo>
                  <a:lnTo>
                    <a:pt x="1452" y="632"/>
                  </a:lnTo>
                  <a:lnTo>
                    <a:pt x="1417" y="641"/>
                  </a:lnTo>
                  <a:lnTo>
                    <a:pt x="1386" y="650"/>
                  </a:lnTo>
                  <a:lnTo>
                    <a:pt x="1350" y="668"/>
                  </a:lnTo>
                  <a:lnTo>
                    <a:pt x="1313" y="684"/>
                  </a:lnTo>
                  <a:lnTo>
                    <a:pt x="1260" y="717"/>
                  </a:lnTo>
                  <a:lnTo>
                    <a:pt x="1381" y="493"/>
                  </a:lnTo>
                  <a:lnTo>
                    <a:pt x="1332" y="453"/>
                  </a:lnTo>
                  <a:lnTo>
                    <a:pt x="1274" y="408"/>
                  </a:lnTo>
                  <a:lnTo>
                    <a:pt x="1224" y="372"/>
                  </a:lnTo>
                  <a:lnTo>
                    <a:pt x="1160" y="330"/>
                  </a:lnTo>
                  <a:lnTo>
                    <a:pt x="1119" y="308"/>
                  </a:lnTo>
                  <a:lnTo>
                    <a:pt x="1081" y="287"/>
                  </a:lnTo>
                  <a:lnTo>
                    <a:pt x="1026" y="261"/>
                  </a:lnTo>
                  <a:lnTo>
                    <a:pt x="972" y="238"/>
                  </a:lnTo>
                  <a:lnTo>
                    <a:pt x="911" y="220"/>
                  </a:lnTo>
                  <a:lnTo>
                    <a:pt x="859" y="209"/>
                  </a:lnTo>
                  <a:lnTo>
                    <a:pt x="802" y="200"/>
                  </a:lnTo>
                  <a:lnTo>
                    <a:pt x="744" y="190"/>
                  </a:lnTo>
                  <a:lnTo>
                    <a:pt x="699" y="189"/>
                  </a:lnTo>
                  <a:lnTo>
                    <a:pt x="640" y="191"/>
                  </a:lnTo>
                  <a:lnTo>
                    <a:pt x="579" y="196"/>
                  </a:lnTo>
                  <a:lnTo>
                    <a:pt x="523" y="200"/>
                  </a:lnTo>
                  <a:lnTo>
                    <a:pt x="462" y="208"/>
                  </a:lnTo>
                  <a:lnTo>
                    <a:pt x="393" y="218"/>
                  </a:lnTo>
                  <a:lnTo>
                    <a:pt x="327" y="230"/>
                  </a:lnTo>
                  <a:lnTo>
                    <a:pt x="267" y="252"/>
                  </a:lnTo>
                  <a:lnTo>
                    <a:pt x="224" y="263"/>
                  </a:lnTo>
                  <a:lnTo>
                    <a:pt x="182" y="281"/>
                  </a:lnTo>
                  <a:lnTo>
                    <a:pt x="148" y="299"/>
                  </a:lnTo>
                  <a:lnTo>
                    <a:pt x="117" y="317"/>
                  </a:lnTo>
                  <a:lnTo>
                    <a:pt x="91" y="340"/>
                  </a:lnTo>
                  <a:lnTo>
                    <a:pt x="0" y="421"/>
                  </a:lnTo>
                </a:path>
              </a:pathLst>
            </a:custGeom>
            <a:solidFill>
              <a:srgbClr val="C7DAF7"/>
            </a:solidFill>
            <a:ln w="12700" cap="rnd">
              <a:solidFill>
                <a:srgbClr val="000000"/>
              </a:solidFill>
              <a:round/>
              <a:headEnd/>
              <a:tailEnd/>
            </a:ln>
          </p:spPr>
          <p:txBody>
            <a:bodyPr/>
            <a:lstStyle/>
            <a:p>
              <a:endParaRPr lang="en-GB"/>
            </a:p>
          </p:txBody>
        </p:sp>
      </p:grpSp>
      <p:sp>
        <p:nvSpPr>
          <p:cNvPr id="372741" name="Rectangle 5"/>
          <p:cNvSpPr>
            <a:spLocks noGrp="1" noChangeArrowheads="1"/>
          </p:cNvSpPr>
          <p:nvPr>
            <p:ph type="title"/>
          </p:nvPr>
        </p:nvSpPr>
        <p:spPr>
          <a:xfrm>
            <a:off x="1773238" y="320675"/>
            <a:ext cx="6624637" cy="858838"/>
          </a:xfrm>
        </p:spPr>
        <p:txBody>
          <a:bodyPr/>
          <a:lstStyle/>
          <a:p>
            <a:pPr eaLnBrk="1" hangingPunct="1">
              <a:lnSpc>
                <a:spcPct val="80000"/>
              </a:lnSpc>
            </a:pPr>
            <a:r>
              <a:rPr lang="en-US" smtClean="0"/>
              <a:t>Find the Z-value for </a:t>
            </a:r>
            <a:br>
              <a:rPr lang="en-US" smtClean="0"/>
            </a:br>
            <a:r>
              <a:rPr lang="en-US" smtClean="0"/>
              <a:t>20% in the Lower Tail</a:t>
            </a:r>
          </a:p>
        </p:txBody>
      </p:sp>
      <p:sp>
        <p:nvSpPr>
          <p:cNvPr id="372742" name="Rectangle 6"/>
          <p:cNvSpPr>
            <a:spLocks noGrp="1" noChangeArrowheads="1"/>
          </p:cNvSpPr>
          <p:nvPr>
            <p:ph type="body" idx="1"/>
          </p:nvPr>
        </p:nvSpPr>
        <p:spPr>
          <a:xfrm>
            <a:off x="4800600" y="2325688"/>
            <a:ext cx="4114800" cy="4532312"/>
          </a:xfrm>
        </p:spPr>
        <p:txBody>
          <a:bodyPr/>
          <a:lstStyle/>
          <a:p>
            <a:pPr eaLnBrk="1" hangingPunct="1"/>
            <a:r>
              <a:rPr lang="en-US" smtClean="0"/>
              <a:t>20% area in the lower tail is consistent with a Z-value of </a:t>
            </a:r>
            <a:r>
              <a:rPr lang="en-US" smtClean="0">
                <a:solidFill>
                  <a:srgbClr val="00B082"/>
                </a:solidFill>
              </a:rPr>
              <a:t>-0.84</a:t>
            </a:r>
          </a:p>
        </p:txBody>
      </p:sp>
      <p:sp>
        <p:nvSpPr>
          <p:cNvPr id="372743" name="Rectangle 7"/>
          <p:cNvSpPr>
            <a:spLocks noChangeArrowheads="1"/>
          </p:cNvSpPr>
          <p:nvPr/>
        </p:nvSpPr>
        <p:spPr bwMode="auto">
          <a:xfrm>
            <a:off x="304800" y="3194050"/>
            <a:ext cx="685800" cy="69215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72744" name="Rectangle 8"/>
          <p:cNvSpPr>
            <a:spLocks noChangeArrowheads="1"/>
          </p:cNvSpPr>
          <p:nvPr/>
        </p:nvSpPr>
        <p:spPr bwMode="auto">
          <a:xfrm>
            <a:off x="474663" y="3267075"/>
            <a:ext cx="374650" cy="469900"/>
          </a:xfrm>
          <a:prstGeom prst="rect">
            <a:avLst/>
          </a:prstGeom>
          <a:noFill/>
          <a:ln w="12700">
            <a:noFill/>
            <a:miter lim="800000"/>
            <a:headEnd/>
            <a:tailEnd/>
          </a:ln>
        </p:spPr>
        <p:txBody>
          <a:bodyPr wrap="none" lIns="90487" tIns="44450" rIns="90487" bIns="44450">
            <a:spAutoFit/>
          </a:bodyPr>
          <a:lstStyle/>
          <a:p>
            <a:pPr eaLnBrk="0" hangingPunct="0"/>
            <a:r>
              <a:rPr lang="en-US" sz="2500"/>
              <a:t>Z</a:t>
            </a:r>
          </a:p>
        </p:txBody>
      </p:sp>
      <p:sp>
        <p:nvSpPr>
          <p:cNvPr id="372745" name="Rectangle 9"/>
          <p:cNvSpPr>
            <a:spLocks noChangeArrowheads="1"/>
          </p:cNvSpPr>
          <p:nvPr/>
        </p:nvSpPr>
        <p:spPr bwMode="auto">
          <a:xfrm>
            <a:off x="990600" y="3194050"/>
            <a:ext cx="914400" cy="69215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72746" name="Rectangle 10"/>
          <p:cNvSpPr>
            <a:spLocks noChangeArrowheads="1"/>
          </p:cNvSpPr>
          <p:nvPr/>
        </p:nvSpPr>
        <p:spPr bwMode="auto">
          <a:xfrm>
            <a:off x="1631950" y="3194050"/>
            <a:ext cx="990600" cy="69215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72747" name="Rectangle 11"/>
          <p:cNvSpPr>
            <a:spLocks noChangeArrowheads="1"/>
          </p:cNvSpPr>
          <p:nvPr/>
        </p:nvSpPr>
        <p:spPr bwMode="auto">
          <a:xfrm>
            <a:off x="1779588" y="3267075"/>
            <a:ext cx="622300" cy="469900"/>
          </a:xfrm>
          <a:prstGeom prst="rect">
            <a:avLst/>
          </a:prstGeom>
          <a:noFill/>
          <a:ln w="12700">
            <a:noFill/>
            <a:miter lim="800000"/>
            <a:headEnd/>
            <a:tailEnd/>
          </a:ln>
        </p:spPr>
        <p:txBody>
          <a:bodyPr wrap="none" lIns="90487" tIns="44450" rIns="90487" bIns="44450">
            <a:spAutoFit/>
          </a:bodyPr>
          <a:lstStyle/>
          <a:p>
            <a:pPr eaLnBrk="0" hangingPunct="0"/>
            <a:r>
              <a:rPr lang="en-US" sz="2500"/>
              <a:t>.03</a:t>
            </a:r>
          </a:p>
        </p:txBody>
      </p:sp>
      <p:sp>
        <p:nvSpPr>
          <p:cNvPr id="372748" name="Rectangle 12"/>
          <p:cNvSpPr>
            <a:spLocks noChangeArrowheads="1"/>
          </p:cNvSpPr>
          <p:nvPr/>
        </p:nvSpPr>
        <p:spPr bwMode="auto">
          <a:xfrm>
            <a:off x="2622550" y="3194050"/>
            <a:ext cx="942975" cy="692150"/>
          </a:xfrm>
          <a:prstGeom prst="rect">
            <a:avLst/>
          </a:prstGeom>
          <a:solidFill>
            <a:srgbClr val="969696"/>
          </a:solidFill>
          <a:ln w="12700">
            <a:noFill/>
            <a:miter lim="800000"/>
            <a:headEnd/>
            <a:tailEnd/>
          </a:ln>
        </p:spPr>
        <p:txBody>
          <a:bodyPr wrap="none" anchor="ctr"/>
          <a:lstStyle/>
          <a:p>
            <a:pPr algn="ctr">
              <a:spcBef>
                <a:spcPct val="50000"/>
              </a:spcBef>
            </a:pPr>
            <a:endParaRPr lang="en-GB"/>
          </a:p>
        </p:txBody>
      </p:sp>
      <p:sp>
        <p:nvSpPr>
          <p:cNvPr id="372749" name="Rectangle 13"/>
          <p:cNvSpPr>
            <a:spLocks noChangeArrowheads="1"/>
          </p:cNvSpPr>
          <p:nvPr/>
        </p:nvSpPr>
        <p:spPr bwMode="auto">
          <a:xfrm>
            <a:off x="304800" y="3863975"/>
            <a:ext cx="685800" cy="631825"/>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72750" name="Rectangle 14"/>
          <p:cNvSpPr>
            <a:spLocks noChangeArrowheads="1"/>
          </p:cNvSpPr>
          <p:nvPr/>
        </p:nvSpPr>
        <p:spPr bwMode="auto">
          <a:xfrm>
            <a:off x="273050" y="3937000"/>
            <a:ext cx="728663" cy="469900"/>
          </a:xfrm>
          <a:prstGeom prst="rect">
            <a:avLst/>
          </a:prstGeom>
          <a:noFill/>
          <a:ln w="12700">
            <a:noFill/>
            <a:miter lim="800000"/>
            <a:headEnd/>
            <a:tailEnd/>
          </a:ln>
        </p:spPr>
        <p:txBody>
          <a:bodyPr wrap="none" lIns="90487" tIns="44450" rIns="90487" bIns="44450">
            <a:spAutoFit/>
          </a:bodyPr>
          <a:lstStyle/>
          <a:p>
            <a:pPr eaLnBrk="0" hangingPunct="0"/>
            <a:r>
              <a:rPr lang="en-US" sz="2500"/>
              <a:t>-0.9</a:t>
            </a:r>
          </a:p>
        </p:txBody>
      </p:sp>
      <p:sp>
        <p:nvSpPr>
          <p:cNvPr id="372751" name="Rectangle 15"/>
          <p:cNvSpPr>
            <a:spLocks noChangeArrowheads="1"/>
          </p:cNvSpPr>
          <p:nvPr/>
        </p:nvSpPr>
        <p:spPr bwMode="auto">
          <a:xfrm>
            <a:off x="1601788" y="393700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.1762</a:t>
            </a:r>
          </a:p>
        </p:txBody>
      </p:sp>
      <p:sp>
        <p:nvSpPr>
          <p:cNvPr id="372752" name="Rectangle 16"/>
          <p:cNvSpPr>
            <a:spLocks noChangeArrowheads="1"/>
          </p:cNvSpPr>
          <p:nvPr/>
        </p:nvSpPr>
        <p:spPr bwMode="auto">
          <a:xfrm>
            <a:off x="2570163" y="393700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.1736</a:t>
            </a:r>
          </a:p>
        </p:txBody>
      </p:sp>
      <p:sp>
        <p:nvSpPr>
          <p:cNvPr id="372753" name="Rectangle 17"/>
          <p:cNvSpPr>
            <a:spLocks noChangeArrowheads="1"/>
          </p:cNvSpPr>
          <p:nvPr/>
        </p:nvSpPr>
        <p:spPr bwMode="auto">
          <a:xfrm>
            <a:off x="304800" y="4495800"/>
            <a:ext cx="685800" cy="685800"/>
          </a:xfrm>
          <a:prstGeom prst="rect">
            <a:avLst/>
          </a:prstGeom>
          <a:solidFill>
            <a:srgbClr val="969696"/>
          </a:solidFill>
          <a:ln w="12700">
            <a:noFill/>
            <a:miter lim="800000"/>
            <a:headEnd/>
            <a:tailEnd/>
          </a:ln>
        </p:spPr>
        <p:txBody>
          <a:bodyPr wrap="none" anchor="ctr"/>
          <a:lstStyle/>
          <a:p>
            <a:pPr algn="ctr">
              <a:spcBef>
                <a:spcPct val="50000"/>
              </a:spcBef>
            </a:pPr>
            <a:endParaRPr lang="en-GB"/>
          </a:p>
        </p:txBody>
      </p:sp>
      <p:sp>
        <p:nvSpPr>
          <p:cNvPr id="372754" name="Rectangle 18"/>
          <p:cNvSpPr>
            <a:spLocks noChangeArrowheads="1"/>
          </p:cNvSpPr>
          <p:nvPr/>
        </p:nvSpPr>
        <p:spPr bwMode="auto">
          <a:xfrm>
            <a:off x="1600200" y="461645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.2033</a:t>
            </a:r>
          </a:p>
        </p:txBody>
      </p:sp>
      <p:sp>
        <p:nvSpPr>
          <p:cNvPr id="372755" name="Rectangle 19"/>
          <p:cNvSpPr>
            <a:spLocks noChangeArrowheads="1"/>
          </p:cNvSpPr>
          <p:nvPr/>
        </p:nvSpPr>
        <p:spPr bwMode="auto">
          <a:xfrm>
            <a:off x="2620963" y="4524375"/>
            <a:ext cx="944562" cy="642938"/>
          </a:xfrm>
          <a:prstGeom prst="rect">
            <a:avLst/>
          </a:prstGeom>
          <a:noFill/>
          <a:ln w="12700">
            <a:noFill/>
            <a:miter lim="800000"/>
            <a:headEnd/>
            <a:tailEnd/>
          </a:ln>
        </p:spPr>
        <p:txBody>
          <a:bodyPr wrap="none" anchor="ctr"/>
          <a:lstStyle/>
          <a:p>
            <a:pPr algn="ctr">
              <a:spcBef>
                <a:spcPct val="50000"/>
              </a:spcBef>
            </a:pPr>
            <a:endParaRPr lang="en-GB"/>
          </a:p>
        </p:txBody>
      </p:sp>
      <p:sp>
        <p:nvSpPr>
          <p:cNvPr id="372756" name="Rectangle 20"/>
          <p:cNvSpPr>
            <a:spLocks noChangeArrowheads="1"/>
          </p:cNvSpPr>
          <p:nvPr/>
        </p:nvSpPr>
        <p:spPr bwMode="auto">
          <a:xfrm>
            <a:off x="304800" y="5181600"/>
            <a:ext cx="685800" cy="68580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72757" name="Rectangle 21"/>
          <p:cNvSpPr>
            <a:spLocks noChangeArrowheads="1"/>
          </p:cNvSpPr>
          <p:nvPr/>
        </p:nvSpPr>
        <p:spPr bwMode="auto">
          <a:xfrm>
            <a:off x="273050" y="5267325"/>
            <a:ext cx="728663" cy="469900"/>
          </a:xfrm>
          <a:prstGeom prst="rect">
            <a:avLst/>
          </a:prstGeom>
          <a:noFill/>
          <a:ln w="12700">
            <a:noFill/>
            <a:miter lim="800000"/>
            <a:headEnd/>
            <a:tailEnd/>
          </a:ln>
        </p:spPr>
        <p:txBody>
          <a:bodyPr wrap="none" lIns="90487" tIns="44450" rIns="90487" bIns="44450">
            <a:spAutoFit/>
          </a:bodyPr>
          <a:lstStyle/>
          <a:p>
            <a:pPr eaLnBrk="0" hangingPunct="0"/>
            <a:r>
              <a:rPr lang="en-US" sz="2500"/>
              <a:t>-0.7</a:t>
            </a:r>
          </a:p>
        </p:txBody>
      </p:sp>
      <p:sp>
        <p:nvSpPr>
          <p:cNvPr id="372758" name="Rectangle 22"/>
          <p:cNvSpPr>
            <a:spLocks noChangeArrowheads="1"/>
          </p:cNvSpPr>
          <p:nvPr/>
        </p:nvSpPr>
        <p:spPr bwMode="auto">
          <a:xfrm>
            <a:off x="1601788" y="52673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.2327</a:t>
            </a:r>
          </a:p>
        </p:txBody>
      </p:sp>
      <p:sp>
        <p:nvSpPr>
          <p:cNvPr id="372759" name="Rectangle 23"/>
          <p:cNvSpPr>
            <a:spLocks noChangeArrowheads="1"/>
          </p:cNvSpPr>
          <p:nvPr/>
        </p:nvSpPr>
        <p:spPr bwMode="auto">
          <a:xfrm>
            <a:off x="2570163" y="526732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.2296</a:t>
            </a:r>
          </a:p>
        </p:txBody>
      </p:sp>
      <p:sp>
        <p:nvSpPr>
          <p:cNvPr id="372760" name="Rectangle 24"/>
          <p:cNvSpPr>
            <a:spLocks noChangeArrowheads="1"/>
          </p:cNvSpPr>
          <p:nvPr/>
        </p:nvSpPr>
        <p:spPr bwMode="auto">
          <a:xfrm>
            <a:off x="2743200" y="3198813"/>
            <a:ext cx="1130300" cy="611187"/>
          </a:xfrm>
          <a:prstGeom prst="rect">
            <a:avLst/>
          </a:prstGeom>
          <a:noFill/>
          <a:ln w="12700">
            <a:noFill/>
            <a:miter lim="800000"/>
            <a:headEnd/>
            <a:tailEnd/>
          </a:ln>
        </p:spPr>
        <p:txBody>
          <a:bodyPr lIns="92075" tIns="92075" rIns="92075" bIns="92075">
            <a:spAutoFit/>
          </a:bodyPr>
          <a:lstStyle/>
          <a:p>
            <a:pPr eaLnBrk="0" hangingPunct="0">
              <a:spcBef>
                <a:spcPct val="50000"/>
              </a:spcBef>
            </a:pPr>
            <a:r>
              <a:rPr lang="en-US" sz="2800" b="1">
                <a:solidFill>
                  <a:srgbClr val="00FF00"/>
                </a:solidFill>
              </a:rPr>
              <a:t>.04</a:t>
            </a:r>
          </a:p>
        </p:txBody>
      </p:sp>
      <p:sp>
        <p:nvSpPr>
          <p:cNvPr id="372761" name="Rectangle 25"/>
          <p:cNvSpPr>
            <a:spLocks noChangeArrowheads="1"/>
          </p:cNvSpPr>
          <p:nvPr/>
        </p:nvSpPr>
        <p:spPr bwMode="auto">
          <a:xfrm>
            <a:off x="228600" y="4648200"/>
            <a:ext cx="1066800" cy="473075"/>
          </a:xfrm>
          <a:prstGeom prst="rect">
            <a:avLst/>
          </a:prstGeom>
          <a:noFill/>
          <a:ln w="12700">
            <a:noFill/>
            <a:miter lim="800000"/>
            <a:headEnd/>
            <a:tailEnd/>
          </a:ln>
        </p:spPr>
        <p:txBody>
          <a:bodyPr lIns="92075" tIns="0" rIns="92075" bIns="0" anchor="ctr"/>
          <a:lstStyle/>
          <a:p>
            <a:pPr eaLnBrk="0" hangingPunct="0">
              <a:spcBef>
                <a:spcPct val="50000"/>
              </a:spcBef>
            </a:pPr>
            <a:r>
              <a:rPr lang="en-US" sz="2800" b="1">
                <a:solidFill>
                  <a:srgbClr val="00FF00"/>
                </a:solidFill>
              </a:rPr>
              <a:t>-0.8</a:t>
            </a:r>
          </a:p>
        </p:txBody>
      </p:sp>
      <p:sp>
        <p:nvSpPr>
          <p:cNvPr id="372762" name="Rectangle 26"/>
          <p:cNvSpPr>
            <a:spLocks noChangeArrowheads="1"/>
          </p:cNvSpPr>
          <p:nvPr/>
        </p:nvSpPr>
        <p:spPr bwMode="auto">
          <a:xfrm>
            <a:off x="2622550" y="4616450"/>
            <a:ext cx="990600" cy="512763"/>
          </a:xfrm>
          <a:prstGeom prst="rect">
            <a:avLst/>
          </a:prstGeom>
          <a:solidFill>
            <a:srgbClr val="CCFFCC"/>
          </a:solidFill>
          <a:ln w="12700">
            <a:solidFill>
              <a:schemeClr val="tx1"/>
            </a:solidFill>
            <a:miter lim="800000"/>
            <a:headEnd/>
            <a:tailEnd/>
          </a:ln>
        </p:spPr>
        <p:txBody>
          <a:bodyPr lIns="90487" tIns="44450" rIns="90487" bIns="44450">
            <a:spAutoFit/>
          </a:bodyPr>
          <a:lstStyle/>
          <a:p>
            <a:pPr eaLnBrk="0" hangingPunct="0">
              <a:spcBef>
                <a:spcPct val="50000"/>
              </a:spcBef>
            </a:pPr>
            <a:r>
              <a:rPr lang="en-US" sz="2700" b="1">
                <a:solidFill>
                  <a:srgbClr val="FF0000"/>
                </a:solidFill>
              </a:rPr>
              <a:t>.</a:t>
            </a:r>
            <a:r>
              <a:rPr lang="en-US">
                <a:solidFill>
                  <a:srgbClr val="FF0000"/>
                </a:solidFill>
              </a:rPr>
              <a:t>2005</a:t>
            </a:r>
          </a:p>
        </p:txBody>
      </p:sp>
      <p:sp>
        <p:nvSpPr>
          <p:cNvPr id="372763" name="Rectangle 27"/>
          <p:cNvSpPr>
            <a:spLocks noChangeArrowheads="1"/>
          </p:cNvSpPr>
          <p:nvPr/>
        </p:nvSpPr>
        <p:spPr bwMode="auto">
          <a:xfrm>
            <a:off x="152400" y="2362200"/>
            <a:ext cx="4648200" cy="782638"/>
          </a:xfrm>
          <a:prstGeom prst="rect">
            <a:avLst/>
          </a:prstGeom>
          <a:noFill/>
          <a:ln w="12700">
            <a:noFill/>
            <a:miter lim="800000"/>
            <a:headEnd/>
            <a:tailEnd/>
          </a:ln>
        </p:spPr>
        <p:txBody>
          <a:bodyPr lIns="90487" tIns="44450" rIns="90487" bIns="44450">
            <a:spAutoFit/>
          </a:bodyPr>
          <a:lstStyle/>
          <a:p>
            <a:pPr eaLnBrk="0" hangingPunct="0">
              <a:spcBef>
                <a:spcPct val="50000"/>
              </a:spcBef>
            </a:pPr>
            <a:r>
              <a:rPr lang="en-US"/>
              <a:t>Standardized Normal Probability </a:t>
            </a:r>
          </a:p>
          <a:p>
            <a:pPr eaLnBrk="0" hangingPunct="0">
              <a:lnSpc>
                <a:spcPct val="40000"/>
              </a:lnSpc>
              <a:spcBef>
                <a:spcPct val="50000"/>
              </a:spcBef>
            </a:pPr>
            <a:r>
              <a:rPr lang="en-US"/>
              <a:t>Table (Portion)</a:t>
            </a:r>
          </a:p>
        </p:txBody>
      </p:sp>
      <p:sp>
        <p:nvSpPr>
          <p:cNvPr id="372764" name="Line 28"/>
          <p:cNvSpPr>
            <a:spLocks noChangeShapeType="1"/>
          </p:cNvSpPr>
          <p:nvPr/>
        </p:nvSpPr>
        <p:spPr bwMode="auto">
          <a:xfrm>
            <a:off x="990600" y="3200400"/>
            <a:ext cx="0" cy="2667000"/>
          </a:xfrm>
          <a:prstGeom prst="line">
            <a:avLst/>
          </a:prstGeom>
          <a:noFill/>
          <a:ln w="9525">
            <a:solidFill>
              <a:srgbClr val="FF99FF"/>
            </a:solidFill>
            <a:miter lim="800000"/>
            <a:headEnd/>
            <a:tailEnd/>
          </a:ln>
        </p:spPr>
        <p:txBody>
          <a:bodyPr wrap="none"/>
          <a:lstStyle/>
          <a:p>
            <a:endParaRPr lang="en-US"/>
          </a:p>
        </p:txBody>
      </p:sp>
      <p:sp>
        <p:nvSpPr>
          <p:cNvPr id="372765" name="Line 29"/>
          <p:cNvSpPr>
            <a:spLocks noChangeShapeType="1"/>
          </p:cNvSpPr>
          <p:nvPr/>
        </p:nvSpPr>
        <p:spPr bwMode="auto">
          <a:xfrm>
            <a:off x="1631950" y="3200400"/>
            <a:ext cx="0" cy="2667000"/>
          </a:xfrm>
          <a:prstGeom prst="line">
            <a:avLst/>
          </a:prstGeom>
          <a:noFill/>
          <a:ln w="9525">
            <a:solidFill>
              <a:srgbClr val="FF99FF"/>
            </a:solidFill>
            <a:miter lim="800000"/>
            <a:headEnd/>
            <a:tailEnd/>
          </a:ln>
        </p:spPr>
        <p:txBody>
          <a:bodyPr wrap="none"/>
          <a:lstStyle/>
          <a:p>
            <a:endParaRPr lang="en-US"/>
          </a:p>
        </p:txBody>
      </p:sp>
      <p:sp>
        <p:nvSpPr>
          <p:cNvPr id="372766" name="Line 30"/>
          <p:cNvSpPr>
            <a:spLocks noChangeShapeType="1"/>
          </p:cNvSpPr>
          <p:nvPr/>
        </p:nvSpPr>
        <p:spPr bwMode="auto">
          <a:xfrm>
            <a:off x="2622550" y="3200400"/>
            <a:ext cx="0" cy="2667000"/>
          </a:xfrm>
          <a:prstGeom prst="line">
            <a:avLst/>
          </a:prstGeom>
          <a:noFill/>
          <a:ln w="9525">
            <a:solidFill>
              <a:srgbClr val="FF99FF"/>
            </a:solidFill>
            <a:miter lim="800000"/>
            <a:headEnd/>
            <a:tailEnd/>
          </a:ln>
        </p:spPr>
        <p:txBody>
          <a:bodyPr wrap="none"/>
          <a:lstStyle/>
          <a:p>
            <a:endParaRPr lang="en-US"/>
          </a:p>
        </p:txBody>
      </p:sp>
      <p:sp>
        <p:nvSpPr>
          <p:cNvPr id="372767" name="Line 31"/>
          <p:cNvSpPr>
            <a:spLocks noChangeShapeType="1"/>
          </p:cNvSpPr>
          <p:nvPr/>
        </p:nvSpPr>
        <p:spPr bwMode="auto">
          <a:xfrm>
            <a:off x="381000" y="3886200"/>
            <a:ext cx="3429000" cy="0"/>
          </a:xfrm>
          <a:prstGeom prst="line">
            <a:avLst/>
          </a:prstGeom>
          <a:noFill/>
          <a:ln w="9525">
            <a:solidFill>
              <a:srgbClr val="FF99FF"/>
            </a:solidFill>
            <a:miter lim="800000"/>
            <a:headEnd/>
            <a:tailEnd/>
          </a:ln>
        </p:spPr>
        <p:txBody>
          <a:bodyPr wrap="none"/>
          <a:lstStyle/>
          <a:p>
            <a:endParaRPr lang="en-US"/>
          </a:p>
        </p:txBody>
      </p:sp>
      <p:sp>
        <p:nvSpPr>
          <p:cNvPr id="372768" name="Line 32"/>
          <p:cNvSpPr>
            <a:spLocks noChangeShapeType="1"/>
          </p:cNvSpPr>
          <p:nvPr/>
        </p:nvSpPr>
        <p:spPr bwMode="auto">
          <a:xfrm>
            <a:off x="381000" y="4495800"/>
            <a:ext cx="4191000" cy="0"/>
          </a:xfrm>
          <a:prstGeom prst="line">
            <a:avLst/>
          </a:prstGeom>
          <a:noFill/>
          <a:ln w="9525">
            <a:solidFill>
              <a:srgbClr val="FF99FF"/>
            </a:solidFill>
            <a:miter lim="800000"/>
            <a:headEnd/>
            <a:tailEnd/>
          </a:ln>
        </p:spPr>
        <p:txBody>
          <a:bodyPr wrap="none"/>
          <a:lstStyle/>
          <a:p>
            <a:endParaRPr lang="en-US"/>
          </a:p>
        </p:txBody>
      </p:sp>
      <p:sp>
        <p:nvSpPr>
          <p:cNvPr id="372769" name="Line 33"/>
          <p:cNvSpPr>
            <a:spLocks noChangeShapeType="1"/>
          </p:cNvSpPr>
          <p:nvPr/>
        </p:nvSpPr>
        <p:spPr bwMode="auto">
          <a:xfrm>
            <a:off x="381000" y="5181600"/>
            <a:ext cx="4191000" cy="0"/>
          </a:xfrm>
          <a:prstGeom prst="line">
            <a:avLst/>
          </a:prstGeom>
          <a:noFill/>
          <a:ln w="9525">
            <a:solidFill>
              <a:srgbClr val="FF99FF"/>
            </a:solidFill>
            <a:miter lim="800000"/>
            <a:headEnd/>
            <a:tailEnd/>
          </a:ln>
        </p:spPr>
        <p:txBody>
          <a:bodyPr wrap="none"/>
          <a:lstStyle/>
          <a:p>
            <a:endParaRPr lang="en-US"/>
          </a:p>
        </p:txBody>
      </p:sp>
      <p:sp>
        <p:nvSpPr>
          <p:cNvPr id="372770" name="Rectangle 34"/>
          <p:cNvSpPr>
            <a:spLocks noChangeArrowheads="1"/>
          </p:cNvSpPr>
          <p:nvPr/>
        </p:nvSpPr>
        <p:spPr bwMode="auto">
          <a:xfrm>
            <a:off x="3568700" y="3200400"/>
            <a:ext cx="990600" cy="692150"/>
          </a:xfrm>
          <a:prstGeom prst="rect">
            <a:avLst/>
          </a:prstGeom>
          <a:solidFill>
            <a:srgbClr val="A0C7FC"/>
          </a:solidFill>
          <a:ln w="12700">
            <a:noFill/>
            <a:miter lim="800000"/>
            <a:headEnd/>
            <a:tailEnd/>
          </a:ln>
        </p:spPr>
        <p:txBody>
          <a:bodyPr wrap="none" anchor="ctr"/>
          <a:lstStyle/>
          <a:p>
            <a:pPr algn="ctr">
              <a:spcBef>
                <a:spcPct val="50000"/>
              </a:spcBef>
            </a:pPr>
            <a:endParaRPr lang="en-GB"/>
          </a:p>
        </p:txBody>
      </p:sp>
      <p:sp>
        <p:nvSpPr>
          <p:cNvPr id="372771" name="Rectangle 35"/>
          <p:cNvSpPr>
            <a:spLocks noChangeArrowheads="1"/>
          </p:cNvSpPr>
          <p:nvPr/>
        </p:nvSpPr>
        <p:spPr bwMode="auto">
          <a:xfrm>
            <a:off x="3716338" y="3273425"/>
            <a:ext cx="622300" cy="469900"/>
          </a:xfrm>
          <a:prstGeom prst="rect">
            <a:avLst/>
          </a:prstGeom>
          <a:noFill/>
          <a:ln w="12700">
            <a:noFill/>
            <a:miter lim="800000"/>
            <a:headEnd/>
            <a:tailEnd/>
          </a:ln>
        </p:spPr>
        <p:txBody>
          <a:bodyPr wrap="none" lIns="90487" tIns="44450" rIns="90487" bIns="44450">
            <a:spAutoFit/>
          </a:bodyPr>
          <a:lstStyle/>
          <a:p>
            <a:pPr eaLnBrk="0" hangingPunct="0"/>
            <a:r>
              <a:rPr lang="en-US" sz="2500"/>
              <a:t>.05</a:t>
            </a:r>
          </a:p>
        </p:txBody>
      </p:sp>
      <p:sp>
        <p:nvSpPr>
          <p:cNvPr id="372772" name="Rectangle 36"/>
          <p:cNvSpPr>
            <a:spLocks noChangeArrowheads="1"/>
          </p:cNvSpPr>
          <p:nvPr/>
        </p:nvSpPr>
        <p:spPr bwMode="auto">
          <a:xfrm>
            <a:off x="3538538" y="394335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.1711</a:t>
            </a:r>
          </a:p>
        </p:txBody>
      </p:sp>
      <p:sp>
        <p:nvSpPr>
          <p:cNvPr id="372773" name="Rectangle 37"/>
          <p:cNvSpPr>
            <a:spLocks noChangeArrowheads="1"/>
          </p:cNvSpPr>
          <p:nvPr/>
        </p:nvSpPr>
        <p:spPr bwMode="auto">
          <a:xfrm>
            <a:off x="3536950" y="4622800"/>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.1977</a:t>
            </a:r>
          </a:p>
        </p:txBody>
      </p:sp>
      <p:sp>
        <p:nvSpPr>
          <p:cNvPr id="372774" name="Rectangle 38"/>
          <p:cNvSpPr>
            <a:spLocks noChangeArrowheads="1"/>
          </p:cNvSpPr>
          <p:nvPr/>
        </p:nvSpPr>
        <p:spPr bwMode="auto">
          <a:xfrm>
            <a:off x="3538538" y="5273675"/>
            <a:ext cx="974725" cy="469900"/>
          </a:xfrm>
          <a:prstGeom prst="rect">
            <a:avLst/>
          </a:prstGeom>
          <a:noFill/>
          <a:ln w="12700">
            <a:noFill/>
            <a:miter lim="800000"/>
            <a:headEnd/>
            <a:tailEnd/>
          </a:ln>
        </p:spPr>
        <p:txBody>
          <a:bodyPr wrap="none" lIns="90487" tIns="44450" rIns="90487" bIns="44450">
            <a:spAutoFit/>
          </a:bodyPr>
          <a:lstStyle/>
          <a:p>
            <a:pPr eaLnBrk="0" hangingPunct="0"/>
            <a:r>
              <a:rPr lang="en-US" sz="2500"/>
              <a:t>.2266</a:t>
            </a:r>
          </a:p>
        </p:txBody>
      </p:sp>
      <p:sp>
        <p:nvSpPr>
          <p:cNvPr id="372775" name="Line 39"/>
          <p:cNvSpPr>
            <a:spLocks noChangeShapeType="1"/>
          </p:cNvSpPr>
          <p:nvPr/>
        </p:nvSpPr>
        <p:spPr bwMode="auto">
          <a:xfrm>
            <a:off x="3568700" y="3206750"/>
            <a:ext cx="0" cy="2667000"/>
          </a:xfrm>
          <a:prstGeom prst="line">
            <a:avLst/>
          </a:prstGeom>
          <a:noFill/>
          <a:ln w="9525">
            <a:solidFill>
              <a:srgbClr val="FF99FF"/>
            </a:solidFill>
            <a:miter lim="800000"/>
            <a:headEnd/>
            <a:tailEnd/>
          </a:ln>
        </p:spPr>
        <p:txBody>
          <a:bodyPr wrap="none"/>
          <a:lstStyle/>
          <a:p>
            <a:endParaRPr lang="en-US"/>
          </a:p>
        </p:txBody>
      </p:sp>
      <p:sp>
        <p:nvSpPr>
          <p:cNvPr id="372776" name="Rectangle 40"/>
          <p:cNvSpPr>
            <a:spLocks noChangeArrowheads="1"/>
          </p:cNvSpPr>
          <p:nvPr/>
        </p:nvSpPr>
        <p:spPr bwMode="auto">
          <a:xfrm>
            <a:off x="1143000" y="3276600"/>
            <a:ext cx="498475" cy="469900"/>
          </a:xfrm>
          <a:prstGeom prst="rect">
            <a:avLst/>
          </a:prstGeom>
          <a:noFill/>
          <a:ln w="12700">
            <a:noFill/>
            <a:miter lim="800000"/>
            <a:headEnd/>
            <a:tailEnd/>
          </a:ln>
        </p:spPr>
        <p:txBody>
          <a:bodyPr wrap="none" lIns="90487" tIns="44450" rIns="90487" bIns="44450">
            <a:spAutoFit/>
          </a:bodyPr>
          <a:lstStyle/>
          <a:p>
            <a:pPr eaLnBrk="0" hangingPunct="0"/>
            <a:r>
              <a:rPr lang="en-US" sz="2500"/>
              <a:t>…</a:t>
            </a:r>
          </a:p>
        </p:txBody>
      </p:sp>
      <p:sp>
        <p:nvSpPr>
          <p:cNvPr id="372777" name="Rectangle 41"/>
          <p:cNvSpPr>
            <a:spLocks noChangeArrowheads="1"/>
          </p:cNvSpPr>
          <p:nvPr/>
        </p:nvSpPr>
        <p:spPr bwMode="auto">
          <a:xfrm>
            <a:off x="1143000" y="3949700"/>
            <a:ext cx="498475" cy="469900"/>
          </a:xfrm>
          <a:prstGeom prst="rect">
            <a:avLst/>
          </a:prstGeom>
          <a:noFill/>
          <a:ln w="12700">
            <a:noFill/>
            <a:miter lim="800000"/>
            <a:headEnd/>
            <a:tailEnd/>
          </a:ln>
        </p:spPr>
        <p:txBody>
          <a:bodyPr wrap="none" lIns="90487" tIns="44450" rIns="90487" bIns="44450">
            <a:spAutoFit/>
          </a:bodyPr>
          <a:lstStyle/>
          <a:p>
            <a:pPr eaLnBrk="0" hangingPunct="0"/>
            <a:r>
              <a:rPr lang="en-US" sz="2500"/>
              <a:t>…</a:t>
            </a:r>
          </a:p>
        </p:txBody>
      </p:sp>
      <p:sp>
        <p:nvSpPr>
          <p:cNvPr id="372778" name="Rectangle 42"/>
          <p:cNvSpPr>
            <a:spLocks noChangeArrowheads="1"/>
          </p:cNvSpPr>
          <p:nvPr/>
        </p:nvSpPr>
        <p:spPr bwMode="auto">
          <a:xfrm>
            <a:off x="1143000" y="4648200"/>
            <a:ext cx="498475" cy="469900"/>
          </a:xfrm>
          <a:prstGeom prst="rect">
            <a:avLst/>
          </a:prstGeom>
          <a:noFill/>
          <a:ln w="12700">
            <a:noFill/>
            <a:miter lim="800000"/>
            <a:headEnd/>
            <a:tailEnd/>
          </a:ln>
        </p:spPr>
        <p:txBody>
          <a:bodyPr wrap="none" lIns="90487" tIns="44450" rIns="90487" bIns="44450">
            <a:spAutoFit/>
          </a:bodyPr>
          <a:lstStyle/>
          <a:p>
            <a:pPr eaLnBrk="0" hangingPunct="0"/>
            <a:r>
              <a:rPr lang="en-US" sz="2500"/>
              <a:t>…</a:t>
            </a:r>
          </a:p>
        </p:txBody>
      </p:sp>
      <p:sp>
        <p:nvSpPr>
          <p:cNvPr id="372779" name="Rectangle 43"/>
          <p:cNvSpPr>
            <a:spLocks noChangeArrowheads="1"/>
          </p:cNvSpPr>
          <p:nvPr/>
        </p:nvSpPr>
        <p:spPr bwMode="auto">
          <a:xfrm>
            <a:off x="1143000" y="5245100"/>
            <a:ext cx="498475" cy="469900"/>
          </a:xfrm>
          <a:prstGeom prst="rect">
            <a:avLst/>
          </a:prstGeom>
          <a:noFill/>
          <a:ln w="12700">
            <a:noFill/>
            <a:miter lim="800000"/>
            <a:headEnd/>
            <a:tailEnd/>
          </a:ln>
        </p:spPr>
        <p:txBody>
          <a:bodyPr wrap="none" lIns="90487" tIns="44450" rIns="90487" bIns="44450">
            <a:spAutoFit/>
          </a:bodyPr>
          <a:lstStyle/>
          <a:p>
            <a:pPr eaLnBrk="0" hangingPunct="0"/>
            <a:r>
              <a:rPr lang="en-US" sz="2500"/>
              <a:t>…</a:t>
            </a:r>
          </a:p>
        </p:txBody>
      </p:sp>
      <p:sp>
        <p:nvSpPr>
          <p:cNvPr id="372780" name="Freeform 44"/>
          <p:cNvSpPr>
            <a:spLocks/>
          </p:cNvSpPr>
          <p:nvPr/>
        </p:nvSpPr>
        <p:spPr bwMode="auto">
          <a:xfrm>
            <a:off x="5318125" y="4619625"/>
            <a:ext cx="1085850" cy="946150"/>
          </a:xfrm>
          <a:custGeom>
            <a:avLst/>
            <a:gdLst>
              <a:gd name="T0" fmla="*/ 1085850 w 684"/>
              <a:gd name="T1" fmla="*/ 946150 h 596"/>
              <a:gd name="T2" fmla="*/ 1085850 w 684"/>
              <a:gd name="T3" fmla="*/ 0 h 596"/>
              <a:gd name="T4" fmla="*/ 1033463 w 684"/>
              <a:gd name="T5" fmla="*/ 95250 h 596"/>
              <a:gd name="T6" fmla="*/ 973138 w 684"/>
              <a:gd name="T7" fmla="*/ 190500 h 596"/>
              <a:gd name="T8" fmla="*/ 909638 w 684"/>
              <a:gd name="T9" fmla="*/ 293687 h 596"/>
              <a:gd name="T10" fmla="*/ 868363 w 684"/>
              <a:gd name="T11" fmla="*/ 360362 h 596"/>
              <a:gd name="T12" fmla="*/ 792162 w 684"/>
              <a:gd name="T13" fmla="*/ 465138 h 596"/>
              <a:gd name="T14" fmla="*/ 619125 w 684"/>
              <a:gd name="T15" fmla="*/ 650875 h 596"/>
              <a:gd name="T16" fmla="*/ 549275 w 684"/>
              <a:gd name="T17" fmla="*/ 704850 h 596"/>
              <a:gd name="T18" fmla="*/ 357187 w 684"/>
              <a:gd name="T19" fmla="*/ 804862 h 596"/>
              <a:gd name="T20" fmla="*/ 252413 w 684"/>
              <a:gd name="T21" fmla="*/ 838200 h 596"/>
              <a:gd name="T22" fmla="*/ 138112 w 684"/>
              <a:gd name="T23" fmla="*/ 860425 h 596"/>
              <a:gd name="T24" fmla="*/ 0 w 684"/>
              <a:gd name="T25" fmla="*/ 869950 h 596"/>
              <a:gd name="T26" fmla="*/ 0 w 684"/>
              <a:gd name="T27" fmla="*/ 946150 h 596"/>
              <a:gd name="T28" fmla="*/ 1085850 w 684"/>
              <a:gd name="T29" fmla="*/ 946150 h 59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84"/>
              <a:gd name="T46" fmla="*/ 0 h 596"/>
              <a:gd name="T47" fmla="*/ 684 w 684"/>
              <a:gd name="T48" fmla="*/ 596 h 59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84" h="596">
                <a:moveTo>
                  <a:pt x="684" y="596"/>
                </a:moveTo>
                <a:lnTo>
                  <a:pt x="684" y="0"/>
                </a:lnTo>
                <a:lnTo>
                  <a:pt x="651" y="60"/>
                </a:lnTo>
                <a:lnTo>
                  <a:pt x="613" y="120"/>
                </a:lnTo>
                <a:lnTo>
                  <a:pt x="573" y="185"/>
                </a:lnTo>
                <a:lnTo>
                  <a:pt x="547" y="227"/>
                </a:lnTo>
                <a:lnTo>
                  <a:pt x="499" y="293"/>
                </a:lnTo>
                <a:lnTo>
                  <a:pt x="390" y="410"/>
                </a:lnTo>
                <a:lnTo>
                  <a:pt x="346" y="444"/>
                </a:lnTo>
                <a:lnTo>
                  <a:pt x="225" y="507"/>
                </a:lnTo>
                <a:lnTo>
                  <a:pt x="159" y="528"/>
                </a:lnTo>
                <a:lnTo>
                  <a:pt x="87" y="542"/>
                </a:lnTo>
                <a:lnTo>
                  <a:pt x="0" y="548"/>
                </a:lnTo>
                <a:lnTo>
                  <a:pt x="0" y="596"/>
                </a:lnTo>
                <a:lnTo>
                  <a:pt x="684" y="596"/>
                </a:lnTo>
                <a:close/>
              </a:path>
            </a:pathLst>
          </a:custGeom>
          <a:solidFill>
            <a:srgbClr val="C7DAF7"/>
          </a:solidFill>
          <a:ln w="12700">
            <a:noFill/>
            <a:round/>
            <a:headEnd/>
            <a:tailEnd/>
          </a:ln>
        </p:spPr>
        <p:txBody>
          <a:bodyPr/>
          <a:lstStyle/>
          <a:p>
            <a:endParaRPr lang="en-GB"/>
          </a:p>
        </p:txBody>
      </p:sp>
      <p:sp>
        <p:nvSpPr>
          <p:cNvPr id="372781" name="Line 45"/>
          <p:cNvSpPr>
            <a:spLocks noChangeShapeType="1"/>
          </p:cNvSpPr>
          <p:nvPr/>
        </p:nvSpPr>
        <p:spPr bwMode="auto">
          <a:xfrm>
            <a:off x="6400800" y="4648200"/>
            <a:ext cx="0" cy="914400"/>
          </a:xfrm>
          <a:prstGeom prst="line">
            <a:avLst/>
          </a:prstGeom>
          <a:noFill/>
          <a:ln w="12700">
            <a:solidFill>
              <a:schemeClr val="tx1"/>
            </a:solidFill>
            <a:round/>
            <a:headEnd/>
            <a:tailEnd/>
          </a:ln>
        </p:spPr>
        <p:txBody>
          <a:bodyPr wrap="none" anchor="ctr"/>
          <a:lstStyle/>
          <a:p>
            <a:endParaRPr lang="en-US"/>
          </a:p>
        </p:txBody>
      </p:sp>
      <p:sp>
        <p:nvSpPr>
          <p:cNvPr id="372782" name="Line 46"/>
          <p:cNvSpPr>
            <a:spLocks noChangeShapeType="1"/>
          </p:cNvSpPr>
          <p:nvPr/>
        </p:nvSpPr>
        <p:spPr bwMode="auto">
          <a:xfrm>
            <a:off x="5791200" y="4724400"/>
            <a:ext cx="457200" cy="533400"/>
          </a:xfrm>
          <a:prstGeom prst="line">
            <a:avLst/>
          </a:prstGeom>
          <a:noFill/>
          <a:ln w="19050">
            <a:solidFill>
              <a:schemeClr val="tx1"/>
            </a:solidFill>
            <a:round/>
            <a:headEnd/>
            <a:tailEnd type="triangle" w="med" len="med"/>
          </a:ln>
        </p:spPr>
        <p:txBody>
          <a:bodyPr wrap="none" anchor="ctr"/>
          <a:lstStyle/>
          <a:p>
            <a:endParaRPr lang="en-US"/>
          </a:p>
        </p:txBody>
      </p:sp>
      <p:sp>
        <p:nvSpPr>
          <p:cNvPr id="372783" name="Line 47"/>
          <p:cNvSpPr>
            <a:spLocks noChangeShapeType="1"/>
          </p:cNvSpPr>
          <p:nvPr/>
        </p:nvSpPr>
        <p:spPr bwMode="auto">
          <a:xfrm>
            <a:off x="6934200" y="3962400"/>
            <a:ext cx="0" cy="1600200"/>
          </a:xfrm>
          <a:prstGeom prst="line">
            <a:avLst/>
          </a:prstGeom>
          <a:noFill/>
          <a:ln w="31750">
            <a:solidFill>
              <a:schemeClr val="tx1"/>
            </a:solidFill>
            <a:round/>
            <a:headEnd/>
            <a:tailEnd/>
          </a:ln>
        </p:spPr>
        <p:txBody>
          <a:bodyPr wrap="none" anchor="ctr"/>
          <a:lstStyle/>
          <a:p>
            <a:endParaRPr lang="en-US"/>
          </a:p>
        </p:txBody>
      </p:sp>
      <p:sp>
        <p:nvSpPr>
          <p:cNvPr id="372784" name="Freeform 48"/>
          <p:cNvSpPr>
            <a:spLocks/>
          </p:cNvSpPr>
          <p:nvPr/>
        </p:nvSpPr>
        <p:spPr bwMode="auto">
          <a:xfrm>
            <a:off x="7010400" y="3962400"/>
            <a:ext cx="1593850" cy="1528763"/>
          </a:xfrm>
          <a:custGeom>
            <a:avLst/>
            <a:gdLst>
              <a:gd name="T0" fmla="*/ 1592303 w 1030"/>
              <a:gd name="T1" fmla="*/ 1527220 h 991"/>
              <a:gd name="T2" fmla="*/ 1425180 w 1030"/>
              <a:gd name="T3" fmla="*/ 1511794 h 991"/>
              <a:gd name="T4" fmla="*/ 1340072 w 1030"/>
              <a:gd name="T5" fmla="*/ 1491739 h 991"/>
              <a:gd name="T6" fmla="*/ 1258058 w 1030"/>
              <a:gd name="T7" fmla="*/ 1468600 h 991"/>
              <a:gd name="T8" fmla="*/ 1172950 w 1030"/>
              <a:gd name="T9" fmla="*/ 1433119 h 991"/>
              <a:gd name="T10" fmla="*/ 1087841 w 1030"/>
              <a:gd name="T11" fmla="*/ 1383754 h 991"/>
              <a:gd name="T12" fmla="*/ 1007375 w 1030"/>
              <a:gd name="T13" fmla="*/ 1322048 h 991"/>
              <a:gd name="T14" fmla="*/ 837158 w 1030"/>
              <a:gd name="T15" fmla="*/ 1146187 h 991"/>
              <a:gd name="T16" fmla="*/ 670036 w 1030"/>
              <a:gd name="T17" fmla="*/ 896278 h 991"/>
              <a:gd name="T18" fmla="*/ 502914 w 1030"/>
              <a:gd name="T19" fmla="*/ 595462 h 991"/>
              <a:gd name="T20" fmla="*/ 417805 w 1030"/>
              <a:gd name="T21" fmla="*/ 442740 h 991"/>
              <a:gd name="T22" fmla="*/ 332697 w 1030"/>
              <a:gd name="T23" fmla="*/ 302359 h 991"/>
              <a:gd name="T24" fmla="*/ 252231 w 1030"/>
              <a:gd name="T25" fmla="*/ 178947 h 991"/>
              <a:gd name="T26" fmla="*/ 167122 w 1030"/>
              <a:gd name="T27" fmla="*/ 81760 h 991"/>
              <a:gd name="T28" fmla="*/ 82014 w 1030"/>
              <a:gd name="T29" fmla="*/ 20054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a:solidFill>
              <a:srgbClr val="008000"/>
            </a:solidFill>
            <a:round/>
            <a:headEnd/>
            <a:tailEnd/>
          </a:ln>
        </p:spPr>
        <p:txBody>
          <a:bodyPr/>
          <a:lstStyle/>
          <a:p>
            <a:endParaRPr lang="en-GB"/>
          </a:p>
        </p:txBody>
      </p:sp>
      <p:sp>
        <p:nvSpPr>
          <p:cNvPr id="372785" name="Freeform 49"/>
          <p:cNvSpPr>
            <a:spLocks/>
          </p:cNvSpPr>
          <p:nvPr/>
        </p:nvSpPr>
        <p:spPr bwMode="auto">
          <a:xfrm>
            <a:off x="5332413" y="3957638"/>
            <a:ext cx="1644650" cy="1531937"/>
          </a:xfrm>
          <a:custGeom>
            <a:avLst/>
            <a:gdLst>
              <a:gd name="T0" fmla="*/ 0 w 1036"/>
              <a:gd name="T1" fmla="*/ 1531937 h 965"/>
              <a:gd name="T2" fmla="*/ 171450 w 1036"/>
              <a:gd name="T3" fmla="*/ 1516062 h 965"/>
              <a:gd name="T4" fmla="*/ 258762 w 1036"/>
              <a:gd name="T5" fmla="*/ 1495425 h 965"/>
              <a:gd name="T6" fmla="*/ 346075 w 1036"/>
              <a:gd name="T7" fmla="*/ 1471612 h 965"/>
              <a:gd name="T8" fmla="*/ 430212 w 1036"/>
              <a:gd name="T9" fmla="*/ 1435100 h 965"/>
              <a:gd name="T10" fmla="*/ 517525 w 1036"/>
              <a:gd name="T11" fmla="*/ 1384300 h 965"/>
              <a:gd name="T12" fmla="*/ 604837 w 1036"/>
              <a:gd name="T13" fmla="*/ 1320800 h 965"/>
              <a:gd name="T14" fmla="*/ 774700 w 1036"/>
              <a:gd name="T15" fmla="*/ 1139825 h 965"/>
              <a:gd name="T16" fmla="*/ 946150 w 1036"/>
              <a:gd name="T17" fmla="*/ 882650 h 965"/>
              <a:gd name="T18" fmla="*/ 1120775 w 1036"/>
              <a:gd name="T19" fmla="*/ 573087 h 965"/>
              <a:gd name="T20" fmla="*/ 1204912 w 1036"/>
              <a:gd name="T21" fmla="*/ 415925 h 965"/>
              <a:gd name="T22" fmla="*/ 1292225 w 1036"/>
              <a:gd name="T23" fmla="*/ 271462 h 965"/>
              <a:gd name="T24" fmla="*/ 1377950 w 1036"/>
              <a:gd name="T25" fmla="*/ 144462 h 965"/>
              <a:gd name="T26" fmla="*/ 1458912 w 1036"/>
              <a:gd name="T27" fmla="*/ 52387 h 965"/>
              <a:gd name="T28" fmla="*/ 1544637 w 1036"/>
              <a:gd name="T29" fmla="*/ 14287 h 965"/>
              <a:gd name="T30" fmla="*/ 1644650 w 1036"/>
              <a:gd name="T31" fmla="*/ 0 h 9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6"/>
              <a:gd name="T49" fmla="*/ 0 h 965"/>
              <a:gd name="T50" fmla="*/ 1036 w 1036"/>
              <a:gd name="T51" fmla="*/ 965 h 9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6" h="965">
                <a:moveTo>
                  <a:pt x="0" y="965"/>
                </a:moveTo>
                <a:lnTo>
                  <a:pt x="108" y="955"/>
                </a:lnTo>
                <a:lnTo>
                  <a:pt x="163" y="942"/>
                </a:lnTo>
                <a:lnTo>
                  <a:pt x="218" y="927"/>
                </a:lnTo>
                <a:lnTo>
                  <a:pt x="271" y="904"/>
                </a:lnTo>
                <a:lnTo>
                  <a:pt x="326" y="872"/>
                </a:lnTo>
                <a:lnTo>
                  <a:pt x="381" y="832"/>
                </a:lnTo>
                <a:lnTo>
                  <a:pt x="488" y="718"/>
                </a:lnTo>
                <a:lnTo>
                  <a:pt x="596" y="556"/>
                </a:lnTo>
                <a:lnTo>
                  <a:pt x="706" y="361"/>
                </a:lnTo>
                <a:lnTo>
                  <a:pt x="759" y="262"/>
                </a:lnTo>
                <a:lnTo>
                  <a:pt x="814" y="171"/>
                </a:lnTo>
                <a:lnTo>
                  <a:pt x="868" y="91"/>
                </a:lnTo>
                <a:lnTo>
                  <a:pt x="919" y="33"/>
                </a:lnTo>
                <a:lnTo>
                  <a:pt x="973" y="9"/>
                </a:lnTo>
                <a:lnTo>
                  <a:pt x="1036" y="0"/>
                </a:lnTo>
              </a:path>
            </a:pathLst>
          </a:custGeom>
          <a:noFill/>
          <a:ln w="50800" cap="rnd">
            <a:solidFill>
              <a:srgbClr val="008000"/>
            </a:solidFill>
            <a:round/>
            <a:headEnd/>
            <a:tailEnd/>
          </a:ln>
        </p:spPr>
        <p:txBody>
          <a:bodyPr/>
          <a:lstStyle/>
          <a:p>
            <a:endParaRPr lang="en-GB"/>
          </a:p>
        </p:txBody>
      </p:sp>
      <p:sp>
        <p:nvSpPr>
          <p:cNvPr id="372786" name="Freeform 50"/>
          <p:cNvSpPr>
            <a:spLocks/>
          </p:cNvSpPr>
          <p:nvPr/>
        </p:nvSpPr>
        <p:spPr bwMode="auto">
          <a:xfrm>
            <a:off x="5314950" y="5573713"/>
            <a:ext cx="3289300" cy="7937"/>
          </a:xfrm>
          <a:custGeom>
            <a:avLst/>
            <a:gdLst>
              <a:gd name="T0" fmla="*/ 0 w 2072"/>
              <a:gd name="T1" fmla="*/ 7937 h 5"/>
              <a:gd name="T2" fmla="*/ 19050 w 2072"/>
              <a:gd name="T3" fmla="*/ 0 h 5"/>
              <a:gd name="T4" fmla="*/ 3289300 w 2072"/>
              <a:gd name="T5" fmla="*/ 0 h 5"/>
              <a:gd name="T6" fmla="*/ 0 60000 65536"/>
              <a:gd name="T7" fmla="*/ 0 60000 65536"/>
              <a:gd name="T8" fmla="*/ 0 60000 65536"/>
              <a:gd name="T9" fmla="*/ 0 w 2072"/>
              <a:gd name="T10" fmla="*/ 0 h 5"/>
              <a:gd name="T11" fmla="*/ 2072 w 2072"/>
              <a:gd name="T12" fmla="*/ 5 h 5"/>
            </a:gdLst>
            <a:ahLst/>
            <a:cxnLst>
              <a:cxn ang="T6">
                <a:pos x="T0" y="T1"/>
              </a:cxn>
              <a:cxn ang="T7">
                <a:pos x="T2" y="T3"/>
              </a:cxn>
              <a:cxn ang="T8">
                <a:pos x="T4" y="T5"/>
              </a:cxn>
            </a:cxnLst>
            <a:rect l="T9" t="T10" r="T11" b="T12"/>
            <a:pathLst>
              <a:path w="2072" h="5">
                <a:moveTo>
                  <a:pt x="0" y="5"/>
                </a:moveTo>
                <a:lnTo>
                  <a:pt x="12" y="0"/>
                </a:lnTo>
                <a:lnTo>
                  <a:pt x="2072" y="0"/>
                </a:lnTo>
              </a:path>
            </a:pathLst>
          </a:custGeom>
          <a:noFill/>
          <a:ln w="50800" cap="rnd">
            <a:solidFill>
              <a:schemeClr val="tx1"/>
            </a:solidFill>
            <a:round/>
            <a:headEnd/>
            <a:tailEnd/>
          </a:ln>
        </p:spPr>
        <p:txBody>
          <a:bodyPr/>
          <a:lstStyle/>
          <a:p>
            <a:endParaRPr lang="en-GB"/>
          </a:p>
        </p:txBody>
      </p:sp>
      <p:sp>
        <p:nvSpPr>
          <p:cNvPr id="372787" name="Rectangle 51"/>
          <p:cNvSpPr>
            <a:spLocks noChangeArrowheads="1"/>
          </p:cNvSpPr>
          <p:nvPr/>
        </p:nvSpPr>
        <p:spPr bwMode="auto">
          <a:xfrm>
            <a:off x="8610600" y="5732463"/>
            <a:ext cx="381000" cy="363537"/>
          </a:xfrm>
          <a:prstGeom prst="rect">
            <a:avLst/>
          </a:prstGeom>
          <a:noFill/>
          <a:ln w="12700">
            <a:noFill/>
            <a:miter lim="800000"/>
            <a:headEnd/>
            <a:tailEnd/>
          </a:ln>
        </p:spPr>
        <p:txBody>
          <a:bodyPr lIns="90487" tIns="44450" rIns="90487" bIns="44450">
            <a:spAutoFit/>
          </a:bodyPr>
          <a:lstStyle/>
          <a:p>
            <a:pPr eaLnBrk="0" hangingPunct="0"/>
            <a:r>
              <a:rPr lang="en-US" sz="1800" b="1"/>
              <a:t>X</a:t>
            </a:r>
          </a:p>
        </p:txBody>
      </p:sp>
      <p:sp>
        <p:nvSpPr>
          <p:cNvPr id="372788" name="Rectangle 52"/>
          <p:cNvSpPr>
            <a:spLocks noChangeArrowheads="1"/>
          </p:cNvSpPr>
          <p:nvPr/>
        </p:nvSpPr>
        <p:spPr bwMode="auto">
          <a:xfrm>
            <a:off x="6232525" y="5791200"/>
            <a:ext cx="320675" cy="363538"/>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a:t>
            </a:r>
            <a:endParaRPr lang="en-US" b="1">
              <a:solidFill>
                <a:srgbClr val="339933"/>
              </a:solidFill>
            </a:endParaRPr>
          </a:p>
        </p:txBody>
      </p:sp>
      <p:sp>
        <p:nvSpPr>
          <p:cNvPr id="372789" name="Rectangle 53"/>
          <p:cNvSpPr>
            <a:spLocks noChangeArrowheads="1"/>
          </p:cNvSpPr>
          <p:nvPr/>
        </p:nvSpPr>
        <p:spPr bwMode="auto">
          <a:xfrm>
            <a:off x="6740525" y="5791200"/>
            <a:ext cx="631825" cy="366713"/>
          </a:xfrm>
          <a:prstGeom prst="rect">
            <a:avLst/>
          </a:prstGeom>
          <a:noFill/>
          <a:ln w="12700">
            <a:noFill/>
            <a:miter lim="800000"/>
            <a:headEnd/>
            <a:tailEnd/>
          </a:ln>
        </p:spPr>
        <p:txBody>
          <a:bodyPr wrap="none" lIns="90487" tIns="44450" rIns="90487" bIns="44450">
            <a:spAutoFit/>
          </a:bodyPr>
          <a:lstStyle/>
          <a:p>
            <a:pPr eaLnBrk="0" hangingPunct="0"/>
            <a:r>
              <a:rPr lang="en-US" sz="1800" b="1"/>
              <a:t>18.0</a:t>
            </a:r>
            <a:endParaRPr lang="en-US" b="1"/>
          </a:p>
        </p:txBody>
      </p:sp>
      <p:sp>
        <p:nvSpPr>
          <p:cNvPr id="372790" name="Line 54"/>
          <p:cNvSpPr>
            <a:spLocks noChangeShapeType="1"/>
          </p:cNvSpPr>
          <p:nvPr/>
        </p:nvSpPr>
        <p:spPr bwMode="auto">
          <a:xfrm flipV="1">
            <a:off x="6400800" y="5562600"/>
            <a:ext cx="0" cy="304800"/>
          </a:xfrm>
          <a:prstGeom prst="line">
            <a:avLst/>
          </a:prstGeom>
          <a:noFill/>
          <a:ln w="12700">
            <a:solidFill>
              <a:schemeClr val="tx1"/>
            </a:solidFill>
            <a:round/>
            <a:headEnd/>
            <a:tailEnd type="triangle" w="med" len="med"/>
          </a:ln>
        </p:spPr>
        <p:txBody>
          <a:bodyPr wrap="none" anchor="ctr"/>
          <a:lstStyle/>
          <a:p>
            <a:endParaRPr lang="en-US"/>
          </a:p>
        </p:txBody>
      </p:sp>
      <p:sp>
        <p:nvSpPr>
          <p:cNvPr id="372791" name="Rectangle 55"/>
          <p:cNvSpPr>
            <a:spLocks noChangeArrowheads="1"/>
          </p:cNvSpPr>
          <p:nvPr/>
        </p:nvSpPr>
        <p:spPr bwMode="auto">
          <a:xfrm>
            <a:off x="5105400" y="4343400"/>
            <a:ext cx="1117600" cy="457200"/>
          </a:xfrm>
          <a:prstGeom prst="rect">
            <a:avLst/>
          </a:prstGeom>
          <a:solidFill>
            <a:srgbClr val="C7DAF7"/>
          </a:solidFill>
          <a:ln w="19050" algn="ctr">
            <a:noFill/>
            <a:miter lim="800000"/>
            <a:headEnd/>
            <a:tailEnd/>
          </a:ln>
        </p:spPr>
        <p:txBody>
          <a:bodyPr wrap="none">
            <a:spAutoFit/>
          </a:bodyPr>
          <a:lstStyle/>
          <a:p>
            <a:pPr algn="ctr"/>
            <a:r>
              <a:rPr lang="en-US"/>
              <a:t>0.2000</a:t>
            </a:r>
          </a:p>
        </p:txBody>
      </p:sp>
      <p:sp>
        <p:nvSpPr>
          <p:cNvPr id="372792" name="Rectangle 56"/>
          <p:cNvSpPr>
            <a:spLocks noChangeArrowheads="1"/>
          </p:cNvSpPr>
          <p:nvPr/>
        </p:nvSpPr>
        <p:spPr bwMode="auto">
          <a:xfrm>
            <a:off x="8610600" y="6037263"/>
            <a:ext cx="381000" cy="363537"/>
          </a:xfrm>
          <a:prstGeom prst="rect">
            <a:avLst/>
          </a:prstGeom>
          <a:noFill/>
          <a:ln w="12700">
            <a:noFill/>
            <a:miter lim="800000"/>
            <a:headEnd/>
            <a:tailEnd/>
          </a:ln>
        </p:spPr>
        <p:txBody>
          <a:bodyPr lIns="90487" tIns="44450" rIns="90487" bIns="44450">
            <a:spAutoFit/>
          </a:bodyPr>
          <a:lstStyle/>
          <a:p>
            <a:pPr eaLnBrk="0" hangingPunct="0"/>
            <a:r>
              <a:rPr lang="en-US" sz="1800" b="1"/>
              <a:t>Z</a:t>
            </a:r>
          </a:p>
        </p:txBody>
      </p:sp>
      <p:sp>
        <p:nvSpPr>
          <p:cNvPr id="372793" name="Rectangle 57"/>
          <p:cNvSpPr>
            <a:spLocks noChangeArrowheads="1"/>
          </p:cNvSpPr>
          <p:nvPr/>
        </p:nvSpPr>
        <p:spPr bwMode="auto">
          <a:xfrm>
            <a:off x="6003925" y="6113463"/>
            <a:ext cx="701675" cy="363537"/>
          </a:xfrm>
          <a:prstGeom prst="rect">
            <a:avLst/>
          </a:prstGeom>
          <a:noFill/>
          <a:ln w="12700">
            <a:noFill/>
            <a:miter lim="800000"/>
            <a:headEnd/>
            <a:tailEnd/>
          </a:ln>
        </p:spPr>
        <p:txBody>
          <a:bodyPr wrap="none" lIns="90487" tIns="44450" rIns="90487" bIns="44450">
            <a:spAutoFit/>
          </a:bodyPr>
          <a:lstStyle/>
          <a:p>
            <a:pPr eaLnBrk="0" hangingPunct="0"/>
            <a:r>
              <a:rPr lang="en-US" sz="1800" b="1">
                <a:solidFill>
                  <a:srgbClr val="339933"/>
                </a:solidFill>
              </a:rPr>
              <a:t>-0.84</a:t>
            </a:r>
            <a:endParaRPr lang="en-US" b="1">
              <a:solidFill>
                <a:srgbClr val="339933"/>
              </a:solidFill>
            </a:endParaRPr>
          </a:p>
        </p:txBody>
      </p:sp>
      <p:sp>
        <p:nvSpPr>
          <p:cNvPr id="372794" name="Rectangle 58"/>
          <p:cNvSpPr>
            <a:spLocks noChangeArrowheads="1"/>
          </p:cNvSpPr>
          <p:nvPr/>
        </p:nvSpPr>
        <p:spPr bwMode="auto">
          <a:xfrm>
            <a:off x="6740525" y="6113463"/>
            <a:ext cx="371475" cy="363537"/>
          </a:xfrm>
          <a:prstGeom prst="rect">
            <a:avLst/>
          </a:prstGeom>
          <a:noFill/>
          <a:ln w="12700">
            <a:noFill/>
            <a:miter lim="800000"/>
            <a:headEnd/>
            <a:tailEnd/>
          </a:ln>
        </p:spPr>
        <p:txBody>
          <a:bodyPr wrap="none" lIns="90487" tIns="44450" rIns="90487" bIns="44450">
            <a:spAutoFit/>
          </a:bodyPr>
          <a:lstStyle/>
          <a:p>
            <a:pPr eaLnBrk="0" hangingPunct="0"/>
            <a:r>
              <a:rPr lang="en-US" sz="1800" b="1"/>
              <a:t> 0</a:t>
            </a:r>
            <a:endParaRPr lang="en-US" b="1"/>
          </a:p>
        </p:txBody>
      </p:sp>
      <p:sp>
        <p:nvSpPr>
          <p:cNvPr id="372795" name="Oval 59"/>
          <p:cNvSpPr>
            <a:spLocks noChangeArrowheads="1"/>
          </p:cNvSpPr>
          <p:nvPr/>
        </p:nvSpPr>
        <p:spPr bwMode="auto">
          <a:xfrm>
            <a:off x="5943600" y="5791200"/>
            <a:ext cx="838200" cy="762000"/>
          </a:xfrm>
          <a:prstGeom prst="ellipse">
            <a:avLst/>
          </a:prstGeom>
          <a:noFill/>
          <a:ln w="28575">
            <a:solidFill>
              <a:schemeClr val="hlink"/>
            </a:solidFill>
            <a:miter lim="800000"/>
            <a:headEnd/>
            <a:tailEnd/>
          </a:ln>
        </p:spPr>
        <p:txBody>
          <a:bodyPr wrap="none" anchor="ctr"/>
          <a:lstStyle/>
          <a:p>
            <a:pPr algn="ctr">
              <a:spcBef>
                <a:spcPct val="50000"/>
              </a:spcBef>
            </a:pPr>
            <a:endParaRPr lang="en-GB"/>
          </a:p>
        </p:txBody>
      </p:sp>
      <p:sp>
        <p:nvSpPr>
          <p:cNvPr id="372796" name="Text Box 60"/>
          <p:cNvSpPr txBox="1">
            <a:spLocks noChangeArrowheads="1"/>
          </p:cNvSpPr>
          <p:nvPr/>
        </p:nvSpPr>
        <p:spPr bwMode="auto">
          <a:xfrm>
            <a:off x="914400" y="1676400"/>
            <a:ext cx="7315200" cy="528638"/>
          </a:xfrm>
          <a:prstGeom prst="rect">
            <a:avLst/>
          </a:prstGeom>
          <a:solidFill>
            <a:srgbClr val="C7DAF7"/>
          </a:solidFill>
          <a:ln w="9525">
            <a:solidFill>
              <a:schemeClr val="tx1"/>
            </a:solidFill>
            <a:miter lim="800000"/>
            <a:headEnd/>
            <a:tailEnd/>
          </a:ln>
        </p:spPr>
        <p:txBody>
          <a:bodyPr>
            <a:spAutoFit/>
          </a:bodyPr>
          <a:lstStyle/>
          <a:p>
            <a:pPr>
              <a:spcBef>
                <a:spcPct val="50000"/>
              </a:spcBef>
            </a:pPr>
            <a:r>
              <a:rPr lang="en-US" sz="2800"/>
              <a:t>1.  Find the Z-value for the known probability</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7" name="Rectangle 4"/>
          <p:cNvSpPr>
            <a:spLocks noGrp="1" noChangeArrowheads="1"/>
          </p:cNvSpPr>
          <p:nvPr>
            <p:ph type="ftr" sz="quarter" idx="10"/>
          </p:nvPr>
        </p:nvSpPr>
        <p:spPr>
          <a:noFill/>
        </p:spPr>
        <p:txBody>
          <a:bodyPr/>
          <a:lstStyle/>
          <a:p>
            <a:r>
              <a:rPr lang="en-US" smtClean="0"/>
              <a:t>Copyright ©2012 Pearson Education</a:t>
            </a:r>
          </a:p>
        </p:txBody>
      </p:sp>
      <p:sp>
        <p:nvSpPr>
          <p:cNvPr id="284678" name="Rectangle 5"/>
          <p:cNvSpPr>
            <a:spLocks noGrp="1" noChangeArrowheads="1"/>
          </p:cNvSpPr>
          <p:nvPr>
            <p:ph type="sldNum" sz="quarter" idx="11"/>
          </p:nvPr>
        </p:nvSpPr>
        <p:spPr>
          <a:noFill/>
        </p:spPr>
        <p:txBody>
          <a:bodyPr/>
          <a:lstStyle/>
          <a:p>
            <a:r>
              <a:rPr lang="en-US" smtClean="0"/>
              <a:t>Chap 6-</a:t>
            </a:r>
            <a:fld id="{7FF26987-7DFD-4478-84F8-720B2FA85C8F}" type="slidenum">
              <a:rPr lang="en-US" smtClean="0"/>
              <a:pPr/>
              <a:t>30</a:t>
            </a:fld>
            <a:endParaRPr lang="en-US" smtClean="0"/>
          </a:p>
        </p:txBody>
      </p:sp>
      <p:sp>
        <p:nvSpPr>
          <p:cNvPr id="284679"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F2D8BF58-EA38-4F00-9F3C-AF25D01FCE96}" type="slidenum">
              <a:rPr lang="en-US" sz="1000"/>
              <a:pPr algn="r" defTabSz="852488"/>
              <a:t>30</a:t>
            </a:fld>
            <a:endParaRPr lang="en-US" sz="1000"/>
          </a:p>
        </p:txBody>
      </p:sp>
      <p:sp>
        <p:nvSpPr>
          <p:cNvPr id="284680" name="Rectangle 2"/>
          <p:cNvSpPr>
            <a:spLocks noGrp="1" noChangeArrowheads="1"/>
          </p:cNvSpPr>
          <p:nvPr>
            <p:ph type="body" idx="1"/>
          </p:nvPr>
        </p:nvSpPr>
        <p:spPr>
          <a:xfrm>
            <a:off x="990600" y="1752600"/>
            <a:ext cx="7175500" cy="611188"/>
          </a:xfrm>
          <a:solidFill>
            <a:srgbClr val="C7DAF7"/>
          </a:solidFill>
          <a:ln>
            <a:solidFill>
              <a:schemeClr val="tx1"/>
            </a:solidFill>
          </a:ln>
        </p:spPr>
        <p:txBody>
          <a:bodyPr/>
          <a:lstStyle/>
          <a:p>
            <a:pPr eaLnBrk="1" hangingPunct="1">
              <a:buFont typeface="Wingdings" pitchFamily="2" charset="2"/>
              <a:buNone/>
            </a:pPr>
            <a:r>
              <a:rPr lang="en-US" smtClean="0"/>
              <a:t>	2.  Convert to X units using the formula:</a:t>
            </a:r>
          </a:p>
        </p:txBody>
      </p:sp>
      <p:sp>
        <p:nvSpPr>
          <p:cNvPr id="284681" name="Rectangle 3"/>
          <p:cNvSpPr>
            <a:spLocks noGrp="1" noChangeArrowheads="1"/>
          </p:cNvSpPr>
          <p:nvPr>
            <p:ph type="title"/>
          </p:nvPr>
        </p:nvSpPr>
        <p:spPr>
          <a:xfrm>
            <a:off x="1766888" y="387350"/>
            <a:ext cx="6623050" cy="660400"/>
          </a:xfrm>
        </p:spPr>
        <p:txBody>
          <a:bodyPr/>
          <a:lstStyle/>
          <a:p>
            <a:pPr eaLnBrk="1" hangingPunct="1">
              <a:lnSpc>
                <a:spcPct val="80000"/>
              </a:lnSpc>
            </a:pPr>
            <a:r>
              <a:rPr lang="en-US" smtClean="0"/>
              <a:t>Finding the X value</a:t>
            </a:r>
          </a:p>
        </p:txBody>
      </p:sp>
      <p:graphicFrame>
        <p:nvGraphicFramePr>
          <p:cNvPr id="284676" name="Object 4"/>
          <p:cNvGraphicFramePr>
            <a:graphicFrameLocks noChangeAspect="1"/>
          </p:cNvGraphicFramePr>
          <p:nvPr/>
        </p:nvGraphicFramePr>
        <p:xfrm>
          <a:off x="2660650" y="2711450"/>
          <a:ext cx="3519488" cy="1711325"/>
        </p:xfrm>
        <a:graphic>
          <a:graphicData uri="http://schemas.openxmlformats.org/presentationml/2006/ole">
            <p:oleObj spid="_x0000_s284676" name="Equation" r:id="rId3" imgW="1358640" imgH="660240" progId="Equation.3">
              <p:embed/>
            </p:oleObj>
          </a:graphicData>
        </a:graphic>
      </p:graphicFrame>
      <p:sp>
        <p:nvSpPr>
          <p:cNvPr id="284682" name="Rectangle 5"/>
          <p:cNvSpPr>
            <a:spLocks noChangeArrowheads="1"/>
          </p:cNvSpPr>
          <p:nvPr/>
        </p:nvSpPr>
        <p:spPr bwMode="auto">
          <a:xfrm>
            <a:off x="1752600" y="4876800"/>
            <a:ext cx="6019800" cy="1295400"/>
          </a:xfrm>
          <a:prstGeom prst="rect">
            <a:avLst/>
          </a:prstGeom>
          <a:solidFill>
            <a:srgbClr val="C7DAF7"/>
          </a:solidFill>
          <a:ln w="9525">
            <a:solidFill>
              <a:schemeClr val="tx1"/>
            </a:solidFill>
            <a:miter lim="800000"/>
            <a:headEnd/>
            <a:tailEnd/>
          </a:ln>
        </p:spPr>
        <p:txBody>
          <a:bodyPr lIns="85342" tIns="42672" rIns="85342" bIns="42672"/>
          <a:lstStyle/>
          <a:p>
            <a:pPr marL="320675" indent="-320675" defTabSz="852488">
              <a:spcBef>
                <a:spcPct val="20000"/>
              </a:spcBef>
              <a:buClr>
                <a:schemeClr val="folHlink"/>
              </a:buClr>
              <a:buSzPct val="60000"/>
              <a:buFont typeface="Wingdings" pitchFamily="2" charset="2"/>
              <a:buNone/>
            </a:pPr>
            <a:r>
              <a:rPr lang="en-US" sz="2800"/>
              <a:t>	</a:t>
            </a:r>
            <a:r>
              <a:rPr lang="en-US"/>
              <a:t>So 20% of the values from a distribution with mean 18.0 and standard deviation 5.0 are less than 13.80</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5" name="Rectangle 4"/>
          <p:cNvSpPr>
            <a:spLocks noGrp="1" noChangeArrowheads="1"/>
          </p:cNvSpPr>
          <p:nvPr>
            <p:ph type="ftr" sz="quarter" idx="10"/>
          </p:nvPr>
        </p:nvSpPr>
        <p:spPr>
          <a:noFill/>
        </p:spPr>
        <p:txBody>
          <a:bodyPr/>
          <a:lstStyle/>
          <a:p>
            <a:r>
              <a:rPr lang="en-US" smtClean="0"/>
              <a:t>Copyright ©2012 Pearson Education</a:t>
            </a:r>
          </a:p>
        </p:txBody>
      </p:sp>
      <p:sp>
        <p:nvSpPr>
          <p:cNvPr id="374786" name="Rectangle 5"/>
          <p:cNvSpPr>
            <a:spLocks noGrp="1" noChangeArrowheads="1"/>
          </p:cNvSpPr>
          <p:nvPr>
            <p:ph type="sldNum" sz="quarter" idx="11"/>
          </p:nvPr>
        </p:nvSpPr>
        <p:spPr>
          <a:noFill/>
        </p:spPr>
        <p:txBody>
          <a:bodyPr/>
          <a:lstStyle/>
          <a:p>
            <a:r>
              <a:rPr lang="en-US" smtClean="0"/>
              <a:t>Chap 6-</a:t>
            </a:r>
            <a:fld id="{59E352C9-86D2-45A6-88D1-06C041FCEAF2}" type="slidenum">
              <a:rPr lang="en-US" smtClean="0"/>
              <a:pPr/>
              <a:t>31</a:t>
            </a:fld>
            <a:endParaRPr lang="en-US" smtClean="0"/>
          </a:p>
        </p:txBody>
      </p:sp>
      <p:sp>
        <p:nvSpPr>
          <p:cNvPr id="374787" name="Title 1"/>
          <p:cNvSpPr>
            <a:spLocks noGrp="1"/>
          </p:cNvSpPr>
          <p:nvPr>
            <p:ph type="title"/>
          </p:nvPr>
        </p:nvSpPr>
        <p:spPr>
          <a:xfrm>
            <a:off x="1150938" y="457200"/>
            <a:ext cx="7383462" cy="990600"/>
          </a:xfrm>
        </p:spPr>
        <p:txBody>
          <a:bodyPr/>
          <a:lstStyle/>
          <a:p>
            <a:pPr eaLnBrk="1" hangingPunct="1"/>
            <a:r>
              <a:rPr lang="en-US" smtClean="0"/>
              <a:t>Using Excel With The Normal Distribution</a:t>
            </a:r>
          </a:p>
        </p:txBody>
      </p:sp>
      <p:sp>
        <p:nvSpPr>
          <p:cNvPr id="374788"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FD861238-6143-43A2-94F5-E9E727BE0603}" type="slidenum">
              <a:rPr lang="en-US" sz="1000"/>
              <a:pPr algn="r" defTabSz="852488"/>
              <a:t>31</a:t>
            </a:fld>
            <a:endParaRPr lang="en-US" sz="1000"/>
          </a:p>
        </p:txBody>
      </p:sp>
      <p:pic>
        <p:nvPicPr>
          <p:cNvPr id="374789" name="Picture 2702" descr="Chap06_Fig6"/>
          <p:cNvPicPr>
            <a:picLocks noChangeAspect="1" noChangeArrowheads="1"/>
          </p:cNvPicPr>
          <p:nvPr/>
        </p:nvPicPr>
        <p:blipFill>
          <a:blip r:embed="rId2"/>
          <a:srcRect/>
          <a:stretch>
            <a:fillRect/>
          </a:stretch>
        </p:blipFill>
        <p:spPr bwMode="auto">
          <a:xfrm>
            <a:off x="152400" y="2209800"/>
            <a:ext cx="8831263" cy="3733800"/>
          </a:xfrm>
          <a:prstGeom prst="rect">
            <a:avLst/>
          </a:prstGeom>
          <a:noFill/>
          <a:ln w="9525">
            <a:noFill/>
            <a:miter lim="800000"/>
            <a:headEnd/>
            <a:tailEnd/>
          </a:ln>
        </p:spPr>
      </p:pic>
      <p:sp>
        <p:nvSpPr>
          <p:cNvPr id="374790" name="TextBox 6"/>
          <p:cNvSpPr txBox="1">
            <a:spLocks noChangeArrowheads="1"/>
          </p:cNvSpPr>
          <p:nvPr/>
        </p:nvSpPr>
        <p:spPr bwMode="auto">
          <a:xfrm>
            <a:off x="1816100" y="1600200"/>
            <a:ext cx="4368800" cy="461963"/>
          </a:xfrm>
          <a:prstGeom prst="rect">
            <a:avLst/>
          </a:prstGeom>
          <a:solidFill>
            <a:schemeClr val="accent2"/>
          </a:solidFill>
          <a:ln w="9525">
            <a:noFill/>
            <a:miter lim="800000"/>
            <a:headEnd/>
            <a:tailEnd/>
          </a:ln>
        </p:spPr>
        <p:txBody>
          <a:bodyPr wrap="none">
            <a:spAutoFit/>
          </a:bodyPr>
          <a:lstStyle/>
          <a:p>
            <a:pPr algn="ctr">
              <a:spcBef>
                <a:spcPct val="50000"/>
              </a:spcBef>
            </a:pPr>
            <a:r>
              <a:rPr lang="en-US" b="1"/>
              <a:t>Finding Normal Probabilities</a:t>
            </a:r>
          </a:p>
        </p:txBody>
      </p:sp>
      <p:cxnSp>
        <p:nvCxnSpPr>
          <p:cNvPr id="374791" name="Straight Arrow Connector 8"/>
          <p:cNvCxnSpPr>
            <a:cxnSpLocks noChangeShapeType="1"/>
            <a:stCxn id="374790" idx="1"/>
          </p:cNvCxnSpPr>
          <p:nvPr/>
        </p:nvCxnSpPr>
        <p:spPr bwMode="auto">
          <a:xfrm rot="10800000" flipV="1">
            <a:off x="1371600" y="1830388"/>
            <a:ext cx="444500" cy="379412"/>
          </a:xfrm>
          <a:prstGeom prst="straightConnector1">
            <a:avLst/>
          </a:prstGeom>
          <a:noFill/>
          <a:ln w="38100" algn="ctr">
            <a:solidFill>
              <a:schemeClr val="tx1"/>
            </a:solidFill>
            <a:round/>
            <a:headEnd/>
            <a:tailEnd type="arrow" w="med" len="med"/>
          </a:ln>
        </p:spPr>
      </p:cxnSp>
      <p:cxnSp>
        <p:nvCxnSpPr>
          <p:cNvPr id="374792" name="Straight Arrow Connector 9"/>
          <p:cNvCxnSpPr>
            <a:cxnSpLocks noChangeShapeType="1"/>
            <a:stCxn id="374790" idx="3"/>
          </p:cNvCxnSpPr>
          <p:nvPr/>
        </p:nvCxnSpPr>
        <p:spPr bwMode="auto">
          <a:xfrm flipH="1">
            <a:off x="6172200" y="1830388"/>
            <a:ext cx="12700" cy="1446212"/>
          </a:xfrm>
          <a:prstGeom prst="straightConnector1">
            <a:avLst/>
          </a:prstGeom>
          <a:noFill/>
          <a:ln w="38100" algn="ctr">
            <a:solidFill>
              <a:schemeClr val="tx1"/>
            </a:solidFill>
            <a:round/>
            <a:headEnd/>
            <a:tailEnd type="arrow" w="med" len="med"/>
          </a:ln>
        </p:spPr>
      </p:cxnSp>
      <p:sp>
        <p:nvSpPr>
          <p:cNvPr id="374793" name="TextBox 12"/>
          <p:cNvSpPr txBox="1">
            <a:spLocks noChangeArrowheads="1"/>
          </p:cNvSpPr>
          <p:nvPr/>
        </p:nvSpPr>
        <p:spPr bwMode="auto">
          <a:xfrm>
            <a:off x="4419600" y="6096000"/>
            <a:ext cx="4479925" cy="461963"/>
          </a:xfrm>
          <a:prstGeom prst="rect">
            <a:avLst/>
          </a:prstGeom>
          <a:solidFill>
            <a:schemeClr val="accent2"/>
          </a:solidFill>
          <a:ln w="9525">
            <a:noFill/>
            <a:miter lim="800000"/>
            <a:headEnd/>
            <a:tailEnd/>
          </a:ln>
        </p:spPr>
        <p:txBody>
          <a:bodyPr wrap="none">
            <a:spAutoFit/>
          </a:bodyPr>
          <a:lstStyle/>
          <a:p>
            <a:pPr algn="ctr">
              <a:spcBef>
                <a:spcPct val="50000"/>
              </a:spcBef>
            </a:pPr>
            <a:r>
              <a:rPr lang="en-US" b="1"/>
              <a:t>Finding X Given A Probability</a:t>
            </a:r>
          </a:p>
        </p:txBody>
      </p:sp>
      <p:cxnSp>
        <p:nvCxnSpPr>
          <p:cNvPr id="374794" name="Straight Arrow Connector 14"/>
          <p:cNvCxnSpPr>
            <a:cxnSpLocks noChangeShapeType="1"/>
            <a:stCxn id="374793" idx="1"/>
          </p:cNvCxnSpPr>
          <p:nvPr/>
        </p:nvCxnSpPr>
        <p:spPr bwMode="auto">
          <a:xfrm rot="10800000" flipH="1">
            <a:off x="4419600" y="5943600"/>
            <a:ext cx="149225" cy="382588"/>
          </a:xfrm>
          <a:prstGeom prst="straightConnector1">
            <a:avLst/>
          </a:prstGeom>
          <a:noFill/>
          <a:ln w="38100" algn="ctr">
            <a:solidFill>
              <a:schemeClr val="tx1"/>
            </a:solidFill>
            <a:round/>
            <a:headEnd/>
            <a:tailEnd type="arrow" w="med" len="med"/>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09" name="Rectangle 4"/>
          <p:cNvSpPr>
            <a:spLocks noGrp="1" noChangeArrowheads="1"/>
          </p:cNvSpPr>
          <p:nvPr>
            <p:ph type="ftr" sz="quarter" idx="10"/>
          </p:nvPr>
        </p:nvSpPr>
        <p:spPr>
          <a:noFill/>
        </p:spPr>
        <p:txBody>
          <a:bodyPr/>
          <a:lstStyle/>
          <a:p>
            <a:r>
              <a:rPr lang="en-US" smtClean="0"/>
              <a:t>Copyright ©2012 Pearson Education</a:t>
            </a:r>
          </a:p>
        </p:txBody>
      </p:sp>
      <p:sp>
        <p:nvSpPr>
          <p:cNvPr id="375810" name="Rectangle 5"/>
          <p:cNvSpPr>
            <a:spLocks noGrp="1" noChangeArrowheads="1"/>
          </p:cNvSpPr>
          <p:nvPr>
            <p:ph type="sldNum" sz="quarter" idx="11"/>
          </p:nvPr>
        </p:nvSpPr>
        <p:spPr>
          <a:noFill/>
        </p:spPr>
        <p:txBody>
          <a:bodyPr/>
          <a:lstStyle/>
          <a:p>
            <a:r>
              <a:rPr lang="en-US" smtClean="0"/>
              <a:t>Chap 6-</a:t>
            </a:r>
            <a:fld id="{F10FFF3B-54A1-41E8-B2CC-1584251FE89C}" type="slidenum">
              <a:rPr lang="en-US" smtClean="0"/>
              <a:pPr/>
              <a:t>32</a:t>
            </a:fld>
            <a:endParaRPr lang="en-US" smtClean="0"/>
          </a:p>
        </p:txBody>
      </p:sp>
      <p:sp>
        <p:nvSpPr>
          <p:cNvPr id="375811" name="Title 1"/>
          <p:cNvSpPr>
            <a:spLocks noGrp="1"/>
          </p:cNvSpPr>
          <p:nvPr>
            <p:ph type="title"/>
          </p:nvPr>
        </p:nvSpPr>
        <p:spPr>
          <a:xfrm>
            <a:off x="1150938" y="457200"/>
            <a:ext cx="7383462" cy="990600"/>
          </a:xfrm>
        </p:spPr>
        <p:txBody>
          <a:bodyPr/>
          <a:lstStyle/>
          <a:p>
            <a:pPr eaLnBrk="1" hangingPunct="1"/>
            <a:r>
              <a:rPr lang="en-US" smtClean="0"/>
              <a:t>Using Minitab With The Normal Distribution</a:t>
            </a:r>
          </a:p>
        </p:txBody>
      </p:sp>
      <p:sp>
        <p:nvSpPr>
          <p:cNvPr id="375812"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D2721F83-5FBF-487A-827B-E504891105D4}" type="slidenum">
              <a:rPr lang="en-US" sz="1000"/>
              <a:pPr algn="r" defTabSz="852488"/>
              <a:t>32</a:t>
            </a:fld>
            <a:endParaRPr lang="en-US" sz="1000"/>
          </a:p>
        </p:txBody>
      </p:sp>
      <p:sp>
        <p:nvSpPr>
          <p:cNvPr id="375813" name="TextBox 6"/>
          <p:cNvSpPr txBox="1">
            <a:spLocks noChangeArrowheads="1"/>
          </p:cNvSpPr>
          <p:nvPr/>
        </p:nvSpPr>
        <p:spPr bwMode="auto">
          <a:xfrm>
            <a:off x="4156075" y="1600200"/>
            <a:ext cx="4683125" cy="708025"/>
          </a:xfrm>
          <a:prstGeom prst="rect">
            <a:avLst/>
          </a:prstGeom>
          <a:solidFill>
            <a:schemeClr val="accent2"/>
          </a:solidFill>
          <a:ln w="9525">
            <a:noFill/>
            <a:miter lim="800000"/>
            <a:headEnd/>
            <a:tailEnd/>
          </a:ln>
        </p:spPr>
        <p:txBody>
          <a:bodyPr wrap="none">
            <a:spAutoFit/>
          </a:bodyPr>
          <a:lstStyle/>
          <a:p>
            <a:pPr algn="ctr">
              <a:spcBef>
                <a:spcPct val="50000"/>
              </a:spcBef>
            </a:pPr>
            <a:r>
              <a:rPr lang="en-US" sz="1600" b="1"/>
              <a:t>Finding P(X&lt;5) when X is normal</a:t>
            </a:r>
          </a:p>
          <a:p>
            <a:pPr algn="ctr">
              <a:spcBef>
                <a:spcPct val="50000"/>
              </a:spcBef>
            </a:pPr>
            <a:r>
              <a:rPr lang="en-US" sz="1600" b="1"/>
              <a:t>with a mean of 7 and a standard deviation of 2</a:t>
            </a:r>
          </a:p>
        </p:txBody>
      </p:sp>
      <p:pic>
        <p:nvPicPr>
          <p:cNvPr id="375814" name="Picture 2"/>
          <p:cNvPicPr>
            <a:picLocks noChangeAspect="1" noChangeArrowheads="1"/>
          </p:cNvPicPr>
          <p:nvPr/>
        </p:nvPicPr>
        <p:blipFill>
          <a:blip r:embed="rId2"/>
          <a:srcRect r="67448" b="58333"/>
          <a:stretch>
            <a:fillRect/>
          </a:stretch>
        </p:blipFill>
        <p:spPr bwMode="auto">
          <a:xfrm>
            <a:off x="152400" y="2286000"/>
            <a:ext cx="3905250" cy="3124200"/>
          </a:xfrm>
          <a:prstGeom prst="rect">
            <a:avLst/>
          </a:prstGeom>
          <a:noFill/>
          <a:ln w="9525">
            <a:noFill/>
            <a:miter lim="800000"/>
            <a:headEnd/>
            <a:tailEnd/>
          </a:ln>
        </p:spPr>
      </p:pic>
      <p:pic>
        <p:nvPicPr>
          <p:cNvPr id="375815" name="Picture 3"/>
          <p:cNvPicPr>
            <a:picLocks noChangeAspect="1" noChangeArrowheads="1"/>
          </p:cNvPicPr>
          <p:nvPr/>
        </p:nvPicPr>
        <p:blipFill>
          <a:blip r:embed="rId3"/>
          <a:srcRect l="5208" t="25000" r="66145" b="37500"/>
          <a:stretch>
            <a:fillRect/>
          </a:stretch>
        </p:blipFill>
        <p:spPr bwMode="auto">
          <a:xfrm>
            <a:off x="4876800" y="2590800"/>
            <a:ext cx="3632200" cy="2971800"/>
          </a:xfrm>
          <a:prstGeom prst="rect">
            <a:avLst/>
          </a:prstGeom>
          <a:noFill/>
          <a:ln w="9525">
            <a:noFill/>
            <a:miter lim="800000"/>
            <a:headEnd/>
            <a:tailEnd/>
          </a:ln>
        </p:spPr>
      </p:pic>
      <p:cxnSp>
        <p:nvCxnSpPr>
          <p:cNvPr id="375816" name="Straight Arrow Connector 8"/>
          <p:cNvCxnSpPr>
            <a:cxnSpLocks noChangeShapeType="1"/>
          </p:cNvCxnSpPr>
          <p:nvPr/>
        </p:nvCxnSpPr>
        <p:spPr bwMode="auto">
          <a:xfrm rot="16200000" flipH="1">
            <a:off x="5295900" y="2781300"/>
            <a:ext cx="1295400" cy="304800"/>
          </a:xfrm>
          <a:prstGeom prst="straightConnector1">
            <a:avLst/>
          </a:prstGeom>
          <a:noFill/>
          <a:ln w="38100" algn="ctr">
            <a:solidFill>
              <a:schemeClr val="tx1"/>
            </a:solidFill>
            <a:round/>
            <a:headEnd/>
            <a:tailEnd type="arrow" w="med" len="med"/>
          </a:ln>
        </p:spPr>
      </p:cxnSp>
      <p:cxnSp>
        <p:nvCxnSpPr>
          <p:cNvPr id="375817" name="Straight Arrow Connector 9"/>
          <p:cNvCxnSpPr>
            <a:cxnSpLocks noChangeShapeType="1"/>
          </p:cNvCxnSpPr>
          <p:nvPr/>
        </p:nvCxnSpPr>
        <p:spPr bwMode="auto">
          <a:xfrm rot="5400000">
            <a:off x="7169150" y="2279650"/>
            <a:ext cx="1524000" cy="1384300"/>
          </a:xfrm>
          <a:prstGeom prst="straightConnector1">
            <a:avLst/>
          </a:prstGeom>
          <a:noFill/>
          <a:ln w="38100" algn="ctr">
            <a:solidFill>
              <a:schemeClr val="tx1"/>
            </a:solidFill>
            <a:round/>
            <a:headEnd/>
            <a:tailEnd type="arrow" w="med" len="med"/>
          </a:ln>
        </p:spPr>
      </p:cxnSp>
      <p:sp>
        <p:nvSpPr>
          <p:cNvPr id="375818" name="Rectangle 17"/>
          <p:cNvSpPr>
            <a:spLocks noChangeArrowheads="1"/>
          </p:cNvSpPr>
          <p:nvPr/>
        </p:nvSpPr>
        <p:spPr bwMode="auto">
          <a:xfrm>
            <a:off x="4572000" y="5562600"/>
            <a:ext cx="4114800" cy="1108075"/>
          </a:xfrm>
          <a:prstGeom prst="rect">
            <a:avLst/>
          </a:prstGeom>
          <a:noFill/>
          <a:ln w="9525">
            <a:noFill/>
            <a:miter lim="800000"/>
            <a:headEnd/>
            <a:tailEnd/>
          </a:ln>
        </p:spPr>
        <p:txBody>
          <a:bodyPr>
            <a:spAutoFit/>
          </a:bodyPr>
          <a:lstStyle/>
          <a:p>
            <a:pPr algn="ctr">
              <a:spcBef>
                <a:spcPct val="50000"/>
              </a:spcBef>
            </a:pPr>
            <a:r>
              <a:rPr lang="en-US" sz="1200" b="1"/>
              <a:t>Cumulative Distribution Function </a:t>
            </a:r>
          </a:p>
          <a:p>
            <a:pPr algn="ctr">
              <a:spcBef>
                <a:spcPct val="50000"/>
              </a:spcBef>
            </a:pPr>
            <a:r>
              <a:rPr lang="en-US" sz="1200"/>
              <a:t>Normal with mean = 7 and standard deviation = 2</a:t>
            </a:r>
          </a:p>
          <a:p>
            <a:pPr algn="ctr">
              <a:spcBef>
                <a:spcPct val="50000"/>
              </a:spcBef>
            </a:pPr>
            <a:r>
              <a:rPr lang="en-US" sz="1200"/>
              <a:t>x  P( X &lt;= x )</a:t>
            </a:r>
          </a:p>
          <a:p>
            <a:pPr algn="ctr">
              <a:spcBef>
                <a:spcPct val="50000"/>
              </a:spcBef>
            </a:pPr>
            <a:r>
              <a:rPr lang="en-US" sz="1200"/>
              <a:t>5     0.158655</a:t>
            </a:r>
          </a:p>
        </p:txBody>
      </p:sp>
      <p:sp>
        <p:nvSpPr>
          <p:cNvPr id="375819" name="Oval 18"/>
          <p:cNvSpPr>
            <a:spLocks noChangeArrowheads="1"/>
          </p:cNvSpPr>
          <p:nvPr/>
        </p:nvSpPr>
        <p:spPr bwMode="auto">
          <a:xfrm>
            <a:off x="914400" y="1828800"/>
            <a:ext cx="457200" cy="476250"/>
          </a:xfrm>
          <a:prstGeom prst="ellipse">
            <a:avLst/>
          </a:prstGeom>
          <a:solidFill>
            <a:schemeClr val="accent1"/>
          </a:solidFill>
          <a:ln w="9525" algn="ctr">
            <a:solidFill>
              <a:schemeClr val="tx1"/>
            </a:solidFill>
            <a:round/>
            <a:headEnd/>
            <a:tailEnd/>
          </a:ln>
        </p:spPr>
        <p:txBody>
          <a:bodyPr>
            <a:spAutoFit/>
          </a:bodyPr>
          <a:lstStyle/>
          <a:p>
            <a:pPr algn="ctr">
              <a:spcBef>
                <a:spcPct val="50000"/>
              </a:spcBef>
            </a:pPr>
            <a:r>
              <a:rPr lang="en-US" sz="1600"/>
              <a:t>1</a:t>
            </a:r>
          </a:p>
        </p:txBody>
      </p:sp>
      <p:sp>
        <p:nvSpPr>
          <p:cNvPr id="375820" name="Oval 19"/>
          <p:cNvSpPr>
            <a:spLocks noChangeArrowheads="1"/>
          </p:cNvSpPr>
          <p:nvPr/>
        </p:nvSpPr>
        <p:spPr bwMode="auto">
          <a:xfrm>
            <a:off x="533400" y="4267200"/>
            <a:ext cx="457200" cy="476250"/>
          </a:xfrm>
          <a:prstGeom prst="ellipse">
            <a:avLst/>
          </a:prstGeom>
          <a:solidFill>
            <a:schemeClr val="accent1"/>
          </a:solidFill>
          <a:ln w="9525" algn="ctr">
            <a:solidFill>
              <a:schemeClr val="tx1"/>
            </a:solidFill>
            <a:round/>
            <a:headEnd/>
            <a:tailEnd/>
          </a:ln>
        </p:spPr>
        <p:txBody>
          <a:bodyPr>
            <a:spAutoFit/>
          </a:bodyPr>
          <a:lstStyle/>
          <a:p>
            <a:pPr algn="ctr">
              <a:spcBef>
                <a:spcPct val="50000"/>
              </a:spcBef>
            </a:pPr>
            <a:r>
              <a:rPr lang="en-US" sz="1600"/>
              <a:t>2</a:t>
            </a:r>
          </a:p>
        </p:txBody>
      </p:sp>
      <p:sp>
        <p:nvSpPr>
          <p:cNvPr id="375821" name="Oval 20"/>
          <p:cNvSpPr>
            <a:spLocks noChangeArrowheads="1"/>
          </p:cNvSpPr>
          <p:nvPr/>
        </p:nvSpPr>
        <p:spPr bwMode="auto">
          <a:xfrm>
            <a:off x="3352800" y="4800600"/>
            <a:ext cx="457200" cy="476250"/>
          </a:xfrm>
          <a:prstGeom prst="ellipse">
            <a:avLst/>
          </a:prstGeom>
          <a:solidFill>
            <a:schemeClr val="accent1"/>
          </a:solidFill>
          <a:ln w="9525" algn="ctr">
            <a:solidFill>
              <a:schemeClr val="tx1"/>
            </a:solidFill>
            <a:round/>
            <a:headEnd/>
            <a:tailEnd/>
          </a:ln>
        </p:spPr>
        <p:txBody>
          <a:bodyPr>
            <a:spAutoFit/>
          </a:bodyPr>
          <a:lstStyle/>
          <a:p>
            <a:pPr algn="ctr">
              <a:spcBef>
                <a:spcPct val="50000"/>
              </a:spcBef>
            </a:pPr>
            <a:r>
              <a:rPr lang="en-US" sz="1600"/>
              <a:t>3</a:t>
            </a:r>
          </a:p>
        </p:txBody>
      </p:sp>
      <p:sp>
        <p:nvSpPr>
          <p:cNvPr id="375822" name="Oval 21"/>
          <p:cNvSpPr>
            <a:spLocks noChangeArrowheads="1"/>
          </p:cNvSpPr>
          <p:nvPr/>
        </p:nvSpPr>
        <p:spPr bwMode="auto">
          <a:xfrm>
            <a:off x="5181600" y="3657600"/>
            <a:ext cx="457200" cy="476250"/>
          </a:xfrm>
          <a:prstGeom prst="ellipse">
            <a:avLst/>
          </a:prstGeom>
          <a:solidFill>
            <a:schemeClr val="accent1"/>
          </a:solidFill>
          <a:ln w="9525" algn="ctr">
            <a:solidFill>
              <a:schemeClr val="tx1"/>
            </a:solidFill>
            <a:round/>
            <a:headEnd/>
            <a:tailEnd/>
          </a:ln>
        </p:spPr>
        <p:txBody>
          <a:bodyPr>
            <a:spAutoFit/>
          </a:bodyPr>
          <a:lstStyle/>
          <a:p>
            <a:pPr algn="ctr">
              <a:spcBef>
                <a:spcPct val="50000"/>
              </a:spcBef>
            </a:pPr>
            <a:r>
              <a:rPr lang="en-US" sz="1600"/>
              <a:t>4</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3" name="Rectangle 4"/>
          <p:cNvSpPr>
            <a:spLocks noGrp="1" noChangeArrowheads="1"/>
          </p:cNvSpPr>
          <p:nvPr>
            <p:ph type="ftr" sz="quarter" idx="10"/>
          </p:nvPr>
        </p:nvSpPr>
        <p:spPr>
          <a:noFill/>
        </p:spPr>
        <p:txBody>
          <a:bodyPr/>
          <a:lstStyle/>
          <a:p>
            <a:r>
              <a:rPr lang="en-US" smtClean="0"/>
              <a:t>Copyright ©2012 Pearson Education</a:t>
            </a:r>
          </a:p>
        </p:txBody>
      </p:sp>
      <p:sp>
        <p:nvSpPr>
          <p:cNvPr id="376834" name="Rectangle 5"/>
          <p:cNvSpPr>
            <a:spLocks noGrp="1" noChangeArrowheads="1"/>
          </p:cNvSpPr>
          <p:nvPr>
            <p:ph type="sldNum" sz="quarter" idx="11"/>
          </p:nvPr>
        </p:nvSpPr>
        <p:spPr>
          <a:noFill/>
        </p:spPr>
        <p:txBody>
          <a:bodyPr/>
          <a:lstStyle/>
          <a:p>
            <a:r>
              <a:rPr lang="en-US" smtClean="0"/>
              <a:t>Chap 6-</a:t>
            </a:r>
            <a:fld id="{50143B43-230D-42F5-A3AD-92A792F9B5D4}" type="slidenum">
              <a:rPr lang="en-US" smtClean="0"/>
              <a:pPr/>
              <a:t>33</a:t>
            </a:fld>
            <a:endParaRPr lang="en-US" smtClean="0"/>
          </a:p>
        </p:txBody>
      </p:sp>
      <p:sp>
        <p:nvSpPr>
          <p:cNvPr id="376835" name="Title 1"/>
          <p:cNvSpPr>
            <a:spLocks noGrp="1"/>
          </p:cNvSpPr>
          <p:nvPr>
            <p:ph type="title"/>
          </p:nvPr>
        </p:nvSpPr>
        <p:spPr>
          <a:xfrm>
            <a:off x="1143000" y="381000"/>
            <a:ext cx="7383463" cy="990600"/>
          </a:xfrm>
        </p:spPr>
        <p:txBody>
          <a:bodyPr/>
          <a:lstStyle/>
          <a:p>
            <a:pPr eaLnBrk="1" hangingPunct="1"/>
            <a:r>
              <a:rPr lang="en-US" smtClean="0"/>
              <a:t>Using Minitab With The Normal Distribution</a:t>
            </a:r>
          </a:p>
        </p:txBody>
      </p:sp>
      <p:sp>
        <p:nvSpPr>
          <p:cNvPr id="376836"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E3E1E503-344F-46DD-96E5-643896D7A9E4}" type="slidenum">
              <a:rPr lang="en-US" sz="1000"/>
              <a:pPr algn="r" defTabSz="852488"/>
              <a:t>33</a:t>
            </a:fld>
            <a:endParaRPr lang="en-US" sz="1000"/>
          </a:p>
        </p:txBody>
      </p:sp>
      <p:sp>
        <p:nvSpPr>
          <p:cNvPr id="376837" name="Text Box 20"/>
          <p:cNvSpPr txBox="1">
            <a:spLocks noChangeArrowheads="1"/>
          </p:cNvSpPr>
          <p:nvPr/>
        </p:nvSpPr>
        <p:spPr bwMode="auto">
          <a:xfrm>
            <a:off x="7467600" y="1143000"/>
            <a:ext cx="15240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pic>
        <p:nvPicPr>
          <p:cNvPr id="376838" name="Picture 2"/>
          <p:cNvPicPr>
            <a:picLocks noChangeAspect="1" noChangeArrowheads="1"/>
          </p:cNvPicPr>
          <p:nvPr/>
        </p:nvPicPr>
        <p:blipFill>
          <a:blip r:embed="rId2"/>
          <a:srcRect r="67448" b="58333"/>
          <a:stretch>
            <a:fillRect/>
          </a:stretch>
        </p:blipFill>
        <p:spPr bwMode="auto">
          <a:xfrm>
            <a:off x="152400" y="2286000"/>
            <a:ext cx="3905250" cy="3124200"/>
          </a:xfrm>
          <a:prstGeom prst="rect">
            <a:avLst/>
          </a:prstGeom>
          <a:noFill/>
          <a:ln w="9525">
            <a:noFill/>
            <a:miter lim="800000"/>
            <a:headEnd/>
            <a:tailEnd/>
          </a:ln>
        </p:spPr>
      </p:pic>
      <p:sp>
        <p:nvSpPr>
          <p:cNvPr id="376839" name="Oval 8"/>
          <p:cNvSpPr>
            <a:spLocks noChangeArrowheads="1"/>
          </p:cNvSpPr>
          <p:nvPr/>
        </p:nvSpPr>
        <p:spPr bwMode="auto">
          <a:xfrm>
            <a:off x="914400" y="1828800"/>
            <a:ext cx="457200" cy="476250"/>
          </a:xfrm>
          <a:prstGeom prst="ellipse">
            <a:avLst/>
          </a:prstGeom>
          <a:solidFill>
            <a:schemeClr val="accent1"/>
          </a:solidFill>
          <a:ln w="9525" algn="ctr">
            <a:solidFill>
              <a:schemeClr val="tx1"/>
            </a:solidFill>
            <a:round/>
            <a:headEnd/>
            <a:tailEnd/>
          </a:ln>
        </p:spPr>
        <p:txBody>
          <a:bodyPr>
            <a:spAutoFit/>
          </a:bodyPr>
          <a:lstStyle/>
          <a:p>
            <a:pPr algn="ctr">
              <a:spcBef>
                <a:spcPct val="50000"/>
              </a:spcBef>
            </a:pPr>
            <a:r>
              <a:rPr lang="en-US" sz="1600"/>
              <a:t>1</a:t>
            </a:r>
          </a:p>
        </p:txBody>
      </p:sp>
      <p:sp>
        <p:nvSpPr>
          <p:cNvPr id="376840" name="Oval 9"/>
          <p:cNvSpPr>
            <a:spLocks noChangeArrowheads="1"/>
          </p:cNvSpPr>
          <p:nvPr/>
        </p:nvSpPr>
        <p:spPr bwMode="auto">
          <a:xfrm>
            <a:off x="533400" y="4267200"/>
            <a:ext cx="457200" cy="476250"/>
          </a:xfrm>
          <a:prstGeom prst="ellipse">
            <a:avLst/>
          </a:prstGeom>
          <a:solidFill>
            <a:schemeClr val="accent1"/>
          </a:solidFill>
          <a:ln w="9525" algn="ctr">
            <a:solidFill>
              <a:schemeClr val="tx1"/>
            </a:solidFill>
            <a:round/>
            <a:headEnd/>
            <a:tailEnd/>
          </a:ln>
        </p:spPr>
        <p:txBody>
          <a:bodyPr>
            <a:spAutoFit/>
          </a:bodyPr>
          <a:lstStyle/>
          <a:p>
            <a:pPr algn="ctr">
              <a:spcBef>
                <a:spcPct val="50000"/>
              </a:spcBef>
            </a:pPr>
            <a:r>
              <a:rPr lang="en-US" sz="1600"/>
              <a:t>2</a:t>
            </a:r>
          </a:p>
        </p:txBody>
      </p:sp>
      <p:sp>
        <p:nvSpPr>
          <p:cNvPr id="376841" name="Oval 10"/>
          <p:cNvSpPr>
            <a:spLocks noChangeArrowheads="1"/>
          </p:cNvSpPr>
          <p:nvPr/>
        </p:nvSpPr>
        <p:spPr bwMode="auto">
          <a:xfrm>
            <a:off x="3352800" y="4800600"/>
            <a:ext cx="457200" cy="476250"/>
          </a:xfrm>
          <a:prstGeom prst="ellipse">
            <a:avLst/>
          </a:prstGeom>
          <a:solidFill>
            <a:schemeClr val="accent1"/>
          </a:solidFill>
          <a:ln w="9525" algn="ctr">
            <a:solidFill>
              <a:schemeClr val="tx1"/>
            </a:solidFill>
            <a:round/>
            <a:headEnd/>
            <a:tailEnd/>
          </a:ln>
        </p:spPr>
        <p:txBody>
          <a:bodyPr>
            <a:spAutoFit/>
          </a:bodyPr>
          <a:lstStyle/>
          <a:p>
            <a:pPr algn="ctr">
              <a:spcBef>
                <a:spcPct val="50000"/>
              </a:spcBef>
            </a:pPr>
            <a:r>
              <a:rPr lang="en-US" sz="1600"/>
              <a:t>3</a:t>
            </a:r>
          </a:p>
        </p:txBody>
      </p:sp>
      <p:pic>
        <p:nvPicPr>
          <p:cNvPr id="376842" name="Picture 2"/>
          <p:cNvPicPr>
            <a:picLocks noChangeAspect="1" noChangeArrowheads="1"/>
          </p:cNvPicPr>
          <p:nvPr/>
        </p:nvPicPr>
        <p:blipFill>
          <a:blip r:embed="rId3"/>
          <a:srcRect l="14934" t="28061" r="55730" b="33333"/>
          <a:stretch>
            <a:fillRect/>
          </a:stretch>
        </p:blipFill>
        <p:spPr bwMode="auto">
          <a:xfrm>
            <a:off x="5029200" y="2438400"/>
            <a:ext cx="3657600" cy="3008313"/>
          </a:xfrm>
          <a:prstGeom prst="rect">
            <a:avLst/>
          </a:prstGeom>
          <a:noFill/>
          <a:ln w="9525">
            <a:noFill/>
            <a:miter lim="800000"/>
            <a:headEnd/>
            <a:tailEnd/>
          </a:ln>
        </p:spPr>
      </p:pic>
      <p:sp>
        <p:nvSpPr>
          <p:cNvPr id="376843" name="TextBox 12"/>
          <p:cNvSpPr txBox="1">
            <a:spLocks noChangeArrowheads="1"/>
          </p:cNvSpPr>
          <p:nvPr/>
        </p:nvSpPr>
        <p:spPr bwMode="auto">
          <a:xfrm>
            <a:off x="4070350" y="1600200"/>
            <a:ext cx="4856163" cy="708025"/>
          </a:xfrm>
          <a:prstGeom prst="rect">
            <a:avLst/>
          </a:prstGeom>
          <a:solidFill>
            <a:schemeClr val="accent2"/>
          </a:solidFill>
          <a:ln w="9525">
            <a:noFill/>
            <a:miter lim="800000"/>
            <a:headEnd/>
            <a:tailEnd/>
          </a:ln>
        </p:spPr>
        <p:txBody>
          <a:bodyPr wrap="none">
            <a:spAutoFit/>
          </a:bodyPr>
          <a:lstStyle/>
          <a:p>
            <a:pPr algn="ctr">
              <a:spcBef>
                <a:spcPct val="50000"/>
              </a:spcBef>
            </a:pPr>
            <a:r>
              <a:rPr lang="en-US" sz="1600" b="1"/>
              <a:t>Finding  x so that P(X&lt;x) = 0.1 when X is normal</a:t>
            </a:r>
          </a:p>
          <a:p>
            <a:pPr algn="ctr">
              <a:spcBef>
                <a:spcPct val="50000"/>
              </a:spcBef>
            </a:pPr>
            <a:r>
              <a:rPr lang="en-US" sz="1600" b="1"/>
              <a:t>with a mean of 7 and a standard deviation of 2</a:t>
            </a:r>
          </a:p>
        </p:txBody>
      </p:sp>
      <p:cxnSp>
        <p:nvCxnSpPr>
          <p:cNvPr id="376844" name="Straight Arrow Connector 13"/>
          <p:cNvCxnSpPr>
            <a:cxnSpLocks noChangeShapeType="1"/>
          </p:cNvCxnSpPr>
          <p:nvPr/>
        </p:nvCxnSpPr>
        <p:spPr bwMode="auto">
          <a:xfrm rot="16200000" flipH="1">
            <a:off x="5486400" y="2590800"/>
            <a:ext cx="1066800" cy="457200"/>
          </a:xfrm>
          <a:prstGeom prst="straightConnector1">
            <a:avLst/>
          </a:prstGeom>
          <a:noFill/>
          <a:ln w="38100" algn="ctr">
            <a:solidFill>
              <a:schemeClr val="tx1"/>
            </a:solidFill>
            <a:round/>
            <a:headEnd/>
            <a:tailEnd type="arrow" w="med" len="med"/>
          </a:ln>
        </p:spPr>
      </p:cxnSp>
      <p:cxnSp>
        <p:nvCxnSpPr>
          <p:cNvPr id="376845" name="Straight Arrow Connector 14"/>
          <p:cNvCxnSpPr>
            <a:cxnSpLocks noChangeShapeType="1"/>
          </p:cNvCxnSpPr>
          <p:nvPr/>
        </p:nvCxnSpPr>
        <p:spPr bwMode="auto">
          <a:xfrm rot="5400000">
            <a:off x="7321550" y="2279650"/>
            <a:ext cx="1371600" cy="1231900"/>
          </a:xfrm>
          <a:prstGeom prst="straightConnector1">
            <a:avLst/>
          </a:prstGeom>
          <a:noFill/>
          <a:ln w="38100" algn="ctr">
            <a:solidFill>
              <a:schemeClr val="tx1"/>
            </a:solidFill>
            <a:round/>
            <a:headEnd/>
            <a:tailEnd type="arrow" w="med" len="med"/>
          </a:ln>
        </p:spPr>
      </p:cxnSp>
      <p:sp>
        <p:nvSpPr>
          <p:cNvPr id="376846" name="Oval 15"/>
          <p:cNvSpPr>
            <a:spLocks noChangeArrowheads="1"/>
          </p:cNvSpPr>
          <p:nvPr/>
        </p:nvSpPr>
        <p:spPr bwMode="auto">
          <a:xfrm>
            <a:off x="5486400" y="3733800"/>
            <a:ext cx="457200" cy="476250"/>
          </a:xfrm>
          <a:prstGeom prst="ellipse">
            <a:avLst/>
          </a:prstGeom>
          <a:solidFill>
            <a:schemeClr val="accent1"/>
          </a:solidFill>
          <a:ln w="9525" algn="ctr">
            <a:solidFill>
              <a:schemeClr val="tx1"/>
            </a:solidFill>
            <a:round/>
            <a:headEnd/>
            <a:tailEnd/>
          </a:ln>
        </p:spPr>
        <p:txBody>
          <a:bodyPr>
            <a:spAutoFit/>
          </a:bodyPr>
          <a:lstStyle/>
          <a:p>
            <a:pPr algn="ctr">
              <a:spcBef>
                <a:spcPct val="50000"/>
              </a:spcBef>
            </a:pPr>
            <a:r>
              <a:rPr lang="en-US" sz="1600"/>
              <a:t>4</a:t>
            </a:r>
          </a:p>
        </p:txBody>
      </p:sp>
      <p:sp>
        <p:nvSpPr>
          <p:cNvPr id="376847" name="Rectangle 18"/>
          <p:cNvSpPr>
            <a:spLocks noChangeArrowheads="1"/>
          </p:cNvSpPr>
          <p:nvPr/>
        </p:nvSpPr>
        <p:spPr bwMode="auto">
          <a:xfrm>
            <a:off x="4419600" y="5427663"/>
            <a:ext cx="4724400" cy="1277937"/>
          </a:xfrm>
          <a:prstGeom prst="rect">
            <a:avLst/>
          </a:prstGeom>
          <a:noFill/>
          <a:ln w="9525">
            <a:noFill/>
            <a:miter lim="800000"/>
            <a:headEnd/>
            <a:tailEnd/>
          </a:ln>
        </p:spPr>
        <p:txBody>
          <a:bodyPr>
            <a:spAutoFit/>
          </a:bodyPr>
          <a:lstStyle/>
          <a:p>
            <a:pPr algn="ctr">
              <a:spcBef>
                <a:spcPct val="50000"/>
              </a:spcBef>
            </a:pPr>
            <a:r>
              <a:rPr lang="en-US" sz="1400" b="1"/>
              <a:t>Inverse Cumulative Distribution Function </a:t>
            </a:r>
          </a:p>
          <a:p>
            <a:pPr algn="ctr">
              <a:spcBef>
                <a:spcPct val="50000"/>
              </a:spcBef>
            </a:pPr>
            <a:r>
              <a:rPr lang="en-US" sz="1400"/>
              <a:t>Normal with mean = 7 and standard deviation = 2</a:t>
            </a:r>
          </a:p>
          <a:p>
            <a:pPr algn="ctr">
              <a:spcBef>
                <a:spcPct val="50000"/>
              </a:spcBef>
            </a:pPr>
            <a:r>
              <a:rPr lang="en-US" sz="1400"/>
              <a:t>P( X&lt;= x )        x</a:t>
            </a:r>
          </a:p>
          <a:p>
            <a:pPr algn="ctr">
              <a:spcBef>
                <a:spcPct val="50000"/>
              </a:spcBef>
            </a:pPr>
            <a:r>
              <a:rPr lang="en-US" sz="1400"/>
              <a:t>        0.1  4.43690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7" name="Rectangle 4"/>
          <p:cNvSpPr>
            <a:spLocks noGrp="1" noChangeArrowheads="1"/>
          </p:cNvSpPr>
          <p:nvPr>
            <p:ph type="ftr" sz="quarter" idx="10"/>
          </p:nvPr>
        </p:nvSpPr>
        <p:spPr>
          <a:noFill/>
        </p:spPr>
        <p:txBody>
          <a:bodyPr/>
          <a:lstStyle/>
          <a:p>
            <a:r>
              <a:rPr lang="en-US" smtClean="0"/>
              <a:t>Copyright ©2012 Pearson Education</a:t>
            </a:r>
          </a:p>
        </p:txBody>
      </p:sp>
      <p:sp>
        <p:nvSpPr>
          <p:cNvPr id="377858" name="Rectangle 5"/>
          <p:cNvSpPr>
            <a:spLocks noGrp="1" noChangeArrowheads="1"/>
          </p:cNvSpPr>
          <p:nvPr>
            <p:ph type="sldNum" sz="quarter" idx="11"/>
          </p:nvPr>
        </p:nvSpPr>
        <p:spPr>
          <a:noFill/>
        </p:spPr>
        <p:txBody>
          <a:bodyPr/>
          <a:lstStyle/>
          <a:p>
            <a:r>
              <a:rPr lang="en-US" smtClean="0"/>
              <a:t>Chap 6-</a:t>
            </a:r>
            <a:fld id="{B580A27A-BA06-4840-8383-831AA762901A}" type="slidenum">
              <a:rPr lang="en-US" smtClean="0"/>
              <a:pPr/>
              <a:t>34</a:t>
            </a:fld>
            <a:endParaRPr lang="en-US" smtClean="0"/>
          </a:p>
        </p:txBody>
      </p:sp>
      <p:sp>
        <p:nvSpPr>
          <p:cNvPr id="377859"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80B3C837-AFA4-40F4-84FA-A358167A02C6}" type="slidenum">
              <a:rPr lang="en-US" sz="1000"/>
              <a:pPr algn="r" defTabSz="852488"/>
              <a:t>34</a:t>
            </a:fld>
            <a:endParaRPr lang="en-US" sz="1000"/>
          </a:p>
        </p:txBody>
      </p:sp>
      <p:sp>
        <p:nvSpPr>
          <p:cNvPr id="377860" name="Rectangle 2"/>
          <p:cNvSpPr>
            <a:spLocks noGrp="1" noChangeArrowheads="1"/>
          </p:cNvSpPr>
          <p:nvPr>
            <p:ph type="title"/>
          </p:nvPr>
        </p:nvSpPr>
        <p:spPr/>
        <p:txBody>
          <a:bodyPr/>
          <a:lstStyle/>
          <a:p>
            <a:pPr eaLnBrk="1" hangingPunct="1"/>
            <a:r>
              <a:rPr lang="en-US" smtClean="0"/>
              <a:t>Evaluating Normality</a:t>
            </a:r>
          </a:p>
        </p:txBody>
      </p:sp>
      <p:sp>
        <p:nvSpPr>
          <p:cNvPr id="377861" name="Rectangle 3"/>
          <p:cNvSpPr>
            <a:spLocks noGrp="1" noChangeArrowheads="1"/>
          </p:cNvSpPr>
          <p:nvPr>
            <p:ph type="body" idx="1"/>
          </p:nvPr>
        </p:nvSpPr>
        <p:spPr>
          <a:xfrm>
            <a:off x="609600" y="1600200"/>
            <a:ext cx="7924800" cy="4267200"/>
          </a:xfrm>
        </p:spPr>
        <p:txBody>
          <a:bodyPr/>
          <a:lstStyle/>
          <a:p>
            <a:pPr eaLnBrk="1" hangingPunct="1">
              <a:lnSpc>
                <a:spcPct val="90000"/>
              </a:lnSpc>
              <a:spcAft>
                <a:spcPct val="20000"/>
              </a:spcAft>
            </a:pPr>
            <a:r>
              <a:rPr lang="en-US" sz="2600" smtClean="0"/>
              <a:t>Not all continuous distributions are normal</a:t>
            </a:r>
          </a:p>
          <a:p>
            <a:pPr eaLnBrk="1" hangingPunct="1">
              <a:lnSpc>
                <a:spcPct val="90000"/>
              </a:lnSpc>
              <a:spcAft>
                <a:spcPct val="20000"/>
              </a:spcAft>
            </a:pPr>
            <a:r>
              <a:rPr lang="en-US" sz="2600" smtClean="0"/>
              <a:t>It is important to evaluate how well the data set is approximated by a normal distribution.</a:t>
            </a:r>
          </a:p>
          <a:p>
            <a:pPr eaLnBrk="1" hangingPunct="1">
              <a:lnSpc>
                <a:spcPct val="90000"/>
              </a:lnSpc>
              <a:spcAft>
                <a:spcPct val="20000"/>
              </a:spcAft>
            </a:pPr>
            <a:r>
              <a:rPr lang="en-US" sz="2600" smtClean="0"/>
              <a:t>Normally distributed data should approximate the theoretical normal distribution:</a:t>
            </a:r>
          </a:p>
          <a:p>
            <a:pPr lvl="1" eaLnBrk="1" hangingPunct="1">
              <a:lnSpc>
                <a:spcPct val="90000"/>
              </a:lnSpc>
              <a:spcAft>
                <a:spcPct val="20000"/>
              </a:spcAft>
            </a:pPr>
            <a:r>
              <a:rPr lang="en-US" sz="2300" smtClean="0"/>
              <a:t>The normal distribution is bell shaped (symmetrical) where the mean is equal to the median.</a:t>
            </a:r>
          </a:p>
          <a:p>
            <a:pPr lvl="1" eaLnBrk="1" hangingPunct="1">
              <a:lnSpc>
                <a:spcPct val="90000"/>
              </a:lnSpc>
              <a:spcAft>
                <a:spcPct val="20000"/>
              </a:spcAft>
            </a:pPr>
            <a:r>
              <a:rPr lang="en-US" sz="2300" smtClean="0"/>
              <a:t>The empirical rule applies to the normal distribution.</a:t>
            </a:r>
          </a:p>
          <a:p>
            <a:pPr lvl="1" eaLnBrk="1" hangingPunct="1">
              <a:lnSpc>
                <a:spcPct val="90000"/>
              </a:lnSpc>
              <a:spcAft>
                <a:spcPct val="20000"/>
              </a:spcAft>
            </a:pPr>
            <a:r>
              <a:rPr lang="en-US" sz="2300" smtClean="0"/>
              <a:t>The interquartile range of a normal distribution is 1.33 standard deviations.</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1" name="Rectangle 4"/>
          <p:cNvSpPr>
            <a:spLocks noGrp="1" noChangeArrowheads="1"/>
          </p:cNvSpPr>
          <p:nvPr>
            <p:ph type="ftr" sz="quarter" idx="10"/>
          </p:nvPr>
        </p:nvSpPr>
        <p:spPr>
          <a:noFill/>
        </p:spPr>
        <p:txBody>
          <a:bodyPr/>
          <a:lstStyle/>
          <a:p>
            <a:r>
              <a:rPr lang="en-US" smtClean="0"/>
              <a:t>Copyright ©2012 Pearson Education</a:t>
            </a:r>
          </a:p>
        </p:txBody>
      </p:sp>
      <p:sp>
        <p:nvSpPr>
          <p:cNvPr id="378882" name="Rectangle 5"/>
          <p:cNvSpPr>
            <a:spLocks noGrp="1" noChangeArrowheads="1"/>
          </p:cNvSpPr>
          <p:nvPr>
            <p:ph type="sldNum" sz="quarter" idx="11"/>
          </p:nvPr>
        </p:nvSpPr>
        <p:spPr>
          <a:noFill/>
        </p:spPr>
        <p:txBody>
          <a:bodyPr/>
          <a:lstStyle/>
          <a:p>
            <a:r>
              <a:rPr lang="en-US" smtClean="0"/>
              <a:t>Chap 6-</a:t>
            </a:r>
            <a:fld id="{5204093F-6E94-43EC-8FE9-071C89DAB852}" type="slidenum">
              <a:rPr lang="en-US" smtClean="0"/>
              <a:pPr/>
              <a:t>35</a:t>
            </a:fld>
            <a:endParaRPr lang="en-US" smtClean="0"/>
          </a:p>
        </p:txBody>
      </p:sp>
      <p:sp>
        <p:nvSpPr>
          <p:cNvPr id="378883"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2DB69826-A4D5-4729-B770-3E452C663E5F}" type="slidenum">
              <a:rPr lang="en-US" sz="1000"/>
              <a:pPr algn="r" defTabSz="852488"/>
              <a:t>35</a:t>
            </a:fld>
            <a:endParaRPr lang="en-US" sz="1000"/>
          </a:p>
        </p:txBody>
      </p:sp>
      <p:sp>
        <p:nvSpPr>
          <p:cNvPr id="378884" name="Rectangle 2"/>
          <p:cNvSpPr>
            <a:spLocks noGrp="1" noChangeArrowheads="1"/>
          </p:cNvSpPr>
          <p:nvPr>
            <p:ph type="title"/>
          </p:nvPr>
        </p:nvSpPr>
        <p:spPr/>
        <p:txBody>
          <a:bodyPr/>
          <a:lstStyle/>
          <a:p>
            <a:pPr eaLnBrk="1" hangingPunct="1"/>
            <a:r>
              <a:rPr lang="en-US" smtClean="0"/>
              <a:t>Evaluating Normality</a:t>
            </a:r>
          </a:p>
        </p:txBody>
      </p:sp>
      <p:sp>
        <p:nvSpPr>
          <p:cNvPr id="378885" name="Rectangle 3"/>
          <p:cNvSpPr>
            <a:spLocks noGrp="1" noChangeArrowheads="1"/>
          </p:cNvSpPr>
          <p:nvPr>
            <p:ph type="body" idx="1"/>
          </p:nvPr>
        </p:nvSpPr>
        <p:spPr>
          <a:xfrm>
            <a:off x="457200" y="1600200"/>
            <a:ext cx="8458200" cy="4532313"/>
          </a:xfrm>
        </p:spPr>
        <p:txBody>
          <a:bodyPr/>
          <a:lstStyle/>
          <a:p>
            <a:pPr marL="0" indent="0" eaLnBrk="1" hangingPunct="1">
              <a:buFont typeface="Wingdings" pitchFamily="2" charset="2"/>
              <a:buNone/>
            </a:pPr>
            <a:r>
              <a:rPr lang="en-US" smtClean="0"/>
              <a:t>Comparing data characteristics to theoretical properties</a:t>
            </a:r>
          </a:p>
          <a:p>
            <a:pPr marL="0" indent="0" eaLnBrk="1" hangingPunct="1">
              <a:buFont typeface="Wingdings" pitchFamily="2" charset="2"/>
              <a:buNone/>
            </a:pPr>
            <a:endParaRPr lang="en-US" sz="1200" smtClean="0"/>
          </a:p>
          <a:p>
            <a:pPr marL="0" indent="0" eaLnBrk="1" hangingPunct="1"/>
            <a:r>
              <a:rPr lang="en-US" sz="2400" smtClean="0"/>
              <a:t>Construct </a:t>
            </a:r>
            <a:r>
              <a:rPr lang="en-US" sz="2400" smtClean="0">
                <a:solidFill>
                  <a:schemeClr val="folHlink"/>
                </a:solidFill>
              </a:rPr>
              <a:t>charts or graphs</a:t>
            </a:r>
          </a:p>
          <a:p>
            <a:pPr lvl="1" eaLnBrk="1" hangingPunct="1"/>
            <a:r>
              <a:rPr lang="en-US" sz="2000" smtClean="0"/>
              <a:t>For small- or moderate-sized data sets, construct a stem-and-leaf display or a boxplot to check for symmetry</a:t>
            </a:r>
          </a:p>
          <a:p>
            <a:pPr lvl="1" eaLnBrk="1" hangingPunct="1"/>
            <a:r>
              <a:rPr lang="en-US" sz="2000" smtClean="0"/>
              <a:t>For large data sets, does the histogram or polygon appear bell-shaped?</a:t>
            </a:r>
          </a:p>
          <a:p>
            <a:pPr marL="0" indent="0" eaLnBrk="1" hangingPunct="1"/>
            <a:r>
              <a:rPr lang="en-US" sz="2400" smtClean="0"/>
              <a:t>Compute </a:t>
            </a:r>
            <a:r>
              <a:rPr lang="en-US" sz="2400" smtClean="0">
                <a:solidFill>
                  <a:schemeClr val="folHlink"/>
                </a:solidFill>
              </a:rPr>
              <a:t>descriptive summary measures</a:t>
            </a:r>
          </a:p>
          <a:p>
            <a:pPr lvl="1" eaLnBrk="1" hangingPunct="1"/>
            <a:r>
              <a:rPr lang="en-US" sz="2000" smtClean="0"/>
              <a:t>Do the mean, median and mode have similar values?</a:t>
            </a:r>
          </a:p>
          <a:p>
            <a:pPr lvl="1" eaLnBrk="1" hangingPunct="1"/>
            <a:r>
              <a:rPr lang="en-US" sz="2000" smtClean="0"/>
              <a:t>Is the interquartile range approximately 1.33 </a:t>
            </a:r>
            <a:r>
              <a:rPr lang="el-GR" sz="2000" smtClean="0">
                <a:cs typeface="Arial" charset="0"/>
              </a:rPr>
              <a:t>σ</a:t>
            </a:r>
            <a:r>
              <a:rPr lang="en-US" sz="2000" smtClean="0"/>
              <a:t>?</a:t>
            </a:r>
            <a:endParaRPr lang="en-US" sz="2000" smtClean="0">
              <a:latin typeface="Symbol" pitchFamily="18" charset="2"/>
            </a:endParaRPr>
          </a:p>
          <a:p>
            <a:pPr lvl="1" eaLnBrk="1" hangingPunct="1"/>
            <a:r>
              <a:rPr lang="en-US" sz="2000" smtClean="0"/>
              <a:t>Is the range approximately 6 </a:t>
            </a:r>
            <a:r>
              <a:rPr lang="el-GR" sz="2000" smtClean="0">
                <a:cs typeface="Arial" charset="0"/>
              </a:rPr>
              <a:t>σ</a:t>
            </a:r>
            <a:r>
              <a:rPr lang="en-US" sz="2000" smtClean="0"/>
              <a:t>?</a:t>
            </a:r>
          </a:p>
        </p:txBody>
      </p:sp>
      <p:sp>
        <p:nvSpPr>
          <p:cNvPr id="378886" name="Text Box 4"/>
          <p:cNvSpPr txBox="1">
            <a:spLocks noChangeArrowheads="1"/>
          </p:cNvSpPr>
          <p:nvPr/>
        </p:nvSpPr>
        <p:spPr bwMode="auto">
          <a:xfrm>
            <a:off x="7543800" y="1203325"/>
            <a:ext cx="16002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5" name="Rectangle 4"/>
          <p:cNvSpPr>
            <a:spLocks noGrp="1" noChangeArrowheads="1"/>
          </p:cNvSpPr>
          <p:nvPr>
            <p:ph type="ftr" sz="quarter" idx="10"/>
          </p:nvPr>
        </p:nvSpPr>
        <p:spPr>
          <a:noFill/>
        </p:spPr>
        <p:txBody>
          <a:bodyPr/>
          <a:lstStyle/>
          <a:p>
            <a:r>
              <a:rPr lang="en-US" smtClean="0"/>
              <a:t>Copyright ©2012 Pearson Education</a:t>
            </a:r>
          </a:p>
        </p:txBody>
      </p:sp>
      <p:sp>
        <p:nvSpPr>
          <p:cNvPr id="379906" name="Rectangle 5"/>
          <p:cNvSpPr>
            <a:spLocks noGrp="1" noChangeArrowheads="1"/>
          </p:cNvSpPr>
          <p:nvPr>
            <p:ph type="sldNum" sz="quarter" idx="11"/>
          </p:nvPr>
        </p:nvSpPr>
        <p:spPr>
          <a:noFill/>
        </p:spPr>
        <p:txBody>
          <a:bodyPr/>
          <a:lstStyle/>
          <a:p>
            <a:r>
              <a:rPr lang="en-US" smtClean="0"/>
              <a:t>Chap 6-</a:t>
            </a:r>
            <a:fld id="{BCC22434-633C-4329-9DEC-DDAA5A115A14}" type="slidenum">
              <a:rPr lang="en-US" smtClean="0"/>
              <a:pPr/>
              <a:t>36</a:t>
            </a:fld>
            <a:endParaRPr lang="en-US" smtClean="0"/>
          </a:p>
        </p:txBody>
      </p:sp>
      <p:sp>
        <p:nvSpPr>
          <p:cNvPr id="379907"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6273D4F5-CAFC-49E0-ABF3-AAFFFD7F010C}" type="slidenum">
              <a:rPr lang="en-US" sz="1000"/>
              <a:pPr algn="r" defTabSz="852488"/>
              <a:t>36</a:t>
            </a:fld>
            <a:endParaRPr lang="en-US" sz="1000"/>
          </a:p>
        </p:txBody>
      </p:sp>
      <p:sp>
        <p:nvSpPr>
          <p:cNvPr id="379908" name="Rectangle 2"/>
          <p:cNvSpPr>
            <a:spLocks noGrp="1" noChangeArrowheads="1"/>
          </p:cNvSpPr>
          <p:nvPr>
            <p:ph type="title"/>
          </p:nvPr>
        </p:nvSpPr>
        <p:spPr/>
        <p:txBody>
          <a:bodyPr/>
          <a:lstStyle/>
          <a:p>
            <a:pPr eaLnBrk="1" hangingPunct="1"/>
            <a:r>
              <a:rPr lang="en-US" smtClean="0"/>
              <a:t>Evaluating Normality</a:t>
            </a:r>
          </a:p>
        </p:txBody>
      </p:sp>
      <p:sp>
        <p:nvSpPr>
          <p:cNvPr id="379909" name="Rectangle 3"/>
          <p:cNvSpPr>
            <a:spLocks noGrp="1" noChangeArrowheads="1"/>
          </p:cNvSpPr>
          <p:nvPr>
            <p:ph type="body" idx="1"/>
          </p:nvPr>
        </p:nvSpPr>
        <p:spPr>
          <a:xfrm>
            <a:off x="838200" y="1752600"/>
            <a:ext cx="8077200" cy="4532313"/>
          </a:xfrm>
        </p:spPr>
        <p:txBody>
          <a:bodyPr/>
          <a:lstStyle/>
          <a:p>
            <a:pPr marL="0" indent="0" eaLnBrk="1" hangingPunct="1">
              <a:buFont typeface="Wingdings" pitchFamily="2" charset="2"/>
              <a:buNone/>
            </a:pPr>
            <a:r>
              <a:rPr lang="en-US" smtClean="0"/>
              <a:t>Comparing data characteristics to theoretical properties</a:t>
            </a:r>
            <a:endParaRPr lang="en-US" sz="2400" smtClean="0">
              <a:solidFill>
                <a:schemeClr val="folHlink"/>
              </a:solidFill>
            </a:endParaRPr>
          </a:p>
          <a:p>
            <a:pPr marL="0" indent="0" eaLnBrk="1" hangingPunct="1"/>
            <a:r>
              <a:rPr lang="en-US" sz="2400" smtClean="0">
                <a:solidFill>
                  <a:schemeClr val="folHlink"/>
                </a:solidFill>
              </a:rPr>
              <a:t>  Observe the distribution</a:t>
            </a:r>
            <a:r>
              <a:rPr lang="en-US" sz="2400" smtClean="0"/>
              <a:t> of the data set</a:t>
            </a:r>
          </a:p>
          <a:p>
            <a:pPr lvl="1" eaLnBrk="1" hangingPunct="1"/>
            <a:r>
              <a:rPr lang="en-US" sz="2000" smtClean="0"/>
              <a:t>Do approximately 2/3 of the observations lie within mean </a:t>
            </a:r>
            <a:r>
              <a:rPr lang="en-US" sz="2000" smtClean="0">
                <a:cs typeface="Arial" charset="0"/>
              </a:rPr>
              <a:t>±</a:t>
            </a:r>
            <a:r>
              <a:rPr lang="en-US" sz="2000" smtClean="0"/>
              <a:t>1 standard deviation?</a:t>
            </a:r>
          </a:p>
          <a:p>
            <a:pPr lvl="1" eaLnBrk="1" hangingPunct="1"/>
            <a:r>
              <a:rPr lang="en-US" sz="2000" smtClean="0"/>
              <a:t>Do approximately 80% of the observations lie within mean </a:t>
            </a:r>
            <a:r>
              <a:rPr lang="en-US" sz="2000" smtClean="0">
                <a:cs typeface="Arial" charset="0"/>
              </a:rPr>
              <a:t>±</a:t>
            </a:r>
            <a:r>
              <a:rPr lang="en-US" sz="2000" smtClean="0"/>
              <a:t>1.28 standard deviations?</a:t>
            </a:r>
          </a:p>
          <a:p>
            <a:pPr lvl="1" eaLnBrk="1" hangingPunct="1"/>
            <a:r>
              <a:rPr lang="en-US" sz="2000" smtClean="0"/>
              <a:t>Do approximately 95% of the observations lie within mean </a:t>
            </a:r>
            <a:r>
              <a:rPr lang="en-US" sz="2000" smtClean="0">
                <a:cs typeface="Arial" charset="0"/>
              </a:rPr>
              <a:t>±</a:t>
            </a:r>
            <a:r>
              <a:rPr lang="en-US" sz="2000" smtClean="0"/>
              <a:t>2 standard deviations?</a:t>
            </a:r>
          </a:p>
          <a:p>
            <a:pPr marL="0" indent="0" eaLnBrk="1" hangingPunct="1"/>
            <a:r>
              <a:rPr lang="en-US" sz="2400" smtClean="0"/>
              <a:t>  Evaluate </a:t>
            </a:r>
            <a:r>
              <a:rPr lang="en-US" sz="2400" smtClean="0">
                <a:solidFill>
                  <a:schemeClr val="folHlink"/>
                </a:solidFill>
              </a:rPr>
              <a:t>normal probability plot</a:t>
            </a:r>
          </a:p>
          <a:p>
            <a:pPr lvl="1" eaLnBrk="1" hangingPunct="1"/>
            <a:r>
              <a:rPr lang="en-US" sz="2000" smtClean="0"/>
              <a:t>Is the normal probability plot approximately linear (i.e. a straight line) with positive slope?</a:t>
            </a:r>
          </a:p>
        </p:txBody>
      </p:sp>
      <p:sp>
        <p:nvSpPr>
          <p:cNvPr id="379910" name="Text Box 4"/>
          <p:cNvSpPr txBox="1">
            <a:spLocks noChangeArrowheads="1"/>
          </p:cNvSpPr>
          <p:nvPr/>
        </p:nvSpPr>
        <p:spPr bwMode="auto">
          <a:xfrm>
            <a:off x="7543800" y="1203325"/>
            <a:ext cx="16002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29" name="Rectangle 4"/>
          <p:cNvSpPr>
            <a:spLocks noGrp="1" noChangeArrowheads="1"/>
          </p:cNvSpPr>
          <p:nvPr>
            <p:ph type="ftr" sz="quarter" idx="10"/>
          </p:nvPr>
        </p:nvSpPr>
        <p:spPr>
          <a:noFill/>
        </p:spPr>
        <p:txBody>
          <a:bodyPr/>
          <a:lstStyle/>
          <a:p>
            <a:r>
              <a:rPr lang="en-US" smtClean="0"/>
              <a:t>Copyright ©2012 Pearson Education</a:t>
            </a:r>
          </a:p>
        </p:txBody>
      </p:sp>
      <p:sp>
        <p:nvSpPr>
          <p:cNvPr id="380930" name="Rectangle 5"/>
          <p:cNvSpPr>
            <a:spLocks noGrp="1" noChangeArrowheads="1"/>
          </p:cNvSpPr>
          <p:nvPr>
            <p:ph type="sldNum" sz="quarter" idx="11"/>
          </p:nvPr>
        </p:nvSpPr>
        <p:spPr>
          <a:noFill/>
        </p:spPr>
        <p:txBody>
          <a:bodyPr/>
          <a:lstStyle/>
          <a:p>
            <a:r>
              <a:rPr lang="en-US" smtClean="0"/>
              <a:t>Chap 6-</a:t>
            </a:r>
            <a:fld id="{8442B209-D675-4412-AE81-A506BD94B8B8}" type="slidenum">
              <a:rPr lang="en-US" smtClean="0"/>
              <a:pPr/>
              <a:t>37</a:t>
            </a:fld>
            <a:endParaRPr lang="en-US" smtClean="0"/>
          </a:p>
        </p:txBody>
      </p:sp>
      <p:sp>
        <p:nvSpPr>
          <p:cNvPr id="380931"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FEA3297A-4C05-4CF6-950D-9E5E7FC086E4}" type="slidenum">
              <a:rPr lang="en-US" sz="1000"/>
              <a:pPr algn="r" defTabSz="852488"/>
              <a:t>37</a:t>
            </a:fld>
            <a:endParaRPr lang="en-US" sz="1000"/>
          </a:p>
        </p:txBody>
      </p:sp>
      <p:sp>
        <p:nvSpPr>
          <p:cNvPr id="380932" name="Rectangle 2"/>
          <p:cNvSpPr>
            <a:spLocks noGrp="1" noChangeArrowheads="1"/>
          </p:cNvSpPr>
          <p:nvPr>
            <p:ph type="title"/>
          </p:nvPr>
        </p:nvSpPr>
        <p:spPr/>
        <p:txBody>
          <a:bodyPr/>
          <a:lstStyle/>
          <a:p>
            <a:pPr eaLnBrk="1" hangingPunct="1"/>
            <a:r>
              <a:rPr lang="en-US" sz="3600" smtClean="0"/>
              <a:t>Constructing A Quantile-Quantile Normal Probability Plot</a:t>
            </a:r>
          </a:p>
        </p:txBody>
      </p:sp>
      <p:sp>
        <p:nvSpPr>
          <p:cNvPr id="380933" name="Rectangle 3"/>
          <p:cNvSpPr>
            <a:spLocks noGrp="1" noChangeArrowheads="1"/>
          </p:cNvSpPr>
          <p:nvPr>
            <p:ph type="body" idx="1"/>
          </p:nvPr>
        </p:nvSpPr>
        <p:spPr/>
        <p:txBody>
          <a:bodyPr/>
          <a:lstStyle/>
          <a:p>
            <a:pPr eaLnBrk="1" hangingPunct="1"/>
            <a:r>
              <a:rPr lang="en-US" smtClean="0"/>
              <a:t>Normal probability plot</a:t>
            </a:r>
          </a:p>
          <a:p>
            <a:pPr lvl="1" eaLnBrk="1" hangingPunct="1">
              <a:lnSpc>
                <a:spcPct val="120000"/>
              </a:lnSpc>
            </a:pPr>
            <a:r>
              <a:rPr lang="en-US" smtClean="0"/>
              <a:t>Arrange data into ordered array</a:t>
            </a:r>
          </a:p>
          <a:p>
            <a:pPr lvl="1" eaLnBrk="1" hangingPunct="1">
              <a:lnSpc>
                <a:spcPct val="120000"/>
              </a:lnSpc>
            </a:pPr>
            <a:r>
              <a:rPr lang="en-US" smtClean="0"/>
              <a:t>Find corresponding standardized normal quantile values (Z)</a:t>
            </a:r>
          </a:p>
          <a:p>
            <a:pPr lvl="1" eaLnBrk="1" hangingPunct="1">
              <a:lnSpc>
                <a:spcPct val="120000"/>
              </a:lnSpc>
            </a:pPr>
            <a:r>
              <a:rPr lang="en-US" smtClean="0"/>
              <a:t>Plot the pairs of points with observed data values (X) on the vertical axis and the standardized normal quantile values (Z) on the horizontal axis</a:t>
            </a:r>
          </a:p>
          <a:p>
            <a:pPr lvl="1" eaLnBrk="1" hangingPunct="1">
              <a:lnSpc>
                <a:spcPct val="120000"/>
              </a:lnSpc>
            </a:pPr>
            <a:r>
              <a:rPr lang="en-US" smtClean="0"/>
              <a:t>Evaluate the plot for evidence of linearity</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3" name="Rectangle 4"/>
          <p:cNvSpPr>
            <a:spLocks noGrp="1" noChangeArrowheads="1"/>
          </p:cNvSpPr>
          <p:nvPr>
            <p:ph type="ftr" sz="quarter" idx="10"/>
          </p:nvPr>
        </p:nvSpPr>
        <p:spPr>
          <a:noFill/>
        </p:spPr>
        <p:txBody>
          <a:bodyPr/>
          <a:lstStyle/>
          <a:p>
            <a:r>
              <a:rPr lang="en-US" smtClean="0"/>
              <a:t>Copyright ©2012 Pearson Education</a:t>
            </a:r>
          </a:p>
        </p:txBody>
      </p:sp>
      <p:sp>
        <p:nvSpPr>
          <p:cNvPr id="381954" name="Rectangle 5"/>
          <p:cNvSpPr>
            <a:spLocks noGrp="1" noChangeArrowheads="1"/>
          </p:cNvSpPr>
          <p:nvPr>
            <p:ph type="sldNum" sz="quarter" idx="11"/>
          </p:nvPr>
        </p:nvSpPr>
        <p:spPr>
          <a:noFill/>
        </p:spPr>
        <p:txBody>
          <a:bodyPr/>
          <a:lstStyle/>
          <a:p>
            <a:r>
              <a:rPr lang="en-US" smtClean="0"/>
              <a:t>Chap 6-</a:t>
            </a:r>
            <a:fld id="{D53D5E8F-D95B-46AF-9C69-D7B51220D36A}" type="slidenum">
              <a:rPr lang="en-US" smtClean="0"/>
              <a:pPr/>
              <a:t>38</a:t>
            </a:fld>
            <a:endParaRPr lang="en-US" smtClean="0"/>
          </a:p>
        </p:txBody>
      </p:sp>
      <p:sp>
        <p:nvSpPr>
          <p:cNvPr id="381955"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FDF05C49-B955-4652-BD27-76233F95BF87}" type="slidenum">
              <a:rPr lang="en-US" sz="1000"/>
              <a:pPr algn="r" defTabSz="852488"/>
              <a:t>38</a:t>
            </a:fld>
            <a:endParaRPr lang="en-US" sz="1000"/>
          </a:p>
        </p:txBody>
      </p:sp>
      <p:sp>
        <p:nvSpPr>
          <p:cNvPr id="381956" name="Rectangle 2"/>
          <p:cNvSpPr>
            <a:spLocks noChangeArrowheads="1"/>
          </p:cNvSpPr>
          <p:nvPr/>
        </p:nvSpPr>
        <p:spPr bwMode="auto">
          <a:xfrm>
            <a:off x="1447800" y="1600200"/>
            <a:ext cx="6019800" cy="1812925"/>
          </a:xfrm>
          <a:prstGeom prst="rect">
            <a:avLst/>
          </a:prstGeom>
          <a:solidFill>
            <a:srgbClr val="FDE0BD"/>
          </a:solidFill>
          <a:ln w="12700">
            <a:solidFill>
              <a:schemeClr val="tx1"/>
            </a:solidFill>
            <a:miter lim="800000"/>
            <a:headEnd/>
            <a:tailEnd/>
          </a:ln>
        </p:spPr>
        <p:txBody>
          <a:bodyPr lIns="90488" tIns="44450" rIns="90488" bIns="44450">
            <a:spAutoFit/>
          </a:bodyPr>
          <a:lstStyle/>
          <a:p>
            <a:pPr algn="ctr" eaLnBrk="0" hangingPunct="0">
              <a:spcBef>
                <a:spcPct val="50000"/>
              </a:spcBef>
            </a:pPr>
            <a:r>
              <a:rPr lang="en-US" sz="2800"/>
              <a:t>A quantile-quantile normal probability plot for data from a normal distribution will be </a:t>
            </a:r>
            <a:r>
              <a:rPr lang="en-US" sz="2800">
                <a:solidFill>
                  <a:schemeClr val="folHlink"/>
                </a:solidFill>
              </a:rPr>
              <a:t>approximately linear</a:t>
            </a:r>
            <a:r>
              <a:rPr lang="en-US" sz="2800"/>
              <a:t>:</a:t>
            </a:r>
          </a:p>
        </p:txBody>
      </p:sp>
      <p:sp>
        <p:nvSpPr>
          <p:cNvPr id="381957" name="Line 3"/>
          <p:cNvSpPr>
            <a:spLocks noChangeShapeType="1"/>
          </p:cNvSpPr>
          <p:nvPr/>
        </p:nvSpPr>
        <p:spPr bwMode="auto">
          <a:xfrm>
            <a:off x="3679825" y="4779963"/>
            <a:ext cx="1588" cy="0"/>
          </a:xfrm>
          <a:prstGeom prst="line">
            <a:avLst/>
          </a:prstGeom>
          <a:noFill/>
          <a:ln w="12700">
            <a:noFill/>
            <a:round/>
            <a:headEnd/>
            <a:tailEnd/>
          </a:ln>
        </p:spPr>
        <p:txBody>
          <a:bodyPr wrap="none" anchor="ctr"/>
          <a:lstStyle/>
          <a:p>
            <a:endParaRPr lang="en-US"/>
          </a:p>
        </p:txBody>
      </p:sp>
      <p:sp>
        <p:nvSpPr>
          <p:cNvPr id="381958" name="Line 4"/>
          <p:cNvSpPr>
            <a:spLocks noChangeShapeType="1"/>
          </p:cNvSpPr>
          <p:nvPr/>
        </p:nvSpPr>
        <p:spPr bwMode="auto">
          <a:xfrm>
            <a:off x="3679825" y="4162425"/>
            <a:ext cx="1588" cy="0"/>
          </a:xfrm>
          <a:prstGeom prst="line">
            <a:avLst/>
          </a:prstGeom>
          <a:noFill/>
          <a:ln w="12700">
            <a:noFill/>
            <a:round/>
            <a:headEnd/>
            <a:tailEnd/>
          </a:ln>
        </p:spPr>
        <p:txBody>
          <a:bodyPr wrap="none" anchor="ctr"/>
          <a:lstStyle/>
          <a:p>
            <a:endParaRPr lang="en-US"/>
          </a:p>
        </p:txBody>
      </p:sp>
      <p:sp>
        <p:nvSpPr>
          <p:cNvPr id="381959" name="Line 5"/>
          <p:cNvSpPr>
            <a:spLocks noChangeShapeType="1"/>
          </p:cNvSpPr>
          <p:nvPr/>
        </p:nvSpPr>
        <p:spPr bwMode="auto">
          <a:xfrm>
            <a:off x="3679825" y="3546475"/>
            <a:ext cx="1588" cy="0"/>
          </a:xfrm>
          <a:prstGeom prst="line">
            <a:avLst/>
          </a:prstGeom>
          <a:noFill/>
          <a:ln w="12700">
            <a:noFill/>
            <a:round/>
            <a:headEnd/>
            <a:tailEnd/>
          </a:ln>
        </p:spPr>
        <p:txBody>
          <a:bodyPr wrap="none" anchor="ctr"/>
          <a:lstStyle/>
          <a:p>
            <a:endParaRPr lang="en-US"/>
          </a:p>
        </p:txBody>
      </p:sp>
      <p:sp>
        <p:nvSpPr>
          <p:cNvPr id="381960" name="Line 6"/>
          <p:cNvSpPr>
            <a:spLocks noChangeShapeType="1"/>
          </p:cNvSpPr>
          <p:nvPr/>
        </p:nvSpPr>
        <p:spPr bwMode="auto">
          <a:xfrm>
            <a:off x="2971800" y="5410200"/>
            <a:ext cx="3276600" cy="0"/>
          </a:xfrm>
          <a:prstGeom prst="line">
            <a:avLst/>
          </a:prstGeom>
          <a:noFill/>
          <a:ln w="12700">
            <a:solidFill>
              <a:schemeClr val="tx1"/>
            </a:solidFill>
            <a:round/>
            <a:headEnd/>
            <a:tailEnd/>
          </a:ln>
        </p:spPr>
        <p:txBody>
          <a:bodyPr wrap="none" anchor="ctr"/>
          <a:lstStyle/>
          <a:p>
            <a:endParaRPr lang="en-US"/>
          </a:p>
        </p:txBody>
      </p:sp>
      <p:sp>
        <p:nvSpPr>
          <p:cNvPr id="381961" name="Line 7"/>
          <p:cNvSpPr>
            <a:spLocks noChangeShapeType="1"/>
          </p:cNvSpPr>
          <p:nvPr/>
        </p:nvSpPr>
        <p:spPr bwMode="auto">
          <a:xfrm flipV="1">
            <a:off x="2971800" y="3810000"/>
            <a:ext cx="0" cy="1600200"/>
          </a:xfrm>
          <a:prstGeom prst="line">
            <a:avLst/>
          </a:prstGeom>
          <a:noFill/>
          <a:ln w="12700">
            <a:solidFill>
              <a:schemeClr val="tx1"/>
            </a:solidFill>
            <a:round/>
            <a:headEnd/>
            <a:tailEnd/>
          </a:ln>
        </p:spPr>
        <p:txBody>
          <a:bodyPr wrap="none" anchor="ctr"/>
          <a:lstStyle/>
          <a:p>
            <a:endParaRPr lang="en-US"/>
          </a:p>
        </p:txBody>
      </p:sp>
      <p:sp>
        <p:nvSpPr>
          <p:cNvPr id="381962" name="Line 8"/>
          <p:cNvSpPr>
            <a:spLocks noChangeShapeType="1"/>
          </p:cNvSpPr>
          <p:nvPr/>
        </p:nvSpPr>
        <p:spPr bwMode="auto">
          <a:xfrm flipV="1">
            <a:off x="3810000" y="5334000"/>
            <a:ext cx="0" cy="261938"/>
          </a:xfrm>
          <a:prstGeom prst="line">
            <a:avLst/>
          </a:prstGeom>
          <a:noFill/>
          <a:ln w="12700">
            <a:solidFill>
              <a:schemeClr val="tx1"/>
            </a:solidFill>
            <a:round/>
            <a:headEnd/>
            <a:tailEnd/>
          </a:ln>
        </p:spPr>
        <p:txBody>
          <a:bodyPr wrap="none" anchor="ctr"/>
          <a:lstStyle/>
          <a:p>
            <a:endParaRPr lang="en-US"/>
          </a:p>
        </p:txBody>
      </p:sp>
      <p:sp>
        <p:nvSpPr>
          <p:cNvPr id="381963" name="Line 9"/>
          <p:cNvSpPr>
            <a:spLocks noChangeShapeType="1"/>
          </p:cNvSpPr>
          <p:nvPr/>
        </p:nvSpPr>
        <p:spPr bwMode="auto">
          <a:xfrm flipV="1">
            <a:off x="4419600" y="5334000"/>
            <a:ext cx="0" cy="261938"/>
          </a:xfrm>
          <a:prstGeom prst="line">
            <a:avLst/>
          </a:prstGeom>
          <a:noFill/>
          <a:ln w="12700">
            <a:solidFill>
              <a:schemeClr val="tx1"/>
            </a:solidFill>
            <a:round/>
            <a:headEnd/>
            <a:tailEnd/>
          </a:ln>
        </p:spPr>
        <p:txBody>
          <a:bodyPr wrap="none" anchor="ctr"/>
          <a:lstStyle/>
          <a:p>
            <a:endParaRPr lang="en-US"/>
          </a:p>
        </p:txBody>
      </p:sp>
      <p:sp>
        <p:nvSpPr>
          <p:cNvPr id="381964" name="Line 10"/>
          <p:cNvSpPr>
            <a:spLocks noChangeShapeType="1"/>
          </p:cNvSpPr>
          <p:nvPr/>
        </p:nvSpPr>
        <p:spPr bwMode="auto">
          <a:xfrm flipV="1">
            <a:off x="5029200" y="5334000"/>
            <a:ext cx="0" cy="261938"/>
          </a:xfrm>
          <a:prstGeom prst="line">
            <a:avLst/>
          </a:prstGeom>
          <a:noFill/>
          <a:ln w="12700">
            <a:solidFill>
              <a:schemeClr val="tx1"/>
            </a:solidFill>
            <a:round/>
            <a:headEnd/>
            <a:tailEnd/>
          </a:ln>
        </p:spPr>
        <p:txBody>
          <a:bodyPr wrap="none" anchor="ctr"/>
          <a:lstStyle/>
          <a:p>
            <a:endParaRPr lang="en-US"/>
          </a:p>
        </p:txBody>
      </p:sp>
      <p:sp>
        <p:nvSpPr>
          <p:cNvPr id="381965" name="Line 11"/>
          <p:cNvSpPr>
            <a:spLocks noChangeShapeType="1"/>
          </p:cNvSpPr>
          <p:nvPr/>
        </p:nvSpPr>
        <p:spPr bwMode="auto">
          <a:xfrm flipV="1">
            <a:off x="5715000" y="5334000"/>
            <a:ext cx="0" cy="261938"/>
          </a:xfrm>
          <a:prstGeom prst="line">
            <a:avLst/>
          </a:prstGeom>
          <a:noFill/>
          <a:ln w="12700">
            <a:solidFill>
              <a:schemeClr val="tx1"/>
            </a:solidFill>
            <a:round/>
            <a:headEnd/>
            <a:tailEnd/>
          </a:ln>
        </p:spPr>
        <p:txBody>
          <a:bodyPr wrap="none" anchor="ctr"/>
          <a:lstStyle/>
          <a:p>
            <a:endParaRPr lang="en-US"/>
          </a:p>
        </p:txBody>
      </p:sp>
      <p:sp>
        <p:nvSpPr>
          <p:cNvPr id="381966" name="Freeform 12"/>
          <p:cNvSpPr>
            <a:spLocks/>
          </p:cNvSpPr>
          <p:nvPr/>
        </p:nvSpPr>
        <p:spPr bwMode="auto">
          <a:xfrm>
            <a:off x="3065463" y="4306888"/>
            <a:ext cx="2801937" cy="700087"/>
          </a:xfrm>
          <a:custGeom>
            <a:avLst/>
            <a:gdLst>
              <a:gd name="T0" fmla="*/ 0 w 1765"/>
              <a:gd name="T1" fmla="*/ 700087 h 441"/>
              <a:gd name="T2" fmla="*/ 300037 w 1765"/>
              <a:gd name="T3" fmla="*/ 598487 h 441"/>
              <a:gd name="T4" fmla="*/ 528637 w 1765"/>
              <a:gd name="T5" fmla="*/ 579437 h 441"/>
              <a:gd name="T6" fmla="*/ 687387 w 1765"/>
              <a:gd name="T7" fmla="*/ 514350 h 441"/>
              <a:gd name="T8" fmla="*/ 835025 w 1765"/>
              <a:gd name="T9" fmla="*/ 495300 h 441"/>
              <a:gd name="T10" fmla="*/ 958850 w 1765"/>
              <a:gd name="T11" fmla="*/ 452437 h 441"/>
              <a:gd name="T12" fmla="*/ 1066800 w 1765"/>
              <a:gd name="T13" fmla="*/ 433387 h 441"/>
              <a:gd name="T14" fmla="*/ 1176337 w 1765"/>
              <a:gd name="T15" fmla="*/ 427037 h 441"/>
              <a:gd name="T16" fmla="*/ 1287462 w 1765"/>
              <a:gd name="T17" fmla="*/ 369887 h 441"/>
              <a:gd name="T18" fmla="*/ 1403350 w 1765"/>
              <a:gd name="T19" fmla="*/ 350837 h 441"/>
              <a:gd name="T20" fmla="*/ 1514475 w 1765"/>
              <a:gd name="T21" fmla="*/ 331787 h 441"/>
              <a:gd name="T22" fmla="*/ 1611312 w 1765"/>
              <a:gd name="T23" fmla="*/ 288925 h 441"/>
              <a:gd name="T24" fmla="*/ 1735137 w 1765"/>
              <a:gd name="T25" fmla="*/ 266700 h 441"/>
              <a:gd name="T26" fmla="*/ 1833562 w 1765"/>
              <a:gd name="T27" fmla="*/ 207962 h 441"/>
              <a:gd name="T28" fmla="*/ 1966912 w 1765"/>
              <a:gd name="T29" fmla="*/ 206375 h 441"/>
              <a:gd name="T30" fmla="*/ 2114550 w 1765"/>
              <a:gd name="T31" fmla="*/ 187325 h 441"/>
              <a:gd name="T32" fmla="*/ 2284412 w 1765"/>
              <a:gd name="T33" fmla="*/ 144462 h 441"/>
              <a:gd name="T34" fmla="*/ 2492375 w 1765"/>
              <a:gd name="T35" fmla="*/ 84137 h 441"/>
              <a:gd name="T36" fmla="*/ 2801937 w 1765"/>
              <a:gd name="T37" fmla="*/ 0 h 44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65"/>
              <a:gd name="T58" fmla="*/ 0 h 441"/>
              <a:gd name="T59" fmla="*/ 1765 w 1765"/>
              <a:gd name="T60" fmla="*/ 441 h 44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65" h="441">
                <a:moveTo>
                  <a:pt x="0" y="441"/>
                </a:moveTo>
                <a:lnTo>
                  <a:pt x="189" y="377"/>
                </a:lnTo>
                <a:lnTo>
                  <a:pt x="333" y="365"/>
                </a:lnTo>
                <a:lnTo>
                  <a:pt x="433" y="324"/>
                </a:lnTo>
                <a:lnTo>
                  <a:pt x="526" y="312"/>
                </a:lnTo>
                <a:lnTo>
                  <a:pt x="604" y="285"/>
                </a:lnTo>
                <a:lnTo>
                  <a:pt x="672" y="273"/>
                </a:lnTo>
                <a:lnTo>
                  <a:pt x="741" y="269"/>
                </a:lnTo>
                <a:lnTo>
                  <a:pt x="811" y="233"/>
                </a:lnTo>
                <a:lnTo>
                  <a:pt x="884" y="221"/>
                </a:lnTo>
                <a:lnTo>
                  <a:pt x="954" y="209"/>
                </a:lnTo>
                <a:lnTo>
                  <a:pt x="1015" y="182"/>
                </a:lnTo>
                <a:lnTo>
                  <a:pt x="1093" y="168"/>
                </a:lnTo>
                <a:lnTo>
                  <a:pt x="1155" y="131"/>
                </a:lnTo>
                <a:lnTo>
                  <a:pt x="1239" y="130"/>
                </a:lnTo>
                <a:lnTo>
                  <a:pt x="1332" y="118"/>
                </a:lnTo>
                <a:lnTo>
                  <a:pt x="1439" y="91"/>
                </a:lnTo>
                <a:lnTo>
                  <a:pt x="1570" y="53"/>
                </a:lnTo>
                <a:lnTo>
                  <a:pt x="1765" y="0"/>
                </a:lnTo>
              </a:path>
            </a:pathLst>
          </a:custGeom>
          <a:noFill/>
          <a:ln w="50800" cap="rnd">
            <a:solidFill>
              <a:schemeClr val="tx1"/>
            </a:solidFill>
            <a:round/>
            <a:headEnd/>
            <a:tailEnd/>
          </a:ln>
        </p:spPr>
        <p:txBody>
          <a:bodyPr/>
          <a:lstStyle/>
          <a:p>
            <a:endParaRPr lang="en-GB"/>
          </a:p>
        </p:txBody>
      </p:sp>
      <p:sp>
        <p:nvSpPr>
          <p:cNvPr id="381967" name="Rectangle 13"/>
          <p:cNvSpPr>
            <a:spLocks noChangeArrowheads="1"/>
          </p:cNvSpPr>
          <p:nvPr/>
        </p:nvSpPr>
        <p:spPr bwMode="auto">
          <a:xfrm>
            <a:off x="2451100" y="4891088"/>
            <a:ext cx="520700" cy="454025"/>
          </a:xfrm>
          <a:prstGeom prst="rect">
            <a:avLst/>
          </a:prstGeom>
          <a:noFill/>
          <a:ln w="12700">
            <a:noFill/>
            <a:miter lim="800000"/>
            <a:headEnd/>
            <a:tailEnd/>
          </a:ln>
        </p:spPr>
        <p:txBody>
          <a:bodyPr wrap="none" lIns="90488" tIns="44450" rIns="90488" bIns="44450">
            <a:spAutoFit/>
          </a:bodyPr>
          <a:lstStyle/>
          <a:p>
            <a:pPr eaLnBrk="0" hangingPunct="0"/>
            <a:r>
              <a:rPr lang="en-US"/>
              <a:t>30</a:t>
            </a:r>
          </a:p>
        </p:txBody>
      </p:sp>
      <p:sp>
        <p:nvSpPr>
          <p:cNvPr id="381968" name="Rectangle 14"/>
          <p:cNvSpPr>
            <a:spLocks noChangeArrowheads="1"/>
          </p:cNvSpPr>
          <p:nvPr/>
        </p:nvSpPr>
        <p:spPr bwMode="auto">
          <a:xfrm>
            <a:off x="2451100" y="4275138"/>
            <a:ext cx="520700" cy="454025"/>
          </a:xfrm>
          <a:prstGeom prst="rect">
            <a:avLst/>
          </a:prstGeom>
          <a:noFill/>
          <a:ln w="12700">
            <a:noFill/>
            <a:miter lim="800000"/>
            <a:headEnd/>
            <a:tailEnd/>
          </a:ln>
        </p:spPr>
        <p:txBody>
          <a:bodyPr wrap="none" lIns="90488" tIns="44450" rIns="90488" bIns="44450">
            <a:spAutoFit/>
          </a:bodyPr>
          <a:lstStyle/>
          <a:p>
            <a:pPr eaLnBrk="0" hangingPunct="0"/>
            <a:r>
              <a:rPr lang="en-US"/>
              <a:t>60</a:t>
            </a:r>
          </a:p>
        </p:txBody>
      </p:sp>
      <p:sp>
        <p:nvSpPr>
          <p:cNvPr id="381969" name="Rectangle 15"/>
          <p:cNvSpPr>
            <a:spLocks noChangeArrowheads="1"/>
          </p:cNvSpPr>
          <p:nvPr/>
        </p:nvSpPr>
        <p:spPr bwMode="auto">
          <a:xfrm>
            <a:off x="2451100" y="3657600"/>
            <a:ext cx="520700" cy="454025"/>
          </a:xfrm>
          <a:prstGeom prst="rect">
            <a:avLst/>
          </a:prstGeom>
          <a:noFill/>
          <a:ln w="12700">
            <a:noFill/>
            <a:miter lim="800000"/>
            <a:headEnd/>
            <a:tailEnd/>
          </a:ln>
        </p:spPr>
        <p:txBody>
          <a:bodyPr wrap="none" lIns="90488" tIns="44450" rIns="90488" bIns="44450">
            <a:spAutoFit/>
          </a:bodyPr>
          <a:lstStyle/>
          <a:p>
            <a:pPr eaLnBrk="0" hangingPunct="0"/>
            <a:r>
              <a:rPr lang="en-US"/>
              <a:t>90</a:t>
            </a:r>
          </a:p>
        </p:txBody>
      </p:sp>
      <p:sp>
        <p:nvSpPr>
          <p:cNvPr id="381970" name="Rectangle 16"/>
          <p:cNvSpPr>
            <a:spLocks noChangeArrowheads="1"/>
          </p:cNvSpPr>
          <p:nvPr/>
        </p:nvSpPr>
        <p:spPr bwMode="auto">
          <a:xfrm>
            <a:off x="2887663" y="5656263"/>
            <a:ext cx="452437" cy="454025"/>
          </a:xfrm>
          <a:prstGeom prst="rect">
            <a:avLst/>
          </a:prstGeom>
          <a:noFill/>
          <a:ln w="12700">
            <a:noFill/>
            <a:miter lim="800000"/>
            <a:headEnd/>
            <a:tailEnd/>
          </a:ln>
        </p:spPr>
        <p:txBody>
          <a:bodyPr wrap="none" lIns="90488" tIns="44450" rIns="90488" bIns="44450">
            <a:spAutoFit/>
          </a:bodyPr>
          <a:lstStyle/>
          <a:p>
            <a:pPr eaLnBrk="0" hangingPunct="0"/>
            <a:r>
              <a:rPr lang="en-US"/>
              <a:t>-2</a:t>
            </a:r>
          </a:p>
        </p:txBody>
      </p:sp>
      <p:sp>
        <p:nvSpPr>
          <p:cNvPr id="381971" name="Rectangle 17"/>
          <p:cNvSpPr>
            <a:spLocks noChangeArrowheads="1"/>
          </p:cNvSpPr>
          <p:nvPr/>
        </p:nvSpPr>
        <p:spPr bwMode="auto">
          <a:xfrm>
            <a:off x="3540125" y="5656263"/>
            <a:ext cx="452438" cy="454025"/>
          </a:xfrm>
          <a:prstGeom prst="rect">
            <a:avLst/>
          </a:prstGeom>
          <a:noFill/>
          <a:ln w="12700">
            <a:noFill/>
            <a:miter lim="800000"/>
            <a:headEnd/>
            <a:tailEnd/>
          </a:ln>
        </p:spPr>
        <p:txBody>
          <a:bodyPr wrap="none" lIns="90488" tIns="44450" rIns="90488" bIns="44450">
            <a:spAutoFit/>
          </a:bodyPr>
          <a:lstStyle/>
          <a:p>
            <a:pPr eaLnBrk="0" hangingPunct="0"/>
            <a:r>
              <a:rPr lang="en-US"/>
              <a:t>-1</a:t>
            </a:r>
          </a:p>
        </p:txBody>
      </p:sp>
      <p:sp>
        <p:nvSpPr>
          <p:cNvPr id="381972" name="Rectangle 18"/>
          <p:cNvSpPr>
            <a:spLocks noChangeArrowheads="1"/>
          </p:cNvSpPr>
          <p:nvPr/>
        </p:nvSpPr>
        <p:spPr bwMode="auto">
          <a:xfrm>
            <a:off x="4254500" y="5656263"/>
            <a:ext cx="350838" cy="454025"/>
          </a:xfrm>
          <a:prstGeom prst="rect">
            <a:avLst/>
          </a:prstGeom>
          <a:noFill/>
          <a:ln w="12700">
            <a:noFill/>
            <a:miter lim="800000"/>
            <a:headEnd/>
            <a:tailEnd/>
          </a:ln>
        </p:spPr>
        <p:txBody>
          <a:bodyPr wrap="none" lIns="90488" tIns="44450" rIns="90488" bIns="44450">
            <a:spAutoFit/>
          </a:bodyPr>
          <a:lstStyle/>
          <a:p>
            <a:pPr eaLnBrk="0" hangingPunct="0"/>
            <a:r>
              <a:rPr lang="en-US"/>
              <a:t>0</a:t>
            </a:r>
          </a:p>
        </p:txBody>
      </p:sp>
      <p:sp>
        <p:nvSpPr>
          <p:cNvPr id="381973" name="Rectangle 19"/>
          <p:cNvSpPr>
            <a:spLocks noChangeArrowheads="1"/>
          </p:cNvSpPr>
          <p:nvPr/>
        </p:nvSpPr>
        <p:spPr bwMode="auto">
          <a:xfrm>
            <a:off x="4878388" y="5656263"/>
            <a:ext cx="350837" cy="454025"/>
          </a:xfrm>
          <a:prstGeom prst="rect">
            <a:avLst/>
          </a:prstGeom>
          <a:noFill/>
          <a:ln w="12700">
            <a:noFill/>
            <a:miter lim="800000"/>
            <a:headEnd/>
            <a:tailEnd/>
          </a:ln>
        </p:spPr>
        <p:txBody>
          <a:bodyPr wrap="none" lIns="90488" tIns="44450" rIns="90488" bIns="44450">
            <a:spAutoFit/>
          </a:bodyPr>
          <a:lstStyle/>
          <a:p>
            <a:pPr eaLnBrk="0" hangingPunct="0"/>
            <a:r>
              <a:rPr lang="en-US"/>
              <a:t>1</a:t>
            </a:r>
          </a:p>
        </p:txBody>
      </p:sp>
      <p:sp>
        <p:nvSpPr>
          <p:cNvPr id="381974" name="Rectangle 20"/>
          <p:cNvSpPr>
            <a:spLocks noChangeArrowheads="1"/>
          </p:cNvSpPr>
          <p:nvPr/>
        </p:nvSpPr>
        <p:spPr bwMode="auto">
          <a:xfrm>
            <a:off x="5564188" y="5656263"/>
            <a:ext cx="350837" cy="454025"/>
          </a:xfrm>
          <a:prstGeom prst="rect">
            <a:avLst/>
          </a:prstGeom>
          <a:noFill/>
          <a:ln w="12700">
            <a:noFill/>
            <a:miter lim="800000"/>
            <a:headEnd/>
            <a:tailEnd/>
          </a:ln>
        </p:spPr>
        <p:txBody>
          <a:bodyPr wrap="none" lIns="90488" tIns="44450" rIns="90488" bIns="44450">
            <a:spAutoFit/>
          </a:bodyPr>
          <a:lstStyle/>
          <a:p>
            <a:pPr eaLnBrk="0" hangingPunct="0"/>
            <a:r>
              <a:rPr lang="en-US"/>
              <a:t>2</a:t>
            </a:r>
          </a:p>
        </p:txBody>
      </p:sp>
      <p:sp>
        <p:nvSpPr>
          <p:cNvPr id="381975" name="Rectangle 21"/>
          <p:cNvSpPr>
            <a:spLocks noChangeArrowheads="1"/>
          </p:cNvSpPr>
          <p:nvPr/>
        </p:nvSpPr>
        <p:spPr bwMode="auto">
          <a:xfrm>
            <a:off x="6096000" y="5562600"/>
            <a:ext cx="414338" cy="546100"/>
          </a:xfrm>
          <a:prstGeom prst="rect">
            <a:avLst/>
          </a:prstGeom>
          <a:noFill/>
          <a:ln w="12700">
            <a:noFill/>
            <a:miter lim="800000"/>
            <a:headEnd/>
            <a:tailEnd/>
          </a:ln>
        </p:spPr>
        <p:txBody>
          <a:bodyPr lIns="90488" tIns="44450" rIns="90488" bIns="44450">
            <a:spAutoFit/>
          </a:bodyPr>
          <a:lstStyle/>
          <a:p>
            <a:pPr eaLnBrk="0" hangingPunct="0"/>
            <a:r>
              <a:rPr lang="en-US" sz="3000"/>
              <a:t>Z</a:t>
            </a:r>
          </a:p>
        </p:txBody>
      </p:sp>
      <p:sp>
        <p:nvSpPr>
          <p:cNvPr id="381976" name="Rectangle 22"/>
          <p:cNvSpPr>
            <a:spLocks noChangeArrowheads="1"/>
          </p:cNvSpPr>
          <p:nvPr/>
        </p:nvSpPr>
        <p:spPr bwMode="auto">
          <a:xfrm>
            <a:off x="2133600" y="3352800"/>
            <a:ext cx="434975" cy="546100"/>
          </a:xfrm>
          <a:prstGeom prst="rect">
            <a:avLst/>
          </a:prstGeom>
          <a:noFill/>
          <a:ln w="12700">
            <a:noFill/>
            <a:miter lim="800000"/>
            <a:headEnd/>
            <a:tailEnd/>
          </a:ln>
        </p:spPr>
        <p:txBody>
          <a:bodyPr wrap="none" lIns="90488" tIns="44450" rIns="90488" bIns="44450">
            <a:spAutoFit/>
          </a:bodyPr>
          <a:lstStyle/>
          <a:p>
            <a:pPr eaLnBrk="0" hangingPunct="0"/>
            <a:r>
              <a:rPr lang="en-US" sz="3000"/>
              <a:t>X</a:t>
            </a:r>
          </a:p>
        </p:txBody>
      </p:sp>
      <p:sp>
        <p:nvSpPr>
          <p:cNvPr id="381977" name="Rectangle 23"/>
          <p:cNvSpPr>
            <a:spLocks noGrp="1" noChangeArrowheads="1"/>
          </p:cNvSpPr>
          <p:nvPr>
            <p:ph type="title"/>
          </p:nvPr>
        </p:nvSpPr>
        <p:spPr/>
        <p:txBody>
          <a:bodyPr/>
          <a:lstStyle/>
          <a:p>
            <a:pPr eaLnBrk="1" hangingPunct="1"/>
            <a:r>
              <a:rPr lang="en-US" sz="3600" smtClean="0"/>
              <a:t>The Quantile-Quantile Normal Probability Plot Interpretation</a:t>
            </a:r>
          </a:p>
        </p:txBody>
      </p:sp>
      <p:sp>
        <p:nvSpPr>
          <p:cNvPr id="381978" name="Line 25"/>
          <p:cNvSpPr>
            <a:spLocks noChangeShapeType="1"/>
          </p:cNvSpPr>
          <p:nvPr/>
        </p:nvSpPr>
        <p:spPr bwMode="auto">
          <a:xfrm flipV="1">
            <a:off x="3200400" y="5334000"/>
            <a:ext cx="0" cy="261938"/>
          </a:xfrm>
          <a:prstGeom prst="line">
            <a:avLst/>
          </a:prstGeom>
          <a:noFill/>
          <a:ln w="12700">
            <a:solidFill>
              <a:schemeClr val="tx1"/>
            </a:solidFill>
            <a:round/>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7" name="Rectangle 4"/>
          <p:cNvSpPr>
            <a:spLocks noGrp="1" noChangeArrowheads="1"/>
          </p:cNvSpPr>
          <p:nvPr>
            <p:ph type="ftr" sz="quarter" idx="10"/>
          </p:nvPr>
        </p:nvSpPr>
        <p:spPr>
          <a:noFill/>
        </p:spPr>
        <p:txBody>
          <a:bodyPr/>
          <a:lstStyle/>
          <a:p>
            <a:r>
              <a:rPr lang="en-US" smtClean="0"/>
              <a:t>Copyright ©2012 Pearson Education</a:t>
            </a:r>
          </a:p>
        </p:txBody>
      </p:sp>
      <p:sp>
        <p:nvSpPr>
          <p:cNvPr id="382978" name="Rectangle 5"/>
          <p:cNvSpPr>
            <a:spLocks noGrp="1" noChangeArrowheads="1"/>
          </p:cNvSpPr>
          <p:nvPr>
            <p:ph type="sldNum" sz="quarter" idx="11"/>
          </p:nvPr>
        </p:nvSpPr>
        <p:spPr>
          <a:noFill/>
        </p:spPr>
        <p:txBody>
          <a:bodyPr/>
          <a:lstStyle/>
          <a:p>
            <a:r>
              <a:rPr lang="en-US" smtClean="0"/>
              <a:t>Chap 6-</a:t>
            </a:r>
            <a:fld id="{85F47821-6739-4CEE-BA6B-F0356103AA5C}" type="slidenum">
              <a:rPr lang="en-US" smtClean="0"/>
              <a:pPr/>
              <a:t>39</a:t>
            </a:fld>
            <a:endParaRPr lang="en-US" smtClean="0"/>
          </a:p>
        </p:txBody>
      </p:sp>
      <p:sp>
        <p:nvSpPr>
          <p:cNvPr id="382979"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DA017CD6-0D5E-456E-B637-8C2D8FFB1037}" type="slidenum">
              <a:rPr lang="en-US" sz="1000"/>
              <a:pPr algn="r" defTabSz="852488"/>
              <a:t>39</a:t>
            </a:fld>
            <a:endParaRPr lang="en-US" sz="1000"/>
          </a:p>
        </p:txBody>
      </p:sp>
      <p:sp>
        <p:nvSpPr>
          <p:cNvPr id="382980" name="Rectangle 2"/>
          <p:cNvSpPr>
            <a:spLocks noChangeArrowheads="1"/>
          </p:cNvSpPr>
          <p:nvPr/>
        </p:nvSpPr>
        <p:spPr bwMode="auto">
          <a:xfrm>
            <a:off x="5486400" y="2286000"/>
            <a:ext cx="2971800" cy="1752600"/>
          </a:xfrm>
          <a:prstGeom prst="rect">
            <a:avLst/>
          </a:prstGeom>
          <a:solidFill>
            <a:srgbClr val="DDDDDD"/>
          </a:solidFill>
          <a:ln w="9525">
            <a:solidFill>
              <a:schemeClr val="tx1"/>
            </a:solidFill>
            <a:miter lim="800000"/>
            <a:headEnd/>
            <a:tailEnd/>
          </a:ln>
        </p:spPr>
        <p:txBody>
          <a:bodyPr wrap="none" anchor="ctr"/>
          <a:lstStyle/>
          <a:p>
            <a:pPr algn="ctr">
              <a:spcBef>
                <a:spcPct val="50000"/>
              </a:spcBef>
            </a:pPr>
            <a:endParaRPr lang="en-GB"/>
          </a:p>
        </p:txBody>
      </p:sp>
      <p:sp>
        <p:nvSpPr>
          <p:cNvPr id="382981" name="Rectangle 3"/>
          <p:cNvSpPr>
            <a:spLocks noChangeArrowheads="1"/>
          </p:cNvSpPr>
          <p:nvPr/>
        </p:nvSpPr>
        <p:spPr bwMode="auto">
          <a:xfrm>
            <a:off x="1219200" y="4876800"/>
            <a:ext cx="2971800" cy="1752600"/>
          </a:xfrm>
          <a:prstGeom prst="rect">
            <a:avLst/>
          </a:prstGeom>
          <a:solidFill>
            <a:srgbClr val="DDDDDD"/>
          </a:solidFill>
          <a:ln w="9525">
            <a:solidFill>
              <a:schemeClr val="tx1"/>
            </a:solidFill>
            <a:miter lim="800000"/>
            <a:headEnd/>
            <a:tailEnd/>
          </a:ln>
        </p:spPr>
        <p:txBody>
          <a:bodyPr wrap="none" anchor="ctr"/>
          <a:lstStyle/>
          <a:p>
            <a:pPr algn="ctr">
              <a:spcBef>
                <a:spcPct val="50000"/>
              </a:spcBef>
            </a:pPr>
            <a:endParaRPr lang="en-GB"/>
          </a:p>
        </p:txBody>
      </p:sp>
      <p:sp>
        <p:nvSpPr>
          <p:cNvPr id="382982" name="Rectangle 4"/>
          <p:cNvSpPr>
            <a:spLocks noChangeArrowheads="1"/>
          </p:cNvSpPr>
          <p:nvPr/>
        </p:nvSpPr>
        <p:spPr bwMode="auto">
          <a:xfrm>
            <a:off x="1219200" y="2286000"/>
            <a:ext cx="2971800" cy="1752600"/>
          </a:xfrm>
          <a:prstGeom prst="rect">
            <a:avLst/>
          </a:prstGeom>
          <a:solidFill>
            <a:srgbClr val="DDDDDD"/>
          </a:solidFill>
          <a:ln w="9525">
            <a:solidFill>
              <a:schemeClr val="tx1"/>
            </a:solidFill>
            <a:miter lim="800000"/>
            <a:headEnd/>
            <a:tailEnd/>
          </a:ln>
        </p:spPr>
        <p:txBody>
          <a:bodyPr wrap="none" anchor="ctr"/>
          <a:lstStyle/>
          <a:p>
            <a:pPr algn="ctr">
              <a:spcBef>
                <a:spcPct val="50000"/>
              </a:spcBef>
            </a:pPr>
            <a:endParaRPr lang="en-GB"/>
          </a:p>
        </p:txBody>
      </p:sp>
      <p:sp>
        <p:nvSpPr>
          <p:cNvPr id="382983" name="Rectangle 5"/>
          <p:cNvSpPr>
            <a:spLocks noGrp="1" noChangeArrowheads="1"/>
          </p:cNvSpPr>
          <p:nvPr>
            <p:ph type="title"/>
          </p:nvPr>
        </p:nvSpPr>
        <p:spPr/>
        <p:txBody>
          <a:bodyPr/>
          <a:lstStyle/>
          <a:p>
            <a:pPr eaLnBrk="1" hangingPunct="1"/>
            <a:r>
              <a:rPr lang="en-US" sz="3600" smtClean="0"/>
              <a:t>Quantile-Quantile Normal Probability Plot Interpretation</a:t>
            </a:r>
          </a:p>
        </p:txBody>
      </p:sp>
      <p:sp>
        <p:nvSpPr>
          <p:cNvPr id="382984" name="Rectangle 6"/>
          <p:cNvSpPr>
            <a:spLocks noChangeArrowheads="1"/>
          </p:cNvSpPr>
          <p:nvPr/>
        </p:nvSpPr>
        <p:spPr bwMode="auto">
          <a:xfrm>
            <a:off x="1019175" y="1690688"/>
            <a:ext cx="3324225" cy="528637"/>
          </a:xfrm>
          <a:prstGeom prst="rect">
            <a:avLst/>
          </a:prstGeom>
          <a:solidFill>
            <a:srgbClr val="FDE0BD"/>
          </a:solidFill>
          <a:ln w="12700">
            <a:solidFill>
              <a:schemeClr val="tx1"/>
            </a:solidFill>
            <a:miter lim="800000"/>
            <a:headEnd/>
            <a:tailEnd/>
          </a:ln>
        </p:spPr>
        <p:txBody>
          <a:bodyPr lIns="90488" tIns="44450" rIns="90488" bIns="44450">
            <a:spAutoFit/>
          </a:bodyPr>
          <a:lstStyle/>
          <a:p>
            <a:pPr algn="ctr" eaLnBrk="0" hangingPunct="0">
              <a:spcBef>
                <a:spcPct val="50000"/>
              </a:spcBef>
            </a:pPr>
            <a:r>
              <a:rPr lang="en-US" sz="2800"/>
              <a:t>Left-Skewed</a:t>
            </a:r>
          </a:p>
        </p:txBody>
      </p:sp>
      <p:sp>
        <p:nvSpPr>
          <p:cNvPr id="382985" name="Rectangle 7"/>
          <p:cNvSpPr>
            <a:spLocks noChangeArrowheads="1"/>
          </p:cNvSpPr>
          <p:nvPr/>
        </p:nvSpPr>
        <p:spPr bwMode="auto">
          <a:xfrm>
            <a:off x="5286375" y="1690688"/>
            <a:ext cx="3324225" cy="528637"/>
          </a:xfrm>
          <a:prstGeom prst="rect">
            <a:avLst/>
          </a:prstGeom>
          <a:solidFill>
            <a:srgbClr val="FDE0BD"/>
          </a:solidFill>
          <a:ln w="12700">
            <a:solidFill>
              <a:schemeClr val="tx1"/>
            </a:solidFill>
            <a:miter lim="800000"/>
            <a:headEnd/>
            <a:tailEnd/>
          </a:ln>
        </p:spPr>
        <p:txBody>
          <a:bodyPr lIns="90488" tIns="44450" rIns="90488" bIns="44450">
            <a:spAutoFit/>
          </a:bodyPr>
          <a:lstStyle/>
          <a:p>
            <a:pPr algn="ctr" eaLnBrk="0" hangingPunct="0">
              <a:spcBef>
                <a:spcPct val="50000"/>
              </a:spcBef>
            </a:pPr>
            <a:r>
              <a:rPr lang="en-US" sz="2800"/>
              <a:t>Right-Skewed</a:t>
            </a:r>
          </a:p>
        </p:txBody>
      </p:sp>
      <p:sp>
        <p:nvSpPr>
          <p:cNvPr id="382986" name="Rectangle 8"/>
          <p:cNvSpPr>
            <a:spLocks noChangeArrowheads="1"/>
          </p:cNvSpPr>
          <p:nvPr/>
        </p:nvSpPr>
        <p:spPr bwMode="auto">
          <a:xfrm>
            <a:off x="1019175" y="4271963"/>
            <a:ext cx="3324225" cy="528637"/>
          </a:xfrm>
          <a:prstGeom prst="rect">
            <a:avLst/>
          </a:prstGeom>
          <a:solidFill>
            <a:srgbClr val="FDE0BD"/>
          </a:solidFill>
          <a:ln w="12700">
            <a:solidFill>
              <a:schemeClr val="tx1"/>
            </a:solidFill>
            <a:miter lim="800000"/>
            <a:headEnd/>
            <a:tailEnd/>
          </a:ln>
        </p:spPr>
        <p:txBody>
          <a:bodyPr lIns="90488" tIns="44450" rIns="90488" bIns="44450">
            <a:spAutoFit/>
          </a:bodyPr>
          <a:lstStyle/>
          <a:p>
            <a:pPr algn="ctr" eaLnBrk="0" hangingPunct="0">
              <a:spcBef>
                <a:spcPct val="50000"/>
              </a:spcBef>
            </a:pPr>
            <a:r>
              <a:rPr lang="en-US" sz="2800"/>
              <a:t>Rectangular</a:t>
            </a:r>
          </a:p>
        </p:txBody>
      </p:sp>
      <p:sp>
        <p:nvSpPr>
          <p:cNvPr id="382987" name="Line 9"/>
          <p:cNvSpPr>
            <a:spLocks noChangeShapeType="1"/>
          </p:cNvSpPr>
          <p:nvPr/>
        </p:nvSpPr>
        <p:spPr bwMode="auto">
          <a:xfrm>
            <a:off x="1962150" y="3514725"/>
            <a:ext cx="1588" cy="0"/>
          </a:xfrm>
          <a:prstGeom prst="line">
            <a:avLst/>
          </a:prstGeom>
          <a:noFill/>
          <a:ln w="12700">
            <a:solidFill>
              <a:schemeClr val="tx1"/>
            </a:solidFill>
            <a:round/>
            <a:headEnd/>
            <a:tailEnd/>
          </a:ln>
        </p:spPr>
        <p:txBody>
          <a:bodyPr wrap="none" anchor="ctr"/>
          <a:lstStyle/>
          <a:p>
            <a:endParaRPr lang="en-US"/>
          </a:p>
        </p:txBody>
      </p:sp>
      <p:sp>
        <p:nvSpPr>
          <p:cNvPr id="382988" name="Line 10"/>
          <p:cNvSpPr>
            <a:spLocks noChangeShapeType="1"/>
          </p:cNvSpPr>
          <p:nvPr/>
        </p:nvSpPr>
        <p:spPr bwMode="auto">
          <a:xfrm>
            <a:off x="1962150" y="3095625"/>
            <a:ext cx="1588" cy="0"/>
          </a:xfrm>
          <a:prstGeom prst="line">
            <a:avLst/>
          </a:prstGeom>
          <a:noFill/>
          <a:ln w="12700">
            <a:solidFill>
              <a:schemeClr val="tx1"/>
            </a:solidFill>
            <a:round/>
            <a:headEnd/>
            <a:tailEnd/>
          </a:ln>
        </p:spPr>
        <p:txBody>
          <a:bodyPr wrap="none" anchor="ctr"/>
          <a:lstStyle/>
          <a:p>
            <a:endParaRPr lang="en-US"/>
          </a:p>
        </p:txBody>
      </p:sp>
      <p:sp>
        <p:nvSpPr>
          <p:cNvPr id="382989" name="Line 11"/>
          <p:cNvSpPr>
            <a:spLocks noChangeShapeType="1"/>
          </p:cNvSpPr>
          <p:nvPr/>
        </p:nvSpPr>
        <p:spPr bwMode="auto">
          <a:xfrm>
            <a:off x="1962150" y="2674938"/>
            <a:ext cx="1588" cy="0"/>
          </a:xfrm>
          <a:prstGeom prst="line">
            <a:avLst/>
          </a:prstGeom>
          <a:noFill/>
          <a:ln w="12700">
            <a:solidFill>
              <a:schemeClr val="tx1"/>
            </a:solidFill>
            <a:round/>
            <a:headEnd/>
            <a:tailEnd/>
          </a:ln>
        </p:spPr>
        <p:txBody>
          <a:bodyPr wrap="none" anchor="ctr"/>
          <a:lstStyle/>
          <a:p>
            <a:endParaRPr lang="en-US"/>
          </a:p>
        </p:txBody>
      </p:sp>
      <p:sp>
        <p:nvSpPr>
          <p:cNvPr id="382990" name="Line 12"/>
          <p:cNvSpPr>
            <a:spLocks noChangeShapeType="1"/>
          </p:cNvSpPr>
          <p:nvPr/>
        </p:nvSpPr>
        <p:spPr bwMode="auto">
          <a:xfrm>
            <a:off x="1962150" y="3497263"/>
            <a:ext cx="1752600" cy="0"/>
          </a:xfrm>
          <a:prstGeom prst="line">
            <a:avLst/>
          </a:prstGeom>
          <a:noFill/>
          <a:ln w="12700">
            <a:solidFill>
              <a:schemeClr val="tx1"/>
            </a:solidFill>
            <a:round/>
            <a:headEnd/>
            <a:tailEnd/>
          </a:ln>
        </p:spPr>
        <p:txBody>
          <a:bodyPr wrap="none" anchor="ctr"/>
          <a:lstStyle/>
          <a:p>
            <a:endParaRPr lang="en-US"/>
          </a:p>
        </p:txBody>
      </p:sp>
      <p:sp>
        <p:nvSpPr>
          <p:cNvPr id="382991" name="Line 13"/>
          <p:cNvSpPr>
            <a:spLocks noChangeShapeType="1"/>
          </p:cNvSpPr>
          <p:nvPr/>
        </p:nvSpPr>
        <p:spPr bwMode="auto">
          <a:xfrm flipV="1">
            <a:off x="1962150" y="2506663"/>
            <a:ext cx="0" cy="990600"/>
          </a:xfrm>
          <a:prstGeom prst="line">
            <a:avLst/>
          </a:prstGeom>
          <a:noFill/>
          <a:ln w="12700">
            <a:solidFill>
              <a:schemeClr val="tx1"/>
            </a:solidFill>
            <a:round/>
            <a:headEnd/>
            <a:tailEnd/>
          </a:ln>
        </p:spPr>
        <p:txBody>
          <a:bodyPr wrap="none" anchor="ctr"/>
          <a:lstStyle/>
          <a:p>
            <a:endParaRPr lang="en-US"/>
          </a:p>
        </p:txBody>
      </p:sp>
      <p:sp>
        <p:nvSpPr>
          <p:cNvPr id="382992" name="Line 14"/>
          <p:cNvSpPr>
            <a:spLocks noChangeShapeType="1"/>
          </p:cNvSpPr>
          <p:nvPr/>
        </p:nvSpPr>
        <p:spPr bwMode="auto">
          <a:xfrm flipV="1">
            <a:off x="2114550" y="3421063"/>
            <a:ext cx="0" cy="228600"/>
          </a:xfrm>
          <a:prstGeom prst="line">
            <a:avLst/>
          </a:prstGeom>
          <a:noFill/>
          <a:ln w="12700">
            <a:solidFill>
              <a:schemeClr val="tx1"/>
            </a:solidFill>
            <a:round/>
            <a:headEnd/>
            <a:tailEnd/>
          </a:ln>
        </p:spPr>
        <p:txBody>
          <a:bodyPr wrap="none" anchor="ctr"/>
          <a:lstStyle/>
          <a:p>
            <a:endParaRPr lang="en-US"/>
          </a:p>
        </p:txBody>
      </p:sp>
      <p:sp>
        <p:nvSpPr>
          <p:cNvPr id="382993" name="Freeform 15"/>
          <p:cNvSpPr>
            <a:spLocks/>
          </p:cNvSpPr>
          <p:nvPr/>
        </p:nvSpPr>
        <p:spPr bwMode="auto">
          <a:xfrm>
            <a:off x="2114550" y="2743200"/>
            <a:ext cx="1557338" cy="534988"/>
          </a:xfrm>
          <a:custGeom>
            <a:avLst/>
            <a:gdLst>
              <a:gd name="T0" fmla="*/ 0 w 708"/>
              <a:gd name="T1" fmla="*/ 533306 h 318"/>
              <a:gd name="T2" fmla="*/ 175970 w 708"/>
              <a:gd name="T3" fmla="*/ 429000 h 318"/>
              <a:gd name="T4" fmla="*/ 288152 w 708"/>
              <a:gd name="T5" fmla="*/ 370117 h 318"/>
              <a:gd name="T6" fmla="*/ 380536 w 708"/>
              <a:gd name="T7" fmla="*/ 326376 h 318"/>
              <a:gd name="T8" fmla="*/ 464122 w 708"/>
              <a:gd name="T9" fmla="*/ 280953 h 318"/>
              <a:gd name="T10" fmla="*/ 532310 w 708"/>
              <a:gd name="T11" fmla="*/ 252353 h 318"/>
              <a:gd name="T12" fmla="*/ 593900 w 708"/>
              <a:gd name="T13" fmla="*/ 222071 h 318"/>
              <a:gd name="T14" fmla="*/ 662089 w 708"/>
              <a:gd name="T15" fmla="*/ 178329 h 318"/>
              <a:gd name="T16" fmla="*/ 714880 w 708"/>
              <a:gd name="T17" fmla="*/ 148047 h 318"/>
              <a:gd name="T18" fmla="*/ 780869 w 708"/>
              <a:gd name="T19" fmla="*/ 131223 h 318"/>
              <a:gd name="T20" fmla="*/ 840259 w 708"/>
              <a:gd name="T21" fmla="*/ 117765 h 318"/>
              <a:gd name="T22" fmla="*/ 895249 w 708"/>
              <a:gd name="T23" fmla="*/ 104306 h 318"/>
              <a:gd name="T24" fmla="*/ 963438 w 708"/>
              <a:gd name="T25" fmla="*/ 87482 h 318"/>
              <a:gd name="T26" fmla="*/ 1025027 w 708"/>
              <a:gd name="T27" fmla="*/ 87482 h 318"/>
              <a:gd name="T28" fmla="*/ 1093216 w 708"/>
              <a:gd name="T29" fmla="*/ 74023 h 318"/>
              <a:gd name="T30" fmla="*/ 1174603 w 708"/>
              <a:gd name="T31" fmla="*/ 57200 h 318"/>
              <a:gd name="T32" fmla="*/ 1269187 w 708"/>
              <a:gd name="T33" fmla="*/ 43741 h 318"/>
              <a:gd name="T34" fmla="*/ 1383567 w 708"/>
              <a:gd name="T35" fmla="*/ 13459 h 318"/>
              <a:gd name="T36" fmla="*/ 1555138 w 708"/>
              <a:gd name="T37" fmla="*/ 0 h 3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08"/>
              <a:gd name="T58" fmla="*/ 0 h 318"/>
              <a:gd name="T59" fmla="*/ 708 w 708"/>
              <a:gd name="T60" fmla="*/ 318 h 3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08" h="318">
                <a:moveTo>
                  <a:pt x="0" y="317"/>
                </a:moveTo>
                <a:lnTo>
                  <a:pt x="80" y="255"/>
                </a:lnTo>
                <a:lnTo>
                  <a:pt x="131" y="220"/>
                </a:lnTo>
                <a:lnTo>
                  <a:pt x="173" y="194"/>
                </a:lnTo>
                <a:lnTo>
                  <a:pt x="211" y="167"/>
                </a:lnTo>
                <a:lnTo>
                  <a:pt x="242" y="150"/>
                </a:lnTo>
                <a:lnTo>
                  <a:pt x="270" y="132"/>
                </a:lnTo>
                <a:lnTo>
                  <a:pt x="301" y="106"/>
                </a:lnTo>
                <a:lnTo>
                  <a:pt x="325" y="88"/>
                </a:lnTo>
                <a:lnTo>
                  <a:pt x="355" y="78"/>
                </a:lnTo>
                <a:lnTo>
                  <a:pt x="382" y="70"/>
                </a:lnTo>
                <a:lnTo>
                  <a:pt x="407" y="62"/>
                </a:lnTo>
                <a:lnTo>
                  <a:pt x="438" y="52"/>
                </a:lnTo>
                <a:lnTo>
                  <a:pt x="466" y="52"/>
                </a:lnTo>
                <a:lnTo>
                  <a:pt x="497" y="44"/>
                </a:lnTo>
                <a:lnTo>
                  <a:pt x="534" y="34"/>
                </a:lnTo>
                <a:lnTo>
                  <a:pt x="577" y="26"/>
                </a:lnTo>
                <a:lnTo>
                  <a:pt x="629" y="8"/>
                </a:lnTo>
                <a:lnTo>
                  <a:pt x="707" y="0"/>
                </a:lnTo>
              </a:path>
            </a:pathLst>
          </a:custGeom>
          <a:noFill/>
          <a:ln w="25400" cap="rnd">
            <a:solidFill>
              <a:srgbClr val="CC0066"/>
            </a:solidFill>
            <a:round/>
            <a:headEnd/>
            <a:tailEnd/>
          </a:ln>
        </p:spPr>
        <p:txBody>
          <a:bodyPr/>
          <a:lstStyle/>
          <a:p>
            <a:endParaRPr lang="en-GB"/>
          </a:p>
        </p:txBody>
      </p:sp>
      <p:sp>
        <p:nvSpPr>
          <p:cNvPr id="382994" name="Rectangle 16"/>
          <p:cNvSpPr>
            <a:spLocks noChangeArrowheads="1"/>
          </p:cNvSpPr>
          <p:nvPr/>
        </p:nvSpPr>
        <p:spPr bwMode="auto">
          <a:xfrm>
            <a:off x="1511300" y="3194050"/>
            <a:ext cx="450850" cy="377825"/>
          </a:xfrm>
          <a:prstGeom prst="rect">
            <a:avLst/>
          </a:prstGeom>
          <a:noFill/>
          <a:ln w="12700">
            <a:noFill/>
            <a:miter lim="800000"/>
            <a:headEnd/>
            <a:tailEnd/>
          </a:ln>
        </p:spPr>
        <p:txBody>
          <a:bodyPr wrap="none" lIns="90488" tIns="44450" rIns="90488" bIns="44450">
            <a:spAutoFit/>
          </a:bodyPr>
          <a:lstStyle/>
          <a:p>
            <a:pPr eaLnBrk="0" hangingPunct="0"/>
            <a:r>
              <a:rPr lang="en-US" sz="1900"/>
              <a:t>30</a:t>
            </a:r>
          </a:p>
        </p:txBody>
      </p:sp>
      <p:sp>
        <p:nvSpPr>
          <p:cNvPr id="382995" name="Rectangle 17"/>
          <p:cNvSpPr>
            <a:spLocks noChangeArrowheads="1"/>
          </p:cNvSpPr>
          <p:nvPr/>
        </p:nvSpPr>
        <p:spPr bwMode="auto">
          <a:xfrm>
            <a:off x="1511300" y="2773363"/>
            <a:ext cx="450850" cy="377825"/>
          </a:xfrm>
          <a:prstGeom prst="rect">
            <a:avLst/>
          </a:prstGeom>
          <a:noFill/>
          <a:ln w="12700">
            <a:noFill/>
            <a:miter lim="800000"/>
            <a:headEnd/>
            <a:tailEnd/>
          </a:ln>
        </p:spPr>
        <p:txBody>
          <a:bodyPr wrap="none" lIns="90488" tIns="44450" rIns="90488" bIns="44450">
            <a:spAutoFit/>
          </a:bodyPr>
          <a:lstStyle/>
          <a:p>
            <a:pPr eaLnBrk="0" hangingPunct="0"/>
            <a:r>
              <a:rPr lang="en-US" sz="1900"/>
              <a:t>60</a:t>
            </a:r>
          </a:p>
        </p:txBody>
      </p:sp>
      <p:sp>
        <p:nvSpPr>
          <p:cNvPr id="382996" name="Rectangle 18"/>
          <p:cNvSpPr>
            <a:spLocks noChangeArrowheads="1"/>
          </p:cNvSpPr>
          <p:nvPr/>
        </p:nvSpPr>
        <p:spPr bwMode="auto">
          <a:xfrm>
            <a:off x="1511300" y="2354263"/>
            <a:ext cx="450850" cy="377825"/>
          </a:xfrm>
          <a:prstGeom prst="rect">
            <a:avLst/>
          </a:prstGeom>
          <a:noFill/>
          <a:ln w="12700">
            <a:noFill/>
            <a:miter lim="800000"/>
            <a:headEnd/>
            <a:tailEnd/>
          </a:ln>
        </p:spPr>
        <p:txBody>
          <a:bodyPr wrap="none" lIns="90488" tIns="44450" rIns="90488" bIns="44450">
            <a:spAutoFit/>
          </a:bodyPr>
          <a:lstStyle/>
          <a:p>
            <a:pPr eaLnBrk="0" hangingPunct="0"/>
            <a:r>
              <a:rPr lang="en-US" sz="1900"/>
              <a:t>90</a:t>
            </a:r>
          </a:p>
        </p:txBody>
      </p:sp>
      <p:sp>
        <p:nvSpPr>
          <p:cNvPr id="382997" name="Rectangle 19"/>
          <p:cNvSpPr>
            <a:spLocks noChangeArrowheads="1"/>
          </p:cNvSpPr>
          <p:nvPr/>
        </p:nvSpPr>
        <p:spPr bwMode="auto">
          <a:xfrm>
            <a:off x="1920875" y="3660775"/>
            <a:ext cx="396875" cy="377825"/>
          </a:xfrm>
          <a:prstGeom prst="rect">
            <a:avLst/>
          </a:prstGeom>
          <a:noFill/>
          <a:ln w="12700">
            <a:noFill/>
            <a:miter lim="800000"/>
            <a:headEnd/>
            <a:tailEnd/>
          </a:ln>
        </p:spPr>
        <p:txBody>
          <a:bodyPr wrap="none" lIns="90488" tIns="44450" rIns="90488" bIns="44450">
            <a:spAutoFit/>
          </a:bodyPr>
          <a:lstStyle/>
          <a:p>
            <a:pPr eaLnBrk="0" hangingPunct="0"/>
            <a:r>
              <a:rPr lang="en-US" sz="1900"/>
              <a:t>-2</a:t>
            </a:r>
          </a:p>
        </p:txBody>
      </p:sp>
      <p:sp>
        <p:nvSpPr>
          <p:cNvPr id="382998" name="Rectangle 20"/>
          <p:cNvSpPr>
            <a:spLocks noChangeArrowheads="1"/>
          </p:cNvSpPr>
          <p:nvPr/>
        </p:nvSpPr>
        <p:spPr bwMode="auto">
          <a:xfrm>
            <a:off x="2327275" y="3649663"/>
            <a:ext cx="396875" cy="377825"/>
          </a:xfrm>
          <a:prstGeom prst="rect">
            <a:avLst/>
          </a:prstGeom>
          <a:noFill/>
          <a:ln w="12700">
            <a:noFill/>
            <a:miter lim="800000"/>
            <a:headEnd/>
            <a:tailEnd/>
          </a:ln>
        </p:spPr>
        <p:txBody>
          <a:bodyPr wrap="none" lIns="90488" tIns="44450" rIns="90488" bIns="44450">
            <a:spAutoFit/>
          </a:bodyPr>
          <a:lstStyle/>
          <a:p>
            <a:pPr eaLnBrk="0" hangingPunct="0"/>
            <a:r>
              <a:rPr lang="en-US" sz="1900"/>
              <a:t>-1</a:t>
            </a:r>
          </a:p>
        </p:txBody>
      </p:sp>
      <p:sp>
        <p:nvSpPr>
          <p:cNvPr id="382999" name="Rectangle 21"/>
          <p:cNvSpPr>
            <a:spLocks noChangeArrowheads="1"/>
          </p:cNvSpPr>
          <p:nvPr/>
        </p:nvSpPr>
        <p:spPr bwMode="auto">
          <a:xfrm>
            <a:off x="2713038" y="3660775"/>
            <a:ext cx="315912" cy="377825"/>
          </a:xfrm>
          <a:prstGeom prst="rect">
            <a:avLst/>
          </a:prstGeom>
          <a:noFill/>
          <a:ln w="12700">
            <a:noFill/>
            <a:miter lim="800000"/>
            <a:headEnd/>
            <a:tailEnd/>
          </a:ln>
        </p:spPr>
        <p:txBody>
          <a:bodyPr wrap="none" lIns="90488" tIns="44450" rIns="90488" bIns="44450">
            <a:spAutoFit/>
          </a:bodyPr>
          <a:lstStyle/>
          <a:p>
            <a:pPr eaLnBrk="0" hangingPunct="0"/>
            <a:r>
              <a:rPr lang="en-US" sz="1900"/>
              <a:t>0</a:t>
            </a:r>
          </a:p>
        </p:txBody>
      </p:sp>
      <p:sp>
        <p:nvSpPr>
          <p:cNvPr id="383000" name="Rectangle 22"/>
          <p:cNvSpPr>
            <a:spLocks noChangeArrowheads="1"/>
          </p:cNvSpPr>
          <p:nvPr/>
        </p:nvSpPr>
        <p:spPr bwMode="auto">
          <a:xfrm>
            <a:off x="3094038" y="3660775"/>
            <a:ext cx="315912" cy="377825"/>
          </a:xfrm>
          <a:prstGeom prst="rect">
            <a:avLst/>
          </a:prstGeom>
          <a:noFill/>
          <a:ln w="12700">
            <a:noFill/>
            <a:miter lim="800000"/>
            <a:headEnd/>
            <a:tailEnd/>
          </a:ln>
        </p:spPr>
        <p:txBody>
          <a:bodyPr wrap="none" lIns="90488" tIns="44450" rIns="90488" bIns="44450">
            <a:spAutoFit/>
          </a:bodyPr>
          <a:lstStyle/>
          <a:p>
            <a:pPr eaLnBrk="0" hangingPunct="0"/>
            <a:r>
              <a:rPr lang="en-US" sz="1900"/>
              <a:t>1</a:t>
            </a:r>
          </a:p>
        </p:txBody>
      </p:sp>
      <p:sp>
        <p:nvSpPr>
          <p:cNvPr id="383001" name="Rectangle 23"/>
          <p:cNvSpPr>
            <a:spLocks noChangeArrowheads="1"/>
          </p:cNvSpPr>
          <p:nvPr/>
        </p:nvSpPr>
        <p:spPr bwMode="auto">
          <a:xfrm>
            <a:off x="3475038" y="3660775"/>
            <a:ext cx="315912" cy="377825"/>
          </a:xfrm>
          <a:prstGeom prst="rect">
            <a:avLst/>
          </a:prstGeom>
          <a:noFill/>
          <a:ln w="12700">
            <a:noFill/>
            <a:miter lim="800000"/>
            <a:headEnd/>
            <a:tailEnd/>
          </a:ln>
        </p:spPr>
        <p:txBody>
          <a:bodyPr wrap="none" lIns="90488" tIns="44450" rIns="90488" bIns="44450">
            <a:spAutoFit/>
          </a:bodyPr>
          <a:lstStyle/>
          <a:p>
            <a:pPr eaLnBrk="0" hangingPunct="0"/>
            <a:r>
              <a:rPr lang="en-US" sz="1900"/>
              <a:t>2</a:t>
            </a:r>
          </a:p>
        </p:txBody>
      </p:sp>
      <p:sp>
        <p:nvSpPr>
          <p:cNvPr id="383002" name="Rectangle 24"/>
          <p:cNvSpPr>
            <a:spLocks noChangeArrowheads="1"/>
          </p:cNvSpPr>
          <p:nvPr/>
        </p:nvSpPr>
        <p:spPr bwMode="auto">
          <a:xfrm>
            <a:off x="3714750" y="3573463"/>
            <a:ext cx="336550" cy="393700"/>
          </a:xfrm>
          <a:prstGeom prst="rect">
            <a:avLst/>
          </a:prstGeom>
          <a:noFill/>
          <a:ln w="12700">
            <a:noFill/>
            <a:miter lim="800000"/>
            <a:headEnd/>
            <a:tailEnd/>
          </a:ln>
        </p:spPr>
        <p:txBody>
          <a:bodyPr wrap="none" lIns="90488" tIns="44450" rIns="90488" bIns="44450">
            <a:spAutoFit/>
          </a:bodyPr>
          <a:lstStyle/>
          <a:p>
            <a:pPr eaLnBrk="0" hangingPunct="0"/>
            <a:r>
              <a:rPr lang="en-US" sz="2000"/>
              <a:t>Z</a:t>
            </a:r>
          </a:p>
        </p:txBody>
      </p:sp>
      <p:sp>
        <p:nvSpPr>
          <p:cNvPr id="383003" name="Rectangle 25"/>
          <p:cNvSpPr>
            <a:spLocks noChangeArrowheads="1"/>
          </p:cNvSpPr>
          <p:nvPr/>
        </p:nvSpPr>
        <p:spPr bwMode="auto">
          <a:xfrm>
            <a:off x="1233488" y="2286000"/>
            <a:ext cx="350837" cy="393700"/>
          </a:xfrm>
          <a:prstGeom prst="rect">
            <a:avLst/>
          </a:prstGeom>
          <a:noFill/>
          <a:ln w="12700">
            <a:noFill/>
            <a:miter lim="800000"/>
            <a:headEnd/>
            <a:tailEnd/>
          </a:ln>
        </p:spPr>
        <p:txBody>
          <a:bodyPr wrap="none" lIns="90488" tIns="44450" rIns="90488" bIns="44450">
            <a:spAutoFit/>
          </a:bodyPr>
          <a:lstStyle/>
          <a:p>
            <a:pPr eaLnBrk="0" hangingPunct="0"/>
            <a:r>
              <a:rPr lang="en-US" sz="2000"/>
              <a:t>X</a:t>
            </a:r>
          </a:p>
        </p:txBody>
      </p:sp>
      <p:sp>
        <p:nvSpPr>
          <p:cNvPr id="383004" name="Freeform 26"/>
          <p:cNvSpPr>
            <a:spLocks/>
          </p:cNvSpPr>
          <p:nvPr/>
        </p:nvSpPr>
        <p:spPr bwMode="auto">
          <a:xfrm>
            <a:off x="6324600" y="2743200"/>
            <a:ext cx="1524000" cy="504825"/>
          </a:xfrm>
          <a:custGeom>
            <a:avLst/>
            <a:gdLst>
              <a:gd name="T0" fmla="*/ 0 w 707"/>
              <a:gd name="T1" fmla="*/ 503238 h 318"/>
              <a:gd name="T2" fmla="*/ 172447 w 707"/>
              <a:gd name="T3" fmla="*/ 490538 h 318"/>
              <a:gd name="T4" fmla="*/ 282382 w 707"/>
              <a:gd name="T5" fmla="*/ 461963 h 318"/>
              <a:gd name="T6" fmla="*/ 372917 w 707"/>
              <a:gd name="T7" fmla="*/ 447675 h 318"/>
              <a:gd name="T8" fmla="*/ 454829 w 707"/>
              <a:gd name="T9" fmla="*/ 433388 h 318"/>
              <a:gd name="T10" fmla="*/ 521652 w 707"/>
              <a:gd name="T11" fmla="*/ 420688 h 318"/>
              <a:gd name="T12" fmla="*/ 579853 w 707"/>
              <a:gd name="T13" fmla="*/ 420688 h 318"/>
              <a:gd name="T14" fmla="*/ 646676 w 707"/>
              <a:gd name="T15" fmla="*/ 404812 h 318"/>
              <a:gd name="T16" fmla="*/ 700566 w 707"/>
              <a:gd name="T17" fmla="*/ 392112 h 318"/>
              <a:gd name="T18" fmla="*/ 763078 w 707"/>
              <a:gd name="T19" fmla="*/ 377825 h 318"/>
              <a:gd name="T20" fmla="*/ 823434 w 707"/>
              <a:gd name="T21" fmla="*/ 363537 h 318"/>
              <a:gd name="T22" fmla="*/ 875168 w 707"/>
              <a:gd name="T23" fmla="*/ 334962 h 318"/>
              <a:gd name="T24" fmla="*/ 941991 w 707"/>
              <a:gd name="T25" fmla="*/ 293687 h 318"/>
              <a:gd name="T26" fmla="*/ 1002348 w 707"/>
              <a:gd name="T27" fmla="*/ 265112 h 318"/>
              <a:gd name="T28" fmla="*/ 1069171 w 707"/>
              <a:gd name="T29" fmla="*/ 238125 h 318"/>
              <a:gd name="T30" fmla="*/ 1151084 w 707"/>
              <a:gd name="T31" fmla="*/ 195262 h 318"/>
              <a:gd name="T32" fmla="*/ 1241618 w 707"/>
              <a:gd name="T33" fmla="*/ 152400 h 318"/>
              <a:gd name="T34" fmla="*/ 1353709 w 707"/>
              <a:gd name="T35" fmla="*/ 98425 h 318"/>
              <a:gd name="T36" fmla="*/ 1521844 w 707"/>
              <a:gd name="T37" fmla="*/ 0 h 3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07"/>
              <a:gd name="T58" fmla="*/ 0 h 318"/>
              <a:gd name="T59" fmla="*/ 707 w 707"/>
              <a:gd name="T60" fmla="*/ 318 h 3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07" h="318">
                <a:moveTo>
                  <a:pt x="0" y="317"/>
                </a:moveTo>
                <a:lnTo>
                  <a:pt x="80" y="309"/>
                </a:lnTo>
                <a:lnTo>
                  <a:pt x="131" y="291"/>
                </a:lnTo>
                <a:lnTo>
                  <a:pt x="173" y="282"/>
                </a:lnTo>
                <a:lnTo>
                  <a:pt x="211" y="273"/>
                </a:lnTo>
                <a:lnTo>
                  <a:pt x="242" y="265"/>
                </a:lnTo>
                <a:lnTo>
                  <a:pt x="269" y="265"/>
                </a:lnTo>
                <a:lnTo>
                  <a:pt x="300" y="255"/>
                </a:lnTo>
                <a:lnTo>
                  <a:pt x="325" y="247"/>
                </a:lnTo>
                <a:lnTo>
                  <a:pt x="354" y="238"/>
                </a:lnTo>
                <a:lnTo>
                  <a:pt x="382" y="229"/>
                </a:lnTo>
                <a:lnTo>
                  <a:pt x="406" y="211"/>
                </a:lnTo>
                <a:lnTo>
                  <a:pt x="437" y="185"/>
                </a:lnTo>
                <a:lnTo>
                  <a:pt x="465" y="167"/>
                </a:lnTo>
                <a:lnTo>
                  <a:pt x="496" y="150"/>
                </a:lnTo>
                <a:lnTo>
                  <a:pt x="534" y="123"/>
                </a:lnTo>
                <a:lnTo>
                  <a:pt x="576" y="96"/>
                </a:lnTo>
                <a:lnTo>
                  <a:pt x="628" y="62"/>
                </a:lnTo>
                <a:lnTo>
                  <a:pt x="706" y="0"/>
                </a:lnTo>
              </a:path>
            </a:pathLst>
          </a:custGeom>
          <a:noFill/>
          <a:ln w="25400" cap="rnd">
            <a:solidFill>
              <a:srgbClr val="CC0066"/>
            </a:solidFill>
            <a:round/>
            <a:headEnd/>
            <a:tailEnd/>
          </a:ln>
        </p:spPr>
        <p:txBody>
          <a:bodyPr/>
          <a:lstStyle/>
          <a:p>
            <a:endParaRPr lang="en-GB"/>
          </a:p>
        </p:txBody>
      </p:sp>
      <p:sp>
        <p:nvSpPr>
          <p:cNvPr id="383005" name="Freeform 27"/>
          <p:cNvSpPr>
            <a:spLocks/>
          </p:cNvSpPr>
          <p:nvPr/>
        </p:nvSpPr>
        <p:spPr bwMode="auto">
          <a:xfrm>
            <a:off x="2071688" y="5257800"/>
            <a:ext cx="1524000" cy="676275"/>
          </a:xfrm>
          <a:custGeom>
            <a:avLst/>
            <a:gdLst>
              <a:gd name="T0" fmla="*/ 0 w 707"/>
              <a:gd name="T1" fmla="*/ 674688 h 426"/>
              <a:gd name="T2" fmla="*/ 172447 w 707"/>
              <a:gd name="T3" fmla="*/ 658813 h 426"/>
              <a:gd name="T4" fmla="*/ 282382 w 707"/>
              <a:gd name="T5" fmla="*/ 646113 h 426"/>
              <a:gd name="T6" fmla="*/ 372917 w 707"/>
              <a:gd name="T7" fmla="*/ 617538 h 426"/>
              <a:gd name="T8" fmla="*/ 454829 w 707"/>
              <a:gd name="T9" fmla="*/ 588963 h 426"/>
              <a:gd name="T10" fmla="*/ 521652 w 707"/>
              <a:gd name="T11" fmla="*/ 560388 h 426"/>
              <a:gd name="T12" fmla="*/ 579853 w 707"/>
              <a:gd name="T13" fmla="*/ 519113 h 426"/>
              <a:gd name="T14" fmla="*/ 646676 w 707"/>
              <a:gd name="T15" fmla="*/ 477838 h 426"/>
              <a:gd name="T16" fmla="*/ 700566 w 707"/>
              <a:gd name="T17" fmla="*/ 420688 h 426"/>
              <a:gd name="T18" fmla="*/ 763078 w 707"/>
              <a:gd name="T19" fmla="*/ 336550 h 426"/>
              <a:gd name="T20" fmla="*/ 823434 w 707"/>
              <a:gd name="T21" fmla="*/ 254000 h 426"/>
              <a:gd name="T22" fmla="*/ 875168 w 707"/>
              <a:gd name="T23" fmla="*/ 196850 h 426"/>
              <a:gd name="T24" fmla="*/ 941991 w 707"/>
              <a:gd name="T25" fmla="*/ 155575 h 426"/>
              <a:gd name="T26" fmla="*/ 1002348 w 707"/>
              <a:gd name="T27" fmla="*/ 114300 h 426"/>
              <a:gd name="T28" fmla="*/ 1069171 w 707"/>
              <a:gd name="T29" fmla="*/ 85725 h 426"/>
              <a:gd name="T30" fmla="*/ 1151084 w 707"/>
              <a:gd name="T31" fmla="*/ 57150 h 426"/>
              <a:gd name="T32" fmla="*/ 1241618 w 707"/>
              <a:gd name="T33" fmla="*/ 28575 h 426"/>
              <a:gd name="T34" fmla="*/ 1353709 w 707"/>
              <a:gd name="T35" fmla="*/ 15875 h 426"/>
              <a:gd name="T36" fmla="*/ 1521844 w 707"/>
              <a:gd name="T37" fmla="*/ 0 h 4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07"/>
              <a:gd name="T58" fmla="*/ 0 h 426"/>
              <a:gd name="T59" fmla="*/ 707 w 707"/>
              <a:gd name="T60" fmla="*/ 426 h 4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07" h="426">
                <a:moveTo>
                  <a:pt x="0" y="425"/>
                </a:moveTo>
                <a:lnTo>
                  <a:pt x="80" y="415"/>
                </a:lnTo>
                <a:lnTo>
                  <a:pt x="131" y="407"/>
                </a:lnTo>
                <a:lnTo>
                  <a:pt x="173" y="389"/>
                </a:lnTo>
                <a:lnTo>
                  <a:pt x="211" y="371"/>
                </a:lnTo>
                <a:lnTo>
                  <a:pt x="242" y="353"/>
                </a:lnTo>
                <a:lnTo>
                  <a:pt x="269" y="327"/>
                </a:lnTo>
                <a:lnTo>
                  <a:pt x="300" y="301"/>
                </a:lnTo>
                <a:lnTo>
                  <a:pt x="325" y="265"/>
                </a:lnTo>
                <a:lnTo>
                  <a:pt x="354" y="212"/>
                </a:lnTo>
                <a:lnTo>
                  <a:pt x="382" y="160"/>
                </a:lnTo>
                <a:lnTo>
                  <a:pt x="406" y="124"/>
                </a:lnTo>
                <a:lnTo>
                  <a:pt x="437" y="98"/>
                </a:lnTo>
                <a:lnTo>
                  <a:pt x="465" y="72"/>
                </a:lnTo>
                <a:lnTo>
                  <a:pt x="496" y="54"/>
                </a:lnTo>
                <a:lnTo>
                  <a:pt x="534" y="36"/>
                </a:lnTo>
                <a:lnTo>
                  <a:pt x="576" y="18"/>
                </a:lnTo>
                <a:lnTo>
                  <a:pt x="628" y="10"/>
                </a:lnTo>
                <a:lnTo>
                  <a:pt x="706" y="0"/>
                </a:lnTo>
              </a:path>
            </a:pathLst>
          </a:custGeom>
          <a:noFill/>
          <a:ln w="25400" cap="rnd">
            <a:solidFill>
              <a:srgbClr val="CC0066"/>
            </a:solidFill>
            <a:round/>
            <a:headEnd/>
            <a:tailEnd/>
          </a:ln>
        </p:spPr>
        <p:txBody>
          <a:bodyPr/>
          <a:lstStyle/>
          <a:p>
            <a:endParaRPr lang="en-GB"/>
          </a:p>
        </p:txBody>
      </p:sp>
      <p:sp>
        <p:nvSpPr>
          <p:cNvPr id="383006" name="Line 28"/>
          <p:cNvSpPr>
            <a:spLocks noChangeShapeType="1"/>
          </p:cNvSpPr>
          <p:nvPr/>
        </p:nvSpPr>
        <p:spPr bwMode="auto">
          <a:xfrm flipV="1">
            <a:off x="2495550" y="3421063"/>
            <a:ext cx="0" cy="228600"/>
          </a:xfrm>
          <a:prstGeom prst="line">
            <a:avLst/>
          </a:prstGeom>
          <a:noFill/>
          <a:ln w="12700">
            <a:solidFill>
              <a:schemeClr val="tx1"/>
            </a:solidFill>
            <a:round/>
            <a:headEnd/>
            <a:tailEnd/>
          </a:ln>
        </p:spPr>
        <p:txBody>
          <a:bodyPr wrap="none" anchor="ctr"/>
          <a:lstStyle/>
          <a:p>
            <a:endParaRPr lang="en-US"/>
          </a:p>
        </p:txBody>
      </p:sp>
      <p:sp>
        <p:nvSpPr>
          <p:cNvPr id="383007" name="Line 29"/>
          <p:cNvSpPr>
            <a:spLocks noChangeShapeType="1"/>
          </p:cNvSpPr>
          <p:nvPr/>
        </p:nvSpPr>
        <p:spPr bwMode="auto">
          <a:xfrm flipV="1">
            <a:off x="2876550" y="3421063"/>
            <a:ext cx="0" cy="228600"/>
          </a:xfrm>
          <a:prstGeom prst="line">
            <a:avLst/>
          </a:prstGeom>
          <a:noFill/>
          <a:ln w="12700">
            <a:solidFill>
              <a:schemeClr val="tx1"/>
            </a:solidFill>
            <a:round/>
            <a:headEnd/>
            <a:tailEnd/>
          </a:ln>
        </p:spPr>
        <p:txBody>
          <a:bodyPr wrap="none" anchor="ctr"/>
          <a:lstStyle/>
          <a:p>
            <a:endParaRPr lang="en-US"/>
          </a:p>
        </p:txBody>
      </p:sp>
      <p:sp>
        <p:nvSpPr>
          <p:cNvPr id="383008" name="Line 30"/>
          <p:cNvSpPr>
            <a:spLocks noChangeShapeType="1"/>
          </p:cNvSpPr>
          <p:nvPr/>
        </p:nvSpPr>
        <p:spPr bwMode="auto">
          <a:xfrm flipV="1">
            <a:off x="3257550" y="3421063"/>
            <a:ext cx="0" cy="228600"/>
          </a:xfrm>
          <a:prstGeom prst="line">
            <a:avLst/>
          </a:prstGeom>
          <a:noFill/>
          <a:ln w="12700">
            <a:solidFill>
              <a:schemeClr val="tx1"/>
            </a:solidFill>
            <a:round/>
            <a:headEnd/>
            <a:tailEnd/>
          </a:ln>
        </p:spPr>
        <p:txBody>
          <a:bodyPr wrap="none" anchor="ctr"/>
          <a:lstStyle/>
          <a:p>
            <a:endParaRPr lang="en-US"/>
          </a:p>
        </p:txBody>
      </p:sp>
      <p:sp>
        <p:nvSpPr>
          <p:cNvPr id="383009" name="Line 31"/>
          <p:cNvSpPr>
            <a:spLocks noChangeShapeType="1"/>
          </p:cNvSpPr>
          <p:nvPr/>
        </p:nvSpPr>
        <p:spPr bwMode="auto">
          <a:xfrm flipV="1">
            <a:off x="3638550" y="3421063"/>
            <a:ext cx="0" cy="228600"/>
          </a:xfrm>
          <a:prstGeom prst="line">
            <a:avLst/>
          </a:prstGeom>
          <a:noFill/>
          <a:ln w="12700">
            <a:solidFill>
              <a:schemeClr val="tx1"/>
            </a:solidFill>
            <a:round/>
            <a:headEnd/>
            <a:tailEnd/>
          </a:ln>
        </p:spPr>
        <p:txBody>
          <a:bodyPr wrap="none" anchor="ctr"/>
          <a:lstStyle/>
          <a:p>
            <a:endParaRPr lang="en-US"/>
          </a:p>
        </p:txBody>
      </p:sp>
      <p:sp>
        <p:nvSpPr>
          <p:cNvPr id="383010" name="Text Box 32"/>
          <p:cNvSpPr txBox="1">
            <a:spLocks noChangeArrowheads="1"/>
          </p:cNvSpPr>
          <p:nvPr/>
        </p:nvSpPr>
        <p:spPr bwMode="auto">
          <a:xfrm>
            <a:off x="7543800" y="1219200"/>
            <a:ext cx="16002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
        <p:nvSpPr>
          <p:cNvPr id="383011" name="Line 33"/>
          <p:cNvSpPr>
            <a:spLocks noChangeShapeType="1"/>
          </p:cNvSpPr>
          <p:nvPr/>
        </p:nvSpPr>
        <p:spPr bwMode="auto">
          <a:xfrm>
            <a:off x="6215063" y="3514725"/>
            <a:ext cx="1587" cy="0"/>
          </a:xfrm>
          <a:prstGeom prst="line">
            <a:avLst/>
          </a:prstGeom>
          <a:noFill/>
          <a:ln w="12700">
            <a:solidFill>
              <a:schemeClr val="tx1"/>
            </a:solidFill>
            <a:round/>
            <a:headEnd/>
            <a:tailEnd/>
          </a:ln>
        </p:spPr>
        <p:txBody>
          <a:bodyPr wrap="none" anchor="ctr"/>
          <a:lstStyle/>
          <a:p>
            <a:endParaRPr lang="en-US"/>
          </a:p>
        </p:txBody>
      </p:sp>
      <p:sp>
        <p:nvSpPr>
          <p:cNvPr id="383012" name="Line 34"/>
          <p:cNvSpPr>
            <a:spLocks noChangeShapeType="1"/>
          </p:cNvSpPr>
          <p:nvPr/>
        </p:nvSpPr>
        <p:spPr bwMode="auto">
          <a:xfrm>
            <a:off x="6215063" y="3095625"/>
            <a:ext cx="1587" cy="0"/>
          </a:xfrm>
          <a:prstGeom prst="line">
            <a:avLst/>
          </a:prstGeom>
          <a:noFill/>
          <a:ln w="12700">
            <a:solidFill>
              <a:schemeClr val="tx1"/>
            </a:solidFill>
            <a:round/>
            <a:headEnd/>
            <a:tailEnd/>
          </a:ln>
        </p:spPr>
        <p:txBody>
          <a:bodyPr wrap="none" anchor="ctr"/>
          <a:lstStyle/>
          <a:p>
            <a:endParaRPr lang="en-US"/>
          </a:p>
        </p:txBody>
      </p:sp>
      <p:sp>
        <p:nvSpPr>
          <p:cNvPr id="383013" name="Line 35"/>
          <p:cNvSpPr>
            <a:spLocks noChangeShapeType="1"/>
          </p:cNvSpPr>
          <p:nvPr/>
        </p:nvSpPr>
        <p:spPr bwMode="auto">
          <a:xfrm>
            <a:off x="6215063" y="2674938"/>
            <a:ext cx="1587" cy="0"/>
          </a:xfrm>
          <a:prstGeom prst="line">
            <a:avLst/>
          </a:prstGeom>
          <a:noFill/>
          <a:ln w="12700">
            <a:solidFill>
              <a:schemeClr val="tx1"/>
            </a:solidFill>
            <a:round/>
            <a:headEnd/>
            <a:tailEnd/>
          </a:ln>
        </p:spPr>
        <p:txBody>
          <a:bodyPr wrap="none" anchor="ctr"/>
          <a:lstStyle/>
          <a:p>
            <a:endParaRPr lang="en-US"/>
          </a:p>
        </p:txBody>
      </p:sp>
      <p:sp>
        <p:nvSpPr>
          <p:cNvPr id="383014" name="Line 36"/>
          <p:cNvSpPr>
            <a:spLocks noChangeShapeType="1"/>
          </p:cNvSpPr>
          <p:nvPr/>
        </p:nvSpPr>
        <p:spPr bwMode="auto">
          <a:xfrm>
            <a:off x="6215063" y="3497263"/>
            <a:ext cx="1752600" cy="0"/>
          </a:xfrm>
          <a:prstGeom prst="line">
            <a:avLst/>
          </a:prstGeom>
          <a:noFill/>
          <a:ln w="12700">
            <a:solidFill>
              <a:schemeClr val="tx1"/>
            </a:solidFill>
            <a:round/>
            <a:headEnd/>
            <a:tailEnd/>
          </a:ln>
        </p:spPr>
        <p:txBody>
          <a:bodyPr wrap="none" anchor="ctr"/>
          <a:lstStyle/>
          <a:p>
            <a:endParaRPr lang="en-US"/>
          </a:p>
        </p:txBody>
      </p:sp>
      <p:sp>
        <p:nvSpPr>
          <p:cNvPr id="383015" name="Line 37"/>
          <p:cNvSpPr>
            <a:spLocks noChangeShapeType="1"/>
          </p:cNvSpPr>
          <p:nvPr/>
        </p:nvSpPr>
        <p:spPr bwMode="auto">
          <a:xfrm flipV="1">
            <a:off x="6215063" y="2506663"/>
            <a:ext cx="0" cy="990600"/>
          </a:xfrm>
          <a:prstGeom prst="line">
            <a:avLst/>
          </a:prstGeom>
          <a:noFill/>
          <a:ln w="12700">
            <a:solidFill>
              <a:schemeClr val="tx1"/>
            </a:solidFill>
            <a:round/>
            <a:headEnd/>
            <a:tailEnd/>
          </a:ln>
        </p:spPr>
        <p:txBody>
          <a:bodyPr wrap="none" anchor="ctr"/>
          <a:lstStyle/>
          <a:p>
            <a:endParaRPr lang="en-US"/>
          </a:p>
        </p:txBody>
      </p:sp>
      <p:sp>
        <p:nvSpPr>
          <p:cNvPr id="383016" name="Line 38"/>
          <p:cNvSpPr>
            <a:spLocks noChangeShapeType="1"/>
          </p:cNvSpPr>
          <p:nvPr/>
        </p:nvSpPr>
        <p:spPr bwMode="auto">
          <a:xfrm flipV="1">
            <a:off x="6367463" y="3421063"/>
            <a:ext cx="0" cy="228600"/>
          </a:xfrm>
          <a:prstGeom prst="line">
            <a:avLst/>
          </a:prstGeom>
          <a:noFill/>
          <a:ln w="12700">
            <a:solidFill>
              <a:schemeClr val="tx1"/>
            </a:solidFill>
            <a:round/>
            <a:headEnd/>
            <a:tailEnd/>
          </a:ln>
        </p:spPr>
        <p:txBody>
          <a:bodyPr wrap="none" anchor="ctr"/>
          <a:lstStyle/>
          <a:p>
            <a:endParaRPr lang="en-US"/>
          </a:p>
        </p:txBody>
      </p:sp>
      <p:sp>
        <p:nvSpPr>
          <p:cNvPr id="383017" name="Rectangle 39"/>
          <p:cNvSpPr>
            <a:spLocks noChangeArrowheads="1"/>
          </p:cNvSpPr>
          <p:nvPr/>
        </p:nvSpPr>
        <p:spPr bwMode="auto">
          <a:xfrm>
            <a:off x="5764213" y="3194050"/>
            <a:ext cx="450850" cy="377825"/>
          </a:xfrm>
          <a:prstGeom prst="rect">
            <a:avLst/>
          </a:prstGeom>
          <a:noFill/>
          <a:ln w="12700">
            <a:noFill/>
            <a:miter lim="800000"/>
            <a:headEnd/>
            <a:tailEnd/>
          </a:ln>
        </p:spPr>
        <p:txBody>
          <a:bodyPr wrap="none" lIns="90488" tIns="44450" rIns="90488" bIns="44450">
            <a:spAutoFit/>
          </a:bodyPr>
          <a:lstStyle/>
          <a:p>
            <a:pPr eaLnBrk="0" hangingPunct="0"/>
            <a:r>
              <a:rPr lang="en-US" sz="1900"/>
              <a:t>30</a:t>
            </a:r>
          </a:p>
        </p:txBody>
      </p:sp>
      <p:sp>
        <p:nvSpPr>
          <p:cNvPr id="383018" name="Rectangle 40"/>
          <p:cNvSpPr>
            <a:spLocks noChangeArrowheads="1"/>
          </p:cNvSpPr>
          <p:nvPr/>
        </p:nvSpPr>
        <p:spPr bwMode="auto">
          <a:xfrm>
            <a:off x="5764213" y="2773363"/>
            <a:ext cx="450850" cy="377825"/>
          </a:xfrm>
          <a:prstGeom prst="rect">
            <a:avLst/>
          </a:prstGeom>
          <a:noFill/>
          <a:ln w="12700">
            <a:noFill/>
            <a:miter lim="800000"/>
            <a:headEnd/>
            <a:tailEnd/>
          </a:ln>
        </p:spPr>
        <p:txBody>
          <a:bodyPr wrap="none" lIns="90488" tIns="44450" rIns="90488" bIns="44450">
            <a:spAutoFit/>
          </a:bodyPr>
          <a:lstStyle/>
          <a:p>
            <a:pPr eaLnBrk="0" hangingPunct="0"/>
            <a:r>
              <a:rPr lang="en-US" sz="1900"/>
              <a:t>60</a:t>
            </a:r>
          </a:p>
        </p:txBody>
      </p:sp>
      <p:sp>
        <p:nvSpPr>
          <p:cNvPr id="383019" name="Rectangle 41"/>
          <p:cNvSpPr>
            <a:spLocks noChangeArrowheads="1"/>
          </p:cNvSpPr>
          <p:nvPr/>
        </p:nvSpPr>
        <p:spPr bwMode="auto">
          <a:xfrm>
            <a:off x="5764213" y="2354263"/>
            <a:ext cx="450850" cy="377825"/>
          </a:xfrm>
          <a:prstGeom prst="rect">
            <a:avLst/>
          </a:prstGeom>
          <a:noFill/>
          <a:ln w="12700">
            <a:noFill/>
            <a:miter lim="800000"/>
            <a:headEnd/>
            <a:tailEnd/>
          </a:ln>
        </p:spPr>
        <p:txBody>
          <a:bodyPr wrap="none" lIns="90488" tIns="44450" rIns="90488" bIns="44450">
            <a:spAutoFit/>
          </a:bodyPr>
          <a:lstStyle/>
          <a:p>
            <a:pPr eaLnBrk="0" hangingPunct="0"/>
            <a:r>
              <a:rPr lang="en-US" sz="1900"/>
              <a:t>90</a:t>
            </a:r>
          </a:p>
        </p:txBody>
      </p:sp>
      <p:sp>
        <p:nvSpPr>
          <p:cNvPr id="383020" name="Rectangle 42"/>
          <p:cNvSpPr>
            <a:spLocks noChangeArrowheads="1"/>
          </p:cNvSpPr>
          <p:nvPr/>
        </p:nvSpPr>
        <p:spPr bwMode="auto">
          <a:xfrm>
            <a:off x="6173788" y="3660775"/>
            <a:ext cx="396875" cy="377825"/>
          </a:xfrm>
          <a:prstGeom prst="rect">
            <a:avLst/>
          </a:prstGeom>
          <a:noFill/>
          <a:ln w="12700">
            <a:noFill/>
            <a:miter lim="800000"/>
            <a:headEnd/>
            <a:tailEnd/>
          </a:ln>
        </p:spPr>
        <p:txBody>
          <a:bodyPr wrap="none" lIns="90488" tIns="44450" rIns="90488" bIns="44450">
            <a:spAutoFit/>
          </a:bodyPr>
          <a:lstStyle/>
          <a:p>
            <a:pPr eaLnBrk="0" hangingPunct="0"/>
            <a:r>
              <a:rPr lang="en-US" sz="1900"/>
              <a:t>-2</a:t>
            </a:r>
          </a:p>
        </p:txBody>
      </p:sp>
      <p:sp>
        <p:nvSpPr>
          <p:cNvPr id="383021" name="Rectangle 43"/>
          <p:cNvSpPr>
            <a:spLocks noChangeArrowheads="1"/>
          </p:cNvSpPr>
          <p:nvPr/>
        </p:nvSpPr>
        <p:spPr bwMode="auto">
          <a:xfrm>
            <a:off x="6580188" y="3649663"/>
            <a:ext cx="396875" cy="377825"/>
          </a:xfrm>
          <a:prstGeom prst="rect">
            <a:avLst/>
          </a:prstGeom>
          <a:noFill/>
          <a:ln w="12700">
            <a:noFill/>
            <a:miter lim="800000"/>
            <a:headEnd/>
            <a:tailEnd/>
          </a:ln>
        </p:spPr>
        <p:txBody>
          <a:bodyPr wrap="none" lIns="90488" tIns="44450" rIns="90488" bIns="44450">
            <a:spAutoFit/>
          </a:bodyPr>
          <a:lstStyle/>
          <a:p>
            <a:pPr eaLnBrk="0" hangingPunct="0"/>
            <a:r>
              <a:rPr lang="en-US" sz="1900"/>
              <a:t>-1</a:t>
            </a:r>
          </a:p>
        </p:txBody>
      </p:sp>
      <p:sp>
        <p:nvSpPr>
          <p:cNvPr id="383022" name="Rectangle 44"/>
          <p:cNvSpPr>
            <a:spLocks noChangeArrowheads="1"/>
          </p:cNvSpPr>
          <p:nvPr/>
        </p:nvSpPr>
        <p:spPr bwMode="auto">
          <a:xfrm>
            <a:off x="6965950" y="3660775"/>
            <a:ext cx="315913" cy="377825"/>
          </a:xfrm>
          <a:prstGeom prst="rect">
            <a:avLst/>
          </a:prstGeom>
          <a:noFill/>
          <a:ln w="12700">
            <a:noFill/>
            <a:miter lim="800000"/>
            <a:headEnd/>
            <a:tailEnd/>
          </a:ln>
        </p:spPr>
        <p:txBody>
          <a:bodyPr wrap="none" lIns="90488" tIns="44450" rIns="90488" bIns="44450">
            <a:spAutoFit/>
          </a:bodyPr>
          <a:lstStyle/>
          <a:p>
            <a:pPr eaLnBrk="0" hangingPunct="0"/>
            <a:r>
              <a:rPr lang="en-US" sz="1900"/>
              <a:t>0</a:t>
            </a:r>
          </a:p>
        </p:txBody>
      </p:sp>
      <p:sp>
        <p:nvSpPr>
          <p:cNvPr id="383023" name="Rectangle 45"/>
          <p:cNvSpPr>
            <a:spLocks noChangeArrowheads="1"/>
          </p:cNvSpPr>
          <p:nvPr/>
        </p:nvSpPr>
        <p:spPr bwMode="auto">
          <a:xfrm>
            <a:off x="7346950" y="3660775"/>
            <a:ext cx="315913" cy="377825"/>
          </a:xfrm>
          <a:prstGeom prst="rect">
            <a:avLst/>
          </a:prstGeom>
          <a:noFill/>
          <a:ln w="12700">
            <a:noFill/>
            <a:miter lim="800000"/>
            <a:headEnd/>
            <a:tailEnd/>
          </a:ln>
        </p:spPr>
        <p:txBody>
          <a:bodyPr wrap="none" lIns="90488" tIns="44450" rIns="90488" bIns="44450">
            <a:spAutoFit/>
          </a:bodyPr>
          <a:lstStyle/>
          <a:p>
            <a:pPr eaLnBrk="0" hangingPunct="0"/>
            <a:r>
              <a:rPr lang="en-US" sz="1900"/>
              <a:t>1</a:t>
            </a:r>
          </a:p>
        </p:txBody>
      </p:sp>
      <p:sp>
        <p:nvSpPr>
          <p:cNvPr id="383024" name="Rectangle 46"/>
          <p:cNvSpPr>
            <a:spLocks noChangeArrowheads="1"/>
          </p:cNvSpPr>
          <p:nvPr/>
        </p:nvSpPr>
        <p:spPr bwMode="auto">
          <a:xfrm>
            <a:off x="7727950" y="3660775"/>
            <a:ext cx="315913" cy="377825"/>
          </a:xfrm>
          <a:prstGeom prst="rect">
            <a:avLst/>
          </a:prstGeom>
          <a:noFill/>
          <a:ln w="12700">
            <a:noFill/>
            <a:miter lim="800000"/>
            <a:headEnd/>
            <a:tailEnd/>
          </a:ln>
        </p:spPr>
        <p:txBody>
          <a:bodyPr wrap="none" lIns="90488" tIns="44450" rIns="90488" bIns="44450">
            <a:spAutoFit/>
          </a:bodyPr>
          <a:lstStyle/>
          <a:p>
            <a:pPr eaLnBrk="0" hangingPunct="0"/>
            <a:r>
              <a:rPr lang="en-US" sz="1900"/>
              <a:t>2</a:t>
            </a:r>
          </a:p>
        </p:txBody>
      </p:sp>
      <p:sp>
        <p:nvSpPr>
          <p:cNvPr id="383025" name="Rectangle 47"/>
          <p:cNvSpPr>
            <a:spLocks noChangeArrowheads="1"/>
          </p:cNvSpPr>
          <p:nvPr/>
        </p:nvSpPr>
        <p:spPr bwMode="auto">
          <a:xfrm>
            <a:off x="7967663" y="3573463"/>
            <a:ext cx="336550" cy="393700"/>
          </a:xfrm>
          <a:prstGeom prst="rect">
            <a:avLst/>
          </a:prstGeom>
          <a:noFill/>
          <a:ln w="12700">
            <a:noFill/>
            <a:miter lim="800000"/>
            <a:headEnd/>
            <a:tailEnd/>
          </a:ln>
        </p:spPr>
        <p:txBody>
          <a:bodyPr wrap="none" lIns="90488" tIns="44450" rIns="90488" bIns="44450">
            <a:spAutoFit/>
          </a:bodyPr>
          <a:lstStyle/>
          <a:p>
            <a:pPr eaLnBrk="0" hangingPunct="0"/>
            <a:r>
              <a:rPr lang="en-US" sz="2000"/>
              <a:t>Z</a:t>
            </a:r>
          </a:p>
        </p:txBody>
      </p:sp>
      <p:sp>
        <p:nvSpPr>
          <p:cNvPr id="383026" name="Rectangle 48"/>
          <p:cNvSpPr>
            <a:spLocks noChangeArrowheads="1"/>
          </p:cNvSpPr>
          <p:nvPr/>
        </p:nvSpPr>
        <p:spPr bwMode="auto">
          <a:xfrm>
            <a:off x="5486400" y="2286000"/>
            <a:ext cx="350838" cy="393700"/>
          </a:xfrm>
          <a:prstGeom prst="rect">
            <a:avLst/>
          </a:prstGeom>
          <a:noFill/>
          <a:ln w="12700">
            <a:noFill/>
            <a:miter lim="800000"/>
            <a:headEnd/>
            <a:tailEnd/>
          </a:ln>
        </p:spPr>
        <p:txBody>
          <a:bodyPr wrap="none" lIns="90488" tIns="44450" rIns="90488" bIns="44450">
            <a:spAutoFit/>
          </a:bodyPr>
          <a:lstStyle/>
          <a:p>
            <a:pPr eaLnBrk="0" hangingPunct="0"/>
            <a:r>
              <a:rPr lang="en-US" sz="2000"/>
              <a:t>X</a:t>
            </a:r>
          </a:p>
        </p:txBody>
      </p:sp>
      <p:sp>
        <p:nvSpPr>
          <p:cNvPr id="383027" name="Line 49"/>
          <p:cNvSpPr>
            <a:spLocks noChangeShapeType="1"/>
          </p:cNvSpPr>
          <p:nvPr/>
        </p:nvSpPr>
        <p:spPr bwMode="auto">
          <a:xfrm flipV="1">
            <a:off x="6748463" y="3421063"/>
            <a:ext cx="0" cy="228600"/>
          </a:xfrm>
          <a:prstGeom prst="line">
            <a:avLst/>
          </a:prstGeom>
          <a:noFill/>
          <a:ln w="12700">
            <a:solidFill>
              <a:schemeClr val="tx1"/>
            </a:solidFill>
            <a:round/>
            <a:headEnd/>
            <a:tailEnd/>
          </a:ln>
        </p:spPr>
        <p:txBody>
          <a:bodyPr wrap="none" anchor="ctr"/>
          <a:lstStyle/>
          <a:p>
            <a:endParaRPr lang="en-US"/>
          </a:p>
        </p:txBody>
      </p:sp>
      <p:sp>
        <p:nvSpPr>
          <p:cNvPr id="383028" name="Line 50"/>
          <p:cNvSpPr>
            <a:spLocks noChangeShapeType="1"/>
          </p:cNvSpPr>
          <p:nvPr/>
        </p:nvSpPr>
        <p:spPr bwMode="auto">
          <a:xfrm flipV="1">
            <a:off x="7129463" y="3421063"/>
            <a:ext cx="0" cy="228600"/>
          </a:xfrm>
          <a:prstGeom prst="line">
            <a:avLst/>
          </a:prstGeom>
          <a:noFill/>
          <a:ln w="12700">
            <a:solidFill>
              <a:schemeClr val="tx1"/>
            </a:solidFill>
            <a:round/>
            <a:headEnd/>
            <a:tailEnd/>
          </a:ln>
        </p:spPr>
        <p:txBody>
          <a:bodyPr wrap="none" anchor="ctr"/>
          <a:lstStyle/>
          <a:p>
            <a:endParaRPr lang="en-US"/>
          </a:p>
        </p:txBody>
      </p:sp>
      <p:sp>
        <p:nvSpPr>
          <p:cNvPr id="383029" name="Line 51"/>
          <p:cNvSpPr>
            <a:spLocks noChangeShapeType="1"/>
          </p:cNvSpPr>
          <p:nvPr/>
        </p:nvSpPr>
        <p:spPr bwMode="auto">
          <a:xfrm flipV="1">
            <a:off x="7510463" y="3421063"/>
            <a:ext cx="0" cy="228600"/>
          </a:xfrm>
          <a:prstGeom prst="line">
            <a:avLst/>
          </a:prstGeom>
          <a:noFill/>
          <a:ln w="12700">
            <a:solidFill>
              <a:schemeClr val="tx1"/>
            </a:solidFill>
            <a:round/>
            <a:headEnd/>
            <a:tailEnd/>
          </a:ln>
        </p:spPr>
        <p:txBody>
          <a:bodyPr wrap="none" anchor="ctr"/>
          <a:lstStyle/>
          <a:p>
            <a:endParaRPr lang="en-US"/>
          </a:p>
        </p:txBody>
      </p:sp>
      <p:sp>
        <p:nvSpPr>
          <p:cNvPr id="383030" name="Line 52"/>
          <p:cNvSpPr>
            <a:spLocks noChangeShapeType="1"/>
          </p:cNvSpPr>
          <p:nvPr/>
        </p:nvSpPr>
        <p:spPr bwMode="auto">
          <a:xfrm flipV="1">
            <a:off x="7891463" y="3421063"/>
            <a:ext cx="0" cy="228600"/>
          </a:xfrm>
          <a:prstGeom prst="line">
            <a:avLst/>
          </a:prstGeom>
          <a:noFill/>
          <a:ln w="12700">
            <a:solidFill>
              <a:schemeClr val="tx1"/>
            </a:solidFill>
            <a:round/>
            <a:headEnd/>
            <a:tailEnd/>
          </a:ln>
        </p:spPr>
        <p:txBody>
          <a:bodyPr wrap="none" anchor="ctr"/>
          <a:lstStyle/>
          <a:p>
            <a:endParaRPr lang="en-US"/>
          </a:p>
        </p:txBody>
      </p:sp>
      <p:sp>
        <p:nvSpPr>
          <p:cNvPr id="383031" name="Line 53"/>
          <p:cNvSpPr>
            <a:spLocks noChangeShapeType="1"/>
          </p:cNvSpPr>
          <p:nvPr/>
        </p:nvSpPr>
        <p:spPr bwMode="auto">
          <a:xfrm>
            <a:off x="1962150" y="6105525"/>
            <a:ext cx="1588" cy="0"/>
          </a:xfrm>
          <a:prstGeom prst="line">
            <a:avLst/>
          </a:prstGeom>
          <a:noFill/>
          <a:ln w="12700">
            <a:solidFill>
              <a:schemeClr val="tx1"/>
            </a:solidFill>
            <a:round/>
            <a:headEnd/>
            <a:tailEnd/>
          </a:ln>
        </p:spPr>
        <p:txBody>
          <a:bodyPr wrap="none" anchor="ctr"/>
          <a:lstStyle/>
          <a:p>
            <a:endParaRPr lang="en-US"/>
          </a:p>
        </p:txBody>
      </p:sp>
      <p:sp>
        <p:nvSpPr>
          <p:cNvPr id="383032" name="Line 54"/>
          <p:cNvSpPr>
            <a:spLocks noChangeShapeType="1"/>
          </p:cNvSpPr>
          <p:nvPr/>
        </p:nvSpPr>
        <p:spPr bwMode="auto">
          <a:xfrm>
            <a:off x="1962150" y="5686425"/>
            <a:ext cx="1588" cy="0"/>
          </a:xfrm>
          <a:prstGeom prst="line">
            <a:avLst/>
          </a:prstGeom>
          <a:noFill/>
          <a:ln w="12700">
            <a:solidFill>
              <a:schemeClr val="tx1"/>
            </a:solidFill>
            <a:round/>
            <a:headEnd/>
            <a:tailEnd/>
          </a:ln>
        </p:spPr>
        <p:txBody>
          <a:bodyPr wrap="none" anchor="ctr"/>
          <a:lstStyle/>
          <a:p>
            <a:endParaRPr lang="en-US"/>
          </a:p>
        </p:txBody>
      </p:sp>
      <p:sp>
        <p:nvSpPr>
          <p:cNvPr id="383033" name="Line 55"/>
          <p:cNvSpPr>
            <a:spLocks noChangeShapeType="1"/>
          </p:cNvSpPr>
          <p:nvPr/>
        </p:nvSpPr>
        <p:spPr bwMode="auto">
          <a:xfrm>
            <a:off x="1962150" y="5265738"/>
            <a:ext cx="1588" cy="0"/>
          </a:xfrm>
          <a:prstGeom prst="line">
            <a:avLst/>
          </a:prstGeom>
          <a:noFill/>
          <a:ln w="12700">
            <a:solidFill>
              <a:schemeClr val="tx1"/>
            </a:solidFill>
            <a:round/>
            <a:headEnd/>
            <a:tailEnd/>
          </a:ln>
        </p:spPr>
        <p:txBody>
          <a:bodyPr wrap="none" anchor="ctr"/>
          <a:lstStyle/>
          <a:p>
            <a:endParaRPr lang="en-US"/>
          </a:p>
        </p:txBody>
      </p:sp>
      <p:sp>
        <p:nvSpPr>
          <p:cNvPr id="383034" name="Line 56"/>
          <p:cNvSpPr>
            <a:spLocks noChangeShapeType="1"/>
          </p:cNvSpPr>
          <p:nvPr/>
        </p:nvSpPr>
        <p:spPr bwMode="auto">
          <a:xfrm>
            <a:off x="1962150" y="6088063"/>
            <a:ext cx="1752600" cy="0"/>
          </a:xfrm>
          <a:prstGeom prst="line">
            <a:avLst/>
          </a:prstGeom>
          <a:noFill/>
          <a:ln w="12700">
            <a:solidFill>
              <a:schemeClr val="tx1"/>
            </a:solidFill>
            <a:round/>
            <a:headEnd/>
            <a:tailEnd/>
          </a:ln>
        </p:spPr>
        <p:txBody>
          <a:bodyPr wrap="none" anchor="ctr"/>
          <a:lstStyle/>
          <a:p>
            <a:endParaRPr lang="en-US"/>
          </a:p>
        </p:txBody>
      </p:sp>
      <p:sp>
        <p:nvSpPr>
          <p:cNvPr id="383035" name="Line 57"/>
          <p:cNvSpPr>
            <a:spLocks noChangeShapeType="1"/>
          </p:cNvSpPr>
          <p:nvPr/>
        </p:nvSpPr>
        <p:spPr bwMode="auto">
          <a:xfrm flipV="1">
            <a:off x="1962150" y="5097463"/>
            <a:ext cx="0" cy="990600"/>
          </a:xfrm>
          <a:prstGeom prst="line">
            <a:avLst/>
          </a:prstGeom>
          <a:noFill/>
          <a:ln w="12700">
            <a:solidFill>
              <a:schemeClr val="tx1"/>
            </a:solidFill>
            <a:round/>
            <a:headEnd/>
            <a:tailEnd/>
          </a:ln>
        </p:spPr>
        <p:txBody>
          <a:bodyPr wrap="none" anchor="ctr"/>
          <a:lstStyle/>
          <a:p>
            <a:endParaRPr lang="en-US"/>
          </a:p>
        </p:txBody>
      </p:sp>
      <p:sp>
        <p:nvSpPr>
          <p:cNvPr id="383036" name="Line 58"/>
          <p:cNvSpPr>
            <a:spLocks noChangeShapeType="1"/>
          </p:cNvSpPr>
          <p:nvPr/>
        </p:nvSpPr>
        <p:spPr bwMode="auto">
          <a:xfrm flipV="1">
            <a:off x="2114550" y="6011863"/>
            <a:ext cx="0" cy="228600"/>
          </a:xfrm>
          <a:prstGeom prst="line">
            <a:avLst/>
          </a:prstGeom>
          <a:noFill/>
          <a:ln w="12700">
            <a:solidFill>
              <a:schemeClr val="tx1"/>
            </a:solidFill>
            <a:round/>
            <a:headEnd/>
            <a:tailEnd/>
          </a:ln>
        </p:spPr>
        <p:txBody>
          <a:bodyPr wrap="none" anchor="ctr"/>
          <a:lstStyle/>
          <a:p>
            <a:endParaRPr lang="en-US"/>
          </a:p>
        </p:txBody>
      </p:sp>
      <p:sp>
        <p:nvSpPr>
          <p:cNvPr id="383037" name="Rectangle 59"/>
          <p:cNvSpPr>
            <a:spLocks noChangeArrowheads="1"/>
          </p:cNvSpPr>
          <p:nvPr/>
        </p:nvSpPr>
        <p:spPr bwMode="auto">
          <a:xfrm>
            <a:off x="1511300" y="5784850"/>
            <a:ext cx="450850" cy="377825"/>
          </a:xfrm>
          <a:prstGeom prst="rect">
            <a:avLst/>
          </a:prstGeom>
          <a:noFill/>
          <a:ln w="12700">
            <a:noFill/>
            <a:miter lim="800000"/>
            <a:headEnd/>
            <a:tailEnd/>
          </a:ln>
        </p:spPr>
        <p:txBody>
          <a:bodyPr wrap="none" lIns="90488" tIns="44450" rIns="90488" bIns="44450">
            <a:spAutoFit/>
          </a:bodyPr>
          <a:lstStyle/>
          <a:p>
            <a:pPr eaLnBrk="0" hangingPunct="0"/>
            <a:r>
              <a:rPr lang="en-US" sz="1900"/>
              <a:t>30</a:t>
            </a:r>
          </a:p>
        </p:txBody>
      </p:sp>
      <p:sp>
        <p:nvSpPr>
          <p:cNvPr id="383038" name="Rectangle 60"/>
          <p:cNvSpPr>
            <a:spLocks noChangeArrowheads="1"/>
          </p:cNvSpPr>
          <p:nvPr/>
        </p:nvSpPr>
        <p:spPr bwMode="auto">
          <a:xfrm>
            <a:off x="1511300" y="5364163"/>
            <a:ext cx="450850" cy="377825"/>
          </a:xfrm>
          <a:prstGeom prst="rect">
            <a:avLst/>
          </a:prstGeom>
          <a:noFill/>
          <a:ln w="12700">
            <a:noFill/>
            <a:miter lim="800000"/>
            <a:headEnd/>
            <a:tailEnd/>
          </a:ln>
        </p:spPr>
        <p:txBody>
          <a:bodyPr wrap="none" lIns="90488" tIns="44450" rIns="90488" bIns="44450">
            <a:spAutoFit/>
          </a:bodyPr>
          <a:lstStyle/>
          <a:p>
            <a:pPr eaLnBrk="0" hangingPunct="0"/>
            <a:r>
              <a:rPr lang="en-US" sz="1900"/>
              <a:t>60</a:t>
            </a:r>
          </a:p>
        </p:txBody>
      </p:sp>
      <p:sp>
        <p:nvSpPr>
          <p:cNvPr id="383039" name="Rectangle 61"/>
          <p:cNvSpPr>
            <a:spLocks noChangeArrowheads="1"/>
          </p:cNvSpPr>
          <p:nvPr/>
        </p:nvSpPr>
        <p:spPr bwMode="auto">
          <a:xfrm>
            <a:off x="1511300" y="4945063"/>
            <a:ext cx="450850" cy="377825"/>
          </a:xfrm>
          <a:prstGeom prst="rect">
            <a:avLst/>
          </a:prstGeom>
          <a:noFill/>
          <a:ln w="12700">
            <a:noFill/>
            <a:miter lim="800000"/>
            <a:headEnd/>
            <a:tailEnd/>
          </a:ln>
        </p:spPr>
        <p:txBody>
          <a:bodyPr wrap="none" lIns="90488" tIns="44450" rIns="90488" bIns="44450">
            <a:spAutoFit/>
          </a:bodyPr>
          <a:lstStyle/>
          <a:p>
            <a:pPr eaLnBrk="0" hangingPunct="0"/>
            <a:r>
              <a:rPr lang="en-US" sz="1900"/>
              <a:t>90</a:t>
            </a:r>
          </a:p>
        </p:txBody>
      </p:sp>
      <p:sp>
        <p:nvSpPr>
          <p:cNvPr id="383040" name="Rectangle 62"/>
          <p:cNvSpPr>
            <a:spLocks noChangeArrowheads="1"/>
          </p:cNvSpPr>
          <p:nvPr/>
        </p:nvSpPr>
        <p:spPr bwMode="auto">
          <a:xfrm>
            <a:off x="1920875" y="6251575"/>
            <a:ext cx="396875" cy="377825"/>
          </a:xfrm>
          <a:prstGeom prst="rect">
            <a:avLst/>
          </a:prstGeom>
          <a:noFill/>
          <a:ln w="12700">
            <a:noFill/>
            <a:miter lim="800000"/>
            <a:headEnd/>
            <a:tailEnd/>
          </a:ln>
        </p:spPr>
        <p:txBody>
          <a:bodyPr wrap="none" lIns="90488" tIns="44450" rIns="90488" bIns="44450">
            <a:spAutoFit/>
          </a:bodyPr>
          <a:lstStyle/>
          <a:p>
            <a:pPr eaLnBrk="0" hangingPunct="0"/>
            <a:r>
              <a:rPr lang="en-US" sz="1900"/>
              <a:t>-2</a:t>
            </a:r>
          </a:p>
        </p:txBody>
      </p:sp>
      <p:sp>
        <p:nvSpPr>
          <p:cNvPr id="383041" name="Rectangle 63"/>
          <p:cNvSpPr>
            <a:spLocks noChangeArrowheads="1"/>
          </p:cNvSpPr>
          <p:nvPr/>
        </p:nvSpPr>
        <p:spPr bwMode="auto">
          <a:xfrm>
            <a:off x="2327275" y="6240463"/>
            <a:ext cx="396875" cy="377825"/>
          </a:xfrm>
          <a:prstGeom prst="rect">
            <a:avLst/>
          </a:prstGeom>
          <a:noFill/>
          <a:ln w="12700">
            <a:noFill/>
            <a:miter lim="800000"/>
            <a:headEnd/>
            <a:tailEnd/>
          </a:ln>
        </p:spPr>
        <p:txBody>
          <a:bodyPr wrap="none" lIns="90488" tIns="44450" rIns="90488" bIns="44450">
            <a:spAutoFit/>
          </a:bodyPr>
          <a:lstStyle/>
          <a:p>
            <a:pPr eaLnBrk="0" hangingPunct="0"/>
            <a:r>
              <a:rPr lang="en-US" sz="1900"/>
              <a:t>-1</a:t>
            </a:r>
          </a:p>
        </p:txBody>
      </p:sp>
      <p:sp>
        <p:nvSpPr>
          <p:cNvPr id="383042" name="Rectangle 64"/>
          <p:cNvSpPr>
            <a:spLocks noChangeArrowheads="1"/>
          </p:cNvSpPr>
          <p:nvPr/>
        </p:nvSpPr>
        <p:spPr bwMode="auto">
          <a:xfrm>
            <a:off x="2713038" y="6251575"/>
            <a:ext cx="315912" cy="377825"/>
          </a:xfrm>
          <a:prstGeom prst="rect">
            <a:avLst/>
          </a:prstGeom>
          <a:noFill/>
          <a:ln w="12700">
            <a:noFill/>
            <a:miter lim="800000"/>
            <a:headEnd/>
            <a:tailEnd/>
          </a:ln>
        </p:spPr>
        <p:txBody>
          <a:bodyPr wrap="none" lIns="90488" tIns="44450" rIns="90488" bIns="44450">
            <a:spAutoFit/>
          </a:bodyPr>
          <a:lstStyle/>
          <a:p>
            <a:pPr eaLnBrk="0" hangingPunct="0"/>
            <a:r>
              <a:rPr lang="en-US" sz="1900"/>
              <a:t>0</a:t>
            </a:r>
          </a:p>
        </p:txBody>
      </p:sp>
      <p:sp>
        <p:nvSpPr>
          <p:cNvPr id="383043" name="Rectangle 65"/>
          <p:cNvSpPr>
            <a:spLocks noChangeArrowheads="1"/>
          </p:cNvSpPr>
          <p:nvPr/>
        </p:nvSpPr>
        <p:spPr bwMode="auto">
          <a:xfrm>
            <a:off x="3094038" y="6251575"/>
            <a:ext cx="315912" cy="377825"/>
          </a:xfrm>
          <a:prstGeom prst="rect">
            <a:avLst/>
          </a:prstGeom>
          <a:noFill/>
          <a:ln w="12700">
            <a:noFill/>
            <a:miter lim="800000"/>
            <a:headEnd/>
            <a:tailEnd/>
          </a:ln>
        </p:spPr>
        <p:txBody>
          <a:bodyPr wrap="none" lIns="90488" tIns="44450" rIns="90488" bIns="44450">
            <a:spAutoFit/>
          </a:bodyPr>
          <a:lstStyle/>
          <a:p>
            <a:pPr eaLnBrk="0" hangingPunct="0"/>
            <a:r>
              <a:rPr lang="en-US" sz="1900"/>
              <a:t>1</a:t>
            </a:r>
          </a:p>
        </p:txBody>
      </p:sp>
      <p:sp>
        <p:nvSpPr>
          <p:cNvPr id="383044" name="Rectangle 66"/>
          <p:cNvSpPr>
            <a:spLocks noChangeArrowheads="1"/>
          </p:cNvSpPr>
          <p:nvPr/>
        </p:nvSpPr>
        <p:spPr bwMode="auto">
          <a:xfrm>
            <a:off x="3475038" y="6251575"/>
            <a:ext cx="315912" cy="377825"/>
          </a:xfrm>
          <a:prstGeom prst="rect">
            <a:avLst/>
          </a:prstGeom>
          <a:noFill/>
          <a:ln w="12700">
            <a:noFill/>
            <a:miter lim="800000"/>
            <a:headEnd/>
            <a:tailEnd/>
          </a:ln>
        </p:spPr>
        <p:txBody>
          <a:bodyPr wrap="none" lIns="90488" tIns="44450" rIns="90488" bIns="44450">
            <a:spAutoFit/>
          </a:bodyPr>
          <a:lstStyle/>
          <a:p>
            <a:pPr eaLnBrk="0" hangingPunct="0"/>
            <a:r>
              <a:rPr lang="en-US" sz="1900"/>
              <a:t>2</a:t>
            </a:r>
          </a:p>
        </p:txBody>
      </p:sp>
      <p:sp>
        <p:nvSpPr>
          <p:cNvPr id="383045" name="Rectangle 67"/>
          <p:cNvSpPr>
            <a:spLocks noChangeArrowheads="1"/>
          </p:cNvSpPr>
          <p:nvPr/>
        </p:nvSpPr>
        <p:spPr bwMode="auto">
          <a:xfrm>
            <a:off x="3714750" y="6164263"/>
            <a:ext cx="336550" cy="393700"/>
          </a:xfrm>
          <a:prstGeom prst="rect">
            <a:avLst/>
          </a:prstGeom>
          <a:noFill/>
          <a:ln w="12700">
            <a:noFill/>
            <a:miter lim="800000"/>
            <a:headEnd/>
            <a:tailEnd/>
          </a:ln>
        </p:spPr>
        <p:txBody>
          <a:bodyPr wrap="none" lIns="90488" tIns="44450" rIns="90488" bIns="44450">
            <a:spAutoFit/>
          </a:bodyPr>
          <a:lstStyle/>
          <a:p>
            <a:pPr eaLnBrk="0" hangingPunct="0"/>
            <a:r>
              <a:rPr lang="en-US" sz="2000"/>
              <a:t>Z</a:t>
            </a:r>
          </a:p>
        </p:txBody>
      </p:sp>
      <p:sp>
        <p:nvSpPr>
          <p:cNvPr id="383046" name="Rectangle 68"/>
          <p:cNvSpPr>
            <a:spLocks noChangeArrowheads="1"/>
          </p:cNvSpPr>
          <p:nvPr/>
        </p:nvSpPr>
        <p:spPr bwMode="auto">
          <a:xfrm>
            <a:off x="1233488" y="4876800"/>
            <a:ext cx="350837" cy="393700"/>
          </a:xfrm>
          <a:prstGeom prst="rect">
            <a:avLst/>
          </a:prstGeom>
          <a:noFill/>
          <a:ln w="12700">
            <a:noFill/>
            <a:miter lim="800000"/>
            <a:headEnd/>
            <a:tailEnd/>
          </a:ln>
        </p:spPr>
        <p:txBody>
          <a:bodyPr wrap="none" lIns="90488" tIns="44450" rIns="90488" bIns="44450">
            <a:spAutoFit/>
          </a:bodyPr>
          <a:lstStyle/>
          <a:p>
            <a:pPr eaLnBrk="0" hangingPunct="0"/>
            <a:r>
              <a:rPr lang="en-US" sz="2000"/>
              <a:t>X</a:t>
            </a:r>
          </a:p>
        </p:txBody>
      </p:sp>
      <p:sp>
        <p:nvSpPr>
          <p:cNvPr id="383047" name="Line 69"/>
          <p:cNvSpPr>
            <a:spLocks noChangeShapeType="1"/>
          </p:cNvSpPr>
          <p:nvPr/>
        </p:nvSpPr>
        <p:spPr bwMode="auto">
          <a:xfrm flipV="1">
            <a:off x="2495550" y="6011863"/>
            <a:ext cx="0" cy="228600"/>
          </a:xfrm>
          <a:prstGeom prst="line">
            <a:avLst/>
          </a:prstGeom>
          <a:noFill/>
          <a:ln w="12700">
            <a:solidFill>
              <a:schemeClr val="tx1"/>
            </a:solidFill>
            <a:round/>
            <a:headEnd/>
            <a:tailEnd/>
          </a:ln>
        </p:spPr>
        <p:txBody>
          <a:bodyPr wrap="none" anchor="ctr"/>
          <a:lstStyle/>
          <a:p>
            <a:endParaRPr lang="en-US"/>
          </a:p>
        </p:txBody>
      </p:sp>
      <p:sp>
        <p:nvSpPr>
          <p:cNvPr id="383048" name="Line 70"/>
          <p:cNvSpPr>
            <a:spLocks noChangeShapeType="1"/>
          </p:cNvSpPr>
          <p:nvPr/>
        </p:nvSpPr>
        <p:spPr bwMode="auto">
          <a:xfrm flipV="1">
            <a:off x="2876550" y="6011863"/>
            <a:ext cx="0" cy="228600"/>
          </a:xfrm>
          <a:prstGeom prst="line">
            <a:avLst/>
          </a:prstGeom>
          <a:noFill/>
          <a:ln w="12700">
            <a:solidFill>
              <a:schemeClr val="tx1"/>
            </a:solidFill>
            <a:round/>
            <a:headEnd/>
            <a:tailEnd/>
          </a:ln>
        </p:spPr>
        <p:txBody>
          <a:bodyPr wrap="none" anchor="ctr"/>
          <a:lstStyle/>
          <a:p>
            <a:endParaRPr lang="en-US"/>
          </a:p>
        </p:txBody>
      </p:sp>
      <p:sp>
        <p:nvSpPr>
          <p:cNvPr id="383049" name="Line 71"/>
          <p:cNvSpPr>
            <a:spLocks noChangeShapeType="1"/>
          </p:cNvSpPr>
          <p:nvPr/>
        </p:nvSpPr>
        <p:spPr bwMode="auto">
          <a:xfrm flipV="1">
            <a:off x="3257550" y="6011863"/>
            <a:ext cx="0" cy="228600"/>
          </a:xfrm>
          <a:prstGeom prst="line">
            <a:avLst/>
          </a:prstGeom>
          <a:noFill/>
          <a:ln w="12700">
            <a:solidFill>
              <a:schemeClr val="tx1"/>
            </a:solidFill>
            <a:round/>
            <a:headEnd/>
            <a:tailEnd/>
          </a:ln>
        </p:spPr>
        <p:txBody>
          <a:bodyPr wrap="none" anchor="ctr"/>
          <a:lstStyle/>
          <a:p>
            <a:endParaRPr lang="en-US"/>
          </a:p>
        </p:txBody>
      </p:sp>
      <p:sp>
        <p:nvSpPr>
          <p:cNvPr id="383050" name="Line 72"/>
          <p:cNvSpPr>
            <a:spLocks noChangeShapeType="1"/>
          </p:cNvSpPr>
          <p:nvPr/>
        </p:nvSpPr>
        <p:spPr bwMode="auto">
          <a:xfrm flipV="1">
            <a:off x="3638550" y="6011863"/>
            <a:ext cx="0" cy="228600"/>
          </a:xfrm>
          <a:prstGeom prst="line">
            <a:avLst/>
          </a:prstGeom>
          <a:noFill/>
          <a:ln w="12700">
            <a:solidFill>
              <a:schemeClr val="tx1"/>
            </a:solidFill>
            <a:round/>
            <a:headEnd/>
            <a:tailEnd/>
          </a:ln>
        </p:spPr>
        <p:txBody>
          <a:bodyPr wrap="none" anchor="ctr"/>
          <a:lstStyle/>
          <a:p>
            <a:endParaRPr lang="en-US"/>
          </a:p>
        </p:txBody>
      </p:sp>
      <p:sp>
        <p:nvSpPr>
          <p:cNvPr id="383051" name="Text Box 73"/>
          <p:cNvSpPr txBox="1">
            <a:spLocks noChangeArrowheads="1"/>
          </p:cNvSpPr>
          <p:nvPr/>
        </p:nvSpPr>
        <p:spPr bwMode="auto">
          <a:xfrm>
            <a:off x="5181600" y="4724400"/>
            <a:ext cx="3352800" cy="1187450"/>
          </a:xfrm>
          <a:prstGeom prst="rect">
            <a:avLst/>
          </a:prstGeom>
          <a:noFill/>
          <a:ln w="9525">
            <a:noFill/>
            <a:miter lim="800000"/>
            <a:headEnd/>
            <a:tailEnd/>
          </a:ln>
        </p:spPr>
        <p:txBody>
          <a:bodyPr>
            <a:spAutoFit/>
          </a:bodyPr>
          <a:lstStyle/>
          <a:p>
            <a:pPr>
              <a:spcBef>
                <a:spcPct val="50000"/>
              </a:spcBef>
            </a:pPr>
            <a:r>
              <a:rPr lang="en-US"/>
              <a:t>Nonlinear plots indicate a deviation from normality</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1" name="Rectangle 4"/>
          <p:cNvSpPr>
            <a:spLocks noGrp="1" noChangeArrowheads="1"/>
          </p:cNvSpPr>
          <p:nvPr>
            <p:ph type="ftr" sz="quarter" idx="10"/>
          </p:nvPr>
        </p:nvSpPr>
        <p:spPr>
          <a:noFill/>
        </p:spPr>
        <p:txBody>
          <a:bodyPr/>
          <a:lstStyle/>
          <a:p>
            <a:r>
              <a:rPr lang="en-US" smtClean="0"/>
              <a:t>Copyright ©2012 Pearson Education</a:t>
            </a:r>
          </a:p>
        </p:txBody>
      </p:sp>
      <p:sp>
        <p:nvSpPr>
          <p:cNvPr id="384002" name="Rectangle 5"/>
          <p:cNvSpPr>
            <a:spLocks noGrp="1" noChangeArrowheads="1"/>
          </p:cNvSpPr>
          <p:nvPr>
            <p:ph type="sldNum" sz="quarter" idx="11"/>
          </p:nvPr>
        </p:nvSpPr>
        <p:spPr>
          <a:noFill/>
        </p:spPr>
        <p:txBody>
          <a:bodyPr/>
          <a:lstStyle/>
          <a:p>
            <a:r>
              <a:rPr lang="en-US" smtClean="0"/>
              <a:t>Chap 6-</a:t>
            </a:r>
            <a:fld id="{03644687-2B57-4435-A33E-7B904C42B5ED}" type="slidenum">
              <a:rPr lang="en-US" smtClean="0"/>
              <a:pPr/>
              <a:t>40</a:t>
            </a:fld>
            <a:endParaRPr lang="en-US" smtClean="0"/>
          </a:p>
        </p:txBody>
      </p:sp>
      <p:sp>
        <p:nvSpPr>
          <p:cNvPr id="384003" name="Title 1"/>
          <p:cNvSpPr>
            <a:spLocks noGrp="1"/>
          </p:cNvSpPr>
          <p:nvPr>
            <p:ph type="title"/>
          </p:nvPr>
        </p:nvSpPr>
        <p:spPr>
          <a:xfrm>
            <a:off x="1143000" y="381000"/>
            <a:ext cx="7383463" cy="990600"/>
          </a:xfrm>
        </p:spPr>
        <p:txBody>
          <a:bodyPr/>
          <a:lstStyle/>
          <a:p>
            <a:pPr eaLnBrk="1" hangingPunct="1"/>
            <a:r>
              <a:rPr lang="en-US" smtClean="0"/>
              <a:t>Normal Probability Plots In Excel &amp; Minitab</a:t>
            </a:r>
          </a:p>
        </p:txBody>
      </p:sp>
      <p:sp>
        <p:nvSpPr>
          <p:cNvPr id="384004" name="Content Placeholder 2"/>
          <p:cNvSpPr>
            <a:spLocks noGrp="1"/>
          </p:cNvSpPr>
          <p:nvPr>
            <p:ph idx="1"/>
          </p:nvPr>
        </p:nvSpPr>
        <p:spPr/>
        <p:txBody>
          <a:bodyPr/>
          <a:lstStyle/>
          <a:p>
            <a:pPr eaLnBrk="1" hangingPunct="1"/>
            <a:r>
              <a:rPr lang="en-US" smtClean="0"/>
              <a:t>In Excel normal probability plots are quantile-quantile normal probability plots and the interpretation is as discussed</a:t>
            </a:r>
          </a:p>
          <a:p>
            <a:pPr eaLnBrk="1" hangingPunct="1"/>
            <a:endParaRPr lang="en-US" smtClean="0"/>
          </a:p>
          <a:p>
            <a:pPr eaLnBrk="1" hangingPunct="1"/>
            <a:r>
              <a:rPr lang="en-US" smtClean="0"/>
              <a:t>The Minitab normal probability plot is different and the interpretation differs slightly</a:t>
            </a:r>
          </a:p>
          <a:p>
            <a:pPr eaLnBrk="1" hangingPunct="1"/>
            <a:endParaRPr lang="en-US" smtClean="0"/>
          </a:p>
          <a:p>
            <a:pPr eaLnBrk="1" hangingPunct="1"/>
            <a:r>
              <a:rPr lang="en-US" smtClean="0"/>
              <a:t>As with the Excel normal probability plot a linear pattern in the Minitab normal probability plot indicates a normal distribution</a:t>
            </a:r>
          </a:p>
        </p:txBody>
      </p:sp>
      <p:sp>
        <p:nvSpPr>
          <p:cNvPr id="384005"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DAD25A86-5494-4ED3-B29F-2459A0AD697E}" type="slidenum">
              <a:rPr lang="en-US" sz="1000"/>
              <a:pPr algn="r" defTabSz="852488"/>
              <a:t>40</a:t>
            </a:fld>
            <a:endParaRPr lang="en-US" sz="1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5" name="Rectangle 4"/>
          <p:cNvSpPr>
            <a:spLocks noGrp="1" noChangeArrowheads="1"/>
          </p:cNvSpPr>
          <p:nvPr>
            <p:ph type="ftr" sz="quarter" idx="10"/>
          </p:nvPr>
        </p:nvSpPr>
        <p:spPr>
          <a:noFill/>
        </p:spPr>
        <p:txBody>
          <a:bodyPr/>
          <a:lstStyle/>
          <a:p>
            <a:r>
              <a:rPr lang="en-US" smtClean="0"/>
              <a:t>Copyright ©2012 Pearson Education</a:t>
            </a:r>
          </a:p>
        </p:txBody>
      </p:sp>
      <p:sp>
        <p:nvSpPr>
          <p:cNvPr id="385026" name="Rectangle 5"/>
          <p:cNvSpPr>
            <a:spLocks noGrp="1" noChangeArrowheads="1"/>
          </p:cNvSpPr>
          <p:nvPr>
            <p:ph type="sldNum" sz="quarter" idx="11"/>
          </p:nvPr>
        </p:nvSpPr>
        <p:spPr>
          <a:noFill/>
        </p:spPr>
        <p:txBody>
          <a:bodyPr/>
          <a:lstStyle/>
          <a:p>
            <a:r>
              <a:rPr lang="en-US" smtClean="0"/>
              <a:t>Chap 6-</a:t>
            </a:r>
            <a:fld id="{4156CC17-2F8E-46F8-B5C7-68BA296B0300}" type="slidenum">
              <a:rPr lang="en-US" smtClean="0"/>
              <a:pPr/>
              <a:t>41</a:t>
            </a:fld>
            <a:endParaRPr lang="en-US" smtClean="0"/>
          </a:p>
        </p:txBody>
      </p:sp>
      <p:sp>
        <p:nvSpPr>
          <p:cNvPr id="385027" name="Title 1"/>
          <p:cNvSpPr>
            <a:spLocks noGrp="1"/>
          </p:cNvSpPr>
          <p:nvPr>
            <p:ph type="title"/>
          </p:nvPr>
        </p:nvSpPr>
        <p:spPr>
          <a:xfrm>
            <a:off x="1066800" y="381000"/>
            <a:ext cx="7383463" cy="990600"/>
          </a:xfrm>
        </p:spPr>
        <p:txBody>
          <a:bodyPr/>
          <a:lstStyle/>
          <a:p>
            <a:pPr eaLnBrk="1" hangingPunct="1"/>
            <a:r>
              <a:rPr lang="en-US" smtClean="0"/>
              <a:t>Normal Probability Plots In Minitab</a:t>
            </a:r>
          </a:p>
        </p:txBody>
      </p:sp>
      <p:sp>
        <p:nvSpPr>
          <p:cNvPr id="385028" name="Content Placeholder 2"/>
          <p:cNvSpPr>
            <a:spLocks noGrp="1"/>
          </p:cNvSpPr>
          <p:nvPr>
            <p:ph idx="1"/>
          </p:nvPr>
        </p:nvSpPr>
        <p:spPr/>
        <p:txBody>
          <a:bodyPr/>
          <a:lstStyle/>
          <a:p>
            <a:pPr eaLnBrk="1" hangingPunct="1"/>
            <a:r>
              <a:rPr lang="en-US" smtClean="0"/>
              <a:t>In Minitab the variable on the x-axis is the variable under study.</a:t>
            </a:r>
          </a:p>
          <a:p>
            <a:pPr eaLnBrk="1" hangingPunct="1"/>
            <a:r>
              <a:rPr lang="en-US" smtClean="0"/>
              <a:t>The variable on the y-axis is the cumulative probability from a normal distribution.</a:t>
            </a:r>
          </a:p>
          <a:p>
            <a:pPr eaLnBrk="1" hangingPunct="1"/>
            <a:r>
              <a:rPr lang="en-US" smtClean="0"/>
              <a:t>For a variable with a distribution that is skewed to the right the plotted points will rise quickly at the beginning and then level off.</a:t>
            </a:r>
          </a:p>
          <a:p>
            <a:pPr eaLnBrk="1" hangingPunct="1"/>
            <a:r>
              <a:rPr lang="en-US" smtClean="0"/>
              <a:t>For a variable with a distribution that is skewed to the left the plotted points will rise more slowly at first and rise more rapidly at the end  </a:t>
            </a:r>
          </a:p>
        </p:txBody>
      </p:sp>
      <p:sp>
        <p:nvSpPr>
          <p:cNvPr id="385029"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1C5462A5-7073-4C83-926E-AC80C8AEAC8C}" type="slidenum">
              <a:rPr lang="en-US" sz="1000"/>
              <a:pPr algn="r" defTabSz="852488"/>
              <a:t>41</a:t>
            </a:fld>
            <a:endParaRPr lang="en-US" sz="10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49" name="Rectangle 4"/>
          <p:cNvSpPr>
            <a:spLocks noGrp="1" noChangeArrowheads="1"/>
          </p:cNvSpPr>
          <p:nvPr>
            <p:ph type="ftr" sz="quarter" idx="10"/>
          </p:nvPr>
        </p:nvSpPr>
        <p:spPr>
          <a:noFill/>
        </p:spPr>
        <p:txBody>
          <a:bodyPr/>
          <a:lstStyle/>
          <a:p>
            <a:r>
              <a:rPr lang="en-US" smtClean="0"/>
              <a:t>Copyright ©2012 Pearson Education</a:t>
            </a:r>
          </a:p>
        </p:txBody>
      </p:sp>
      <p:sp>
        <p:nvSpPr>
          <p:cNvPr id="386050" name="Rectangle 5"/>
          <p:cNvSpPr>
            <a:spLocks noGrp="1" noChangeArrowheads="1"/>
          </p:cNvSpPr>
          <p:nvPr>
            <p:ph type="sldNum" sz="quarter" idx="11"/>
          </p:nvPr>
        </p:nvSpPr>
        <p:spPr>
          <a:noFill/>
        </p:spPr>
        <p:txBody>
          <a:bodyPr/>
          <a:lstStyle/>
          <a:p>
            <a:r>
              <a:rPr lang="en-US" smtClean="0"/>
              <a:t>Chap 6-</a:t>
            </a:r>
            <a:fld id="{A48611EB-8972-42F1-B493-76A5FA3A2C53}" type="slidenum">
              <a:rPr lang="en-US" smtClean="0"/>
              <a:pPr/>
              <a:t>42</a:t>
            </a:fld>
            <a:endParaRPr lang="en-US" smtClean="0"/>
          </a:p>
        </p:txBody>
      </p:sp>
      <p:sp>
        <p:nvSpPr>
          <p:cNvPr id="386051"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AD7C293D-084B-483B-8ECD-707198B915EC}" type="slidenum">
              <a:rPr lang="en-US" sz="1000"/>
              <a:pPr algn="r" defTabSz="852488"/>
              <a:t>42</a:t>
            </a:fld>
            <a:endParaRPr lang="en-US" sz="1000"/>
          </a:p>
        </p:txBody>
      </p:sp>
      <p:sp>
        <p:nvSpPr>
          <p:cNvPr id="386052" name="Rectangle 2"/>
          <p:cNvSpPr>
            <a:spLocks noGrp="1" noChangeArrowheads="1"/>
          </p:cNvSpPr>
          <p:nvPr>
            <p:ph type="title"/>
          </p:nvPr>
        </p:nvSpPr>
        <p:spPr/>
        <p:txBody>
          <a:bodyPr/>
          <a:lstStyle/>
          <a:p>
            <a:pPr eaLnBrk="1" hangingPunct="1"/>
            <a:r>
              <a:rPr lang="en-US" sz="3200" smtClean="0"/>
              <a:t>Evaluating Normality</a:t>
            </a:r>
            <a:r>
              <a:rPr lang="en-US" sz="3600" smtClean="0"/>
              <a:t/>
            </a:r>
            <a:br>
              <a:rPr lang="en-US" sz="3600" smtClean="0"/>
            </a:br>
            <a:r>
              <a:rPr lang="en-US" sz="3200" smtClean="0"/>
              <a:t>An Example:  Bond Funds Returns</a:t>
            </a:r>
          </a:p>
        </p:txBody>
      </p:sp>
      <p:sp>
        <p:nvSpPr>
          <p:cNvPr id="386053" name="Rectangle 5"/>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algn="ctr">
              <a:spcBef>
                <a:spcPct val="50000"/>
              </a:spcBef>
            </a:pPr>
            <a:endParaRPr lang="en-GB"/>
          </a:p>
        </p:txBody>
      </p:sp>
      <p:sp>
        <p:nvSpPr>
          <p:cNvPr id="386054" name="Text Box 6"/>
          <p:cNvSpPr txBox="1">
            <a:spLocks noChangeArrowheads="1"/>
          </p:cNvSpPr>
          <p:nvPr/>
        </p:nvSpPr>
        <p:spPr bwMode="auto">
          <a:xfrm>
            <a:off x="5638800" y="2362200"/>
            <a:ext cx="3200400" cy="1016000"/>
          </a:xfrm>
          <a:prstGeom prst="rect">
            <a:avLst/>
          </a:prstGeom>
          <a:solidFill>
            <a:srgbClr val="FDE0BD"/>
          </a:solidFill>
          <a:ln w="9525" algn="ctr">
            <a:noFill/>
            <a:miter lim="800000"/>
            <a:headEnd/>
            <a:tailEnd/>
          </a:ln>
        </p:spPr>
        <p:txBody>
          <a:bodyPr>
            <a:spAutoFit/>
          </a:bodyPr>
          <a:lstStyle/>
          <a:p>
            <a:pPr>
              <a:spcBef>
                <a:spcPct val="50000"/>
              </a:spcBef>
            </a:pPr>
            <a:r>
              <a:rPr lang="en-US" sz="2000"/>
              <a:t>The boxplot is skewed to the right. (The normal distribution is symmetric.)</a:t>
            </a:r>
          </a:p>
        </p:txBody>
      </p:sp>
      <p:pic>
        <p:nvPicPr>
          <p:cNvPr id="352257" name="Picture 14" descr="Fig6_19A.gif"/>
          <p:cNvPicPr>
            <a:picLocks noChangeAspect="1" noChangeArrowheads="1"/>
          </p:cNvPicPr>
          <p:nvPr/>
        </p:nvPicPr>
        <p:blipFill>
          <a:blip r:embed="rId2" cstate="print">
            <a:duotone>
              <a:prstClr val="black"/>
              <a:schemeClr val="accent1">
                <a:tint val="45000"/>
                <a:satMod val="400000"/>
              </a:schemeClr>
            </a:duotone>
          </a:blip>
          <a:srcRect/>
          <a:stretch>
            <a:fillRect/>
          </a:stretch>
        </p:blipFill>
        <p:spPr bwMode="auto">
          <a:xfrm>
            <a:off x="1981200" y="1524000"/>
            <a:ext cx="2586193" cy="1969402"/>
          </a:xfrm>
          <a:prstGeom prst="rect">
            <a:avLst/>
          </a:prstGeom>
          <a:solidFill>
            <a:schemeClr val="accent1"/>
          </a:solidFill>
          <a:ln w="9525">
            <a:noFill/>
            <a:miter lim="800000"/>
            <a:headEnd/>
            <a:tailEnd/>
          </a:ln>
        </p:spPr>
      </p:pic>
      <p:pic>
        <p:nvPicPr>
          <p:cNvPr id="352258" name="Picture 15" descr="Fig6_19B.gif"/>
          <p:cNvPicPr>
            <a:picLocks noChangeAspect="1" noChangeArrowheads="1"/>
          </p:cNvPicPr>
          <p:nvPr/>
        </p:nvPicPr>
        <p:blipFill>
          <a:blip r:embed="rId3" cstate="print">
            <a:duotone>
              <a:prstClr val="black"/>
              <a:schemeClr val="accent1">
                <a:tint val="45000"/>
                <a:satMod val="400000"/>
              </a:schemeClr>
            </a:duotone>
          </a:blip>
          <a:srcRect/>
          <a:stretch>
            <a:fillRect/>
          </a:stretch>
        </p:blipFill>
        <p:spPr bwMode="auto">
          <a:xfrm>
            <a:off x="77786" y="3505200"/>
            <a:ext cx="6725285" cy="3048000"/>
          </a:xfrm>
          <a:prstGeom prst="rect">
            <a:avLst/>
          </a:prstGeom>
          <a:solidFill>
            <a:schemeClr val="accent1"/>
          </a:solid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3" name="Rectangle 4"/>
          <p:cNvSpPr>
            <a:spLocks noGrp="1" noChangeArrowheads="1"/>
          </p:cNvSpPr>
          <p:nvPr>
            <p:ph type="ftr" sz="quarter" idx="10"/>
          </p:nvPr>
        </p:nvSpPr>
        <p:spPr>
          <a:noFill/>
        </p:spPr>
        <p:txBody>
          <a:bodyPr/>
          <a:lstStyle/>
          <a:p>
            <a:r>
              <a:rPr lang="en-US" smtClean="0"/>
              <a:t>Copyright ©2012 Pearson Education</a:t>
            </a:r>
          </a:p>
        </p:txBody>
      </p:sp>
      <p:sp>
        <p:nvSpPr>
          <p:cNvPr id="387074" name="Rectangle 5"/>
          <p:cNvSpPr>
            <a:spLocks noGrp="1" noChangeArrowheads="1"/>
          </p:cNvSpPr>
          <p:nvPr>
            <p:ph type="sldNum" sz="quarter" idx="11"/>
          </p:nvPr>
        </p:nvSpPr>
        <p:spPr>
          <a:noFill/>
        </p:spPr>
        <p:txBody>
          <a:bodyPr/>
          <a:lstStyle/>
          <a:p>
            <a:r>
              <a:rPr lang="en-US" smtClean="0"/>
              <a:t>Chap 6-</a:t>
            </a:r>
            <a:fld id="{541CBD03-6E3A-4713-9C54-A017423B7535}" type="slidenum">
              <a:rPr lang="en-US" smtClean="0"/>
              <a:pPr/>
              <a:t>43</a:t>
            </a:fld>
            <a:endParaRPr lang="en-US" smtClean="0"/>
          </a:p>
        </p:txBody>
      </p:sp>
      <p:sp>
        <p:nvSpPr>
          <p:cNvPr id="387075"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7DFD0C95-1036-4CB5-B005-F53EF0A2E76C}" type="slidenum">
              <a:rPr lang="en-US" sz="1000"/>
              <a:pPr algn="r" defTabSz="852488"/>
              <a:t>43</a:t>
            </a:fld>
            <a:endParaRPr lang="en-US" sz="1000"/>
          </a:p>
        </p:txBody>
      </p:sp>
      <p:sp>
        <p:nvSpPr>
          <p:cNvPr id="387076" name="Rectangle 2"/>
          <p:cNvSpPr>
            <a:spLocks noGrp="1" noChangeArrowheads="1"/>
          </p:cNvSpPr>
          <p:nvPr>
            <p:ph type="title"/>
          </p:nvPr>
        </p:nvSpPr>
        <p:spPr/>
        <p:txBody>
          <a:bodyPr/>
          <a:lstStyle/>
          <a:p>
            <a:pPr eaLnBrk="1" hangingPunct="1"/>
            <a:r>
              <a:rPr lang="en-US" sz="3200" smtClean="0"/>
              <a:t>Evaluating Normality</a:t>
            </a:r>
            <a:r>
              <a:rPr lang="en-US" sz="3600" smtClean="0"/>
              <a:t/>
            </a:r>
            <a:br>
              <a:rPr lang="en-US" sz="3600" smtClean="0"/>
            </a:br>
            <a:r>
              <a:rPr lang="en-US" sz="3200" smtClean="0"/>
              <a:t>An Example:  Bond Funds Returns</a:t>
            </a:r>
          </a:p>
        </p:txBody>
      </p:sp>
      <p:sp>
        <p:nvSpPr>
          <p:cNvPr id="387077" name="Text Box 5"/>
          <p:cNvSpPr txBox="1">
            <a:spLocks noChangeArrowheads="1"/>
          </p:cNvSpPr>
          <p:nvPr/>
        </p:nvSpPr>
        <p:spPr bwMode="auto">
          <a:xfrm>
            <a:off x="304800" y="1676400"/>
            <a:ext cx="2997200" cy="457200"/>
          </a:xfrm>
          <a:prstGeom prst="rect">
            <a:avLst/>
          </a:prstGeom>
          <a:noFill/>
          <a:ln w="9525" algn="ctr">
            <a:noFill/>
            <a:miter lim="800000"/>
            <a:headEnd/>
            <a:tailEnd/>
          </a:ln>
        </p:spPr>
        <p:txBody>
          <a:bodyPr wrap="none">
            <a:spAutoFit/>
          </a:bodyPr>
          <a:lstStyle/>
          <a:p>
            <a:pPr algn="ctr">
              <a:spcBef>
                <a:spcPct val="50000"/>
              </a:spcBef>
            </a:pPr>
            <a:r>
              <a:rPr lang="en-US" u="sng"/>
              <a:t>Descriptive Statistics</a:t>
            </a:r>
          </a:p>
        </p:txBody>
      </p:sp>
      <p:sp>
        <p:nvSpPr>
          <p:cNvPr id="387078" name="Text Box 6"/>
          <p:cNvSpPr txBox="1">
            <a:spLocks noChangeArrowheads="1"/>
          </p:cNvSpPr>
          <p:nvPr/>
        </p:nvSpPr>
        <p:spPr bwMode="auto">
          <a:xfrm>
            <a:off x="7391400" y="1066800"/>
            <a:ext cx="16002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
        <p:nvSpPr>
          <p:cNvPr id="387079" name="Text Box 7"/>
          <p:cNvSpPr txBox="1">
            <a:spLocks noChangeArrowheads="1"/>
          </p:cNvSpPr>
          <p:nvPr/>
        </p:nvSpPr>
        <p:spPr bwMode="auto">
          <a:xfrm>
            <a:off x="3581400" y="1600200"/>
            <a:ext cx="5181600" cy="5038725"/>
          </a:xfrm>
          <a:prstGeom prst="rect">
            <a:avLst/>
          </a:prstGeom>
          <a:solidFill>
            <a:srgbClr val="FDE0BD"/>
          </a:solidFill>
          <a:ln w="9525" algn="ctr">
            <a:noFill/>
            <a:miter lim="800000"/>
            <a:headEnd/>
            <a:tailEnd/>
          </a:ln>
        </p:spPr>
        <p:txBody>
          <a:bodyPr>
            <a:spAutoFit/>
          </a:bodyPr>
          <a:lstStyle/>
          <a:p>
            <a:pPr marL="120650" indent="-120650">
              <a:spcBef>
                <a:spcPct val="50000"/>
              </a:spcBef>
              <a:buFontTx/>
              <a:buChar char="•"/>
            </a:pPr>
            <a:r>
              <a:rPr lang="en-US" sz="1800"/>
              <a:t>The mean (7.1641) is greater than the median (6.4).  (In a normal distribution the mean and median are equal.)</a:t>
            </a:r>
          </a:p>
          <a:p>
            <a:pPr marL="120650" indent="-120650">
              <a:spcBef>
                <a:spcPct val="50000"/>
              </a:spcBef>
              <a:buFontTx/>
              <a:buChar char="•"/>
            </a:pPr>
            <a:r>
              <a:rPr lang="en-US" sz="1800"/>
              <a:t>The interquartile range of 7.4 is approximately 1.21 standard deviations.  (In a normal distribution the interquartile range is 1.33 standard deviations.)</a:t>
            </a:r>
          </a:p>
          <a:p>
            <a:pPr marL="120650" indent="-120650">
              <a:spcBef>
                <a:spcPct val="50000"/>
              </a:spcBef>
              <a:buFontTx/>
              <a:buChar char="•"/>
            </a:pPr>
            <a:r>
              <a:rPr lang="en-US" sz="1800"/>
              <a:t>The range of 40.8 is equal to 6.70 standard deviations.  (In a normal distribution the range is 6 standard deviations.)</a:t>
            </a:r>
          </a:p>
          <a:p>
            <a:pPr marL="120650" indent="-120650">
              <a:spcBef>
                <a:spcPct val="50000"/>
              </a:spcBef>
              <a:buFontTx/>
              <a:buChar char="•"/>
            </a:pPr>
            <a:r>
              <a:rPr lang="en-US" sz="1800"/>
              <a:t>73.91% of the observations are within 1 standard deviation of the mean.  (In a normal distribution this percentage is 68.26%.</a:t>
            </a:r>
          </a:p>
          <a:p>
            <a:pPr marL="120650" indent="-120650">
              <a:spcBef>
                <a:spcPct val="50000"/>
              </a:spcBef>
              <a:buFontTx/>
              <a:buChar char="•"/>
            </a:pPr>
            <a:r>
              <a:rPr lang="en-US" sz="1800"/>
              <a:t>85.33% of the observations are within 1.28 standard deviations of the mean.  (In a normal distribution this percentage is 80%.)</a:t>
            </a:r>
          </a:p>
        </p:txBody>
      </p:sp>
      <p:pic>
        <p:nvPicPr>
          <p:cNvPr id="395265" name="Picture 13" descr="Fig6_18.gif"/>
          <p:cNvPicPr>
            <a:picLocks noChangeAspect="1" noChangeArrowheads="1"/>
          </p:cNvPicPr>
          <p:nvPr/>
        </p:nvPicPr>
        <p:blipFill>
          <a:blip r:embed="rId2" cstate="print">
            <a:duotone>
              <a:prstClr val="black"/>
              <a:schemeClr val="accent1">
                <a:tint val="45000"/>
                <a:satMod val="400000"/>
              </a:schemeClr>
            </a:duotone>
          </a:blip>
          <a:srcRect/>
          <a:stretch>
            <a:fillRect/>
          </a:stretch>
        </p:blipFill>
        <p:spPr bwMode="auto">
          <a:xfrm>
            <a:off x="38100" y="2057400"/>
            <a:ext cx="3238500" cy="4500009"/>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7" name="Rectangle 4"/>
          <p:cNvSpPr>
            <a:spLocks noGrp="1" noChangeArrowheads="1"/>
          </p:cNvSpPr>
          <p:nvPr>
            <p:ph type="ftr" sz="quarter" idx="10"/>
          </p:nvPr>
        </p:nvSpPr>
        <p:spPr>
          <a:noFill/>
        </p:spPr>
        <p:txBody>
          <a:bodyPr/>
          <a:lstStyle/>
          <a:p>
            <a:r>
              <a:rPr lang="en-US" smtClean="0"/>
              <a:t>Copyright ©2012 Pearson Education</a:t>
            </a:r>
          </a:p>
        </p:txBody>
      </p:sp>
      <p:sp>
        <p:nvSpPr>
          <p:cNvPr id="388098" name="Rectangle 5"/>
          <p:cNvSpPr>
            <a:spLocks noGrp="1" noChangeArrowheads="1"/>
          </p:cNvSpPr>
          <p:nvPr>
            <p:ph type="sldNum" sz="quarter" idx="11"/>
          </p:nvPr>
        </p:nvSpPr>
        <p:spPr>
          <a:noFill/>
        </p:spPr>
        <p:txBody>
          <a:bodyPr/>
          <a:lstStyle/>
          <a:p>
            <a:r>
              <a:rPr lang="en-US" smtClean="0"/>
              <a:t>Chap 6-</a:t>
            </a:r>
            <a:fld id="{5D458B3C-B5DA-4F18-96CF-EA0CE4263D28}" type="slidenum">
              <a:rPr lang="en-US" smtClean="0"/>
              <a:pPr/>
              <a:t>44</a:t>
            </a:fld>
            <a:endParaRPr lang="en-US" smtClean="0"/>
          </a:p>
        </p:txBody>
      </p:sp>
      <p:sp>
        <p:nvSpPr>
          <p:cNvPr id="388099" name="Title 1"/>
          <p:cNvSpPr>
            <a:spLocks noGrp="1"/>
          </p:cNvSpPr>
          <p:nvPr>
            <p:ph type="title"/>
          </p:nvPr>
        </p:nvSpPr>
        <p:spPr/>
        <p:txBody>
          <a:bodyPr/>
          <a:lstStyle/>
          <a:p>
            <a:pPr eaLnBrk="1" hangingPunct="1"/>
            <a:r>
              <a:rPr lang="en-US" sz="3200" smtClean="0"/>
              <a:t>Evaluating Normality</a:t>
            </a:r>
            <a:br>
              <a:rPr lang="en-US" sz="3200" smtClean="0"/>
            </a:br>
            <a:r>
              <a:rPr lang="en-US" sz="3200" smtClean="0"/>
              <a:t>An Example:  Bond Funds Returns</a:t>
            </a:r>
          </a:p>
        </p:txBody>
      </p:sp>
      <p:sp>
        <p:nvSpPr>
          <p:cNvPr id="388100" name="Slide Number Placeholder 3"/>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AA9CF6E2-125B-47B1-B77A-0843BAE3BB66}" type="slidenum">
              <a:rPr lang="en-US" sz="1000"/>
              <a:pPr algn="r" defTabSz="852488"/>
              <a:t>44</a:t>
            </a:fld>
            <a:endParaRPr lang="en-US" sz="1000"/>
          </a:p>
        </p:txBody>
      </p:sp>
      <p:sp>
        <p:nvSpPr>
          <p:cNvPr id="388101" name="Text Box 6"/>
          <p:cNvSpPr txBox="1">
            <a:spLocks noChangeArrowheads="1"/>
          </p:cNvSpPr>
          <p:nvPr/>
        </p:nvSpPr>
        <p:spPr bwMode="auto">
          <a:xfrm>
            <a:off x="7391400" y="1066800"/>
            <a:ext cx="16002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
        <p:nvSpPr>
          <p:cNvPr id="388102" name="Text Box 5"/>
          <p:cNvSpPr txBox="1">
            <a:spLocks noChangeArrowheads="1"/>
          </p:cNvSpPr>
          <p:nvPr/>
        </p:nvSpPr>
        <p:spPr bwMode="auto">
          <a:xfrm>
            <a:off x="304800" y="1676400"/>
            <a:ext cx="2997200" cy="457200"/>
          </a:xfrm>
          <a:prstGeom prst="rect">
            <a:avLst/>
          </a:prstGeom>
          <a:noFill/>
          <a:ln w="9525" algn="ctr">
            <a:noFill/>
            <a:miter lim="800000"/>
            <a:headEnd/>
            <a:tailEnd/>
          </a:ln>
        </p:spPr>
        <p:txBody>
          <a:bodyPr wrap="none">
            <a:spAutoFit/>
          </a:bodyPr>
          <a:lstStyle/>
          <a:p>
            <a:pPr algn="ctr">
              <a:spcBef>
                <a:spcPct val="50000"/>
              </a:spcBef>
            </a:pPr>
            <a:r>
              <a:rPr lang="en-US" u="sng"/>
              <a:t>Descriptive Statistics</a:t>
            </a:r>
          </a:p>
        </p:txBody>
      </p:sp>
      <p:pic>
        <p:nvPicPr>
          <p:cNvPr id="7" name="Picture 13" descr="Fig6_18.gif"/>
          <p:cNvPicPr>
            <a:picLocks noChangeAspect="1" noChangeArrowheads="1"/>
          </p:cNvPicPr>
          <p:nvPr/>
        </p:nvPicPr>
        <p:blipFill>
          <a:blip r:embed="rId2" cstate="print">
            <a:duotone>
              <a:prstClr val="black"/>
              <a:schemeClr val="accent1">
                <a:tint val="45000"/>
                <a:satMod val="400000"/>
              </a:schemeClr>
            </a:duotone>
          </a:blip>
          <a:srcRect/>
          <a:stretch>
            <a:fillRect/>
          </a:stretch>
        </p:blipFill>
        <p:spPr bwMode="auto">
          <a:xfrm>
            <a:off x="38100" y="2057400"/>
            <a:ext cx="3238500" cy="4500009"/>
          </a:xfrm>
          <a:prstGeom prst="rect">
            <a:avLst/>
          </a:prstGeom>
          <a:noFill/>
          <a:ln w="9525">
            <a:noFill/>
            <a:miter lim="800000"/>
            <a:headEnd/>
            <a:tailEnd/>
          </a:ln>
        </p:spPr>
      </p:pic>
      <p:sp>
        <p:nvSpPr>
          <p:cNvPr id="388104" name="Text Box 7"/>
          <p:cNvSpPr txBox="1">
            <a:spLocks noChangeArrowheads="1"/>
          </p:cNvSpPr>
          <p:nvPr/>
        </p:nvSpPr>
        <p:spPr bwMode="auto">
          <a:xfrm>
            <a:off x="3581400" y="1600200"/>
            <a:ext cx="5181600" cy="2170113"/>
          </a:xfrm>
          <a:prstGeom prst="rect">
            <a:avLst/>
          </a:prstGeom>
          <a:solidFill>
            <a:srgbClr val="FDE0BD"/>
          </a:solidFill>
          <a:ln w="9525" algn="ctr">
            <a:noFill/>
            <a:miter lim="800000"/>
            <a:headEnd/>
            <a:tailEnd/>
          </a:ln>
        </p:spPr>
        <p:txBody>
          <a:bodyPr>
            <a:spAutoFit/>
          </a:bodyPr>
          <a:lstStyle/>
          <a:p>
            <a:pPr marL="120650" indent="-120650">
              <a:spcBef>
                <a:spcPct val="50000"/>
              </a:spcBef>
              <a:buFontTx/>
              <a:buChar char="•"/>
            </a:pPr>
            <a:r>
              <a:rPr lang="en-US" sz="1800"/>
              <a:t>96.20% of the returns are within 2 standard deviations of the mean.  (In a normal distribution, 95.44% of the values lie within 2 standard deviations of the mean.)</a:t>
            </a:r>
          </a:p>
          <a:p>
            <a:pPr marL="120650" indent="-120650">
              <a:spcBef>
                <a:spcPct val="50000"/>
              </a:spcBef>
              <a:buFontTx/>
              <a:buChar char="•"/>
            </a:pPr>
            <a:r>
              <a:rPr lang="en-US" sz="1800"/>
              <a:t>The skewness statistic is 0.9085 and the kurtosis statistic is 2.456. (In a normal distribution each of these statistics equals zero.)</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1" name="Rectangle 4"/>
          <p:cNvSpPr>
            <a:spLocks noGrp="1" noChangeArrowheads="1"/>
          </p:cNvSpPr>
          <p:nvPr>
            <p:ph type="ftr" sz="quarter" idx="10"/>
          </p:nvPr>
        </p:nvSpPr>
        <p:spPr>
          <a:noFill/>
        </p:spPr>
        <p:txBody>
          <a:bodyPr/>
          <a:lstStyle/>
          <a:p>
            <a:r>
              <a:rPr lang="en-US" smtClean="0"/>
              <a:t>Copyright ©2012 Pearson Education</a:t>
            </a:r>
          </a:p>
        </p:txBody>
      </p:sp>
      <p:sp>
        <p:nvSpPr>
          <p:cNvPr id="389122" name="Rectangle 5"/>
          <p:cNvSpPr>
            <a:spLocks noGrp="1" noChangeArrowheads="1"/>
          </p:cNvSpPr>
          <p:nvPr>
            <p:ph type="sldNum" sz="quarter" idx="11"/>
          </p:nvPr>
        </p:nvSpPr>
        <p:spPr>
          <a:noFill/>
        </p:spPr>
        <p:txBody>
          <a:bodyPr/>
          <a:lstStyle/>
          <a:p>
            <a:r>
              <a:rPr lang="en-US" smtClean="0"/>
              <a:t>Chap 6-</a:t>
            </a:r>
            <a:fld id="{EC23F90D-52EB-461E-9D7C-9025AC3EA2B8}" type="slidenum">
              <a:rPr lang="en-US" smtClean="0"/>
              <a:pPr/>
              <a:t>45</a:t>
            </a:fld>
            <a:endParaRPr lang="en-US" smtClean="0"/>
          </a:p>
        </p:txBody>
      </p:sp>
      <p:sp>
        <p:nvSpPr>
          <p:cNvPr id="389123"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3A1A764A-90C8-40C6-81B2-D9F4A32DC1F4}" type="slidenum">
              <a:rPr lang="en-US" sz="1000"/>
              <a:pPr algn="r" defTabSz="852488"/>
              <a:t>45</a:t>
            </a:fld>
            <a:endParaRPr lang="en-US" sz="1000"/>
          </a:p>
        </p:txBody>
      </p:sp>
      <p:sp>
        <p:nvSpPr>
          <p:cNvPr id="389124" name="Rectangle 2"/>
          <p:cNvSpPr>
            <a:spLocks noGrp="1" noChangeArrowheads="1"/>
          </p:cNvSpPr>
          <p:nvPr>
            <p:ph type="title"/>
          </p:nvPr>
        </p:nvSpPr>
        <p:spPr/>
        <p:txBody>
          <a:bodyPr/>
          <a:lstStyle/>
          <a:p>
            <a:pPr eaLnBrk="1" hangingPunct="1"/>
            <a:r>
              <a:rPr lang="en-US" sz="3200" smtClean="0"/>
              <a:t>Evaluating Normality</a:t>
            </a:r>
            <a:r>
              <a:rPr lang="en-US" sz="3600" smtClean="0"/>
              <a:t/>
            </a:r>
            <a:br>
              <a:rPr lang="en-US" sz="3600" smtClean="0"/>
            </a:br>
            <a:r>
              <a:rPr lang="en-US" sz="3200" smtClean="0"/>
              <a:t>An Example:  Bond Funds Returns</a:t>
            </a:r>
          </a:p>
        </p:txBody>
      </p:sp>
      <p:sp>
        <p:nvSpPr>
          <p:cNvPr id="389125" name="Rectangle 5"/>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algn="ctr">
              <a:spcBef>
                <a:spcPct val="50000"/>
              </a:spcBef>
            </a:pPr>
            <a:endParaRPr lang="en-GB"/>
          </a:p>
        </p:txBody>
      </p:sp>
      <p:sp>
        <p:nvSpPr>
          <p:cNvPr id="389126" name="Text Box 6"/>
          <p:cNvSpPr txBox="1">
            <a:spLocks noChangeArrowheads="1"/>
          </p:cNvSpPr>
          <p:nvPr/>
        </p:nvSpPr>
        <p:spPr bwMode="auto">
          <a:xfrm>
            <a:off x="7391400" y="1066800"/>
            <a:ext cx="16002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
        <p:nvSpPr>
          <p:cNvPr id="389127" name="Text Box 7"/>
          <p:cNvSpPr txBox="1">
            <a:spLocks noChangeArrowheads="1"/>
          </p:cNvSpPr>
          <p:nvPr/>
        </p:nvSpPr>
        <p:spPr bwMode="auto">
          <a:xfrm>
            <a:off x="5943600" y="3124200"/>
            <a:ext cx="3124200" cy="2678113"/>
          </a:xfrm>
          <a:prstGeom prst="rect">
            <a:avLst/>
          </a:prstGeom>
          <a:solidFill>
            <a:srgbClr val="FDE0BD"/>
          </a:solidFill>
          <a:ln w="9525" algn="ctr">
            <a:noFill/>
            <a:miter lim="800000"/>
            <a:headEnd/>
            <a:tailEnd/>
          </a:ln>
        </p:spPr>
        <p:txBody>
          <a:bodyPr>
            <a:spAutoFit/>
          </a:bodyPr>
          <a:lstStyle/>
          <a:p>
            <a:pPr>
              <a:spcBef>
                <a:spcPct val="50000"/>
              </a:spcBef>
            </a:pPr>
            <a:r>
              <a:rPr lang="en-US"/>
              <a:t>Plot is not a straight line and shows the distribution is skewed to the right. (The normal distribution appears as a straight line.)</a:t>
            </a:r>
          </a:p>
        </p:txBody>
      </p:sp>
      <p:pic>
        <p:nvPicPr>
          <p:cNvPr id="394241" name="Picture 17" descr="Fig6_22E.gif"/>
          <p:cNvPicPr>
            <a:picLocks noChangeAspect="1" noChangeArrowheads="1"/>
          </p:cNvPicPr>
          <p:nvPr/>
        </p:nvPicPr>
        <p:blipFill>
          <a:blip r:embed="rId2" cstate="print">
            <a:duotone>
              <a:prstClr val="black"/>
              <a:schemeClr val="accent6">
                <a:tint val="45000"/>
                <a:satMod val="400000"/>
              </a:schemeClr>
            </a:duotone>
          </a:blip>
          <a:srcRect/>
          <a:stretch>
            <a:fillRect/>
          </a:stretch>
        </p:blipFill>
        <p:spPr bwMode="auto">
          <a:xfrm>
            <a:off x="76200" y="2362200"/>
            <a:ext cx="5750026" cy="4114800"/>
          </a:xfrm>
          <a:prstGeom prst="rect">
            <a:avLst/>
          </a:prstGeom>
          <a:noFill/>
          <a:ln w="9525">
            <a:noFill/>
            <a:miter lim="800000"/>
            <a:headEnd/>
            <a:tailEnd/>
          </a:ln>
        </p:spPr>
      </p:pic>
      <p:sp>
        <p:nvSpPr>
          <p:cNvPr id="389129" name="TextBox 9"/>
          <p:cNvSpPr txBox="1">
            <a:spLocks noChangeArrowheads="1"/>
          </p:cNvSpPr>
          <p:nvPr/>
        </p:nvSpPr>
        <p:spPr bwMode="auto">
          <a:xfrm>
            <a:off x="838200" y="1752600"/>
            <a:ext cx="7373938" cy="461963"/>
          </a:xfrm>
          <a:prstGeom prst="rect">
            <a:avLst/>
          </a:prstGeom>
          <a:noFill/>
          <a:ln w="9525">
            <a:noFill/>
            <a:miter lim="800000"/>
            <a:headEnd/>
            <a:tailEnd/>
          </a:ln>
        </p:spPr>
        <p:txBody>
          <a:bodyPr wrap="none">
            <a:spAutoFit/>
          </a:bodyPr>
          <a:lstStyle/>
          <a:p>
            <a:pPr algn="ctr">
              <a:spcBef>
                <a:spcPct val="50000"/>
              </a:spcBef>
            </a:pPr>
            <a:r>
              <a:rPr lang="en-US"/>
              <a:t>Quantile-Quantile Normal Probability Plot From Excel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5" name="Rectangle 4"/>
          <p:cNvSpPr>
            <a:spLocks noGrp="1" noChangeArrowheads="1"/>
          </p:cNvSpPr>
          <p:nvPr>
            <p:ph type="ftr" sz="quarter" idx="10"/>
          </p:nvPr>
        </p:nvSpPr>
        <p:spPr>
          <a:noFill/>
        </p:spPr>
        <p:txBody>
          <a:bodyPr/>
          <a:lstStyle/>
          <a:p>
            <a:r>
              <a:rPr lang="en-US" smtClean="0"/>
              <a:t>Copyright ©2012 Pearson Education</a:t>
            </a:r>
          </a:p>
        </p:txBody>
      </p:sp>
      <p:sp>
        <p:nvSpPr>
          <p:cNvPr id="390146" name="Rectangle 5"/>
          <p:cNvSpPr>
            <a:spLocks noGrp="1" noChangeArrowheads="1"/>
          </p:cNvSpPr>
          <p:nvPr>
            <p:ph type="sldNum" sz="quarter" idx="11"/>
          </p:nvPr>
        </p:nvSpPr>
        <p:spPr>
          <a:noFill/>
        </p:spPr>
        <p:txBody>
          <a:bodyPr/>
          <a:lstStyle/>
          <a:p>
            <a:r>
              <a:rPr lang="en-US" smtClean="0"/>
              <a:t>Chap 6-</a:t>
            </a:r>
            <a:fld id="{A8B20434-2EB3-4C68-B3B7-E131F2550E83}" type="slidenum">
              <a:rPr lang="en-US" smtClean="0"/>
              <a:pPr/>
              <a:t>46</a:t>
            </a:fld>
            <a:endParaRPr lang="en-US" smtClean="0"/>
          </a:p>
        </p:txBody>
      </p:sp>
      <p:sp>
        <p:nvSpPr>
          <p:cNvPr id="390147"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6EE9E7E0-47C8-4429-A39B-916CE21896C7}" type="slidenum">
              <a:rPr lang="en-US" sz="1000"/>
              <a:pPr algn="r" defTabSz="852488"/>
              <a:t>46</a:t>
            </a:fld>
            <a:endParaRPr lang="en-US" sz="1000"/>
          </a:p>
        </p:txBody>
      </p:sp>
      <p:sp>
        <p:nvSpPr>
          <p:cNvPr id="390148" name="Rectangle 2"/>
          <p:cNvSpPr>
            <a:spLocks noGrp="1" noChangeArrowheads="1"/>
          </p:cNvSpPr>
          <p:nvPr>
            <p:ph type="title"/>
          </p:nvPr>
        </p:nvSpPr>
        <p:spPr/>
        <p:txBody>
          <a:bodyPr/>
          <a:lstStyle/>
          <a:p>
            <a:pPr eaLnBrk="1" hangingPunct="1"/>
            <a:r>
              <a:rPr lang="en-US" sz="3200" smtClean="0"/>
              <a:t>Evaluating Normality</a:t>
            </a:r>
            <a:r>
              <a:rPr lang="en-US" sz="3600" smtClean="0"/>
              <a:t/>
            </a:r>
            <a:br>
              <a:rPr lang="en-US" sz="3600" smtClean="0"/>
            </a:br>
            <a:r>
              <a:rPr lang="en-US" sz="3200" smtClean="0"/>
              <a:t>An Example:  Bond Funds Returns</a:t>
            </a:r>
          </a:p>
        </p:txBody>
      </p:sp>
      <p:sp>
        <p:nvSpPr>
          <p:cNvPr id="390149" name="Rectangle 5"/>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algn="ctr">
              <a:spcBef>
                <a:spcPct val="50000"/>
              </a:spcBef>
            </a:pPr>
            <a:endParaRPr lang="en-GB"/>
          </a:p>
        </p:txBody>
      </p:sp>
      <p:sp>
        <p:nvSpPr>
          <p:cNvPr id="390150" name="Text Box 6"/>
          <p:cNvSpPr txBox="1">
            <a:spLocks noChangeArrowheads="1"/>
          </p:cNvSpPr>
          <p:nvPr/>
        </p:nvSpPr>
        <p:spPr bwMode="auto">
          <a:xfrm>
            <a:off x="7391400" y="1066800"/>
            <a:ext cx="16002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
        <p:nvSpPr>
          <p:cNvPr id="390151" name="Text Box 7"/>
          <p:cNvSpPr txBox="1">
            <a:spLocks noChangeArrowheads="1"/>
          </p:cNvSpPr>
          <p:nvPr/>
        </p:nvSpPr>
        <p:spPr bwMode="auto">
          <a:xfrm>
            <a:off x="5943600" y="3124200"/>
            <a:ext cx="3124200" cy="2678113"/>
          </a:xfrm>
          <a:prstGeom prst="rect">
            <a:avLst/>
          </a:prstGeom>
          <a:solidFill>
            <a:srgbClr val="FDE0BD"/>
          </a:solidFill>
          <a:ln w="9525" algn="ctr">
            <a:noFill/>
            <a:miter lim="800000"/>
            <a:headEnd/>
            <a:tailEnd/>
          </a:ln>
        </p:spPr>
        <p:txBody>
          <a:bodyPr>
            <a:spAutoFit/>
          </a:bodyPr>
          <a:lstStyle/>
          <a:p>
            <a:pPr>
              <a:spcBef>
                <a:spcPct val="50000"/>
              </a:spcBef>
            </a:pPr>
            <a:r>
              <a:rPr lang="en-US"/>
              <a:t>Plot is not a straight line, rises quickly in the beginning, rises slowly at the end and shows the distribution is skewed to the right.</a:t>
            </a:r>
          </a:p>
        </p:txBody>
      </p:sp>
      <p:sp>
        <p:nvSpPr>
          <p:cNvPr id="390152" name="TextBox 9"/>
          <p:cNvSpPr txBox="1">
            <a:spLocks noChangeArrowheads="1"/>
          </p:cNvSpPr>
          <p:nvPr/>
        </p:nvSpPr>
        <p:spPr bwMode="auto">
          <a:xfrm>
            <a:off x="1925638" y="1600200"/>
            <a:ext cx="5200650" cy="461963"/>
          </a:xfrm>
          <a:prstGeom prst="rect">
            <a:avLst/>
          </a:prstGeom>
          <a:noFill/>
          <a:ln w="9525">
            <a:noFill/>
            <a:miter lim="800000"/>
            <a:headEnd/>
            <a:tailEnd/>
          </a:ln>
        </p:spPr>
        <p:txBody>
          <a:bodyPr wrap="none">
            <a:spAutoFit/>
          </a:bodyPr>
          <a:lstStyle/>
          <a:p>
            <a:pPr algn="ctr">
              <a:spcBef>
                <a:spcPct val="50000"/>
              </a:spcBef>
            </a:pPr>
            <a:r>
              <a:rPr lang="en-US"/>
              <a:t>Normal Probability Plot From Minitab</a:t>
            </a:r>
          </a:p>
        </p:txBody>
      </p:sp>
      <p:pic>
        <p:nvPicPr>
          <p:cNvPr id="390153" name="Picture 18" descr="Fig6_22M.gif"/>
          <p:cNvPicPr>
            <a:picLocks noChangeAspect="1" noChangeArrowheads="1"/>
          </p:cNvPicPr>
          <p:nvPr/>
        </p:nvPicPr>
        <p:blipFill>
          <a:blip r:embed="rId2"/>
          <a:srcRect/>
          <a:stretch>
            <a:fillRect/>
          </a:stretch>
        </p:blipFill>
        <p:spPr bwMode="auto">
          <a:xfrm>
            <a:off x="53975" y="2243138"/>
            <a:ext cx="5815013" cy="3852862"/>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69" name="Rectangle 4"/>
          <p:cNvSpPr>
            <a:spLocks noGrp="1" noChangeArrowheads="1"/>
          </p:cNvSpPr>
          <p:nvPr>
            <p:ph type="ftr" sz="quarter" idx="10"/>
          </p:nvPr>
        </p:nvSpPr>
        <p:spPr>
          <a:noFill/>
        </p:spPr>
        <p:txBody>
          <a:bodyPr/>
          <a:lstStyle/>
          <a:p>
            <a:r>
              <a:rPr lang="en-US" smtClean="0"/>
              <a:t>Copyright ©2012 Pearson Education</a:t>
            </a:r>
          </a:p>
        </p:txBody>
      </p:sp>
      <p:sp>
        <p:nvSpPr>
          <p:cNvPr id="391170" name="Rectangle 5"/>
          <p:cNvSpPr>
            <a:spLocks noGrp="1" noChangeArrowheads="1"/>
          </p:cNvSpPr>
          <p:nvPr>
            <p:ph type="sldNum" sz="quarter" idx="11"/>
          </p:nvPr>
        </p:nvSpPr>
        <p:spPr>
          <a:noFill/>
        </p:spPr>
        <p:txBody>
          <a:bodyPr/>
          <a:lstStyle/>
          <a:p>
            <a:r>
              <a:rPr lang="en-US" smtClean="0"/>
              <a:t>Chap 6-</a:t>
            </a:r>
            <a:fld id="{B5DB5D6F-8356-4727-81D0-34D9B7FE596C}" type="slidenum">
              <a:rPr lang="en-US" smtClean="0"/>
              <a:pPr/>
              <a:t>47</a:t>
            </a:fld>
            <a:endParaRPr lang="en-US" smtClean="0"/>
          </a:p>
        </p:txBody>
      </p:sp>
      <p:sp>
        <p:nvSpPr>
          <p:cNvPr id="391171"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DBA19AE6-9820-4FD6-B02A-0CE94F70ABB6}" type="slidenum">
              <a:rPr lang="en-US" sz="1000"/>
              <a:pPr algn="r" defTabSz="852488"/>
              <a:t>47</a:t>
            </a:fld>
            <a:endParaRPr lang="en-US" sz="1000"/>
          </a:p>
        </p:txBody>
      </p:sp>
      <p:sp>
        <p:nvSpPr>
          <p:cNvPr id="391172" name="Rectangle 2"/>
          <p:cNvSpPr>
            <a:spLocks noGrp="1" noChangeArrowheads="1"/>
          </p:cNvSpPr>
          <p:nvPr>
            <p:ph type="title"/>
          </p:nvPr>
        </p:nvSpPr>
        <p:spPr/>
        <p:txBody>
          <a:bodyPr/>
          <a:lstStyle/>
          <a:p>
            <a:pPr eaLnBrk="1" hangingPunct="1"/>
            <a:r>
              <a:rPr lang="en-US" sz="3200" smtClean="0"/>
              <a:t>Evaluating Normality</a:t>
            </a:r>
            <a:r>
              <a:rPr lang="en-US" sz="3600" smtClean="0"/>
              <a:t/>
            </a:r>
            <a:br>
              <a:rPr lang="en-US" sz="3600" smtClean="0"/>
            </a:br>
            <a:r>
              <a:rPr lang="en-US" sz="3200" smtClean="0"/>
              <a:t>An Example:  Mutual Funds Returns</a:t>
            </a:r>
          </a:p>
        </p:txBody>
      </p:sp>
      <p:sp>
        <p:nvSpPr>
          <p:cNvPr id="391173" name="Rectangle 3"/>
          <p:cNvSpPr>
            <a:spLocks noGrp="1" noChangeArrowheads="1"/>
          </p:cNvSpPr>
          <p:nvPr>
            <p:ph type="body" idx="1"/>
          </p:nvPr>
        </p:nvSpPr>
        <p:spPr/>
        <p:txBody>
          <a:bodyPr/>
          <a:lstStyle/>
          <a:p>
            <a:pPr eaLnBrk="1" hangingPunct="1"/>
            <a:r>
              <a:rPr lang="en-US" smtClean="0"/>
              <a:t>Conclusions</a:t>
            </a:r>
          </a:p>
          <a:p>
            <a:pPr lvl="1" eaLnBrk="1" hangingPunct="1"/>
            <a:r>
              <a:rPr lang="en-US" smtClean="0"/>
              <a:t>The returns are right-skewed</a:t>
            </a:r>
          </a:p>
          <a:p>
            <a:pPr lvl="1" eaLnBrk="1" hangingPunct="1"/>
            <a:r>
              <a:rPr lang="en-US" smtClean="0"/>
              <a:t>The returns have more values within 1 standard deviation of the mean than expected</a:t>
            </a:r>
          </a:p>
          <a:p>
            <a:pPr lvl="1" eaLnBrk="1" hangingPunct="1"/>
            <a:r>
              <a:rPr lang="en-US" smtClean="0"/>
              <a:t>The range is larger than expected (mostly due to the outlier at 32)</a:t>
            </a:r>
          </a:p>
          <a:p>
            <a:pPr lvl="1" eaLnBrk="1" hangingPunct="1"/>
            <a:r>
              <a:rPr lang="en-US" smtClean="0"/>
              <a:t>Normal probability plot is not a straight line</a:t>
            </a:r>
          </a:p>
          <a:p>
            <a:pPr lvl="1" eaLnBrk="1" hangingPunct="1"/>
            <a:r>
              <a:rPr lang="en-US" smtClean="0"/>
              <a:t>Overall, this data set greatly differs from the theoretical properties of the normal distribution</a:t>
            </a:r>
          </a:p>
        </p:txBody>
      </p:sp>
      <p:sp>
        <p:nvSpPr>
          <p:cNvPr id="391174" name="Text Box 4"/>
          <p:cNvSpPr txBox="1">
            <a:spLocks noChangeArrowheads="1"/>
          </p:cNvSpPr>
          <p:nvPr/>
        </p:nvSpPr>
        <p:spPr bwMode="auto">
          <a:xfrm>
            <a:off x="7391400" y="1066800"/>
            <a:ext cx="16002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3" name="Rectangle 4"/>
          <p:cNvSpPr>
            <a:spLocks noGrp="1" noChangeArrowheads="1"/>
          </p:cNvSpPr>
          <p:nvPr>
            <p:ph type="ftr" sz="quarter" idx="10"/>
          </p:nvPr>
        </p:nvSpPr>
        <p:spPr>
          <a:noFill/>
        </p:spPr>
        <p:txBody>
          <a:bodyPr/>
          <a:lstStyle/>
          <a:p>
            <a:r>
              <a:rPr lang="en-US" smtClean="0"/>
              <a:t>Copyright ©2012 Pearson Education</a:t>
            </a:r>
          </a:p>
        </p:txBody>
      </p:sp>
      <p:sp>
        <p:nvSpPr>
          <p:cNvPr id="392194" name="Rectangle 5"/>
          <p:cNvSpPr>
            <a:spLocks noGrp="1" noChangeArrowheads="1"/>
          </p:cNvSpPr>
          <p:nvPr>
            <p:ph type="sldNum" sz="quarter" idx="11"/>
          </p:nvPr>
        </p:nvSpPr>
        <p:spPr>
          <a:noFill/>
        </p:spPr>
        <p:txBody>
          <a:bodyPr/>
          <a:lstStyle/>
          <a:p>
            <a:r>
              <a:rPr lang="en-US" smtClean="0"/>
              <a:t>Chap 6-</a:t>
            </a:r>
            <a:fld id="{79B79034-3067-419B-ACD8-F24364DA86BF}" type="slidenum">
              <a:rPr lang="en-US" smtClean="0"/>
              <a:pPr/>
              <a:t>48</a:t>
            </a:fld>
            <a:endParaRPr lang="en-US" smtClean="0"/>
          </a:p>
        </p:txBody>
      </p:sp>
      <p:sp>
        <p:nvSpPr>
          <p:cNvPr id="392195"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66B94CD2-FA23-4E20-9E8B-F1FF57ED13D1}" type="slidenum">
              <a:rPr lang="en-US" sz="1000"/>
              <a:pPr algn="r" defTabSz="852488"/>
              <a:t>48</a:t>
            </a:fld>
            <a:endParaRPr lang="en-US" sz="1000"/>
          </a:p>
        </p:txBody>
      </p:sp>
      <p:sp>
        <p:nvSpPr>
          <p:cNvPr id="392196" name="Rectangle 2"/>
          <p:cNvSpPr>
            <a:spLocks noGrp="1" noChangeArrowheads="1"/>
          </p:cNvSpPr>
          <p:nvPr>
            <p:ph type="title"/>
          </p:nvPr>
        </p:nvSpPr>
        <p:spPr/>
        <p:txBody>
          <a:bodyPr/>
          <a:lstStyle/>
          <a:p>
            <a:pPr eaLnBrk="1" hangingPunct="1"/>
            <a:r>
              <a:rPr lang="en-US" smtClean="0"/>
              <a:t>The Uniform Distribution</a:t>
            </a:r>
          </a:p>
        </p:txBody>
      </p:sp>
      <p:sp>
        <p:nvSpPr>
          <p:cNvPr id="392197" name="Rectangle 3"/>
          <p:cNvSpPr>
            <a:spLocks noGrp="1" noChangeArrowheads="1"/>
          </p:cNvSpPr>
          <p:nvPr>
            <p:ph type="body" idx="1"/>
          </p:nvPr>
        </p:nvSpPr>
        <p:spPr>
          <a:xfrm>
            <a:off x="762000" y="1905000"/>
            <a:ext cx="7924800" cy="3892550"/>
          </a:xfrm>
        </p:spPr>
        <p:txBody>
          <a:bodyPr/>
          <a:lstStyle/>
          <a:p>
            <a:pPr eaLnBrk="1" hangingPunct="1">
              <a:lnSpc>
                <a:spcPct val="115000"/>
              </a:lnSpc>
            </a:pPr>
            <a:r>
              <a:rPr lang="en-US" sz="3200" smtClean="0"/>
              <a:t>The </a:t>
            </a:r>
            <a:r>
              <a:rPr lang="en-US" sz="3200" smtClean="0">
                <a:solidFill>
                  <a:schemeClr val="folHlink"/>
                </a:solidFill>
              </a:rPr>
              <a:t>uniform distribution</a:t>
            </a:r>
            <a:r>
              <a:rPr lang="en-US" sz="3200" smtClean="0"/>
              <a:t> is a probability distribution that has </a:t>
            </a:r>
            <a:r>
              <a:rPr lang="en-US" sz="3200" smtClean="0">
                <a:solidFill>
                  <a:schemeClr val="folHlink"/>
                </a:solidFill>
              </a:rPr>
              <a:t>equal probabilities</a:t>
            </a:r>
            <a:r>
              <a:rPr lang="en-US" sz="3200" smtClean="0"/>
              <a:t> for all possible outcomes of the random variable</a:t>
            </a:r>
          </a:p>
          <a:p>
            <a:pPr eaLnBrk="1" hangingPunct="1">
              <a:lnSpc>
                <a:spcPct val="115000"/>
              </a:lnSpc>
            </a:pPr>
            <a:endParaRPr lang="en-US" sz="3200" smtClean="0"/>
          </a:p>
          <a:p>
            <a:pPr eaLnBrk="1" hangingPunct="1">
              <a:lnSpc>
                <a:spcPct val="115000"/>
              </a:lnSpc>
            </a:pPr>
            <a:r>
              <a:rPr lang="en-US" sz="3200" smtClean="0"/>
              <a:t>Also called a </a:t>
            </a:r>
            <a:r>
              <a:rPr lang="en-US" sz="3200" smtClean="0">
                <a:solidFill>
                  <a:schemeClr val="folHlink"/>
                </a:solidFill>
              </a:rPr>
              <a:t>rectangular distribution</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7" name="Rectangle 4"/>
          <p:cNvSpPr>
            <a:spLocks noGrp="1" noChangeArrowheads="1"/>
          </p:cNvSpPr>
          <p:nvPr>
            <p:ph type="ftr" sz="quarter" idx="10"/>
          </p:nvPr>
        </p:nvSpPr>
        <p:spPr>
          <a:noFill/>
        </p:spPr>
        <p:txBody>
          <a:bodyPr/>
          <a:lstStyle/>
          <a:p>
            <a:r>
              <a:rPr lang="en-US" smtClean="0"/>
              <a:t>Copyright ©2012 Pearson Education</a:t>
            </a:r>
          </a:p>
        </p:txBody>
      </p:sp>
      <p:sp>
        <p:nvSpPr>
          <p:cNvPr id="294918" name="Rectangle 5"/>
          <p:cNvSpPr>
            <a:spLocks noGrp="1" noChangeArrowheads="1"/>
          </p:cNvSpPr>
          <p:nvPr>
            <p:ph type="sldNum" sz="quarter" idx="11"/>
          </p:nvPr>
        </p:nvSpPr>
        <p:spPr>
          <a:noFill/>
        </p:spPr>
        <p:txBody>
          <a:bodyPr/>
          <a:lstStyle/>
          <a:p>
            <a:r>
              <a:rPr lang="en-US" smtClean="0"/>
              <a:t>Chap 6-</a:t>
            </a:r>
            <a:fld id="{14A0D378-CFDB-4002-BCF2-D7EE745A941D}" type="slidenum">
              <a:rPr lang="en-US" smtClean="0"/>
              <a:pPr/>
              <a:t>49</a:t>
            </a:fld>
            <a:endParaRPr lang="en-US" smtClean="0"/>
          </a:p>
        </p:txBody>
      </p:sp>
      <p:sp>
        <p:nvSpPr>
          <p:cNvPr id="294919"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7C6667D3-EF2B-488E-8BE9-7C017F1C0371}" type="slidenum">
              <a:rPr lang="en-US" sz="1000"/>
              <a:pPr algn="r" defTabSz="852488"/>
              <a:t>49</a:t>
            </a:fld>
            <a:endParaRPr lang="en-US" sz="1000"/>
          </a:p>
        </p:txBody>
      </p:sp>
      <p:sp>
        <p:nvSpPr>
          <p:cNvPr id="294920" name="Rectangle 2"/>
          <p:cNvSpPr>
            <a:spLocks noChangeArrowheads="1"/>
          </p:cNvSpPr>
          <p:nvPr/>
        </p:nvSpPr>
        <p:spPr bwMode="auto">
          <a:xfrm>
            <a:off x="1981200" y="2286000"/>
            <a:ext cx="5029200" cy="2209800"/>
          </a:xfrm>
          <a:prstGeom prst="rect">
            <a:avLst/>
          </a:prstGeom>
          <a:solidFill>
            <a:srgbClr val="FDE0BD"/>
          </a:solidFill>
          <a:ln w="9525" algn="ctr">
            <a:solidFill>
              <a:schemeClr val="tx1"/>
            </a:solidFill>
            <a:miter lim="800000"/>
            <a:headEnd/>
            <a:tailEnd/>
          </a:ln>
        </p:spPr>
        <p:txBody>
          <a:bodyPr wrap="none" anchor="ctr"/>
          <a:lstStyle/>
          <a:p>
            <a:pPr algn="ctr">
              <a:spcBef>
                <a:spcPct val="50000"/>
              </a:spcBef>
            </a:pPr>
            <a:endParaRPr lang="en-GB"/>
          </a:p>
        </p:txBody>
      </p:sp>
      <p:sp>
        <p:nvSpPr>
          <p:cNvPr id="294921" name="Rectangle 3"/>
          <p:cNvSpPr>
            <a:spLocks noChangeArrowheads="1"/>
          </p:cNvSpPr>
          <p:nvPr/>
        </p:nvSpPr>
        <p:spPr bwMode="auto">
          <a:xfrm>
            <a:off x="1219200" y="1676400"/>
            <a:ext cx="5186363" cy="457200"/>
          </a:xfrm>
          <a:prstGeom prst="rect">
            <a:avLst/>
          </a:prstGeom>
          <a:noFill/>
          <a:ln w="19050" algn="ctr">
            <a:noFill/>
            <a:miter lim="800000"/>
            <a:headEnd/>
            <a:tailEnd/>
          </a:ln>
        </p:spPr>
        <p:txBody>
          <a:bodyPr wrap="none">
            <a:spAutoFit/>
          </a:bodyPr>
          <a:lstStyle/>
          <a:p>
            <a:pPr algn="ctr"/>
            <a:r>
              <a:rPr lang="en-US"/>
              <a:t>The Continuous Uniform Distribution:</a:t>
            </a:r>
          </a:p>
        </p:txBody>
      </p:sp>
      <p:graphicFrame>
        <p:nvGraphicFramePr>
          <p:cNvPr id="294916" name="Object 4"/>
          <p:cNvGraphicFramePr>
            <a:graphicFrameLocks noChangeAspect="1"/>
          </p:cNvGraphicFramePr>
          <p:nvPr/>
        </p:nvGraphicFramePr>
        <p:xfrm>
          <a:off x="3657600" y="2463800"/>
          <a:ext cx="2514600" cy="1955800"/>
        </p:xfrm>
        <a:graphic>
          <a:graphicData uri="http://schemas.openxmlformats.org/presentationml/2006/ole">
            <p:oleObj spid="_x0000_s294916" name="Equation" r:id="rId3" imgW="1257120" imgH="977760" progId="Equation.3">
              <p:embed/>
            </p:oleObj>
          </a:graphicData>
        </a:graphic>
      </p:graphicFrame>
      <p:sp>
        <p:nvSpPr>
          <p:cNvPr id="294922" name="Rectangle 5"/>
          <p:cNvSpPr>
            <a:spLocks noChangeArrowheads="1"/>
          </p:cNvSpPr>
          <p:nvPr/>
        </p:nvSpPr>
        <p:spPr bwMode="auto">
          <a:xfrm>
            <a:off x="1752600" y="4724400"/>
            <a:ext cx="6324600" cy="1447800"/>
          </a:xfrm>
          <a:prstGeom prst="rect">
            <a:avLst/>
          </a:prstGeom>
          <a:noFill/>
          <a:ln w="9525">
            <a:noFill/>
            <a:miter lim="800000"/>
            <a:headEnd/>
            <a:tailEnd/>
          </a:ln>
        </p:spPr>
        <p:txBody>
          <a:bodyPr lIns="85342" tIns="42672" rIns="85342" bIns="42672"/>
          <a:lstStyle/>
          <a:p>
            <a:pPr marL="320675" indent="-320675" defTabSz="852488">
              <a:spcBef>
                <a:spcPct val="20000"/>
              </a:spcBef>
              <a:buClr>
                <a:schemeClr val="folHlink"/>
              </a:buClr>
              <a:buSzPct val="60000"/>
              <a:buFont typeface="Wingdings" pitchFamily="2" charset="2"/>
              <a:buNone/>
            </a:pPr>
            <a:r>
              <a:rPr lang="en-US" sz="1700"/>
              <a:t>where</a:t>
            </a:r>
          </a:p>
          <a:p>
            <a:pPr marL="320675" indent="-320675" defTabSz="852488">
              <a:spcBef>
                <a:spcPct val="20000"/>
              </a:spcBef>
              <a:buClr>
                <a:schemeClr val="folHlink"/>
              </a:buClr>
              <a:buSzPct val="60000"/>
              <a:buFont typeface="Wingdings" pitchFamily="2" charset="2"/>
              <a:buNone/>
            </a:pPr>
            <a:r>
              <a:rPr lang="en-US" sz="1700"/>
              <a:t>	f(X) = value of the density function at any X value</a:t>
            </a:r>
          </a:p>
          <a:p>
            <a:pPr marL="320675" indent="-320675" defTabSz="852488">
              <a:spcBef>
                <a:spcPct val="20000"/>
              </a:spcBef>
              <a:buClr>
                <a:schemeClr val="folHlink"/>
              </a:buClr>
              <a:buSzPct val="60000"/>
              <a:buFont typeface="Wingdings" pitchFamily="2" charset="2"/>
              <a:buNone/>
            </a:pPr>
            <a:r>
              <a:rPr lang="en-US" sz="1700"/>
              <a:t>	a = minimum value of X</a:t>
            </a:r>
          </a:p>
          <a:p>
            <a:pPr marL="320675" indent="-320675" defTabSz="852488">
              <a:spcBef>
                <a:spcPct val="20000"/>
              </a:spcBef>
              <a:buClr>
                <a:schemeClr val="folHlink"/>
              </a:buClr>
              <a:buSzPct val="60000"/>
              <a:buFont typeface="Wingdings" pitchFamily="2" charset="2"/>
              <a:buNone/>
            </a:pPr>
            <a:r>
              <a:rPr lang="en-US" sz="1700"/>
              <a:t>	b = maximum value of X</a:t>
            </a:r>
          </a:p>
        </p:txBody>
      </p:sp>
      <p:sp>
        <p:nvSpPr>
          <p:cNvPr id="294923" name="Rectangle 6"/>
          <p:cNvSpPr>
            <a:spLocks noGrp="1" noChangeArrowheads="1"/>
          </p:cNvSpPr>
          <p:nvPr>
            <p:ph type="title"/>
          </p:nvPr>
        </p:nvSpPr>
        <p:spPr/>
        <p:txBody>
          <a:bodyPr/>
          <a:lstStyle/>
          <a:p>
            <a:pPr eaLnBrk="1" hangingPunct="1"/>
            <a:r>
              <a:rPr lang="en-US" smtClean="0"/>
              <a:t>The Uniform Distribution</a:t>
            </a:r>
          </a:p>
        </p:txBody>
      </p:sp>
      <p:sp>
        <p:nvSpPr>
          <p:cNvPr id="294924" name="AutoShape 8"/>
          <p:cNvSpPr>
            <a:spLocks/>
          </p:cNvSpPr>
          <p:nvPr/>
        </p:nvSpPr>
        <p:spPr bwMode="auto">
          <a:xfrm>
            <a:off x="3429000" y="2514600"/>
            <a:ext cx="228600" cy="1828800"/>
          </a:xfrm>
          <a:prstGeom prst="leftBrace">
            <a:avLst>
              <a:gd name="adj1" fmla="val 66667"/>
              <a:gd name="adj2" fmla="val 50000"/>
            </a:avLst>
          </a:prstGeom>
          <a:noFill/>
          <a:ln w="19050">
            <a:solidFill>
              <a:schemeClr val="tx1"/>
            </a:solidFill>
            <a:round/>
            <a:headEnd/>
            <a:tailEnd/>
          </a:ln>
        </p:spPr>
        <p:txBody>
          <a:bodyPr wrap="none" anchor="ctr"/>
          <a:lstStyle/>
          <a:p>
            <a:pPr algn="ctr">
              <a:spcBef>
                <a:spcPct val="50000"/>
              </a:spcBef>
            </a:pPr>
            <a:endParaRPr lang="en-GB"/>
          </a:p>
        </p:txBody>
      </p:sp>
      <p:sp>
        <p:nvSpPr>
          <p:cNvPr id="294925" name="Text Box 9"/>
          <p:cNvSpPr txBox="1">
            <a:spLocks noChangeArrowheads="1"/>
          </p:cNvSpPr>
          <p:nvPr/>
        </p:nvSpPr>
        <p:spPr bwMode="auto">
          <a:xfrm>
            <a:off x="2133600" y="3200400"/>
            <a:ext cx="1219200" cy="519113"/>
          </a:xfrm>
          <a:prstGeom prst="rect">
            <a:avLst/>
          </a:prstGeom>
          <a:noFill/>
          <a:ln w="19050" algn="ctr">
            <a:noFill/>
            <a:miter lim="800000"/>
            <a:headEnd/>
            <a:tailEnd/>
          </a:ln>
        </p:spPr>
        <p:txBody>
          <a:bodyPr>
            <a:spAutoFit/>
          </a:bodyPr>
          <a:lstStyle/>
          <a:p>
            <a:pPr algn="ctr">
              <a:spcBef>
                <a:spcPct val="50000"/>
              </a:spcBef>
            </a:pPr>
            <a:r>
              <a:rPr lang="en-US" sz="2800"/>
              <a:t>f(X) =</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42" name="Rectangle 4"/>
          <p:cNvSpPr>
            <a:spLocks noGrp="1" noChangeArrowheads="1"/>
          </p:cNvSpPr>
          <p:nvPr>
            <p:ph type="ftr" sz="quarter" idx="10"/>
          </p:nvPr>
        </p:nvSpPr>
        <p:spPr>
          <a:noFill/>
        </p:spPr>
        <p:txBody>
          <a:bodyPr/>
          <a:lstStyle/>
          <a:p>
            <a:r>
              <a:rPr lang="en-US" smtClean="0"/>
              <a:t>Copyright ©2012 Pearson Education</a:t>
            </a:r>
          </a:p>
        </p:txBody>
      </p:sp>
      <p:sp>
        <p:nvSpPr>
          <p:cNvPr id="295943" name="Rectangle 5"/>
          <p:cNvSpPr>
            <a:spLocks noGrp="1" noChangeArrowheads="1"/>
          </p:cNvSpPr>
          <p:nvPr>
            <p:ph type="sldNum" sz="quarter" idx="11"/>
          </p:nvPr>
        </p:nvSpPr>
        <p:spPr>
          <a:noFill/>
        </p:spPr>
        <p:txBody>
          <a:bodyPr/>
          <a:lstStyle/>
          <a:p>
            <a:r>
              <a:rPr lang="en-US" smtClean="0"/>
              <a:t>Chap 6-</a:t>
            </a:r>
            <a:fld id="{4D4A4960-C67A-4235-8F35-4CE91990002E}" type="slidenum">
              <a:rPr lang="en-US" smtClean="0"/>
              <a:pPr/>
              <a:t>50</a:t>
            </a:fld>
            <a:endParaRPr lang="en-US" smtClean="0"/>
          </a:p>
        </p:txBody>
      </p:sp>
      <p:sp>
        <p:nvSpPr>
          <p:cNvPr id="295944"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FF79E0AD-5D66-49C4-B248-2639E6706A42}" type="slidenum">
              <a:rPr lang="en-US" sz="1000"/>
              <a:pPr algn="r" defTabSz="852488"/>
              <a:t>50</a:t>
            </a:fld>
            <a:endParaRPr lang="en-US" sz="1000"/>
          </a:p>
        </p:txBody>
      </p:sp>
      <p:sp>
        <p:nvSpPr>
          <p:cNvPr id="295945" name="Rectangle 2"/>
          <p:cNvSpPr>
            <a:spLocks noGrp="1" noChangeArrowheads="1"/>
          </p:cNvSpPr>
          <p:nvPr>
            <p:ph type="title"/>
          </p:nvPr>
        </p:nvSpPr>
        <p:spPr>
          <a:xfrm>
            <a:off x="1773238" y="436563"/>
            <a:ext cx="6624637" cy="858837"/>
          </a:xfrm>
        </p:spPr>
        <p:txBody>
          <a:bodyPr/>
          <a:lstStyle/>
          <a:p>
            <a:pPr eaLnBrk="1" hangingPunct="1">
              <a:lnSpc>
                <a:spcPct val="80000"/>
              </a:lnSpc>
            </a:pPr>
            <a:r>
              <a:rPr lang="en-US" smtClean="0"/>
              <a:t>Properties of the </a:t>
            </a:r>
            <a:br>
              <a:rPr lang="en-US" smtClean="0"/>
            </a:br>
            <a:r>
              <a:rPr lang="en-US" smtClean="0"/>
              <a:t>Uniform Distribution</a:t>
            </a:r>
          </a:p>
        </p:txBody>
      </p:sp>
      <p:sp>
        <p:nvSpPr>
          <p:cNvPr id="295946" name="Rectangle 3"/>
          <p:cNvSpPr>
            <a:spLocks noGrp="1" noChangeArrowheads="1"/>
          </p:cNvSpPr>
          <p:nvPr>
            <p:ph type="body" idx="1"/>
          </p:nvPr>
        </p:nvSpPr>
        <p:spPr/>
        <p:txBody>
          <a:bodyPr/>
          <a:lstStyle/>
          <a:p>
            <a:pPr eaLnBrk="1" hangingPunct="1"/>
            <a:r>
              <a:rPr lang="en-US" smtClean="0"/>
              <a:t>The mean of a uniform distribution is</a:t>
            </a:r>
          </a:p>
          <a:p>
            <a:pPr eaLnBrk="1" hangingPunct="1"/>
            <a:endParaRPr lang="en-US" smtClean="0"/>
          </a:p>
          <a:p>
            <a:pPr eaLnBrk="1" hangingPunct="1"/>
            <a:endParaRPr lang="en-US" smtClean="0"/>
          </a:p>
          <a:p>
            <a:pPr eaLnBrk="1" hangingPunct="1"/>
            <a:endParaRPr lang="en-US" smtClean="0"/>
          </a:p>
          <a:p>
            <a:pPr eaLnBrk="1" hangingPunct="1"/>
            <a:r>
              <a:rPr lang="en-US" smtClean="0"/>
              <a:t>The standard deviation is</a:t>
            </a:r>
          </a:p>
        </p:txBody>
      </p:sp>
      <p:graphicFrame>
        <p:nvGraphicFramePr>
          <p:cNvPr id="295940" name="Object 4"/>
          <p:cNvGraphicFramePr>
            <a:graphicFrameLocks noChangeAspect="1"/>
          </p:cNvGraphicFramePr>
          <p:nvPr/>
        </p:nvGraphicFramePr>
        <p:xfrm>
          <a:off x="3811588" y="2590800"/>
          <a:ext cx="1433512" cy="849313"/>
        </p:xfrm>
        <a:graphic>
          <a:graphicData uri="http://schemas.openxmlformats.org/presentationml/2006/ole">
            <p:oleObj spid="_x0000_s295940" name="Equation" r:id="rId3" imgW="609480" imgH="393480" progId="Equation.3">
              <p:embed/>
            </p:oleObj>
          </a:graphicData>
        </a:graphic>
      </p:graphicFrame>
      <p:graphicFrame>
        <p:nvGraphicFramePr>
          <p:cNvPr id="295941" name="Object 5"/>
          <p:cNvGraphicFramePr>
            <a:graphicFrameLocks noChangeAspect="1"/>
          </p:cNvGraphicFramePr>
          <p:nvPr/>
        </p:nvGraphicFramePr>
        <p:xfrm>
          <a:off x="3502025" y="4808538"/>
          <a:ext cx="2060575" cy="987425"/>
        </p:xfrm>
        <a:graphic>
          <a:graphicData uri="http://schemas.openxmlformats.org/presentationml/2006/ole">
            <p:oleObj spid="_x0000_s295941" name="Equation" r:id="rId4" imgW="876240" imgH="457200" progId="Equation.3">
              <p:embed/>
            </p:oleObj>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1" name="Rectangle 4"/>
          <p:cNvSpPr>
            <a:spLocks noGrp="1" noChangeArrowheads="1"/>
          </p:cNvSpPr>
          <p:nvPr>
            <p:ph type="ftr" sz="quarter" idx="10"/>
          </p:nvPr>
        </p:nvSpPr>
        <p:spPr>
          <a:noFill/>
        </p:spPr>
        <p:txBody>
          <a:bodyPr/>
          <a:lstStyle/>
          <a:p>
            <a:r>
              <a:rPr lang="en-US" smtClean="0"/>
              <a:t>Copyright ©2012 Pearson Education</a:t>
            </a:r>
          </a:p>
        </p:txBody>
      </p:sp>
      <p:sp>
        <p:nvSpPr>
          <p:cNvPr id="296982" name="Rectangle 5"/>
          <p:cNvSpPr>
            <a:spLocks noGrp="1" noChangeArrowheads="1"/>
          </p:cNvSpPr>
          <p:nvPr>
            <p:ph type="sldNum" sz="quarter" idx="11"/>
          </p:nvPr>
        </p:nvSpPr>
        <p:spPr>
          <a:noFill/>
        </p:spPr>
        <p:txBody>
          <a:bodyPr/>
          <a:lstStyle/>
          <a:p>
            <a:r>
              <a:rPr lang="en-US" smtClean="0"/>
              <a:t>Chap 6-</a:t>
            </a:r>
            <a:fld id="{FEAD5BF6-786D-40A8-86DD-95F6C5F219CF}" type="slidenum">
              <a:rPr lang="en-US" smtClean="0"/>
              <a:pPr/>
              <a:t>51</a:t>
            </a:fld>
            <a:endParaRPr lang="en-US" smtClean="0"/>
          </a:p>
        </p:txBody>
      </p:sp>
      <p:sp>
        <p:nvSpPr>
          <p:cNvPr id="296983" name="Slide Number Placeholder 3"/>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0EDDDF8F-A994-4623-9599-C96C003D852E}" type="slidenum">
              <a:rPr lang="en-US" sz="1000"/>
              <a:pPr algn="r" defTabSz="852488"/>
              <a:t>51</a:t>
            </a:fld>
            <a:endParaRPr lang="en-US" sz="1000"/>
          </a:p>
        </p:txBody>
      </p:sp>
      <p:sp>
        <p:nvSpPr>
          <p:cNvPr id="296984" name="Rectangle 2"/>
          <p:cNvSpPr>
            <a:spLocks noChangeArrowheads="1"/>
          </p:cNvSpPr>
          <p:nvPr/>
        </p:nvSpPr>
        <p:spPr bwMode="auto">
          <a:xfrm>
            <a:off x="228600" y="3962400"/>
            <a:ext cx="4876800" cy="2209800"/>
          </a:xfrm>
          <a:prstGeom prst="rect">
            <a:avLst/>
          </a:prstGeom>
          <a:solidFill>
            <a:srgbClr val="DDDDDD"/>
          </a:solidFill>
          <a:ln w="9525">
            <a:solidFill>
              <a:schemeClr val="tx1"/>
            </a:solidFill>
            <a:miter lim="800000"/>
            <a:headEnd/>
            <a:tailEnd/>
          </a:ln>
        </p:spPr>
        <p:txBody>
          <a:bodyPr wrap="none" anchor="ctr"/>
          <a:lstStyle/>
          <a:p>
            <a:pPr algn="ctr">
              <a:spcBef>
                <a:spcPct val="50000"/>
              </a:spcBef>
            </a:pPr>
            <a:endParaRPr lang="en-GB"/>
          </a:p>
        </p:txBody>
      </p:sp>
      <p:sp>
        <p:nvSpPr>
          <p:cNvPr id="296985" name="Rectangle 3"/>
          <p:cNvSpPr>
            <a:spLocks noChangeArrowheads="1"/>
          </p:cNvSpPr>
          <p:nvPr/>
        </p:nvSpPr>
        <p:spPr bwMode="auto">
          <a:xfrm>
            <a:off x="1905000" y="2819400"/>
            <a:ext cx="5638800" cy="914400"/>
          </a:xfrm>
          <a:prstGeom prst="rect">
            <a:avLst/>
          </a:prstGeom>
          <a:solidFill>
            <a:srgbClr val="FDE0BD"/>
          </a:solidFill>
          <a:ln w="9525" algn="ctr">
            <a:solidFill>
              <a:schemeClr val="tx1"/>
            </a:solidFill>
            <a:miter lim="800000"/>
            <a:headEnd/>
            <a:tailEnd/>
          </a:ln>
        </p:spPr>
        <p:txBody>
          <a:bodyPr wrap="none" anchor="ctr"/>
          <a:lstStyle/>
          <a:p>
            <a:pPr algn="ctr">
              <a:spcBef>
                <a:spcPct val="50000"/>
              </a:spcBef>
            </a:pPr>
            <a:endParaRPr lang="en-GB"/>
          </a:p>
        </p:txBody>
      </p:sp>
      <p:sp>
        <p:nvSpPr>
          <p:cNvPr id="296986" name="Rectangle 4"/>
          <p:cNvSpPr>
            <a:spLocks noGrp="1" noChangeArrowheads="1"/>
          </p:cNvSpPr>
          <p:nvPr>
            <p:ph type="title"/>
          </p:nvPr>
        </p:nvSpPr>
        <p:spPr>
          <a:xfrm>
            <a:off x="1423988" y="387350"/>
            <a:ext cx="6973887" cy="660400"/>
          </a:xfrm>
        </p:spPr>
        <p:txBody>
          <a:bodyPr/>
          <a:lstStyle/>
          <a:p>
            <a:pPr defTabSz="914400" eaLnBrk="1" hangingPunct="1"/>
            <a:r>
              <a:rPr lang="en-US" smtClean="0"/>
              <a:t>Uniform Distribution Example</a:t>
            </a:r>
          </a:p>
        </p:txBody>
      </p:sp>
      <p:sp>
        <p:nvSpPr>
          <p:cNvPr id="296987" name="Text Box 5"/>
          <p:cNvSpPr txBox="1">
            <a:spLocks noChangeArrowheads="1"/>
          </p:cNvSpPr>
          <p:nvPr/>
        </p:nvSpPr>
        <p:spPr bwMode="auto">
          <a:xfrm>
            <a:off x="1295400" y="1676400"/>
            <a:ext cx="6934200" cy="904875"/>
          </a:xfrm>
          <a:prstGeom prst="rect">
            <a:avLst/>
          </a:prstGeom>
          <a:noFill/>
          <a:ln w="12700">
            <a:noFill/>
            <a:miter lim="800000"/>
            <a:headEnd/>
            <a:tailEnd/>
          </a:ln>
        </p:spPr>
        <p:txBody>
          <a:bodyPr>
            <a:spAutoFit/>
          </a:bodyPr>
          <a:lstStyle/>
          <a:p>
            <a:pPr eaLnBrk="0" hangingPunct="0">
              <a:spcBef>
                <a:spcPct val="50000"/>
              </a:spcBef>
            </a:pPr>
            <a:r>
              <a:rPr lang="en-US" sz="2800">
                <a:solidFill>
                  <a:schemeClr val="folHlink"/>
                </a:solidFill>
              </a:rPr>
              <a:t>Example:</a:t>
            </a:r>
            <a:r>
              <a:rPr lang="en-US" sz="2800"/>
              <a:t> Uniform probability distribution</a:t>
            </a:r>
          </a:p>
          <a:p>
            <a:pPr eaLnBrk="0" hangingPunct="0">
              <a:lnSpc>
                <a:spcPct val="40000"/>
              </a:lnSpc>
              <a:spcBef>
                <a:spcPct val="50000"/>
              </a:spcBef>
            </a:pPr>
            <a:r>
              <a:rPr lang="en-US" sz="2800"/>
              <a:t>	       over the range   2 ≤ X ≤ 6:</a:t>
            </a:r>
            <a:endParaRPr lang="en-US"/>
          </a:p>
        </p:txBody>
      </p:sp>
      <p:sp>
        <p:nvSpPr>
          <p:cNvPr id="296988" name="Line 6"/>
          <p:cNvSpPr>
            <a:spLocks noChangeShapeType="1"/>
          </p:cNvSpPr>
          <p:nvPr/>
        </p:nvSpPr>
        <p:spPr bwMode="auto">
          <a:xfrm flipH="1">
            <a:off x="990600" y="4419600"/>
            <a:ext cx="0" cy="1219200"/>
          </a:xfrm>
          <a:prstGeom prst="line">
            <a:avLst/>
          </a:prstGeom>
          <a:noFill/>
          <a:ln w="19050">
            <a:solidFill>
              <a:schemeClr val="tx1"/>
            </a:solidFill>
            <a:round/>
            <a:headEnd/>
            <a:tailEnd/>
          </a:ln>
        </p:spPr>
        <p:txBody>
          <a:bodyPr wrap="none" anchor="ctr"/>
          <a:lstStyle/>
          <a:p>
            <a:endParaRPr lang="en-US"/>
          </a:p>
        </p:txBody>
      </p:sp>
      <p:sp>
        <p:nvSpPr>
          <p:cNvPr id="296989" name="Line 7"/>
          <p:cNvSpPr>
            <a:spLocks noChangeShapeType="1"/>
          </p:cNvSpPr>
          <p:nvPr/>
        </p:nvSpPr>
        <p:spPr bwMode="auto">
          <a:xfrm>
            <a:off x="990600" y="5638800"/>
            <a:ext cx="3810000" cy="0"/>
          </a:xfrm>
          <a:prstGeom prst="line">
            <a:avLst/>
          </a:prstGeom>
          <a:noFill/>
          <a:ln w="19050">
            <a:solidFill>
              <a:schemeClr val="tx1"/>
            </a:solidFill>
            <a:round/>
            <a:headEnd/>
            <a:tailEnd/>
          </a:ln>
        </p:spPr>
        <p:txBody>
          <a:bodyPr wrap="none" anchor="ctr"/>
          <a:lstStyle/>
          <a:p>
            <a:endParaRPr lang="en-US"/>
          </a:p>
        </p:txBody>
      </p:sp>
      <p:sp>
        <p:nvSpPr>
          <p:cNvPr id="296990" name="Rectangle 8"/>
          <p:cNvSpPr>
            <a:spLocks noChangeArrowheads="1"/>
          </p:cNvSpPr>
          <p:nvPr/>
        </p:nvSpPr>
        <p:spPr bwMode="auto">
          <a:xfrm>
            <a:off x="1828800" y="4876800"/>
            <a:ext cx="2438400" cy="762000"/>
          </a:xfrm>
          <a:prstGeom prst="rect">
            <a:avLst/>
          </a:prstGeom>
          <a:solidFill>
            <a:schemeClr val="accent1"/>
          </a:solidFill>
          <a:ln w="19050" algn="ctr">
            <a:solidFill>
              <a:schemeClr val="tx1"/>
            </a:solidFill>
            <a:miter lim="800000"/>
            <a:headEnd/>
            <a:tailEnd/>
          </a:ln>
        </p:spPr>
        <p:txBody>
          <a:bodyPr wrap="none" anchor="ctr"/>
          <a:lstStyle/>
          <a:p>
            <a:pPr algn="ctr">
              <a:spcBef>
                <a:spcPct val="50000"/>
              </a:spcBef>
            </a:pPr>
            <a:endParaRPr lang="en-GB"/>
          </a:p>
        </p:txBody>
      </p:sp>
      <p:sp>
        <p:nvSpPr>
          <p:cNvPr id="296991" name="Text Box 9"/>
          <p:cNvSpPr txBox="1">
            <a:spLocks noChangeArrowheads="1"/>
          </p:cNvSpPr>
          <p:nvPr/>
        </p:nvSpPr>
        <p:spPr bwMode="auto">
          <a:xfrm>
            <a:off x="1676400" y="5638800"/>
            <a:ext cx="381000" cy="457200"/>
          </a:xfrm>
          <a:prstGeom prst="rect">
            <a:avLst/>
          </a:prstGeom>
          <a:noFill/>
          <a:ln w="19050" algn="ctr">
            <a:noFill/>
            <a:miter lim="800000"/>
            <a:headEnd/>
            <a:tailEnd/>
          </a:ln>
        </p:spPr>
        <p:txBody>
          <a:bodyPr>
            <a:spAutoFit/>
          </a:bodyPr>
          <a:lstStyle/>
          <a:p>
            <a:pPr algn="ctr">
              <a:spcBef>
                <a:spcPct val="50000"/>
              </a:spcBef>
            </a:pPr>
            <a:r>
              <a:rPr lang="en-US"/>
              <a:t>2</a:t>
            </a:r>
          </a:p>
        </p:txBody>
      </p:sp>
      <p:sp>
        <p:nvSpPr>
          <p:cNvPr id="296992" name="Text Box 10"/>
          <p:cNvSpPr txBox="1">
            <a:spLocks noChangeArrowheads="1"/>
          </p:cNvSpPr>
          <p:nvPr/>
        </p:nvSpPr>
        <p:spPr bwMode="auto">
          <a:xfrm>
            <a:off x="4038600" y="5638800"/>
            <a:ext cx="381000" cy="457200"/>
          </a:xfrm>
          <a:prstGeom prst="rect">
            <a:avLst/>
          </a:prstGeom>
          <a:noFill/>
          <a:ln w="19050" algn="ctr">
            <a:noFill/>
            <a:miter lim="800000"/>
            <a:headEnd/>
            <a:tailEnd/>
          </a:ln>
        </p:spPr>
        <p:txBody>
          <a:bodyPr>
            <a:spAutoFit/>
          </a:bodyPr>
          <a:lstStyle/>
          <a:p>
            <a:pPr algn="ctr">
              <a:spcBef>
                <a:spcPct val="50000"/>
              </a:spcBef>
            </a:pPr>
            <a:r>
              <a:rPr lang="en-US"/>
              <a:t>6</a:t>
            </a:r>
          </a:p>
        </p:txBody>
      </p:sp>
      <p:sp>
        <p:nvSpPr>
          <p:cNvPr id="296993" name="Text Box 11"/>
          <p:cNvSpPr txBox="1">
            <a:spLocks noChangeArrowheads="1"/>
          </p:cNvSpPr>
          <p:nvPr/>
        </p:nvSpPr>
        <p:spPr bwMode="auto">
          <a:xfrm>
            <a:off x="152400" y="4572000"/>
            <a:ext cx="838200" cy="457200"/>
          </a:xfrm>
          <a:prstGeom prst="rect">
            <a:avLst/>
          </a:prstGeom>
          <a:noFill/>
          <a:ln w="19050" algn="ctr">
            <a:noFill/>
            <a:miter lim="800000"/>
            <a:headEnd/>
            <a:tailEnd/>
          </a:ln>
        </p:spPr>
        <p:txBody>
          <a:bodyPr>
            <a:spAutoFit/>
          </a:bodyPr>
          <a:lstStyle/>
          <a:p>
            <a:pPr algn="ctr">
              <a:spcBef>
                <a:spcPct val="50000"/>
              </a:spcBef>
            </a:pPr>
            <a:r>
              <a:rPr lang="en-US"/>
              <a:t>0.25</a:t>
            </a:r>
          </a:p>
        </p:txBody>
      </p:sp>
      <p:sp>
        <p:nvSpPr>
          <p:cNvPr id="296994" name="Line 12"/>
          <p:cNvSpPr>
            <a:spLocks noChangeShapeType="1"/>
          </p:cNvSpPr>
          <p:nvPr/>
        </p:nvSpPr>
        <p:spPr bwMode="auto">
          <a:xfrm>
            <a:off x="914400" y="4876800"/>
            <a:ext cx="152400" cy="0"/>
          </a:xfrm>
          <a:prstGeom prst="line">
            <a:avLst/>
          </a:prstGeom>
          <a:noFill/>
          <a:ln w="19050">
            <a:solidFill>
              <a:schemeClr val="tx1"/>
            </a:solidFill>
            <a:round/>
            <a:headEnd/>
            <a:tailEnd/>
          </a:ln>
        </p:spPr>
        <p:txBody>
          <a:bodyPr wrap="none" anchor="ctr"/>
          <a:lstStyle/>
          <a:p>
            <a:endParaRPr lang="en-US"/>
          </a:p>
        </p:txBody>
      </p:sp>
      <p:sp>
        <p:nvSpPr>
          <p:cNvPr id="296995" name="Text Box 13"/>
          <p:cNvSpPr txBox="1">
            <a:spLocks noChangeArrowheads="1"/>
          </p:cNvSpPr>
          <p:nvPr/>
        </p:nvSpPr>
        <p:spPr bwMode="auto">
          <a:xfrm>
            <a:off x="2057400" y="3048000"/>
            <a:ext cx="6483350" cy="519113"/>
          </a:xfrm>
          <a:prstGeom prst="rect">
            <a:avLst/>
          </a:prstGeom>
          <a:noFill/>
          <a:ln w="19050" algn="ctr">
            <a:noFill/>
            <a:miter lim="800000"/>
            <a:headEnd/>
            <a:tailEnd/>
          </a:ln>
        </p:spPr>
        <p:txBody>
          <a:bodyPr>
            <a:spAutoFit/>
          </a:bodyPr>
          <a:lstStyle/>
          <a:p>
            <a:pPr>
              <a:spcBef>
                <a:spcPct val="50000"/>
              </a:spcBef>
            </a:pPr>
            <a:r>
              <a:rPr lang="en-US" sz="2800"/>
              <a:t>f(X) =           = 0.25   for  2 </a:t>
            </a:r>
            <a:r>
              <a:rPr lang="en-US" sz="2800">
                <a:cs typeface="Arial" charset="0"/>
              </a:rPr>
              <a:t>≤ X ≤ 6</a:t>
            </a:r>
          </a:p>
        </p:txBody>
      </p:sp>
      <p:sp>
        <p:nvSpPr>
          <p:cNvPr id="296996" name="Text Box 14"/>
          <p:cNvSpPr txBox="1">
            <a:spLocks noChangeArrowheads="1"/>
          </p:cNvSpPr>
          <p:nvPr/>
        </p:nvSpPr>
        <p:spPr bwMode="auto">
          <a:xfrm>
            <a:off x="3048000" y="3200400"/>
            <a:ext cx="990600" cy="519113"/>
          </a:xfrm>
          <a:prstGeom prst="rect">
            <a:avLst/>
          </a:prstGeom>
          <a:noFill/>
          <a:ln w="19050" algn="ctr">
            <a:noFill/>
            <a:miter lim="800000"/>
            <a:headEnd/>
            <a:tailEnd/>
          </a:ln>
        </p:spPr>
        <p:txBody>
          <a:bodyPr>
            <a:spAutoFit/>
          </a:bodyPr>
          <a:lstStyle/>
          <a:p>
            <a:pPr>
              <a:spcBef>
                <a:spcPct val="50000"/>
              </a:spcBef>
            </a:pPr>
            <a:r>
              <a:rPr lang="en-US" sz="2800"/>
              <a:t>6 - 2</a:t>
            </a:r>
          </a:p>
        </p:txBody>
      </p:sp>
      <p:sp>
        <p:nvSpPr>
          <p:cNvPr id="296997" name="Text Box 15"/>
          <p:cNvSpPr txBox="1">
            <a:spLocks noChangeArrowheads="1"/>
          </p:cNvSpPr>
          <p:nvPr/>
        </p:nvSpPr>
        <p:spPr bwMode="auto">
          <a:xfrm>
            <a:off x="3276600" y="2819400"/>
            <a:ext cx="450850" cy="519113"/>
          </a:xfrm>
          <a:prstGeom prst="rect">
            <a:avLst/>
          </a:prstGeom>
          <a:noFill/>
          <a:ln w="19050" algn="ctr">
            <a:noFill/>
            <a:miter lim="800000"/>
            <a:headEnd/>
            <a:tailEnd/>
          </a:ln>
        </p:spPr>
        <p:txBody>
          <a:bodyPr>
            <a:spAutoFit/>
          </a:bodyPr>
          <a:lstStyle/>
          <a:p>
            <a:pPr algn="ctr">
              <a:spcBef>
                <a:spcPct val="50000"/>
              </a:spcBef>
            </a:pPr>
            <a:r>
              <a:rPr lang="en-US" sz="2800"/>
              <a:t>1</a:t>
            </a:r>
          </a:p>
        </p:txBody>
      </p:sp>
      <p:sp>
        <p:nvSpPr>
          <p:cNvPr id="296998" name="Line 16"/>
          <p:cNvSpPr>
            <a:spLocks noChangeShapeType="1"/>
          </p:cNvSpPr>
          <p:nvPr/>
        </p:nvSpPr>
        <p:spPr bwMode="auto">
          <a:xfrm>
            <a:off x="3124200" y="3276600"/>
            <a:ext cx="720725" cy="1588"/>
          </a:xfrm>
          <a:prstGeom prst="line">
            <a:avLst/>
          </a:prstGeom>
          <a:noFill/>
          <a:ln w="19050">
            <a:solidFill>
              <a:schemeClr val="tx1"/>
            </a:solidFill>
            <a:round/>
            <a:headEnd/>
            <a:tailEnd/>
          </a:ln>
        </p:spPr>
        <p:txBody>
          <a:bodyPr wrap="none" anchor="ctr"/>
          <a:lstStyle/>
          <a:p>
            <a:endParaRPr lang="en-US"/>
          </a:p>
        </p:txBody>
      </p:sp>
      <p:sp>
        <p:nvSpPr>
          <p:cNvPr id="296999" name="Text Box 17"/>
          <p:cNvSpPr txBox="1">
            <a:spLocks noChangeArrowheads="1"/>
          </p:cNvSpPr>
          <p:nvPr/>
        </p:nvSpPr>
        <p:spPr bwMode="auto">
          <a:xfrm>
            <a:off x="4572000" y="5562600"/>
            <a:ext cx="381000" cy="457200"/>
          </a:xfrm>
          <a:prstGeom prst="rect">
            <a:avLst/>
          </a:prstGeom>
          <a:noFill/>
          <a:ln w="19050" algn="ctr">
            <a:noFill/>
            <a:miter lim="800000"/>
            <a:headEnd/>
            <a:tailEnd/>
          </a:ln>
        </p:spPr>
        <p:txBody>
          <a:bodyPr>
            <a:spAutoFit/>
          </a:bodyPr>
          <a:lstStyle/>
          <a:p>
            <a:pPr algn="ctr">
              <a:spcBef>
                <a:spcPct val="50000"/>
              </a:spcBef>
            </a:pPr>
            <a:r>
              <a:rPr lang="en-US"/>
              <a:t>X</a:t>
            </a:r>
          </a:p>
        </p:txBody>
      </p:sp>
      <p:sp>
        <p:nvSpPr>
          <p:cNvPr id="297000" name="Text Box 18"/>
          <p:cNvSpPr txBox="1">
            <a:spLocks noChangeArrowheads="1"/>
          </p:cNvSpPr>
          <p:nvPr/>
        </p:nvSpPr>
        <p:spPr bwMode="auto">
          <a:xfrm>
            <a:off x="381000" y="3962400"/>
            <a:ext cx="762000" cy="457200"/>
          </a:xfrm>
          <a:prstGeom prst="rect">
            <a:avLst/>
          </a:prstGeom>
          <a:noFill/>
          <a:ln w="19050" algn="ctr">
            <a:noFill/>
            <a:miter lim="800000"/>
            <a:headEnd/>
            <a:tailEnd/>
          </a:ln>
        </p:spPr>
        <p:txBody>
          <a:bodyPr>
            <a:spAutoFit/>
          </a:bodyPr>
          <a:lstStyle/>
          <a:p>
            <a:pPr algn="ctr">
              <a:spcBef>
                <a:spcPct val="50000"/>
              </a:spcBef>
            </a:pPr>
            <a:r>
              <a:rPr lang="en-US"/>
              <a:t>f(X)</a:t>
            </a:r>
          </a:p>
        </p:txBody>
      </p:sp>
      <p:graphicFrame>
        <p:nvGraphicFramePr>
          <p:cNvPr id="296979" name="Object 19"/>
          <p:cNvGraphicFramePr>
            <a:graphicFrameLocks noChangeAspect="1"/>
          </p:cNvGraphicFramePr>
          <p:nvPr/>
        </p:nvGraphicFramePr>
        <p:xfrm>
          <a:off x="5638800" y="4445000"/>
          <a:ext cx="2039938" cy="542925"/>
        </p:xfrm>
        <a:graphic>
          <a:graphicData uri="http://schemas.openxmlformats.org/presentationml/2006/ole">
            <p:oleObj spid="_x0000_s296979" name="Equation" r:id="rId3" imgW="1358640" imgH="393480" progId="Equation.3">
              <p:embed/>
            </p:oleObj>
          </a:graphicData>
        </a:graphic>
      </p:graphicFrame>
      <p:graphicFrame>
        <p:nvGraphicFramePr>
          <p:cNvPr id="296980" name="Object 20"/>
          <p:cNvGraphicFramePr>
            <a:graphicFrameLocks noChangeAspect="1"/>
          </p:cNvGraphicFramePr>
          <p:nvPr/>
        </p:nvGraphicFramePr>
        <p:xfrm>
          <a:off x="5638800" y="5257800"/>
          <a:ext cx="3354388" cy="630238"/>
        </p:xfrm>
        <a:graphic>
          <a:graphicData uri="http://schemas.openxmlformats.org/presentationml/2006/ole">
            <p:oleObj spid="_x0000_s296980" name="Equation" r:id="rId4" imgW="2234880" imgH="457200" progId="Equation.3">
              <p:embed/>
            </p:oleObj>
          </a:graphicData>
        </a:graphic>
      </p:graphicFrame>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89" name="Rectangle 4"/>
          <p:cNvSpPr>
            <a:spLocks noGrp="1" noChangeArrowheads="1"/>
          </p:cNvSpPr>
          <p:nvPr>
            <p:ph type="ftr" sz="quarter" idx="10"/>
          </p:nvPr>
        </p:nvSpPr>
        <p:spPr>
          <a:noFill/>
        </p:spPr>
        <p:txBody>
          <a:bodyPr/>
          <a:lstStyle/>
          <a:p>
            <a:r>
              <a:rPr lang="en-US" smtClean="0"/>
              <a:t>Copyright ©2012 Pearson Education</a:t>
            </a:r>
          </a:p>
        </p:txBody>
      </p:sp>
      <p:sp>
        <p:nvSpPr>
          <p:cNvPr id="396290" name="Rectangle 5"/>
          <p:cNvSpPr>
            <a:spLocks noGrp="1" noChangeArrowheads="1"/>
          </p:cNvSpPr>
          <p:nvPr>
            <p:ph type="sldNum" sz="quarter" idx="11"/>
          </p:nvPr>
        </p:nvSpPr>
        <p:spPr>
          <a:noFill/>
        </p:spPr>
        <p:txBody>
          <a:bodyPr/>
          <a:lstStyle/>
          <a:p>
            <a:r>
              <a:rPr lang="en-US" smtClean="0"/>
              <a:t>Chap 6-</a:t>
            </a:r>
            <a:fld id="{6217C9B3-FB37-4C30-8BB6-B495D4EA05C9}" type="slidenum">
              <a:rPr lang="en-US" smtClean="0"/>
              <a:pPr/>
              <a:t>52</a:t>
            </a:fld>
            <a:endParaRPr lang="en-US" smtClean="0"/>
          </a:p>
        </p:txBody>
      </p:sp>
      <p:sp>
        <p:nvSpPr>
          <p:cNvPr id="396291" name="Slide Number Placeholder 3"/>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332F6E62-9733-4B8A-BA11-A9F0DF787769}" type="slidenum">
              <a:rPr lang="en-US" sz="1000"/>
              <a:pPr algn="r" defTabSz="852488"/>
              <a:t>52</a:t>
            </a:fld>
            <a:endParaRPr lang="en-US" sz="1000"/>
          </a:p>
        </p:txBody>
      </p:sp>
      <p:sp>
        <p:nvSpPr>
          <p:cNvPr id="396292" name="Rectangle 2"/>
          <p:cNvSpPr>
            <a:spLocks noChangeArrowheads="1"/>
          </p:cNvSpPr>
          <p:nvPr/>
        </p:nvSpPr>
        <p:spPr bwMode="auto">
          <a:xfrm>
            <a:off x="228600" y="3962400"/>
            <a:ext cx="4876800" cy="2209800"/>
          </a:xfrm>
          <a:prstGeom prst="rect">
            <a:avLst/>
          </a:prstGeom>
          <a:solidFill>
            <a:srgbClr val="DDDDDD"/>
          </a:solidFill>
          <a:ln w="9525">
            <a:solidFill>
              <a:schemeClr val="tx1"/>
            </a:solidFill>
            <a:miter lim="800000"/>
            <a:headEnd/>
            <a:tailEnd/>
          </a:ln>
        </p:spPr>
        <p:txBody>
          <a:bodyPr wrap="none" anchor="ctr"/>
          <a:lstStyle/>
          <a:p>
            <a:pPr algn="ctr">
              <a:spcBef>
                <a:spcPct val="50000"/>
              </a:spcBef>
            </a:pPr>
            <a:endParaRPr lang="en-GB"/>
          </a:p>
        </p:txBody>
      </p:sp>
      <p:sp>
        <p:nvSpPr>
          <p:cNvPr id="396293" name="Rectangle 3"/>
          <p:cNvSpPr>
            <a:spLocks noChangeArrowheads="1"/>
          </p:cNvSpPr>
          <p:nvPr/>
        </p:nvSpPr>
        <p:spPr bwMode="auto">
          <a:xfrm>
            <a:off x="762000" y="2819400"/>
            <a:ext cx="7467600" cy="914400"/>
          </a:xfrm>
          <a:prstGeom prst="rect">
            <a:avLst/>
          </a:prstGeom>
          <a:solidFill>
            <a:srgbClr val="FDE0BD"/>
          </a:solidFill>
          <a:ln w="9525" algn="ctr">
            <a:solidFill>
              <a:schemeClr val="tx1"/>
            </a:solidFill>
            <a:miter lim="800000"/>
            <a:headEnd/>
            <a:tailEnd/>
          </a:ln>
        </p:spPr>
        <p:txBody>
          <a:bodyPr wrap="none" anchor="ctr"/>
          <a:lstStyle/>
          <a:p>
            <a:pPr algn="ctr">
              <a:spcBef>
                <a:spcPct val="50000"/>
              </a:spcBef>
            </a:pPr>
            <a:endParaRPr lang="en-GB"/>
          </a:p>
        </p:txBody>
      </p:sp>
      <p:sp>
        <p:nvSpPr>
          <p:cNvPr id="396294" name="Rectangle 4"/>
          <p:cNvSpPr>
            <a:spLocks noGrp="1" noChangeArrowheads="1"/>
          </p:cNvSpPr>
          <p:nvPr>
            <p:ph type="title"/>
          </p:nvPr>
        </p:nvSpPr>
        <p:spPr>
          <a:xfrm>
            <a:off x="1423988" y="387350"/>
            <a:ext cx="6973887" cy="660400"/>
          </a:xfrm>
        </p:spPr>
        <p:txBody>
          <a:bodyPr/>
          <a:lstStyle/>
          <a:p>
            <a:pPr defTabSz="914400" eaLnBrk="1" hangingPunct="1"/>
            <a:r>
              <a:rPr lang="en-US" smtClean="0"/>
              <a:t>Uniform Distribution Example</a:t>
            </a:r>
          </a:p>
        </p:txBody>
      </p:sp>
      <p:sp>
        <p:nvSpPr>
          <p:cNvPr id="396295" name="Text Box 5"/>
          <p:cNvSpPr txBox="1">
            <a:spLocks noChangeArrowheads="1"/>
          </p:cNvSpPr>
          <p:nvPr/>
        </p:nvSpPr>
        <p:spPr bwMode="auto">
          <a:xfrm>
            <a:off x="1295400" y="1676400"/>
            <a:ext cx="6934200" cy="946150"/>
          </a:xfrm>
          <a:prstGeom prst="rect">
            <a:avLst/>
          </a:prstGeom>
          <a:noFill/>
          <a:ln w="12700">
            <a:noFill/>
            <a:miter lim="800000"/>
            <a:headEnd/>
            <a:tailEnd/>
          </a:ln>
        </p:spPr>
        <p:txBody>
          <a:bodyPr>
            <a:spAutoFit/>
          </a:bodyPr>
          <a:lstStyle/>
          <a:p>
            <a:pPr eaLnBrk="0" hangingPunct="0">
              <a:spcBef>
                <a:spcPct val="50000"/>
              </a:spcBef>
            </a:pPr>
            <a:r>
              <a:rPr lang="en-US" sz="2800">
                <a:solidFill>
                  <a:schemeClr val="folHlink"/>
                </a:solidFill>
              </a:rPr>
              <a:t>Example:</a:t>
            </a:r>
            <a:r>
              <a:rPr lang="en-US" sz="2800"/>
              <a:t> Using the uniform probability distribution to find  P(3 ≤ X ≤ 5):</a:t>
            </a:r>
            <a:endParaRPr lang="en-US"/>
          </a:p>
        </p:txBody>
      </p:sp>
      <p:sp>
        <p:nvSpPr>
          <p:cNvPr id="396296" name="Line 6"/>
          <p:cNvSpPr>
            <a:spLocks noChangeShapeType="1"/>
          </p:cNvSpPr>
          <p:nvPr/>
        </p:nvSpPr>
        <p:spPr bwMode="auto">
          <a:xfrm flipH="1">
            <a:off x="990600" y="4419600"/>
            <a:ext cx="0" cy="1219200"/>
          </a:xfrm>
          <a:prstGeom prst="line">
            <a:avLst/>
          </a:prstGeom>
          <a:noFill/>
          <a:ln w="19050">
            <a:solidFill>
              <a:schemeClr val="tx1"/>
            </a:solidFill>
            <a:round/>
            <a:headEnd/>
            <a:tailEnd/>
          </a:ln>
        </p:spPr>
        <p:txBody>
          <a:bodyPr wrap="none" anchor="ctr"/>
          <a:lstStyle/>
          <a:p>
            <a:endParaRPr lang="en-US"/>
          </a:p>
        </p:txBody>
      </p:sp>
      <p:sp>
        <p:nvSpPr>
          <p:cNvPr id="396297" name="Line 7"/>
          <p:cNvSpPr>
            <a:spLocks noChangeShapeType="1"/>
          </p:cNvSpPr>
          <p:nvPr/>
        </p:nvSpPr>
        <p:spPr bwMode="auto">
          <a:xfrm>
            <a:off x="990600" y="5638800"/>
            <a:ext cx="3810000" cy="0"/>
          </a:xfrm>
          <a:prstGeom prst="line">
            <a:avLst/>
          </a:prstGeom>
          <a:noFill/>
          <a:ln w="19050">
            <a:solidFill>
              <a:schemeClr val="tx1"/>
            </a:solidFill>
            <a:round/>
            <a:headEnd/>
            <a:tailEnd/>
          </a:ln>
        </p:spPr>
        <p:txBody>
          <a:bodyPr wrap="none" anchor="ctr"/>
          <a:lstStyle/>
          <a:p>
            <a:endParaRPr lang="en-US"/>
          </a:p>
        </p:txBody>
      </p:sp>
      <p:sp>
        <p:nvSpPr>
          <p:cNvPr id="396298" name="Rectangle 8"/>
          <p:cNvSpPr>
            <a:spLocks noChangeArrowheads="1"/>
          </p:cNvSpPr>
          <p:nvPr/>
        </p:nvSpPr>
        <p:spPr bwMode="auto">
          <a:xfrm>
            <a:off x="1828800" y="4876800"/>
            <a:ext cx="2438400" cy="762000"/>
          </a:xfrm>
          <a:prstGeom prst="rect">
            <a:avLst/>
          </a:prstGeom>
          <a:solidFill>
            <a:schemeClr val="accent1"/>
          </a:solidFill>
          <a:ln w="19050" algn="ctr">
            <a:solidFill>
              <a:schemeClr val="tx1"/>
            </a:solidFill>
            <a:miter lim="800000"/>
            <a:headEnd/>
            <a:tailEnd/>
          </a:ln>
        </p:spPr>
        <p:txBody>
          <a:bodyPr wrap="none" anchor="ctr"/>
          <a:lstStyle/>
          <a:p>
            <a:pPr algn="ctr">
              <a:spcBef>
                <a:spcPct val="50000"/>
              </a:spcBef>
            </a:pPr>
            <a:endParaRPr lang="en-GB"/>
          </a:p>
        </p:txBody>
      </p:sp>
      <p:sp>
        <p:nvSpPr>
          <p:cNvPr id="396299" name="Text Box 9"/>
          <p:cNvSpPr txBox="1">
            <a:spLocks noChangeArrowheads="1"/>
          </p:cNvSpPr>
          <p:nvPr/>
        </p:nvSpPr>
        <p:spPr bwMode="auto">
          <a:xfrm>
            <a:off x="1676400" y="5638800"/>
            <a:ext cx="381000" cy="457200"/>
          </a:xfrm>
          <a:prstGeom prst="rect">
            <a:avLst/>
          </a:prstGeom>
          <a:noFill/>
          <a:ln w="19050" algn="ctr">
            <a:noFill/>
            <a:miter lim="800000"/>
            <a:headEnd/>
            <a:tailEnd/>
          </a:ln>
        </p:spPr>
        <p:txBody>
          <a:bodyPr>
            <a:spAutoFit/>
          </a:bodyPr>
          <a:lstStyle/>
          <a:p>
            <a:pPr algn="ctr">
              <a:spcBef>
                <a:spcPct val="50000"/>
              </a:spcBef>
            </a:pPr>
            <a:r>
              <a:rPr lang="en-US"/>
              <a:t>2</a:t>
            </a:r>
          </a:p>
        </p:txBody>
      </p:sp>
      <p:sp>
        <p:nvSpPr>
          <p:cNvPr id="396300" name="Text Box 10"/>
          <p:cNvSpPr txBox="1">
            <a:spLocks noChangeArrowheads="1"/>
          </p:cNvSpPr>
          <p:nvPr/>
        </p:nvSpPr>
        <p:spPr bwMode="auto">
          <a:xfrm>
            <a:off x="4038600" y="5638800"/>
            <a:ext cx="381000" cy="457200"/>
          </a:xfrm>
          <a:prstGeom prst="rect">
            <a:avLst/>
          </a:prstGeom>
          <a:noFill/>
          <a:ln w="19050" algn="ctr">
            <a:noFill/>
            <a:miter lim="800000"/>
            <a:headEnd/>
            <a:tailEnd/>
          </a:ln>
        </p:spPr>
        <p:txBody>
          <a:bodyPr>
            <a:spAutoFit/>
          </a:bodyPr>
          <a:lstStyle/>
          <a:p>
            <a:pPr algn="ctr">
              <a:spcBef>
                <a:spcPct val="50000"/>
              </a:spcBef>
            </a:pPr>
            <a:r>
              <a:rPr lang="en-US"/>
              <a:t>6</a:t>
            </a:r>
          </a:p>
        </p:txBody>
      </p:sp>
      <p:sp>
        <p:nvSpPr>
          <p:cNvPr id="396301" name="Text Box 11"/>
          <p:cNvSpPr txBox="1">
            <a:spLocks noChangeArrowheads="1"/>
          </p:cNvSpPr>
          <p:nvPr/>
        </p:nvSpPr>
        <p:spPr bwMode="auto">
          <a:xfrm>
            <a:off x="152400" y="4572000"/>
            <a:ext cx="838200" cy="457200"/>
          </a:xfrm>
          <a:prstGeom prst="rect">
            <a:avLst/>
          </a:prstGeom>
          <a:noFill/>
          <a:ln w="19050" algn="ctr">
            <a:noFill/>
            <a:miter lim="800000"/>
            <a:headEnd/>
            <a:tailEnd/>
          </a:ln>
        </p:spPr>
        <p:txBody>
          <a:bodyPr>
            <a:spAutoFit/>
          </a:bodyPr>
          <a:lstStyle/>
          <a:p>
            <a:pPr algn="ctr">
              <a:spcBef>
                <a:spcPct val="50000"/>
              </a:spcBef>
            </a:pPr>
            <a:r>
              <a:rPr lang="en-US"/>
              <a:t>0.25</a:t>
            </a:r>
          </a:p>
        </p:txBody>
      </p:sp>
      <p:sp>
        <p:nvSpPr>
          <p:cNvPr id="396302" name="Line 12"/>
          <p:cNvSpPr>
            <a:spLocks noChangeShapeType="1"/>
          </p:cNvSpPr>
          <p:nvPr/>
        </p:nvSpPr>
        <p:spPr bwMode="auto">
          <a:xfrm>
            <a:off x="914400" y="4876800"/>
            <a:ext cx="152400" cy="0"/>
          </a:xfrm>
          <a:prstGeom prst="line">
            <a:avLst/>
          </a:prstGeom>
          <a:noFill/>
          <a:ln w="19050">
            <a:solidFill>
              <a:schemeClr val="tx1"/>
            </a:solidFill>
            <a:round/>
            <a:headEnd/>
            <a:tailEnd/>
          </a:ln>
        </p:spPr>
        <p:txBody>
          <a:bodyPr wrap="none" anchor="ctr"/>
          <a:lstStyle/>
          <a:p>
            <a:endParaRPr lang="en-US"/>
          </a:p>
        </p:txBody>
      </p:sp>
      <p:sp>
        <p:nvSpPr>
          <p:cNvPr id="396303" name="Text Box 13"/>
          <p:cNvSpPr txBox="1">
            <a:spLocks noChangeArrowheads="1"/>
          </p:cNvSpPr>
          <p:nvPr/>
        </p:nvSpPr>
        <p:spPr bwMode="auto">
          <a:xfrm>
            <a:off x="838200" y="3048000"/>
            <a:ext cx="7702550" cy="519113"/>
          </a:xfrm>
          <a:prstGeom prst="rect">
            <a:avLst/>
          </a:prstGeom>
          <a:noFill/>
          <a:ln w="19050" algn="ctr">
            <a:noFill/>
            <a:miter lim="800000"/>
            <a:headEnd/>
            <a:tailEnd/>
          </a:ln>
        </p:spPr>
        <p:txBody>
          <a:bodyPr>
            <a:spAutoFit/>
          </a:bodyPr>
          <a:lstStyle/>
          <a:p>
            <a:pPr>
              <a:spcBef>
                <a:spcPct val="50000"/>
              </a:spcBef>
            </a:pPr>
            <a:r>
              <a:rPr lang="en-US" sz="2800"/>
              <a:t>P(</a:t>
            </a:r>
            <a:r>
              <a:rPr lang="en-US"/>
              <a:t>3 ≤ X ≤ 5</a:t>
            </a:r>
            <a:r>
              <a:rPr lang="en-US" sz="2800"/>
              <a:t>) = (Base)(Height) = (2)(0.25) = 0.5</a:t>
            </a:r>
            <a:endParaRPr lang="en-US" sz="2800">
              <a:cs typeface="Arial" charset="0"/>
            </a:endParaRPr>
          </a:p>
        </p:txBody>
      </p:sp>
      <p:sp>
        <p:nvSpPr>
          <p:cNvPr id="396304" name="Text Box 17"/>
          <p:cNvSpPr txBox="1">
            <a:spLocks noChangeArrowheads="1"/>
          </p:cNvSpPr>
          <p:nvPr/>
        </p:nvSpPr>
        <p:spPr bwMode="auto">
          <a:xfrm>
            <a:off x="4572000" y="5562600"/>
            <a:ext cx="381000" cy="457200"/>
          </a:xfrm>
          <a:prstGeom prst="rect">
            <a:avLst/>
          </a:prstGeom>
          <a:noFill/>
          <a:ln w="19050" algn="ctr">
            <a:noFill/>
            <a:miter lim="800000"/>
            <a:headEnd/>
            <a:tailEnd/>
          </a:ln>
        </p:spPr>
        <p:txBody>
          <a:bodyPr>
            <a:spAutoFit/>
          </a:bodyPr>
          <a:lstStyle/>
          <a:p>
            <a:pPr algn="ctr">
              <a:spcBef>
                <a:spcPct val="50000"/>
              </a:spcBef>
            </a:pPr>
            <a:r>
              <a:rPr lang="en-US"/>
              <a:t>X</a:t>
            </a:r>
          </a:p>
        </p:txBody>
      </p:sp>
      <p:sp>
        <p:nvSpPr>
          <p:cNvPr id="396305" name="Text Box 18"/>
          <p:cNvSpPr txBox="1">
            <a:spLocks noChangeArrowheads="1"/>
          </p:cNvSpPr>
          <p:nvPr/>
        </p:nvSpPr>
        <p:spPr bwMode="auto">
          <a:xfrm>
            <a:off x="381000" y="3962400"/>
            <a:ext cx="762000" cy="457200"/>
          </a:xfrm>
          <a:prstGeom prst="rect">
            <a:avLst/>
          </a:prstGeom>
          <a:noFill/>
          <a:ln w="19050" algn="ctr">
            <a:noFill/>
            <a:miter lim="800000"/>
            <a:headEnd/>
            <a:tailEnd/>
          </a:ln>
        </p:spPr>
        <p:txBody>
          <a:bodyPr>
            <a:spAutoFit/>
          </a:bodyPr>
          <a:lstStyle/>
          <a:p>
            <a:pPr algn="ctr">
              <a:spcBef>
                <a:spcPct val="50000"/>
              </a:spcBef>
            </a:pPr>
            <a:r>
              <a:rPr lang="en-US"/>
              <a:t>f(X)</a:t>
            </a:r>
          </a:p>
        </p:txBody>
      </p:sp>
      <p:sp>
        <p:nvSpPr>
          <p:cNvPr id="396306" name="Text Box 21"/>
          <p:cNvSpPr txBox="1">
            <a:spLocks noChangeArrowheads="1"/>
          </p:cNvSpPr>
          <p:nvPr/>
        </p:nvSpPr>
        <p:spPr bwMode="auto">
          <a:xfrm>
            <a:off x="7543800" y="1203325"/>
            <a:ext cx="1600200" cy="396875"/>
          </a:xfrm>
          <a:prstGeom prst="rect">
            <a:avLst/>
          </a:prstGeom>
          <a:noFill/>
          <a:ln w="9525">
            <a:noFill/>
            <a:miter lim="800000"/>
            <a:headEnd/>
            <a:tailEnd/>
          </a:ln>
        </p:spPr>
        <p:txBody>
          <a:bodyPr>
            <a:spAutoFit/>
          </a:bodyPr>
          <a:lstStyle/>
          <a:p>
            <a:pPr>
              <a:spcBef>
                <a:spcPct val="50000"/>
              </a:spcBef>
            </a:pPr>
            <a:r>
              <a:rPr lang="en-US" sz="2000" i="1">
                <a:solidFill>
                  <a:srgbClr val="000099"/>
                </a:solidFill>
              </a:rPr>
              <a:t>(continued)</a:t>
            </a:r>
          </a:p>
        </p:txBody>
      </p:sp>
      <p:sp>
        <p:nvSpPr>
          <p:cNvPr id="396307" name="Text Box 22"/>
          <p:cNvSpPr txBox="1">
            <a:spLocks noChangeArrowheads="1"/>
          </p:cNvSpPr>
          <p:nvPr/>
        </p:nvSpPr>
        <p:spPr bwMode="auto">
          <a:xfrm>
            <a:off x="2286000" y="5638800"/>
            <a:ext cx="381000" cy="457200"/>
          </a:xfrm>
          <a:prstGeom prst="rect">
            <a:avLst/>
          </a:prstGeom>
          <a:noFill/>
          <a:ln w="19050" algn="ctr">
            <a:noFill/>
            <a:miter lim="800000"/>
            <a:headEnd/>
            <a:tailEnd/>
          </a:ln>
        </p:spPr>
        <p:txBody>
          <a:bodyPr>
            <a:spAutoFit/>
          </a:bodyPr>
          <a:lstStyle/>
          <a:p>
            <a:pPr algn="ctr">
              <a:spcBef>
                <a:spcPct val="50000"/>
              </a:spcBef>
            </a:pPr>
            <a:r>
              <a:rPr lang="en-US"/>
              <a:t>3</a:t>
            </a:r>
          </a:p>
        </p:txBody>
      </p:sp>
      <p:sp>
        <p:nvSpPr>
          <p:cNvPr id="396308" name="Text Box 23"/>
          <p:cNvSpPr txBox="1">
            <a:spLocks noChangeArrowheads="1"/>
          </p:cNvSpPr>
          <p:nvPr/>
        </p:nvSpPr>
        <p:spPr bwMode="auto">
          <a:xfrm>
            <a:off x="3429000" y="5638800"/>
            <a:ext cx="381000" cy="457200"/>
          </a:xfrm>
          <a:prstGeom prst="rect">
            <a:avLst/>
          </a:prstGeom>
          <a:noFill/>
          <a:ln w="19050" algn="ctr">
            <a:noFill/>
            <a:miter lim="800000"/>
            <a:headEnd/>
            <a:tailEnd/>
          </a:ln>
        </p:spPr>
        <p:txBody>
          <a:bodyPr>
            <a:spAutoFit/>
          </a:bodyPr>
          <a:lstStyle/>
          <a:p>
            <a:pPr algn="ctr">
              <a:spcBef>
                <a:spcPct val="50000"/>
              </a:spcBef>
            </a:pPr>
            <a:r>
              <a:rPr lang="en-US"/>
              <a:t>5</a:t>
            </a:r>
          </a:p>
        </p:txBody>
      </p:sp>
      <p:sp>
        <p:nvSpPr>
          <p:cNvPr id="396309" name="Text Box 24"/>
          <p:cNvSpPr txBox="1">
            <a:spLocks noChangeArrowheads="1"/>
          </p:cNvSpPr>
          <p:nvPr/>
        </p:nvSpPr>
        <p:spPr bwMode="auto">
          <a:xfrm>
            <a:off x="2895600" y="5638800"/>
            <a:ext cx="381000" cy="457200"/>
          </a:xfrm>
          <a:prstGeom prst="rect">
            <a:avLst/>
          </a:prstGeom>
          <a:noFill/>
          <a:ln w="19050" algn="ctr">
            <a:noFill/>
            <a:miter lim="800000"/>
            <a:headEnd/>
            <a:tailEnd/>
          </a:ln>
        </p:spPr>
        <p:txBody>
          <a:bodyPr>
            <a:spAutoFit/>
          </a:bodyPr>
          <a:lstStyle/>
          <a:p>
            <a:pPr algn="ctr">
              <a:spcBef>
                <a:spcPct val="50000"/>
              </a:spcBef>
            </a:pPr>
            <a:r>
              <a:rPr lang="en-US"/>
              <a:t>4</a:t>
            </a:r>
          </a:p>
        </p:txBody>
      </p:sp>
      <p:sp>
        <p:nvSpPr>
          <p:cNvPr id="396310" name="Rectangle 25"/>
          <p:cNvSpPr>
            <a:spLocks noChangeArrowheads="1"/>
          </p:cNvSpPr>
          <p:nvPr/>
        </p:nvSpPr>
        <p:spPr bwMode="auto">
          <a:xfrm>
            <a:off x="2438400" y="4876800"/>
            <a:ext cx="1219200" cy="762000"/>
          </a:xfrm>
          <a:prstGeom prst="rect">
            <a:avLst/>
          </a:prstGeom>
          <a:solidFill>
            <a:srgbClr val="FFFF99"/>
          </a:solidFill>
          <a:ln w="19050" algn="ctr">
            <a:solidFill>
              <a:schemeClr val="tx1"/>
            </a:solidFill>
            <a:miter lim="800000"/>
            <a:headEnd/>
            <a:tailEnd/>
          </a:ln>
        </p:spPr>
        <p:txBody>
          <a:bodyPr wrap="none" anchor="ctr"/>
          <a:lstStyle/>
          <a:p>
            <a:pPr algn="ctr">
              <a:spcBef>
                <a:spcPct val="50000"/>
              </a:spcBef>
            </a:pPr>
            <a:endParaRPr lang="en-GB"/>
          </a:p>
        </p:txBody>
      </p:sp>
      <p:sp>
        <p:nvSpPr>
          <p:cNvPr id="396311" name="Oval 26"/>
          <p:cNvSpPr>
            <a:spLocks noChangeArrowheads="1"/>
          </p:cNvSpPr>
          <p:nvPr/>
        </p:nvSpPr>
        <p:spPr bwMode="auto">
          <a:xfrm>
            <a:off x="7391400" y="2895600"/>
            <a:ext cx="838200" cy="762000"/>
          </a:xfrm>
          <a:prstGeom prst="ellipse">
            <a:avLst/>
          </a:prstGeom>
          <a:noFill/>
          <a:ln w="15875" algn="ctr">
            <a:solidFill>
              <a:schemeClr val="hlink"/>
            </a:solidFill>
            <a:round/>
            <a:headEnd/>
            <a:tailEnd/>
          </a:ln>
        </p:spPr>
        <p:txBody>
          <a:bodyPr wrap="none" anchor="ctr">
            <a:spAutoFit/>
          </a:bodyPr>
          <a:lstStyle/>
          <a:p>
            <a:pPr algn="ctr">
              <a:spcBef>
                <a:spcPct val="50000"/>
              </a:spcBef>
            </a:pPr>
            <a:endParaRPr lang="en-GB"/>
          </a:p>
        </p:txBody>
      </p:sp>
      <p:sp>
        <p:nvSpPr>
          <p:cNvPr id="396312" name="Line 27"/>
          <p:cNvSpPr>
            <a:spLocks noChangeShapeType="1"/>
          </p:cNvSpPr>
          <p:nvPr/>
        </p:nvSpPr>
        <p:spPr bwMode="auto">
          <a:xfrm flipH="1">
            <a:off x="3352800" y="3429000"/>
            <a:ext cx="4114800" cy="1600200"/>
          </a:xfrm>
          <a:prstGeom prst="line">
            <a:avLst/>
          </a:prstGeom>
          <a:noFill/>
          <a:ln w="15875">
            <a:solidFill>
              <a:schemeClr val="hlink"/>
            </a:solidFill>
            <a:round/>
            <a:headEnd/>
            <a:tailEnd type="triangle" w="med" len="med"/>
          </a:ln>
        </p:spPr>
        <p:txBody>
          <a:bodyPr>
            <a:spAutoFit/>
          </a:bodyPr>
          <a:lstStyle/>
          <a:p>
            <a:endParaRPr lang="en-US"/>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3" name="Rectangle 4"/>
          <p:cNvSpPr>
            <a:spLocks noGrp="1" noChangeArrowheads="1"/>
          </p:cNvSpPr>
          <p:nvPr>
            <p:ph type="ftr" sz="quarter" idx="10"/>
          </p:nvPr>
        </p:nvSpPr>
        <p:spPr>
          <a:noFill/>
        </p:spPr>
        <p:txBody>
          <a:bodyPr/>
          <a:lstStyle/>
          <a:p>
            <a:r>
              <a:rPr lang="en-US" smtClean="0"/>
              <a:t>Copyright ©2012 Pearson Education</a:t>
            </a:r>
          </a:p>
        </p:txBody>
      </p:sp>
      <p:sp>
        <p:nvSpPr>
          <p:cNvPr id="397314" name="Rectangle 5"/>
          <p:cNvSpPr>
            <a:spLocks noGrp="1" noChangeArrowheads="1"/>
          </p:cNvSpPr>
          <p:nvPr>
            <p:ph type="sldNum" sz="quarter" idx="11"/>
          </p:nvPr>
        </p:nvSpPr>
        <p:spPr>
          <a:noFill/>
        </p:spPr>
        <p:txBody>
          <a:bodyPr/>
          <a:lstStyle/>
          <a:p>
            <a:r>
              <a:rPr lang="en-US" smtClean="0"/>
              <a:t>Chap 6-</a:t>
            </a:r>
            <a:fld id="{B87BE972-31B8-4E12-B76B-4D967D0EB551}" type="slidenum">
              <a:rPr lang="en-US" smtClean="0"/>
              <a:pPr/>
              <a:t>53</a:t>
            </a:fld>
            <a:endParaRPr lang="en-US" smtClean="0"/>
          </a:p>
        </p:txBody>
      </p:sp>
      <p:sp>
        <p:nvSpPr>
          <p:cNvPr id="397315"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89300D16-C2E2-4CB6-A60B-33CB50B32114}" type="slidenum">
              <a:rPr lang="en-US" sz="1000"/>
              <a:pPr algn="r" defTabSz="852488"/>
              <a:t>53</a:t>
            </a:fld>
            <a:endParaRPr lang="en-US" sz="1000"/>
          </a:p>
        </p:txBody>
      </p:sp>
      <p:sp>
        <p:nvSpPr>
          <p:cNvPr id="397316" name="Rectangle 2"/>
          <p:cNvSpPr>
            <a:spLocks noGrp="1" noChangeArrowheads="1"/>
          </p:cNvSpPr>
          <p:nvPr>
            <p:ph type="title"/>
          </p:nvPr>
        </p:nvSpPr>
        <p:spPr/>
        <p:txBody>
          <a:bodyPr/>
          <a:lstStyle/>
          <a:p>
            <a:pPr eaLnBrk="1" hangingPunct="1"/>
            <a:r>
              <a:rPr lang="en-US" smtClean="0"/>
              <a:t>The Exponential Distribution</a:t>
            </a:r>
          </a:p>
        </p:txBody>
      </p:sp>
      <p:sp>
        <p:nvSpPr>
          <p:cNvPr id="397317" name="Rectangle 3"/>
          <p:cNvSpPr>
            <a:spLocks noGrp="1" noChangeArrowheads="1"/>
          </p:cNvSpPr>
          <p:nvPr>
            <p:ph type="body" idx="1"/>
          </p:nvPr>
        </p:nvSpPr>
        <p:spPr>
          <a:xfrm>
            <a:off x="990600" y="1828800"/>
            <a:ext cx="7848600" cy="4114800"/>
          </a:xfrm>
        </p:spPr>
        <p:txBody>
          <a:bodyPr/>
          <a:lstStyle/>
          <a:p>
            <a:pPr eaLnBrk="1" hangingPunct="1"/>
            <a:r>
              <a:rPr lang="en-US" smtClean="0"/>
              <a:t>Often used to model the </a:t>
            </a:r>
            <a:r>
              <a:rPr lang="en-US" smtClean="0">
                <a:solidFill>
                  <a:schemeClr val="folHlink"/>
                </a:solidFill>
              </a:rPr>
              <a:t>length of time between two occurrences</a:t>
            </a:r>
            <a:r>
              <a:rPr lang="en-US" smtClean="0"/>
              <a:t> of an event (the time between arrivals)</a:t>
            </a:r>
          </a:p>
          <a:p>
            <a:pPr eaLnBrk="1" hangingPunct="1"/>
            <a:endParaRPr lang="en-US" smtClean="0"/>
          </a:p>
          <a:p>
            <a:pPr lvl="1" eaLnBrk="1" hangingPunct="1"/>
            <a:r>
              <a:rPr lang="en-US" smtClean="0"/>
              <a:t>Examples: </a:t>
            </a:r>
          </a:p>
          <a:p>
            <a:pPr lvl="2" eaLnBrk="1" hangingPunct="1"/>
            <a:r>
              <a:rPr lang="en-US" smtClean="0"/>
              <a:t>Time between trucks arriving at an unloading dock</a:t>
            </a:r>
          </a:p>
          <a:p>
            <a:pPr lvl="2" eaLnBrk="1" hangingPunct="1"/>
            <a:r>
              <a:rPr lang="en-US" smtClean="0"/>
              <a:t>Time between transactions at an ATM Machine</a:t>
            </a:r>
          </a:p>
          <a:p>
            <a:pPr lvl="2" eaLnBrk="1" hangingPunct="1"/>
            <a:r>
              <a:rPr lang="en-US" smtClean="0"/>
              <a:t>Time between phone calls to the main operator</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63" name="Rectangle 4"/>
          <p:cNvSpPr>
            <a:spLocks noGrp="1" noChangeArrowheads="1"/>
          </p:cNvSpPr>
          <p:nvPr>
            <p:ph type="ftr" sz="quarter" idx="10"/>
          </p:nvPr>
        </p:nvSpPr>
        <p:spPr>
          <a:noFill/>
        </p:spPr>
        <p:txBody>
          <a:bodyPr/>
          <a:lstStyle/>
          <a:p>
            <a:r>
              <a:rPr lang="en-US" smtClean="0"/>
              <a:t>Copyright ©2012 Pearson Education</a:t>
            </a:r>
          </a:p>
        </p:txBody>
      </p:sp>
      <p:sp>
        <p:nvSpPr>
          <p:cNvPr id="301064" name="Rectangle 5"/>
          <p:cNvSpPr>
            <a:spLocks noGrp="1" noChangeArrowheads="1"/>
          </p:cNvSpPr>
          <p:nvPr>
            <p:ph type="sldNum" sz="quarter" idx="11"/>
          </p:nvPr>
        </p:nvSpPr>
        <p:spPr>
          <a:noFill/>
        </p:spPr>
        <p:txBody>
          <a:bodyPr/>
          <a:lstStyle/>
          <a:p>
            <a:r>
              <a:rPr lang="en-US" smtClean="0"/>
              <a:t>Chap 6-</a:t>
            </a:r>
            <a:fld id="{3FF3169D-5D74-4960-B405-5EA6798E3E9D}" type="slidenum">
              <a:rPr lang="en-US" smtClean="0"/>
              <a:pPr/>
              <a:t>54</a:t>
            </a:fld>
            <a:endParaRPr lang="en-US" smtClean="0"/>
          </a:p>
        </p:txBody>
      </p:sp>
      <p:sp>
        <p:nvSpPr>
          <p:cNvPr id="301065"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40F9CEDE-383D-497C-93AC-869B437573BC}" type="slidenum">
              <a:rPr lang="en-US" sz="1000"/>
              <a:pPr algn="r" defTabSz="852488"/>
              <a:t>54</a:t>
            </a:fld>
            <a:endParaRPr lang="en-US" sz="1000"/>
          </a:p>
        </p:txBody>
      </p:sp>
      <p:sp>
        <p:nvSpPr>
          <p:cNvPr id="301066" name="Rectangle 2"/>
          <p:cNvSpPr>
            <a:spLocks noGrp="1" noChangeArrowheads="1"/>
          </p:cNvSpPr>
          <p:nvPr>
            <p:ph type="title"/>
          </p:nvPr>
        </p:nvSpPr>
        <p:spPr/>
        <p:txBody>
          <a:bodyPr/>
          <a:lstStyle/>
          <a:p>
            <a:pPr eaLnBrk="1" hangingPunct="1"/>
            <a:r>
              <a:rPr lang="en-US" smtClean="0"/>
              <a:t>The Exponential Distribution</a:t>
            </a:r>
          </a:p>
        </p:txBody>
      </p:sp>
      <p:graphicFrame>
        <p:nvGraphicFramePr>
          <p:cNvPr id="301059" name="Object 3"/>
          <p:cNvGraphicFramePr>
            <a:graphicFrameLocks noChangeAspect="1"/>
          </p:cNvGraphicFramePr>
          <p:nvPr/>
        </p:nvGraphicFramePr>
        <p:xfrm>
          <a:off x="1752600" y="3962400"/>
          <a:ext cx="5842000" cy="719138"/>
        </p:xfrm>
        <a:graphic>
          <a:graphicData uri="http://schemas.openxmlformats.org/presentationml/2006/ole">
            <p:oleObj spid="_x0000_s301059" name="Equation" r:id="rId3" imgW="1854000" imgH="228600" progId="Equation.3">
              <p:embed/>
            </p:oleObj>
          </a:graphicData>
        </a:graphic>
      </p:graphicFrame>
      <p:sp>
        <p:nvSpPr>
          <p:cNvPr id="301067" name="Rectangle 4"/>
          <p:cNvSpPr>
            <a:spLocks noGrp="1" noChangeArrowheads="1"/>
          </p:cNvSpPr>
          <p:nvPr>
            <p:ph type="body" idx="1"/>
          </p:nvPr>
        </p:nvSpPr>
        <p:spPr>
          <a:xfrm>
            <a:off x="685800" y="1905000"/>
            <a:ext cx="8077200" cy="1676400"/>
          </a:xfrm>
        </p:spPr>
        <p:txBody>
          <a:bodyPr/>
          <a:lstStyle/>
          <a:p>
            <a:pPr eaLnBrk="1" hangingPunct="1"/>
            <a:r>
              <a:rPr lang="en-US" smtClean="0"/>
              <a:t>Defined by a single parameter, its mean </a:t>
            </a:r>
            <a:r>
              <a:rPr lang="el-GR" smtClean="0">
                <a:cs typeface="Arial" charset="0"/>
              </a:rPr>
              <a:t>λ</a:t>
            </a:r>
            <a:r>
              <a:rPr lang="en-US" smtClean="0">
                <a:cs typeface="Arial" charset="0"/>
              </a:rPr>
              <a:t> (lambda)</a:t>
            </a:r>
            <a:endParaRPr lang="en-US" smtClean="0"/>
          </a:p>
          <a:p>
            <a:pPr eaLnBrk="1" hangingPunct="1"/>
            <a:r>
              <a:rPr lang="en-US" smtClean="0"/>
              <a:t>The probability that an arrival time is less than some specified time  X  is</a:t>
            </a:r>
          </a:p>
        </p:txBody>
      </p:sp>
      <p:sp>
        <p:nvSpPr>
          <p:cNvPr id="301068" name="Rectangle 5"/>
          <p:cNvSpPr>
            <a:spLocks noChangeArrowheads="1"/>
          </p:cNvSpPr>
          <p:nvPr/>
        </p:nvSpPr>
        <p:spPr bwMode="auto">
          <a:xfrm>
            <a:off x="1219200" y="5105400"/>
            <a:ext cx="6858000" cy="1143000"/>
          </a:xfrm>
          <a:prstGeom prst="rect">
            <a:avLst/>
          </a:prstGeom>
          <a:noFill/>
          <a:ln w="9525">
            <a:noFill/>
            <a:miter lim="800000"/>
            <a:headEnd/>
            <a:tailEnd/>
          </a:ln>
        </p:spPr>
        <p:txBody>
          <a:bodyPr lIns="85342" tIns="42672" rIns="85342" bIns="42672"/>
          <a:lstStyle/>
          <a:p>
            <a:pPr marL="320675" indent="-320675" defTabSz="852488">
              <a:spcBef>
                <a:spcPct val="20000"/>
              </a:spcBef>
              <a:buClr>
                <a:schemeClr val="folHlink"/>
              </a:buClr>
              <a:buSzPct val="60000"/>
              <a:buFont typeface="Wingdings" pitchFamily="2" charset="2"/>
              <a:buNone/>
            </a:pPr>
            <a:r>
              <a:rPr lang="en-US" sz="1800"/>
              <a:t>where  	e = mathematical constant approximated by 2.71828</a:t>
            </a:r>
          </a:p>
          <a:p>
            <a:pPr marL="320675" indent="-320675" defTabSz="852488">
              <a:spcBef>
                <a:spcPct val="20000"/>
              </a:spcBef>
              <a:buClr>
                <a:schemeClr val="folHlink"/>
              </a:buClr>
              <a:buSzPct val="60000"/>
              <a:buFont typeface="Wingdings" pitchFamily="2" charset="2"/>
              <a:buNone/>
            </a:pPr>
            <a:r>
              <a:rPr lang="en-US" sz="1800"/>
              <a:t>		</a:t>
            </a:r>
            <a:r>
              <a:rPr lang="el-GR" sz="1800">
                <a:cs typeface="Arial" charset="0"/>
              </a:rPr>
              <a:t>λ</a:t>
            </a:r>
            <a:r>
              <a:rPr lang="en-US" sz="1800">
                <a:sym typeface="Arial" charset="0"/>
              </a:rPr>
              <a:t> = the population mean number of arrivals per unit</a:t>
            </a:r>
          </a:p>
          <a:p>
            <a:pPr marL="320675" indent="-320675" defTabSz="852488">
              <a:spcBef>
                <a:spcPct val="20000"/>
              </a:spcBef>
              <a:buClr>
                <a:schemeClr val="folHlink"/>
              </a:buClr>
              <a:buSzPct val="60000"/>
              <a:buFont typeface="Wingdings" pitchFamily="2" charset="2"/>
              <a:buNone/>
            </a:pPr>
            <a:r>
              <a:rPr lang="en-US" sz="1800">
                <a:sym typeface="Arial" charset="0"/>
              </a:rPr>
              <a:t>		X = any value of the continuous variable where 0 &lt; X &lt;</a:t>
            </a:r>
            <a:r>
              <a:rPr lang="en-US" sz="2300">
                <a:sym typeface="Arial" charset="0"/>
              </a:rPr>
              <a:t> </a:t>
            </a:r>
          </a:p>
        </p:txBody>
      </p:sp>
      <p:graphicFrame>
        <p:nvGraphicFramePr>
          <p:cNvPr id="301062" name="Object 6"/>
          <p:cNvGraphicFramePr>
            <a:graphicFrameLocks noChangeAspect="1"/>
          </p:cNvGraphicFramePr>
          <p:nvPr/>
        </p:nvGraphicFramePr>
        <p:xfrm>
          <a:off x="7696200" y="5867400"/>
          <a:ext cx="381000" cy="317500"/>
        </p:xfrm>
        <a:graphic>
          <a:graphicData uri="http://schemas.openxmlformats.org/presentationml/2006/ole">
            <p:oleObj spid="_x0000_s301062" name="Equation" r:id="rId4" imgW="152280" imgH="126720" progId="Equation.3">
              <p:embed/>
            </p:oleObj>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1" name="Rectangle 4"/>
          <p:cNvSpPr>
            <a:spLocks noGrp="1" noChangeArrowheads="1"/>
          </p:cNvSpPr>
          <p:nvPr>
            <p:ph type="ftr" sz="quarter" idx="10"/>
          </p:nvPr>
        </p:nvSpPr>
        <p:spPr>
          <a:noFill/>
        </p:spPr>
        <p:txBody>
          <a:bodyPr/>
          <a:lstStyle/>
          <a:p>
            <a:r>
              <a:rPr lang="en-US" smtClean="0"/>
              <a:t>Copyright ©2012 Pearson Education</a:t>
            </a:r>
          </a:p>
        </p:txBody>
      </p:sp>
      <p:sp>
        <p:nvSpPr>
          <p:cNvPr id="399362" name="Rectangle 5"/>
          <p:cNvSpPr>
            <a:spLocks noGrp="1" noChangeArrowheads="1"/>
          </p:cNvSpPr>
          <p:nvPr>
            <p:ph type="sldNum" sz="quarter" idx="11"/>
          </p:nvPr>
        </p:nvSpPr>
        <p:spPr>
          <a:noFill/>
        </p:spPr>
        <p:txBody>
          <a:bodyPr/>
          <a:lstStyle/>
          <a:p>
            <a:r>
              <a:rPr lang="en-US" smtClean="0"/>
              <a:t>Chap 6-</a:t>
            </a:r>
            <a:fld id="{DCF31242-E42A-415D-82D9-58342FF49B9B}" type="slidenum">
              <a:rPr lang="en-US" smtClean="0"/>
              <a:pPr/>
              <a:t>55</a:t>
            </a:fld>
            <a:endParaRPr lang="en-US" smtClean="0"/>
          </a:p>
        </p:txBody>
      </p:sp>
      <p:sp>
        <p:nvSpPr>
          <p:cNvPr id="399363"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C653AF64-96BE-437D-AE87-DEF78D6DCD64}" type="slidenum">
              <a:rPr lang="en-US" sz="1000"/>
              <a:pPr algn="r" defTabSz="852488"/>
              <a:t>55</a:t>
            </a:fld>
            <a:endParaRPr lang="en-US" sz="1000"/>
          </a:p>
        </p:txBody>
      </p:sp>
      <p:sp>
        <p:nvSpPr>
          <p:cNvPr id="399364" name="Rectangle 2"/>
          <p:cNvSpPr>
            <a:spLocks noChangeArrowheads="1"/>
          </p:cNvSpPr>
          <p:nvPr/>
        </p:nvSpPr>
        <p:spPr bwMode="auto">
          <a:xfrm>
            <a:off x="7467600" y="4572000"/>
            <a:ext cx="1143000" cy="533400"/>
          </a:xfrm>
          <a:prstGeom prst="rect">
            <a:avLst/>
          </a:prstGeom>
          <a:solidFill>
            <a:srgbClr val="FDE0BD"/>
          </a:solidFill>
          <a:ln w="9525" algn="ctr">
            <a:solidFill>
              <a:schemeClr val="tx1"/>
            </a:solidFill>
            <a:miter lim="800000"/>
            <a:headEnd/>
            <a:tailEnd/>
          </a:ln>
        </p:spPr>
        <p:txBody>
          <a:bodyPr wrap="none" anchor="ctr"/>
          <a:lstStyle/>
          <a:p>
            <a:pPr algn="ctr">
              <a:spcBef>
                <a:spcPct val="50000"/>
              </a:spcBef>
            </a:pPr>
            <a:endParaRPr lang="en-GB"/>
          </a:p>
        </p:txBody>
      </p:sp>
      <p:sp>
        <p:nvSpPr>
          <p:cNvPr id="399365" name="Rectangle 3"/>
          <p:cNvSpPr>
            <a:spLocks noGrp="1" noChangeArrowheads="1"/>
          </p:cNvSpPr>
          <p:nvPr>
            <p:ph type="title"/>
          </p:nvPr>
        </p:nvSpPr>
        <p:spPr>
          <a:xfrm>
            <a:off x="1773238" y="320675"/>
            <a:ext cx="6624637" cy="858838"/>
          </a:xfrm>
        </p:spPr>
        <p:txBody>
          <a:bodyPr/>
          <a:lstStyle/>
          <a:p>
            <a:pPr eaLnBrk="1" hangingPunct="1">
              <a:lnSpc>
                <a:spcPct val="80000"/>
              </a:lnSpc>
            </a:pPr>
            <a:r>
              <a:rPr lang="en-US" sz="3600" smtClean="0"/>
              <a:t>Exponential Distribution </a:t>
            </a:r>
            <a:br>
              <a:rPr lang="en-US" sz="3600" smtClean="0"/>
            </a:br>
            <a:r>
              <a:rPr lang="en-US" sz="3600" smtClean="0"/>
              <a:t>Example</a:t>
            </a:r>
          </a:p>
        </p:txBody>
      </p:sp>
      <p:sp>
        <p:nvSpPr>
          <p:cNvPr id="399366" name="Text Box 4"/>
          <p:cNvSpPr txBox="1">
            <a:spLocks noChangeArrowheads="1"/>
          </p:cNvSpPr>
          <p:nvPr/>
        </p:nvSpPr>
        <p:spPr bwMode="auto">
          <a:xfrm>
            <a:off x="838200" y="1752600"/>
            <a:ext cx="7620000" cy="1552575"/>
          </a:xfrm>
          <a:prstGeom prst="rect">
            <a:avLst/>
          </a:prstGeom>
          <a:noFill/>
          <a:ln w="9525">
            <a:noFill/>
            <a:miter lim="800000"/>
            <a:headEnd/>
            <a:tailEnd/>
          </a:ln>
        </p:spPr>
        <p:txBody>
          <a:bodyPr>
            <a:spAutoFit/>
          </a:bodyPr>
          <a:lstStyle/>
          <a:p>
            <a:pPr>
              <a:spcBef>
                <a:spcPct val="50000"/>
              </a:spcBef>
            </a:pPr>
            <a:r>
              <a:rPr lang="en-US">
                <a:solidFill>
                  <a:schemeClr val="hlink"/>
                </a:solidFill>
              </a:rPr>
              <a:t>Example:</a:t>
            </a:r>
            <a:r>
              <a:rPr lang="en-US"/>
              <a:t> Customers arrive at the service counter at the rate of 15 per hour.  </a:t>
            </a:r>
            <a:r>
              <a:rPr lang="en-US">
                <a:solidFill>
                  <a:schemeClr val="folHlink"/>
                </a:solidFill>
              </a:rPr>
              <a:t>What is the probability that the arrival time between consecutive customers is less than three minutes?</a:t>
            </a:r>
          </a:p>
        </p:txBody>
      </p:sp>
      <p:sp>
        <p:nvSpPr>
          <p:cNvPr id="399367" name="Text Box 5"/>
          <p:cNvSpPr txBox="1">
            <a:spLocks noChangeArrowheads="1"/>
          </p:cNvSpPr>
          <p:nvPr/>
        </p:nvSpPr>
        <p:spPr bwMode="auto">
          <a:xfrm>
            <a:off x="609600" y="3505200"/>
            <a:ext cx="8077200" cy="2862263"/>
          </a:xfrm>
          <a:prstGeom prst="rect">
            <a:avLst/>
          </a:prstGeom>
          <a:noFill/>
          <a:ln w="9525">
            <a:noFill/>
            <a:miter lim="800000"/>
            <a:headEnd/>
            <a:tailEnd/>
          </a:ln>
        </p:spPr>
        <p:txBody>
          <a:bodyPr>
            <a:spAutoFit/>
          </a:bodyPr>
          <a:lstStyle/>
          <a:p>
            <a:pPr marL="457200" indent="-457200">
              <a:spcBef>
                <a:spcPct val="50000"/>
              </a:spcBef>
              <a:buClr>
                <a:schemeClr val="folHlink"/>
              </a:buClr>
              <a:buFont typeface="Wingdings" pitchFamily="2" charset="2"/>
              <a:buChar char="§"/>
            </a:pPr>
            <a:r>
              <a:rPr lang="en-US"/>
              <a:t>The mean number of arrivals per hour is 15, so </a:t>
            </a:r>
            <a:r>
              <a:rPr lang="el-GR"/>
              <a:t>λ</a:t>
            </a:r>
            <a:r>
              <a:rPr lang="en-US">
                <a:sym typeface="Arial" charset="0"/>
              </a:rPr>
              <a:t> = 15</a:t>
            </a:r>
          </a:p>
          <a:p>
            <a:pPr marL="457200" indent="-457200">
              <a:spcBef>
                <a:spcPct val="50000"/>
              </a:spcBef>
              <a:buClr>
                <a:schemeClr val="folHlink"/>
              </a:buClr>
              <a:buFont typeface="Wingdings" pitchFamily="2" charset="2"/>
              <a:buChar char="§"/>
            </a:pPr>
            <a:r>
              <a:rPr lang="en-US">
                <a:sym typeface="Arial" charset="0"/>
              </a:rPr>
              <a:t>Three minutes is 0.05 hours</a:t>
            </a:r>
          </a:p>
          <a:p>
            <a:pPr marL="457200" indent="-457200">
              <a:spcBef>
                <a:spcPct val="50000"/>
              </a:spcBef>
              <a:buClr>
                <a:schemeClr val="folHlink"/>
              </a:buClr>
              <a:buFont typeface="Wingdings" pitchFamily="2" charset="2"/>
              <a:buChar char="§"/>
            </a:pPr>
            <a:r>
              <a:rPr lang="en-US">
                <a:solidFill>
                  <a:schemeClr val="folHlink"/>
                </a:solidFill>
                <a:sym typeface="Arial" charset="0"/>
              </a:rPr>
              <a:t>P(arrival time &lt; .05)</a:t>
            </a:r>
            <a:r>
              <a:rPr lang="en-US">
                <a:sym typeface="Arial" charset="0"/>
              </a:rPr>
              <a:t> = 1 – e</a:t>
            </a:r>
            <a:r>
              <a:rPr lang="en-US" baseline="30000">
                <a:sym typeface="Arial" charset="0"/>
              </a:rPr>
              <a:t>-</a:t>
            </a:r>
            <a:r>
              <a:rPr lang="el-GR" baseline="30000"/>
              <a:t>λ</a:t>
            </a:r>
            <a:r>
              <a:rPr lang="en-US" baseline="30000"/>
              <a:t>X</a:t>
            </a:r>
            <a:r>
              <a:rPr lang="en-US">
                <a:sym typeface="Arial" charset="0"/>
              </a:rPr>
              <a:t> = 1 – e</a:t>
            </a:r>
            <a:r>
              <a:rPr lang="en-US" baseline="30000">
                <a:sym typeface="Arial" charset="0"/>
              </a:rPr>
              <a:t>-(15)(0.05)</a:t>
            </a:r>
            <a:r>
              <a:rPr lang="en-US">
                <a:sym typeface="Arial" charset="0"/>
              </a:rPr>
              <a:t> =  </a:t>
            </a:r>
            <a:r>
              <a:rPr lang="en-US">
                <a:solidFill>
                  <a:schemeClr val="folHlink"/>
                </a:solidFill>
                <a:sym typeface="Arial" charset="0"/>
              </a:rPr>
              <a:t>0.5276</a:t>
            </a:r>
          </a:p>
          <a:p>
            <a:pPr marL="457200" indent="-457200">
              <a:spcBef>
                <a:spcPct val="50000"/>
              </a:spcBef>
              <a:buClr>
                <a:schemeClr val="folHlink"/>
              </a:buClr>
              <a:buFont typeface="Wingdings" pitchFamily="2" charset="2"/>
              <a:buChar char="§"/>
            </a:pPr>
            <a:r>
              <a:rPr lang="en-US">
                <a:sym typeface="Arial" charset="0"/>
              </a:rPr>
              <a:t>So there is a 52.76% chance that the arrival time between successive customers is less than three minutes</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5" name="Rectangle 4"/>
          <p:cNvSpPr>
            <a:spLocks noGrp="1" noChangeArrowheads="1"/>
          </p:cNvSpPr>
          <p:nvPr>
            <p:ph type="ftr" sz="quarter" idx="10"/>
          </p:nvPr>
        </p:nvSpPr>
        <p:spPr>
          <a:noFill/>
        </p:spPr>
        <p:txBody>
          <a:bodyPr/>
          <a:lstStyle/>
          <a:p>
            <a:r>
              <a:rPr lang="en-US" smtClean="0"/>
              <a:t>Copyright ©2012 Pearson Education</a:t>
            </a:r>
          </a:p>
        </p:txBody>
      </p:sp>
      <p:sp>
        <p:nvSpPr>
          <p:cNvPr id="400386" name="Rectangle 5"/>
          <p:cNvSpPr>
            <a:spLocks noGrp="1" noChangeArrowheads="1"/>
          </p:cNvSpPr>
          <p:nvPr>
            <p:ph type="sldNum" sz="quarter" idx="11"/>
          </p:nvPr>
        </p:nvSpPr>
        <p:spPr>
          <a:noFill/>
        </p:spPr>
        <p:txBody>
          <a:bodyPr/>
          <a:lstStyle/>
          <a:p>
            <a:r>
              <a:rPr lang="en-US" smtClean="0"/>
              <a:t>Chap 6-</a:t>
            </a:r>
            <a:fld id="{D69B60C1-E803-47BD-A4B7-8162BD4A4E8C}" type="slidenum">
              <a:rPr lang="en-US" smtClean="0"/>
              <a:pPr/>
              <a:t>56</a:t>
            </a:fld>
            <a:endParaRPr lang="en-US" smtClean="0"/>
          </a:p>
        </p:txBody>
      </p:sp>
      <p:sp>
        <p:nvSpPr>
          <p:cNvPr id="400387"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F86D82C0-F2CC-4C46-8890-F092D5050136}" type="slidenum">
              <a:rPr lang="en-US" sz="1000"/>
              <a:pPr algn="r" defTabSz="852488"/>
              <a:t>56</a:t>
            </a:fld>
            <a:endParaRPr lang="en-US" sz="1000"/>
          </a:p>
        </p:txBody>
      </p:sp>
      <p:sp>
        <p:nvSpPr>
          <p:cNvPr id="400388" name="Rectangle 2"/>
          <p:cNvSpPr>
            <a:spLocks noGrp="1" noChangeArrowheads="1"/>
          </p:cNvSpPr>
          <p:nvPr>
            <p:ph type="title"/>
          </p:nvPr>
        </p:nvSpPr>
        <p:spPr/>
        <p:txBody>
          <a:bodyPr/>
          <a:lstStyle/>
          <a:p>
            <a:pPr eaLnBrk="1" hangingPunct="1"/>
            <a:r>
              <a:rPr lang="en-US" sz="3600" smtClean="0"/>
              <a:t>The Exponential Distribution</a:t>
            </a:r>
            <a:br>
              <a:rPr lang="en-US" sz="3600" smtClean="0"/>
            </a:br>
            <a:r>
              <a:rPr lang="en-US" sz="3600" smtClean="0"/>
              <a:t>In Excel</a:t>
            </a:r>
          </a:p>
        </p:txBody>
      </p:sp>
      <p:pic>
        <p:nvPicPr>
          <p:cNvPr id="400389" name="Picture 4" descr="Figure 6"/>
          <p:cNvPicPr>
            <a:picLocks noGrp="1" noChangeAspect="1" noChangeArrowheads="1"/>
          </p:cNvPicPr>
          <p:nvPr>
            <p:ph type="body" idx="1"/>
          </p:nvPr>
        </p:nvPicPr>
        <p:blipFill>
          <a:blip r:embed="rId2"/>
          <a:srcRect/>
          <a:stretch>
            <a:fillRect/>
          </a:stretch>
        </p:blipFill>
        <p:spPr>
          <a:xfrm>
            <a:off x="762000" y="2895600"/>
            <a:ext cx="6553200" cy="2782888"/>
          </a:xfrm>
        </p:spPr>
      </p:pic>
      <p:sp>
        <p:nvSpPr>
          <p:cNvPr id="400390" name="Text Box 5"/>
          <p:cNvSpPr txBox="1">
            <a:spLocks noChangeArrowheads="1"/>
          </p:cNvSpPr>
          <p:nvPr/>
        </p:nvSpPr>
        <p:spPr bwMode="auto">
          <a:xfrm>
            <a:off x="1127125" y="1563688"/>
            <a:ext cx="7331075" cy="830262"/>
          </a:xfrm>
          <a:prstGeom prst="rect">
            <a:avLst/>
          </a:prstGeom>
          <a:noFill/>
          <a:ln w="9525" algn="ctr">
            <a:noFill/>
            <a:miter lim="800000"/>
            <a:headEnd/>
            <a:tailEnd/>
          </a:ln>
        </p:spPr>
        <p:txBody>
          <a:bodyPr>
            <a:spAutoFit/>
          </a:bodyPr>
          <a:lstStyle/>
          <a:p>
            <a:pPr algn="ctr">
              <a:spcBef>
                <a:spcPct val="50000"/>
              </a:spcBef>
            </a:pPr>
            <a:r>
              <a:rPr lang="en-US" b="1"/>
              <a:t>Calculating the probability that an exponential distribution with a mean of 20 is less than 0.1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09" name="Rectangle 4"/>
          <p:cNvSpPr>
            <a:spLocks noGrp="1" noChangeArrowheads="1"/>
          </p:cNvSpPr>
          <p:nvPr>
            <p:ph type="ftr" sz="quarter" idx="10"/>
          </p:nvPr>
        </p:nvSpPr>
        <p:spPr>
          <a:noFill/>
        </p:spPr>
        <p:txBody>
          <a:bodyPr/>
          <a:lstStyle/>
          <a:p>
            <a:r>
              <a:rPr lang="en-US" smtClean="0"/>
              <a:t>Copyright ©2012 Pearson Education</a:t>
            </a:r>
          </a:p>
        </p:txBody>
      </p:sp>
      <p:sp>
        <p:nvSpPr>
          <p:cNvPr id="401410" name="Rectangle 5"/>
          <p:cNvSpPr>
            <a:spLocks noGrp="1" noChangeArrowheads="1"/>
          </p:cNvSpPr>
          <p:nvPr>
            <p:ph type="sldNum" sz="quarter" idx="11"/>
          </p:nvPr>
        </p:nvSpPr>
        <p:spPr>
          <a:noFill/>
        </p:spPr>
        <p:txBody>
          <a:bodyPr/>
          <a:lstStyle/>
          <a:p>
            <a:r>
              <a:rPr lang="en-US" smtClean="0"/>
              <a:t>Chap 6-</a:t>
            </a:r>
            <a:fld id="{4C7CFA5C-7D61-4413-A5FA-7AB94BC14FDD}" type="slidenum">
              <a:rPr lang="en-US" smtClean="0"/>
              <a:pPr/>
              <a:t>57</a:t>
            </a:fld>
            <a:endParaRPr lang="en-US" smtClean="0"/>
          </a:p>
        </p:txBody>
      </p:sp>
      <p:sp>
        <p:nvSpPr>
          <p:cNvPr id="401411" name="Title 1"/>
          <p:cNvSpPr>
            <a:spLocks noGrp="1"/>
          </p:cNvSpPr>
          <p:nvPr>
            <p:ph type="title"/>
          </p:nvPr>
        </p:nvSpPr>
        <p:spPr>
          <a:xfrm>
            <a:off x="1150938" y="457200"/>
            <a:ext cx="7383462" cy="990600"/>
          </a:xfrm>
        </p:spPr>
        <p:txBody>
          <a:bodyPr/>
          <a:lstStyle/>
          <a:p>
            <a:pPr eaLnBrk="1" hangingPunct="1"/>
            <a:r>
              <a:rPr lang="en-US" smtClean="0"/>
              <a:t>The Exponential Distribution In Minitab</a:t>
            </a:r>
          </a:p>
        </p:txBody>
      </p:sp>
      <p:sp>
        <p:nvSpPr>
          <p:cNvPr id="401412" name="Slide Number Placeholder 3"/>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38A1F23E-C165-45F7-954F-BD016998B97C}" type="slidenum">
              <a:rPr lang="en-US" sz="1000"/>
              <a:pPr algn="r" defTabSz="852488"/>
              <a:t>57</a:t>
            </a:fld>
            <a:endParaRPr lang="en-US" sz="1000"/>
          </a:p>
        </p:txBody>
      </p:sp>
      <p:pic>
        <p:nvPicPr>
          <p:cNvPr id="401413" name="Picture 2"/>
          <p:cNvPicPr>
            <a:picLocks noChangeAspect="1" noChangeArrowheads="1"/>
          </p:cNvPicPr>
          <p:nvPr/>
        </p:nvPicPr>
        <p:blipFill>
          <a:blip r:embed="rId2"/>
          <a:srcRect r="67448" b="27083"/>
          <a:stretch>
            <a:fillRect/>
          </a:stretch>
        </p:blipFill>
        <p:spPr bwMode="auto">
          <a:xfrm>
            <a:off x="152400" y="1981200"/>
            <a:ext cx="3319463" cy="4648200"/>
          </a:xfrm>
          <a:prstGeom prst="rect">
            <a:avLst/>
          </a:prstGeom>
          <a:noFill/>
          <a:ln w="9525">
            <a:noFill/>
            <a:miter lim="800000"/>
            <a:headEnd/>
            <a:tailEnd/>
          </a:ln>
        </p:spPr>
      </p:pic>
      <p:pic>
        <p:nvPicPr>
          <p:cNvPr id="401414" name="Picture 4"/>
          <p:cNvPicPr>
            <a:picLocks noChangeAspect="1" noChangeArrowheads="1"/>
          </p:cNvPicPr>
          <p:nvPr/>
        </p:nvPicPr>
        <p:blipFill>
          <a:blip r:embed="rId3"/>
          <a:srcRect l="3906" t="20833" r="66145" b="41667"/>
          <a:stretch>
            <a:fillRect/>
          </a:stretch>
        </p:blipFill>
        <p:spPr bwMode="auto">
          <a:xfrm>
            <a:off x="4495800" y="2057400"/>
            <a:ext cx="4186238" cy="3276600"/>
          </a:xfrm>
          <a:prstGeom prst="rect">
            <a:avLst/>
          </a:prstGeom>
          <a:noFill/>
          <a:ln w="9525">
            <a:noFill/>
            <a:miter lim="800000"/>
            <a:headEnd/>
            <a:tailEnd/>
          </a:ln>
        </p:spPr>
      </p:pic>
      <p:sp>
        <p:nvSpPr>
          <p:cNvPr id="401415" name="Rectangle 8"/>
          <p:cNvSpPr>
            <a:spLocks noChangeArrowheads="1"/>
          </p:cNvSpPr>
          <p:nvPr/>
        </p:nvSpPr>
        <p:spPr bwMode="auto">
          <a:xfrm>
            <a:off x="4419600" y="5334000"/>
            <a:ext cx="4572000" cy="1446213"/>
          </a:xfrm>
          <a:prstGeom prst="rect">
            <a:avLst/>
          </a:prstGeom>
          <a:noFill/>
          <a:ln w="9525">
            <a:noFill/>
            <a:miter lim="800000"/>
            <a:headEnd/>
            <a:tailEnd/>
          </a:ln>
        </p:spPr>
        <p:txBody>
          <a:bodyPr>
            <a:spAutoFit/>
          </a:bodyPr>
          <a:lstStyle/>
          <a:p>
            <a:pPr algn="ctr">
              <a:spcBef>
                <a:spcPct val="50000"/>
              </a:spcBef>
            </a:pPr>
            <a:r>
              <a:rPr lang="en-US" sz="1600" b="1"/>
              <a:t>Cumulative Distribution Function </a:t>
            </a:r>
          </a:p>
          <a:p>
            <a:pPr algn="ctr">
              <a:spcBef>
                <a:spcPct val="50000"/>
              </a:spcBef>
            </a:pPr>
            <a:r>
              <a:rPr lang="en-US" sz="1600"/>
              <a:t>Exponential with mean = 0.05</a:t>
            </a:r>
          </a:p>
          <a:p>
            <a:pPr algn="ctr">
              <a:spcBef>
                <a:spcPct val="50000"/>
              </a:spcBef>
            </a:pPr>
            <a:r>
              <a:rPr lang="en-US" sz="1600"/>
              <a:t>  x  P( X &lt;= x )</a:t>
            </a:r>
          </a:p>
          <a:p>
            <a:pPr algn="ctr">
              <a:spcBef>
                <a:spcPct val="50000"/>
              </a:spcBef>
            </a:pPr>
            <a:r>
              <a:rPr lang="en-US" sz="1600"/>
              <a:t>0.1     0.864665</a:t>
            </a:r>
          </a:p>
        </p:txBody>
      </p:sp>
      <p:sp>
        <p:nvSpPr>
          <p:cNvPr id="401416" name="Text Box 5"/>
          <p:cNvSpPr txBox="1">
            <a:spLocks noChangeArrowheads="1"/>
          </p:cNvSpPr>
          <p:nvPr/>
        </p:nvSpPr>
        <p:spPr bwMode="auto">
          <a:xfrm>
            <a:off x="1127125" y="1371600"/>
            <a:ext cx="7331075" cy="646113"/>
          </a:xfrm>
          <a:prstGeom prst="rect">
            <a:avLst/>
          </a:prstGeom>
          <a:solidFill>
            <a:schemeClr val="accent2"/>
          </a:solidFill>
          <a:ln w="9525" algn="ctr">
            <a:noFill/>
            <a:miter lim="800000"/>
            <a:headEnd/>
            <a:tailEnd/>
          </a:ln>
        </p:spPr>
        <p:txBody>
          <a:bodyPr>
            <a:spAutoFit/>
          </a:bodyPr>
          <a:lstStyle/>
          <a:p>
            <a:pPr algn="ctr">
              <a:spcBef>
                <a:spcPct val="50000"/>
              </a:spcBef>
            </a:pPr>
            <a:r>
              <a:rPr lang="en-US" sz="1800" b="1"/>
              <a:t>Calculating the probability that an exponential distribution with a mean of 1/20 is less than 0.1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3" name="Rectangle 4"/>
          <p:cNvSpPr>
            <a:spLocks noGrp="1" noChangeArrowheads="1"/>
          </p:cNvSpPr>
          <p:nvPr>
            <p:ph type="ftr" sz="quarter" idx="10"/>
          </p:nvPr>
        </p:nvSpPr>
        <p:spPr>
          <a:noFill/>
        </p:spPr>
        <p:txBody>
          <a:bodyPr/>
          <a:lstStyle/>
          <a:p>
            <a:r>
              <a:rPr lang="en-US" smtClean="0"/>
              <a:t>Copyright ©2012 Pearson Education</a:t>
            </a:r>
          </a:p>
        </p:txBody>
      </p:sp>
      <p:sp>
        <p:nvSpPr>
          <p:cNvPr id="402434" name="Rectangle 5"/>
          <p:cNvSpPr>
            <a:spLocks noGrp="1" noChangeArrowheads="1"/>
          </p:cNvSpPr>
          <p:nvPr>
            <p:ph type="sldNum" sz="quarter" idx="11"/>
          </p:nvPr>
        </p:nvSpPr>
        <p:spPr>
          <a:noFill/>
        </p:spPr>
        <p:txBody>
          <a:bodyPr/>
          <a:lstStyle/>
          <a:p>
            <a:r>
              <a:rPr lang="en-US" smtClean="0"/>
              <a:t>Chap 6-</a:t>
            </a:r>
            <a:fld id="{3033CC23-9BF4-4B37-BDAA-1439883921CE}" type="slidenum">
              <a:rPr lang="en-US" smtClean="0"/>
              <a:pPr/>
              <a:t>58</a:t>
            </a:fld>
            <a:endParaRPr lang="en-US" smtClean="0"/>
          </a:p>
        </p:txBody>
      </p:sp>
      <p:sp>
        <p:nvSpPr>
          <p:cNvPr id="402435"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6-</a:t>
            </a:r>
            <a:fld id="{F5741771-7529-4849-99A0-570138D843A8}" type="slidenum">
              <a:rPr lang="en-US" sz="1000"/>
              <a:pPr algn="r" defTabSz="852488"/>
              <a:t>58</a:t>
            </a:fld>
            <a:endParaRPr lang="en-US" sz="1000"/>
          </a:p>
        </p:txBody>
      </p:sp>
      <p:sp>
        <p:nvSpPr>
          <p:cNvPr id="402436" name="Rectangle 2"/>
          <p:cNvSpPr>
            <a:spLocks noGrp="1" noChangeArrowheads="1"/>
          </p:cNvSpPr>
          <p:nvPr>
            <p:ph type="title"/>
          </p:nvPr>
        </p:nvSpPr>
        <p:spPr/>
        <p:txBody>
          <a:bodyPr/>
          <a:lstStyle/>
          <a:p>
            <a:pPr eaLnBrk="1" hangingPunct="1"/>
            <a:r>
              <a:rPr lang="en-US" smtClean="0"/>
              <a:t>Chapter Summary</a:t>
            </a:r>
          </a:p>
        </p:txBody>
      </p:sp>
      <p:sp>
        <p:nvSpPr>
          <p:cNvPr id="402437" name="Rectangle 3"/>
          <p:cNvSpPr>
            <a:spLocks noGrp="1" noChangeArrowheads="1"/>
          </p:cNvSpPr>
          <p:nvPr>
            <p:ph type="body" idx="1"/>
          </p:nvPr>
        </p:nvSpPr>
        <p:spPr>
          <a:xfrm>
            <a:off x="762000" y="1676400"/>
            <a:ext cx="8153400" cy="4532313"/>
          </a:xfrm>
        </p:spPr>
        <p:txBody>
          <a:bodyPr/>
          <a:lstStyle/>
          <a:p>
            <a:pPr eaLnBrk="1" hangingPunct="1">
              <a:lnSpc>
                <a:spcPct val="120000"/>
              </a:lnSpc>
              <a:spcBef>
                <a:spcPct val="30000"/>
              </a:spcBef>
            </a:pPr>
            <a:r>
              <a:rPr lang="en-US" smtClean="0"/>
              <a:t>Presented key continuous distributions</a:t>
            </a:r>
          </a:p>
          <a:p>
            <a:pPr lvl="1" eaLnBrk="1" hangingPunct="1">
              <a:lnSpc>
                <a:spcPct val="80000"/>
              </a:lnSpc>
              <a:spcBef>
                <a:spcPct val="30000"/>
              </a:spcBef>
            </a:pPr>
            <a:r>
              <a:rPr lang="en-US" smtClean="0"/>
              <a:t> 	normal, uniform, exponential</a:t>
            </a:r>
          </a:p>
          <a:p>
            <a:pPr eaLnBrk="1" hangingPunct="1">
              <a:lnSpc>
                <a:spcPct val="130000"/>
              </a:lnSpc>
              <a:spcBef>
                <a:spcPct val="30000"/>
              </a:spcBef>
            </a:pPr>
            <a:r>
              <a:rPr lang="en-US" smtClean="0"/>
              <a:t>Found probabilities using formulas and tables</a:t>
            </a:r>
          </a:p>
          <a:p>
            <a:pPr eaLnBrk="1" hangingPunct="1">
              <a:lnSpc>
                <a:spcPct val="130000"/>
              </a:lnSpc>
              <a:spcBef>
                <a:spcPct val="30000"/>
              </a:spcBef>
            </a:pPr>
            <a:r>
              <a:rPr lang="en-US" smtClean="0"/>
              <a:t>Recognized when to apply different distributions </a:t>
            </a:r>
          </a:p>
          <a:p>
            <a:pPr eaLnBrk="1" hangingPunct="1">
              <a:lnSpc>
                <a:spcPct val="130000"/>
              </a:lnSpc>
              <a:spcBef>
                <a:spcPct val="30000"/>
              </a:spcBef>
            </a:pPr>
            <a:r>
              <a:rPr lang="en-US" smtClean="0"/>
              <a:t>Applied distributions to decision problems</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7" name="Rectangle 14"/>
          <p:cNvSpPr>
            <a:spLocks noGrp="1" noChangeArrowheads="1"/>
          </p:cNvSpPr>
          <p:nvPr>
            <p:ph type="ftr" sz="quarter" idx="10"/>
          </p:nvPr>
        </p:nvSpPr>
        <p:spPr>
          <a:noFill/>
        </p:spPr>
        <p:txBody>
          <a:bodyPr/>
          <a:lstStyle/>
          <a:p>
            <a:r>
              <a:rPr lang="en-US" smtClean="0"/>
              <a:t>Copyright ©2012 Pearson Education</a:t>
            </a:r>
          </a:p>
        </p:txBody>
      </p:sp>
      <p:sp>
        <p:nvSpPr>
          <p:cNvPr id="403458" name="Rectangle 15"/>
          <p:cNvSpPr>
            <a:spLocks noGrp="1" noChangeArrowheads="1"/>
          </p:cNvSpPr>
          <p:nvPr>
            <p:ph type="sldNum" sz="quarter" idx="11"/>
          </p:nvPr>
        </p:nvSpPr>
        <p:spPr>
          <a:noFill/>
        </p:spPr>
        <p:txBody>
          <a:bodyPr/>
          <a:lstStyle/>
          <a:p>
            <a:r>
              <a:rPr lang="en-US" smtClean="0"/>
              <a:t>Chap 6-</a:t>
            </a:r>
            <a:fld id="{42EB8F2D-FA7B-40F1-A20E-3C1F49DE2A47}" type="slidenum">
              <a:rPr lang="en-US" smtClean="0"/>
              <a:pPr/>
              <a:t>59</a:t>
            </a:fld>
            <a:endParaRPr lang="en-US" smtClean="0"/>
          </a:p>
        </p:txBody>
      </p:sp>
      <p:sp>
        <p:nvSpPr>
          <p:cNvPr id="403459" name="Rectangle 3"/>
          <p:cNvSpPr>
            <a:spLocks noGrp="1" noChangeArrowheads="1"/>
          </p:cNvSpPr>
          <p:nvPr>
            <p:ph type="subTitle" idx="1"/>
          </p:nvPr>
        </p:nvSpPr>
        <p:spPr>
          <a:xfrm>
            <a:off x="1371600" y="3581400"/>
            <a:ext cx="6934200" cy="2366963"/>
          </a:xfrm>
        </p:spPr>
        <p:txBody>
          <a:bodyPr/>
          <a:lstStyle/>
          <a:p>
            <a:pPr eaLnBrk="1" hangingPunct="1"/>
            <a:r>
              <a:rPr lang="en-US" sz="3500" b="1" smtClean="0"/>
              <a:t>On Line Topic</a:t>
            </a:r>
          </a:p>
          <a:p>
            <a:pPr eaLnBrk="1" hangingPunct="1"/>
            <a:endParaRPr lang="en-US" sz="3500" smtClean="0"/>
          </a:p>
          <a:p>
            <a:pPr eaLnBrk="1" hangingPunct="1"/>
            <a:r>
              <a:rPr lang="en-US" sz="3500" smtClean="0"/>
              <a:t>The Normal Approximation To The Binomial</a:t>
            </a:r>
          </a:p>
        </p:txBody>
      </p:sp>
      <p:sp>
        <p:nvSpPr>
          <p:cNvPr id="403460" name="Rectangle 6"/>
          <p:cNvSpPr>
            <a:spLocks noChangeArrowheads="1"/>
          </p:cNvSpPr>
          <p:nvPr/>
        </p:nvSpPr>
        <p:spPr bwMode="auto">
          <a:xfrm>
            <a:off x="1447800" y="838200"/>
            <a:ext cx="7010400" cy="2062163"/>
          </a:xfrm>
          <a:prstGeom prst="rect">
            <a:avLst/>
          </a:prstGeom>
          <a:noFill/>
          <a:ln w="9525">
            <a:noFill/>
            <a:miter lim="800000"/>
            <a:headEnd/>
            <a:tailEnd/>
          </a:ln>
        </p:spPr>
        <p:txBody>
          <a:bodyPr lIns="85342" tIns="42672" rIns="85342" bIns="42672" anchor="b"/>
          <a:lstStyle/>
          <a:p>
            <a:pPr algn="ctr" defTabSz="852488">
              <a:spcBef>
                <a:spcPct val="50000"/>
              </a:spcBef>
            </a:pPr>
            <a:r>
              <a:rPr lang="en-US" sz="4000" i="1">
                <a:solidFill>
                  <a:schemeClr val="folHlink"/>
                </a:solidFill>
              </a:rPr>
              <a:t>Basic Business Statistics</a:t>
            </a:r>
            <a:r>
              <a:rPr lang="en-US" sz="4100">
                <a:solidFill>
                  <a:schemeClr val="folHlink"/>
                </a:solidFill>
              </a:rPr>
              <a:t/>
            </a:r>
            <a:br>
              <a:rPr lang="en-US" sz="4100">
                <a:solidFill>
                  <a:schemeClr val="folHlink"/>
                </a:solidFill>
              </a:rPr>
            </a:br>
            <a:r>
              <a:rPr lang="en-US" sz="3600">
                <a:solidFill>
                  <a:schemeClr val="folHlink"/>
                </a:solidFill>
              </a:rPr>
              <a:t>12</a:t>
            </a:r>
            <a:r>
              <a:rPr lang="en-US" sz="3600" baseline="30000">
                <a:solidFill>
                  <a:schemeClr val="folHlink"/>
                </a:solidFill>
              </a:rPr>
              <a:t>th</a:t>
            </a:r>
            <a:r>
              <a:rPr lang="en-US" sz="3600">
                <a:solidFill>
                  <a:schemeClr val="folHlink"/>
                </a:solidFill>
              </a:rPr>
              <a:t> Edition</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5" name="Rectangle 4"/>
          <p:cNvSpPr>
            <a:spLocks noGrp="1" noChangeArrowheads="1"/>
          </p:cNvSpPr>
          <p:nvPr>
            <p:ph type="ftr" sz="quarter" idx="10"/>
          </p:nvPr>
        </p:nvSpPr>
        <p:spPr>
          <a:noFill/>
        </p:spPr>
        <p:txBody>
          <a:bodyPr/>
          <a:lstStyle/>
          <a:p>
            <a:r>
              <a:rPr lang="en-US" smtClean="0"/>
              <a:t>Copyright ©2012 Pearson Education</a:t>
            </a:r>
          </a:p>
        </p:txBody>
      </p:sp>
      <p:sp>
        <p:nvSpPr>
          <p:cNvPr id="405506" name="Rectangle 5"/>
          <p:cNvSpPr>
            <a:spLocks noGrp="1" noChangeArrowheads="1"/>
          </p:cNvSpPr>
          <p:nvPr>
            <p:ph type="sldNum" sz="quarter" idx="11"/>
          </p:nvPr>
        </p:nvSpPr>
        <p:spPr>
          <a:noFill/>
        </p:spPr>
        <p:txBody>
          <a:bodyPr/>
          <a:lstStyle/>
          <a:p>
            <a:r>
              <a:rPr lang="en-US" smtClean="0"/>
              <a:t>Chap 6-</a:t>
            </a:r>
            <a:fld id="{7D46A3B0-84CF-43C7-8253-BC2255CF2BD5}" type="slidenum">
              <a:rPr lang="en-US" smtClean="0"/>
              <a:pPr/>
              <a:t>60</a:t>
            </a:fld>
            <a:endParaRPr lang="en-US" smtClean="0"/>
          </a:p>
        </p:txBody>
      </p:sp>
      <p:sp>
        <p:nvSpPr>
          <p:cNvPr id="405507" name="Rectangle 2"/>
          <p:cNvSpPr>
            <a:spLocks noGrp="1" noChangeArrowheads="1"/>
          </p:cNvSpPr>
          <p:nvPr>
            <p:ph type="title"/>
          </p:nvPr>
        </p:nvSpPr>
        <p:spPr/>
        <p:txBody>
          <a:bodyPr/>
          <a:lstStyle/>
          <a:p>
            <a:pPr eaLnBrk="1" hangingPunct="1"/>
            <a:r>
              <a:rPr lang="en-US" smtClean="0"/>
              <a:t>Learning Objectives</a:t>
            </a:r>
          </a:p>
        </p:txBody>
      </p:sp>
      <p:sp>
        <p:nvSpPr>
          <p:cNvPr id="405508" name="Rectangle 3"/>
          <p:cNvSpPr>
            <a:spLocks noGrp="1" noChangeArrowheads="1"/>
          </p:cNvSpPr>
          <p:nvPr>
            <p:ph type="body" idx="1"/>
          </p:nvPr>
        </p:nvSpPr>
        <p:spPr>
          <a:xfrm>
            <a:off x="685800" y="1600200"/>
            <a:ext cx="8153400" cy="4572000"/>
          </a:xfrm>
        </p:spPr>
        <p:txBody>
          <a:bodyPr/>
          <a:lstStyle/>
          <a:p>
            <a:pPr eaLnBrk="1" hangingPunct="1">
              <a:lnSpc>
                <a:spcPct val="110000"/>
              </a:lnSpc>
              <a:spcBef>
                <a:spcPct val="50000"/>
              </a:spcBef>
              <a:buFont typeface="Wingdings" pitchFamily="2" charset="2"/>
              <a:buNone/>
            </a:pPr>
            <a:r>
              <a:rPr lang="en-US" b="1" smtClean="0"/>
              <a:t>In this topic, you learn:</a:t>
            </a:r>
            <a:r>
              <a:rPr lang="en-US" smtClean="0"/>
              <a:t> </a:t>
            </a:r>
          </a:p>
          <a:p>
            <a:pPr eaLnBrk="1" hangingPunct="1">
              <a:spcBef>
                <a:spcPct val="30000"/>
              </a:spcBef>
            </a:pPr>
            <a:r>
              <a:rPr lang="en-US" sz="2400" smtClean="0"/>
              <a:t>Why using a continuity adjustment yields a more accurate approximation</a:t>
            </a:r>
          </a:p>
          <a:p>
            <a:pPr eaLnBrk="1" hangingPunct="1">
              <a:spcBef>
                <a:spcPct val="30000"/>
              </a:spcBef>
            </a:pPr>
            <a:r>
              <a:rPr lang="en-US" sz="2400" smtClean="0"/>
              <a:t>To approximate binomial probabilities using the normal distribution</a:t>
            </a:r>
          </a:p>
          <a:p>
            <a:pPr eaLnBrk="1" hangingPunct="1">
              <a:spcBef>
                <a:spcPct val="30000"/>
              </a:spcBef>
              <a:buFont typeface="Wingdings" pitchFamily="2" charset="2"/>
              <a:buNone/>
            </a:pPr>
            <a:endParaRPr lang="en-US" sz="2400" smtClean="0"/>
          </a:p>
          <a:p>
            <a:pPr eaLnBrk="1" hangingPunct="1">
              <a:lnSpc>
                <a:spcPct val="110000"/>
              </a:lnSpc>
              <a:spcBef>
                <a:spcPct val="30000"/>
              </a:spcBef>
            </a:pPr>
            <a:endParaRPr lang="en-US" sz="2400" smtClean="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29" name="Rectangle 4"/>
          <p:cNvSpPr>
            <a:spLocks noGrp="1" noChangeArrowheads="1"/>
          </p:cNvSpPr>
          <p:nvPr>
            <p:ph type="ftr" sz="quarter" idx="10"/>
          </p:nvPr>
        </p:nvSpPr>
        <p:spPr>
          <a:noFill/>
        </p:spPr>
        <p:txBody>
          <a:bodyPr/>
          <a:lstStyle/>
          <a:p>
            <a:r>
              <a:rPr lang="en-US" smtClean="0"/>
              <a:t>Copyright ©2012 Pearson Education</a:t>
            </a:r>
          </a:p>
        </p:txBody>
      </p:sp>
      <p:sp>
        <p:nvSpPr>
          <p:cNvPr id="406530" name="Rectangle 5"/>
          <p:cNvSpPr>
            <a:spLocks noGrp="1" noChangeArrowheads="1"/>
          </p:cNvSpPr>
          <p:nvPr>
            <p:ph type="sldNum" sz="quarter" idx="11"/>
          </p:nvPr>
        </p:nvSpPr>
        <p:spPr>
          <a:noFill/>
        </p:spPr>
        <p:txBody>
          <a:bodyPr/>
          <a:lstStyle/>
          <a:p>
            <a:r>
              <a:rPr lang="en-US" smtClean="0"/>
              <a:t>Chap 6-</a:t>
            </a:r>
            <a:fld id="{D86CAC7F-E677-48F5-83F5-54820CAADD25}" type="slidenum">
              <a:rPr lang="en-US" smtClean="0"/>
              <a:pPr/>
              <a:t>61</a:t>
            </a:fld>
            <a:endParaRPr lang="en-US" smtClean="0"/>
          </a:p>
        </p:txBody>
      </p:sp>
      <p:sp>
        <p:nvSpPr>
          <p:cNvPr id="406531" name="Title 1"/>
          <p:cNvSpPr>
            <a:spLocks noGrp="1"/>
          </p:cNvSpPr>
          <p:nvPr>
            <p:ph type="title"/>
          </p:nvPr>
        </p:nvSpPr>
        <p:spPr/>
        <p:txBody>
          <a:bodyPr/>
          <a:lstStyle/>
          <a:p>
            <a:pPr eaLnBrk="1" hangingPunct="1"/>
            <a:r>
              <a:rPr lang="en-US" sz="3600" smtClean="0"/>
              <a:t>Using A Normal Distribution To Approximate A Binomial Probability</a:t>
            </a:r>
          </a:p>
        </p:txBody>
      </p:sp>
      <p:sp>
        <p:nvSpPr>
          <p:cNvPr id="406532" name="Content Placeholder 2"/>
          <p:cNvSpPr>
            <a:spLocks noGrp="1"/>
          </p:cNvSpPr>
          <p:nvPr>
            <p:ph idx="1"/>
          </p:nvPr>
        </p:nvSpPr>
        <p:spPr/>
        <p:txBody>
          <a:bodyPr/>
          <a:lstStyle/>
          <a:p>
            <a:pPr eaLnBrk="1" hangingPunct="1"/>
            <a:r>
              <a:rPr lang="en-US" smtClean="0"/>
              <a:t>A binomial distribution is a discrete distribution which can only take on the values of 0, 1, 2, . . , n.</a:t>
            </a:r>
          </a:p>
          <a:p>
            <a:pPr eaLnBrk="1" hangingPunct="1"/>
            <a:r>
              <a:rPr lang="en-US" smtClean="0"/>
              <a:t>When n gets large the calculations associated with the binomial distribution become tedious.</a:t>
            </a:r>
          </a:p>
          <a:p>
            <a:pPr eaLnBrk="1" hangingPunct="1"/>
            <a:r>
              <a:rPr lang="en-US" smtClean="0"/>
              <a:t>In these situations can use a normal distribution with the same mean and standard deviation as the binomial to approximate the binomial probability</a:t>
            </a:r>
          </a:p>
          <a:p>
            <a:pPr eaLnBrk="1" hangingPunct="1"/>
            <a:endParaRPr lang="en-US" smtClean="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3" name="Rectangle 4"/>
          <p:cNvSpPr>
            <a:spLocks noGrp="1" noChangeArrowheads="1"/>
          </p:cNvSpPr>
          <p:nvPr>
            <p:ph type="ftr" sz="quarter" idx="10"/>
          </p:nvPr>
        </p:nvSpPr>
        <p:spPr>
          <a:noFill/>
        </p:spPr>
        <p:txBody>
          <a:bodyPr/>
          <a:lstStyle/>
          <a:p>
            <a:r>
              <a:rPr lang="en-US" smtClean="0"/>
              <a:t>Copyright ©2012 Pearson Education</a:t>
            </a:r>
          </a:p>
        </p:txBody>
      </p:sp>
      <p:sp>
        <p:nvSpPr>
          <p:cNvPr id="407554" name="Rectangle 5"/>
          <p:cNvSpPr>
            <a:spLocks noGrp="1" noChangeArrowheads="1"/>
          </p:cNvSpPr>
          <p:nvPr>
            <p:ph type="sldNum" sz="quarter" idx="11"/>
          </p:nvPr>
        </p:nvSpPr>
        <p:spPr>
          <a:noFill/>
        </p:spPr>
        <p:txBody>
          <a:bodyPr/>
          <a:lstStyle/>
          <a:p>
            <a:r>
              <a:rPr lang="en-US" smtClean="0"/>
              <a:t>Chap 6-</a:t>
            </a:r>
            <a:fld id="{FAA0D7F0-622C-479B-8109-9A7AB00C420D}" type="slidenum">
              <a:rPr lang="en-US" smtClean="0"/>
              <a:pPr/>
              <a:t>62</a:t>
            </a:fld>
            <a:endParaRPr lang="en-US" smtClean="0"/>
          </a:p>
        </p:txBody>
      </p:sp>
      <p:sp>
        <p:nvSpPr>
          <p:cNvPr id="407555" name="Content Placeholder 2"/>
          <p:cNvSpPr>
            <a:spLocks noGrp="1"/>
          </p:cNvSpPr>
          <p:nvPr>
            <p:ph idx="1"/>
          </p:nvPr>
        </p:nvSpPr>
        <p:spPr/>
        <p:txBody>
          <a:bodyPr/>
          <a:lstStyle/>
          <a:p>
            <a:pPr eaLnBrk="1" hangingPunct="1"/>
            <a:r>
              <a:rPr lang="en-US" sz="2400" smtClean="0"/>
              <a:t>For a binomial random variable X, P(X = c) is nonzero for c = 0, 1, 2, . . . n.</a:t>
            </a:r>
          </a:p>
          <a:p>
            <a:pPr eaLnBrk="1" hangingPunct="1"/>
            <a:r>
              <a:rPr lang="en-US" sz="2400" smtClean="0"/>
              <a:t>For a normal random variable W, P(W = c) for any value c is zero.</a:t>
            </a:r>
          </a:p>
          <a:p>
            <a:pPr eaLnBrk="1" hangingPunct="1"/>
            <a:r>
              <a:rPr lang="en-US" sz="2400" smtClean="0"/>
              <a:t>So to approximate a binomial probability using the normal distribution have to use a continuity adjustment.</a:t>
            </a:r>
          </a:p>
          <a:p>
            <a:pPr eaLnBrk="1" hangingPunct="1"/>
            <a:r>
              <a:rPr lang="en-US" sz="2400" smtClean="0"/>
              <a:t>If X is binomial and W is normal we approximate P(X=c) by P(c – 0.5 &lt; W &lt; c + 0.5) where W has the same mean and standard deviation as X.</a:t>
            </a:r>
          </a:p>
          <a:p>
            <a:pPr eaLnBrk="1" hangingPunct="1"/>
            <a:r>
              <a:rPr lang="en-US" sz="2400" smtClean="0"/>
              <a:t>Adding and subtracting the 0.5 is the continuity adjustment</a:t>
            </a:r>
          </a:p>
        </p:txBody>
      </p:sp>
      <p:sp>
        <p:nvSpPr>
          <p:cNvPr id="407556" name="Title 1"/>
          <p:cNvSpPr>
            <a:spLocks noGrp="1"/>
          </p:cNvSpPr>
          <p:nvPr>
            <p:ph type="title"/>
          </p:nvPr>
        </p:nvSpPr>
        <p:spPr>
          <a:xfrm>
            <a:off x="838200" y="228600"/>
            <a:ext cx="8077200" cy="990600"/>
          </a:xfrm>
        </p:spPr>
        <p:txBody>
          <a:bodyPr/>
          <a:lstStyle/>
          <a:p>
            <a:pPr eaLnBrk="1" hangingPunct="1"/>
            <a:r>
              <a:rPr lang="en-US" sz="3200" smtClean="0"/>
              <a:t>The Need For A Continuity Adjustment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7" name="Rectangle 4"/>
          <p:cNvSpPr>
            <a:spLocks noGrp="1" noChangeArrowheads="1"/>
          </p:cNvSpPr>
          <p:nvPr>
            <p:ph type="ftr" sz="quarter" idx="10"/>
          </p:nvPr>
        </p:nvSpPr>
        <p:spPr>
          <a:noFill/>
        </p:spPr>
        <p:txBody>
          <a:bodyPr/>
          <a:lstStyle/>
          <a:p>
            <a:r>
              <a:rPr lang="en-US" smtClean="0"/>
              <a:t>Copyright ©2012 Pearson Education</a:t>
            </a:r>
          </a:p>
        </p:txBody>
      </p:sp>
      <p:sp>
        <p:nvSpPr>
          <p:cNvPr id="408578" name="Rectangle 5"/>
          <p:cNvSpPr>
            <a:spLocks noGrp="1" noChangeArrowheads="1"/>
          </p:cNvSpPr>
          <p:nvPr>
            <p:ph type="sldNum" sz="quarter" idx="11"/>
          </p:nvPr>
        </p:nvSpPr>
        <p:spPr>
          <a:noFill/>
        </p:spPr>
        <p:txBody>
          <a:bodyPr/>
          <a:lstStyle/>
          <a:p>
            <a:r>
              <a:rPr lang="en-US" smtClean="0"/>
              <a:t>Chap 6-</a:t>
            </a:r>
            <a:fld id="{153D899C-D8F4-4181-AD3C-45C4415A673C}" type="slidenum">
              <a:rPr lang="en-US" smtClean="0"/>
              <a:pPr/>
              <a:t>63</a:t>
            </a:fld>
            <a:endParaRPr lang="en-US" smtClean="0"/>
          </a:p>
        </p:txBody>
      </p:sp>
      <p:sp>
        <p:nvSpPr>
          <p:cNvPr id="408579" name="Title 1"/>
          <p:cNvSpPr>
            <a:spLocks noGrp="1"/>
          </p:cNvSpPr>
          <p:nvPr>
            <p:ph type="title"/>
          </p:nvPr>
        </p:nvSpPr>
        <p:spPr>
          <a:xfrm>
            <a:off x="1150938" y="381000"/>
            <a:ext cx="7383462" cy="990600"/>
          </a:xfrm>
        </p:spPr>
        <p:txBody>
          <a:bodyPr/>
          <a:lstStyle/>
          <a:p>
            <a:pPr eaLnBrk="1" hangingPunct="1"/>
            <a:r>
              <a:rPr lang="en-US" smtClean="0"/>
              <a:t>When Can The Normal Approximation Be Used</a:t>
            </a:r>
          </a:p>
        </p:txBody>
      </p:sp>
      <p:sp>
        <p:nvSpPr>
          <p:cNvPr id="408580" name="Content Placeholder 2"/>
          <p:cNvSpPr>
            <a:spLocks noGrp="1"/>
          </p:cNvSpPr>
          <p:nvPr>
            <p:ph idx="1"/>
          </p:nvPr>
        </p:nvSpPr>
        <p:spPr>
          <a:xfrm>
            <a:off x="152400" y="1828800"/>
            <a:ext cx="8686800" cy="4532313"/>
          </a:xfrm>
        </p:spPr>
        <p:txBody>
          <a:bodyPr/>
          <a:lstStyle/>
          <a:p>
            <a:pPr eaLnBrk="1" hangingPunct="1"/>
            <a:r>
              <a:rPr lang="en-US" smtClean="0"/>
              <a:t>The normal approximation can be used as long as:</a:t>
            </a:r>
          </a:p>
          <a:p>
            <a:pPr lvl="1" eaLnBrk="1" hangingPunct="1"/>
            <a:r>
              <a:rPr lang="en-US" smtClean="0"/>
              <a:t>n</a:t>
            </a:r>
            <a:r>
              <a:rPr lang="el-GR" smtClean="0"/>
              <a:t>π</a:t>
            </a:r>
            <a:r>
              <a:rPr lang="en-US" smtClean="0"/>
              <a:t> ≥ 5 and</a:t>
            </a:r>
          </a:p>
          <a:p>
            <a:pPr lvl="1" eaLnBrk="1" hangingPunct="1"/>
            <a:r>
              <a:rPr lang="en-US" smtClean="0"/>
              <a:t>n(1 – </a:t>
            </a:r>
            <a:r>
              <a:rPr lang="el-GR" smtClean="0"/>
              <a:t>π</a:t>
            </a:r>
            <a:r>
              <a:rPr lang="en-US" smtClean="0"/>
              <a:t>) ≥ 5</a:t>
            </a:r>
          </a:p>
          <a:p>
            <a:pPr lvl="1" eaLnBrk="1" hangingPunct="1"/>
            <a:endParaRPr lang="en-US" smtClean="0"/>
          </a:p>
          <a:p>
            <a:pPr eaLnBrk="1" hangingPunct="1"/>
            <a:r>
              <a:rPr lang="en-US" smtClean="0"/>
              <a:t>Recall</a:t>
            </a:r>
          </a:p>
          <a:p>
            <a:pPr lvl="1" eaLnBrk="1" hangingPunct="1"/>
            <a:r>
              <a:rPr lang="en-US" smtClean="0"/>
              <a:t>Mean of a binomial is </a:t>
            </a:r>
            <a:r>
              <a:rPr lang="el-GR" smtClean="0"/>
              <a:t>μ</a:t>
            </a:r>
            <a:r>
              <a:rPr lang="en-US" smtClean="0"/>
              <a:t> = n</a:t>
            </a:r>
            <a:r>
              <a:rPr lang="el-GR" smtClean="0"/>
              <a:t>π</a:t>
            </a:r>
            <a:endParaRPr lang="en-US" smtClean="0"/>
          </a:p>
          <a:p>
            <a:pPr lvl="1" eaLnBrk="1" hangingPunct="1"/>
            <a:r>
              <a:rPr lang="en-US" smtClean="0"/>
              <a:t>Standard deviation of a binomial is </a:t>
            </a:r>
            <a:r>
              <a:rPr lang="el-GR" smtClean="0"/>
              <a:t>σ</a:t>
            </a:r>
            <a:r>
              <a:rPr lang="en-US" smtClean="0"/>
              <a:t>=SQRT(n</a:t>
            </a:r>
            <a:r>
              <a:rPr lang="el-GR" smtClean="0"/>
              <a:t>π</a:t>
            </a:r>
            <a:r>
              <a:rPr lang="en-US" smtClean="0"/>
              <a:t>(1 – </a:t>
            </a:r>
            <a:r>
              <a:rPr lang="el-GR" smtClean="0"/>
              <a:t>π</a:t>
            </a:r>
            <a:r>
              <a:rPr lang="en-US" smtClean="0"/>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1" name="Rectangle 4"/>
          <p:cNvSpPr>
            <a:spLocks noGrp="1" noChangeArrowheads="1"/>
          </p:cNvSpPr>
          <p:nvPr>
            <p:ph type="ftr" sz="quarter" idx="10"/>
          </p:nvPr>
        </p:nvSpPr>
        <p:spPr>
          <a:noFill/>
        </p:spPr>
        <p:txBody>
          <a:bodyPr/>
          <a:lstStyle/>
          <a:p>
            <a:r>
              <a:rPr lang="en-US" smtClean="0"/>
              <a:t>Copyright ©2012 Pearson Education</a:t>
            </a:r>
          </a:p>
        </p:txBody>
      </p:sp>
      <p:sp>
        <p:nvSpPr>
          <p:cNvPr id="409602" name="Rectangle 5"/>
          <p:cNvSpPr>
            <a:spLocks noGrp="1" noChangeArrowheads="1"/>
          </p:cNvSpPr>
          <p:nvPr>
            <p:ph type="sldNum" sz="quarter" idx="11"/>
          </p:nvPr>
        </p:nvSpPr>
        <p:spPr>
          <a:noFill/>
        </p:spPr>
        <p:txBody>
          <a:bodyPr/>
          <a:lstStyle/>
          <a:p>
            <a:r>
              <a:rPr lang="en-US" smtClean="0"/>
              <a:t>Chap 6-</a:t>
            </a:r>
            <a:fld id="{228D55BC-2B40-41B6-AAD3-49633D25F91A}" type="slidenum">
              <a:rPr lang="en-US" smtClean="0"/>
              <a:pPr/>
              <a:t>64</a:t>
            </a:fld>
            <a:endParaRPr lang="en-US" smtClean="0"/>
          </a:p>
        </p:txBody>
      </p:sp>
      <p:sp>
        <p:nvSpPr>
          <p:cNvPr id="409603" name="Title 1"/>
          <p:cNvSpPr>
            <a:spLocks noGrp="1"/>
          </p:cNvSpPr>
          <p:nvPr>
            <p:ph type="title"/>
          </p:nvPr>
        </p:nvSpPr>
        <p:spPr/>
        <p:txBody>
          <a:bodyPr/>
          <a:lstStyle/>
          <a:p>
            <a:pPr eaLnBrk="1" hangingPunct="1"/>
            <a:r>
              <a:rPr lang="en-US" smtClean="0"/>
              <a:t>An Example</a:t>
            </a:r>
          </a:p>
        </p:txBody>
      </p:sp>
      <p:sp>
        <p:nvSpPr>
          <p:cNvPr id="409604" name="Content Placeholder 2"/>
          <p:cNvSpPr>
            <a:spLocks noGrp="1"/>
          </p:cNvSpPr>
          <p:nvPr>
            <p:ph idx="1"/>
          </p:nvPr>
        </p:nvSpPr>
        <p:spPr/>
        <p:txBody>
          <a:bodyPr/>
          <a:lstStyle/>
          <a:p>
            <a:pPr eaLnBrk="1" hangingPunct="1"/>
            <a:r>
              <a:rPr lang="en-US" smtClean="0"/>
              <a:t>You select a random sample of n = 1600 tires from a production process with a defect rate of 8%.  You want to calculate the probability that 150 or fewer tires will be defective.</a:t>
            </a:r>
          </a:p>
          <a:p>
            <a:pPr eaLnBrk="1" hangingPunct="1"/>
            <a:r>
              <a:rPr lang="en-US" smtClean="0"/>
              <a:t>Here </a:t>
            </a:r>
            <a:r>
              <a:rPr lang="el-GR" smtClean="0"/>
              <a:t>μ</a:t>
            </a:r>
            <a:r>
              <a:rPr lang="en-US" smtClean="0"/>
              <a:t> = 1600*0.08 = 128 and </a:t>
            </a:r>
            <a:r>
              <a:rPr lang="el-GR" smtClean="0"/>
              <a:t>σ</a:t>
            </a:r>
            <a:r>
              <a:rPr lang="en-US" smtClean="0"/>
              <a:t> = SQRT(1600*0.08*0.92) = 10.85.</a:t>
            </a:r>
          </a:p>
          <a:p>
            <a:pPr eaLnBrk="1" hangingPunct="1"/>
            <a:r>
              <a:rPr lang="en-US" smtClean="0"/>
              <a:t>Let X be a normal random variable with this mean and standard deviation then the desired probability is P(X &lt; 150.5)</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5" name="Rectangle 4"/>
          <p:cNvSpPr>
            <a:spLocks noGrp="1" noChangeArrowheads="1"/>
          </p:cNvSpPr>
          <p:nvPr>
            <p:ph type="ftr" sz="quarter" idx="10"/>
          </p:nvPr>
        </p:nvSpPr>
        <p:spPr>
          <a:noFill/>
        </p:spPr>
        <p:txBody>
          <a:bodyPr/>
          <a:lstStyle/>
          <a:p>
            <a:r>
              <a:rPr lang="en-US" smtClean="0"/>
              <a:t>Copyright ©2012 Pearson Education</a:t>
            </a:r>
          </a:p>
        </p:txBody>
      </p:sp>
      <p:sp>
        <p:nvSpPr>
          <p:cNvPr id="410626" name="Rectangle 5"/>
          <p:cNvSpPr>
            <a:spLocks noGrp="1" noChangeArrowheads="1"/>
          </p:cNvSpPr>
          <p:nvPr>
            <p:ph type="sldNum" sz="quarter" idx="11"/>
          </p:nvPr>
        </p:nvSpPr>
        <p:spPr>
          <a:noFill/>
        </p:spPr>
        <p:txBody>
          <a:bodyPr/>
          <a:lstStyle/>
          <a:p>
            <a:r>
              <a:rPr lang="en-US" smtClean="0"/>
              <a:t>Chap 6-</a:t>
            </a:r>
            <a:fld id="{D7BAF55E-3415-4059-895C-0FF5AD7A7FFA}" type="slidenum">
              <a:rPr lang="en-US" smtClean="0"/>
              <a:pPr/>
              <a:t>65</a:t>
            </a:fld>
            <a:endParaRPr lang="en-US" smtClean="0"/>
          </a:p>
        </p:txBody>
      </p:sp>
      <p:sp>
        <p:nvSpPr>
          <p:cNvPr id="410627" name="Title 1"/>
          <p:cNvSpPr>
            <a:spLocks noGrp="1"/>
          </p:cNvSpPr>
          <p:nvPr>
            <p:ph type="title"/>
          </p:nvPr>
        </p:nvSpPr>
        <p:spPr/>
        <p:txBody>
          <a:bodyPr/>
          <a:lstStyle/>
          <a:p>
            <a:pPr eaLnBrk="1" hangingPunct="1"/>
            <a:r>
              <a:rPr lang="en-US" smtClean="0"/>
              <a:t>Example (Con’t)</a:t>
            </a:r>
          </a:p>
        </p:txBody>
      </p:sp>
      <p:sp>
        <p:nvSpPr>
          <p:cNvPr id="410628" name="Content Placeholder 2"/>
          <p:cNvSpPr>
            <a:spLocks noGrp="1"/>
          </p:cNvSpPr>
          <p:nvPr>
            <p:ph idx="1"/>
          </p:nvPr>
        </p:nvSpPr>
        <p:spPr/>
        <p:txBody>
          <a:bodyPr/>
          <a:lstStyle/>
          <a:p>
            <a:pPr eaLnBrk="1" hangingPunct="1"/>
            <a:r>
              <a:rPr lang="en-US" smtClean="0"/>
              <a:t>This is P(Z &lt;(150.5 – 128)/10.85) = 0.9808</a:t>
            </a:r>
          </a:p>
          <a:p>
            <a:pPr eaLnBrk="1" hangingPunct="1"/>
            <a:endParaRPr lang="en-US" smtClean="0"/>
          </a:p>
          <a:p>
            <a:pPr eaLnBrk="1" hangingPunct="1"/>
            <a:r>
              <a:rPr lang="en-US" smtClean="0"/>
              <a:t>So we approximate the probability of finding 150 or fewer defects as 0.9808.</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49" name="Rectangle 4"/>
          <p:cNvSpPr>
            <a:spLocks noGrp="1" noChangeArrowheads="1"/>
          </p:cNvSpPr>
          <p:nvPr>
            <p:ph type="ftr" sz="quarter" idx="10"/>
          </p:nvPr>
        </p:nvSpPr>
        <p:spPr>
          <a:noFill/>
        </p:spPr>
        <p:txBody>
          <a:bodyPr/>
          <a:lstStyle/>
          <a:p>
            <a:r>
              <a:rPr lang="en-US" smtClean="0"/>
              <a:t>Copyright ©2012 Pearson Education</a:t>
            </a:r>
          </a:p>
        </p:txBody>
      </p:sp>
      <p:sp>
        <p:nvSpPr>
          <p:cNvPr id="411650" name="Rectangle 5"/>
          <p:cNvSpPr>
            <a:spLocks noGrp="1" noChangeArrowheads="1"/>
          </p:cNvSpPr>
          <p:nvPr>
            <p:ph type="sldNum" sz="quarter" idx="11"/>
          </p:nvPr>
        </p:nvSpPr>
        <p:spPr>
          <a:noFill/>
        </p:spPr>
        <p:txBody>
          <a:bodyPr/>
          <a:lstStyle/>
          <a:p>
            <a:r>
              <a:rPr lang="en-US" smtClean="0"/>
              <a:t>Chap 6-</a:t>
            </a:r>
            <a:fld id="{F5475896-66C8-4BF4-81D2-9C4602EF25D2}" type="slidenum">
              <a:rPr lang="en-US" smtClean="0"/>
              <a:pPr/>
              <a:t>66</a:t>
            </a:fld>
            <a:endParaRPr lang="en-US" smtClean="0"/>
          </a:p>
        </p:txBody>
      </p:sp>
      <p:sp>
        <p:nvSpPr>
          <p:cNvPr id="411651" name="Rectangle 2"/>
          <p:cNvSpPr>
            <a:spLocks noGrp="1" noChangeArrowheads="1"/>
          </p:cNvSpPr>
          <p:nvPr>
            <p:ph type="title"/>
          </p:nvPr>
        </p:nvSpPr>
        <p:spPr/>
        <p:txBody>
          <a:bodyPr/>
          <a:lstStyle/>
          <a:p>
            <a:pPr eaLnBrk="1" hangingPunct="1"/>
            <a:r>
              <a:rPr lang="en-US" smtClean="0"/>
              <a:t>Topic Summary</a:t>
            </a:r>
          </a:p>
        </p:txBody>
      </p:sp>
      <p:sp>
        <p:nvSpPr>
          <p:cNvPr id="411652" name="Rectangle 3"/>
          <p:cNvSpPr>
            <a:spLocks noGrp="1" noChangeArrowheads="1"/>
          </p:cNvSpPr>
          <p:nvPr>
            <p:ph type="body" idx="1"/>
          </p:nvPr>
        </p:nvSpPr>
        <p:spPr>
          <a:xfrm>
            <a:off x="685800" y="1600200"/>
            <a:ext cx="8153400" cy="4572000"/>
          </a:xfrm>
        </p:spPr>
        <p:txBody>
          <a:bodyPr/>
          <a:lstStyle/>
          <a:p>
            <a:pPr eaLnBrk="1" hangingPunct="1">
              <a:lnSpc>
                <a:spcPct val="110000"/>
              </a:lnSpc>
              <a:spcBef>
                <a:spcPct val="50000"/>
              </a:spcBef>
              <a:buFont typeface="Wingdings" pitchFamily="2" charset="2"/>
              <a:buNone/>
            </a:pPr>
            <a:r>
              <a:rPr lang="en-US" b="1" smtClean="0"/>
              <a:t>In this topic, you learned:</a:t>
            </a:r>
            <a:r>
              <a:rPr lang="en-US" smtClean="0"/>
              <a:t> </a:t>
            </a:r>
          </a:p>
          <a:p>
            <a:pPr eaLnBrk="1" hangingPunct="1">
              <a:spcBef>
                <a:spcPct val="30000"/>
              </a:spcBef>
            </a:pPr>
            <a:r>
              <a:rPr lang="en-US" sz="2400" smtClean="0"/>
              <a:t>Why using a continuity adjustment yields a more accurate approximation</a:t>
            </a:r>
          </a:p>
          <a:p>
            <a:pPr eaLnBrk="1" hangingPunct="1">
              <a:spcBef>
                <a:spcPct val="30000"/>
              </a:spcBef>
            </a:pPr>
            <a:r>
              <a:rPr lang="en-US" sz="2400" smtClean="0"/>
              <a:t>To approximate binomial probabilities using the normal distribution</a:t>
            </a:r>
          </a:p>
          <a:p>
            <a:pPr eaLnBrk="1" hangingPunct="1">
              <a:spcBef>
                <a:spcPct val="30000"/>
              </a:spcBef>
              <a:buFont typeface="Wingdings" pitchFamily="2" charset="2"/>
              <a:buNone/>
            </a:pPr>
            <a:endParaRPr lang="en-US" sz="2400" smtClean="0"/>
          </a:p>
          <a:p>
            <a:pPr eaLnBrk="1" hangingPunct="1">
              <a:lnSpc>
                <a:spcPct val="110000"/>
              </a:lnSpc>
              <a:spcBef>
                <a:spcPct val="30000"/>
              </a:spcBef>
            </a:pPr>
            <a:endParaRPr lang="en-US" sz="240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nHall1">
  <a:themeElements>
    <a:clrScheme name="PrenHall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PrenHall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PrenHall1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PrenHall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PrenHall1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PrenHall1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PrenHall1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PrenHall1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PrenHall1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2522</TotalTime>
  <Pages>20</Pages>
  <Words>3712</Words>
  <Application>Microsoft Office PowerPoint</Application>
  <PresentationFormat>On-screen Show (4:3)</PresentationFormat>
  <Paragraphs>788</Paragraphs>
  <Slides>66</Slides>
  <Notes>7</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66</vt:i4>
      </vt:variant>
    </vt:vector>
  </HeadingPairs>
  <TitlesOfParts>
    <vt:vector size="73" baseType="lpstr">
      <vt:lpstr>Arial</vt:lpstr>
      <vt:lpstr>Wingdings</vt:lpstr>
      <vt:lpstr>Symbol</vt:lpstr>
      <vt:lpstr>Times New Roman</vt:lpstr>
      <vt:lpstr>PrenHall1</vt:lpstr>
      <vt:lpstr>Equation</vt:lpstr>
      <vt:lpstr>Worksheet</vt:lpstr>
      <vt:lpstr>Slide 1</vt:lpstr>
      <vt:lpstr>Learning Objectives</vt:lpstr>
      <vt:lpstr>Continuous Probability Distributions</vt:lpstr>
      <vt:lpstr>The Normal Distribution</vt:lpstr>
      <vt:lpstr>The Normal Distribution Density Function</vt:lpstr>
      <vt:lpstr>Slide 6</vt:lpstr>
      <vt:lpstr>The Normal Distribution Shape</vt:lpstr>
      <vt:lpstr>The Standardized Normal</vt:lpstr>
      <vt:lpstr>Translation to the Standardized Normal Distribution</vt:lpstr>
      <vt:lpstr>The Standardized  Normal Distribution</vt:lpstr>
      <vt:lpstr>Example</vt:lpstr>
      <vt:lpstr>Comparing  X  and  Z  units</vt:lpstr>
      <vt:lpstr>Finding Normal Probabilities  </vt:lpstr>
      <vt:lpstr>Probability as  Area Under the Curve</vt:lpstr>
      <vt:lpstr>The Standardized Normal Table</vt:lpstr>
      <vt:lpstr>The Standardized Normal Table</vt:lpstr>
      <vt:lpstr>General Procedure for Finding Normal Probabilities</vt:lpstr>
      <vt:lpstr>Finding Normal Probabilities</vt:lpstr>
      <vt:lpstr>Slide 19</vt:lpstr>
      <vt:lpstr>Solution: Finding P(Z &lt; 0.12)</vt:lpstr>
      <vt:lpstr> Finding Normal Upper Tail Probabilities</vt:lpstr>
      <vt:lpstr> Finding Normal Upper Tail Probabilities</vt:lpstr>
      <vt:lpstr>Finding a Normal Probability Between Two Values</vt:lpstr>
      <vt:lpstr>Solution: Finding P(0 &lt; Z &lt; 0.12)</vt:lpstr>
      <vt:lpstr>Probabilities in the Lower Tail </vt:lpstr>
      <vt:lpstr>Probabilities in the Lower Tail </vt:lpstr>
      <vt:lpstr>Given a Normal Probability Find the X Value</vt:lpstr>
      <vt:lpstr>Finding the X value for a Known Probability</vt:lpstr>
      <vt:lpstr>Find the Z-value for  20% in the Lower Tail</vt:lpstr>
      <vt:lpstr>Finding the X value</vt:lpstr>
      <vt:lpstr>Using Excel With The Normal Distribution</vt:lpstr>
      <vt:lpstr>Using Minitab With The Normal Distribution</vt:lpstr>
      <vt:lpstr>Using Minitab With The Normal Distribution</vt:lpstr>
      <vt:lpstr>Evaluating Normality</vt:lpstr>
      <vt:lpstr>Evaluating Normality</vt:lpstr>
      <vt:lpstr>Evaluating Normality</vt:lpstr>
      <vt:lpstr>Constructing A Quantile-Quantile Normal Probability Plot</vt:lpstr>
      <vt:lpstr>The Quantile-Quantile Normal Probability Plot Interpretation</vt:lpstr>
      <vt:lpstr>Quantile-Quantile Normal Probability Plot Interpretation</vt:lpstr>
      <vt:lpstr>Normal Probability Plots In Excel &amp; Minitab</vt:lpstr>
      <vt:lpstr>Normal Probability Plots In Minitab</vt:lpstr>
      <vt:lpstr>Evaluating Normality An Example:  Bond Funds Returns</vt:lpstr>
      <vt:lpstr>Evaluating Normality An Example:  Bond Funds Returns</vt:lpstr>
      <vt:lpstr>Evaluating Normality An Example:  Bond Funds Returns</vt:lpstr>
      <vt:lpstr>Evaluating Normality An Example:  Bond Funds Returns</vt:lpstr>
      <vt:lpstr>Evaluating Normality An Example:  Bond Funds Returns</vt:lpstr>
      <vt:lpstr>Evaluating Normality An Example:  Mutual Funds Returns</vt:lpstr>
      <vt:lpstr>The Uniform Distribution</vt:lpstr>
      <vt:lpstr>The Uniform Distribution</vt:lpstr>
      <vt:lpstr>Properties of the  Uniform Distribution</vt:lpstr>
      <vt:lpstr>Uniform Distribution Example</vt:lpstr>
      <vt:lpstr>Uniform Distribution Example</vt:lpstr>
      <vt:lpstr>The Exponential Distribution</vt:lpstr>
      <vt:lpstr>The Exponential Distribution</vt:lpstr>
      <vt:lpstr>Exponential Distribution  Example</vt:lpstr>
      <vt:lpstr>The Exponential Distribution In Excel</vt:lpstr>
      <vt:lpstr>The Exponential Distribution In Minitab</vt:lpstr>
      <vt:lpstr>Chapter Summary</vt:lpstr>
      <vt:lpstr>Slide 59</vt:lpstr>
      <vt:lpstr>Learning Objectives</vt:lpstr>
      <vt:lpstr>Using A Normal Distribution To Approximate A Binomial Probability</vt:lpstr>
      <vt:lpstr>The Need For A Continuity Adjustment</vt:lpstr>
      <vt:lpstr>When Can The Normal Approximation Be Used</vt:lpstr>
      <vt:lpstr>An Example</vt:lpstr>
      <vt:lpstr>Example (Con’t)</vt:lpstr>
      <vt:lpstr>Topic Summary</vt:lpstr>
    </vt:vector>
  </TitlesOfParts>
  <Company>University of San Diego</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Business Statistics, 10/e</dc:title>
  <dc:subject>Chapter 6</dc:subject>
  <dc:creator>Dirk Yandell</dc:creator>
  <cp:lastModifiedBy>manash</cp:lastModifiedBy>
  <cp:revision>186</cp:revision>
  <cp:lastPrinted>1998-11-22T23:37:53Z</cp:lastPrinted>
  <dcterms:created xsi:type="dcterms:W3CDTF">2001-01-25T15:44:29Z</dcterms:created>
  <dcterms:modified xsi:type="dcterms:W3CDTF">2017-02-21T15:01:14Z</dcterms:modified>
</cp:coreProperties>
</file>